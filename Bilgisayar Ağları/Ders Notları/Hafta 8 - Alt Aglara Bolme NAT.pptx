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71" r:id="rId8"/>
    <p:sldId id="270" r:id="rId9"/>
    <p:sldId id="269" r:id="rId10"/>
    <p:sldId id="268" r:id="rId11"/>
    <p:sldId id="267" r:id="rId12"/>
    <p:sldId id="276" r:id="rId13"/>
    <p:sldId id="275" r:id="rId14"/>
    <p:sldId id="274" r:id="rId15"/>
    <p:sldId id="273" r:id="rId16"/>
    <p:sldId id="272" r:id="rId17"/>
    <p:sldId id="280" r:id="rId18"/>
    <p:sldId id="279" r:id="rId19"/>
    <p:sldId id="278" r:id="rId20"/>
    <p:sldId id="283" r:id="rId21"/>
    <p:sldId id="282" r:id="rId22"/>
    <p:sldId id="281" r:id="rId23"/>
    <p:sldId id="284" r:id="rId24"/>
    <p:sldId id="277" r:id="rId25"/>
    <p:sldId id="263" r:id="rId26"/>
    <p:sldId id="265" r:id="rId27"/>
    <p:sldId id="266" r:id="rId28"/>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22"/>
    <p:restoredTop sz="94674"/>
  </p:normalViewPr>
  <p:slideViewPr>
    <p:cSldViewPr>
      <p:cViewPr varScale="1">
        <p:scale>
          <a:sx n="93" d="100"/>
          <a:sy n="93" d="100"/>
        </p:scale>
        <p:origin x="1459"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lvl1pPr>
              <a:defRPr/>
            </a:lvl1pPr>
          </a:lstStyle>
          <a:p>
            <a:pPr>
              <a:defRPr/>
            </a:pPr>
            <a:fld id="{201C5554-F657-435A-BCA1-2EF31523C46E}" type="datetimeFigureOut">
              <a:rPr lang="tr-TR"/>
              <a:pPr>
                <a:defRPr/>
              </a:pPr>
              <a:t>31.3.2020</a:t>
            </a:fld>
            <a:endParaRPr lang="tr-TR"/>
          </a:p>
        </p:txBody>
      </p:sp>
      <p:sp>
        <p:nvSpPr>
          <p:cNvPr id="5" name="4 Altbilgi Yer Tutucusu"/>
          <p:cNvSpPr>
            <a:spLocks noGrp="1"/>
          </p:cNvSpPr>
          <p:nvPr>
            <p:ph type="ftr" sz="quarter" idx="11"/>
          </p:nvPr>
        </p:nvSpPr>
        <p:spPr/>
        <p:txBody>
          <a:bodyPr/>
          <a:lstStyle>
            <a:lvl1pPr>
              <a:defRPr/>
            </a:lvl1pPr>
          </a:lstStyle>
          <a:p>
            <a:pPr>
              <a:defRPr/>
            </a:pPr>
            <a:endParaRPr lang="tr-TR"/>
          </a:p>
        </p:txBody>
      </p:sp>
      <p:sp>
        <p:nvSpPr>
          <p:cNvPr id="6" name="5 Slayt Numarası Yer Tutucusu"/>
          <p:cNvSpPr>
            <a:spLocks noGrp="1"/>
          </p:cNvSpPr>
          <p:nvPr>
            <p:ph type="sldNum" sz="quarter" idx="12"/>
          </p:nvPr>
        </p:nvSpPr>
        <p:spPr/>
        <p:txBody>
          <a:bodyPr/>
          <a:lstStyle>
            <a:lvl1pPr>
              <a:defRPr/>
            </a:lvl1pPr>
          </a:lstStyle>
          <a:p>
            <a:pPr>
              <a:defRPr/>
            </a:pPr>
            <a:fld id="{A8F60EFD-6F48-4DC3-AF5A-479D8CBF7889}" type="slidenum">
              <a:rPr lang="tr-TR"/>
              <a:pPr>
                <a:defRPr/>
              </a:pPr>
              <a:t>‹#›</a:t>
            </a:fld>
            <a:endParaRPr lang="tr-TR"/>
          </a:p>
        </p:txBody>
      </p:sp>
      <p:sp>
        <p:nvSpPr>
          <p:cNvPr id="7" name="Metin kutusu 6">
            <a:extLst>
              <a:ext uri="{FF2B5EF4-FFF2-40B4-BE49-F238E27FC236}">
                <a16:creationId xmlns:a16="http://schemas.microsoft.com/office/drawing/2014/main" id="{A3ABB93D-730F-7D4E-9DC9-EA6E7E1066F8}"/>
              </a:ext>
            </a:extLst>
          </p:cNvPr>
          <p:cNvSpPr txBox="1"/>
          <p:nvPr userDrawn="1"/>
        </p:nvSpPr>
        <p:spPr>
          <a:xfrm>
            <a:off x="5540188" y="1640541"/>
            <a:ext cx="184731" cy="369332"/>
          </a:xfrm>
          <a:prstGeom prst="rect">
            <a:avLst/>
          </a:prstGeom>
          <a:noFill/>
        </p:spPr>
        <p:txBody>
          <a:bodyPr wrap="none" rtlCol="0">
            <a:spAutoFit/>
          </a:bodyPr>
          <a:lstStyle/>
          <a:p>
            <a:endParaRPr lang="tr-T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şlık Slaydı">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a:extLst>
              <a:ext uri="{C183D7F6-B498-43B3-948B-1728B52AA6E4}">
                <adec:decorative xmlns:adec="http://schemas.microsoft.com/office/drawing/2017/decorative" val="0"/>
              </a:ext>
            </a:extLst>
          </p:cNvPr>
          <p:cNvSpPr>
            <a:spLocks noGrp="1"/>
          </p:cNvSpPr>
          <p:nvPr>
            <p:ph type="subTitle" idx="1" hasCustomPrompt="1"/>
          </p:nvPr>
        </p:nvSpPr>
        <p:spPr>
          <a:xfrm>
            <a:off x="360946" y="4511620"/>
            <a:ext cx="8422108" cy="861580"/>
          </a:xfrm>
        </p:spPr>
        <p:txBody>
          <a:bodyPr>
            <a:noAutofit/>
          </a:bodyPr>
          <a:lstStyle>
            <a:lvl1pPr marL="0" indent="0" algn="ctr">
              <a:buNone/>
              <a:defRPr sz="2700" b="1" baseline="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dirty="0"/>
              <a:t>DERS ADINI BURAYA YAZINIZ</a:t>
            </a:r>
          </a:p>
        </p:txBody>
      </p:sp>
      <p:sp>
        <p:nvSpPr>
          <p:cNvPr id="14" name="Metin Yer Tutucusu 13"/>
          <p:cNvSpPr>
            <a:spLocks noGrp="1"/>
          </p:cNvSpPr>
          <p:nvPr>
            <p:ph type="body" sz="quarter" idx="13" hasCustomPrompt="1"/>
          </p:nvPr>
        </p:nvSpPr>
        <p:spPr>
          <a:xfrm>
            <a:off x="360946" y="5373200"/>
            <a:ext cx="8419760" cy="457200"/>
          </a:xfrm>
        </p:spPr>
        <p:txBody>
          <a:bodyPr>
            <a:normAutofit/>
          </a:bodyPr>
          <a:lstStyle>
            <a:lvl1pPr marL="0" indent="0" algn="ctr">
              <a:buNone/>
              <a:defRPr sz="2000" baseline="0">
                <a:solidFill>
                  <a:schemeClr val="bg1"/>
                </a:solidFill>
                <a:latin typeface="Arial" panose="020B0604020202020204" pitchFamily="34" charset="0"/>
                <a:cs typeface="Arial" panose="020B0604020202020204" pitchFamily="34" charset="0"/>
              </a:defRPr>
            </a:lvl1pPr>
          </a:lstStyle>
          <a:p>
            <a:pPr lvl="0"/>
            <a:r>
              <a:rPr lang="tr-TR" dirty="0"/>
              <a:t>Öğretim Elemanı adını buraya yazınız</a:t>
            </a:r>
          </a:p>
        </p:txBody>
      </p:sp>
      <p:sp>
        <p:nvSpPr>
          <p:cNvPr id="10" name="Metin Yer Tutucusu 13">
            <a:extLst>
              <a:ext uri="{FF2B5EF4-FFF2-40B4-BE49-F238E27FC236}">
                <a16:creationId xmlns:a16="http://schemas.microsoft.com/office/drawing/2014/main" id="{84CE4D64-8539-4529-BCE1-681C75D8E2E7}"/>
              </a:ext>
            </a:extLst>
          </p:cNvPr>
          <p:cNvSpPr>
            <a:spLocks noGrp="1"/>
          </p:cNvSpPr>
          <p:nvPr>
            <p:ph type="body" sz="quarter" idx="14" hasCustomPrompt="1"/>
          </p:nvPr>
        </p:nvSpPr>
        <p:spPr>
          <a:xfrm>
            <a:off x="360946" y="5899412"/>
            <a:ext cx="8419760" cy="457200"/>
          </a:xfrm>
        </p:spPr>
        <p:txBody>
          <a:bodyPr>
            <a:normAutofit/>
          </a:bodyPr>
          <a:lstStyle>
            <a:lvl1pPr marL="0" indent="0" algn="ctr">
              <a:buNone/>
              <a:defRPr sz="1400" b="1" baseline="0">
                <a:solidFill>
                  <a:schemeClr val="bg1"/>
                </a:solidFill>
                <a:latin typeface="Arial" panose="020B0604020202020204" pitchFamily="34" charset="0"/>
                <a:cs typeface="Arial" panose="020B0604020202020204" pitchFamily="34" charset="0"/>
              </a:defRPr>
            </a:lvl1pPr>
          </a:lstStyle>
          <a:p>
            <a:pPr lvl="0"/>
            <a:r>
              <a:rPr lang="tr-TR" dirty="0"/>
              <a:t>Kaçıncı bölüm/hafta dersi ise onu bu alana yazınız. (</a:t>
            </a:r>
            <a:r>
              <a:rPr lang="tr-TR" dirty="0" err="1"/>
              <a:t>Örn</a:t>
            </a:r>
            <a:r>
              <a:rPr lang="tr-TR" dirty="0"/>
              <a:t>: 1. Hafta ya da 1. Bölüm)</a:t>
            </a:r>
          </a:p>
        </p:txBody>
      </p:sp>
      <p:pic>
        <p:nvPicPr>
          <p:cNvPr id="11" name="Picture 12" descr="C:\Documents and Settings\systemx\Desktop\UE_SUNUM\Slayt_resim\sdu_logo.png">
            <a:extLst>
              <a:ext uri="{FF2B5EF4-FFF2-40B4-BE49-F238E27FC236}">
                <a16:creationId xmlns:a16="http://schemas.microsoft.com/office/drawing/2014/main" id="{54A5F748-F960-AE4B-A1A3-6201FEF16D44}"/>
              </a:ext>
            </a:extLst>
          </p:cNvPr>
          <p:cNvPicPr>
            <a:picLocks noChangeAspect="1" noChangeArrowheads="1"/>
          </p:cNvPicPr>
          <p:nvPr userDrawn="1"/>
        </p:nvPicPr>
        <p:blipFill>
          <a:blip r:embed="rId3"/>
          <a:srcRect/>
          <a:stretch>
            <a:fillRect/>
          </a:stretch>
        </p:blipFill>
        <p:spPr bwMode="auto">
          <a:xfrm>
            <a:off x="3267075" y="1895475"/>
            <a:ext cx="2514600" cy="2314575"/>
          </a:xfrm>
          <a:prstGeom prst="rect">
            <a:avLst/>
          </a:prstGeom>
          <a:noFill/>
          <a:ln w="9525">
            <a:noFill/>
            <a:miter lim="800000"/>
            <a:headEnd/>
            <a:tailEnd/>
          </a:ln>
        </p:spPr>
      </p:pic>
      <p:pic>
        <p:nvPicPr>
          <p:cNvPr id="12" name="Picture 13" descr="C:\Documents and Settings\systemx\Desktop\UE_SUNUM\Slayt_resim\sdu_text.png">
            <a:extLst>
              <a:ext uri="{FF2B5EF4-FFF2-40B4-BE49-F238E27FC236}">
                <a16:creationId xmlns:a16="http://schemas.microsoft.com/office/drawing/2014/main" id="{93B7F04A-9970-B24A-8B74-E30EB3A35AEA}"/>
              </a:ext>
            </a:extLst>
          </p:cNvPr>
          <p:cNvPicPr>
            <a:picLocks noChangeAspect="1" noChangeArrowheads="1"/>
          </p:cNvPicPr>
          <p:nvPr userDrawn="1"/>
        </p:nvPicPr>
        <p:blipFill>
          <a:blip r:embed="rId4"/>
          <a:srcRect/>
          <a:stretch>
            <a:fillRect/>
          </a:stretch>
        </p:blipFill>
        <p:spPr bwMode="auto">
          <a:xfrm>
            <a:off x="1295400" y="1066800"/>
            <a:ext cx="6772275" cy="971550"/>
          </a:xfrm>
          <a:prstGeom prst="rect">
            <a:avLst/>
          </a:prstGeom>
          <a:noFill/>
          <a:ln w="9525">
            <a:noFill/>
            <a:miter lim="800000"/>
            <a:headEnd/>
            <a:tailEnd/>
          </a:ln>
        </p:spPr>
      </p:pic>
      <p:pic>
        <p:nvPicPr>
          <p:cNvPr id="13" name="Picture 7" descr="C:\Documents and Settings\systemx\Desktop\UE_SUNUM\Slayt_resim\ust.png">
            <a:extLst>
              <a:ext uri="{FF2B5EF4-FFF2-40B4-BE49-F238E27FC236}">
                <a16:creationId xmlns:a16="http://schemas.microsoft.com/office/drawing/2014/main" id="{2CFBFC92-D40E-5E41-9934-7BCC66B441BA}"/>
              </a:ext>
            </a:extLst>
          </p:cNvPr>
          <p:cNvPicPr>
            <a:picLocks noChangeAspect="1" noChangeArrowheads="1"/>
          </p:cNvPicPr>
          <p:nvPr userDrawn="1"/>
        </p:nvPicPr>
        <p:blipFill>
          <a:blip r:embed="rId5"/>
          <a:srcRect/>
          <a:stretch>
            <a:fillRect/>
          </a:stretch>
        </p:blipFill>
        <p:spPr bwMode="auto">
          <a:xfrm>
            <a:off x="0" y="0"/>
            <a:ext cx="9144001" cy="609600"/>
          </a:xfrm>
          <a:prstGeom prst="rect">
            <a:avLst/>
          </a:prstGeom>
          <a:noFill/>
        </p:spPr>
      </p:pic>
    </p:spTree>
    <p:extLst>
      <p:ext uri="{BB962C8B-B14F-4D97-AF65-F5344CB8AC3E}">
        <p14:creationId xmlns:p14="http://schemas.microsoft.com/office/powerpoint/2010/main" val="426461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25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1000"/>
                                        <p:tgtEl>
                                          <p:spTgt spid="14">
                                            <p:txEl>
                                              <p:pRg st="0" end="0"/>
                                            </p:txEl>
                                          </p:spTgt>
                                        </p:tgtEl>
                                      </p:cBhvr>
                                    </p:animEffect>
                                    <p:anim calcmode="lin" valueType="num">
                                      <p:cBhvr>
                                        <p:cTn id="1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25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anim calcmode="lin" valueType="num">
                                      <p:cBhvr>
                                        <p:cTn id="1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2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par>
                          <p:cTn id="24" fill="hold">
                            <p:stCondLst>
                              <p:cond delay="2750"/>
                            </p:stCondLst>
                            <p:childTnLst>
                              <p:par>
                                <p:cTn id="25" presetID="10" presetClass="entr" presetSubtype="0" fill="hold" nodeType="afterEffect">
                                  <p:stCondLst>
                                    <p:cond delay="10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14" grpId="0" build="p">
        <p:tmplLst>
          <p:tmpl lvl="1">
            <p:tnLst>
              <p:par>
                <p:cTn presetID="42" presetClass="entr" presetSubtype="0" fill="hold" nodeType="withEffect">
                  <p:stCondLst>
                    <p:cond delay="125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anim calcmode="lin" valueType="num">
                      <p:cBhvr>
                        <p:cTn dur="1000" fill="hold"/>
                        <p:tgtEl>
                          <p:spTgt spid="14"/>
                        </p:tgtEl>
                        <p:attrNameLst>
                          <p:attrName>ppt_x</p:attrName>
                        </p:attrNameLst>
                      </p:cBhvr>
                      <p:tavLst>
                        <p:tav tm="0">
                          <p:val>
                            <p:strVal val="#ppt_x"/>
                          </p:val>
                        </p:tav>
                        <p:tav tm="100000">
                          <p:val>
                            <p:strVal val="#ppt_x"/>
                          </p:val>
                        </p:tav>
                      </p:tavLst>
                    </p:anim>
                    <p:anim calcmode="lin" valueType="num">
                      <p:cBhvr>
                        <p:cTn dur="1000" fill="hold"/>
                        <p:tgtEl>
                          <p:spTgt spid="14"/>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42" presetClass="entr" presetSubtype="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anim calcmode="lin" valueType="num">
                      <p:cBhvr>
                        <p:cTn dur="1000" fill="hold"/>
                        <p:tgtEl>
                          <p:spTgt spid="10"/>
                        </p:tgtEl>
                        <p:attrNameLst>
                          <p:attrName>ppt_x</p:attrName>
                        </p:attrNameLst>
                      </p:cBhvr>
                      <p:tavLst>
                        <p:tav tm="0">
                          <p:val>
                            <p:strVal val="#ppt_x"/>
                          </p:val>
                        </p:tav>
                        <p:tav tm="100000">
                          <p:val>
                            <p:strVal val="#ppt_x"/>
                          </p:val>
                        </p:tav>
                      </p:tavLst>
                    </p:anim>
                    <p:anim calcmode="lin" valueType="num">
                      <p:cBhvr>
                        <p:cTn dur="1000" fill="hold"/>
                        <p:tgtEl>
                          <p:spTgt spid="10"/>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Başlık ve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3765" y="853415"/>
            <a:ext cx="8686800" cy="536114"/>
          </a:xfrm>
        </p:spPr>
        <p:txBody>
          <a:bodyPr>
            <a:normAutofit/>
          </a:bodyPr>
          <a:lstStyle>
            <a:lvl1pPr>
              <a:defRPr sz="3600" b="1" baseline="0">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idx="1" hasCustomPrompt="1"/>
          </p:nvPr>
        </p:nvSpPr>
        <p:spPr>
          <a:xfrm>
            <a:off x="313765" y="1515035"/>
            <a:ext cx="8686800" cy="4929308"/>
          </a:xfrm>
        </p:spPr>
        <p:txBody>
          <a:bodyPr/>
          <a:lstStyle>
            <a:lvl1pPr>
              <a:defRPr/>
            </a:lvl1pPr>
          </a:lstStyle>
          <a:p>
            <a:pPr lvl="0"/>
            <a:r>
              <a:rPr lang="tr-TR" dirty="0"/>
              <a:t>Konu Bilgisini yazınız</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13765" y="6356351"/>
            <a:ext cx="1891553" cy="365125"/>
          </a:xfrm>
        </p:spPr>
        <p:txBody>
          <a:bodyPr/>
          <a:lstStyle/>
          <a:p>
            <a:fld id="{7A384AEE-717F-461B-8C96-9D64203B579B}" type="datetimeFigureOut">
              <a:rPr lang="tr-TR" smtClean="0"/>
              <a:t>31.3.2020</a:t>
            </a:fld>
            <a:endParaRPr lang="tr-TR" dirty="0"/>
          </a:p>
        </p:txBody>
      </p:sp>
      <p:sp>
        <p:nvSpPr>
          <p:cNvPr id="5" name="Footer Placeholder 4"/>
          <p:cNvSpPr>
            <a:spLocks noGrp="1"/>
          </p:cNvSpPr>
          <p:nvPr>
            <p:ph type="ftr" sz="quarter" idx="11"/>
          </p:nvPr>
        </p:nvSpPr>
        <p:spPr>
          <a:xfrm>
            <a:off x="2411505" y="5618742"/>
            <a:ext cx="4527177" cy="365125"/>
          </a:xfrm>
        </p:spPr>
        <p:txBody>
          <a:bodyPr/>
          <a:lstStyle/>
          <a:p>
            <a:endParaRPr lang="tr-TR" dirty="0"/>
          </a:p>
        </p:txBody>
      </p:sp>
      <p:sp>
        <p:nvSpPr>
          <p:cNvPr id="6" name="Slide Number Placeholder 5"/>
          <p:cNvSpPr>
            <a:spLocks noGrp="1"/>
          </p:cNvSpPr>
          <p:nvPr>
            <p:ph type="sldNum" sz="quarter" idx="12"/>
          </p:nvPr>
        </p:nvSpPr>
        <p:spPr>
          <a:xfrm>
            <a:off x="6938682" y="6356351"/>
            <a:ext cx="2061882" cy="365125"/>
          </a:xfrm>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84A1DFD6-93C8-4445-88F7-8A0A4EC543D4}"/>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60D13B43-439F-3B46-8347-DE652410DB1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406B7BCA-9423-4D42-A3B7-B4F6BB57FE31}"/>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9E8C404A-CFE7-9945-8080-75219E9B814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35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childTnLst>
                          </p:cTn>
                        </p:par>
                        <p:par>
                          <p:cTn id="25" fill="hold">
                            <p:stCondLst>
                              <p:cond delay="2000"/>
                            </p:stCondLst>
                            <p:childTnLst>
                              <p:par>
                                <p:cTn id="26" presetID="18" presetClass="entr" presetSubtype="1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Left)">
                                      <p:cBhvr>
                                        <p:cTn id="28" dur="500"/>
                                        <p:tgtEl>
                                          <p:spTgt spid="11"/>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childTnLst>
                                </p:cTn>
                              </p:par>
                              <p:par>
                                <p:cTn id="37" presetID="2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ppt_x</p:attrName>
                                        </p:attrNameLst>
                                      </p:cBhvr>
                                      <p:tavLst>
                                        <p:tav tm="0">
                                          <p:val>
                                            <p:strVal val="#ppt_x-.2"/>
                                          </p:val>
                                        </p:tav>
                                        <p:tav tm="100000">
                                          <p:val>
                                            <p:strVal val="#ppt_x"/>
                                          </p:val>
                                        </p:tav>
                                      </p:tavLst>
                                    </p:anim>
                                    <p:anim calcmode="lin" valueType="num">
                                      <p:cBhvr>
                                        <p:cTn id="40"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tr-TR"/>
              <a:t>Asıl başlık stili için tıklatın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D124583F-BCBB-CD45-AE3C-AF99A3E4210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4F6C485D-3148-5741-AEDD-4500565D4FA3}"/>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6B5F9717-9813-FC40-A8D8-A5F6BF514DAD}"/>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B922BC28-EC96-AD4D-8F45-8414D6877D58}"/>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21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2729" y="779923"/>
            <a:ext cx="8650942" cy="678049"/>
          </a:xfrm>
        </p:spPr>
        <p:txBody>
          <a:bodyPr>
            <a:normAutofit/>
          </a:bodyPr>
          <a:lstStyle>
            <a:lvl1pPr>
              <a:defRPr sz="3600" b="1">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sz="half" idx="1"/>
          </p:nvPr>
        </p:nvSpPr>
        <p:spPr>
          <a:xfrm>
            <a:off x="322728" y="1637360"/>
            <a:ext cx="414169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652682" y="1637360"/>
            <a:ext cx="431090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a:xfrm>
            <a:off x="322729" y="6356351"/>
            <a:ext cx="2363321" cy="365125"/>
          </a:xfrm>
        </p:spPr>
        <p:txBody>
          <a:bodyPr/>
          <a:lstStyle/>
          <a:p>
            <a:fld id="{7A384AEE-717F-461B-8C96-9D64203B579B}" type="datetimeFigureOut">
              <a:rPr lang="tr-TR" smtClean="0"/>
              <a:t>31.3.2020</a:t>
            </a:fld>
            <a:endParaRPr lang="tr-TR" dirty="0"/>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4" name="Picture 2" descr="C:\Documents and Settings\systemx\Desktop\UE_SUNUM\Slayt_resim\ust_icerik.png">
            <a:extLst>
              <a:ext uri="{FF2B5EF4-FFF2-40B4-BE49-F238E27FC236}">
                <a16:creationId xmlns:a16="http://schemas.microsoft.com/office/drawing/2014/main" id="{16C282B3-0FA8-EC48-8557-B7980E8C6383}"/>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5" name="Picture 3" descr="C:\Documents and Settings\systemx\Desktop\UE_SUNUM\Slayt_resim\alt_icerik.png">
            <a:extLst>
              <a:ext uri="{FF2B5EF4-FFF2-40B4-BE49-F238E27FC236}">
                <a16:creationId xmlns:a16="http://schemas.microsoft.com/office/drawing/2014/main" id="{2AA198C9-893E-6241-A6BB-697EDB2A0415}"/>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6" name="Picture 4" descr="C:\Documents and Settings\systemx\Desktop\UE_SUNUM\Slayt_resim\sdu_logo_icerik.png">
            <a:extLst>
              <a:ext uri="{FF2B5EF4-FFF2-40B4-BE49-F238E27FC236}">
                <a16:creationId xmlns:a16="http://schemas.microsoft.com/office/drawing/2014/main" id="{3EDC7159-F9EA-074D-A24D-3782ACD3B9A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7" name="Picture 3" descr="E:\Uzaktan Eğitim\UE_SUNUM\Slayt_resim\sdu_text_icerik_2.png">
            <a:extLst>
              <a:ext uri="{FF2B5EF4-FFF2-40B4-BE49-F238E27FC236}">
                <a16:creationId xmlns:a16="http://schemas.microsoft.com/office/drawing/2014/main" id="{E53280C5-28B2-8A48-841A-49C87151316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par>
                                <p:cTn id="25" presetID="10" presetClass="entr" presetSubtype="0" fill="hold" grpId="0" nodeType="withEffect">
                                  <p:stCondLst>
                                    <p:cond delay="125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750"/>
                                        <p:tgtEl>
                                          <p:spTgt spid="4">
                                            <p:txEl>
                                              <p:pRg st="0" end="0"/>
                                            </p:txEl>
                                          </p:spTgt>
                                        </p:tgtEl>
                                      </p:cBhvr>
                                    </p:animEffect>
                                  </p:childTnLst>
                                </p:cTn>
                              </p:par>
                              <p:par>
                                <p:cTn id="28" presetID="10" presetClass="entr" presetSubtype="0" fill="hold" grpId="0" nodeType="withEffect">
                                  <p:stCondLst>
                                    <p:cond delay="125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750"/>
                                        <p:tgtEl>
                                          <p:spTgt spid="4">
                                            <p:txEl>
                                              <p:pRg st="1" end="1"/>
                                            </p:txEl>
                                          </p:spTgt>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750"/>
                                        <p:tgtEl>
                                          <p:spTgt spid="4">
                                            <p:txEl>
                                              <p:pRg st="2" end="2"/>
                                            </p:txEl>
                                          </p:spTgt>
                                        </p:tgtEl>
                                      </p:cBhvr>
                                    </p:animEffect>
                                  </p:childTnLst>
                                </p:cTn>
                              </p:par>
                              <p:par>
                                <p:cTn id="34" presetID="10" presetClass="entr" presetSubtype="0" fill="hold" grpId="0" nodeType="withEffect">
                                  <p:stCondLst>
                                    <p:cond delay="125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750"/>
                                        <p:tgtEl>
                                          <p:spTgt spid="4">
                                            <p:txEl>
                                              <p:pRg st="3" end="3"/>
                                            </p:txEl>
                                          </p:spTgt>
                                        </p:tgtEl>
                                      </p:cBhvr>
                                    </p:animEffect>
                                  </p:childTnLst>
                                </p:cTn>
                              </p:par>
                              <p:par>
                                <p:cTn id="37" presetID="10" presetClass="entr" presetSubtype="0" fill="hold" grpId="0" nodeType="withEffect">
                                  <p:stCondLst>
                                    <p:cond delay="125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750"/>
                                        <p:tgtEl>
                                          <p:spTgt spid="4">
                                            <p:txEl>
                                              <p:pRg st="4" end="4"/>
                                            </p:txEl>
                                          </p:spTgt>
                                        </p:tgtEl>
                                      </p:cBhvr>
                                    </p:animEffect>
                                  </p:childTnLst>
                                </p:cTn>
                              </p:par>
                            </p:childTnLst>
                          </p:cTn>
                        </p:par>
                        <p:par>
                          <p:cTn id="40" fill="hold">
                            <p:stCondLst>
                              <p:cond delay="2000"/>
                            </p:stCondLst>
                            <p:childTnLst>
                              <p:par>
                                <p:cTn id="41" presetID="18" presetClass="entr" presetSubtype="12"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strips(downLeft)">
                                      <p:cBhvr>
                                        <p:cTn id="43" dur="500"/>
                                        <p:tgtEl>
                                          <p:spTgt spid="14"/>
                                        </p:tgtEl>
                                      </p:cBhvr>
                                    </p:animEffec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childTnLst>
                                </p:cTn>
                              </p:par>
                              <p:par>
                                <p:cTn id="52" presetID="29"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ppt_x</p:attrName>
                                        </p:attrNameLst>
                                      </p:cBhvr>
                                      <p:tavLst>
                                        <p:tav tm="0">
                                          <p:val>
                                            <p:strVal val="#ppt_x-.2"/>
                                          </p:val>
                                        </p:tav>
                                        <p:tav tm="100000">
                                          <p:val>
                                            <p:strVal val="#ppt_x"/>
                                          </p:val>
                                        </p:tav>
                                      </p:tavLst>
                                    </p:anim>
                                    <p:anim calcmode="lin" valueType="num">
                                      <p:cBhvr>
                                        <p:cTn id="55"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4" grpId="0" build="p">
        <p:tmplLst>
          <p:tmpl lvl="1">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629842" y="2505075"/>
            <a:ext cx="3868340"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4629150" y="2505075"/>
            <a:ext cx="3887391"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A384AEE-717F-461B-8C96-9D64203B579B}" type="datetimeFigureOut">
              <a:rPr lang="tr-TR" smtClean="0"/>
              <a:t>31.3.2020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FB22F58-9FDF-474E-B940-7D6D24B82F83}" type="slidenum">
              <a:rPr lang="tr-TR" smtClean="0"/>
              <a:t>‹#›</a:t>
            </a:fld>
            <a:endParaRPr lang="tr-TR"/>
          </a:p>
        </p:txBody>
      </p:sp>
      <p:pic>
        <p:nvPicPr>
          <p:cNvPr id="13" name="Picture 2" descr="C:\Documents and Settings\systemx\Desktop\UE_SUNUM\Slayt_resim\ust_icerik.png">
            <a:extLst>
              <a:ext uri="{FF2B5EF4-FFF2-40B4-BE49-F238E27FC236}">
                <a16:creationId xmlns:a16="http://schemas.microsoft.com/office/drawing/2014/main" id="{5982E71D-F5D6-6A42-A387-0D5F710AD36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4" name="Picture 3" descr="C:\Documents and Settings\systemx\Desktop\UE_SUNUM\Slayt_resim\alt_icerik.png">
            <a:extLst>
              <a:ext uri="{FF2B5EF4-FFF2-40B4-BE49-F238E27FC236}">
                <a16:creationId xmlns:a16="http://schemas.microsoft.com/office/drawing/2014/main" id="{487E5075-313F-CB49-BD83-3D646A7346AB}"/>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5" name="Picture 4" descr="C:\Documents and Settings\systemx\Desktop\UE_SUNUM\Slayt_resim\sdu_logo_icerik.png">
            <a:extLst>
              <a:ext uri="{FF2B5EF4-FFF2-40B4-BE49-F238E27FC236}">
                <a16:creationId xmlns:a16="http://schemas.microsoft.com/office/drawing/2014/main" id="{5F341399-119C-5F45-9DD5-EE3FF654A65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6" name="Picture 3" descr="E:\Uzaktan Eğitim\UE_SUNUM\Slayt_resim\sdu_text_icerik_2.png">
            <a:extLst>
              <a:ext uri="{FF2B5EF4-FFF2-40B4-BE49-F238E27FC236}">
                <a16:creationId xmlns:a16="http://schemas.microsoft.com/office/drawing/2014/main" id="{742234DB-E25A-D94A-A9C6-C5107900F7F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55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par>
                                <p:cTn id="16" presetID="29"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ppt_x</p:attrName>
                                        </p:attrNameLst>
                                      </p:cBhvr>
                                      <p:tavLst>
                                        <p:tav tm="0">
                                          <p:val>
                                            <p:strVal val="#ppt_x-.2"/>
                                          </p:val>
                                        </p:tav>
                                        <p:tav tm="100000">
                                          <p:val>
                                            <p:strVal val="#ppt_x"/>
                                          </p:val>
                                        </p:tav>
                                      </p:tavLst>
                                    </p:anim>
                                    <p:anim calcmode="lin" valueType="num">
                                      <p:cBhvr>
                                        <p:cTn id="19" dur="5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7A384AEE-717F-461B-8C96-9D64203B579B}" type="datetimeFigureOut">
              <a:rPr lang="tr-TR" smtClean="0"/>
              <a:t>31.3.2020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FB22F58-9FDF-474E-B940-7D6D24B82F83}" type="slidenum">
              <a:rPr lang="tr-TR" smtClean="0"/>
              <a:t>‹#›</a:t>
            </a:fld>
            <a:endParaRPr lang="tr-TR"/>
          </a:p>
        </p:txBody>
      </p:sp>
      <p:pic>
        <p:nvPicPr>
          <p:cNvPr id="9" name="Picture 2" descr="C:\Documents and Settings\systemx\Desktop\UE_SUNUM\Slayt_resim\ust_icerik.png">
            <a:extLst>
              <a:ext uri="{FF2B5EF4-FFF2-40B4-BE49-F238E27FC236}">
                <a16:creationId xmlns:a16="http://schemas.microsoft.com/office/drawing/2014/main" id="{1664BD23-CA4A-2146-AF1C-6055D62AF7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0" name="Picture 3" descr="C:\Documents and Settings\systemx\Desktop\UE_SUNUM\Slayt_resim\alt_icerik.png">
            <a:extLst>
              <a:ext uri="{FF2B5EF4-FFF2-40B4-BE49-F238E27FC236}">
                <a16:creationId xmlns:a16="http://schemas.microsoft.com/office/drawing/2014/main" id="{DEBD0A25-3C2C-4F40-BFC4-432296F1754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1" name="Picture 4" descr="C:\Documents and Settings\systemx\Desktop\UE_SUNUM\Slayt_resim\sdu_logo_icerik.png">
            <a:extLst>
              <a:ext uri="{FF2B5EF4-FFF2-40B4-BE49-F238E27FC236}">
                <a16:creationId xmlns:a16="http://schemas.microsoft.com/office/drawing/2014/main" id="{E280C558-7A5F-8C48-BA4C-071AA3F7F65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2" name="Picture 3" descr="E:\Uzaktan Eğitim\UE_SUNUM\Slayt_resim\sdu_text_icerik_2.png">
            <a:extLst>
              <a:ext uri="{FF2B5EF4-FFF2-40B4-BE49-F238E27FC236}">
                <a16:creationId xmlns:a16="http://schemas.microsoft.com/office/drawing/2014/main" id="{1480449E-A9B3-274F-A419-696D362DD8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29"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ppt_x</p:attrName>
                                        </p:attrNameLst>
                                      </p:cBhvr>
                                      <p:tavLst>
                                        <p:tav tm="0">
                                          <p:val>
                                            <p:strVal val="#ppt_x-.2"/>
                                          </p:val>
                                        </p:tav>
                                        <p:tav tm="100000">
                                          <p:val>
                                            <p:strVal val="#ppt_x"/>
                                          </p:val>
                                        </p:tav>
                                      </p:tavLst>
                                    </p:anim>
                                    <p:anim calcmode="lin" valueType="num">
                                      <p:cBhvr>
                                        <p:cTn id="19" dur="5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84AEE-717F-461B-8C96-9D64203B579B}" type="datetimeFigureOut">
              <a:rPr lang="tr-TR" smtClean="0"/>
              <a:t>31.3.2020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FB22F58-9FDF-474E-B940-7D6D24B82F83}" type="slidenum">
              <a:rPr lang="tr-TR" smtClean="0"/>
              <a:t>‹#›</a:t>
            </a:fld>
            <a:endParaRPr lang="tr-TR"/>
          </a:p>
        </p:txBody>
      </p:sp>
      <p:pic>
        <p:nvPicPr>
          <p:cNvPr id="8" name="Picture 2" descr="C:\Documents and Settings\systemx\Desktop\UE_SUNUM\Slayt_resim\ust_icerik.png">
            <a:extLst>
              <a:ext uri="{FF2B5EF4-FFF2-40B4-BE49-F238E27FC236}">
                <a16:creationId xmlns:a16="http://schemas.microsoft.com/office/drawing/2014/main" id="{F6F0BC35-BB1D-0045-A55B-AFFE2D31005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9" name="Picture 3" descr="C:\Documents and Settings\systemx\Desktop\UE_SUNUM\Slayt_resim\alt_icerik.png">
            <a:extLst>
              <a:ext uri="{FF2B5EF4-FFF2-40B4-BE49-F238E27FC236}">
                <a16:creationId xmlns:a16="http://schemas.microsoft.com/office/drawing/2014/main" id="{8EBCD001-D144-7A42-9E17-48922BEE224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0" name="Picture 4" descr="C:\Documents and Settings\systemx\Desktop\UE_SUNUM\Slayt_resim\sdu_logo_icerik.png">
            <a:extLst>
              <a:ext uri="{FF2B5EF4-FFF2-40B4-BE49-F238E27FC236}">
                <a16:creationId xmlns:a16="http://schemas.microsoft.com/office/drawing/2014/main" id="{60B582D7-3C19-7E47-BCED-E4DAE60620D9}"/>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1" name="Picture 3" descr="E:\Uzaktan Eğitim\UE_SUNUM\Slayt_resim\sdu_text_icerik_2.png">
            <a:extLst>
              <a:ext uri="{FF2B5EF4-FFF2-40B4-BE49-F238E27FC236}">
                <a16:creationId xmlns:a16="http://schemas.microsoft.com/office/drawing/2014/main" id="{0445514E-D51D-374D-8D38-B7605C5B9E2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23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29"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ppt_x</p:attrName>
                                        </p:attrNameLst>
                                      </p:cBhvr>
                                      <p:tavLst>
                                        <p:tav tm="0">
                                          <p:val>
                                            <p:strVal val="#ppt_x-.2"/>
                                          </p:val>
                                        </p:tav>
                                        <p:tav tm="100000">
                                          <p:val>
                                            <p:strVal val="#ppt_x"/>
                                          </p:val>
                                        </p:tav>
                                      </p:tavLst>
                                    </p:anim>
                                    <p:anim calcmode="lin" valueType="num">
                                      <p:cBhvr>
                                        <p:cTn id="19" dur="5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31.3.2020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C6669CAE-374D-AC40-B11A-190FD045800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200ACFD1-4155-464B-85EC-8726EA5D06E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05004A6-6AFC-E24E-9214-D7EE8636E64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A293A81E-9062-B84B-9A7B-D962785C9F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41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31.3.2020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94CE979B-0D5F-6240-99C3-49CFBDE7BB1B}"/>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74190F14-02B7-5244-A1DA-A0F604CC491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E03CE68-C366-514C-B989-0CAAD6800A1A}"/>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FFD9A3F2-F5C7-CF40-9777-55669091DDC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EF250502-1EBC-8141-8716-C441289B3B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A0ACC324-E794-4846-8EE9-B9B5969B1582}"/>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E1E5F3BC-5650-574B-8CE0-3DD0DDD39B4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EA4EB691-6F3D-E44E-AEB4-6F83664F38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2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31.3.2020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C097CC64-DBE4-2543-9539-25C0D5F875B6}"/>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3817FF26-D818-A94F-8909-97CEDCAACAFE}"/>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0431534A-17E5-FB44-BC7A-5270DB4C188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D605E63E-6EBB-FB48-AAED-BCC7C44FA76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Başlık Yer Tutucusu"/>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tr-TR"/>
              <a:t>Asıl başlık stili için tıklatın</a:t>
            </a:r>
          </a:p>
        </p:txBody>
      </p:sp>
      <p:sp>
        <p:nvSpPr>
          <p:cNvPr id="1027" name="2 Metin Yer Tutucusu"/>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7846A13-9F12-41DC-9D69-8D9BD821FB58}" type="datetimeFigureOut">
              <a:rPr lang="tr-TR"/>
              <a:pPr>
                <a:defRPr/>
              </a:pPr>
              <a:t>31.3.2020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12F3739-513E-4BB4-9AD0-B6BC58DA1F1B}"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p:txBody>
          <a:bodyPr/>
          <a:lstStyle/>
          <a:p>
            <a:r>
              <a:rPr lang="tr-TR" dirty="0"/>
              <a:t>Bilgisayar Ağları</a:t>
            </a:r>
          </a:p>
        </p:txBody>
      </p:sp>
      <p:sp>
        <p:nvSpPr>
          <p:cNvPr id="3" name="Metin Yer Tutucusu 2">
            <a:extLst>
              <a:ext uri="{FF2B5EF4-FFF2-40B4-BE49-F238E27FC236}">
                <a16:creationId xmlns:a16="http://schemas.microsoft.com/office/drawing/2014/main" id="{0744FE32-494C-4944-B4D7-865039D7B750}"/>
              </a:ext>
            </a:extLst>
          </p:cNvPr>
          <p:cNvSpPr>
            <a:spLocks noGrp="1"/>
          </p:cNvSpPr>
          <p:nvPr>
            <p:ph type="body" sz="quarter" idx="13"/>
          </p:nvPr>
        </p:nvSpPr>
        <p:spPr/>
        <p:txBody>
          <a:bodyPr/>
          <a:lstStyle/>
          <a:p>
            <a:r>
              <a:rPr lang="tr-TR" dirty="0"/>
              <a:t>Dr. </a:t>
            </a:r>
            <a:r>
              <a:rPr lang="tr-TR" dirty="0" err="1"/>
              <a:t>Öğr</a:t>
            </a:r>
            <a:r>
              <a:rPr lang="tr-TR" dirty="0"/>
              <a:t>. Üyesi </a:t>
            </a:r>
            <a:r>
              <a:rPr lang="tr-TR" dirty="0" err="1"/>
              <a:t>Mevlüt</a:t>
            </a:r>
            <a:r>
              <a:rPr lang="tr-TR" dirty="0"/>
              <a:t> ERSOY</a:t>
            </a:r>
          </a:p>
        </p:txBody>
      </p:sp>
      <p:sp>
        <p:nvSpPr>
          <p:cNvPr id="4" name="Metin Yer Tutucusu 3">
            <a:extLst>
              <a:ext uri="{FF2B5EF4-FFF2-40B4-BE49-F238E27FC236}">
                <a16:creationId xmlns:a16="http://schemas.microsoft.com/office/drawing/2014/main" id="{F119D374-AC3C-034C-8AB9-F889A26B42E3}"/>
              </a:ext>
            </a:extLst>
          </p:cNvPr>
          <p:cNvSpPr>
            <a:spLocks noGrp="1"/>
          </p:cNvSpPr>
          <p:nvPr>
            <p:ph type="body" sz="quarter" idx="14"/>
          </p:nvPr>
        </p:nvSpPr>
        <p:spPr/>
        <p:txBody>
          <a:bodyPr/>
          <a:lstStyle/>
          <a:p>
            <a:r>
              <a:rPr lang="tr-TR" dirty="0"/>
              <a:t>8. Hafta - </a:t>
            </a:r>
            <a:r>
              <a:rPr lang="sv-SE" dirty="0"/>
              <a:t>Alt Ağlara Bölme, NAT</a:t>
            </a:r>
            <a:endParaRPr lang="tr-TR" dirty="0"/>
          </a:p>
        </p:txBody>
      </p:sp>
    </p:spTree>
    <p:extLst>
      <p:ext uri="{BB962C8B-B14F-4D97-AF65-F5344CB8AC3E}">
        <p14:creationId xmlns:p14="http://schemas.microsoft.com/office/powerpoint/2010/main" val="107456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6C8684D2-542F-224D-8719-6747131F98D1}"/>
              </a:ext>
            </a:extLst>
          </p:cNvPr>
          <p:cNvSpPr>
            <a:spLocks noGrp="1"/>
          </p:cNvSpPr>
          <p:nvPr>
            <p:ph type="title"/>
          </p:nvPr>
        </p:nvSpPr>
        <p:spPr>
          <a:xfrm>
            <a:off x="313765" y="853415"/>
            <a:ext cx="8686800" cy="536114"/>
          </a:xfrm>
        </p:spPr>
        <p:txBody>
          <a:bodyPr>
            <a:normAutofit fontScale="90000"/>
          </a:bodyPr>
          <a:lstStyle/>
          <a:p>
            <a:r>
              <a:rPr lang="tr-TR" dirty="0"/>
              <a:t>Bölüm / Hafta Hedefleri</a:t>
            </a:r>
          </a:p>
        </p:txBody>
      </p:sp>
      <p:sp>
        <p:nvSpPr>
          <p:cNvPr id="5" name="İçerik Yer Tutucusu 2">
            <a:extLst>
              <a:ext uri="{FF2B5EF4-FFF2-40B4-BE49-F238E27FC236}">
                <a16:creationId xmlns:a16="http://schemas.microsoft.com/office/drawing/2014/main" id="{38A35BBB-8AFD-4941-AE2F-6BE7230124BA}"/>
              </a:ext>
            </a:extLst>
          </p:cNvPr>
          <p:cNvSpPr>
            <a:spLocks noGrp="1"/>
          </p:cNvSpPr>
          <p:nvPr>
            <p:ph idx="1"/>
          </p:nvPr>
        </p:nvSpPr>
        <p:spPr>
          <a:xfrm>
            <a:off x="313765" y="1515035"/>
            <a:ext cx="8686800" cy="4929308"/>
          </a:xfrm>
        </p:spPr>
        <p:txBody>
          <a:bodyPr/>
          <a:lstStyle/>
          <a:p>
            <a:r>
              <a:rPr lang="tr-TR" sz="2400" dirty="0"/>
              <a:t>IP Adreslerini Gözden Geçirme</a:t>
            </a:r>
          </a:p>
          <a:p>
            <a:r>
              <a:rPr lang="tr-TR" sz="2400" dirty="0"/>
              <a:t>Bir Ağı Alt Ağlara Bölme</a:t>
            </a:r>
          </a:p>
          <a:p>
            <a:r>
              <a:rPr lang="tr-TR" sz="2400" dirty="0"/>
              <a:t>Özel Alt Ağ Maskeleri</a:t>
            </a:r>
          </a:p>
          <a:p>
            <a:r>
              <a:rPr lang="tr-TR" sz="2400" dirty="0"/>
              <a:t>Alt Ağlar Arasında İletişim Kurma</a:t>
            </a:r>
          </a:p>
          <a:p>
            <a:r>
              <a:rPr lang="tr-TR" sz="2400" dirty="0"/>
              <a:t>Temel Ağ Adres Çevirisi (NAT)</a:t>
            </a:r>
          </a:p>
          <a:p>
            <a:r>
              <a:rPr lang="tr-TR" sz="2400" dirty="0"/>
              <a:t>IP NAT Terimleri</a:t>
            </a:r>
          </a:p>
          <a:p>
            <a:r>
              <a:rPr lang="tr-TR" sz="2400" dirty="0"/>
              <a:t>Dinamik ve Statik NAT</a:t>
            </a:r>
          </a:p>
          <a:p>
            <a:r>
              <a:rPr lang="tr-TR" sz="2400" dirty="0"/>
              <a:t>IP NAT Sorunları</a:t>
            </a:r>
          </a:p>
          <a:p>
            <a:pPr marL="457200" lvl="1" indent="0">
              <a:buNone/>
            </a:pPr>
            <a:endParaRPr lang="tr-TR" sz="1800" dirty="0"/>
          </a:p>
        </p:txBody>
      </p:sp>
    </p:spTree>
    <p:extLst>
      <p:ext uri="{BB962C8B-B14F-4D97-AF65-F5344CB8AC3E}">
        <p14:creationId xmlns:p14="http://schemas.microsoft.com/office/powerpoint/2010/main" val="1161259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IP Adreslerini Gözden Geçirme</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15035"/>
            <a:ext cx="8686800" cy="4929308"/>
          </a:xfrm>
        </p:spPr>
        <p:txBody>
          <a:bodyPr/>
          <a:lstStyle/>
          <a:p>
            <a:pPr marL="0" indent="0" algn="just">
              <a:buNone/>
            </a:pPr>
            <a:r>
              <a:rPr lang="tr-TR" sz="1600" dirty="0"/>
              <a:t>Bir ağlar arası iletişimde iletişimin en önemli özelliklerinden biri, IP adresleme şemasıdır.</a:t>
            </a:r>
          </a:p>
          <a:p>
            <a:pPr marL="0" indent="0" algn="just">
              <a:buNone/>
            </a:pPr>
            <a:endParaRPr lang="tr-TR" sz="1600" dirty="0"/>
          </a:p>
          <a:p>
            <a:pPr marL="0" indent="0" algn="just">
              <a:buNone/>
            </a:pPr>
            <a:r>
              <a:rPr lang="tr-TR" sz="1600" dirty="0"/>
              <a:t>IP adresleme, konak bilgisayarları ve ağ cihazlarını tanımlamak için kullanılan yöntemdir. İnternet zaman içinde büyüdükçe ve ona bağlı konak bilgisayar sayısı arttıkça, büyümeye ayak uydurabilmek için IP adresleme şemalarının da buna uyarlanması gerekmiştir. </a:t>
            </a:r>
          </a:p>
          <a:p>
            <a:pPr marL="0" indent="0" algn="just">
              <a:buNone/>
            </a:pPr>
            <a:endParaRPr lang="tr-TR" sz="1600" dirty="0"/>
          </a:p>
          <a:p>
            <a:pPr marL="0" indent="0" algn="just">
              <a:buNone/>
            </a:pPr>
            <a:r>
              <a:rPr lang="tr-TR" sz="1600" dirty="0"/>
              <a:t>IP adresleme şemaları büyümeye uyarlanırken, IPv4 için temel IP adresi yapısı aynı kalmıştır. Bir IP ağı üzerinden ileti alıp göndermek için ağdaki her konak bilgisayara benzersiz bir 32 bit IP adresinin atanması gerekir. İnsanların iki tabanındaki uzun sayıları okuyup anlamaları zor olduğu için, IP adresleri genellikle noktalı ondalık gösterimle gösterilir. Noktalı ondalık gösterimde, dört sekizlinin her biri, ondalık işareti ile ayrılan bir ondalık sayıya dönüştürülür. </a:t>
            </a:r>
          </a:p>
          <a:p>
            <a:pPr marL="0" indent="0" algn="just">
              <a:buNone/>
            </a:pPr>
            <a:endParaRPr lang="tr-TR" sz="1600" dirty="0"/>
          </a:p>
          <a:p>
            <a:pPr marL="0" indent="0" algn="just">
              <a:buNone/>
            </a:pPr>
            <a:r>
              <a:rPr lang="tr-TR" sz="1600" dirty="0"/>
              <a:t>Örneğin:</a:t>
            </a:r>
          </a:p>
          <a:p>
            <a:pPr marL="0" indent="0" algn="just">
              <a:buNone/>
            </a:pPr>
            <a:endParaRPr lang="tr-TR" sz="1600" dirty="0"/>
          </a:p>
          <a:p>
            <a:pPr marL="0" indent="0" algn="just">
              <a:buNone/>
            </a:pPr>
            <a:r>
              <a:rPr lang="tr-TR" sz="1600" dirty="0"/>
              <a:t>11000000.10101000.00000001.01101010 </a:t>
            </a:r>
          </a:p>
          <a:p>
            <a:pPr marL="0" indent="0" algn="just">
              <a:buNone/>
            </a:pPr>
            <a:endParaRPr lang="tr-TR" sz="1600" dirty="0"/>
          </a:p>
          <a:p>
            <a:pPr marL="0" indent="0" algn="just">
              <a:buNone/>
            </a:pPr>
            <a:r>
              <a:rPr lang="tr-TR" sz="1600" dirty="0"/>
              <a:t>IP adresi ondalık noktalı gösterimde 192.168.1.106 olarak gösterilir.</a:t>
            </a:r>
          </a:p>
        </p:txBody>
      </p:sp>
    </p:spTree>
    <p:extLst>
      <p:ext uri="{BB962C8B-B14F-4D97-AF65-F5344CB8AC3E}">
        <p14:creationId xmlns:p14="http://schemas.microsoft.com/office/powerpoint/2010/main" val="2973167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IP Adreslerini Gözden Geçirme</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15035"/>
            <a:ext cx="8686800" cy="4929308"/>
          </a:xfrm>
        </p:spPr>
        <p:txBody>
          <a:bodyPr/>
          <a:lstStyle/>
          <a:p>
            <a:pPr marL="0" indent="0" algn="just">
              <a:buNone/>
            </a:pPr>
            <a:r>
              <a:rPr lang="tr-TR" sz="2000" dirty="0"/>
              <a:t>IP adresleri hiyerarşik yapıdadır. Hiyerarşi, anne babanın tepede ve çocukların alttan onlara bağlı oldukları bir soyağacı gibidir. Bir ağ için bu, 32 bit sayının bir bölümünün ağı (anne baba), </a:t>
            </a:r>
            <a:r>
              <a:rPr lang="tr-TR" sz="2000" dirty="0" err="1"/>
              <a:t>bit'lerin</a:t>
            </a:r>
            <a:r>
              <a:rPr lang="tr-TR" sz="2000" dirty="0"/>
              <a:t> diğer bölümününse konak bilgisayarı (çocuk) tanımladığı anlamına gelir. İnternet'in ilk günlerinde, İnternet'e bağlanma ihtiyacı duyan çok az kuruluş vardı ve bu nedenle ağlara IP adresinin yalnızca ilk 8 </a:t>
            </a:r>
            <a:r>
              <a:rPr lang="tr-TR" sz="2000" dirty="0" err="1"/>
              <a:t>bit'i</a:t>
            </a:r>
            <a:r>
              <a:rPr lang="tr-TR" sz="2000" dirty="0"/>
              <a:t> (ilk sekizli) atanıyordu. Kalan 24 bit ise yerel konak bilgisayar adresleri için kullanılıyordu. </a:t>
            </a:r>
          </a:p>
          <a:p>
            <a:pPr marL="0" indent="0" algn="just">
              <a:buNone/>
            </a:pPr>
            <a:endParaRPr lang="tr-TR" sz="2000" dirty="0"/>
          </a:p>
          <a:p>
            <a:pPr marL="0" indent="0" algn="just">
              <a:buNone/>
            </a:pPr>
            <a:r>
              <a:rPr lang="tr-TR" sz="2000" dirty="0"/>
              <a:t>8 bit ağ ilk başta mantıklıydı, çünkü insanlar başlangıçta İnternet'in birkaç büyük üniversiteden, devletten ve askeri kuruluştan oluşacağını düşünüyordu. Ağ sayısı olarak yalnızca 8 </a:t>
            </a:r>
            <a:r>
              <a:rPr lang="tr-TR" sz="2000" dirty="0" err="1"/>
              <a:t>bit'in</a:t>
            </a:r>
            <a:r>
              <a:rPr lang="tr-TR" sz="2000" dirty="0"/>
              <a:t> kullanılması, her biri 16 milyonun üzerinde konak bilgisayar içeren 256 ayrı ağın oluşturulmasına olanak verdi. Çok geçmeden daha fazla kuruluşun ve nihayetinde bireylerin araştırma yapmak ve birbirleriyle iletişim kurmak için İnternet'e bağlanacağı anlaşıldı. Daha fazla ağ gerekiyordu ve daha fazla ağ numarasının atanması için bir yol bulunmalıydı.</a:t>
            </a:r>
          </a:p>
        </p:txBody>
      </p:sp>
    </p:spTree>
    <p:extLst>
      <p:ext uri="{BB962C8B-B14F-4D97-AF65-F5344CB8AC3E}">
        <p14:creationId xmlns:p14="http://schemas.microsoft.com/office/powerpoint/2010/main" val="729488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IP Adreslerini Gözden Geçirme</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15035"/>
            <a:ext cx="8686800" cy="4929308"/>
          </a:xfrm>
        </p:spPr>
        <p:txBody>
          <a:bodyPr/>
          <a:lstStyle/>
          <a:p>
            <a:pPr marL="0" indent="0" algn="just">
              <a:buNone/>
            </a:pPr>
            <a:r>
              <a:rPr lang="tr-TR" sz="1700" dirty="0"/>
              <a:t>Atanabilecek daha fazla ağ oluşturmak için 32 bit adres alanı beş sınıfa bölündü. Bu sınıflardan üçü; A, B ve C sınıfları, tek tek konak bilgisayarlara veya ağlara atanabilecek adresler sağlar. Diğer iki sınıf olan D ve E sınıfları, çoklu yayın ve deneysel kullanım için ayrılmıştır. </a:t>
            </a:r>
          </a:p>
          <a:p>
            <a:pPr marL="0" indent="0" algn="just">
              <a:buNone/>
            </a:pPr>
            <a:endParaRPr lang="tr-TR" sz="1700" dirty="0"/>
          </a:p>
          <a:p>
            <a:pPr marL="0" indent="0" algn="just">
              <a:buNone/>
            </a:pPr>
            <a:r>
              <a:rPr lang="tr-TR" sz="1700" dirty="0"/>
              <a:t>Bu değişikliğe kadar yönlendiriciler, ağ kimliği için bir IP adresinin yalnızca 8 </a:t>
            </a:r>
            <a:r>
              <a:rPr lang="tr-TR" sz="1700" dirty="0" err="1"/>
              <a:t>bit'ini</a:t>
            </a:r>
            <a:r>
              <a:rPr lang="tr-TR" sz="1700" dirty="0"/>
              <a:t> inceliyordu. Ancak B sınıfı ağlar, ağı tanımlamak için ilk 16 </a:t>
            </a:r>
            <a:r>
              <a:rPr lang="tr-TR" sz="1700" dirty="0" err="1"/>
              <a:t>bit'i</a:t>
            </a:r>
            <a:r>
              <a:rPr lang="tr-TR" sz="1700" dirty="0"/>
              <a:t> kullanmaktadır. C sınıfı ağlar ise ağı tanımlamak için ilk 24 </a:t>
            </a:r>
            <a:r>
              <a:rPr lang="tr-TR" sz="1700" dirty="0" err="1"/>
              <a:t>bit'i</a:t>
            </a:r>
            <a:r>
              <a:rPr lang="tr-TR" sz="1700" dirty="0"/>
              <a:t> kullanır. Bu eklemeyle birlikte yönlendiricilerin de B ve C sınıfı ağları tanımlamak için ilk 8 </a:t>
            </a:r>
            <a:r>
              <a:rPr lang="tr-TR" sz="1700" dirty="0" err="1"/>
              <a:t>bit'in</a:t>
            </a:r>
            <a:r>
              <a:rPr lang="tr-TR" sz="1700" dirty="0"/>
              <a:t> dışındaki </a:t>
            </a:r>
            <a:r>
              <a:rPr lang="tr-TR" sz="1700" dirty="0" err="1"/>
              <a:t>bit'leri</a:t>
            </a:r>
            <a:r>
              <a:rPr lang="tr-TR" sz="1700" dirty="0"/>
              <a:t> incelemek üzere programlanması gerekti.</a:t>
            </a:r>
          </a:p>
          <a:p>
            <a:pPr marL="0" indent="0" algn="just">
              <a:buNone/>
            </a:pPr>
            <a:endParaRPr lang="tr-TR" sz="1700" dirty="0"/>
          </a:p>
          <a:p>
            <a:pPr marL="0" indent="0" algn="just">
              <a:buNone/>
            </a:pPr>
            <a:r>
              <a:rPr lang="tr-TR" sz="1700" dirty="0"/>
              <a:t>Ağların, ağ kimliği </a:t>
            </a:r>
            <a:r>
              <a:rPr lang="tr-TR" sz="1700" dirty="0" err="1"/>
              <a:t>bit'lerinin</a:t>
            </a:r>
            <a:r>
              <a:rPr lang="tr-TR" sz="1700" dirty="0"/>
              <a:t> doğru sayısının belirlenmesinin yönlendiriciler ve konak bilgisayarlar için daha kolay olacağı bir biçimde bölünmesine karar verildi. Bir ağın sınıfını, IP adresinin yüksek değerli </a:t>
            </a:r>
            <a:r>
              <a:rPr lang="tr-TR" sz="1700" dirty="0" err="1"/>
              <a:t>bit'leri</a:t>
            </a:r>
            <a:r>
              <a:rPr lang="tr-TR" sz="1700" dirty="0"/>
              <a:t> olarak adlandırılan ilk birkaç </a:t>
            </a:r>
            <a:r>
              <a:rPr lang="tr-TR" sz="1700" dirty="0" err="1"/>
              <a:t>bit'inin</a:t>
            </a:r>
            <a:r>
              <a:rPr lang="tr-TR" sz="1700" dirty="0"/>
              <a:t> değeri göstermektedir. İlk bit 0 ise, ağ A Sınıfı bir ağdır ve ilk sekizli ağ kimliğini gösterir. İlk bit 1 olduğunda, yönlendirici ikinci </a:t>
            </a:r>
            <a:r>
              <a:rPr lang="tr-TR" sz="1700" dirty="0" err="1"/>
              <a:t>bit'i</a:t>
            </a:r>
            <a:r>
              <a:rPr lang="tr-TR" sz="1700" dirty="0"/>
              <a:t> inceler. İkinci bit 0 ise, ağ B Sınıfı bir ağdır ve yönlendirici ağ kimliği için ilk 16 </a:t>
            </a:r>
            <a:r>
              <a:rPr lang="tr-TR" sz="1700" dirty="0" err="1"/>
              <a:t>bit'i</a:t>
            </a:r>
            <a:r>
              <a:rPr lang="tr-TR" sz="1700" dirty="0"/>
              <a:t> kullanır. İlk üç bit 110 ise, bu durum C Sınıfı bir adresi belirtir. C sınıfı adresler, ağı atamak için ilk 24 </a:t>
            </a:r>
            <a:r>
              <a:rPr lang="tr-TR" sz="1700" dirty="0" err="1"/>
              <a:t>bit'i</a:t>
            </a:r>
            <a:r>
              <a:rPr lang="tr-TR" sz="1700" dirty="0"/>
              <a:t> veya üç sekizliyi kullanır. Orijinal 8 bit ağı daha küçük ağ sınıflarına bölmek, kullanılabilir ağların sayısını 256'dan iki milyonun üzerine çıkardı.</a:t>
            </a:r>
          </a:p>
        </p:txBody>
      </p:sp>
    </p:spTree>
    <p:extLst>
      <p:ext uri="{BB962C8B-B14F-4D97-AF65-F5344CB8AC3E}">
        <p14:creationId xmlns:p14="http://schemas.microsoft.com/office/powerpoint/2010/main" val="2660645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42C33752-5EAC-8640-9EEC-C3A4D68F2F13}"/>
              </a:ext>
            </a:extLst>
          </p:cNvPr>
          <p:cNvSpPr>
            <a:spLocks noGrp="1"/>
          </p:cNvSpPr>
          <p:nvPr>
            <p:ph type="title"/>
          </p:nvPr>
        </p:nvSpPr>
        <p:spPr>
          <a:xfrm>
            <a:off x="313765" y="853415"/>
            <a:ext cx="8686800" cy="536114"/>
          </a:xfrm>
        </p:spPr>
        <p:txBody>
          <a:bodyPr>
            <a:normAutofit fontScale="90000"/>
          </a:bodyPr>
          <a:lstStyle/>
          <a:p>
            <a:r>
              <a:rPr lang="tr-TR" dirty="0"/>
              <a:t>IP Adreslerini Gözden Geçirme</a:t>
            </a:r>
          </a:p>
        </p:txBody>
      </p:sp>
      <p:sp>
        <p:nvSpPr>
          <p:cNvPr id="5" name="İçerik Yer Tutucusu 2">
            <a:extLst>
              <a:ext uri="{FF2B5EF4-FFF2-40B4-BE49-F238E27FC236}">
                <a16:creationId xmlns:a16="http://schemas.microsoft.com/office/drawing/2014/main" id="{773DB25E-4628-CC43-84F4-7822077E538F}"/>
              </a:ext>
            </a:extLst>
          </p:cNvPr>
          <p:cNvSpPr>
            <a:spLocks noGrp="1"/>
          </p:cNvSpPr>
          <p:nvPr>
            <p:ph idx="1"/>
          </p:nvPr>
        </p:nvSpPr>
        <p:spPr>
          <a:xfrm>
            <a:off x="313765" y="1515035"/>
            <a:ext cx="8686800" cy="4929308"/>
          </a:xfrm>
        </p:spPr>
        <p:txBody>
          <a:bodyPr/>
          <a:lstStyle/>
          <a:p>
            <a:pPr marL="0" indent="0" algn="just">
              <a:buNone/>
            </a:pPr>
            <a:r>
              <a:rPr lang="tr-TR" sz="1600" dirty="0"/>
              <a:t>İnternet Mühendisliği Görev Gücü (IETF), ayrı sınıflar oluşturmanın yanı sıra, İnternet adres alanlarından bir bölümünü özel ağlar tarafından kullanılmak üzere ayırmaya karar verdi. Özel ağların genel ağlara bağlantısı yoktur. Özel ağ adresleri İnternet üzerinden yönlendirilemez. Bu, çeşitli konumlardaki birden çok ağın adresleme çatışmalarına neden olmadan aynı özel adresleme şemasını kullanabilmesine olanak verir. Özel adres alanının kullanımı, kuruluşlara atanan kayıtlı benzersiz IP adreslerinin sayısını azaltmıştır. Özel kullanım için tek bir A Sınıfı adres olarak 10.0.0.0 adresi ayrılmıştır. Ayrıca B ve C sınıflarındaki adres alanı da özel ağların kullanımına ayrılmıştır. Bugün ağların çoğu özel adres yapısı kullanmaktadır. Tüketicilerin ağ iletişimi cihazlarının çoğu varsayılan olarak DHCP aracılığıyla özel adresler verir. Yalnızca doğrudan İnternet'e bağlanan cihazlara yönlendirilebilir kayıtlı İnternet adresleri atanır.</a:t>
            </a:r>
          </a:p>
          <a:p>
            <a:pPr marL="0" indent="0" algn="just">
              <a:buNone/>
            </a:pPr>
            <a:endParaRPr lang="tr-TR" sz="1800" dirty="0"/>
          </a:p>
          <a:p>
            <a:pPr marL="0" indent="0" algn="just">
              <a:buNone/>
            </a:pPr>
            <a:endParaRPr lang="tr-TR" sz="1800" dirty="0"/>
          </a:p>
          <a:p>
            <a:pPr marL="0" indent="0" algn="just">
              <a:buNone/>
            </a:pPr>
            <a:endParaRPr lang="tr-TR" sz="1800" dirty="0"/>
          </a:p>
        </p:txBody>
      </p:sp>
      <p:pic>
        <p:nvPicPr>
          <p:cNvPr id="3" name="Resim 2">
            <a:extLst>
              <a:ext uri="{FF2B5EF4-FFF2-40B4-BE49-F238E27FC236}">
                <a16:creationId xmlns:a16="http://schemas.microsoft.com/office/drawing/2014/main" id="{FD7B1DB5-FBE6-4B87-8F56-3E364AC1E927}"/>
              </a:ext>
            </a:extLst>
          </p:cNvPr>
          <p:cNvPicPr>
            <a:picLocks noChangeAspect="1"/>
          </p:cNvPicPr>
          <p:nvPr/>
        </p:nvPicPr>
        <p:blipFill>
          <a:blip r:embed="rId2"/>
          <a:stretch>
            <a:fillRect/>
          </a:stretch>
        </p:blipFill>
        <p:spPr>
          <a:xfrm>
            <a:off x="356347" y="4191000"/>
            <a:ext cx="8601635" cy="1924355"/>
          </a:xfrm>
          <a:prstGeom prst="rect">
            <a:avLst/>
          </a:prstGeom>
        </p:spPr>
      </p:pic>
    </p:spTree>
    <p:extLst>
      <p:ext uri="{BB962C8B-B14F-4D97-AF65-F5344CB8AC3E}">
        <p14:creationId xmlns:p14="http://schemas.microsoft.com/office/powerpoint/2010/main" val="219172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872B1A-3063-4D3C-92D1-1B8A9E973951}"/>
              </a:ext>
            </a:extLst>
          </p:cNvPr>
          <p:cNvSpPr>
            <a:spLocks noGrp="1"/>
          </p:cNvSpPr>
          <p:nvPr>
            <p:ph type="title"/>
          </p:nvPr>
        </p:nvSpPr>
        <p:spPr/>
        <p:txBody>
          <a:bodyPr>
            <a:normAutofit fontScale="90000"/>
          </a:bodyPr>
          <a:lstStyle/>
          <a:p>
            <a:r>
              <a:rPr lang="tr-TR" dirty="0"/>
              <a:t>Bir Ağı Alt Ağlara Bölme</a:t>
            </a:r>
          </a:p>
        </p:txBody>
      </p:sp>
      <p:sp>
        <p:nvSpPr>
          <p:cNvPr id="3" name="İçerik Yer Tutucusu 2">
            <a:extLst>
              <a:ext uri="{FF2B5EF4-FFF2-40B4-BE49-F238E27FC236}">
                <a16:creationId xmlns:a16="http://schemas.microsoft.com/office/drawing/2014/main" id="{22E33750-7A38-413D-83B8-6E1C2B38F6A5}"/>
              </a:ext>
            </a:extLst>
          </p:cNvPr>
          <p:cNvSpPr>
            <a:spLocks noGrp="1"/>
          </p:cNvSpPr>
          <p:nvPr>
            <p:ph idx="1"/>
          </p:nvPr>
        </p:nvSpPr>
        <p:spPr>
          <a:xfrm>
            <a:off x="313765" y="1395292"/>
            <a:ext cx="8686800" cy="4929308"/>
          </a:xfrm>
        </p:spPr>
        <p:txBody>
          <a:bodyPr/>
          <a:lstStyle/>
          <a:p>
            <a:pPr marL="0" indent="0" algn="just">
              <a:buNone/>
            </a:pPr>
            <a:r>
              <a:rPr lang="tr-TR" sz="1500" dirty="0"/>
              <a:t>1980'ler ve 1990'larda ağlar büyümeye ve İnternet'e bağlanmaya devam etmiş ve birçok kuruluş ağlarına yüzlerce, hatta binlerce konak bilgisayar eklenmiştir. B Sınıfı bir ağın binlerce konak bilgisayarı olan bir kuruluş için yeterli olması gerekirdi ancak bazı sorunlar ortaya çıktı. Öncelikle, binlerce konak bilgisayarı olan kuruluşlar bu konak bilgisayarları tek bir yerde tutmuyordu. Bazı kuruluşlar güvenlik veya yönetim amaçları doğrultusunda departmanlarını ayırmak istedi. İkinci olarak, bir ağ üzerinden iletilen birincil paket tipi yayın paketidir. Yayın paketleri tek bir mantıksal ağdaki tüm konak bilgisayarlara iletilir. Tek bir ağ üzerinden yayın trafiği gönderen binlerce konak bilgisayar ve sınırlı kullanılabilir bant genişliğiyle, konak bilgisayarlar eklendikçe ağ başarımı önemli ölçüde azaldı.</a:t>
            </a:r>
          </a:p>
          <a:p>
            <a:pPr marL="0" indent="0" algn="just">
              <a:buNone/>
            </a:pPr>
            <a:endParaRPr lang="tr-TR" sz="1500" dirty="0"/>
          </a:p>
          <a:p>
            <a:pPr marL="0" indent="0" algn="just">
              <a:buNone/>
            </a:pPr>
            <a:r>
              <a:rPr lang="tr-TR" sz="1500" dirty="0"/>
              <a:t>Bu sorunları çözmek için, İnternet'in gelişimine öncülük eden kuruluşlar, alt ağa ayırma olarak adlandırılan bir işlemi kullanarak, ağlarını mini ağlara veya alt ağlara bölmeyi tercih etti. Tek bir IP ağının birden çok ağa ayrılması ve her alt ağın ayrı bir ağ gibi ele alınması nasıl gerçekleşir? </a:t>
            </a:r>
          </a:p>
          <a:p>
            <a:pPr marL="0" indent="0" algn="just">
              <a:buNone/>
            </a:pPr>
            <a:endParaRPr lang="tr-TR" sz="1500" dirty="0"/>
          </a:p>
          <a:p>
            <a:pPr marL="0" indent="0" algn="just">
              <a:buNone/>
            </a:pPr>
            <a:r>
              <a:rPr lang="tr-TR" sz="1500" dirty="0"/>
              <a:t>RFC 917, İnternet Alt Ağları belgesi, alt ağ maskesini yönlendiricilerin ağ bölümünü bir IP adresinden ayırmak için kullandıkları yöntem olarak tanımlar. Bir yönlendirici paket aldığında, paketi iletebileceği uygun yolu belirlemek için paketteki hedef IP adresini ve yollarla ilişkili alt ağ maskelerini kullanır.</a:t>
            </a:r>
          </a:p>
          <a:p>
            <a:pPr marL="0" indent="0" algn="just">
              <a:buNone/>
            </a:pPr>
            <a:endParaRPr lang="tr-TR" sz="1500" dirty="0"/>
          </a:p>
          <a:p>
            <a:pPr marL="0" indent="0" algn="just">
              <a:buNone/>
            </a:pPr>
            <a:r>
              <a:rPr lang="tr-TR" sz="1500" dirty="0"/>
              <a:t>Yönlendirici, alt ağ maskesinin her bir </a:t>
            </a:r>
            <a:r>
              <a:rPr lang="tr-TR" sz="1500" dirty="0" err="1"/>
              <a:t>bit'ini</a:t>
            </a:r>
            <a:r>
              <a:rPr lang="tr-TR" sz="1500" dirty="0"/>
              <a:t> soldan sağa okur. Alt ağ maskesinde bir bit 1 olarak belirlenmişse bu, o konumdaki değerin ağ kimliğinin parçası olduğunu gösterir. Alt ağ maskesinde bulunan 0, o konumdaki değerin konak bilgisayar kimliğinin parçası olduğunu gösterir.</a:t>
            </a:r>
          </a:p>
        </p:txBody>
      </p:sp>
    </p:spTree>
    <p:extLst>
      <p:ext uri="{BB962C8B-B14F-4D97-AF65-F5344CB8AC3E}">
        <p14:creationId xmlns:p14="http://schemas.microsoft.com/office/powerpoint/2010/main" val="989028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6CB856-8CB8-445E-9601-85BDA53E4592}"/>
              </a:ext>
            </a:extLst>
          </p:cNvPr>
          <p:cNvSpPr>
            <a:spLocks noGrp="1"/>
          </p:cNvSpPr>
          <p:nvPr>
            <p:ph type="title"/>
          </p:nvPr>
        </p:nvSpPr>
        <p:spPr>
          <a:xfrm>
            <a:off x="228600" y="857534"/>
            <a:ext cx="8686800" cy="536114"/>
          </a:xfrm>
        </p:spPr>
        <p:txBody>
          <a:bodyPr wrap="square" anchor="ctr">
            <a:normAutofit/>
          </a:bodyPr>
          <a:lstStyle/>
          <a:p>
            <a:pPr>
              <a:lnSpc>
                <a:spcPct val="90000"/>
              </a:lnSpc>
            </a:pPr>
            <a:r>
              <a:rPr lang="tr-TR" sz="3100" dirty="0"/>
              <a:t>Bir Ağı Alt Ağlara Bölme</a:t>
            </a:r>
          </a:p>
        </p:txBody>
      </p:sp>
      <p:pic>
        <p:nvPicPr>
          <p:cNvPr id="4" name="İçerik Yer Tutucusu 3" descr="ekran görüntüsü içeren bir resim&#10;&#10;Açıklama otomatik olarak oluşturuldu">
            <a:extLst>
              <a:ext uri="{FF2B5EF4-FFF2-40B4-BE49-F238E27FC236}">
                <a16:creationId xmlns:a16="http://schemas.microsoft.com/office/drawing/2014/main" id="{216352B6-5294-478A-8EDF-D8B69D5E06F3}"/>
              </a:ext>
            </a:extLst>
          </p:cNvPr>
          <p:cNvPicPr>
            <a:picLocks noGrp="1" noChangeAspect="1"/>
          </p:cNvPicPr>
          <p:nvPr>
            <p:ph idx="1"/>
          </p:nvPr>
        </p:nvPicPr>
        <p:blipFill>
          <a:blip r:embed="rId2"/>
          <a:stretch>
            <a:fillRect/>
          </a:stretch>
        </p:blipFill>
        <p:spPr>
          <a:xfrm>
            <a:off x="378923" y="1393648"/>
            <a:ext cx="8386154" cy="4905900"/>
          </a:xfrm>
          <a:prstGeom prst="rect">
            <a:avLst/>
          </a:prstGeom>
          <a:noFill/>
        </p:spPr>
      </p:pic>
    </p:spTree>
    <p:extLst>
      <p:ext uri="{BB962C8B-B14F-4D97-AF65-F5344CB8AC3E}">
        <p14:creationId xmlns:p14="http://schemas.microsoft.com/office/powerpoint/2010/main" val="88839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622F95-FB22-4F3D-B311-4220D6652702}"/>
              </a:ext>
            </a:extLst>
          </p:cNvPr>
          <p:cNvSpPr>
            <a:spLocks noGrp="1"/>
          </p:cNvSpPr>
          <p:nvPr>
            <p:ph type="title"/>
          </p:nvPr>
        </p:nvSpPr>
        <p:spPr/>
        <p:txBody>
          <a:bodyPr>
            <a:normAutofit fontScale="90000"/>
          </a:bodyPr>
          <a:lstStyle/>
          <a:p>
            <a:r>
              <a:rPr lang="tr-TR" dirty="0"/>
              <a:t>Bir Ağı Alt Ağlara Bölme</a:t>
            </a:r>
          </a:p>
        </p:txBody>
      </p:sp>
      <p:sp>
        <p:nvSpPr>
          <p:cNvPr id="3" name="İçerik Yer Tutucusu 2">
            <a:extLst>
              <a:ext uri="{FF2B5EF4-FFF2-40B4-BE49-F238E27FC236}">
                <a16:creationId xmlns:a16="http://schemas.microsoft.com/office/drawing/2014/main" id="{E34812BF-7EA6-4C7A-AD55-B38FB0A2403C}"/>
              </a:ext>
            </a:extLst>
          </p:cNvPr>
          <p:cNvSpPr>
            <a:spLocks noGrp="1"/>
          </p:cNvSpPr>
          <p:nvPr>
            <p:ph idx="1"/>
          </p:nvPr>
        </p:nvSpPr>
        <p:spPr/>
        <p:txBody>
          <a:bodyPr/>
          <a:lstStyle/>
          <a:p>
            <a:pPr marL="0" indent="0" algn="just">
              <a:buNone/>
            </a:pPr>
            <a:r>
              <a:rPr lang="tr-TR" sz="1500" dirty="0"/>
              <a:t>Orijinal IP adresi hiyerarşisinde iki seviye vardır: ağ ve konak bilgisayar. Sınıflı adresleme şemasında, ilk üç bit değeri bir IP adresinin A, B ve C sınıflarından hangisine ait olduğunu belirlemek için kullanılır. Bir adres sınıfına göre tanımlandığında, ağ kimliğini oluşturan </a:t>
            </a:r>
            <a:r>
              <a:rPr lang="tr-TR" sz="1500" dirty="0" err="1"/>
              <a:t>bit'lerin</a:t>
            </a:r>
            <a:r>
              <a:rPr lang="tr-TR" sz="1500" dirty="0"/>
              <a:t> sayısı ve konak bilgisayar kimliğini oluşturan </a:t>
            </a:r>
            <a:r>
              <a:rPr lang="tr-TR" sz="1500" dirty="0" err="1"/>
              <a:t>bit'lerin</a:t>
            </a:r>
            <a:r>
              <a:rPr lang="tr-TR" sz="1500" dirty="0"/>
              <a:t> sayısı bilinir. Ağ sınıfları için varsayılan alt ağ maskeleri şunlardır:</a:t>
            </a:r>
          </a:p>
          <a:p>
            <a:pPr marL="0" indent="0" algn="just">
              <a:buNone/>
            </a:pPr>
            <a:endParaRPr lang="tr-TR" sz="1500" dirty="0"/>
          </a:p>
          <a:p>
            <a:pPr marL="0" indent="0" algn="just">
              <a:buNone/>
            </a:pPr>
            <a:r>
              <a:rPr lang="tr-TR" sz="1500" dirty="0"/>
              <a:t>A Sınıfı 255.0.0.0</a:t>
            </a:r>
          </a:p>
          <a:p>
            <a:pPr marL="0" indent="0" algn="just">
              <a:buNone/>
            </a:pPr>
            <a:r>
              <a:rPr lang="tr-TR" sz="1500" dirty="0"/>
              <a:t>B Sınıfı 255.255.0.0</a:t>
            </a:r>
          </a:p>
          <a:p>
            <a:pPr marL="0" indent="0" algn="just">
              <a:buNone/>
            </a:pPr>
            <a:r>
              <a:rPr lang="tr-TR" sz="1500" dirty="0"/>
              <a:t>C Sınıfı 255.255.255.0</a:t>
            </a:r>
          </a:p>
          <a:p>
            <a:pPr marL="0" indent="0" algn="just">
              <a:buNone/>
            </a:pPr>
            <a:endParaRPr lang="tr-TR" sz="1500" dirty="0"/>
          </a:p>
          <a:p>
            <a:pPr marL="0" indent="0" algn="just">
              <a:buNone/>
            </a:pPr>
            <a:r>
              <a:rPr lang="tr-TR" sz="1500" dirty="0"/>
              <a:t>Bir sınıflı ağı daha küçük kısımlara bölmek, ağ hiyerarşisine bir seviye ekler. Şu anda üç seviye vardır: ağ, alt ağ ve konak bilgisayar. Alt ağ maskesi yeni hiyerarşik seviyeyi gösterecek biçimde nasıl değiştirilebilir?</a:t>
            </a:r>
          </a:p>
          <a:p>
            <a:pPr marL="0" indent="0" algn="just">
              <a:buNone/>
            </a:pPr>
            <a:endParaRPr lang="tr-TR" sz="1500" dirty="0"/>
          </a:p>
          <a:p>
            <a:pPr marL="0" indent="0" algn="just">
              <a:buNone/>
            </a:pPr>
            <a:r>
              <a:rPr lang="tr-TR" sz="1500" dirty="0"/>
              <a:t>Tek bir A, B veya C Sınıfı ağ adresi alanı, alt ağ kimliğini atamak için konak bilgisayar adresi alanından </a:t>
            </a:r>
            <a:r>
              <a:rPr lang="tr-TR" sz="1500" dirty="0" err="1"/>
              <a:t>bit'ler</a:t>
            </a:r>
            <a:r>
              <a:rPr lang="tr-TR" sz="1500" dirty="0"/>
              <a:t> kullanılarak, birden çok alt ağa bölünebilir. Örnek vermek gerekirse, bir C Sınıfı adres alanı kullanan bir kuruluşun farklı binalarda iki ofisi vardır. Ağın yönetimini kolaylaştırmak için ağ yöneticileri, her konumun mantıksal olarak ayrı bir ağa sahip olmasını ister. Konak bilgisayar adresinden iki bit almak, alt ağ maskesinin uzunluğunu varsayılan 24 </a:t>
            </a:r>
            <a:r>
              <a:rPr lang="tr-TR" sz="1500" dirty="0" err="1"/>
              <a:t>bit'ten</a:t>
            </a:r>
            <a:r>
              <a:rPr lang="tr-TR" sz="1500" dirty="0"/>
              <a:t> 26 </a:t>
            </a:r>
            <a:r>
              <a:rPr lang="tr-TR" sz="1500" dirty="0" err="1"/>
              <a:t>bit'e</a:t>
            </a:r>
            <a:r>
              <a:rPr lang="tr-TR" sz="1500" dirty="0"/>
              <a:t> veya 255.255.255.192'ye çıkarır. Alt ağı tanımlamak için adresin konak bilgisayar bölümünden </a:t>
            </a:r>
            <a:r>
              <a:rPr lang="tr-TR" sz="1500" dirty="0" err="1"/>
              <a:t>bit'ler</a:t>
            </a:r>
            <a:r>
              <a:rPr lang="tr-TR" sz="1500" dirty="0"/>
              <a:t> alındığında, konak bilgisayarlar için kullanılabilir daha az bit kalır. Alt ağ kimliği için iki bit kullanılıyorsa, adresin konak bilgisayar adresinde yalnızca altı bit kalır. </a:t>
            </a:r>
          </a:p>
          <a:p>
            <a:pPr marL="0" indent="0" algn="just">
              <a:buNone/>
            </a:pPr>
            <a:endParaRPr lang="tr-TR" sz="1500" dirty="0"/>
          </a:p>
          <a:p>
            <a:pPr marL="0" indent="0" algn="just">
              <a:buNone/>
            </a:pPr>
            <a:endParaRPr lang="tr-TR" sz="1500" dirty="0"/>
          </a:p>
        </p:txBody>
      </p:sp>
    </p:spTree>
    <p:extLst>
      <p:ext uri="{BB962C8B-B14F-4D97-AF65-F5344CB8AC3E}">
        <p14:creationId xmlns:p14="http://schemas.microsoft.com/office/powerpoint/2010/main" val="1284104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5D694C-7FCC-4F64-8552-45DDEF42DF6E}"/>
              </a:ext>
            </a:extLst>
          </p:cNvPr>
          <p:cNvSpPr>
            <a:spLocks noGrp="1"/>
          </p:cNvSpPr>
          <p:nvPr>
            <p:ph type="title"/>
          </p:nvPr>
        </p:nvSpPr>
        <p:spPr/>
        <p:txBody>
          <a:bodyPr>
            <a:normAutofit fontScale="90000"/>
          </a:bodyPr>
          <a:lstStyle/>
          <a:p>
            <a:r>
              <a:rPr lang="tr-TR" dirty="0"/>
              <a:t>Bir Ağı Alt Ağlara Bölme</a:t>
            </a:r>
          </a:p>
        </p:txBody>
      </p:sp>
      <p:sp>
        <p:nvSpPr>
          <p:cNvPr id="3" name="İçerik Yer Tutucusu 2">
            <a:extLst>
              <a:ext uri="{FF2B5EF4-FFF2-40B4-BE49-F238E27FC236}">
                <a16:creationId xmlns:a16="http://schemas.microsoft.com/office/drawing/2014/main" id="{C088F1F8-FE5D-4C69-A381-7BBAAB5B53DA}"/>
              </a:ext>
            </a:extLst>
          </p:cNvPr>
          <p:cNvSpPr>
            <a:spLocks noGrp="1"/>
          </p:cNvSpPr>
          <p:nvPr>
            <p:ph idx="1"/>
          </p:nvPr>
        </p:nvSpPr>
        <p:spPr/>
        <p:txBody>
          <a:bodyPr/>
          <a:lstStyle/>
          <a:p>
            <a:pPr marL="0" indent="0" algn="just">
              <a:buNone/>
            </a:pPr>
            <a:r>
              <a:rPr lang="tr-TR" sz="1600" dirty="0"/>
              <a:t>Geleneksel sınıflı alt ağa bölme işleminde, sonuç olarak ortaya çıkan tüm alt ağlara alt ağ kimliğini atamak için aynı sayıda konak bilgisayar </a:t>
            </a:r>
            <a:r>
              <a:rPr lang="tr-TR" sz="1600" dirty="0" err="1"/>
              <a:t>bit'i</a:t>
            </a:r>
            <a:r>
              <a:rPr lang="tr-TR" sz="1600" dirty="0"/>
              <a:t> kullanılır. Bu tip alt ağa bölme işlemi her zaman sabit sayıda alt ağ ve alt ağ başına sabit sayıda konak bilgisayar üretir. Bu nedenle bu işlem, sabit uzunluklu alt ağa bölme işlemi olarak adlandırılır. </a:t>
            </a:r>
          </a:p>
          <a:p>
            <a:pPr marL="0" indent="0" algn="just">
              <a:buNone/>
            </a:pPr>
            <a:endParaRPr lang="tr-TR" sz="1600" dirty="0"/>
          </a:p>
          <a:p>
            <a:pPr marL="0" indent="0" algn="just">
              <a:buNone/>
            </a:pPr>
            <a:r>
              <a:rPr lang="tr-TR" sz="1600" dirty="0"/>
              <a:t>Alt ağ kimliği için kaç konak bilgisayar </a:t>
            </a:r>
            <a:r>
              <a:rPr lang="tr-TR" sz="1600" dirty="0" err="1"/>
              <a:t>bit'inin</a:t>
            </a:r>
            <a:r>
              <a:rPr lang="tr-TR" sz="1600" dirty="0"/>
              <a:t> kullanılacağıyla ilgili karar, büyük bir planlama kararıdır. Alt ağları planlarken dikkate alınması gereken iki nokta vardır: her ağdaki konak bilgisayar sayısı ve ihtiyaç duyulan yerel ağların sayısı. 192.168.1.0 ağının alt ağ olanakları ile ilgili tablo, alt ağ kimliği için bit sayısının seçiminin hem olası alt ağların sayısını hem de her alt ağda bulunabilecek konak bilgisayar sayısını nasıl etkilediğini gösterir. </a:t>
            </a:r>
          </a:p>
          <a:p>
            <a:pPr marL="0" indent="0" algn="just">
              <a:buNone/>
            </a:pPr>
            <a:endParaRPr lang="tr-TR" sz="1600" dirty="0"/>
          </a:p>
          <a:p>
            <a:pPr marL="0" indent="0" algn="just">
              <a:buNone/>
            </a:pPr>
            <a:r>
              <a:rPr lang="tr-TR" sz="1600" dirty="0"/>
              <a:t>Unutulmaması gereken noktalardan biri, tüm IPv4 ağlarında iki konak bilgisayar adresinin ayrıldığıdır: tümü 0'lardan oluşan adres ve tümü 1'lerden oluşan adres. Konak bilgisayar bölümünün tümü 0'lardan oluşan bir adres, geçersiz bir konak bilgisayar adresidir ve genellikle ağın veya alt ağın tamamını belirtir. Konak bilgisayar bölümünün tümü 1'lerden oluşan bir adres, yerel ağ yayın adresi olarak kullanılır. Bir ağ alt ağlara bölündüğünde her alt ağ, tümü 0'lardan ve tümü 1'lerden oluşan ve tek tek konak bilgisayar adresi olarak kullanılamayacak bir konak bilgisayar adresi içerir.</a:t>
            </a:r>
          </a:p>
        </p:txBody>
      </p:sp>
    </p:spTree>
    <p:extLst>
      <p:ext uri="{BB962C8B-B14F-4D97-AF65-F5344CB8AC3E}">
        <p14:creationId xmlns:p14="http://schemas.microsoft.com/office/powerpoint/2010/main" val="2167243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C82B6E-3B56-4E06-AEBE-78D2D7FCE92C}"/>
              </a:ext>
            </a:extLst>
          </p:cNvPr>
          <p:cNvSpPr>
            <a:spLocks noGrp="1"/>
          </p:cNvSpPr>
          <p:nvPr>
            <p:ph type="title"/>
          </p:nvPr>
        </p:nvSpPr>
        <p:spPr/>
        <p:txBody>
          <a:bodyPr>
            <a:normAutofit fontScale="90000"/>
          </a:bodyPr>
          <a:lstStyle/>
          <a:p>
            <a:r>
              <a:rPr lang="tr-TR" dirty="0"/>
              <a:t>Özel Alt Ağ Maskeleri</a:t>
            </a:r>
          </a:p>
        </p:txBody>
      </p:sp>
      <p:sp>
        <p:nvSpPr>
          <p:cNvPr id="3" name="İçerik Yer Tutucusu 2">
            <a:extLst>
              <a:ext uri="{FF2B5EF4-FFF2-40B4-BE49-F238E27FC236}">
                <a16:creationId xmlns:a16="http://schemas.microsoft.com/office/drawing/2014/main" id="{DEFE8BC1-F974-4D17-8664-4B76C22725D1}"/>
              </a:ext>
            </a:extLst>
          </p:cNvPr>
          <p:cNvSpPr>
            <a:spLocks noGrp="1"/>
          </p:cNvSpPr>
          <p:nvPr>
            <p:ph idx="1"/>
          </p:nvPr>
        </p:nvSpPr>
        <p:spPr/>
        <p:txBody>
          <a:bodyPr/>
          <a:lstStyle/>
          <a:p>
            <a:pPr marL="0" indent="0" algn="just">
              <a:buNone/>
            </a:pPr>
            <a:r>
              <a:rPr lang="tr-TR" sz="1800" dirty="0"/>
              <a:t>Bir ağ bölümlendiğinde, yönlendiricinin alt ağları birbirinden ayırt etmek için değiştirilmiş veya özel bir alt ağ maskesi kullanması gerekir. </a:t>
            </a:r>
          </a:p>
          <a:p>
            <a:pPr marL="0" indent="0" algn="just">
              <a:buNone/>
            </a:pPr>
            <a:endParaRPr lang="tr-TR" sz="1800" dirty="0"/>
          </a:p>
          <a:p>
            <a:pPr marL="0" indent="0" algn="just">
              <a:buNone/>
            </a:pPr>
            <a:r>
              <a:rPr lang="tr-TR" sz="1800" dirty="0"/>
              <a:t>Bir varsayılan alt ağ maskesi ile özel bir alt ağ maskesi, varsayılan alt ağ maskelerinin yalnızca sekizli sınırlarında değişmesi bakımından birbirinden farklıdır. Örneğin, bir A Sınıfı ağ için varsayılan alt ağ maskesi 255.0.0.0'dır. Özel alt ağ maskeleri, IP adresinin konak bilgisayar kimliği bölümünden </a:t>
            </a:r>
            <a:r>
              <a:rPr lang="tr-TR" sz="1800" dirty="0" err="1"/>
              <a:t>bit'leri</a:t>
            </a:r>
            <a:r>
              <a:rPr lang="tr-TR" sz="1800" dirty="0"/>
              <a:t> alır ve varsayılan alt ağ maskesine ekler.</a:t>
            </a:r>
          </a:p>
          <a:p>
            <a:pPr marL="0" indent="0" algn="just">
              <a:buNone/>
            </a:pPr>
            <a:endParaRPr lang="tr-TR" sz="1800" dirty="0"/>
          </a:p>
          <a:p>
            <a:pPr marL="0" indent="0" algn="just">
              <a:buNone/>
            </a:pPr>
            <a:r>
              <a:rPr lang="tr-TR" sz="1800" dirty="0"/>
              <a:t>Bir özel alt ağ maskesi oluşturmak için öncelikle konak bilgisayar kimliğinden alt ağ maskesine eklemek üzere kaç bit alınacağı sorusunu yanıtlamak gerekir. Belirli sayıda alt ağı karşılamak için alınması gereken </a:t>
            </a:r>
            <a:r>
              <a:rPr lang="tr-TR" sz="1800" dirty="0" err="1"/>
              <a:t>bit'lerin</a:t>
            </a:r>
            <a:r>
              <a:rPr lang="tr-TR" sz="1800" dirty="0"/>
              <a:t> sayısı, şu matematiksel denklem ile belirlenebilir: 2^n; burada n, alınan bit sayısını gösterir. </a:t>
            </a:r>
          </a:p>
          <a:p>
            <a:pPr marL="0" indent="0" algn="just">
              <a:buNone/>
            </a:pPr>
            <a:endParaRPr lang="tr-TR" sz="1800" dirty="0"/>
          </a:p>
          <a:p>
            <a:pPr marL="0" indent="0" algn="just">
              <a:buNone/>
            </a:pPr>
            <a:r>
              <a:rPr lang="tr-TR" sz="1800" dirty="0"/>
              <a:t>Üç alt ağ gerekiyorsa, üç benzersiz alt ağ adresine olanak verecek sayıda alt ağ </a:t>
            </a:r>
            <a:r>
              <a:rPr lang="tr-TR" sz="1800" dirty="0" err="1"/>
              <a:t>bit'inin</a:t>
            </a:r>
            <a:r>
              <a:rPr lang="tr-TR" sz="1800" dirty="0"/>
              <a:t> bulunması gerekir. </a:t>
            </a:r>
          </a:p>
        </p:txBody>
      </p:sp>
    </p:spTree>
    <p:extLst>
      <p:ext uri="{BB962C8B-B14F-4D97-AF65-F5344CB8AC3E}">
        <p14:creationId xmlns:p14="http://schemas.microsoft.com/office/powerpoint/2010/main" val="1289570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7E9EAB-2DC5-4D67-846F-ADF073BD86DC}"/>
              </a:ext>
            </a:extLst>
          </p:cNvPr>
          <p:cNvSpPr>
            <a:spLocks noGrp="1"/>
          </p:cNvSpPr>
          <p:nvPr>
            <p:ph type="title"/>
          </p:nvPr>
        </p:nvSpPr>
        <p:spPr/>
        <p:txBody>
          <a:bodyPr>
            <a:normAutofit fontScale="90000"/>
          </a:bodyPr>
          <a:lstStyle/>
          <a:p>
            <a:r>
              <a:rPr lang="tr-TR" dirty="0"/>
              <a:t>Özel Alt Ağ Maskeleri</a:t>
            </a:r>
          </a:p>
        </p:txBody>
      </p:sp>
      <p:sp>
        <p:nvSpPr>
          <p:cNvPr id="3" name="İçerik Yer Tutucusu 2">
            <a:extLst>
              <a:ext uri="{FF2B5EF4-FFF2-40B4-BE49-F238E27FC236}">
                <a16:creationId xmlns:a16="http://schemas.microsoft.com/office/drawing/2014/main" id="{C77E443B-E6D1-484B-90DF-5E02FD385685}"/>
              </a:ext>
            </a:extLst>
          </p:cNvPr>
          <p:cNvSpPr>
            <a:spLocks noGrp="1"/>
          </p:cNvSpPr>
          <p:nvPr>
            <p:ph idx="1"/>
          </p:nvPr>
        </p:nvSpPr>
        <p:spPr/>
        <p:txBody>
          <a:bodyPr/>
          <a:lstStyle/>
          <a:p>
            <a:pPr marL="0" indent="0" algn="just">
              <a:buNone/>
            </a:pPr>
            <a:r>
              <a:rPr lang="tr-TR" sz="1600" dirty="0"/>
              <a:t>Örneğin, 192.168.1.0 gibi C Sınıfı bir adres ile başlanıyorsa, alınabilecek yalnızca sekiz konak bilgisayar </a:t>
            </a:r>
            <a:r>
              <a:rPr lang="tr-TR" sz="1600" dirty="0" err="1"/>
              <a:t>bit'i</a:t>
            </a:r>
            <a:r>
              <a:rPr lang="tr-TR" sz="1600" dirty="0"/>
              <a:t> vardır. Her bit yalnızca 1 veya 0 olabilir. Üç alt ağa olanak vermek için sekiz </a:t>
            </a:r>
            <a:r>
              <a:rPr lang="tr-TR" sz="1600" dirty="0" err="1"/>
              <a:t>bit'ten</a:t>
            </a:r>
            <a:r>
              <a:rPr lang="tr-TR" sz="1600" dirty="0"/>
              <a:t> en az ikisi alınmalıdır. Böylece toplamda dört alt ağ oluşur: </a:t>
            </a:r>
          </a:p>
          <a:p>
            <a:pPr marL="0" indent="0" algn="just">
              <a:buNone/>
            </a:pPr>
            <a:endParaRPr lang="tr-TR" sz="1600" dirty="0"/>
          </a:p>
          <a:p>
            <a:pPr marL="0" indent="0" algn="just">
              <a:buNone/>
            </a:pPr>
            <a:r>
              <a:rPr lang="tr-TR" sz="1600" dirty="0"/>
              <a:t>00 - 1'inci alt ağ</a:t>
            </a:r>
          </a:p>
          <a:p>
            <a:pPr marL="0" indent="0" algn="just">
              <a:buNone/>
            </a:pPr>
            <a:endParaRPr lang="tr-TR" sz="1600" dirty="0"/>
          </a:p>
          <a:p>
            <a:pPr marL="0" indent="0" algn="just">
              <a:buNone/>
            </a:pPr>
            <a:r>
              <a:rPr lang="tr-TR" sz="1600" dirty="0"/>
              <a:t>01 - 2'nci alt ağ</a:t>
            </a:r>
          </a:p>
          <a:p>
            <a:pPr marL="0" indent="0" algn="just">
              <a:buNone/>
            </a:pPr>
            <a:endParaRPr lang="tr-TR" sz="1600" dirty="0"/>
          </a:p>
          <a:p>
            <a:pPr marL="0" indent="0" algn="just">
              <a:buNone/>
            </a:pPr>
            <a:r>
              <a:rPr lang="tr-TR" sz="1600" dirty="0"/>
              <a:t>10 - 3'üncü alt ağ</a:t>
            </a:r>
          </a:p>
          <a:p>
            <a:pPr marL="0" indent="0" algn="just">
              <a:buNone/>
            </a:pPr>
            <a:endParaRPr lang="tr-TR" sz="1600" dirty="0"/>
          </a:p>
          <a:p>
            <a:pPr marL="0" indent="0" algn="just">
              <a:buNone/>
            </a:pPr>
            <a:r>
              <a:rPr lang="tr-TR" sz="1600" dirty="0"/>
              <a:t>11 - 4'üncü alt ağ</a:t>
            </a:r>
          </a:p>
          <a:p>
            <a:pPr marL="0" indent="0" algn="just">
              <a:buNone/>
            </a:pPr>
            <a:endParaRPr lang="tr-TR" sz="1600" dirty="0"/>
          </a:p>
          <a:p>
            <a:pPr marL="0" indent="0" algn="just">
              <a:buNone/>
            </a:pPr>
            <a:r>
              <a:rPr lang="tr-TR" sz="1600" dirty="0"/>
              <a:t>Yukarıdaki örnekte iki bit alınmıştır; 2^2 = 4 veya 2 x 2 = 4; böylece dört alt ağ oluşturulmuştur. Beş ila sekiz arasında alt ağ gerekli olsaydı, bu durumda üç </a:t>
            </a:r>
            <a:r>
              <a:rPr lang="tr-TR" sz="1600" dirty="0" err="1"/>
              <a:t>bit'e</a:t>
            </a:r>
            <a:r>
              <a:rPr lang="tr-TR" sz="1600" dirty="0"/>
              <a:t> ihtiyaç duyulacaktı (2^3 = 8 veya 2 x 2 x 2).</a:t>
            </a:r>
          </a:p>
          <a:p>
            <a:pPr marL="0" indent="0" algn="just">
              <a:buNone/>
            </a:pPr>
            <a:endParaRPr lang="tr-TR" sz="1600" dirty="0"/>
          </a:p>
          <a:p>
            <a:pPr marL="0" indent="0" algn="just">
              <a:buNone/>
            </a:pPr>
            <a:r>
              <a:rPr lang="tr-TR" sz="1600" dirty="0"/>
              <a:t>Alt ağ kimliği için seçilen </a:t>
            </a:r>
            <a:r>
              <a:rPr lang="tr-TR" sz="1600" dirty="0" err="1"/>
              <a:t>bit'lerin</a:t>
            </a:r>
            <a:r>
              <a:rPr lang="tr-TR" sz="1600" dirty="0"/>
              <a:t> sayısı, hem olası alt ağların sayısını hem de her alt ağda bulunabilecek konak bilgisayarların sayısını etkiler.</a:t>
            </a:r>
          </a:p>
          <a:p>
            <a:pPr marL="0" indent="0" algn="just">
              <a:buNone/>
            </a:pPr>
            <a:endParaRPr lang="tr-TR" sz="1600" dirty="0"/>
          </a:p>
          <a:p>
            <a:pPr marL="0" indent="0" algn="just">
              <a:buNone/>
            </a:pPr>
            <a:endParaRPr lang="tr-TR" sz="1600" dirty="0"/>
          </a:p>
        </p:txBody>
      </p:sp>
    </p:spTree>
    <p:extLst>
      <p:ext uri="{BB962C8B-B14F-4D97-AF65-F5344CB8AC3E}">
        <p14:creationId xmlns:p14="http://schemas.microsoft.com/office/powerpoint/2010/main" val="2359995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B2E1F61-E1B9-4749-B8D1-B493F543103F}"/>
              </a:ext>
            </a:extLst>
          </p:cNvPr>
          <p:cNvSpPr>
            <a:spLocks noGrp="1"/>
          </p:cNvSpPr>
          <p:nvPr>
            <p:ph type="title"/>
          </p:nvPr>
        </p:nvSpPr>
        <p:spPr/>
        <p:txBody>
          <a:bodyPr>
            <a:normAutofit fontScale="90000"/>
          </a:bodyPr>
          <a:lstStyle/>
          <a:p>
            <a:r>
              <a:rPr lang="tr-TR" dirty="0"/>
              <a:t>Özel Alt Ağ Maskeleri</a:t>
            </a:r>
          </a:p>
        </p:txBody>
      </p:sp>
      <p:sp>
        <p:nvSpPr>
          <p:cNvPr id="3" name="İçerik Yer Tutucusu 2">
            <a:extLst>
              <a:ext uri="{FF2B5EF4-FFF2-40B4-BE49-F238E27FC236}">
                <a16:creationId xmlns:a16="http://schemas.microsoft.com/office/drawing/2014/main" id="{56059E4C-9104-43CC-B676-0457E2DCCD9A}"/>
              </a:ext>
            </a:extLst>
          </p:cNvPr>
          <p:cNvSpPr>
            <a:spLocks noGrp="1"/>
          </p:cNvSpPr>
          <p:nvPr>
            <p:ph idx="1"/>
          </p:nvPr>
        </p:nvSpPr>
        <p:spPr/>
        <p:txBody>
          <a:bodyPr/>
          <a:lstStyle/>
          <a:p>
            <a:pPr marL="0" indent="0" algn="just">
              <a:buNone/>
            </a:pPr>
            <a:r>
              <a:rPr lang="tr-TR" sz="1600" dirty="0"/>
              <a:t>Sınıflı alt ağa bölme işleminde, alt ağ kimliği için gereken bit sayısı iki etmene bağlıdır: oluşturulan alt ağların sayısı ve alt ağ başına düşen konak bilgisayar sayısı. </a:t>
            </a:r>
          </a:p>
          <a:p>
            <a:pPr marL="0" indent="0" algn="just">
              <a:buNone/>
            </a:pPr>
            <a:endParaRPr lang="tr-TR" sz="1600" dirty="0"/>
          </a:p>
          <a:p>
            <a:pPr marL="0" indent="0" algn="just">
              <a:buNone/>
            </a:pPr>
            <a:r>
              <a:rPr lang="tr-TR" sz="1600" dirty="0"/>
              <a:t>Sınıflı veya sabit uzunluklu alt ağa bölme işleminde tüm alt ağların boyutunun aynı olması gerekir ve bu da her alt ağın destekleyebileceği konak bilgisayar sayısının oluşturulan tüm alt ağlar için aynı olacağı anlamına gelir. Alt ağ kimliği için ne kadar fazla bit alınırsa, konak bilgisayar kimliği için o kadar az bit kalır. </a:t>
            </a:r>
          </a:p>
          <a:p>
            <a:pPr marL="0" indent="0" algn="just">
              <a:buNone/>
            </a:pPr>
            <a:endParaRPr lang="tr-TR" sz="1600" dirty="0"/>
          </a:p>
          <a:p>
            <a:pPr marL="0" indent="0" algn="just">
              <a:buNone/>
            </a:pPr>
            <a:r>
              <a:rPr lang="tr-TR" sz="1600" dirty="0"/>
              <a:t>Kalan konak bilgisayar </a:t>
            </a:r>
            <a:r>
              <a:rPr lang="tr-TR" sz="1600" dirty="0" err="1"/>
              <a:t>bit'i</a:t>
            </a:r>
            <a:r>
              <a:rPr lang="tr-TR" sz="1600" dirty="0"/>
              <a:t> sayısına dayalı olarak kullanılabilir konak bilgisayar kimliği sayısını belirlemek için küçük bir değişiklikle aynı 2^n denklemi kullanılabilir. Her alt ağda tümü 0'lardan oluşan ve tümü 1'lerden oluşan adresler olmak üzere iki konak bilgisayar adresi ayrıldığı için, desteklenen konak bilgisayarların sayısını belirlemek için kullanılan denklem 2^n - 2 biçiminde değiştirilir.</a:t>
            </a:r>
          </a:p>
          <a:p>
            <a:pPr marL="0" indent="0" algn="just">
              <a:buNone/>
            </a:pPr>
            <a:endParaRPr lang="tr-TR" sz="1600" dirty="0"/>
          </a:p>
          <a:p>
            <a:pPr marL="0" indent="0" algn="just">
              <a:buNone/>
            </a:pPr>
            <a:r>
              <a:rPr lang="tr-TR" sz="1600" dirty="0"/>
              <a:t>Alt ağ adresini kaç </a:t>
            </a:r>
            <a:r>
              <a:rPr lang="tr-TR" sz="1600" dirty="0" err="1"/>
              <a:t>bit'in</a:t>
            </a:r>
            <a:r>
              <a:rPr lang="tr-TR" sz="1600" dirty="0"/>
              <a:t> oluşturduğu belirlendikten sonra, ağ üzerindeki tüm cihazlara alt ağ maskesinin gerçekleştirdiği bölme işlemi hakkında bilgi verilir. Alt ağ maskesiyle, bir IP adresinin hangi alt ağda bulunduğunu söylemek ve basit sınıflı alt ağa bölünmüş IP adres şemaları tasarlamak mümkündür.</a:t>
            </a:r>
          </a:p>
          <a:p>
            <a:pPr marL="0" indent="0" algn="just">
              <a:buNone/>
            </a:pPr>
            <a:endParaRPr lang="tr-TR" sz="1600" dirty="0"/>
          </a:p>
          <a:p>
            <a:pPr marL="0" indent="0" algn="just">
              <a:buNone/>
            </a:pPr>
            <a:endParaRPr lang="tr-TR" sz="1600" dirty="0"/>
          </a:p>
        </p:txBody>
      </p:sp>
    </p:spTree>
    <p:extLst>
      <p:ext uri="{BB962C8B-B14F-4D97-AF65-F5344CB8AC3E}">
        <p14:creationId xmlns:p14="http://schemas.microsoft.com/office/powerpoint/2010/main" val="3066576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143E9B-5817-461D-BE9B-BF68A1757425}"/>
              </a:ext>
            </a:extLst>
          </p:cNvPr>
          <p:cNvSpPr>
            <a:spLocks noGrp="1"/>
          </p:cNvSpPr>
          <p:nvPr>
            <p:ph type="title"/>
          </p:nvPr>
        </p:nvSpPr>
        <p:spPr/>
        <p:txBody>
          <a:bodyPr>
            <a:normAutofit fontScale="90000"/>
          </a:bodyPr>
          <a:lstStyle/>
          <a:p>
            <a:r>
              <a:rPr lang="tr-TR" dirty="0"/>
              <a:t>Özel Alt Ağ Maskeleri</a:t>
            </a:r>
          </a:p>
        </p:txBody>
      </p:sp>
      <p:pic>
        <p:nvPicPr>
          <p:cNvPr id="4" name="İçerik Yer Tutucusu 3">
            <a:extLst>
              <a:ext uri="{FF2B5EF4-FFF2-40B4-BE49-F238E27FC236}">
                <a16:creationId xmlns:a16="http://schemas.microsoft.com/office/drawing/2014/main" id="{D70AC875-40BB-4FC5-B297-73F6AA138419}"/>
              </a:ext>
            </a:extLst>
          </p:cNvPr>
          <p:cNvPicPr>
            <a:picLocks noGrp="1" noChangeAspect="1"/>
          </p:cNvPicPr>
          <p:nvPr>
            <p:ph idx="1"/>
          </p:nvPr>
        </p:nvPicPr>
        <p:blipFill>
          <a:blip r:embed="rId2"/>
          <a:stretch>
            <a:fillRect/>
          </a:stretch>
        </p:blipFill>
        <p:spPr>
          <a:xfrm>
            <a:off x="228600" y="1594747"/>
            <a:ext cx="8686800" cy="4409838"/>
          </a:xfrm>
          <a:prstGeom prst="rect">
            <a:avLst/>
          </a:prstGeom>
        </p:spPr>
      </p:pic>
    </p:spTree>
    <p:extLst>
      <p:ext uri="{BB962C8B-B14F-4D97-AF65-F5344CB8AC3E}">
        <p14:creationId xmlns:p14="http://schemas.microsoft.com/office/powerpoint/2010/main" val="163983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8B9306-D568-4494-9060-857D3B85CDB4}"/>
              </a:ext>
            </a:extLst>
          </p:cNvPr>
          <p:cNvSpPr>
            <a:spLocks noGrp="1"/>
          </p:cNvSpPr>
          <p:nvPr>
            <p:ph type="title"/>
          </p:nvPr>
        </p:nvSpPr>
        <p:spPr/>
        <p:txBody>
          <a:bodyPr>
            <a:normAutofit fontScale="90000"/>
          </a:bodyPr>
          <a:lstStyle/>
          <a:p>
            <a:r>
              <a:rPr lang="tr-TR" dirty="0"/>
              <a:t>Özel Alt Ağ Maskeleri</a:t>
            </a:r>
          </a:p>
        </p:txBody>
      </p:sp>
      <p:pic>
        <p:nvPicPr>
          <p:cNvPr id="4" name="İçerik Yer Tutucusu 3" descr="ekran görüntüsü içeren bir resim&#10;&#10;Açıklama otomatik olarak oluşturuldu">
            <a:extLst>
              <a:ext uri="{FF2B5EF4-FFF2-40B4-BE49-F238E27FC236}">
                <a16:creationId xmlns:a16="http://schemas.microsoft.com/office/drawing/2014/main" id="{CA38ACD2-1499-471D-81D2-71C7AF3594E6}"/>
              </a:ext>
            </a:extLst>
          </p:cNvPr>
          <p:cNvPicPr>
            <a:picLocks noGrp="1" noChangeAspect="1"/>
          </p:cNvPicPr>
          <p:nvPr>
            <p:ph idx="1"/>
          </p:nvPr>
        </p:nvPicPr>
        <p:blipFill>
          <a:blip r:embed="rId2"/>
          <a:stretch>
            <a:fillRect/>
          </a:stretch>
        </p:blipFill>
        <p:spPr>
          <a:xfrm>
            <a:off x="342900" y="2212870"/>
            <a:ext cx="8458200" cy="2432259"/>
          </a:xfrm>
          <a:prstGeom prst="rect">
            <a:avLst/>
          </a:prstGeom>
        </p:spPr>
      </p:pic>
    </p:spTree>
    <p:extLst>
      <p:ext uri="{BB962C8B-B14F-4D97-AF65-F5344CB8AC3E}">
        <p14:creationId xmlns:p14="http://schemas.microsoft.com/office/powerpoint/2010/main" val="3287907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AB8F6E-5EBD-4E1B-A6EB-E2187E85A743}"/>
              </a:ext>
            </a:extLst>
          </p:cNvPr>
          <p:cNvSpPr>
            <a:spLocks noGrp="1"/>
          </p:cNvSpPr>
          <p:nvPr>
            <p:ph type="title"/>
          </p:nvPr>
        </p:nvSpPr>
        <p:spPr/>
        <p:txBody>
          <a:bodyPr>
            <a:normAutofit fontScale="90000"/>
          </a:bodyPr>
          <a:lstStyle/>
          <a:p>
            <a:r>
              <a:rPr lang="tr-TR" dirty="0"/>
              <a:t>Özel Alt Ağ Maskeleri</a:t>
            </a:r>
          </a:p>
        </p:txBody>
      </p:sp>
      <p:sp>
        <p:nvSpPr>
          <p:cNvPr id="3" name="İçerik Yer Tutucusu 2">
            <a:extLst>
              <a:ext uri="{FF2B5EF4-FFF2-40B4-BE49-F238E27FC236}">
                <a16:creationId xmlns:a16="http://schemas.microsoft.com/office/drawing/2014/main" id="{DAD1E306-E32B-43AE-AD04-EBC70CC49349}"/>
              </a:ext>
            </a:extLst>
          </p:cNvPr>
          <p:cNvSpPr>
            <a:spLocks noGrp="1"/>
          </p:cNvSpPr>
          <p:nvPr>
            <p:ph idx="1"/>
          </p:nvPr>
        </p:nvSpPr>
        <p:spPr/>
        <p:txBody>
          <a:bodyPr/>
          <a:lstStyle/>
          <a:p>
            <a:pPr marL="0" indent="0" algn="just">
              <a:buNone/>
            </a:pPr>
            <a:r>
              <a:rPr lang="tr-TR" sz="1400" dirty="0"/>
              <a:t>Alt ağa bölme işlemi, orijinal sınıflı ağ adresi alanlarıyla ilgili bir dizi sorunu çözmüştür. Bir A, B veya C sınıfı adrese sahip olan kuruluşların adres alanlarını daha küçük yerel alt ağlara bölerek daha verimli bir şekilde adres atayabilmelerine olanak vermiştir. Ancak alt ağa bölme işlemi, ağlar arasındaki trafik yüklerini asgari düzeye indirme ve güvenlik tedbirleri eklemek açısından da önemlidir. </a:t>
            </a:r>
          </a:p>
          <a:p>
            <a:pPr marL="0" indent="0" algn="just">
              <a:buNone/>
            </a:pPr>
            <a:endParaRPr lang="tr-TR" sz="1400" dirty="0"/>
          </a:p>
          <a:p>
            <a:pPr marL="0" indent="0" algn="just">
              <a:buNone/>
            </a:pPr>
            <a:r>
              <a:rPr lang="tr-TR" sz="1400" dirty="0"/>
              <a:t>Alt ağa bölme işlemi gerektirebilecek bir duruma örnek olarak, büyüdüğü için ilk ağ kurulumu yetersiz kalan bir ISP müşterisi gösterilebilir. Bu ağda orijinal küçük, tümleşik kablosuz yönlendirici hem kablolu hem de kablosuz bağlantı kullanıcılarından gelen trafik nedeniyle aşırı yüklenir. Ağı adreslemek için, boyutunun nispeten daha küçük olması nedeniyle bir C Sınıfı adres alanı kullanılır. </a:t>
            </a:r>
          </a:p>
          <a:p>
            <a:pPr marL="0" indent="0" algn="just">
              <a:buNone/>
            </a:pPr>
            <a:endParaRPr lang="tr-TR" sz="1400" dirty="0"/>
          </a:p>
          <a:p>
            <a:pPr marL="0" indent="0" algn="just">
              <a:buNone/>
            </a:pPr>
            <a:r>
              <a:rPr lang="tr-TR" sz="1400" dirty="0"/>
              <a:t>Aşırı yüklenen ağ sorununun olası çözümlerinden biri, daha büyük bir tümleşik hizmet yönlendiricisi (ISR) gibi ikinci bir ağ iletişim cihazı eklemektir. Bir cihaz eklerken, güvenliği arttırmak için kablolu ve kablosuz bağlantı kullanıcılarını ayrı yerel alt ağlara yerleştirmek iyi bir uygulamadır. Bir ağda kablosuz bağlantı kullanıcılarına bağlantı ve güvenlik sağlamak için orijinal kablosuz yönlendirici kullanılmaya devam edilebilir. Bu durumda kablolu bağlantı kullanıcılarının bağlantısını sağlayan dağıtıcılar veya anahtarlar, farklı bir ağ kullanılarak doğrudan yeni </a:t>
            </a:r>
            <a:r>
              <a:rPr lang="tr-TR" sz="1400" dirty="0" err="1"/>
              <a:t>ISR'ye</a:t>
            </a:r>
            <a:r>
              <a:rPr lang="tr-TR" sz="1400" dirty="0"/>
              <a:t> bağlanabilir. Böylece, ISR ve kablosuz yönlendirici de doğrudan üçüncü bir ağa bağlanabilir. </a:t>
            </a:r>
          </a:p>
          <a:p>
            <a:pPr marL="0" indent="0" algn="just">
              <a:buNone/>
            </a:pPr>
            <a:endParaRPr lang="tr-TR" sz="1400" dirty="0"/>
          </a:p>
          <a:p>
            <a:pPr marL="0" indent="0" algn="just">
              <a:buNone/>
            </a:pPr>
            <a:r>
              <a:rPr lang="tr-TR" sz="1400" dirty="0"/>
              <a:t>Bu yeni ağ yapılandırması, mevcut C sınıfı ağın en az üç alt ağa bölünmesini gerektirir. Sınıflı alt ağa bölme işlemi kullanıldığında, müşterinin gereksinimlerini karşılayabilmek için adresin konak bilgisayar bölümünden en az iki </a:t>
            </a:r>
            <a:r>
              <a:rPr lang="tr-TR" sz="1400" dirty="0" err="1"/>
              <a:t>bit'in</a:t>
            </a:r>
            <a:r>
              <a:rPr lang="tr-TR" sz="1400" dirty="0"/>
              <a:t> alınması gerekir. Bu alt ağa bölme şeması sonucunda her birinde 62 kullanılabilir konak bilgisayar adresi (64 olası adresten tümü 0'lardan ve tümü 1'lerden oluşan adresler çıkarılır) bulunan dört ayrı ağ oluşturulur.</a:t>
            </a:r>
          </a:p>
        </p:txBody>
      </p:sp>
    </p:spTree>
    <p:extLst>
      <p:ext uri="{BB962C8B-B14F-4D97-AF65-F5344CB8AC3E}">
        <p14:creationId xmlns:p14="http://schemas.microsoft.com/office/powerpoint/2010/main" val="3231141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DD2246-A655-4666-B229-CCB39E71170A}"/>
              </a:ext>
            </a:extLst>
          </p:cNvPr>
          <p:cNvSpPr>
            <a:spLocks noGrp="1"/>
          </p:cNvSpPr>
          <p:nvPr>
            <p:ph type="title"/>
          </p:nvPr>
        </p:nvSpPr>
        <p:spPr/>
        <p:txBody>
          <a:bodyPr>
            <a:normAutofit fontScale="90000"/>
          </a:bodyPr>
          <a:lstStyle/>
          <a:p>
            <a:r>
              <a:rPr lang="tr-TR" dirty="0"/>
              <a:t>Alt Ağlar Arasında İletişim Kurma</a:t>
            </a:r>
          </a:p>
        </p:txBody>
      </p:sp>
      <p:sp>
        <p:nvSpPr>
          <p:cNvPr id="3" name="İçerik Yer Tutucusu 2">
            <a:extLst>
              <a:ext uri="{FF2B5EF4-FFF2-40B4-BE49-F238E27FC236}">
                <a16:creationId xmlns:a16="http://schemas.microsoft.com/office/drawing/2014/main" id="{B1653394-ED5E-4EA9-8F93-B4F7414B783E}"/>
              </a:ext>
            </a:extLst>
          </p:cNvPr>
          <p:cNvSpPr>
            <a:spLocks noGrp="1"/>
          </p:cNvSpPr>
          <p:nvPr>
            <p:ph idx="1"/>
          </p:nvPr>
        </p:nvSpPr>
        <p:spPr/>
        <p:txBody>
          <a:bodyPr/>
          <a:lstStyle/>
          <a:p>
            <a:pPr marL="0" indent="0" algn="just">
              <a:buNone/>
            </a:pPr>
            <a:r>
              <a:rPr lang="tr-TR" sz="1800" dirty="0"/>
              <a:t>Bir ağ alt ağlara bölündüğünde, her alt ağ aslında tamamen ayrı bir ağ olur. Bu nedenle, bir alt ağdaki cihazın başka bir alt ağdaki cihaz ile iletişim kurabilmesi için yönlendirici gerekir, çünkü yönlendiriciler ağları birbirine bağlar. </a:t>
            </a:r>
          </a:p>
          <a:p>
            <a:pPr marL="0" indent="0" algn="just">
              <a:buNone/>
            </a:pPr>
            <a:endParaRPr lang="tr-TR" sz="1800" dirty="0"/>
          </a:p>
          <a:p>
            <a:pPr marL="0" indent="0" algn="just">
              <a:buNone/>
            </a:pPr>
            <a:r>
              <a:rPr lang="tr-TR" sz="1800" dirty="0"/>
              <a:t>Her alt ağda kaç konak bilgisayara ihtiyaç duyulduğunu belirlemek için, yönlendirici </a:t>
            </a:r>
            <a:r>
              <a:rPr lang="tr-TR" sz="1800" dirty="0" err="1"/>
              <a:t>arayüzünü</a:t>
            </a:r>
            <a:r>
              <a:rPr lang="tr-TR" sz="1800" dirty="0"/>
              <a:t> veya ağ geçidi </a:t>
            </a:r>
            <a:r>
              <a:rPr lang="tr-TR" sz="1800" dirty="0" err="1"/>
              <a:t>arayüzünü</a:t>
            </a:r>
            <a:r>
              <a:rPr lang="tr-TR" sz="1800" dirty="0"/>
              <a:t> ve konak bilgisayar cihazlarını dikkate almak gerekir. Her yönlendirici </a:t>
            </a:r>
            <a:r>
              <a:rPr lang="tr-TR" sz="1800" dirty="0" err="1"/>
              <a:t>arayüzünün</a:t>
            </a:r>
            <a:r>
              <a:rPr lang="tr-TR" sz="1800" dirty="0"/>
              <a:t> konak bilgisayarların da bağlı olduğu aynı alt ağdan bir IP adresine sahip olması gerekir.</a:t>
            </a:r>
          </a:p>
          <a:p>
            <a:pPr marL="0" indent="0" algn="just">
              <a:buNone/>
            </a:pPr>
            <a:endParaRPr lang="tr-TR" sz="1800" dirty="0"/>
          </a:p>
          <a:p>
            <a:pPr marL="0" indent="0" algn="just">
              <a:buNone/>
            </a:pPr>
            <a:r>
              <a:rPr lang="tr-TR" sz="1800" dirty="0"/>
              <a:t>Bazı durumlarda, örneğin </a:t>
            </a:r>
            <a:r>
              <a:rPr lang="tr-TR" sz="1800" dirty="0" err="1"/>
              <a:t>Linksys</a:t>
            </a:r>
            <a:r>
              <a:rPr lang="tr-TR" sz="1800" dirty="0"/>
              <a:t> cihazıyla 1841 </a:t>
            </a:r>
            <a:r>
              <a:rPr lang="tr-TR" sz="1800" dirty="0" err="1"/>
              <a:t>ISR'yi</a:t>
            </a:r>
            <a:r>
              <a:rPr lang="tr-TR" sz="1800" dirty="0"/>
              <a:t> birbirine bağlarken olduğu gibi, iki yönlendiriciyi birbirine bağlamak gerekebilir. Bu yapılandırma, birbirine bağlanan yönlendiricilerdeki </a:t>
            </a:r>
            <a:r>
              <a:rPr lang="tr-TR" sz="1800" dirty="0" err="1"/>
              <a:t>arayüzlere</a:t>
            </a:r>
            <a:r>
              <a:rPr lang="tr-TR" sz="1800" dirty="0"/>
              <a:t> aynı ağa veya alt ağa ait IP adreslerinin atanmasını sağlamalıdır. Burada yaygın bağ, 192.168.1.16/29 alt ağında 192.168.1.17/29 ve 192.168.1.18/29 konak bilgisayar IP adresleriyle birbirine bağlanmış iki yönlendiriciyi göstermektedir.</a:t>
            </a:r>
          </a:p>
        </p:txBody>
      </p:sp>
    </p:spTree>
    <p:extLst>
      <p:ext uri="{BB962C8B-B14F-4D97-AF65-F5344CB8AC3E}">
        <p14:creationId xmlns:p14="http://schemas.microsoft.com/office/powerpoint/2010/main" val="78272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0D18A6-8970-4E9D-B589-217600F787DF}"/>
              </a:ext>
            </a:extLst>
          </p:cNvPr>
          <p:cNvSpPr>
            <a:spLocks noGrp="1"/>
          </p:cNvSpPr>
          <p:nvPr>
            <p:ph type="title"/>
          </p:nvPr>
        </p:nvSpPr>
        <p:spPr/>
        <p:txBody>
          <a:bodyPr>
            <a:normAutofit fontScale="90000"/>
          </a:bodyPr>
          <a:lstStyle/>
          <a:p>
            <a:r>
              <a:rPr lang="tr-TR" dirty="0"/>
              <a:t>Temel Ağ Adres Çevirisi (NAT)</a:t>
            </a:r>
          </a:p>
        </p:txBody>
      </p:sp>
      <p:sp>
        <p:nvSpPr>
          <p:cNvPr id="3" name="İçerik Yer Tutucusu 2">
            <a:extLst>
              <a:ext uri="{FF2B5EF4-FFF2-40B4-BE49-F238E27FC236}">
                <a16:creationId xmlns:a16="http://schemas.microsoft.com/office/drawing/2014/main" id="{CDADAD22-B473-4ABC-A74A-5486AEEB8BCF}"/>
              </a:ext>
            </a:extLst>
          </p:cNvPr>
          <p:cNvSpPr>
            <a:spLocks noGrp="1"/>
          </p:cNvSpPr>
          <p:nvPr>
            <p:ph idx="1"/>
          </p:nvPr>
        </p:nvSpPr>
        <p:spPr/>
        <p:txBody>
          <a:bodyPr/>
          <a:lstStyle/>
          <a:p>
            <a:pPr marL="0" indent="0" algn="just">
              <a:buNone/>
            </a:pPr>
            <a:r>
              <a:rPr lang="tr-TR" sz="1600" dirty="0"/>
              <a:t>IP adresi aralığının genel veya özel olmasından bağımsız olarak, yönlendiricilerin bir dahili ağda alt ağlar arasında yönlendirme yapması gerekir. Ancak adres aralığı özel olduğunda, özel ağlar genel kullanıma açık İnternet üzerinden yönlendirilemez. Bu durumda özel bir adresleme şeması kullanan konak bilgisayarlar İnternet üzerinden nasıl iletişim kurar? Özel ağı ISP ağına bağlayan cihazda Ağ Adresi Çevirisi (NAT) etkinleştirilmelidir. </a:t>
            </a:r>
          </a:p>
          <a:p>
            <a:pPr marL="0" indent="0" algn="just">
              <a:buNone/>
            </a:pPr>
            <a:endParaRPr lang="tr-TR" sz="1600" dirty="0"/>
          </a:p>
          <a:p>
            <a:pPr marL="0" indent="0" algn="just">
              <a:buNone/>
            </a:pPr>
            <a:r>
              <a:rPr lang="tr-TR" sz="1600" dirty="0"/>
              <a:t>NAT, çok sayıda özel kullanıcıyı içeren bir grubun bir veya birden çok genel IP adresini kullanarak İnternet'e erişmesine olanak verir. Adres çevirisinin işleyişi, bir şirket içinde telefon sisteminin işleyişine benzer. Şirket yeni çalışan aldıkça, bir noktadan sonra her çalışanın masasına doğrudan genel kullanıma açık telefon hattı çekememeye başlar. Bunun yerine, şirketin her çalışana bir dahili numara atamasına olanak veren bir sistem kullanır. Şirket, çalışanların tümü aynı anda telefon kullanmadığı için bunu yapabilir. Özel dahili numaralar kullanmak, şirketin telefon şirketinden daha az sayıda harici telefon hattı satın alabilmesini sağlar.</a:t>
            </a:r>
          </a:p>
          <a:p>
            <a:pPr marL="0" indent="0" algn="just">
              <a:buNone/>
            </a:pPr>
            <a:endParaRPr lang="tr-TR" sz="1600" dirty="0"/>
          </a:p>
          <a:p>
            <a:pPr marL="0" indent="0" algn="just">
              <a:buNone/>
            </a:pPr>
            <a:r>
              <a:rPr lang="tr-TR" sz="1600" dirty="0"/>
              <a:t>NAT da bir şirketin telefon sistemine benzer olarak çalışır. </a:t>
            </a:r>
            <a:r>
              <a:rPr lang="tr-TR" sz="1600" dirty="0" err="1"/>
              <a:t>NAT'nin</a:t>
            </a:r>
            <a:r>
              <a:rPr lang="tr-TR" sz="1600" dirty="0"/>
              <a:t> geliştirilmesinin temel nedenlerinden birisi, kayıtlı IP adreslerinden tasarruf sağlamaktır. NAT aynı zamanda bilgisayarların, sunucuların ve ağ iletişimi cihazlarının gerçek IP adreslerinin doğrudan İnternet erişimini engelleyerek bunlar için güvenlik sağlar.</a:t>
            </a:r>
          </a:p>
        </p:txBody>
      </p:sp>
    </p:spTree>
    <p:extLst>
      <p:ext uri="{BB962C8B-B14F-4D97-AF65-F5344CB8AC3E}">
        <p14:creationId xmlns:p14="http://schemas.microsoft.com/office/powerpoint/2010/main" val="1162409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C461BD-B2A3-4D7E-AB38-8530605089C5}"/>
              </a:ext>
            </a:extLst>
          </p:cNvPr>
          <p:cNvSpPr>
            <a:spLocks noGrp="1"/>
          </p:cNvSpPr>
          <p:nvPr>
            <p:ph type="title"/>
          </p:nvPr>
        </p:nvSpPr>
        <p:spPr/>
        <p:txBody>
          <a:bodyPr>
            <a:normAutofit fontScale="90000"/>
          </a:bodyPr>
          <a:lstStyle/>
          <a:p>
            <a:r>
              <a:rPr lang="tr-TR" dirty="0"/>
              <a:t>Temel Ağ Adres Çevirisi (NAT)</a:t>
            </a:r>
          </a:p>
        </p:txBody>
      </p:sp>
      <p:sp>
        <p:nvSpPr>
          <p:cNvPr id="3" name="İçerik Yer Tutucusu 2">
            <a:extLst>
              <a:ext uri="{FF2B5EF4-FFF2-40B4-BE49-F238E27FC236}">
                <a16:creationId xmlns:a16="http://schemas.microsoft.com/office/drawing/2014/main" id="{98EDCC94-FEF5-4C32-9870-E6B1F7E70F7F}"/>
              </a:ext>
            </a:extLst>
          </p:cNvPr>
          <p:cNvSpPr>
            <a:spLocks noGrp="1"/>
          </p:cNvSpPr>
          <p:nvPr>
            <p:ph idx="1"/>
          </p:nvPr>
        </p:nvSpPr>
        <p:spPr/>
        <p:txBody>
          <a:bodyPr/>
          <a:lstStyle/>
          <a:p>
            <a:pPr marL="0" indent="0" algn="just">
              <a:buNone/>
            </a:pPr>
            <a:r>
              <a:rPr lang="tr-TR" sz="1600" dirty="0" err="1"/>
              <a:t>NAT'nin</a:t>
            </a:r>
            <a:r>
              <a:rPr lang="tr-TR" sz="1600" dirty="0"/>
              <a:t> temel avantajları, IP adreslerinin yeniden kullanılabilmeleri ve tek bir </a:t>
            </a:r>
            <a:r>
              <a:rPr lang="tr-TR" sz="1600" dirty="0" err="1"/>
              <a:t>LAN'daki</a:t>
            </a:r>
            <a:r>
              <a:rPr lang="tr-TR" sz="1600" dirty="0"/>
              <a:t> birçok konak bilgisayarın küresel olarak benzersiz IP adreslerini paylaşabilmeleridir. NAT, şeffaf biçimde çalışır ve özel bir ağın kullanıcılarına genel etki alanından erişime karşı koruma sağlar. </a:t>
            </a:r>
          </a:p>
          <a:p>
            <a:pPr marL="0" indent="0" algn="just">
              <a:buNone/>
            </a:pPr>
            <a:endParaRPr lang="tr-TR" sz="1600" dirty="0"/>
          </a:p>
          <a:p>
            <a:pPr marL="0" indent="0" algn="just">
              <a:buNone/>
            </a:pPr>
            <a:r>
              <a:rPr lang="tr-TR" sz="1600" dirty="0"/>
              <a:t>Buna ek olarak NAT, özel IP adreslerini genel kullanıma açık ağlardan gizler. Bunun avantajı, </a:t>
            </a:r>
            <a:r>
              <a:rPr lang="tr-TR" sz="1600" dirty="0" err="1"/>
              <a:t>NAT'nin</a:t>
            </a:r>
            <a:r>
              <a:rPr lang="tr-TR" sz="1600" dirty="0"/>
              <a:t> bir erişim denetim listesine çok benzer şekilde çalışması ve dışarıdan kullanıcıların dahili cihazlara erişimine izin vermemesidir. Dezavantajı ise dışarıdan geçerli kullanıcıların erişimine izin vermek için ek yapılandırmalara ihtiyaç duyulmasıdır. Diğer bir dezavantaj da, ileti </a:t>
            </a:r>
            <a:r>
              <a:rPr lang="tr-TR" sz="1600" dirty="0" err="1"/>
              <a:t>saltverilerinde</a:t>
            </a:r>
            <a:r>
              <a:rPr lang="tr-TR" sz="1600" dirty="0"/>
              <a:t> IP adresleri olan bazı uygulamalarda, bu IP adreslerinin de çevrilmesi gerektiğinden </a:t>
            </a:r>
            <a:r>
              <a:rPr lang="tr-TR" sz="1600" dirty="0" err="1"/>
              <a:t>NAT'nin</a:t>
            </a:r>
            <a:r>
              <a:rPr lang="tr-TR" sz="1600" dirty="0"/>
              <a:t> bu uygulamaları etkilemesidir. Bu çeviri, yönlendirici üzerindeki yükü artırır ve ağ başarımını engeller.</a:t>
            </a:r>
          </a:p>
        </p:txBody>
      </p:sp>
      <p:pic>
        <p:nvPicPr>
          <p:cNvPr id="4" name="Resim 3">
            <a:extLst>
              <a:ext uri="{FF2B5EF4-FFF2-40B4-BE49-F238E27FC236}">
                <a16:creationId xmlns:a16="http://schemas.microsoft.com/office/drawing/2014/main" id="{70344087-8253-4284-B3D6-7977F58A9662}"/>
              </a:ext>
            </a:extLst>
          </p:cNvPr>
          <p:cNvPicPr>
            <a:picLocks noChangeAspect="1"/>
          </p:cNvPicPr>
          <p:nvPr/>
        </p:nvPicPr>
        <p:blipFill>
          <a:blip r:embed="rId2"/>
          <a:stretch>
            <a:fillRect/>
          </a:stretch>
        </p:blipFill>
        <p:spPr>
          <a:xfrm>
            <a:off x="389965" y="4419600"/>
            <a:ext cx="8534400" cy="1500847"/>
          </a:xfrm>
          <a:prstGeom prst="rect">
            <a:avLst/>
          </a:prstGeom>
        </p:spPr>
      </p:pic>
    </p:spTree>
    <p:extLst>
      <p:ext uri="{BB962C8B-B14F-4D97-AF65-F5344CB8AC3E}">
        <p14:creationId xmlns:p14="http://schemas.microsoft.com/office/powerpoint/2010/main" val="3443444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79520A-BF00-4D1B-BDA2-6765C17C830F}"/>
              </a:ext>
            </a:extLst>
          </p:cNvPr>
          <p:cNvSpPr>
            <a:spLocks noGrp="1"/>
          </p:cNvSpPr>
          <p:nvPr>
            <p:ph type="title"/>
          </p:nvPr>
        </p:nvSpPr>
        <p:spPr/>
        <p:txBody>
          <a:bodyPr>
            <a:normAutofit fontScale="90000"/>
          </a:bodyPr>
          <a:lstStyle/>
          <a:p>
            <a:r>
              <a:rPr lang="tr-TR" dirty="0"/>
              <a:t>IP NAT Terimleri</a:t>
            </a:r>
          </a:p>
        </p:txBody>
      </p:sp>
      <p:sp>
        <p:nvSpPr>
          <p:cNvPr id="3" name="İçerik Yer Tutucusu 2">
            <a:extLst>
              <a:ext uri="{FF2B5EF4-FFF2-40B4-BE49-F238E27FC236}">
                <a16:creationId xmlns:a16="http://schemas.microsoft.com/office/drawing/2014/main" id="{D318F2A0-33AB-4DE5-A222-9DF48951A95B}"/>
              </a:ext>
            </a:extLst>
          </p:cNvPr>
          <p:cNvSpPr>
            <a:spLocks noGrp="1"/>
          </p:cNvSpPr>
          <p:nvPr>
            <p:ph idx="1"/>
          </p:nvPr>
        </p:nvSpPr>
        <p:spPr/>
        <p:txBody>
          <a:bodyPr/>
          <a:lstStyle/>
          <a:p>
            <a:pPr marL="0" indent="0" algn="just">
              <a:buNone/>
            </a:pPr>
            <a:r>
              <a:rPr lang="tr-TR" sz="1700" dirty="0"/>
              <a:t>Bir yönlendirici üzerinde </a:t>
            </a:r>
            <a:r>
              <a:rPr lang="tr-TR" sz="1700" dirty="0" err="1"/>
              <a:t>NAT'yi</a:t>
            </a:r>
            <a:r>
              <a:rPr lang="tr-TR" sz="1700" dirty="0"/>
              <a:t> yapılandırırken, yönlendiricinin </a:t>
            </a:r>
            <a:r>
              <a:rPr lang="tr-TR" sz="1700" dirty="0" err="1"/>
              <a:t>NAT'yi</a:t>
            </a:r>
            <a:r>
              <a:rPr lang="tr-TR" sz="1700" dirty="0"/>
              <a:t> nasıl gerçekleştirdiğini açıklamaya yardımcı olması için kullanılan birkaç terim vardır:</a:t>
            </a:r>
          </a:p>
          <a:p>
            <a:pPr algn="just"/>
            <a:endParaRPr lang="tr-TR" sz="1700" dirty="0"/>
          </a:p>
          <a:p>
            <a:pPr algn="just"/>
            <a:r>
              <a:rPr lang="tr-TR" sz="1700" b="1" dirty="0"/>
              <a:t>İç yerel ağ - </a:t>
            </a:r>
            <a:r>
              <a:rPr lang="tr-TR" sz="1700" dirty="0"/>
              <a:t>Özel olarak </a:t>
            </a:r>
            <a:r>
              <a:rPr lang="tr-TR" sz="1700" dirty="0" err="1"/>
              <a:t>adreslenmiş</a:t>
            </a:r>
            <a:r>
              <a:rPr lang="tr-TR" sz="1700" dirty="0"/>
              <a:t> </a:t>
            </a:r>
            <a:r>
              <a:rPr lang="tr-TR" sz="1700" dirty="0" err="1"/>
              <a:t>LAN'ın</a:t>
            </a:r>
            <a:r>
              <a:rPr lang="tr-TR" sz="1700" dirty="0"/>
              <a:t> parçası olan bir yönlendirici </a:t>
            </a:r>
            <a:r>
              <a:rPr lang="tr-TR" sz="1700" dirty="0" err="1"/>
              <a:t>arayüzüne</a:t>
            </a:r>
            <a:r>
              <a:rPr lang="tr-TR" sz="1700" dirty="0"/>
              <a:t> bağlı olan herhangi bir ağı ifade eder. İç ağlardaki konak bilgisayarların IP adresleri, dışarıdaki hedeflere iletilmeden önce çevrilir.</a:t>
            </a:r>
          </a:p>
          <a:p>
            <a:pPr algn="just"/>
            <a:r>
              <a:rPr lang="tr-TR" sz="1700" b="1" dirty="0"/>
              <a:t>Dış küresel ağ </a:t>
            </a:r>
            <a:r>
              <a:rPr lang="tr-TR" sz="1700" dirty="0"/>
              <a:t>- LAN için harici olan ve </a:t>
            </a:r>
            <a:r>
              <a:rPr lang="tr-TR" sz="1700" dirty="0" err="1"/>
              <a:t>LAN'daki</a:t>
            </a:r>
            <a:r>
              <a:rPr lang="tr-TR" sz="1700" dirty="0"/>
              <a:t> konak bilgisayara atanan özel adresleri tanımayan herhangi bir ağ.</a:t>
            </a:r>
          </a:p>
          <a:p>
            <a:pPr algn="just"/>
            <a:r>
              <a:rPr lang="tr-TR" sz="1700" b="1" dirty="0"/>
              <a:t>İç yerel adres </a:t>
            </a:r>
            <a:r>
              <a:rPr lang="tr-TR" sz="1700" dirty="0"/>
              <a:t>- İç ağdaki bir konak bilgisayarda yapılandırılan özel IP adresi. Adreslerin, yerel ağ adresleme yapısının dışına çıkmadan önce çevrilmesi gerekir.</a:t>
            </a:r>
          </a:p>
          <a:p>
            <a:pPr algn="just"/>
            <a:r>
              <a:rPr lang="tr-TR" sz="1700" b="1" dirty="0"/>
              <a:t>İç küresel adres </a:t>
            </a:r>
            <a:r>
              <a:rPr lang="tr-TR" sz="1700" dirty="0"/>
              <a:t>- Bir iç konak bilgisayarın dış ağda görünen IP adresi. Bu adres, çevrilen IP adresidir.</a:t>
            </a:r>
          </a:p>
          <a:p>
            <a:pPr algn="just"/>
            <a:r>
              <a:rPr lang="tr-TR" sz="1700" b="1" dirty="0"/>
              <a:t>Dış yerel adres </a:t>
            </a:r>
            <a:r>
              <a:rPr lang="tr-TR" sz="1700" dirty="0"/>
              <a:t>- Paket yerel ağdayken paketin hedef adresi. Bu adres genellikle dış küresel adresle aynıdır.</a:t>
            </a:r>
          </a:p>
          <a:p>
            <a:pPr algn="just"/>
            <a:r>
              <a:rPr lang="tr-TR" sz="1700" b="1" dirty="0"/>
              <a:t>Dış küresel adres </a:t>
            </a:r>
            <a:r>
              <a:rPr lang="tr-TR" sz="1700" dirty="0"/>
              <a:t>- Harici bir konak bilgisayardaki genel IP adresi. Adres, küresel olarak yönlendirilebilir bir adresten veya ağ alanından tahsis edilir.</a:t>
            </a:r>
          </a:p>
        </p:txBody>
      </p:sp>
    </p:spTree>
    <p:extLst>
      <p:ext uri="{BB962C8B-B14F-4D97-AF65-F5344CB8AC3E}">
        <p14:creationId xmlns:p14="http://schemas.microsoft.com/office/powerpoint/2010/main" val="1961040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353AD15-EA92-4DE9-9286-67F074D2C8ED}"/>
              </a:ext>
            </a:extLst>
          </p:cNvPr>
          <p:cNvSpPr>
            <a:spLocks noGrp="1"/>
          </p:cNvSpPr>
          <p:nvPr>
            <p:ph type="title"/>
          </p:nvPr>
        </p:nvSpPr>
        <p:spPr/>
        <p:txBody>
          <a:bodyPr>
            <a:normAutofit fontScale="90000"/>
          </a:bodyPr>
          <a:lstStyle/>
          <a:p>
            <a:r>
              <a:rPr lang="tr-TR" dirty="0"/>
              <a:t>Dinamik ve Statik NAT</a:t>
            </a:r>
          </a:p>
        </p:txBody>
      </p:sp>
      <p:sp>
        <p:nvSpPr>
          <p:cNvPr id="3" name="İçerik Yer Tutucusu 2">
            <a:extLst>
              <a:ext uri="{FF2B5EF4-FFF2-40B4-BE49-F238E27FC236}">
                <a16:creationId xmlns:a16="http://schemas.microsoft.com/office/drawing/2014/main" id="{5607A27E-3850-4778-8018-A6A07399D5FA}"/>
              </a:ext>
            </a:extLst>
          </p:cNvPr>
          <p:cNvSpPr>
            <a:spLocks noGrp="1"/>
          </p:cNvSpPr>
          <p:nvPr>
            <p:ph idx="1"/>
          </p:nvPr>
        </p:nvSpPr>
        <p:spPr>
          <a:xfrm>
            <a:off x="313765" y="1371600"/>
            <a:ext cx="8686800" cy="4929308"/>
          </a:xfrm>
        </p:spPr>
        <p:txBody>
          <a:bodyPr/>
          <a:lstStyle/>
          <a:p>
            <a:pPr algn="just"/>
            <a:r>
              <a:rPr lang="tr-TR" sz="1500" b="1" dirty="0"/>
              <a:t>Dinamik NAT</a:t>
            </a:r>
          </a:p>
          <a:p>
            <a:pPr marL="0" indent="0" algn="just">
              <a:buNone/>
            </a:pPr>
            <a:r>
              <a:rPr lang="tr-TR" sz="1500" dirty="0"/>
              <a:t>Adresler dinamik olarak atanabilir. Dinamik NAT, özel bir ağda özel IP adreslerine sahip konak bilgisayarların İnternet gibi genel kullanıma açık bir ağa erişmelerine olanak verir. Dinamik NAT, bir yönlendiricinin önceden tanımlanmış bir adresten veya bir adresler havuzundan bir iç özel ağ cihazına dış küresel adres atadığı durumlarda meydana gelir. Oturum açık olduğu sürece yönlendirici, iç küresel adresleri izler ve işlemi başlatan iç cihaza alındı bildirimleri gönderir. Oturum sonlandırıldığında, yönlendirici iç küresel adresi havuza iade eder.</a:t>
            </a:r>
          </a:p>
          <a:p>
            <a:pPr marL="0" indent="0" algn="just">
              <a:buNone/>
            </a:pPr>
            <a:endParaRPr lang="tr-TR" sz="1500" dirty="0"/>
          </a:p>
          <a:p>
            <a:pPr algn="just"/>
            <a:r>
              <a:rPr lang="tr-TR" sz="1500" b="1" dirty="0"/>
              <a:t>Statik NAT</a:t>
            </a:r>
          </a:p>
          <a:p>
            <a:pPr marL="0" indent="0" algn="just">
              <a:buNone/>
            </a:pPr>
            <a:r>
              <a:rPr lang="tr-TR" sz="1500" dirty="0"/>
              <a:t>NAT kullanmanın avantajlarından biri de, genel kullanıma açık İnternet'ten konak bilgisayarlara tek tek doğrudan erişilememesidir. Peki bir ağdaki konak bilgisayarlardan birinin veya birkaçının İnternet'e bağlı cihazlar tarafından ve yerel özel </a:t>
            </a:r>
            <a:r>
              <a:rPr lang="tr-TR" sz="1500" dirty="0" err="1"/>
              <a:t>LAN'ındaki</a:t>
            </a:r>
            <a:r>
              <a:rPr lang="tr-TR" sz="1500" dirty="0"/>
              <a:t> cihazlar tarafından erişilmesi gereken hizmetler çalıştırdığı durumlarda ne olur?</a:t>
            </a:r>
          </a:p>
          <a:p>
            <a:pPr marL="0" indent="0" algn="just">
              <a:buNone/>
            </a:pPr>
            <a:br>
              <a:rPr lang="tr-TR" sz="1500" dirty="0"/>
            </a:br>
            <a:r>
              <a:rPr lang="tr-TR" sz="1500" dirty="0"/>
              <a:t>İnternet'ten yerel bir konak bilgisayara erişim sağlamanın yollarından biri, her cihaza statik bir adres çevirisi atamaktır. Statik çeviriler, bir konak bilgisayarın özel IP adresinin her zaman aynı kayıtlı küresel IP adresine çevrilmesini sağlar. Başka bir yerel konak bilgisayarın aynı kayıtlı adrese çevrilmesini önler. Statik NAT, genel kullanıma açık ağdaki konak bilgisayarların özel bir ağdaki seçili konak bilgisayarlara erişmelerine olanak verir. İç ağdaki bir cihaza dışarıdan erişmek gerektiğinde, statik NAT kullanın.</a:t>
            </a:r>
          </a:p>
          <a:p>
            <a:pPr marL="0" indent="0" algn="just">
              <a:buNone/>
            </a:pPr>
            <a:endParaRPr lang="tr-TR" sz="1500" dirty="0"/>
          </a:p>
          <a:p>
            <a:pPr marL="0" indent="0" algn="just">
              <a:buNone/>
            </a:pPr>
            <a:r>
              <a:rPr lang="tr-TR" sz="1500" dirty="0"/>
              <a:t>Gerektiği takdirde hem statik hem de dinamik NAT aynı anda yapılandırılabilir.</a:t>
            </a:r>
          </a:p>
        </p:txBody>
      </p:sp>
    </p:spTree>
    <p:extLst>
      <p:ext uri="{BB962C8B-B14F-4D97-AF65-F5344CB8AC3E}">
        <p14:creationId xmlns:p14="http://schemas.microsoft.com/office/powerpoint/2010/main" val="3740499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5EA63D-BB9E-4B22-A073-E8ABD540635B}"/>
              </a:ext>
            </a:extLst>
          </p:cNvPr>
          <p:cNvSpPr>
            <a:spLocks noGrp="1"/>
          </p:cNvSpPr>
          <p:nvPr>
            <p:ph type="title"/>
          </p:nvPr>
        </p:nvSpPr>
        <p:spPr/>
        <p:txBody>
          <a:bodyPr>
            <a:normAutofit fontScale="90000"/>
          </a:bodyPr>
          <a:lstStyle/>
          <a:p>
            <a:r>
              <a:rPr lang="tr-TR" dirty="0"/>
              <a:t>IP NAT Sorunları</a:t>
            </a:r>
          </a:p>
        </p:txBody>
      </p:sp>
      <p:sp>
        <p:nvSpPr>
          <p:cNvPr id="3" name="İçerik Yer Tutucusu 2">
            <a:extLst>
              <a:ext uri="{FF2B5EF4-FFF2-40B4-BE49-F238E27FC236}">
                <a16:creationId xmlns:a16="http://schemas.microsoft.com/office/drawing/2014/main" id="{D076C74A-3FD5-4F38-92DE-DF35AA544457}"/>
              </a:ext>
            </a:extLst>
          </p:cNvPr>
          <p:cNvSpPr>
            <a:spLocks noGrp="1"/>
          </p:cNvSpPr>
          <p:nvPr>
            <p:ph idx="1"/>
          </p:nvPr>
        </p:nvSpPr>
        <p:spPr/>
        <p:txBody>
          <a:bodyPr/>
          <a:lstStyle/>
          <a:p>
            <a:pPr marL="0" indent="0" algn="just">
              <a:buNone/>
            </a:pPr>
            <a:r>
              <a:rPr lang="tr-TR" sz="1700" dirty="0"/>
              <a:t>İnsanlar, yönlendiricinin NAT kullandığının farkında bile olmadan özel ağlardan İnternet'e erişmektedir. Ancak NAT ile ilgili önemli sorunlardan biri, IP adresi ve bağlantı noktası çevirilerini desteklemek için gerekli olan ek iş yüküdür. </a:t>
            </a:r>
          </a:p>
          <a:p>
            <a:pPr marL="0" indent="0" algn="just">
              <a:buNone/>
            </a:pPr>
            <a:endParaRPr lang="tr-TR" sz="1700" dirty="0"/>
          </a:p>
          <a:p>
            <a:pPr marL="0" indent="0" algn="just">
              <a:buNone/>
            </a:pPr>
            <a:r>
              <a:rPr lang="tr-TR" sz="1700" dirty="0"/>
              <a:t>Bazı uygulamalar, </a:t>
            </a:r>
            <a:r>
              <a:rPr lang="tr-TR" sz="1700" dirty="0" err="1"/>
              <a:t>kapsüllenmiş</a:t>
            </a:r>
            <a:r>
              <a:rPr lang="tr-TR" sz="1700" dirty="0"/>
              <a:t> verilerin içine bir IP adresi yerleştirdikleri için, yönlendiricinin iş yükünü artırırlar. Yönlendiricilerin verilerde bulunan kaynak IP adresi ve bağlantı noktası kombinasyonlarını ve IP başlığındaki kaynak adreslerini değiştirmeleri gerekir. </a:t>
            </a:r>
          </a:p>
          <a:p>
            <a:pPr marL="0" indent="0" algn="just">
              <a:buNone/>
            </a:pPr>
            <a:endParaRPr lang="tr-TR" sz="1700" dirty="0"/>
          </a:p>
          <a:p>
            <a:pPr marL="0" indent="0" algn="just">
              <a:buNone/>
            </a:pPr>
            <a:r>
              <a:rPr lang="tr-TR" sz="1700" dirty="0"/>
              <a:t>Bütün bu etkinlik bir yönlendirici içinde gerçekleşir ve NAT uygulaması iyi bir ağ tasarımını, ekipmanın dikkatli seçilmesini ve doğru yapılandırmayı gerektirir.</a:t>
            </a:r>
          </a:p>
          <a:p>
            <a:pPr marL="0" indent="0" algn="just">
              <a:buNone/>
            </a:pPr>
            <a:endParaRPr lang="tr-TR" sz="1700" dirty="0"/>
          </a:p>
          <a:p>
            <a:pPr marL="0" indent="0" algn="just">
              <a:buNone/>
            </a:pPr>
            <a:r>
              <a:rPr lang="tr-TR" sz="1700" dirty="0"/>
              <a:t>NAT ev ve küçük işletmelerde kullanılan tümleşik ağ iletişimi cihazlarında o kadar yaygın hale gelmiştir ki, bazı insanlar için </a:t>
            </a:r>
            <a:r>
              <a:rPr lang="tr-TR" sz="1700" dirty="0" err="1"/>
              <a:t>NAT'yi</a:t>
            </a:r>
            <a:r>
              <a:rPr lang="tr-TR" sz="1700" dirty="0"/>
              <a:t> yapılandırmak, bir onay kutusunu işaretlemekten ibarettir. İşletmeler büyüdükçe ve daha karmaşık ağ geçidi ve yönlendirme çözümlerine ihtiyaç duyar hale geldikçe, </a:t>
            </a:r>
            <a:r>
              <a:rPr lang="tr-TR" sz="1700" dirty="0" err="1"/>
              <a:t>NAT'ye</a:t>
            </a:r>
            <a:r>
              <a:rPr lang="tr-TR" sz="1700" dirty="0"/>
              <a:t> yönelik cihaz yapılandırmaları da daha karmaşık hale gelir.</a:t>
            </a:r>
          </a:p>
        </p:txBody>
      </p:sp>
    </p:spTree>
    <p:extLst>
      <p:ext uri="{BB962C8B-B14F-4D97-AF65-F5344CB8AC3E}">
        <p14:creationId xmlns:p14="http://schemas.microsoft.com/office/powerpoint/2010/main" val="1786258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BBD7A1-89E7-43B8-8C06-D3DD0B83D9A6}"/>
              </a:ext>
            </a:extLst>
          </p:cNvPr>
          <p:cNvSpPr>
            <a:spLocks noGrp="1"/>
          </p:cNvSpPr>
          <p:nvPr>
            <p:ph type="title"/>
          </p:nvPr>
        </p:nvSpPr>
        <p:spPr/>
        <p:txBody>
          <a:bodyPr>
            <a:normAutofit fontScale="90000"/>
          </a:bodyPr>
          <a:lstStyle/>
          <a:p>
            <a:r>
              <a:rPr lang="tr-TR" dirty="0"/>
              <a:t>IP NAT Sorunları</a:t>
            </a:r>
          </a:p>
        </p:txBody>
      </p:sp>
      <p:sp>
        <p:nvSpPr>
          <p:cNvPr id="3" name="İçerik Yer Tutucusu 2">
            <a:extLst>
              <a:ext uri="{FF2B5EF4-FFF2-40B4-BE49-F238E27FC236}">
                <a16:creationId xmlns:a16="http://schemas.microsoft.com/office/drawing/2014/main" id="{263F2A56-6194-49A5-9842-AEF1FB2A7A3C}"/>
              </a:ext>
            </a:extLst>
          </p:cNvPr>
          <p:cNvSpPr>
            <a:spLocks noGrp="1"/>
          </p:cNvSpPr>
          <p:nvPr>
            <p:ph idx="1"/>
          </p:nvPr>
        </p:nvSpPr>
        <p:spPr/>
        <p:txBody>
          <a:bodyPr/>
          <a:lstStyle/>
          <a:p>
            <a:pPr marL="0" indent="0" algn="just">
              <a:buNone/>
            </a:pPr>
            <a:r>
              <a:rPr lang="tr-TR" sz="1500" dirty="0"/>
              <a:t>IP adreslerinin tükenmesi sorununa geçici bir çözüm olarak ağları alt ağlara bölme, özel IP adreslemesi ve NAT kullanımı çözümleri geliştirilmiştir. Bu yöntemler, yararlı olsalar da, daha fazla IP adresi üretmemektedirler. Adreslerin tükenmesine yanıt olarak 1998'de RFC 2460'ta IPv6 önerilmiştir. </a:t>
            </a:r>
          </a:p>
          <a:p>
            <a:pPr marL="0" indent="0" algn="just">
              <a:buNone/>
            </a:pPr>
            <a:endParaRPr lang="tr-TR" sz="1500" dirty="0"/>
          </a:p>
          <a:p>
            <a:pPr marL="0" indent="0" algn="just">
              <a:buNone/>
            </a:pPr>
            <a:r>
              <a:rPr lang="tr-TR" sz="1500" dirty="0"/>
              <a:t>Bu önerinin esas amacının IPv4 IP adreslerinin tükenmesi sorununu çözmek olmasına rağmen, geliştirilmesinin altında başka nedenler de bulunmaktadır. IPv4 ilk kez standart hale getirildiğinden beri İnternet önemli ölçüde büyüme kaydetmiştir. Bu büyüme, IPv4'ün avantajlarını ve dezavantajlarını ve yeni kapasiteler eklemek üzere yükseltmeler yapma olanağını ortaya çıkarmıştır.</a:t>
            </a:r>
          </a:p>
          <a:p>
            <a:pPr marL="0" indent="0" algn="just">
              <a:buNone/>
            </a:pPr>
            <a:endParaRPr lang="tr-TR" sz="1500" dirty="0"/>
          </a:p>
          <a:p>
            <a:pPr marL="0" indent="0" algn="just">
              <a:buNone/>
            </a:pPr>
            <a:r>
              <a:rPr lang="tr-TR" sz="1500" dirty="0"/>
              <a:t>IPv6 önerilerinde sunulan geliştirmelerin genel bir listesi şu şekildedir:</a:t>
            </a:r>
          </a:p>
          <a:p>
            <a:pPr marL="0" indent="0" algn="just">
              <a:buNone/>
            </a:pPr>
            <a:endParaRPr lang="tr-TR" sz="1500" dirty="0"/>
          </a:p>
          <a:p>
            <a:pPr marL="0" indent="0" algn="just">
              <a:buNone/>
            </a:pPr>
            <a:r>
              <a:rPr lang="tr-TR" sz="1500" dirty="0"/>
              <a:t>Daha fazla adres alanı</a:t>
            </a:r>
          </a:p>
          <a:p>
            <a:pPr marL="0" indent="0" algn="just">
              <a:buNone/>
            </a:pPr>
            <a:r>
              <a:rPr lang="tr-TR" sz="1500" dirty="0"/>
              <a:t>Daha iyi adres alanı yönetimi</a:t>
            </a:r>
          </a:p>
          <a:p>
            <a:pPr marL="0" indent="0" algn="just">
              <a:buNone/>
            </a:pPr>
            <a:r>
              <a:rPr lang="tr-TR" sz="1500" dirty="0"/>
              <a:t>Daha kolay TCP/IP yönetimi</a:t>
            </a:r>
          </a:p>
          <a:p>
            <a:pPr marL="0" indent="0" algn="just">
              <a:buNone/>
            </a:pPr>
            <a:r>
              <a:rPr lang="tr-TR" sz="1500" dirty="0"/>
              <a:t>Geliştirilmiş yönlendirme kapasiteleri</a:t>
            </a:r>
          </a:p>
          <a:p>
            <a:pPr marL="0" indent="0" algn="just">
              <a:buNone/>
            </a:pPr>
            <a:r>
              <a:rPr lang="tr-TR" sz="1500" dirty="0"/>
              <a:t>Çoklu yayın, güvenlik ve hareket yeteneğine yönelik geliştirilmiş destek</a:t>
            </a:r>
          </a:p>
          <a:p>
            <a:pPr marL="0" indent="0" algn="just">
              <a:buNone/>
            </a:pPr>
            <a:endParaRPr lang="tr-TR" sz="1500" dirty="0"/>
          </a:p>
          <a:p>
            <a:pPr marL="0" indent="0" algn="just">
              <a:buNone/>
            </a:pPr>
            <a:r>
              <a:rPr lang="tr-TR" sz="1500" dirty="0"/>
              <a:t>IPv6, bu taleplerin ve sorunların mümkün olduğu kadar büyük bir bölümünü ele almak üzere geliştirilmiştir.</a:t>
            </a:r>
          </a:p>
          <a:p>
            <a:pPr marL="0" indent="0" algn="just">
              <a:buNone/>
            </a:pPr>
            <a:endParaRPr lang="tr-TR" sz="1500" dirty="0"/>
          </a:p>
          <a:p>
            <a:pPr marL="0" indent="0" algn="just">
              <a:buNone/>
            </a:pPr>
            <a:endParaRPr lang="tr-TR" sz="1500" dirty="0"/>
          </a:p>
        </p:txBody>
      </p:sp>
    </p:spTree>
    <p:extLst>
      <p:ext uri="{BB962C8B-B14F-4D97-AF65-F5344CB8AC3E}">
        <p14:creationId xmlns:p14="http://schemas.microsoft.com/office/powerpoint/2010/main" val="407299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CA3CCE-D452-4160-8D58-18B089D1D5F5}"/>
              </a:ext>
            </a:extLst>
          </p:cNvPr>
          <p:cNvSpPr>
            <a:spLocks noGrp="1"/>
          </p:cNvSpPr>
          <p:nvPr>
            <p:ph type="title"/>
          </p:nvPr>
        </p:nvSpPr>
        <p:spPr/>
        <p:txBody>
          <a:bodyPr>
            <a:normAutofit fontScale="90000"/>
          </a:bodyPr>
          <a:lstStyle/>
          <a:p>
            <a:r>
              <a:rPr lang="tr-TR" dirty="0"/>
              <a:t>IP NAT Sorunları</a:t>
            </a:r>
          </a:p>
        </p:txBody>
      </p:sp>
      <p:sp>
        <p:nvSpPr>
          <p:cNvPr id="3" name="İçerik Yer Tutucusu 2">
            <a:extLst>
              <a:ext uri="{FF2B5EF4-FFF2-40B4-BE49-F238E27FC236}">
                <a16:creationId xmlns:a16="http://schemas.microsoft.com/office/drawing/2014/main" id="{7B3CF137-FC70-4BF0-8A99-F6B37F02CD0F}"/>
              </a:ext>
            </a:extLst>
          </p:cNvPr>
          <p:cNvSpPr>
            <a:spLocks noGrp="1"/>
          </p:cNvSpPr>
          <p:nvPr>
            <p:ph idx="1"/>
          </p:nvPr>
        </p:nvSpPr>
        <p:spPr/>
        <p:txBody>
          <a:bodyPr/>
          <a:lstStyle/>
          <a:p>
            <a:pPr marL="0" indent="0" algn="just">
              <a:buNone/>
            </a:pPr>
            <a:r>
              <a:rPr lang="tr-TR" sz="1800" dirty="0"/>
              <a:t>IPv6'da IP adresleri 128 </a:t>
            </a:r>
            <a:r>
              <a:rPr lang="tr-TR" sz="1800" dirty="0" err="1"/>
              <a:t>bit'tir</a:t>
            </a:r>
            <a:r>
              <a:rPr lang="tr-TR" sz="1800" dirty="0"/>
              <a:t> ve potansiyel adres alanı 2^128'dir. Ondalık gösterimde bunun yaklaşık karşılığı, 3 ve ardından otuz sekiz sıfırdır. IPv4 adres alanını bir bilye olarak kabul edersek, IPv6 adres alanı neredeyse Satürn gezegenininkine eşit bir hacimdedir.</a:t>
            </a:r>
          </a:p>
          <a:p>
            <a:pPr marL="0" indent="0" algn="just">
              <a:buNone/>
            </a:pPr>
            <a:endParaRPr lang="tr-TR" sz="1800" dirty="0"/>
          </a:p>
          <a:p>
            <a:pPr marL="0" indent="0" algn="just">
              <a:buNone/>
            </a:pPr>
            <a:r>
              <a:rPr lang="tr-TR" sz="1800" dirty="0"/>
              <a:t>128 bit sayılarla çalışmak zordur ve bu nedenle IPv6 adres gösterimi 128 </a:t>
            </a:r>
            <a:r>
              <a:rPr lang="tr-TR" sz="1800" dirty="0" err="1"/>
              <a:t>bit'i</a:t>
            </a:r>
            <a:r>
              <a:rPr lang="tr-TR" sz="1800" dirty="0"/>
              <a:t> 32 on altılı hane olarak gösterir ve bu on altılı haneler de, sınırlayıcı olarak üst üste iki nokta işareti kullanılarak, dört on altılı haneden oluşan sekiz gruba bölünür. IPv6 adreslerinde üç bölümlü bir hiyerarşi vardır. Adresin ilk üç bloğu küresel önektir ve İnternet ad kayıt defteri tarafından bir kuruluşa atanır. Alt ağ ve </a:t>
            </a:r>
            <a:r>
              <a:rPr lang="tr-TR" sz="1800" dirty="0" err="1"/>
              <a:t>arayüz</a:t>
            </a:r>
            <a:r>
              <a:rPr lang="tr-TR" sz="1800" dirty="0"/>
              <a:t> kimliği, ağ yöneticisi tarafından denetlenir.</a:t>
            </a:r>
          </a:p>
          <a:p>
            <a:pPr marL="0" indent="0" algn="just">
              <a:buNone/>
            </a:pPr>
            <a:endParaRPr lang="tr-TR" sz="1800" dirty="0"/>
          </a:p>
          <a:p>
            <a:pPr marL="0" indent="0" algn="just">
              <a:buNone/>
            </a:pPr>
            <a:r>
              <a:rPr lang="tr-TR" sz="1800" dirty="0"/>
              <a:t>Ağ yöneticilerinin bu yeni IPv6 yapısını düzenlemek için biraz zamana ihtiyaçları vardır. IPv6'nın yaygın olarak benimsenmesi için ağ yöneticilerinin özel ağ adresi alanlarının daha verimli kullanımına yönelik yapmaları gereken hâlâ çok şey vardır.</a:t>
            </a:r>
          </a:p>
        </p:txBody>
      </p:sp>
    </p:spTree>
    <p:extLst>
      <p:ext uri="{BB962C8B-B14F-4D97-AF65-F5344CB8AC3E}">
        <p14:creationId xmlns:p14="http://schemas.microsoft.com/office/powerpoint/2010/main" val="2140265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4">
            <a:extLst>
              <a:ext uri="{FF2B5EF4-FFF2-40B4-BE49-F238E27FC236}">
                <a16:creationId xmlns:a16="http://schemas.microsoft.com/office/drawing/2014/main" id="{26822225-E19D-EC43-AE5B-4CC6E2D5A64A}"/>
              </a:ext>
            </a:extLst>
          </p:cNvPr>
          <p:cNvSpPr>
            <a:spLocks noGrp="1"/>
          </p:cNvSpPr>
          <p:nvPr>
            <p:ph type="title"/>
          </p:nvPr>
        </p:nvSpPr>
        <p:spPr>
          <a:xfrm>
            <a:off x="313765" y="853415"/>
            <a:ext cx="8686800" cy="536114"/>
          </a:xfrm>
        </p:spPr>
        <p:txBody>
          <a:bodyPr>
            <a:normAutofit fontScale="90000"/>
          </a:bodyPr>
          <a:lstStyle/>
          <a:p>
            <a:r>
              <a:rPr lang="tr-TR" dirty="0"/>
              <a:t>Bölüm / Hafta Özeti</a:t>
            </a:r>
          </a:p>
        </p:txBody>
      </p:sp>
      <p:sp>
        <p:nvSpPr>
          <p:cNvPr id="7" name="İçerik Yer Tutucusu 5">
            <a:extLst>
              <a:ext uri="{FF2B5EF4-FFF2-40B4-BE49-F238E27FC236}">
                <a16:creationId xmlns:a16="http://schemas.microsoft.com/office/drawing/2014/main" id="{31301F19-586A-9F42-97FA-25F89C0B7106}"/>
              </a:ext>
            </a:extLst>
          </p:cNvPr>
          <p:cNvSpPr>
            <a:spLocks noGrp="1"/>
          </p:cNvSpPr>
          <p:nvPr>
            <p:ph idx="1"/>
          </p:nvPr>
        </p:nvSpPr>
        <p:spPr>
          <a:xfrm>
            <a:off x="313765" y="1515035"/>
            <a:ext cx="8686800" cy="4929308"/>
          </a:xfrm>
        </p:spPr>
        <p:txBody>
          <a:bodyPr/>
          <a:lstStyle/>
          <a:p>
            <a:pPr marL="0" indent="0" algn="just">
              <a:buNone/>
            </a:pPr>
            <a:r>
              <a:rPr lang="tr-TR" sz="3000" dirty="0"/>
              <a:t>Bu bölümde IP adreslerinin yapısı incelenmiştir. Bir ağı alt ağlara bölme işlemi ve özel alt ağ maskeleri detaylı bir şekilde anlatılarak görsellerle desteklenmiştir. Bölünen ağların alacağı IP aralıkları gösterilmiştir. Temel Ağ Adres Çevirisi (NAT), Dinamik NAT ve Statik NAT işlemleri açıklanmıştır. Son olarak IP NAT işleminin sorunları ve bu sorunları çözebilmek için önerilen bazı çözümler anlatılmıştır.</a:t>
            </a:r>
          </a:p>
        </p:txBody>
      </p:sp>
    </p:spTree>
    <p:extLst>
      <p:ext uri="{BB962C8B-B14F-4D97-AF65-F5344CB8AC3E}">
        <p14:creationId xmlns:p14="http://schemas.microsoft.com/office/powerpoint/2010/main" val="2584493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1">
            <a:extLst>
              <a:ext uri="{FF2B5EF4-FFF2-40B4-BE49-F238E27FC236}">
                <a16:creationId xmlns:a16="http://schemas.microsoft.com/office/drawing/2014/main" id="{19D5AA8E-60EA-E445-B7CC-6B48E02B71EA}"/>
              </a:ext>
            </a:extLst>
          </p:cNvPr>
          <p:cNvSpPr>
            <a:spLocks noGrp="1"/>
          </p:cNvSpPr>
          <p:nvPr>
            <p:ph type="title"/>
          </p:nvPr>
        </p:nvSpPr>
        <p:spPr>
          <a:xfrm>
            <a:off x="313765" y="853415"/>
            <a:ext cx="8686800" cy="536114"/>
          </a:xfrm>
        </p:spPr>
        <p:txBody>
          <a:bodyPr>
            <a:normAutofit fontScale="90000"/>
          </a:bodyPr>
          <a:lstStyle/>
          <a:p>
            <a:r>
              <a:rPr lang="tr-TR" dirty="0"/>
              <a:t>Kaynaklar </a:t>
            </a:r>
          </a:p>
        </p:txBody>
      </p:sp>
      <p:sp>
        <p:nvSpPr>
          <p:cNvPr id="7" name="İçerik Yer Tutucusu 4">
            <a:extLst>
              <a:ext uri="{FF2B5EF4-FFF2-40B4-BE49-F238E27FC236}">
                <a16:creationId xmlns:a16="http://schemas.microsoft.com/office/drawing/2014/main" id="{B23C765D-7536-8845-9192-B08D3EE5C869}"/>
              </a:ext>
            </a:extLst>
          </p:cNvPr>
          <p:cNvSpPr>
            <a:spLocks noGrp="1"/>
          </p:cNvSpPr>
          <p:nvPr>
            <p:ph idx="1"/>
          </p:nvPr>
        </p:nvSpPr>
        <p:spPr>
          <a:xfrm>
            <a:off x="313765" y="1515035"/>
            <a:ext cx="8686800" cy="4929308"/>
          </a:xfrm>
        </p:spPr>
        <p:txBody>
          <a:bodyPr/>
          <a:lstStyle/>
          <a:p>
            <a:r>
              <a:rPr lang="tr-TR" dirty="0"/>
              <a:t>CISCO CCNA Eğitim Modülü</a:t>
            </a:r>
          </a:p>
        </p:txBody>
      </p:sp>
    </p:spTree>
    <p:extLst>
      <p:ext uri="{BB962C8B-B14F-4D97-AF65-F5344CB8AC3E}">
        <p14:creationId xmlns:p14="http://schemas.microsoft.com/office/powerpoint/2010/main" val="470477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a:xfrm>
            <a:off x="152400" y="5334000"/>
            <a:ext cx="8422108" cy="861580"/>
          </a:xfrm>
        </p:spPr>
        <p:txBody>
          <a:bodyPr/>
          <a:lstStyle/>
          <a:p>
            <a:r>
              <a:rPr lang="tr-TR" dirty="0"/>
              <a:t>TEŞEKKÜRLER</a:t>
            </a:r>
          </a:p>
        </p:txBody>
      </p:sp>
    </p:spTree>
    <p:extLst>
      <p:ext uri="{BB962C8B-B14F-4D97-AF65-F5344CB8AC3E}">
        <p14:creationId xmlns:p14="http://schemas.microsoft.com/office/powerpoint/2010/main" val="299784153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13E297F443179941B3CCCA537649BB75" ma:contentTypeVersion="4" ma:contentTypeDescription="Yeni belge oluşturun." ma:contentTypeScope="" ma:versionID="eefc4eb90b5ecf2742aa9b516938315d">
  <xsd:schema xmlns:xsd="http://www.w3.org/2001/XMLSchema" xmlns:xs="http://www.w3.org/2001/XMLSchema" xmlns:p="http://schemas.microsoft.com/office/2006/metadata/properties" xmlns:ns2="4eb0f163-66f3-43ab-a6dc-8fd6c1b95e0c" targetNamespace="http://schemas.microsoft.com/office/2006/metadata/properties" ma:root="true" ma:fieldsID="4f3cfb2777f582e4a62cd9ea7a7bfd1a" ns2:_="">
    <xsd:import namespace="4eb0f163-66f3-43ab-a6dc-8fd6c1b95e0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f163-66f3-43ab-a6dc-8fd6c1b95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0AEEF6B-045D-495F-8F95-AF976F904486}"/>
</file>

<file path=customXml/itemProps2.xml><?xml version="1.0" encoding="utf-8"?>
<ds:datastoreItem xmlns:ds="http://schemas.openxmlformats.org/officeDocument/2006/customXml" ds:itemID="{19F95604-CE95-4F7F-BB21-16001E587D33}"/>
</file>

<file path=customXml/itemProps3.xml><?xml version="1.0" encoding="utf-8"?>
<ds:datastoreItem xmlns:ds="http://schemas.openxmlformats.org/officeDocument/2006/customXml" ds:itemID="{028959DB-6CCA-4BA7-937F-CA825269D830}"/>
</file>

<file path=docProps/app.xml><?xml version="1.0" encoding="utf-8"?>
<Properties xmlns="http://schemas.openxmlformats.org/officeDocument/2006/extended-properties" xmlns:vt="http://schemas.openxmlformats.org/officeDocument/2006/docPropsVTypes">
  <TotalTime>50</TotalTime>
  <Words>3722</Words>
  <Application>Microsoft Office PowerPoint</Application>
  <PresentationFormat>Ekran Gösterisi (4:3)</PresentationFormat>
  <Paragraphs>169</Paragraphs>
  <Slides>27</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27</vt:i4>
      </vt:variant>
    </vt:vector>
  </HeadingPairs>
  <TitlesOfParts>
    <vt:vector size="30" baseType="lpstr">
      <vt:lpstr>Arial</vt:lpstr>
      <vt:lpstr>Calibri</vt:lpstr>
      <vt:lpstr>Ofis Teması</vt:lpstr>
      <vt:lpstr>PowerPoint Sunusu</vt:lpstr>
      <vt:lpstr>Bölüm / Hafta Hedefleri</vt:lpstr>
      <vt:lpstr>IP Adreslerini Gözden Geçirme</vt:lpstr>
      <vt:lpstr>IP Adreslerini Gözden Geçirme</vt:lpstr>
      <vt:lpstr>IP Adreslerini Gözden Geçirme</vt:lpstr>
      <vt:lpstr>IP Adreslerini Gözden Geçirme</vt:lpstr>
      <vt:lpstr>Bir Ağı Alt Ağlara Bölme</vt:lpstr>
      <vt:lpstr>Bir Ağı Alt Ağlara Bölme</vt:lpstr>
      <vt:lpstr>Bir Ağı Alt Ağlara Bölme</vt:lpstr>
      <vt:lpstr>Bir Ağı Alt Ağlara Bölme</vt:lpstr>
      <vt:lpstr>Özel Alt Ağ Maskeleri</vt:lpstr>
      <vt:lpstr>Özel Alt Ağ Maskeleri</vt:lpstr>
      <vt:lpstr>Özel Alt Ağ Maskeleri</vt:lpstr>
      <vt:lpstr>Özel Alt Ağ Maskeleri</vt:lpstr>
      <vt:lpstr>Özel Alt Ağ Maskeleri</vt:lpstr>
      <vt:lpstr>Özel Alt Ağ Maskeleri</vt:lpstr>
      <vt:lpstr>Alt Ağlar Arasında İletişim Kurma</vt:lpstr>
      <vt:lpstr>Temel Ağ Adres Çevirisi (NAT)</vt:lpstr>
      <vt:lpstr>Temel Ağ Adres Çevirisi (NAT)</vt:lpstr>
      <vt:lpstr>IP NAT Terimleri</vt:lpstr>
      <vt:lpstr>Dinamik ve Statik NAT</vt:lpstr>
      <vt:lpstr>IP NAT Sorunları</vt:lpstr>
      <vt:lpstr>IP NAT Sorunları</vt:lpstr>
      <vt:lpstr>IP NAT Sorunları</vt:lpstr>
      <vt:lpstr>Bölüm / Hafta Özeti</vt:lpstr>
      <vt:lpstr>Kaynaklar </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Cem Kumral</dc:creator>
  <cp:lastModifiedBy>Cem Kumral</cp:lastModifiedBy>
  <cp:revision>55</cp:revision>
  <dcterms:created xsi:type="dcterms:W3CDTF">2020-03-31T18:54:31Z</dcterms:created>
  <dcterms:modified xsi:type="dcterms:W3CDTF">2020-03-31T19:45:46Z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0x01010013E297F443179941B3CCCA537649BB75</vt:lpwstr>
  </property>
</Properties>
</file>