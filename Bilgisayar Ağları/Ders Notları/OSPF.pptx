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entation.xml" ContentType="application/vnd.openxmlformats-officedocument.presentationml.presentation.main+xml"/>
  <Override PartName="/ppt/slides/slide18.xml" ContentType="application/vnd.openxmlformats-officedocument.presentationml.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0" r:id="rId14"/>
    <p:sldId id="272" r:id="rId15"/>
    <p:sldId id="273" r:id="rId16"/>
    <p:sldId id="274" r:id="rId17"/>
    <p:sldId id="275" r:id="rId18"/>
    <p:sldId id="276"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dc624eab7d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dc624eab7d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dc624eab7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dc624eab7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dc624eab7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dc624eab7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dc624eab7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dc624eab7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dc624eab7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dc624eab7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dc624eab7d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dc624eab7d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dc624eab7d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dc624eab7d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dc624eab7d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dc624eab7d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dc624eab7d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dc624eab7d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dc624eab7d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dc624eab7d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dc624eab7d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dc624eab7d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dc624eab7d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dc624eab7d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dc624eab7d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dc624eab7d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dc624eab7d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dc624eab7d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dc624eab7d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dc624eab7d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dc624eab7d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dc624eab7d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dc624eab7d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dc624eab7d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t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tr"/>
              <a:t>Bağ Durumu Protokolü</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tr" dirty="0"/>
              <a:t>Öncelikle Açık Olan En Kısa Yol - Open Shortest Path First  (OSPF)</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OSPF- Öncelikle Açık Olan En Kısa Yol </a:t>
            </a:r>
            <a:endParaRPr dirty="0"/>
          </a:p>
        </p:txBody>
      </p:sp>
      <p:sp>
        <p:nvSpPr>
          <p:cNvPr id="61" name="Google Shape;61;p14"/>
          <p:cNvSpPr txBox="1">
            <a:spLocks noGrp="1"/>
          </p:cNvSpPr>
          <p:nvPr>
            <p:ph type="body" idx="1"/>
          </p:nvPr>
        </p:nvSpPr>
        <p:spPr>
          <a:xfrm>
            <a:off x="311700" y="1085849"/>
            <a:ext cx="8520600" cy="3750469"/>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Clr>
                <a:schemeClr val="dk1"/>
              </a:buClr>
              <a:buSzPct val="61111"/>
              <a:buFont typeface="Arial"/>
              <a:buNone/>
            </a:pPr>
            <a:r>
              <a:rPr lang="tr" dirty="0"/>
              <a:t>Kurumsal ağlar ve ISP'ler, hiyerarşik tasarımları ve büyük ağlar için ölçeklenebilir olmaları nedeniyle bağ durumu protokollerini kullanırlar. Uzaklık vektörü yönlendirme protokolleri karmaşık bir kurumsal ağ için çoğunlukla uygun değildir.</a:t>
            </a:r>
            <a:endParaRPr dirty="0"/>
          </a:p>
          <a:p>
            <a:pPr marL="0" lvl="0" indent="0" algn="l" rtl="0">
              <a:spcBef>
                <a:spcPts val="1200"/>
              </a:spcBef>
              <a:spcAft>
                <a:spcPts val="0"/>
              </a:spcAft>
              <a:buClr>
                <a:schemeClr val="dk1"/>
              </a:buClr>
              <a:buSzPct val="61111"/>
              <a:buFont typeface="Arial"/>
              <a:buNone/>
            </a:pPr>
            <a:r>
              <a:rPr lang="tr" dirty="0"/>
              <a:t>Öncelikle Açık Olan En Kısa Yol (OSPF), bağ durumu yönlendirme protokollerine bir örnektir. Bir açık standart yönlendirme protokolü olan OSPF, IP trafiğini desteklemek amacıyla Internet Engineering Task Force (IETF) tarafından geliştirilmiştir. </a:t>
            </a:r>
            <a:endParaRPr dirty="0"/>
          </a:p>
          <a:p>
            <a:pPr marL="0" lvl="0" indent="0" algn="l" rtl="0">
              <a:spcBef>
                <a:spcPts val="1200"/>
              </a:spcBef>
              <a:spcAft>
                <a:spcPts val="0"/>
              </a:spcAft>
              <a:buClr>
                <a:schemeClr val="dk1"/>
              </a:buClr>
              <a:buSzPct val="61111"/>
              <a:buFont typeface="Arial"/>
              <a:buNone/>
            </a:pPr>
            <a:r>
              <a:rPr lang="tr" dirty="0"/>
              <a:t>OSPF, sınıfsız bir iç ağ geçidi protokolüdür (IGP). Ağı, alanlar adı verilen farklı bölümlere ayırır. Bu bölme işlemi, ölçeklendirmeyi kolaylaştırır. Birden fazla alanla çalışmak, ağ yöneticisinin yönlendirme özetlerini kısmen etkinleştirmesini ve yönlendirme sorunlarını tek bir alanda tutmasına olanak verir. </a:t>
            </a:r>
            <a:endParaRPr dirty="0"/>
          </a:p>
          <a:p>
            <a:pPr marL="0" lvl="0" indent="0" algn="l" rtl="0">
              <a:spcBef>
                <a:spcPts val="1200"/>
              </a:spcBef>
              <a:spcAft>
                <a:spcPts val="0"/>
              </a:spcAft>
              <a:buClr>
                <a:schemeClr val="dk1"/>
              </a:buClr>
              <a:buSzPct val="61111"/>
              <a:buFont typeface="Arial"/>
              <a:buNone/>
            </a:pPr>
            <a:r>
              <a:rPr lang="tr" dirty="0"/>
              <a:t>OSPF gibi bağ durumu yönlendirme protokolleri, yönlendirme tablosuna sık sık periyodik güncellemeler göndermezler. Bağ durumu protokolleri, ağ yakınsadıktan sonra, ancak topolojide bir değişiklik meydana geldiğinde, örneğin bir bağ kapatıldığında güncelleme gönderir. OSPF, buna ek olarak her 30 dakikada bir tam güncelleme yapar.</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Clr>
                <a:schemeClr val="dk1"/>
              </a:buClr>
              <a:buSzPct val="61111"/>
              <a:buFont typeface="Arial"/>
              <a:buNone/>
            </a:pPr>
            <a:r>
              <a:rPr lang="tr" dirty="0"/>
              <a:t>OSPF gibi bağ durumu yönlendirme protokolleri, hızlı yakınsamanın önemli olduğu hiyerarşik ağlar için uygundur. </a:t>
            </a:r>
            <a:endParaRPr dirty="0"/>
          </a:p>
          <a:p>
            <a:pPr marL="0" lvl="0" indent="0" algn="l" rtl="0">
              <a:spcBef>
                <a:spcPts val="1200"/>
              </a:spcBef>
              <a:spcAft>
                <a:spcPts val="0"/>
              </a:spcAft>
              <a:buClr>
                <a:schemeClr val="dk1"/>
              </a:buClr>
              <a:buSzPct val="61111"/>
              <a:buFont typeface="Arial"/>
              <a:buNone/>
            </a:pPr>
            <a:r>
              <a:rPr lang="tr" dirty="0"/>
              <a:t>Uzaklık vektörü protokolleriyle karşılaştırıldığında, bağ durumu protokolleri: </a:t>
            </a:r>
            <a:endParaRPr dirty="0"/>
          </a:p>
          <a:p>
            <a:pPr marL="285750" indent="-285750">
              <a:spcBef>
                <a:spcPts val="1200"/>
              </a:spcBef>
              <a:buClr>
                <a:schemeClr val="dk1"/>
              </a:buClr>
              <a:buSzPct val="61111"/>
            </a:pPr>
            <a:r>
              <a:rPr lang="tr" dirty="0"/>
              <a:t>Daha karmaşık planlama ve ayarlama gerektirir</a:t>
            </a:r>
            <a:endParaRPr dirty="0"/>
          </a:p>
          <a:p>
            <a:pPr marL="285750" indent="-285750">
              <a:spcBef>
                <a:spcPts val="1200"/>
              </a:spcBef>
              <a:buClr>
                <a:schemeClr val="dk1"/>
              </a:buClr>
              <a:buSzPct val="61111"/>
            </a:pPr>
            <a:r>
              <a:rPr lang="tr" dirty="0"/>
              <a:t>Daha fazla yönlendirici kaynağına ihtiyaç duyar</a:t>
            </a:r>
            <a:endParaRPr dirty="0"/>
          </a:p>
          <a:p>
            <a:pPr marL="285750" indent="-285750">
              <a:spcBef>
                <a:spcPts val="1200"/>
              </a:spcBef>
              <a:buClr>
                <a:schemeClr val="dk1"/>
              </a:buClr>
              <a:buSzPct val="61111"/>
            </a:pPr>
            <a:r>
              <a:rPr lang="tr" dirty="0"/>
              <a:t>Birden fazla tablo saklamak için daha fazla belleğe ihtiyaç duyar </a:t>
            </a:r>
            <a:endParaRPr dirty="0"/>
          </a:p>
          <a:p>
            <a:pPr marL="285750" indent="-285750">
              <a:spcBef>
                <a:spcPts val="1200"/>
              </a:spcBef>
              <a:buClr>
                <a:schemeClr val="dk1"/>
              </a:buClr>
              <a:buSzPct val="61111"/>
            </a:pPr>
            <a:r>
              <a:rPr lang="tr" dirty="0"/>
              <a:t>Karmaşık yönlendirme hesaplamaları için daha fazla CPU ve işlem gücü gerektirir.</a:t>
            </a:r>
            <a:endParaRPr dirty="0"/>
          </a:p>
          <a:p>
            <a:pPr marL="0" lvl="0" indent="0" algn="l" rtl="0">
              <a:spcBef>
                <a:spcPts val="1200"/>
              </a:spcBef>
              <a:spcAft>
                <a:spcPts val="0"/>
              </a:spcAft>
              <a:buClr>
                <a:schemeClr val="dk1"/>
              </a:buClr>
              <a:buSzPct val="61111"/>
              <a:buFont typeface="Arial"/>
              <a:buNone/>
            </a:pPr>
            <a:r>
              <a:rPr lang="tr" dirty="0"/>
              <a:t>Ancak günümüzde kullanılan yüksek performanslı yönlendiriciler sayesinde bu gereklilikler çoğunlukla sorun teşkil etmez.</a:t>
            </a:r>
            <a:endParaRPr dirty="0"/>
          </a:p>
          <a:p>
            <a:pPr marL="0" lvl="0" indent="0" algn="l" rtl="0">
              <a:spcBef>
                <a:spcPts val="1200"/>
              </a:spcBef>
              <a:spcAft>
                <a:spcPts val="1200"/>
              </a:spcAft>
              <a:buNone/>
            </a:pPr>
            <a:endParaRPr dirty="0"/>
          </a:p>
        </p:txBody>
      </p:sp>
      <p:sp>
        <p:nvSpPr>
          <p:cNvPr id="4" name="Google Shape;60;p14">
            <a:extLst>
              <a:ext uri="{FF2B5EF4-FFF2-40B4-BE49-F238E27FC236}">
                <a16:creationId xmlns:a16="http://schemas.microsoft.com/office/drawing/2014/main" id="{17A162B7-8F66-4BD2-97C8-20BA6B490474}"/>
              </a:ext>
            </a:extLst>
          </p:cNvPr>
          <p:cNvSpPr txBox="1">
            <a:spLocks noGrp="1"/>
          </p:cNvSpPr>
          <p:nvPr>
            <p:ph type="title"/>
          </p:nvPr>
        </p:nvSpPr>
        <p:spPr>
          <a:xfrm>
            <a:off x="311150" y="444500"/>
            <a:ext cx="8521700" cy="57308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OSPF- Öncelikle Açık Olan En Kısa Yol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Clr>
                <a:schemeClr val="dk1"/>
              </a:buClr>
              <a:buSzPct val="61111"/>
              <a:buFont typeface="Arial"/>
              <a:buNone/>
            </a:pPr>
            <a:r>
              <a:rPr lang="tr" dirty="0"/>
              <a:t>RIP çalıştıran yönlendiriciler, en yakın komşu yönlendiricilerden güncellemeleri alır, ancak bu güncellemeler ağın bütünü hakkında bilgi içermez. OSPF çalıştıran yönlendiriciler, kendi konumlarına göre ağın tamamının haritasını çıkarır. Bu harita, hatalı bir ağ bağı olduğunda yönlendiricinin kısa sure içinde alternatif ve döngüsel olmayan rotaları bulabilmesini sağlar.</a:t>
            </a:r>
            <a:endParaRPr dirty="0"/>
          </a:p>
          <a:p>
            <a:pPr marL="0" lvl="0" indent="0" algn="l" rtl="0">
              <a:spcBef>
                <a:spcPts val="1200"/>
              </a:spcBef>
              <a:spcAft>
                <a:spcPts val="0"/>
              </a:spcAft>
              <a:buClr>
                <a:schemeClr val="dk1"/>
              </a:buClr>
              <a:buSzPct val="61111"/>
              <a:buFont typeface="Arial"/>
              <a:buNone/>
            </a:pPr>
            <a:r>
              <a:rPr lang="tr" dirty="0"/>
              <a:t>OSPF temel ağ sınırlarını otomatik olarak özetlemez. Buna ek olarak, Cisco’nun OSPF uygulaması bağın maliyet değerini bant genişliğine bakarak belirler. Bu maliyet değeri, OSPF tarafından en iyi rotayı seçmek için kullanılır. Yüksek bant genişliğine sahip bir bağ, daha düşük maliyete sahip olur. Hedef noktaya en düşük maliyetli rota, öncelikli rota olarak kabul edilir. </a:t>
            </a:r>
            <a:endParaRPr dirty="0"/>
          </a:p>
          <a:p>
            <a:pPr marL="0" lvl="0" indent="0" algn="l" rtl="0">
              <a:spcBef>
                <a:spcPts val="1200"/>
              </a:spcBef>
              <a:spcAft>
                <a:spcPts val="0"/>
              </a:spcAft>
              <a:buClr>
                <a:schemeClr val="dk1"/>
              </a:buClr>
              <a:buSzPct val="61111"/>
              <a:buFont typeface="Arial"/>
              <a:buNone/>
            </a:pPr>
            <a:r>
              <a:rPr lang="tr" dirty="0"/>
              <a:t>Yönlendirici, en kısa rotayı seçerken, bant genişliğine bağlı değer, atlama sayısına bağlı değerlere göre daha önceliklidir. Değerin güvenilirliği ya da hassaslığı nedeniyle OSPF için yönetim uzaklığı, RIP’den farklı olarak 110’dur. </a:t>
            </a:r>
            <a:endParaRPr dirty="0"/>
          </a:p>
          <a:p>
            <a:pPr marL="0" lvl="0" indent="0" algn="l" rtl="0">
              <a:spcBef>
                <a:spcPts val="1200"/>
              </a:spcBef>
              <a:spcAft>
                <a:spcPts val="0"/>
              </a:spcAft>
              <a:buClr>
                <a:schemeClr val="dk1"/>
              </a:buClr>
              <a:buSzPct val="61111"/>
              <a:buFont typeface="Arial"/>
              <a:buNone/>
            </a:pPr>
            <a:endParaRPr dirty="0"/>
          </a:p>
          <a:p>
            <a:pPr marL="0" lvl="0" indent="0" algn="l" rtl="0">
              <a:spcBef>
                <a:spcPts val="1200"/>
              </a:spcBef>
              <a:spcAft>
                <a:spcPts val="1200"/>
              </a:spcAft>
              <a:buNone/>
            </a:pPr>
            <a:endParaRPr dirty="0"/>
          </a:p>
        </p:txBody>
      </p:sp>
      <p:sp>
        <p:nvSpPr>
          <p:cNvPr id="4" name="Google Shape;60;p14">
            <a:extLst>
              <a:ext uri="{FF2B5EF4-FFF2-40B4-BE49-F238E27FC236}">
                <a16:creationId xmlns:a16="http://schemas.microsoft.com/office/drawing/2014/main" id="{3D6234CD-1229-4EF3-B67B-A866C3DD04B8}"/>
              </a:ext>
            </a:extLst>
          </p:cNvPr>
          <p:cNvSpPr txBox="1">
            <a:spLocks noGrp="1"/>
          </p:cNvSpPr>
          <p:nvPr>
            <p:ph type="title"/>
          </p:nvPr>
        </p:nvSpPr>
        <p:spPr>
          <a:xfrm>
            <a:off x="311150" y="444500"/>
            <a:ext cx="8521700" cy="57308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OSPF- Öncelikle Açık Olan En Kısa Yol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Clr>
                <a:schemeClr val="dk1"/>
              </a:buClr>
              <a:buSzPct val="61111"/>
              <a:buFont typeface="Arial"/>
              <a:buNone/>
            </a:pPr>
            <a:r>
              <a:rPr lang="tr" dirty="0"/>
              <a:t>OSPF, bağın maliyet değerini, hızına ya da bant genişliğine göre belirler. Belirli bir hedef ağın değeri, ona ulaşan yolda bulunan bütün bağların maliyetlerinin toplamıdır. Eğer ağa ulaşan birden fazla yol varsa, en düşük toplam maliyete sahip olan yol, tercih edilen yoldur ve yönlendirme tablosuna eklenir.</a:t>
            </a:r>
            <a:endParaRPr dirty="0"/>
          </a:p>
          <a:p>
            <a:pPr marL="0" lvl="0" indent="0" algn="l" rtl="0">
              <a:spcBef>
                <a:spcPts val="1200"/>
              </a:spcBef>
              <a:spcAft>
                <a:spcPts val="0"/>
              </a:spcAft>
              <a:buClr>
                <a:schemeClr val="dk1"/>
              </a:buClr>
              <a:buSzPct val="61111"/>
              <a:buFont typeface="Arial"/>
              <a:buNone/>
            </a:pPr>
            <a:r>
              <a:rPr lang="tr" dirty="0"/>
              <a:t>OSPF bağlarının maliyetini hesaplamak için kullanılan denklem aşağıdadır:</a:t>
            </a:r>
            <a:endParaRPr dirty="0"/>
          </a:p>
          <a:p>
            <a:pPr marL="285750" indent="-285750">
              <a:spcBef>
                <a:spcPts val="1200"/>
              </a:spcBef>
              <a:buClr>
                <a:schemeClr val="dk1"/>
              </a:buClr>
              <a:buSzPct val="61111"/>
            </a:pPr>
            <a:r>
              <a:rPr lang="tr" b="1" dirty="0"/>
              <a:t>Maliyet = 100,000,000 / bağın bant genişliğinin bps değeri</a:t>
            </a:r>
            <a:endParaRPr b="1" dirty="0"/>
          </a:p>
          <a:p>
            <a:pPr marL="0" lvl="0" indent="0" algn="l" rtl="0">
              <a:spcBef>
                <a:spcPts val="1200"/>
              </a:spcBef>
              <a:spcAft>
                <a:spcPts val="0"/>
              </a:spcAft>
              <a:buClr>
                <a:schemeClr val="dk1"/>
              </a:buClr>
              <a:buSzPct val="61111"/>
              <a:buFont typeface="Arial"/>
              <a:buNone/>
            </a:pPr>
            <a:endParaRPr dirty="0"/>
          </a:p>
          <a:p>
            <a:pPr marL="0" lvl="0" indent="0" algn="l" rtl="0">
              <a:spcBef>
                <a:spcPts val="1200"/>
              </a:spcBef>
              <a:spcAft>
                <a:spcPts val="0"/>
              </a:spcAft>
              <a:buClr>
                <a:schemeClr val="dk1"/>
              </a:buClr>
              <a:buSzPct val="61111"/>
              <a:buFont typeface="Arial"/>
              <a:buNone/>
            </a:pPr>
            <a:r>
              <a:rPr lang="tr" dirty="0"/>
              <a:t>Denklemin bant genişliği değeri, arayüzde bulunan ayarlanmış bant genişliğidir. Arayüzün bant genişliğini, show interfaces komutunu kullanarak belirlersiniz.</a:t>
            </a:r>
            <a:endParaRPr dirty="0"/>
          </a:p>
          <a:p>
            <a:pPr marL="0" lvl="0" indent="0" algn="l" rtl="0">
              <a:spcBef>
                <a:spcPts val="1200"/>
              </a:spcBef>
              <a:spcAft>
                <a:spcPts val="0"/>
              </a:spcAft>
              <a:buClr>
                <a:schemeClr val="dk1"/>
              </a:buClr>
              <a:buSzPct val="61111"/>
              <a:buFont typeface="Arial"/>
              <a:buNone/>
            </a:pPr>
            <a:r>
              <a:rPr lang="tr" dirty="0"/>
              <a:t>Bu denklemin, Hızlı Ethernet ya da Gigabit Ethernet gibi 100 Mbps ve daha hızlı bağlantılar için kullanılması sorun teşkil eder. Bu iki bağlantı arasındaki hız farkına rağmen, ikisi de 1 sonucunu verir; dolayısıyla farklı olmalarına rağmen eşit gibi görülürler. Bunu telafi etmek için, arayüzün maliyet değerini ip ospf cost komutunu kullanarak kendiniz ayarlayın.</a:t>
            </a:r>
            <a:endParaRPr dirty="0"/>
          </a:p>
          <a:p>
            <a:pPr marL="0" lvl="0" indent="0" algn="l" rtl="0">
              <a:spcBef>
                <a:spcPts val="1200"/>
              </a:spcBef>
              <a:spcAft>
                <a:spcPts val="1200"/>
              </a:spcAft>
              <a:buNone/>
            </a:pPr>
            <a:endParaRPr dirty="0"/>
          </a:p>
        </p:txBody>
      </p:sp>
      <p:sp>
        <p:nvSpPr>
          <p:cNvPr id="4" name="Google Shape;60;p14">
            <a:extLst>
              <a:ext uri="{FF2B5EF4-FFF2-40B4-BE49-F238E27FC236}">
                <a16:creationId xmlns:a16="http://schemas.microsoft.com/office/drawing/2014/main" id="{F45D5692-5178-4F3D-B7EA-28C2325705AB}"/>
              </a:ext>
            </a:extLst>
          </p:cNvPr>
          <p:cNvSpPr txBox="1">
            <a:spLocks noGrp="1"/>
          </p:cNvSpPr>
          <p:nvPr>
            <p:ph type="title"/>
          </p:nvPr>
        </p:nvSpPr>
        <p:spPr>
          <a:xfrm>
            <a:off x="311150" y="444500"/>
            <a:ext cx="8521700" cy="57308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OSPF </a:t>
            </a:r>
            <a:r>
              <a:rPr lang="tr-TR" dirty="0"/>
              <a:t>Metrikleri</a:t>
            </a:r>
            <a:r>
              <a:rPr lang="tr" dirty="0"/>
              <a:t> ve Yakınsama</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OSPF </a:t>
            </a:r>
            <a:r>
              <a:rPr lang="tr-TR" dirty="0"/>
              <a:t>Metrikleri</a:t>
            </a:r>
            <a:r>
              <a:rPr lang="tr" dirty="0"/>
              <a:t> ve Yakınsama</a:t>
            </a:r>
            <a:endParaRPr dirty="0"/>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6" name="Google Shape;86;p18"/>
          <p:cNvPicPr preferRelativeResize="0"/>
          <p:nvPr/>
        </p:nvPicPr>
        <p:blipFill rotWithShape="1">
          <a:blip r:embed="rId3">
            <a:alphaModFix/>
          </a:blip>
          <a:srcRect l="35132" t="19786" r="2048" b="55556"/>
          <a:stretch/>
        </p:blipFill>
        <p:spPr>
          <a:xfrm>
            <a:off x="566461" y="1746388"/>
            <a:ext cx="7355957" cy="20469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Clr>
                <a:schemeClr val="dk1"/>
              </a:buClr>
              <a:buSzPct val="61111"/>
              <a:buFont typeface="Arial"/>
              <a:buNone/>
            </a:pPr>
            <a:r>
              <a:rPr lang="tr" dirty="0"/>
              <a:t>Tek bir alanda bulunan OSPF yönlendiricileri, bağların durumlarını komşu yönlendiricilere gönderirir. Bu durum bilgileri, Bağ Durumu Tanıtımı (LSA) olarak adlandırılır.</a:t>
            </a:r>
            <a:endParaRPr dirty="0"/>
          </a:p>
          <a:p>
            <a:pPr marL="0" lvl="0" indent="0" algn="l" rtl="0">
              <a:spcBef>
                <a:spcPts val="1200"/>
              </a:spcBef>
              <a:spcAft>
                <a:spcPts val="0"/>
              </a:spcAft>
              <a:buClr>
                <a:schemeClr val="dk1"/>
              </a:buClr>
              <a:buSzPct val="61111"/>
              <a:buFont typeface="Arial"/>
              <a:buNone/>
            </a:pPr>
            <a:r>
              <a:rPr lang="tr" dirty="0"/>
              <a:t>Bir OSPF yönlendiricisi alanda bulunan bütün bağları bildiren LSA iletilerini aldığında Dijkstra'nın Algoritması olarak da bilinen SPF algoritmasını kullanarak topolojik bir ağaç, diğer bir deyişle ağın haritasını çıkarır. Algoritmayı çalıştıran her yönlendirici, kendi SPF ağacında kendisini kök olarak tanımlar. SPF ağacı, her hedefe ulaşan rotaları ve her rotanın toplam maliyetini hesaplar.</a:t>
            </a:r>
            <a:endParaRPr dirty="0"/>
          </a:p>
          <a:p>
            <a:pPr marL="0" lvl="0" indent="0" algn="l" rtl="0">
              <a:spcBef>
                <a:spcPts val="1200"/>
              </a:spcBef>
              <a:spcAft>
                <a:spcPts val="0"/>
              </a:spcAft>
              <a:buClr>
                <a:schemeClr val="dk1"/>
              </a:buClr>
              <a:buSzPct val="61111"/>
              <a:buFont typeface="Arial"/>
              <a:buNone/>
            </a:pPr>
            <a:r>
              <a:rPr lang="tr" dirty="0"/>
              <a:t>SPF ağacı bilgileri, OSPF bağ durumu ya da topoloji veritabanında saklanır. Yönlendirici, yönlendirme tablosunda bulunan bütün ağlara en kısa rotaları belirler.</a:t>
            </a:r>
            <a:endParaRPr dirty="0"/>
          </a:p>
          <a:p>
            <a:pPr marL="0" lvl="0" indent="0" algn="l" rtl="0">
              <a:spcBef>
                <a:spcPts val="1200"/>
              </a:spcBef>
              <a:spcAft>
                <a:spcPts val="0"/>
              </a:spcAft>
              <a:buClr>
                <a:schemeClr val="dk1"/>
              </a:buClr>
              <a:buSzPct val="61111"/>
              <a:buFont typeface="Arial"/>
              <a:buNone/>
            </a:pPr>
            <a:r>
              <a:rPr lang="tr" dirty="0"/>
              <a:t>Bütün yönlendiriciler aşağıdaki koşulları yerine getirdiğinde, yakınsama meydana gelir:</a:t>
            </a:r>
            <a:endParaRPr dirty="0"/>
          </a:p>
          <a:p>
            <a:pPr marL="285750" indent="-285750">
              <a:spcBef>
                <a:spcPts val="1200"/>
              </a:spcBef>
              <a:buClr>
                <a:schemeClr val="dk1"/>
              </a:buClr>
              <a:buSzPct val="61111"/>
            </a:pPr>
            <a:r>
              <a:rPr lang="tr" dirty="0"/>
              <a:t>Ağ üzerindeki bütün hedeflerle ilgili bilgiler edinildiğinde</a:t>
            </a:r>
            <a:endParaRPr dirty="0"/>
          </a:p>
          <a:p>
            <a:pPr marL="285750" indent="-285750">
              <a:spcBef>
                <a:spcPts val="1200"/>
              </a:spcBef>
              <a:buClr>
                <a:schemeClr val="dk1"/>
              </a:buClr>
              <a:buSzPct val="61111"/>
            </a:pPr>
            <a:r>
              <a:rPr lang="tr" dirty="0"/>
              <a:t>SPF algoritması ile bu bilgi işlendiğinde</a:t>
            </a:r>
            <a:endParaRPr dirty="0"/>
          </a:p>
          <a:p>
            <a:pPr marL="285750" indent="-285750">
              <a:spcBef>
                <a:spcPts val="1200"/>
              </a:spcBef>
              <a:buClr>
                <a:schemeClr val="dk1"/>
              </a:buClr>
              <a:buSzPct val="61111"/>
            </a:pPr>
            <a:r>
              <a:rPr lang="tr" dirty="0"/>
              <a:t>Yönlendirme tabloları güncellendiğinde </a:t>
            </a:r>
            <a:endParaRPr dirty="0"/>
          </a:p>
          <a:p>
            <a:pPr marL="0" lvl="0" indent="0" algn="l" rtl="0">
              <a:spcBef>
                <a:spcPts val="1200"/>
              </a:spcBef>
              <a:spcAft>
                <a:spcPts val="1200"/>
              </a:spcAft>
              <a:buNone/>
            </a:pPr>
            <a:endParaRPr dirty="0"/>
          </a:p>
        </p:txBody>
      </p:sp>
      <p:sp>
        <p:nvSpPr>
          <p:cNvPr id="4" name="Google Shape;84;p18">
            <a:extLst>
              <a:ext uri="{FF2B5EF4-FFF2-40B4-BE49-F238E27FC236}">
                <a16:creationId xmlns:a16="http://schemas.microsoft.com/office/drawing/2014/main" id="{2748A394-B94D-41C8-8999-6FFF632096AF}"/>
              </a:ext>
            </a:extLst>
          </p:cNvPr>
          <p:cNvSpPr txBox="1">
            <a:spLocks noGrp="1"/>
          </p:cNvSpPr>
          <p:nvPr>
            <p:ph type="title"/>
          </p:nvPr>
        </p:nvSpPr>
        <p:spPr>
          <a:xfrm>
            <a:off x="311150" y="444500"/>
            <a:ext cx="8521700" cy="57308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OSPF </a:t>
            </a:r>
            <a:r>
              <a:rPr lang="tr-TR" dirty="0"/>
              <a:t>Metrikleri</a:t>
            </a:r>
            <a:r>
              <a:rPr lang="tr" dirty="0"/>
              <a:t> ve Yakınsama</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9" name="Google Shape;99;p20"/>
          <p:cNvPicPr preferRelativeResize="0"/>
          <p:nvPr/>
        </p:nvPicPr>
        <p:blipFill rotWithShape="1">
          <a:blip r:embed="rId3">
            <a:alphaModFix/>
          </a:blip>
          <a:srcRect l="42418" t="14445" r="8645" b="25694"/>
          <a:stretch/>
        </p:blipFill>
        <p:spPr>
          <a:xfrm>
            <a:off x="17504" y="66406"/>
            <a:ext cx="3040409" cy="2591069"/>
          </a:xfrm>
          <a:prstGeom prst="rect">
            <a:avLst/>
          </a:prstGeom>
          <a:noFill/>
          <a:ln>
            <a:noFill/>
          </a:ln>
        </p:spPr>
      </p:pic>
      <p:pic>
        <p:nvPicPr>
          <p:cNvPr id="5" name="Google Shape;106;p21">
            <a:extLst>
              <a:ext uri="{FF2B5EF4-FFF2-40B4-BE49-F238E27FC236}">
                <a16:creationId xmlns:a16="http://schemas.microsoft.com/office/drawing/2014/main" id="{1AED9A6C-FFBA-4F94-A029-F067564AEA03}"/>
              </a:ext>
            </a:extLst>
          </p:cNvPr>
          <p:cNvPicPr preferRelativeResize="0"/>
          <p:nvPr/>
        </p:nvPicPr>
        <p:blipFill rotWithShape="1">
          <a:blip r:embed="rId4">
            <a:alphaModFix/>
          </a:blip>
          <a:srcRect l="41926" t="15972" r="8842" b="26667"/>
          <a:stretch/>
        </p:blipFill>
        <p:spPr>
          <a:xfrm>
            <a:off x="5890820" y="166419"/>
            <a:ext cx="3196907" cy="2583926"/>
          </a:xfrm>
          <a:prstGeom prst="rect">
            <a:avLst/>
          </a:prstGeom>
          <a:noFill/>
          <a:ln>
            <a:noFill/>
          </a:ln>
        </p:spPr>
      </p:pic>
      <p:pic>
        <p:nvPicPr>
          <p:cNvPr id="6" name="Google Shape;113;p22">
            <a:extLst>
              <a:ext uri="{FF2B5EF4-FFF2-40B4-BE49-F238E27FC236}">
                <a16:creationId xmlns:a16="http://schemas.microsoft.com/office/drawing/2014/main" id="{A8EF8F46-A454-4150-8716-172C11FBA95A}"/>
              </a:ext>
            </a:extLst>
          </p:cNvPr>
          <p:cNvPicPr preferRelativeResize="0"/>
          <p:nvPr/>
        </p:nvPicPr>
        <p:blipFill rotWithShape="1">
          <a:blip r:embed="rId5">
            <a:alphaModFix/>
          </a:blip>
          <a:srcRect l="42320" t="15833" r="9038" b="26666"/>
          <a:stretch/>
        </p:blipFill>
        <p:spPr>
          <a:xfrm>
            <a:off x="2903430" y="2639898"/>
            <a:ext cx="2987390" cy="25036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OSPF Komşuları ve Bitişikleri</a:t>
            </a:r>
            <a:endParaRPr dirty="0"/>
          </a:p>
        </p:txBody>
      </p:sp>
      <p:sp>
        <p:nvSpPr>
          <p:cNvPr id="119" name="Google Shape;119;p23"/>
          <p:cNvSpPr txBox="1">
            <a:spLocks noGrp="1"/>
          </p:cNvSpPr>
          <p:nvPr>
            <p:ph type="body" idx="1"/>
          </p:nvPr>
        </p:nvSpPr>
        <p:spPr>
          <a:xfrm>
            <a:off x="311700" y="1152475"/>
            <a:ext cx="8520600" cy="3726706"/>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ct val="61111"/>
              <a:buFont typeface="Arial"/>
              <a:buNone/>
            </a:pPr>
            <a:r>
              <a:rPr lang="tr" sz="800" dirty="0"/>
              <a:t>OSPF’de bağ durumu güncellemeleri ağ değişiklikleri meydana geldiğinde gönderilir. Peki yönlendirici, komşu yönlendiricide hata oluştuğunda bunu nasıl algılar? OSPF yönlendiricilerinin, diğer OSPF yönlendiricileriyle arasında kurduğu ve sürdürdüğü komşuluk ilişkileri vardır. Bitişiklik ise, yönlendirme bilgilerini paylaşmaya ayarlanmış yönlendiriciler arasında kurulan gelişmiş bir komşuluk çeşididir. Yönlendiriciler komşularıyla bir bitişiklik kurduğunda, bağ durumu güncellemelerinin değiş tokuşu başlar. Bağ durumu veritabanları senkronize olan yönlendiriciler, tam bitişik duruma erişirler.</a:t>
            </a:r>
          </a:p>
          <a:p>
            <a:pPr marL="0" lvl="0" indent="0" algn="l" rtl="0">
              <a:spcBef>
                <a:spcPts val="0"/>
              </a:spcBef>
              <a:spcAft>
                <a:spcPts val="0"/>
              </a:spcAft>
              <a:buClr>
                <a:schemeClr val="dk1"/>
              </a:buClr>
              <a:buSzPct val="61111"/>
              <a:buFont typeface="Arial"/>
              <a:buNone/>
            </a:pPr>
            <a:endParaRPr lang="tr" sz="800" dirty="0"/>
          </a:p>
          <a:p>
            <a:pPr marL="0" lvl="0" indent="0" algn="l" rtl="0">
              <a:spcBef>
                <a:spcPts val="0"/>
              </a:spcBef>
              <a:spcAft>
                <a:spcPts val="0"/>
              </a:spcAft>
              <a:buClr>
                <a:schemeClr val="dk1"/>
              </a:buClr>
              <a:buSzPct val="61111"/>
              <a:buFont typeface="Arial"/>
              <a:buNone/>
            </a:pPr>
            <a:r>
              <a:rPr lang="tr" sz="800" dirty="0"/>
              <a:t>Yönlendirici, komşusuyla tam bitişiklik kurmadan önce çeşitli durum değişiklikleri meydana gelir.</a:t>
            </a:r>
            <a:endParaRPr sz="800" dirty="0"/>
          </a:p>
          <a:p>
            <a:pPr marL="285750" indent="-285750">
              <a:lnSpc>
                <a:spcPct val="120000"/>
              </a:lnSpc>
              <a:spcBef>
                <a:spcPts val="1200"/>
              </a:spcBef>
              <a:buClr>
                <a:schemeClr val="dk1"/>
              </a:buClr>
              <a:buSzPct val="61111"/>
            </a:pPr>
            <a:r>
              <a:rPr lang="tr" sz="800" dirty="0"/>
              <a:t>Init</a:t>
            </a:r>
          </a:p>
          <a:p>
            <a:pPr marL="285750" indent="-285750">
              <a:lnSpc>
                <a:spcPct val="120000"/>
              </a:lnSpc>
              <a:spcBef>
                <a:spcPts val="1200"/>
              </a:spcBef>
              <a:buClr>
                <a:schemeClr val="dk1"/>
              </a:buClr>
              <a:buSzPct val="61111"/>
            </a:pPr>
            <a:r>
              <a:rPr lang="tr" sz="800" dirty="0"/>
              <a:t>2-Way</a:t>
            </a:r>
            <a:endParaRPr sz="800" dirty="0"/>
          </a:p>
          <a:p>
            <a:pPr marL="285750" indent="-285750">
              <a:lnSpc>
                <a:spcPct val="120000"/>
              </a:lnSpc>
              <a:spcBef>
                <a:spcPts val="1200"/>
              </a:spcBef>
              <a:buClr>
                <a:schemeClr val="dk1"/>
              </a:buClr>
              <a:buSzPct val="61111"/>
            </a:pPr>
            <a:r>
              <a:rPr lang="tr" sz="800" dirty="0"/>
              <a:t>Exstart</a:t>
            </a:r>
          </a:p>
          <a:p>
            <a:pPr marL="285750" indent="-285750">
              <a:lnSpc>
                <a:spcPct val="120000"/>
              </a:lnSpc>
              <a:spcBef>
                <a:spcPts val="1200"/>
              </a:spcBef>
              <a:buClr>
                <a:schemeClr val="dk1"/>
              </a:buClr>
              <a:buSzPct val="61111"/>
            </a:pPr>
            <a:r>
              <a:rPr lang="tr" sz="800" dirty="0"/>
              <a:t>Exchange</a:t>
            </a:r>
            <a:endParaRPr sz="800" dirty="0"/>
          </a:p>
          <a:p>
            <a:pPr marL="285750" indent="-285750">
              <a:lnSpc>
                <a:spcPct val="120000"/>
              </a:lnSpc>
              <a:spcBef>
                <a:spcPts val="1200"/>
              </a:spcBef>
              <a:buClr>
                <a:schemeClr val="dk1"/>
              </a:buClr>
              <a:buSzPct val="61111"/>
            </a:pPr>
            <a:r>
              <a:rPr lang="tr" sz="800" dirty="0"/>
              <a:t>Loading</a:t>
            </a:r>
            <a:endParaRPr sz="800" dirty="0"/>
          </a:p>
          <a:p>
            <a:pPr marL="285750" indent="-285750">
              <a:lnSpc>
                <a:spcPct val="120000"/>
              </a:lnSpc>
              <a:spcBef>
                <a:spcPts val="1200"/>
              </a:spcBef>
              <a:buClr>
                <a:schemeClr val="dk1"/>
              </a:buClr>
              <a:buSzPct val="61111"/>
            </a:pPr>
            <a:r>
              <a:rPr lang="tr" sz="800" dirty="0"/>
              <a:t>Full</a:t>
            </a:r>
            <a:endParaRPr sz="800" dirty="0"/>
          </a:p>
          <a:p>
            <a:pPr marL="0" lvl="0" indent="0" algn="l" rtl="0">
              <a:spcBef>
                <a:spcPts val="1200"/>
              </a:spcBef>
              <a:spcAft>
                <a:spcPts val="0"/>
              </a:spcAft>
              <a:buClr>
                <a:schemeClr val="dk1"/>
              </a:buClr>
              <a:buSzPct val="61111"/>
              <a:buFont typeface="Arial"/>
              <a:buNone/>
            </a:pPr>
            <a:r>
              <a:rPr lang="tr" sz="800" dirty="0"/>
              <a:t>Bitişiklik kurmak ve sürdürmek için OSPF merhaba protokolü kullanılır. Merhaba protokolü, 224.0.0.5 çoklu gönderme adresinden diğer OSPF yönlendiricilerine çok küçük merhaba paketleri gönderir. Bu paketler yayınlı bağlar ve Ethernet üzerinden her 10 saniyede bir, yayınlı olmayan bağlar üzerinden ise her 30 saniyede bir gönderilir. Merhaba paketleri, yönlendirici ayarlarını da içerir. Bu ayarlara, merhaba aralığı, ölü aralık, ve ağ türüne ek olarak eğer ayarlandıysa authentication türü ve authentication verileri de dahildir. Herhangi iki yönlendirici arasında bitişiklik kurulması için, bütün ayarlar eşleşmelidir. Yönlendirici, keşfettiği komşu bitişikliklerini bir OSPF bitişiklileri veritabanına kaydeder.</a:t>
            </a:r>
            <a:endParaRPr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6" name="Google Shape;126;p24"/>
          <p:cNvPicPr preferRelativeResize="0"/>
          <p:nvPr/>
        </p:nvPicPr>
        <p:blipFill rotWithShape="1">
          <a:blip r:embed="rId3">
            <a:alphaModFix/>
          </a:blip>
          <a:srcRect l="35132" t="13611" r="1949" b="19967"/>
          <a:stretch/>
        </p:blipFill>
        <p:spPr>
          <a:xfrm>
            <a:off x="242235" y="-1"/>
            <a:ext cx="6758640" cy="505825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OSPF Komşuları ve Bitişikleri</a:t>
            </a:r>
            <a:endParaRPr dirty="0"/>
          </a:p>
        </p:txBody>
      </p:sp>
      <p:sp>
        <p:nvSpPr>
          <p:cNvPr id="132" name="Google Shape;132;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Clr>
                <a:schemeClr val="dk1"/>
              </a:buClr>
              <a:buSzPct val="61111"/>
              <a:buFont typeface="Arial"/>
              <a:buNone/>
            </a:pPr>
            <a:r>
              <a:rPr lang="tr" dirty="0"/>
              <a:t>Bir OSPF yönlendiricisinin normal durumu Full’dur. Eğer yönlendirici farklı bir durumdaysa, bu eşleşmeyen ayar gibi bir sorunun göstergesidir. Bunun tek istisnası, 2-way durumudur. Bir yayın ortamında, yönlendirici Full durumuna ancak belirtilen yönlendiriciyle (DR – Designated Router) ve yedek belirtilen yönlendirici (BDR – Backup Designated Router) ile ulaşacaktır. Diğer tüm komşular 2-way durumunda gözükür.</a:t>
            </a:r>
            <a:endParaRPr dirty="0"/>
          </a:p>
          <a:p>
            <a:pPr marL="0" lvl="0" indent="0" algn="l" rtl="0">
              <a:spcBef>
                <a:spcPts val="1200"/>
              </a:spcBef>
              <a:spcAft>
                <a:spcPts val="0"/>
              </a:spcAft>
              <a:buClr>
                <a:schemeClr val="dk1"/>
              </a:buClr>
              <a:buSzPct val="61111"/>
              <a:buFont typeface="Arial"/>
              <a:buNone/>
            </a:pPr>
            <a:r>
              <a:rPr lang="tr" dirty="0"/>
              <a:t>DR ve BDR’nin amacı, gönderilen güncellemelerin sayısını, gereksiz trafik akışını ve yönlendiriciler üzerindeki işlem yükünü azaltmaktır. Bu, tüm yönlendiricilerin sadece DR’den güncelleme almasını sağlayarak gerçekleştirilir. Yayınlı ağ bölümlerinde sadece bir DR ve BDR bulunur. Diğer yönlendiricilerin tamamı, bu DR ve BDR’ye bağlıdır. Bir bağ arızalandığında, bağ hakkında bilgi sahibi yönlendirici bilgiyi 224.0.0.6 çoklu yayın adresi aracılığıyla DR’ye gönderir. Değişikliğin 224.0.0.5 çoklu yayın adresiyle OSPF yönlendiricilerinin tamamına gönderilmesinden DR sorumludur. Bu işlem, ağ üzerinde gönderilen güncelleme sayısını azaltmanın yanı sıra, yönlendiricilerin tümünün aynı bilgiyi, aynı anda tek bir kaynaktan alacağından emin olmanızı sağlar.</a:t>
            </a:r>
            <a:endParaRPr dirty="0"/>
          </a:p>
          <a:p>
            <a:pPr marL="0" lvl="0" indent="0" algn="l" rtl="0">
              <a:spcBef>
                <a:spcPts val="1200"/>
              </a:spcBef>
              <a:spcAft>
                <a:spcPts val="0"/>
              </a:spcAft>
              <a:buClr>
                <a:schemeClr val="dk1"/>
              </a:buClr>
              <a:buSzPct val="61111"/>
              <a:buFont typeface="Arial"/>
              <a:buNone/>
            </a:pPr>
            <a:r>
              <a:rPr lang="tr" dirty="0"/>
              <a:t>BDR, hataların veri akışında kesintiye sebep olmasını engeller. DR gibi, BDR de 224.0.0.6 adresinden gelen bilgileri toplar ve DR’ye gönderilen tüm güncellemeleri alır. Eğer DR arızalanırsa, DR’nin yerini BDR alır ve yeni bir BDR seçilir. DR ya da BDR olarak seçilmemiş yönlendiriciler DROther ismini alır.</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 dirty="0"/>
              <a:t>OSPF Komşuları ve Bitişikleri</a:t>
            </a:r>
            <a:endParaRPr dirty="0"/>
          </a:p>
        </p:txBody>
      </p:sp>
      <p:sp>
        <p:nvSpPr>
          <p:cNvPr id="138" name="Google Shape;138;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Clr>
                <a:schemeClr val="dk1"/>
              </a:buClr>
              <a:buSzPct val="61111"/>
              <a:buFont typeface="Arial"/>
              <a:buNone/>
            </a:pPr>
            <a:r>
              <a:rPr lang="tr"/>
              <a:t>Yerel ağ içinde, en yüksek yönlendirici kimliği, DR olarak belirlenir. En yüksek ikinci değere sahip olan yönlendirici ise BDR seçilir. </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r>
              <a:rPr lang="tr"/>
              <a:t>Yönlendirici ID’si, aşağıdakilere bağlı olarak belirlenen bir IP adresidir:</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r>
              <a:rPr lang="tr"/>
              <a:t>1. router-id komutuyla ayarlanan değer </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r>
              <a:rPr lang="tr"/>
              <a:t>2. Eğer router-id komutuyla bir değer belirlenmezse, geri döngü arayüzünde ayarlanmış en yüksek IP adresi </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r>
              <a:rPr lang="tr"/>
              <a:t>3. Eğer geri döngü arayüzü ayarlanmamışsa, etkin fiziksel arayüzlerde bulunan en yüksek IP adresi</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r>
              <a:rPr lang="tr"/>
              <a:t>Yönlendirici ID’si, aşağıdaki show komutları kullanılarak görüntülenebilir:</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r>
              <a:rPr lang="tr"/>
              <a:t>show ip protocols, show ip ospf, veya show ip ospf interface komutları.</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r>
              <a:rPr lang="tr"/>
              <a:t>Bazı durumlarda, yönetici belirli yönlendiricilerin DR ve BDR olmasını isteyebilir. Bu yönlendiricilerin seçilmesinin nedeni, daha fazla işlem gücüne ya da daha az trafik yüküne sahip olmaları olabilir. Yönetici, aşağıdaki komutları kullanarak DR ve BDR seçimini bir öncelik sırasına sokabilir:</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r>
              <a:rPr lang="tr"/>
              <a:t>ip ospf priority number</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r>
              <a:rPr lang="tr"/>
              <a:t>Varsayılan olarak, OSPF yönlendiricilerinin öncelik değeri 1’dir. Eğer bir yönlendirici üzerindeki öncelik değeri değiştirilirse, en yüksek öncelik değerine sahip olan, yönlendirici ID’sine bakılmadan DR olarak seçilecektir. Yönlendirici önceliği için ayarlanabilecek en yüksek değer 255’tir. 0 değeri, yönlendiricinin DR ya da BDR olarak seçilemeyeceğini belirtir.</a:t>
            </a: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0"/>
              </a:spcAft>
              <a:buClr>
                <a:schemeClr val="dk1"/>
              </a:buClr>
              <a:buSzPct val="61111"/>
              <a:buFont typeface="Arial"/>
              <a:buNone/>
            </a:pPr>
            <a:endParaRPr/>
          </a:p>
          <a:p>
            <a:pPr marL="0" lvl="0" indent="0" algn="l" rtl="0">
              <a:spcBef>
                <a:spcPts val="1200"/>
              </a:spcBef>
              <a:spcAft>
                <a:spcPts val="12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5" name="Google Shape;145;p27"/>
          <p:cNvPicPr preferRelativeResize="0"/>
          <p:nvPr/>
        </p:nvPicPr>
        <p:blipFill rotWithShape="1">
          <a:blip r:embed="rId3">
            <a:alphaModFix/>
          </a:blip>
          <a:srcRect l="34246" t="14584" r="5100" b="30833"/>
          <a:stretch/>
        </p:blipFill>
        <p:spPr>
          <a:xfrm>
            <a:off x="1358985" y="703659"/>
            <a:ext cx="5856203" cy="37361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TR" dirty="0"/>
              <a:t>OSPF Bölgeleri</a:t>
            </a:r>
            <a:endParaRPr dirty="0"/>
          </a:p>
        </p:txBody>
      </p:sp>
      <p:sp>
        <p:nvSpPr>
          <p:cNvPr id="157" name="Google Shape;157;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Clr>
                <a:schemeClr val="dk1"/>
              </a:buClr>
              <a:buSzPct val="61111"/>
              <a:buFont typeface="Arial"/>
              <a:buNone/>
            </a:pPr>
            <a:r>
              <a:rPr lang="tr" dirty="0"/>
              <a:t>OSPF ağlarının tamamı Alan 0 ile başlar; buna omurga alan da denir. Ağ genişledikçe, Area 0 alanına yakın farklı alanlar oluşturulabilir. Bu diğer alanlar, 65.535’e kadar herhangi bir sayı alabilirler. Bir alanda en fazla 50 yönlendirici kullanılabilir. </a:t>
            </a:r>
            <a:endParaRPr dirty="0"/>
          </a:p>
          <a:p>
            <a:pPr marL="0" lvl="0" indent="0" algn="l" rtl="0">
              <a:spcBef>
                <a:spcPts val="1200"/>
              </a:spcBef>
              <a:spcAft>
                <a:spcPts val="0"/>
              </a:spcAft>
              <a:buClr>
                <a:schemeClr val="dk1"/>
              </a:buClr>
              <a:buSzPct val="61111"/>
              <a:buFont typeface="Arial"/>
              <a:buNone/>
            </a:pPr>
            <a:r>
              <a:rPr lang="tr" dirty="0"/>
              <a:t>OSPF, iki katmanlı hiyerarşik tasarıma sahiptir. Omurga alan olarak da bahsedilen Area 0, en üstte yer alır ve diğer tüm alanlar bir sonraki kademede bulunur. Diğer tüm omurga olmayan alanlar 0 alanına doğrudan bağlanmalıdır. Bu alanlar grubu, bir OSPF özerk sistemi (AS) oluşturur.</a:t>
            </a:r>
            <a:endParaRPr dirty="0"/>
          </a:p>
          <a:p>
            <a:pPr marL="0" lvl="0" indent="0" algn="l" rtl="0">
              <a:spcBef>
                <a:spcPts val="1200"/>
              </a:spcBef>
              <a:spcAft>
                <a:spcPts val="0"/>
              </a:spcAft>
              <a:buClr>
                <a:schemeClr val="dk1"/>
              </a:buClr>
              <a:buSzPct val="61111"/>
              <a:buFont typeface="Arial"/>
              <a:buNone/>
            </a:pPr>
            <a:r>
              <a:rPr lang="tr" dirty="0"/>
              <a:t>OSPF’nin bir alanda işleyişi, söz konusu alan ve omurga alan arasındaki işleyişinden farklıdır. Örneğin topolojide bir değişiklik olduğunda, sadece bu durumdan etkilenen alanda bulunan yönlendiriciler LSA alıp, SPF algoritmasını çalıştıracaktır. Ağ bilgilerinin özetlenmesi, çoğunlukla alanlar arasında gerçekleşir. Bu, omurgada yer alan yönlendirme tablolarının boyutunu küçültmeye yardımcı olur. Özetleme ayrıca, değişiklikleri ve belirli bir yönlendirme etki alanına yönlendirilmiş tutarsız, ya da gitgel bağları yalıtır.</a:t>
            </a:r>
            <a:endParaRPr dirty="0"/>
          </a:p>
          <a:p>
            <a:pPr marL="0" lvl="0" indent="0" algn="l" rtl="0">
              <a:spcBef>
                <a:spcPts val="1200"/>
              </a:spcBef>
              <a:spcAft>
                <a:spcPts val="0"/>
              </a:spcAft>
              <a:buClr>
                <a:schemeClr val="dk1"/>
              </a:buClr>
              <a:buSzPct val="61111"/>
              <a:buFont typeface="Arial"/>
              <a:buNone/>
            </a:pPr>
            <a:r>
              <a:rPr lang="tr" dirty="0"/>
              <a:t>Bir alanı, omurga alanına bağlayan yönlendiriciye, Alan Sınır Yönlendiricisi (ABR) denir. Bir alanı, EIGRP gibi farklı bir yönlendirme protokolüne bağlayan ya da OSPF alanına yönlendirilmiş statik rotaları yeniden dağıtan bir yönlendiriciye ise, Otonom Sistem Sınır Yönlendiricisi (ASBR) denir.</a:t>
            </a:r>
            <a:endParaRPr dirty="0"/>
          </a:p>
          <a:p>
            <a:pPr marL="0" lvl="0" indent="0" algn="l" rtl="0">
              <a:spcBef>
                <a:spcPts val="1200"/>
              </a:spcBef>
              <a:spcAft>
                <a:spcPts val="0"/>
              </a:spcAft>
              <a:buClr>
                <a:schemeClr val="dk1"/>
              </a:buClr>
              <a:buSzPct val="61111"/>
              <a:buFont typeface="Arial"/>
              <a:buNone/>
            </a:pPr>
            <a:endParaRPr dirty="0"/>
          </a:p>
          <a:p>
            <a:pPr marL="0" lvl="0" indent="0" algn="l" rtl="0">
              <a:spcBef>
                <a:spcPts val="1200"/>
              </a:spcBef>
              <a:spcAft>
                <a:spcPts val="1200"/>
              </a:spcAft>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4" name="Google Shape;164;p30"/>
          <p:cNvPicPr preferRelativeResize="0"/>
          <p:nvPr/>
        </p:nvPicPr>
        <p:blipFill rotWithShape="1">
          <a:blip r:embed="rId3">
            <a:alphaModFix/>
          </a:blip>
          <a:srcRect l="39464" t="15556" r="4903" b="30278"/>
          <a:stretch/>
        </p:blipFill>
        <p:spPr>
          <a:xfrm>
            <a:off x="1228726" y="257175"/>
            <a:ext cx="6602840" cy="455771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TR" dirty="0"/>
              <a:t>Tek Bir Bölgede OSPF Kurulumu</a:t>
            </a:r>
            <a:endParaRPr dirty="0"/>
          </a:p>
        </p:txBody>
      </p:sp>
      <p:sp>
        <p:nvSpPr>
          <p:cNvPr id="170" name="Google Shape;170;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47500" lnSpcReduction="20000"/>
          </a:bodyPr>
          <a:lstStyle/>
          <a:p>
            <a:pPr marL="0" lvl="0" indent="0" algn="l" rtl="0">
              <a:spcBef>
                <a:spcPts val="0"/>
              </a:spcBef>
              <a:spcAft>
                <a:spcPts val="0"/>
              </a:spcAft>
              <a:buClr>
                <a:schemeClr val="dk1"/>
              </a:buClr>
              <a:buSzPct val="61111"/>
              <a:buFont typeface="Arial"/>
              <a:buNone/>
            </a:pPr>
            <a:r>
              <a:rPr lang="tr" dirty="0"/>
              <a:t>Temel OSPF ayarları zor değildir, sadece iki adımdan oluşur. İlk adım, OSPF yönlendirme sürecini etkinleştirir. İkinci adım, tanıtılacak ağları tanımlar. </a:t>
            </a:r>
            <a:endParaRPr dirty="0"/>
          </a:p>
          <a:p>
            <a:pPr marL="0" lvl="0" indent="0" algn="l" rtl="0">
              <a:spcBef>
                <a:spcPts val="1200"/>
              </a:spcBef>
              <a:spcAft>
                <a:spcPts val="0"/>
              </a:spcAft>
              <a:buClr>
                <a:schemeClr val="dk1"/>
              </a:buClr>
              <a:buSzPct val="61111"/>
              <a:buFont typeface="Arial"/>
              <a:buNone/>
            </a:pPr>
            <a:r>
              <a:rPr lang="tr" dirty="0"/>
              <a:t>1. Adım: OSPF’nin Etkinleştirilmesi</a:t>
            </a:r>
            <a:endParaRPr dirty="0"/>
          </a:p>
          <a:p>
            <a:pPr marL="0" lvl="0" indent="0" algn="l" rtl="0">
              <a:spcBef>
                <a:spcPts val="1200"/>
              </a:spcBef>
              <a:spcAft>
                <a:spcPts val="0"/>
              </a:spcAft>
              <a:buClr>
                <a:schemeClr val="dk1"/>
              </a:buClr>
              <a:buSzPct val="61111"/>
              <a:buFont typeface="Arial"/>
              <a:buNone/>
            </a:pPr>
            <a:r>
              <a:rPr lang="tr" dirty="0"/>
              <a:t>router(ayar)#router ospf &lt;süreç numarası&gt;</a:t>
            </a:r>
            <a:endParaRPr dirty="0"/>
          </a:p>
          <a:p>
            <a:pPr marL="0" lvl="0" indent="0" algn="l" rtl="0">
              <a:spcBef>
                <a:spcPts val="1200"/>
              </a:spcBef>
              <a:spcAft>
                <a:spcPts val="0"/>
              </a:spcAft>
              <a:buClr>
                <a:schemeClr val="dk1"/>
              </a:buClr>
              <a:buSzPct val="61111"/>
              <a:buFont typeface="Arial"/>
              <a:buNone/>
            </a:pPr>
            <a:r>
              <a:rPr lang="tr" dirty="0"/>
              <a:t>Process ID, ağ yöneticisi tarafından belirlenir ve 1 ile 65535 arasında herhangibir sayı olabilir. Process ID sadece yerel olarak önemlidir ve diğer OSPF yönlendiricilerinin ID’leriyle aynı olmak zorunda değilidir.</a:t>
            </a:r>
            <a:endParaRPr dirty="0"/>
          </a:p>
          <a:p>
            <a:pPr marL="0" lvl="0" indent="0" algn="l" rtl="0">
              <a:spcBef>
                <a:spcPts val="1200"/>
              </a:spcBef>
              <a:spcAft>
                <a:spcPts val="0"/>
              </a:spcAft>
              <a:buClr>
                <a:schemeClr val="dk1"/>
              </a:buClr>
              <a:buSzPct val="61111"/>
              <a:buFont typeface="Arial"/>
              <a:buNone/>
            </a:pPr>
            <a:r>
              <a:rPr lang="tr" dirty="0"/>
              <a:t>2. Adım: Ağların Tanıtılması</a:t>
            </a:r>
            <a:endParaRPr dirty="0"/>
          </a:p>
          <a:p>
            <a:pPr marL="0" lvl="0" indent="0" algn="l" rtl="0">
              <a:spcBef>
                <a:spcPts val="1200"/>
              </a:spcBef>
              <a:spcAft>
                <a:spcPts val="0"/>
              </a:spcAft>
              <a:buClr>
                <a:schemeClr val="dk1"/>
              </a:buClr>
              <a:buSzPct val="61111"/>
              <a:buFont typeface="Arial"/>
              <a:buNone/>
            </a:pPr>
            <a:r>
              <a:rPr lang="tr" dirty="0"/>
              <a:t>Router(yönlendirici ayarı)#network &lt;ağ adresi&gt; &lt;genel arama karakteri maskesi&gt; area &lt;alan kimliği&gt;</a:t>
            </a:r>
            <a:endParaRPr dirty="0"/>
          </a:p>
          <a:p>
            <a:pPr marL="0" lvl="0" indent="0" algn="l" rtl="0">
              <a:spcBef>
                <a:spcPts val="1200"/>
              </a:spcBef>
              <a:spcAft>
                <a:spcPts val="0"/>
              </a:spcAft>
              <a:buClr>
                <a:schemeClr val="dk1"/>
              </a:buClr>
              <a:buSzPct val="61111"/>
              <a:buFont typeface="Arial"/>
              <a:buNone/>
            </a:pPr>
            <a:r>
              <a:rPr lang="tr" dirty="0"/>
              <a:t>network komutu,diğer IGP yönlendirme protokollerinde de sahip olduğu işleve sahiptir. Etkinleştirilmiş arayüzleri tanımlar ve OSPF paketlerini alır. Bu bildiri, OSPF yönlendirme güncellemelerine dahil edilecek ağları tanımlar.</a:t>
            </a:r>
            <a:endParaRPr dirty="0"/>
          </a:p>
          <a:p>
            <a:pPr marL="0" lvl="0" indent="0" algn="l" rtl="0">
              <a:spcBef>
                <a:spcPts val="1200"/>
              </a:spcBef>
              <a:spcAft>
                <a:spcPts val="0"/>
              </a:spcAft>
              <a:buClr>
                <a:schemeClr val="dk1"/>
              </a:buClr>
              <a:buSzPct val="61111"/>
              <a:buFont typeface="Arial"/>
              <a:buNone/>
            </a:pPr>
            <a:r>
              <a:rPr lang="tr" dirty="0"/>
              <a:t>The OSPF network komutu, network adresleri ve genel arama karakteri maskesinden oluşan bir kombinasyon kullanır. Ağ adresi, genel arama karakteri maskelesiyle birlikte OSPF için etkinleştirilecek arayüz adresini ya da adres aralığını belirler.</a:t>
            </a:r>
            <a:endParaRPr dirty="0"/>
          </a:p>
          <a:p>
            <a:pPr marL="0" lvl="0" indent="0" algn="l" rtl="0">
              <a:spcBef>
                <a:spcPts val="1200"/>
              </a:spcBef>
              <a:spcAft>
                <a:spcPts val="0"/>
              </a:spcAft>
              <a:buClr>
                <a:schemeClr val="dk1"/>
              </a:buClr>
              <a:buSzPct val="61111"/>
              <a:buFont typeface="Arial"/>
              <a:buNone/>
            </a:pPr>
            <a:r>
              <a:rPr lang="tr" dirty="0"/>
              <a:t>alan kimliği, ağın ait olduğu OSPF alanını ifade eder. Tanımlanmış alan olmasa bile, Area 0 olmalıdır. Tek alanlı bir OSPF ortamında, alan değeri her zaman 0’dır.</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7" name="Google Shape;177;p32"/>
          <p:cNvPicPr preferRelativeResize="0"/>
          <p:nvPr/>
        </p:nvPicPr>
        <p:blipFill rotWithShape="1">
          <a:blip r:embed="rId3">
            <a:alphaModFix/>
          </a:blip>
          <a:srcRect l="38472" t="11314" r="10371" b="27278"/>
          <a:stretch/>
        </p:blipFill>
        <p:spPr>
          <a:xfrm>
            <a:off x="1385732" y="667493"/>
            <a:ext cx="4693599" cy="39942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3" name="Google Shape;183;p33"/>
          <p:cNvSpPr txBox="1">
            <a:spLocks noGrp="1"/>
          </p:cNvSpPr>
          <p:nvPr>
            <p:ph type="body" idx="1"/>
          </p:nvPr>
        </p:nvSpPr>
        <p:spPr>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Clr>
                <a:schemeClr val="dk1"/>
              </a:buClr>
              <a:buSzPct val="61111"/>
              <a:buFont typeface="Arial"/>
              <a:buNone/>
            </a:pPr>
            <a:r>
              <a:rPr lang="tr" dirty="0"/>
              <a:t>OSPF network OSPF network komutu, genel arama karakteri maskesi kullanılmasını gerektirir. Ağ özeti ya da supernet için kullanıldığında, genel arama karakteri maskesi, alt ağ maskesinin tersidir. </a:t>
            </a:r>
            <a:endParaRPr dirty="0"/>
          </a:p>
          <a:p>
            <a:pPr marL="0" lvl="0" indent="0" algn="l" rtl="0">
              <a:spcBef>
                <a:spcPts val="1200"/>
              </a:spcBef>
              <a:spcAft>
                <a:spcPts val="0"/>
              </a:spcAft>
              <a:buClr>
                <a:schemeClr val="dk1"/>
              </a:buClr>
              <a:buSzPct val="61111"/>
              <a:buFont typeface="Arial"/>
              <a:buNone/>
            </a:pPr>
            <a:r>
              <a:rPr lang="tr" dirty="0"/>
              <a:t>Bir ağ ya da alt ağ için genel arama karakteri maskesini belirlemek için, alt ağ maskesini tümüyle 255 değerlerinden oluşan maskeden çıkarın (255.255.255.255). </a:t>
            </a:r>
            <a:endParaRPr dirty="0"/>
          </a:p>
          <a:p>
            <a:pPr marL="0" lvl="0" indent="0" algn="l" rtl="0">
              <a:spcBef>
                <a:spcPts val="1200"/>
              </a:spcBef>
              <a:spcAft>
                <a:spcPts val="0"/>
              </a:spcAft>
              <a:buClr>
                <a:schemeClr val="dk1"/>
              </a:buClr>
              <a:buSzPct val="61111"/>
              <a:buFont typeface="Arial"/>
              <a:buNone/>
            </a:pPr>
            <a:r>
              <a:rPr lang="tr" dirty="0"/>
              <a:t>Örneğin, bir ağ yöneticisi 10.10.10.0/24 alt ağını OSPF’de tanıtmak istiyor. Bu Ethernet arayüzünün alt ağ maskesi ise /24 ya da 255.255.255.0. Genel arama karakteri maskesini bulmak için, alt ağ maskesini 255’lerden oluşan maskeden çıkarır.</a:t>
            </a:r>
            <a:endParaRPr dirty="0"/>
          </a:p>
          <a:p>
            <a:pPr marL="0" lvl="0" indent="0" algn="l" rtl="0">
              <a:spcBef>
                <a:spcPts val="1200"/>
              </a:spcBef>
              <a:spcAft>
                <a:spcPts val="0"/>
              </a:spcAft>
              <a:buClr>
                <a:schemeClr val="dk1"/>
              </a:buClr>
              <a:buSzPct val="61111"/>
              <a:buFont typeface="Arial"/>
              <a:buNone/>
            </a:pPr>
            <a:r>
              <a:rPr lang="tr" dirty="0"/>
              <a:t>255’lerden oluşan maske: 255.255.255.255</a:t>
            </a:r>
            <a:endParaRPr dirty="0"/>
          </a:p>
          <a:p>
            <a:pPr marL="0" lvl="0" indent="0" algn="l" rtl="0">
              <a:spcBef>
                <a:spcPts val="1200"/>
              </a:spcBef>
              <a:spcAft>
                <a:spcPts val="0"/>
              </a:spcAft>
              <a:buClr>
                <a:schemeClr val="dk1"/>
              </a:buClr>
              <a:buSzPct val="61111"/>
              <a:buFont typeface="Arial"/>
              <a:buNone/>
            </a:pPr>
            <a:r>
              <a:rPr lang="tr" dirty="0"/>
              <a:t>Alt ağ maskesi: -255.255.255.0</a:t>
            </a:r>
            <a:endParaRPr dirty="0"/>
          </a:p>
          <a:p>
            <a:pPr marL="0" lvl="0" indent="0" algn="l" rtl="0">
              <a:spcBef>
                <a:spcPts val="1200"/>
              </a:spcBef>
              <a:spcAft>
                <a:spcPts val="0"/>
              </a:spcAft>
              <a:buClr>
                <a:schemeClr val="dk1"/>
              </a:buClr>
              <a:buSzPct val="61111"/>
              <a:buFont typeface="Arial"/>
              <a:buNone/>
            </a:pPr>
            <a:r>
              <a:rPr lang="tr" dirty="0"/>
              <a:t>              -----------------------</a:t>
            </a:r>
            <a:endParaRPr dirty="0"/>
          </a:p>
          <a:p>
            <a:pPr marL="0" lvl="0" indent="0" algn="l" rtl="0">
              <a:spcBef>
                <a:spcPts val="1200"/>
              </a:spcBef>
              <a:spcAft>
                <a:spcPts val="0"/>
              </a:spcAft>
              <a:buClr>
                <a:schemeClr val="dk1"/>
              </a:buClr>
              <a:buSzPct val="61111"/>
              <a:buFont typeface="Arial"/>
              <a:buNone/>
            </a:pPr>
            <a:r>
              <a:rPr lang="tr" dirty="0"/>
              <a:t>Genel arama karakteri maskesi: 0 . 0 . 0 .255</a:t>
            </a:r>
            <a:endParaRPr dirty="0"/>
          </a:p>
          <a:p>
            <a:pPr marL="0" lvl="0" indent="0" algn="l" rtl="0">
              <a:spcBef>
                <a:spcPts val="1200"/>
              </a:spcBef>
              <a:spcAft>
                <a:spcPts val="0"/>
              </a:spcAft>
              <a:buClr>
                <a:schemeClr val="dk1"/>
              </a:buClr>
              <a:buSzPct val="61111"/>
              <a:buFont typeface="Arial"/>
              <a:buNone/>
            </a:pPr>
            <a:r>
              <a:rPr lang="tr" dirty="0"/>
              <a:t>OSPF network komutu sonucu:</a:t>
            </a:r>
            <a:endParaRPr dirty="0"/>
          </a:p>
          <a:p>
            <a:pPr marL="0" lvl="0" indent="0" algn="l" rtl="0">
              <a:spcBef>
                <a:spcPts val="1200"/>
              </a:spcBef>
              <a:spcAft>
                <a:spcPts val="0"/>
              </a:spcAft>
              <a:buClr>
                <a:schemeClr val="dk1"/>
              </a:buClr>
              <a:buSzPct val="61111"/>
              <a:buFont typeface="Arial"/>
              <a:buNone/>
            </a:pPr>
            <a:r>
              <a:rPr lang="tr" dirty="0"/>
              <a:t>Router(config-router)#network 10.10.10.0 0.0.0.255 area 0</a:t>
            </a:r>
            <a:endParaRPr dirty="0"/>
          </a:p>
          <a:p>
            <a:pPr marL="0" lvl="0" indent="0" algn="l" rtl="0">
              <a:spcBef>
                <a:spcPts val="1200"/>
              </a:spcBef>
              <a:spcAft>
                <a:spcPts val="1200"/>
              </a:spcAft>
              <a:buNone/>
            </a:pPr>
            <a:endParaRPr dirty="0"/>
          </a:p>
        </p:txBody>
      </p:sp>
      <p:sp>
        <p:nvSpPr>
          <p:cNvPr id="3" name="Metin Yer Tutucusu 2">
            <a:extLst>
              <a:ext uri="{FF2B5EF4-FFF2-40B4-BE49-F238E27FC236}">
                <a16:creationId xmlns:a16="http://schemas.microsoft.com/office/drawing/2014/main" id="{38E70F9E-5359-484D-98F3-CDDFB9F2366A}"/>
              </a:ext>
            </a:extLst>
          </p:cNvPr>
          <p:cNvSpPr>
            <a:spLocks noGrp="1"/>
          </p:cNvSpPr>
          <p:nvPr>
            <p:ph type="body" idx="2"/>
          </p:nvPr>
        </p:nvSpPr>
        <p:spPr/>
        <p:txBody>
          <a:bodyPr/>
          <a:lstStyle/>
          <a:p>
            <a:endParaRPr lang="tr-TR" dirty="0"/>
          </a:p>
        </p:txBody>
      </p:sp>
      <p:pic>
        <p:nvPicPr>
          <p:cNvPr id="5" name="Resim 4">
            <a:extLst>
              <a:ext uri="{FF2B5EF4-FFF2-40B4-BE49-F238E27FC236}">
                <a16:creationId xmlns:a16="http://schemas.microsoft.com/office/drawing/2014/main" id="{51F4E7C2-D3E8-4BBD-8A89-68DAD2EC9A98}"/>
              </a:ext>
            </a:extLst>
          </p:cNvPr>
          <p:cNvPicPr>
            <a:picLocks noChangeAspect="1"/>
          </p:cNvPicPr>
          <p:nvPr/>
        </p:nvPicPr>
        <p:blipFill rotWithShape="1">
          <a:blip r:embed="rId3"/>
          <a:srcRect l="38359" t="14723" r="31719" b="24583"/>
          <a:stretch/>
        </p:blipFill>
        <p:spPr>
          <a:xfrm>
            <a:off x="5075287" y="1095324"/>
            <a:ext cx="3261469" cy="3721307"/>
          </a:xfrm>
          <a:prstGeom prst="rect">
            <a:avLst/>
          </a:prstGeom>
        </p:spPr>
      </p:pic>
      <p:sp>
        <p:nvSpPr>
          <p:cNvPr id="8" name="Google Shape;169;p31">
            <a:extLst>
              <a:ext uri="{FF2B5EF4-FFF2-40B4-BE49-F238E27FC236}">
                <a16:creationId xmlns:a16="http://schemas.microsoft.com/office/drawing/2014/main" id="{C21C3A0C-CF0B-400D-A18F-14871DE946A8}"/>
              </a:ext>
            </a:extLst>
          </p:cNvPr>
          <p:cNvSpPr txBox="1">
            <a:spLocks noGrp="1"/>
          </p:cNvSpPr>
          <p:nvPr>
            <p:ph type="title"/>
          </p:nvPr>
        </p:nvSpPr>
        <p:spPr>
          <a:xfrm>
            <a:off x="311150" y="444500"/>
            <a:ext cx="8521700" cy="573088"/>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tr-TR" dirty="0"/>
              <a:t>Tek Bir Bölgede OSPF Kurulumu</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13E297F443179941B3CCCA537649BB75" ma:contentTypeVersion="4" ma:contentTypeDescription="Yeni belge oluşturun." ma:contentTypeScope="" ma:versionID="eefc4eb90b5ecf2742aa9b516938315d">
  <xsd:schema xmlns:xsd="http://www.w3.org/2001/XMLSchema" xmlns:xs="http://www.w3.org/2001/XMLSchema" xmlns:p="http://schemas.microsoft.com/office/2006/metadata/properties" xmlns:ns2="4eb0f163-66f3-43ab-a6dc-8fd6c1b95e0c" targetNamespace="http://schemas.microsoft.com/office/2006/metadata/properties" ma:root="true" ma:fieldsID="4f3cfb2777f582e4a62cd9ea7a7bfd1a" ns2:_="">
    <xsd:import namespace="4eb0f163-66f3-43ab-a6dc-8fd6c1b95e0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b0f163-66f3-43ab-a6dc-8fd6c1b95e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94D353E-5F45-4A77-9379-CDC6C276F348}"/>
</file>

<file path=customXml/itemProps2.xml><?xml version="1.0" encoding="utf-8"?>
<ds:datastoreItem xmlns:ds="http://schemas.openxmlformats.org/officeDocument/2006/customXml" ds:itemID="{15023C13-0C70-462A-90C7-78FF253E79B2}"/>
</file>

<file path=customXml/itemProps3.xml><?xml version="1.0" encoding="utf-8"?>
<ds:datastoreItem xmlns:ds="http://schemas.openxmlformats.org/officeDocument/2006/customXml" ds:itemID="{B1F05FBD-7003-40C7-874B-EAED0DE9E722}"/>
</file>

<file path=docProps/app.xml><?xml version="1.0" encoding="utf-8"?>
<Properties xmlns="http://schemas.openxmlformats.org/officeDocument/2006/extended-properties" xmlns:vt="http://schemas.openxmlformats.org/officeDocument/2006/docPropsVTypes">
  <TotalTime>8</TotalTime>
  <Words>1929</Words>
  <Application>Microsoft Office PowerPoint</Application>
  <PresentationFormat>Ekran Gösterisi (16:9)</PresentationFormat>
  <Paragraphs>96</Paragraphs>
  <Slides>18</Slides>
  <Notes>18</Notes>
  <HiddenSlides>0</HiddenSlides>
  <MMClips>0</MMClips>
  <ScaleCrop>false</ScaleCrop>
  <HeadingPairs>
    <vt:vector size="6" baseType="variant">
      <vt:variant>
        <vt:lpstr>Kullanılan Yazı Tipleri</vt:lpstr>
      </vt:variant>
      <vt:variant>
        <vt:i4>1</vt:i4>
      </vt:variant>
      <vt:variant>
        <vt:lpstr>Tema</vt:lpstr>
      </vt:variant>
      <vt:variant>
        <vt:i4>1</vt:i4>
      </vt:variant>
      <vt:variant>
        <vt:lpstr>Slayt Başlıkları</vt:lpstr>
      </vt:variant>
      <vt:variant>
        <vt:i4>18</vt:i4>
      </vt:variant>
    </vt:vector>
  </HeadingPairs>
  <TitlesOfParts>
    <vt:vector size="20" baseType="lpstr">
      <vt:lpstr>Arial</vt:lpstr>
      <vt:lpstr>Simple Light</vt:lpstr>
      <vt:lpstr>Bağ Durumu Protokolü</vt:lpstr>
      <vt:lpstr>OSPF- Öncelikle Açık Olan En Kısa Yol </vt:lpstr>
      <vt:lpstr>OSPF- Öncelikle Açık Olan En Kısa Yol </vt:lpstr>
      <vt:lpstr>OSPF- Öncelikle Açık Olan En Kısa Yol </vt:lpstr>
      <vt:lpstr>OSPF Metrikleri ve Yakınsama</vt:lpstr>
      <vt:lpstr>OSPF Metrikleri ve Yakınsama</vt:lpstr>
      <vt:lpstr>OSPF Metrikleri ve Yakınsama</vt:lpstr>
      <vt:lpstr>PowerPoint Sunusu</vt:lpstr>
      <vt:lpstr>OSPF Komşuları ve Bitişikleri</vt:lpstr>
      <vt:lpstr>PowerPoint Sunusu</vt:lpstr>
      <vt:lpstr>OSPF Komşuları ve Bitişikleri</vt:lpstr>
      <vt:lpstr>OSPF Komşuları ve Bitişikleri</vt:lpstr>
      <vt:lpstr>PowerPoint Sunusu</vt:lpstr>
      <vt:lpstr>OSPF Bölgeleri</vt:lpstr>
      <vt:lpstr>PowerPoint Sunusu</vt:lpstr>
      <vt:lpstr>Tek Bir Bölgede OSPF Kurulumu</vt:lpstr>
      <vt:lpstr>PowerPoint Sunusu</vt:lpstr>
      <vt:lpstr>Tek Bir Bölgede OSPF Kurulumu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Bağ Durumu Protokolü</dc:title>
  <cp:lastModifiedBy>Mevlüt Ersoy</cp:lastModifiedBy>
  <cp:revision>2</cp:revision>
  <dcterms:modified xsi:type="dcterms:W3CDTF">2021-05-23T17:35:28Z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0x01010013E297F443179941B3CCCA537649BB75</vt:lpwstr>
  </property>
</Properties>
</file>