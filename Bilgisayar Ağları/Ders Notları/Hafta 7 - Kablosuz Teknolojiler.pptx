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8" r:id="rId3"/>
    <p:sldId id="259" r:id="rId4"/>
    <p:sldId id="260" r:id="rId5"/>
    <p:sldId id="261" r:id="rId6"/>
    <p:sldId id="262" r:id="rId7"/>
    <p:sldId id="269" r:id="rId8"/>
    <p:sldId id="268" r:id="rId9"/>
    <p:sldId id="267" r:id="rId10"/>
    <p:sldId id="273" r:id="rId11"/>
    <p:sldId id="272" r:id="rId12"/>
    <p:sldId id="275" r:id="rId13"/>
    <p:sldId id="274" r:id="rId14"/>
    <p:sldId id="271" r:id="rId15"/>
    <p:sldId id="270" r:id="rId16"/>
    <p:sldId id="279" r:id="rId17"/>
    <p:sldId id="278" r:id="rId18"/>
    <p:sldId id="277" r:id="rId19"/>
    <p:sldId id="276" r:id="rId20"/>
    <p:sldId id="282" r:id="rId21"/>
    <p:sldId id="281" r:id="rId22"/>
    <p:sldId id="263" r:id="rId23"/>
    <p:sldId id="265" r:id="rId24"/>
    <p:sldId id="266" r:id="rId25"/>
  </p:sldIdLst>
  <p:sldSz cx="9144000" cy="6858000" type="screen4x3"/>
  <p:notesSz cx="6858000" cy="9144000"/>
  <p:defaultTextStyle>
    <a:defPPr>
      <a:defRPr lang="tr-TR"/>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122"/>
    <p:restoredTop sz="94674"/>
  </p:normalViewPr>
  <p:slideViewPr>
    <p:cSldViewPr>
      <p:cViewPr varScale="1">
        <p:scale>
          <a:sx n="93" d="100"/>
          <a:sy n="93" d="100"/>
        </p:scale>
        <p:origin x="1459"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C09123-AE3B-49A5-B304-7E304AFF2947}" type="datetimeFigureOut">
              <a:rPr lang="tr-TR" smtClean="0"/>
              <a:t>31.3.2020</a:t>
            </a:fld>
            <a:endParaRPr lang="tr-TR"/>
          </a:p>
        </p:txBody>
      </p:sp>
      <p:sp>
        <p:nvSpPr>
          <p:cNvPr id="4" name="Slayt Resmi Yer Tutucusu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69643D-0CD2-4C1C-AA42-483EEF528997}" type="slidenum">
              <a:rPr lang="tr-TR" smtClean="0"/>
              <a:t>‹#›</a:t>
            </a:fld>
            <a:endParaRPr lang="tr-TR"/>
          </a:p>
        </p:txBody>
      </p:sp>
    </p:spTree>
    <p:extLst>
      <p:ext uri="{BB962C8B-B14F-4D97-AF65-F5344CB8AC3E}">
        <p14:creationId xmlns:p14="http://schemas.microsoft.com/office/powerpoint/2010/main" val="2437372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5B69643D-0CD2-4C1C-AA42-483EEF528997}" type="slidenum">
              <a:rPr lang="tr-TR" smtClean="0"/>
              <a:t>2</a:t>
            </a:fld>
            <a:endParaRPr lang="tr-TR"/>
          </a:p>
        </p:txBody>
      </p:sp>
    </p:spTree>
    <p:extLst>
      <p:ext uri="{BB962C8B-B14F-4D97-AF65-F5344CB8AC3E}">
        <p14:creationId xmlns:p14="http://schemas.microsoft.com/office/powerpoint/2010/main" val="16071139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5B69643D-0CD2-4C1C-AA42-483EEF528997}" type="slidenum">
              <a:rPr lang="tr-TR" smtClean="0"/>
              <a:t>3</a:t>
            </a:fld>
            <a:endParaRPr lang="tr-TR"/>
          </a:p>
        </p:txBody>
      </p:sp>
    </p:spTree>
    <p:extLst>
      <p:ext uri="{BB962C8B-B14F-4D97-AF65-F5344CB8AC3E}">
        <p14:creationId xmlns:p14="http://schemas.microsoft.com/office/powerpoint/2010/main" val="20717429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1 Başlık"/>
          <p:cNvSpPr>
            <a:spLocks noGrp="1"/>
          </p:cNvSpPr>
          <p:nvPr>
            <p:ph type="ctrTitle"/>
          </p:nvPr>
        </p:nvSpPr>
        <p:spPr>
          <a:xfrm>
            <a:off x="685800" y="2130425"/>
            <a:ext cx="7772400" cy="1470025"/>
          </a:xfrm>
        </p:spPr>
        <p:txBody>
          <a:bodyPr/>
          <a:lstStyle/>
          <a:p>
            <a:r>
              <a:rPr lang="tr-TR"/>
              <a:t>Asıl başlık stili için tıklatın</a:t>
            </a:r>
          </a:p>
        </p:txBody>
      </p:sp>
      <p:sp>
        <p:nvSpPr>
          <p:cNvPr id="3" name="2 Alt Başlık"/>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tıklatın</a:t>
            </a:r>
          </a:p>
        </p:txBody>
      </p:sp>
      <p:sp>
        <p:nvSpPr>
          <p:cNvPr id="4" name="3 Veri Yer Tutucusu"/>
          <p:cNvSpPr>
            <a:spLocks noGrp="1"/>
          </p:cNvSpPr>
          <p:nvPr>
            <p:ph type="dt" sz="half" idx="10"/>
          </p:nvPr>
        </p:nvSpPr>
        <p:spPr/>
        <p:txBody>
          <a:bodyPr/>
          <a:lstStyle>
            <a:lvl1pPr>
              <a:defRPr/>
            </a:lvl1pPr>
          </a:lstStyle>
          <a:p>
            <a:pPr>
              <a:defRPr/>
            </a:pPr>
            <a:fld id="{201C5554-F657-435A-BCA1-2EF31523C46E}" type="datetimeFigureOut">
              <a:rPr lang="tr-TR"/>
              <a:pPr>
                <a:defRPr/>
              </a:pPr>
              <a:t>31.3.2020</a:t>
            </a:fld>
            <a:endParaRPr lang="tr-TR"/>
          </a:p>
        </p:txBody>
      </p:sp>
      <p:sp>
        <p:nvSpPr>
          <p:cNvPr id="5" name="4 Altbilgi Yer Tutucusu"/>
          <p:cNvSpPr>
            <a:spLocks noGrp="1"/>
          </p:cNvSpPr>
          <p:nvPr>
            <p:ph type="ftr" sz="quarter" idx="11"/>
          </p:nvPr>
        </p:nvSpPr>
        <p:spPr/>
        <p:txBody>
          <a:bodyPr/>
          <a:lstStyle>
            <a:lvl1pPr>
              <a:defRPr/>
            </a:lvl1pPr>
          </a:lstStyle>
          <a:p>
            <a:pPr>
              <a:defRPr/>
            </a:pPr>
            <a:endParaRPr lang="tr-TR"/>
          </a:p>
        </p:txBody>
      </p:sp>
      <p:sp>
        <p:nvSpPr>
          <p:cNvPr id="6" name="5 Slayt Numarası Yer Tutucusu"/>
          <p:cNvSpPr>
            <a:spLocks noGrp="1"/>
          </p:cNvSpPr>
          <p:nvPr>
            <p:ph type="sldNum" sz="quarter" idx="12"/>
          </p:nvPr>
        </p:nvSpPr>
        <p:spPr/>
        <p:txBody>
          <a:bodyPr/>
          <a:lstStyle>
            <a:lvl1pPr>
              <a:defRPr/>
            </a:lvl1pPr>
          </a:lstStyle>
          <a:p>
            <a:pPr>
              <a:defRPr/>
            </a:pPr>
            <a:fld id="{A8F60EFD-6F48-4DC3-AF5A-479D8CBF7889}" type="slidenum">
              <a:rPr lang="tr-TR"/>
              <a:pPr>
                <a:defRPr/>
              </a:pPr>
              <a:t>‹#›</a:t>
            </a:fld>
            <a:endParaRPr lang="tr-TR"/>
          </a:p>
        </p:txBody>
      </p:sp>
      <p:sp>
        <p:nvSpPr>
          <p:cNvPr id="7" name="Metin kutusu 6">
            <a:extLst>
              <a:ext uri="{FF2B5EF4-FFF2-40B4-BE49-F238E27FC236}">
                <a16:creationId xmlns:a16="http://schemas.microsoft.com/office/drawing/2014/main" id="{A3ABB93D-730F-7D4E-9DC9-EA6E7E1066F8}"/>
              </a:ext>
            </a:extLst>
          </p:cNvPr>
          <p:cNvSpPr txBox="1"/>
          <p:nvPr userDrawn="1"/>
        </p:nvSpPr>
        <p:spPr>
          <a:xfrm>
            <a:off x="5540188" y="1640541"/>
            <a:ext cx="184731" cy="369332"/>
          </a:xfrm>
          <a:prstGeom prst="rect">
            <a:avLst/>
          </a:prstGeom>
          <a:noFill/>
        </p:spPr>
        <p:txBody>
          <a:bodyPr wrap="none" rtlCol="0">
            <a:spAutoFit/>
          </a:bodyPr>
          <a:lstStyle/>
          <a:p>
            <a:endParaRPr lang="tr-T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Başlık Slaydı">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ubtitle 2">
            <a:extLst>
              <a:ext uri="{C183D7F6-B498-43B3-948B-1728B52AA6E4}">
                <adec:decorative xmlns:adec="http://schemas.microsoft.com/office/drawing/2017/decorative" val="0"/>
              </a:ext>
            </a:extLst>
          </p:cNvPr>
          <p:cNvSpPr>
            <a:spLocks noGrp="1"/>
          </p:cNvSpPr>
          <p:nvPr>
            <p:ph type="subTitle" idx="1" hasCustomPrompt="1"/>
          </p:nvPr>
        </p:nvSpPr>
        <p:spPr>
          <a:xfrm>
            <a:off x="360946" y="4511620"/>
            <a:ext cx="8422108" cy="861580"/>
          </a:xfrm>
        </p:spPr>
        <p:txBody>
          <a:bodyPr>
            <a:noAutofit/>
          </a:bodyPr>
          <a:lstStyle>
            <a:lvl1pPr marL="0" indent="0" algn="ctr">
              <a:buNone/>
              <a:defRPr sz="2700" b="1" baseline="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dirty="0"/>
              <a:t>DERS ADINI BURAYA YAZINIZ</a:t>
            </a:r>
          </a:p>
        </p:txBody>
      </p:sp>
      <p:sp>
        <p:nvSpPr>
          <p:cNvPr id="14" name="Metin Yer Tutucusu 13"/>
          <p:cNvSpPr>
            <a:spLocks noGrp="1"/>
          </p:cNvSpPr>
          <p:nvPr>
            <p:ph type="body" sz="quarter" idx="13" hasCustomPrompt="1"/>
          </p:nvPr>
        </p:nvSpPr>
        <p:spPr>
          <a:xfrm>
            <a:off x="360946" y="5373200"/>
            <a:ext cx="8419760" cy="457200"/>
          </a:xfrm>
        </p:spPr>
        <p:txBody>
          <a:bodyPr>
            <a:normAutofit/>
          </a:bodyPr>
          <a:lstStyle>
            <a:lvl1pPr marL="0" indent="0" algn="ctr">
              <a:buNone/>
              <a:defRPr sz="2000" baseline="0">
                <a:solidFill>
                  <a:schemeClr val="bg1"/>
                </a:solidFill>
                <a:latin typeface="Arial" panose="020B0604020202020204" pitchFamily="34" charset="0"/>
                <a:cs typeface="Arial" panose="020B0604020202020204" pitchFamily="34" charset="0"/>
              </a:defRPr>
            </a:lvl1pPr>
          </a:lstStyle>
          <a:p>
            <a:pPr lvl="0"/>
            <a:r>
              <a:rPr lang="tr-TR" dirty="0"/>
              <a:t>Öğretim Elemanı adını buraya yazınız</a:t>
            </a:r>
          </a:p>
        </p:txBody>
      </p:sp>
      <p:sp>
        <p:nvSpPr>
          <p:cNvPr id="10" name="Metin Yer Tutucusu 13">
            <a:extLst>
              <a:ext uri="{FF2B5EF4-FFF2-40B4-BE49-F238E27FC236}">
                <a16:creationId xmlns:a16="http://schemas.microsoft.com/office/drawing/2014/main" id="{84CE4D64-8539-4529-BCE1-681C75D8E2E7}"/>
              </a:ext>
            </a:extLst>
          </p:cNvPr>
          <p:cNvSpPr>
            <a:spLocks noGrp="1"/>
          </p:cNvSpPr>
          <p:nvPr>
            <p:ph type="body" sz="quarter" idx="14" hasCustomPrompt="1"/>
          </p:nvPr>
        </p:nvSpPr>
        <p:spPr>
          <a:xfrm>
            <a:off x="360946" y="5899412"/>
            <a:ext cx="8419760" cy="457200"/>
          </a:xfrm>
        </p:spPr>
        <p:txBody>
          <a:bodyPr>
            <a:normAutofit/>
          </a:bodyPr>
          <a:lstStyle>
            <a:lvl1pPr marL="0" indent="0" algn="ctr">
              <a:buNone/>
              <a:defRPr sz="1400" b="1" baseline="0">
                <a:solidFill>
                  <a:schemeClr val="bg1"/>
                </a:solidFill>
                <a:latin typeface="Arial" panose="020B0604020202020204" pitchFamily="34" charset="0"/>
                <a:cs typeface="Arial" panose="020B0604020202020204" pitchFamily="34" charset="0"/>
              </a:defRPr>
            </a:lvl1pPr>
          </a:lstStyle>
          <a:p>
            <a:pPr lvl="0"/>
            <a:r>
              <a:rPr lang="tr-TR" dirty="0"/>
              <a:t>Kaçıncı bölüm/hafta dersi ise onu bu alana yazınız. (</a:t>
            </a:r>
            <a:r>
              <a:rPr lang="tr-TR" dirty="0" err="1"/>
              <a:t>Örn</a:t>
            </a:r>
            <a:r>
              <a:rPr lang="tr-TR" dirty="0"/>
              <a:t>: 1. Hafta ya da 1. Bölüm)</a:t>
            </a:r>
          </a:p>
        </p:txBody>
      </p:sp>
      <p:pic>
        <p:nvPicPr>
          <p:cNvPr id="11" name="Picture 12" descr="C:\Documents and Settings\systemx\Desktop\UE_SUNUM\Slayt_resim\sdu_logo.png">
            <a:extLst>
              <a:ext uri="{FF2B5EF4-FFF2-40B4-BE49-F238E27FC236}">
                <a16:creationId xmlns:a16="http://schemas.microsoft.com/office/drawing/2014/main" id="{54A5F748-F960-AE4B-A1A3-6201FEF16D44}"/>
              </a:ext>
            </a:extLst>
          </p:cNvPr>
          <p:cNvPicPr>
            <a:picLocks noChangeAspect="1" noChangeArrowheads="1"/>
          </p:cNvPicPr>
          <p:nvPr userDrawn="1"/>
        </p:nvPicPr>
        <p:blipFill>
          <a:blip r:embed="rId3"/>
          <a:srcRect/>
          <a:stretch>
            <a:fillRect/>
          </a:stretch>
        </p:blipFill>
        <p:spPr bwMode="auto">
          <a:xfrm>
            <a:off x="3267075" y="1895475"/>
            <a:ext cx="2514600" cy="2314575"/>
          </a:xfrm>
          <a:prstGeom prst="rect">
            <a:avLst/>
          </a:prstGeom>
          <a:noFill/>
          <a:ln w="9525">
            <a:noFill/>
            <a:miter lim="800000"/>
            <a:headEnd/>
            <a:tailEnd/>
          </a:ln>
        </p:spPr>
      </p:pic>
      <p:pic>
        <p:nvPicPr>
          <p:cNvPr id="12" name="Picture 13" descr="C:\Documents and Settings\systemx\Desktop\UE_SUNUM\Slayt_resim\sdu_text.png">
            <a:extLst>
              <a:ext uri="{FF2B5EF4-FFF2-40B4-BE49-F238E27FC236}">
                <a16:creationId xmlns:a16="http://schemas.microsoft.com/office/drawing/2014/main" id="{93B7F04A-9970-B24A-8B74-E30EB3A35AEA}"/>
              </a:ext>
            </a:extLst>
          </p:cNvPr>
          <p:cNvPicPr>
            <a:picLocks noChangeAspect="1" noChangeArrowheads="1"/>
          </p:cNvPicPr>
          <p:nvPr userDrawn="1"/>
        </p:nvPicPr>
        <p:blipFill>
          <a:blip r:embed="rId4"/>
          <a:srcRect/>
          <a:stretch>
            <a:fillRect/>
          </a:stretch>
        </p:blipFill>
        <p:spPr bwMode="auto">
          <a:xfrm>
            <a:off x="1295400" y="1066800"/>
            <a:ext cx="6772275" cy="971550"/>
          </a:xfrm>
          <a:prstGeom prst="rect">
            <a:avLst/>
          </a:prstGeom>
          <a:noFill/>
          <a:ln w="9525">
            <a:noFill/>
            <a:miter lim="800000"/>
            <a:headEnd/>
            <a:tailEnd/>
          </a:ln>
        </p:spPr>
      </p:pic>
      <p:pic>
        <p:nvPicPr>
          <p:cNvPr id="13" name="Picture 7" descr="C:\Documents and Settings\systemx\Desktop\UE_SUNUM\Slayt_resim\ust.png">
            <a:extLst>
              <a:ext uri="{FF2B5EF4-FFF2-40B4-BE49-F238E27FC236}">
                <a16:creationId xmlns:a16="http://schemas.microsoft.com/office/drawing/2014/main" id="{2CFBFC92-D40E-5E41-9934-7BCC66B441BA}"/>
              </a:ext>
            </a:extLst>
          </p:cNvPr>
          <p:cNvPicPr>
            <a:picLocks noChangeAspect="1" noChangeArrowheads="1"/>
          </p:cNvPicPr>
          <p:nvPr userDrawn="1"/>
        </p:nvPicPr>
        <p:blipFill>
          <a:blip r:embed="rId5"/>
          <a:srcRect/>
          <a:stretch>
            <a:fillRect/>
          </a:stretch>
        </p:blipFill>
        <p:spPr bwMode="auto">
          <a:xfrm>
            <a:off x="0" y="0"/>
            <a:ext cx="9144001" cy="609600"/>
          </a:xfrm>
          <a:prstGeom prst="rect">
            <a:avLst/>
          </a:prstGeom>
          <a:noFill/>
        </p:spPr>
      </p:pic>
    </p:spTree>
    <p:extLst>
      <p:ext uri="{BB962C8B-B14F-4D97-AF65-F5344CB8AC3E}">
        <p14:creationId xmlns:p14="http://schemas.microsoft.com/office/powerpoint/2010/main" val="4264617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125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1250"/>
                                  </p:stCondLst>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fade">
                                      <p:cBhvr>
                                        <p:cTn id="12" dur="1000"/>
                                        <p:tgtEl>
                                          <p:spTgt spid="14">
                                            <p:txEl>
                                              <p:pRg st="0" end="0"/>
                                            </p:txEl>
                                          </p:spTgt>
                                        </p:tgtEl>
                                      </p:cBhvr>
                                    </p:animEffect>
                                    <p:anim calcmode="lin" valueType="num">
                                      <p:cBhvr>
                                        <p:cTn id="13"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4">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1250"/>
                                  </p:stCondLst>
                                  <p:childTnLst>
                                    <p:set>
                                      <p:cBhvr>
                                        <p:cTn id="16" dur="1" fill="hold">
                                          <p:stCondLst>
                                            <p:cond delay="0"/>
                                          </p:stCondLst>
                                        </p:cTn>
                                        <p:tgtEl>
                                          <p:spTgt spid="10">
                                            <p:txEl>
                                              <p:pRg st="0" end="0"/>
                                            </p:txEl>
                                          </p:spTgt>
                                        </p:tgtEl>
                                        <p:attrNameLst>
                                          <p:attrName>style.visibility</p:attrName>
                                        </p:attrNameLst>
                                      </p:cBhvr>
                                      <p:to>
                                        <p:strVal val="visible"/>
                                      </p:to>
                                    </p:set>
                                    <p:animEffect transition="in" filter="fade">
                                      <p:cBhvr>
                                        <p:cTn id="17" dur="1000"/>
                                        <p:tgtEl>
                                          <p:spTgt spid="10">
                                            <p:txEl>
                                              <p:pRg st="0" end="0"/>
                                            </p:txEl>
                                          </p:spTgt>
                                        </p:tgtEl>
                                      </p:cBhvr>
                                    </p:animEffect>
                                    <p:anim calcmode="lin" valueType="num">
                                      <p:cBhvr>
                                        <p:cTn id="18"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par>
                          <p:cTn id="20" fill="hold">
                            <p:stCondLst>
                              <p:cond delay="2250"/>
                            </p:stCondLst>
                            <p:childTnLst>
                              <p:par>
                                <p:cTn id="21" presetID="22" presetClass="entr" presetSubtype="4" fill="hold"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down)">
                                      <p:cBhvr>
                                        <p:cTn id="23" dur="500"/>
                                        <p:tgtEl>
                                          <p:spTgt spid="13"/>
                                        </p:tgtEl>
                                      </p:cBhvr>
                                    </p:animEffect>
                                  </p:childTnLst>
                                </p:cTn>
                              </p:par>
                            </p:childTnLst>
                          </p:cTn>
                        </p:par>
                        <p:par>
                          <p:cTn id="24" fill="hold">
                            <p:stCondLst>
                              <p:cond delay="2750"/>
                            </p:stCondLst>
                            <p:childTnLst>
                              <p:par>
                                <p:cTn id="25" presetID="10" presetClass="entr" presetSubtype="0" fill="hold" nodeType="afterEffect">
                                  <p:stCondLst>
                                    <p:cond delay="100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2000"/>
                                        <p:tgtEl>
                                          <p:spTgt spid="11"/>
                                        </p:tgtEl>
                                      </p:cBhvr>
                                    </p:animEffect>
                                  </p:childTnLst>
                                </p:cTn>
                              </p:par>
                              <p:par>
                                <p:cTn id="28" presetID="10"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42"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Lst>
      </p:bldP>
      <p:bldP spid="14" grpId="0" build="p">
        <p:tmplLst>
          <p:tmpl lvl="1">
            <p:tnLst>
              <p:par>
                <p:cTn presetID="42" presetClass="entr" presetSubtype="0" fill="hold" nodeType="withEffect">
                  <p:stCondLst>
                    <p:cond delay="1250"/>
                  </p:stCondLst>
                  <p:childTnLst>
                    <p:set>
                      <p:cBhvr>
                        <p:cTn dur="1" fill="hold">
                          <p:stCondLst>
                            <p:cond delay="0"/>
                          </p:stCondLst>
                        </p:cTn>
                        <p:tgtEl>
                          <p:spTgt spid="14"/>
                        </p:tgtEl>
                        <p:attrNameLst>
                          <p:attrName>style.visibility</p:attrName>
                        </p:attrNameLst>
                      </p:cBhvr>
                      <p:to>
                        <p:strVal val="visible"/>
                      </p:to>
                    </p:set>
                    <p:animEffect transition="in" filter="fade">
                      <p:cBhvr>
                        <p:cTn dur="1000"/>
                        <p:tgtEl>
                          <p:spTgt spid="14"/>
                        </p:tgtEl>
                      </p:cBhvr>
                    </p:animEffect>
                    <p:anim calcmode="lin" valueType="num">
                      <p:cBhvr>
                        <p:cTn dur="1000" fill="hold"/>
                        <p:tgtEl>
                          <p:spTgt spid="14"/>
                        </p:tgtEl>
                        <p:attrNameLst>
                          <p:attrName>ppt_x</p:attrName>
                        </p:attrNameLst>
                      </p:cBhvr>
                      <p:tavLst>
                        <p:tav tm="0">
                          <p:val>
                            <p:strVal val="#ppt_x"/>
                          </p:val>
                        </p:tav>
                        <p:tav tm="100000">
                          <p:val>
                            <p:strVal val="#ppt_x"/>
                          </p:val>
                        </p:tav>
                      </p:tavLst>
                    </p:anim>
                    <p:anim calcmode="lin" valueType="num">
                      <p:cBhvr>
                        <p:cTn dur="1000" fill="hold"/>
                        <p:tgtEl>
                          <p:spTgt spid="14"/>
                        </p:tgtEl>
                        <p:attrNameLst>
                          <p:attrName>ppt_y</p:attrName>
                        </p:attrNameLst>
                      </p:cBhvr>
                      <p:tavLst>
                        <p:tav tm="0">
                          <p:val>
                            <p:strVal val="#ppt_y+.1"/>
                          </p:val>
                        </p:tav>
                        <p:tav tm="100000">
                          <p:val>
                            <p:strVal val="#ppt_y"/>
                          </p:val>
                        </p:tav>
                      </p:tavLst>
                    </p:anim>
                  </p:childTnLst>
                </p:cTn>
              </p:par>
            </p:tnLst>
          </p:tmpl>
        </p:tmplLst>
      </p:bldP>
      <p:bldP spid="10" grpId="0" build="p">
        <p:tmplLst>
          <p:tmpl lvl="1">
            <p:tnLst>
              <p:par>
                <p:cTn presetID="42" presetClass="entr" presetSubtype="0" fill="hold" nodeType="withEffect">
                  <p:stCondLst>
                    <p:cond delay="1250"/>
                  </p:stCondLst>
                  <p:childTnLst>
                    <p:set>
                      <p:cBhvr>
                        <p:cTn dur="1" fill="hold">
                          <p:stCondLst>
                            <p:cond delay="0"/>
                          </p:stCondLst>
                        </p:cTn>
                        <p:tgtEl>
                          <p:spTgt spid="10"/>
                        </p:tgtEl>
                        <p:attrNameLst>
                          <p:attrName>style.visibility</p:attrName>
                        </p:attrNameLst>
                      </p:cBhvr>
                      <p:to>
                        <p:strVal val="visible"/>
                      </p:to>
                    </p:set>
                    <p:animEffect transition="in" filter="fade">
                      <p:cBhvr>
                        <p:cTn dur="1000"/>
                        <p:tgtEl>
                          <p:spTgt spid="10"/>
                        </p:tgtEl>
                      </p:cBhvr>
                    </p:animEffect>
                    <p:anim calcmode="lin" valueType="num">
                      <p:cBhvr>
                        <p:cTn dur="1000" fill="hold"/>
                        <p:tgtEl>
                          <p:spTgt spid="10"/>
                        </p:tgtEl>
                        <p:attrNameLst>
                          <p:attrName>ppt_x</p:attrName>
                        </p:attrNameLst>
                      </p:cBhvr>
                      <p:tavLst>
                        <p:tav tm="0">
                          <p:val>
                            <p:strVal val="#ppt_x"/>
                          </p:val>
                        </p:tav>
                        <p:tav tm="100000">
                          <p:val>
                            <p:strVal val="#ppt_x"/>
                          </p:val>
                        </p:tav>
                      </p:tavLst>
                    </p:anim>
                    <p:anim calcmode="lin" valueType="num">
                      <p:cBhvr>
                        <p:cTn dur="1000" fill="hold"/>
                        <p:tgtEl>
                          <p:spTgt spid="10"/>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Başlık ve İçeri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3765" y="853415"/>
            <a:ext cx="8686800" cy="536114"/>
          </a:xfrm>
        </p:spPr>
        <p:txBody>
          <a:bodyPr>
            <a:normAutofit/>
          </a:bodyPr>
          <a:lstStyle>
            <a:lvl1pPr>
              <a:defRPr sz="3600" b="1" baseline="0">
                <a:solidFill>
                  <a:srgbClr val="002060"/>
                </a:solidFill>
                <a:effectLst/>
                <a:latin typeface="+mn-lt"/>
              </a:defRPr>
            </a:lvl1pPr>
          </a:lstStyle>
          <a:p>
            <a:r>
              <a:rPr lang="tr-TR" dirty="0"/>
              <a:t>Bölüm/Ünite/Başlık bilgisini yazınız</a:t>
            </a:r>
            <a:endParaRPr lang="en-US" dirty="0"/>
          </a:p>
        </p:txBody>
      </p:sp>
      <p:sp>
        <p:nvSpPr>
          <p:cNvPr id="3" name="Content Placeholder 2"/>
          <p:cNvSpPr>
            <a:spLocks noGrp="1"/>
          </p:cNvSpPr>
          <p:nvPr>
            <p:ph idx="1" hasCustomPrompt="1"/>
          </p:nvPr>
        </p:nvSpPr>
        <p:spPr>
          <a:xfrm>
            <a:off x="313765" y="1515035"/>
            <a:ext cx="8686800" cy="4929308"/>
          </a:xfrm>
        </p:spPr>
        <p:txBody>
          <a:bodyPr/>
          <a:lstStyle>
            <a:lvl1pPr>
              <a:defRPr/>
            </a:lvl1pPr>
          </a:lstStyle>
          <a:p>
            <a:pPr lvl="0"/>
            <a:r>
              <a:rPr lang="tr-TR" dirty="0"/>
              <a:t>Konu Bilgisini yazınız</a:t>
            </a:r>
          </a:p>
          <a:p>
            <a:pPr lvl="1"/>
            <a:r>
              <a:rPr lang="tr-TR" dirty="0"/>
              <a:t>İkinci düzey</a:t>
            </a:r>
          </a:p>
          <a:p>
            <a:pPr lvl="2"/>
            <a:r>
              <a:rPr lang="tr-TR" dirty="0"/>
              <a:t>Üçüncü düzey</a:t>
            </a:r>
          </a:p>
          <a:p>
            <a:pPr lvl="3"/>
            <a:r>
              <a:rPr lang="tr-TR" dirty="0"/>
              <a:t>Dördüncü düzey</a:t>
            </a:r>
          </a:p>
          <a:p>
            <a:pPr lvl="4"/>
            <a:r>
              <a:rPr lang="tr-TR" dirty="0"/>
              <a:t>Beşinci düzey</a:t>
            </a:r>
            <a:endParaRPr lang="en-US" dirty="0"/>
          </a:p>
        </p:txBody>
      </p:sp>
      <p:sp>
        <p:nvSpPr>
          <p:cNvPr id="4" name="Date Placeholder 3"/>
          <p:cNvSpPr>
            <a:spLocks noGrp="1"/>
          </p:cNvSpPr>
          <p:nvPr>
            <p:ph type="dt" sz="half" idx="10"/>
          </p:nvPr>
        </p:nvSpPr>
        <p:spPr>
          <a:xfrm>
            <a:off x="313765" y="6356351"/>
            <a:ext cx="1891553" cy="365125"/>
          </a:xfrm>
        </p:spPr>
        <p:txBody>
          <a:bodyPr/>
          <a:lstStyle/>
          <a:p>
            <a:fld id="{7A384AEE-717F-461B-8C96-9D64203B579B}" type="datetimeFigureOut">
              <a:rPr lang="tr-TR" smtClean="0"/>
              <a:t>31.3.2020</a:t>
            </a:fld>
            <a:endParaRPr lang="tr-TR" dirty="0"/>
          </a:p>
        </p:txBody>
      </p:sp>
      <p:sp>
        <p:nvSpPr>
          <p:cNvPr id="5" name="Footer Placeholder 4"/>
          <p:cNvSpPr>
            <a:spLocks noGrp="1"/>
          </p:cNvSpPr>
          <p:nvPr>
            <p:ph type="ftr" sz="quarter" idx="11"/>
          </p:nvPr>
        </p:nvSpPr>
        <p:spPr>
          <a:xfrm>
            <a:off x="2411505" y="5618742"/>
            <a:ext cx="4527177" cy="365125"/>
          </a:xfrm>
        </p:spPr>
        <p:txBody>
          <a:bodyPr/>
          <a:lstStyle/>
          <a:p>
            <a:endParaRPr lang="tr-TR" dirty="0"/>
          </a:p>
        </p:txBody>
      </p:sp>
      <p:sp>
        <p:nvSpPr>
          <p:cNvPr id="6" name="Slide Number Placeholder 5"/>
          <p:cNvSpPr>
            <a:spLocks noGrp="1"/>
          </p:cNvSpPr>
          <p:nvPr>
            <p:ph type="sldNum" sz="quarter" idx="12"/>
          </p:nvPr>
        </p:nvSpPr>
        <p:spPr>
          <a:xfrm>
            <a:off x="6938682" y="6356351"/>
            <a:ext cx="2061882" cy="365125"/>
          </a:xfrm>
        </p:spPr>
        <p:txBody>
          <a:bodyPr/>
          <a:lstStyle/>
          <a:p>
            <a:fld id="{EFB22F58-9FDF-474E-B940-7D6D24B82F83}" type="slidenum">
              <a:rPr lang="tr-TR" smtClean="0"/>
              <a:t>‹#›</a:t>
            </a:fld>
            <a:endParaRPr lang="tr-TR"/>
          </a:p>
        </p:txBody>
      </p:sp>
      <p:pic>
        <p:nvPicPr>
          <p:cNvPr id="11" name="Picture 2" descr="C:\Documents and Settings\systemx\Desktop\UE_SUNUM\Slayt_resim\ust_icerik.png">
            <a:extLst>
              <a:ext uri="{FF2B5EF4-FFF2-40B4-BE49-F238E27FC236}">
                <a16:creationId xmlns:a16="http://schemas.microsoft.com/office/drawing/2014/main" id="{84A1DFD6-93C8-4445-88F7-8A0A4EC543D4}"/>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12" name="Picture 3" descr="C:\Documents and Settings\systemx\Desktop\UE_SUNUM\Slayt_resim\alt_icerik.png">
            <a:extLst>
              <a:ext uri="{FF2B5EF4-FFF2-40B4-BE49-F238E27FC236}">
                <a16:creationId xmlns:a16="http://schemas.microsoft.com/office/drawing/2014/main" id="{60D13B43-439F-3B46-8347-DE652410DB1D}"/>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3" name="Picture 4" descr="C:\Documents and Settings\systemx\Desktop\UE_SUNUM\Slayt_resim\sdu_logo_icerik.png">
            <a:extLst>
              <a:ext uri="{FF2B5EF4-FFF2-40B4-BE49-F238E27FC236}">
                <a16:creationId xmlns:a16="http://schemas.microsoft.com/office/drawing/2014/main" id="{406B7BCA-9423-4D42-A3B7-B4F6BB57FE31}"/>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4" name="Picture 3" descr="E:\Uzaktan Eğitim\UE_SUNUM\Slayt_resim\sdu_text_icerik_2.png">
            <a:extLst>
              <a:ext uri="{FF2B5EF4-FFF2-40B4-BE49-F238E27FC236}">
                <a16:creationId xmlns:a16="http://schemas.microsoft.com/office/drawing/2014/main" id="{9E8C404A-CFE7-9945-8080-75219E9B8143}"/>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7355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75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3"/>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par>
                                <p:cTn id="10" presetID="10" presetClass="entr" presetSubtype="0" fill="hold" grpId="0" nodeType="withEffect">
                                  <p:stCondLst>
                                    <p:cond delay="125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750"/>
                                        <p:tgtEl>
                                          <p:spTgt spid="3">
                                            <p:txEl>
                                              <p:pRg st="0" end="0"/>
                                            </p:txEl>
                                          </p:spTgt>
                                        </p:tgtEl>
                                      </p:cBhvr>
                                    </p:animEffect>
                                  </p:childTnLst>
                                </p:cTn>
                              </p:par>
                              <p:par>
                                <p:cTn id="13" presetID="10" presetClass="entr" presetSubtype="0" fill="hold" grpId="0" nodeType="withEffect">
                                  <p:stCondLst>
                                    <p:cond delay="125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50"/>
                                        <p:tgtEl>
                                          <p:spTgt spid="3">
                                            <p:txEl>
                                              <p:pRg st="1" end="1"/>
                                            </p:txEl>
                                          </p:spTgt>
                                        </p:tgtEl>
                                      </p:cBhvr>
                                    </p:animEffect>
                                  </p:childTnLst>
                                </p:cTn>
                              </p:par>
                              <p:par>
                                <p:cTn id="16" presetID="10" presetClass="entr" presetSubtype="0" fill="hold" grpId="0" nodeType="withEffect">
                                  <p:stCondLst>
                                    <p:cond delay="125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750"/>
                                        <p:tgtEl>
                                          <p:spTgt spid="3">
                                            <p:txEl>
                                              <p:pRg st="2" end="2"/>
                                            </p:txEl>
                                          </p:spTgt>
                                        </p:tgtEl>
                                      </p:cBhvr>
                                    </p:animEffect>
                                  </p:childTnLst>
                                </p:cTn>
                              </p:par>
                              <p:par>
                                <p:cTn id="19" presetID="10" presetClass="entr" presetSubtype="0" fill="hold" grpId="0" nodeType="withEffect">
                                  <p:stCondLst>
                                    <p:cond delay="125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750"/>
                                        <p:tgtEl>
                                          <p:spTgt spid="3">
                                            <p:txEl>
                                              <p:pRg st="3" end="3"/>
                                            </p:txEl>
                                          </p:spTgt>
                                        </p:tgtEl>
                                      </p:cBhvr>
                                    </p:animEffect>
                                  </p:childTnLst>
                                </p:cTn>
                              </p:par>
                              <p:par>
                                <p:cTn id="22" presetID="10" presetClass="entr" presetSubtype="0" fill="hold" grpId="0" nodeType="withEffect">
                                  <p:stCondLst>
                                    <p:cond delay="125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750"/>
                                        <p:tgtEl>
                                          <p:spTgt spid="3">
                                            <p:txEl>
                                              <p:pRg st="4" end="4"/>
                                            </p:txEl>
                                          </p:spTgt>
                                        </p:tgtEl>
                                      </p:cBhvr>
                                    </p:animEffect>
                                  </p:childTnLst>
                                </p:cTn>
                              </p:par>
                            </p:childTnLst>
                          </p:cTn>
                        </p:par>
                        <p:par>
                          <p:cTn id="25" fill="hold">
                            <p:stCondLst>
                              <p:cond delay="2000"/>
                            </p:stCondLst>
                            <p:childTnLst>
                              <p:par>
                                <p:cTn id="26" presetID="18" presetClass="entr" presetSubtype="12" fill="hold"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strips(downLeft)">
                                      <p:cBhvr>
                                        <p:cTn id="28" dur="500"/>
                                        <p:tgtEl>
                                          <p:spTgt spid="11"/>
                                        </p:tgtEl>
                                      </p:cBhvr>
                                    </p:animEffect>
                                  </p:childTnLst>
                                </p:cTn>
                              </p:par>
                            </p:childTnLst>
                          </p:cTn>
                        </p:par>
                        <p:par>
                          <p:cTn id="29" fill="hold">
                            <p:stCondLst>
                              <p:cond delay="2500"/>
                            </p:stCondLst>
                            <p:childTnLst>
                              <p:par>
                                <p:cTn id="30" presetID="22" presetClass="entr" presetSubtype="4" fill="hold"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down)">
                                      <p:cBhvr>
                                        <p:cTn id="32" dur="500"/>
                                        <p:tgtEl>
                                          <p:spTgt spid="12"/>
                                        </p:tgtEl>
                                      </p:cBhvr>
                                    </p:animEffect>
                                  </p:childTnLst>
                                </p:cTn>
                              </p:par>
                            </p:childTnLst>
                          </p:cTn>
                        </p:par>
                        <p:par>
                          <p:cTn id="33" fill="hold">
                            <p:stCondLst>
                              <p:cond delay="3000"/>
                            </p:stCondLst>
                            <p:childTnLst>
                              <p:par>
                                <p:cTn id="34" presetID="10" presetClass="entr" presetSubtype="0" fill="hold" nodeType="after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1000"/>
                                        <p:tgtEl>
                                          <p:spTgt spid="13"/>
                                        </p:tgtEl>
                                      </p:cBhvr>
                                    </p:animEffect>
                                  </p:childTnLst>
                                </p:cTn>
                              </p:par>
                              <p:par>
                                <p:cTn id="37" presetID="29"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p:cTn id="39" dur="500" fill="hold"/>
                                        <p:tgtEl>
                                          <p:spTgt spid="14"/>
                                        </p:tgtEl>
                                        <p:attrNameLst>
                                          <p:attrName>ppt_x</p:attrName>
                                        </p:attrNameLst>
                                      </p:cBhvr>
                                      <p:tavLst>
                                        <p:tav tm="0">
                                          <p:val>
                                            <p:strVal val="#ppt_x-.2"/>
                                          </p:val>
                                        </p:tav>
                                        <p:tav tm="100000">
                                          <p:val>
                                            <p:strVal val="#ppt_x"/>
                                          </p:val>
                                        </p:tav>
                                      </p:tavLst>
                                    </p:anim>
                                    <p:anim calcmode="lin" valueType="num">
                                      <p:cBhvr>
                                        <p:cTn id="40" dur="500" fill="hold"/>
                                        <p:tgtEl>
                                          <p:spTgt spid="14"/>
                                        </p:tgtEl>
                                        <p:attrNameLst>
                                          <p:attrName>ppt_y</p:attrName>
                                        </p:attrNameLst>
                                      </p:cBhvr>
                                      <p:tavLst>
                                        <p:tav tm="0">
                                          <p:val>
                                            <p:strVal val="#ppt_y"/>
                                          </p:val>
                                        </p:tav>
                                        <p:tav tm="100000">
                                          <p:val>
                                            <p:strVal val="#ppt_y"/>
                                          </p:val>
                                        </p:tav>
                                      </p:tavLst>
                                    </p:anim>
                                    <p:animEffect transition="in" filter="wipe(right)" prLst="gradientSize: 0.1">
                                      <p:cBhvr>
                                        <p:cTn id="4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 lvl="2">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 lvl="3">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 lvl="4">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 lvl="5">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Bölüm Üstbilgisi">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tr-TR"/>
              <a:t>Asıl başlık stili için tıklatın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7A384AEE-717F-461B-8C96-9D64203B579B}" type="datetimeFigureOut">
              <a:rPr lang="tr-TR" smtClean="0"/>
              <a:t>31.3.2020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EFB22F58-9FDF-474E-B940-7D6D24B82F83}" type="slidenum">
              <a:rPr lang="tr-TR" smtClean="0"/>
              <a:t>‹#›</a:t>
            </a:fld>
            <a:endParaRPr lang="tr-TR"/>
          </a:p>
        </p:txBody>
      </p:sp>
      <p:pic>
        <p:nvPicPr>
          <p:cNvPr id="10" name="Picture 2" descr="C:\Documents and Settings\systemx\Desktop\UE_SUNUM\Slayt_resim\ust_icerik.png">
            <a:extLst>
              <a:ext uri="{FF2B5EF4-FFF2-40B4-BE49-F238E27FC236}">
                <a16:creationId xmlns:a16="http://schemas.microsoft.com/office/drawing/2014/main" id="{D124583F-BCBB-CD45-AE3C-AF99A3E42100}"/>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11" name="Picture 3" descr="C:\Documents and Settings\systemx\Desktop\UE_SUNUM\Slayt_resim\alt_icerik.png">
            <a:extLst>
              <a:ext uri="{FF2B5EF4-FFF2-40B4-BE49-F238E27FC236}">
                <a16:creationId xmlns:a16="http://schemas.microsoft.com/office/drawing/2014/main" id="{4F6C485D-3148-5741-AEDD-4500565D4FA3}"/>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2" name="Picture 4" descr="C:\Documents and Settings\systemx\Desktop\UE_SUNUM\Slayt_resim\sdu_logo_icerik.png">
            <a:extLst>
              <a:ext uri="{FF2B5EF4-FFF2-40B4-BE49-F238E27FC236}">
                <a16:creationId xmlns:a16="http://schemas.microsoft.com/office/drawing/2014/main" id="{6B5F9717-9813-FC40-A8D8-A5F6BF514DAD}"/>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3" name="Picture 3" descr="E:\Uzaktan Eğitim\UE_SUNUM\Slayt_resim\sdu_text_icerik_2.png">
            <a:extLst>
              <a:ext uri="{FF2B5EF4-FFF2-40B4-BE49-F238E27FC236}">
                <a16:creationId xmlns:a16="http://schemas.microsoft.com/office/drawing/2014/main" id="{B922BC28-EC96-AD4D-8F45-8414D6877D58}"/>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0214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trips(downLeft)">
                                      <p:cBhvr>
                                        <p:cTn id="7" dur="500"/>
                                        <p:tgtEl>
                                          <p:spTgt spid="10"/>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down)">
                                      <p:cBhvr>
                                        <p:cTn id="11" dur="500"/>
                                        <p:tgtEl>
                                          <p:spTgt spid="11"/>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1000"/>
                                        <p:tgtEl>
                                          <p:spTgt spid="12"/>
                                        </p:tgtEl>
                                      </p:cBhvr>
                                    </p:animEffect>
                                  </p:childTnLst>
                                </p:cTn>
                              </p:par>
                              <p:par>
                                <p:cTn id="16" presetID="29"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p:cTn id="18" dur="500" fill="hold"/>
                                        <p:tgtEl>
                                          <p:spTgt spid="13"/>
                                        </p:tgtEl>
                                        <p:attrNameLst>
                                          <p:attrName>ppt_x</p:attrName>
                                        </p:attrNameLst>
                                      </p:cBhvr>
                                      <p:tavLst>
                                        <p:tav tm="0">
                                          <p:val>
                                            <p:strVal val="#ppt_x-.2"/>
                                          </p:val>
                                        </p:tav>
                                        <p:tav tm="100000">
                                          <p:val>
                                            <p:strVal val="#ppt_x"/>
                                          </p:val>
                                        </p:tav>
                                      </p:tavLst>
                                    </p:anim>
                                    <p:anim calcmode="lin" valueType="num">
                                      <p:cBhvr>
                                        <p:cTn id="19" dur="500" fill="hold"/>
                                        <p:tgtEl>
                                          <p:spTgt spid="13"/>
                                        </p:tgtEl>
                                        <p:attrNameLst>
                                          <p:attrName>ppt_y</p:attrName>
                                        </p:attrNameLst>
                                      </p:cBhvr>
                                      <p:tavLst>
                                        <p:tav tm="0">
                                          <p:val>
                                            <p:strVal val="#ppt_y"/>
                                          </p:val>
                                        </p:tav>
                                        <p:tav tm="100000">
                                          <p:val>
                                            <p:strVal val="#ppt_y"/>
                                          </p:val>
                                        </p:tav>
                                      </p:tavLst>
                                    </p:anim>
                                    <p:animEffect transition="in" filter="wipe(right)" prLst="gradientSize: 0.1">
                                      <p:cBhvr>
                                        <p:cTn id="2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1_İki İçeri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2729" y="779923"/>
            <a:ext cx="8650942" cy="678049"/>
          </a:xfrm>
        </p:spPr>
        <p:txBody>
          <a:bodyPr>
            <a:normAutofit/>
          </a:bodyPr>
          <a:lstStyle>
            <a:lvl1pPr>
              <a:defRPr sz="3600" b="1">
                <a:solidFill>
                  <a:srgbClr val="002060"/>
                </a:solidFill>
                <a:effectLst/>
                <a:latin typeface="+mn-lt"/>
              </a:defRPr>
            </a:lvl1pPr>
          </a:lstStyle>
          <a:p>
            <a:r>
              <a:rPr lang="tr-TR" dirty="0"/>
              <a:t>Bölüm/Ünite/Başlık bilgisini yazınız</a:t>
            </a:r>
            <a:endParaRPr lang="en-US" dirty="0"/>
          </a:p>
        </p:txBody>
      </p:sp>
      <p:sp>
        <p:nvSpPr>
          <p:cNvPr id="3" name="Content Placeholder 2"/>
          <p:cNvSpPr>
            <a:spLocks noGrp="1"/>
          </p:cNvSpPr>
          <p:nvPr>
            <p:ph sz="half" idx="1"/>
          </p:nvPr>
        </p:nvSpPr>
        <p:spPr>
          <a:xfrm>
            <a:off x="322728" y="1637360"/>
            <a:ext cx="4141695" cy="4806983"/>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4652682" y="1637360"/>
            <a:ext cx="4310905" cy="4806983"/>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a:xfrm>
            <a:off x="322729" y="6356351"/>
            <a:ext cx="2363321" cy="365125"/>
          </a:xfrm>
        </p:spPr>
        <p:txBody>
          <a:bodyPr/>
          <a:lstStyle/>
          <a:p>
            <a:fld id="{7A384AEE-717F-461B-8C96-9D64203B579B}" type="datetimeFigureOut">
              <a:rPr lang="tr-TR" smtClean="0"/>
              <a:t>31.3.2020</a:t>
            </a:fld>
            <a:endParaRPr lang="tr-TR" dirty="0"/>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EFB22F58-9FDF-474E-B940-7D6D24B82F83}" type="slidenum">
              <a:rPr lang="tr-TR" smtClean="0"/>
              <a:t>‹#›</a:t>
            </a:fld>
            <a:endParaRPr lang="tr-TR"/>
          </a:p>
        </p:txBody>
      </p:sp>
      <p:pic>
        <p:nvPicPr>
          <p:cNvPr id="14" name="Picture 2" descr="C:\Documents and Settings\systemx\Desktop\UE_SUNUM\Slayt_resim\ust_icerik.png">
            <a:extLst>
              <a:ext uri="{FF2B5EF4-FFF2-40B4-BE49-F238E27FC236}">
                <a16:creationId xmlns:a16="http://schemas.microsoft.com/office/drawing/2014/main" id="{16C282B3-0FA8-EC48-8557-B7980E8C6383}"/>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15" name="Picture 3" descr="C:\Documents and Settings\systemx\Desktop\UE_SUNUM\Slayt_resim\alt_icerik.png">
            <a:extLst>
              <a:ext uri="{FF2B5EF4-FFF2-40B4-BE49-F238E27FC236}">
                <a16:creationId xmlns:a16="http://schemas.microsoft.com/office/drawing/2014/main" id="{2AA198C9-893E-6241-A6BB-697EDB2A0415}"/>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6" name="Picture 4" descr="C:\Documents and Settings\systemx\Desktop\UE_SUNUM\Slayt_resim\sdu_logo_icerik.png">
            <a:extLst>
              <a:ext uri="{FF2B5EF4-FFF2-40B4-BE49-F238E27FC236}">
                <a16:creationId xmlns:a16="http://schemas.microsoft.com/office/drawing/2014/main" id="{3EDC7159-F9EA-074D-A24D-3782ACD3B9A3}"/>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7" name="Picture 3" descr="E:\Uzaktan Eğitim\UE_SUNUM\Slayt_resim\sdu_text_icerik_2.png">
            <a:extLst>
              <a:ext uri="{FF2B5EF4-FFF2-40B4-BE49-F238E27FC236}">
                <a16:creationId xmlns:a16="http://schemas.microsoft.com/office/drawing/2014/main" id="{E53280C5-28B2-8A48-841A-49C87151316E}"/>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8734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75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3"/>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par>
                                <p:cTn id="10" presetID="10" presetClass="entr" presetSubtype="0" fill="hold" grpId="0" nodeType="withEffect">
                                  <p:stCondLst>
                                    <p:cond delay="125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750"/>
                                        <p:tgtEl>
                                          <p:spTgt spid="3">
                                            <p:txEl>
                                              <p:pRg st="0" end="0"/>
                                            </p:txEl>
                                          </p:spTgt>
                                        </p:tgtEl>
                                      </p:cBhvr>
                                    </p:animEffect>
                                  </p:childTnLst>
                                </p:cTn>
                              </p:par>
                              <p:par>
                                <p:cTn id="13" presetID="10" presetClass="entr" presetSubtype="0" fill="hold" grpId="0" nodeType="withEffect">
                                  <p:stCondLst>
                                    <p:cond delay="125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50"/>
                                        <p:tgtEl>
                                          <p:spTgt spid="3">
                                            <p:txEl>
                                              <p:pRg st="1" end="1"/>
                                            </p:txEl>
                                          </p:spTgt>
                                        </p:tgtEl>
                                      </p:cBhvr>
                                    </p:animEffect>
                                  </p:childTnLst>
                                </p:cTn>
                              </p:par>
                              <p:par>
                                <p:cTn id="16" presetID="10" presetClass="entr" presetSubtype="0" fill="hold" grpId="0" nodeType="withEffect">
                                  <p:stCondLst>
                                    <p:cond delay="125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750"/>
                                        <p:tgtEl>
                                          <p:spTgt spid="3">
                                            <p:txEl>
                                              <p:pRg st="2" end="2"/>
                                            </p:txEl>
                                          </p:spTgt>
                                        </p:tgtEl>
                                      </p:cBhvr>
                                    </p:animEffect>
                                  </p:childTnLst>
                                </p:cTn>
                              </p:par>
                              <p:par>
                                <p:cTn id="19" presetID="10" presetClass="entr" presetSubtype="0" fill="hold" grpId="0" nodeType="withEffect">
                                  <p:stCondLst>
                                    <p:cond delay="125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750"/>
                                        <p:tgtEl>
                                          <p:spTgt spid="3">
                                            <p:txEl>
                                              <p:pRg st="3" end="3"/>
                                            </p:txEl>
                                          </p:spTgt>
                                        </p:tgtEl>
                                      </p:cBhvr>
                                    </p:animEffect>
                                  </p:childTnLst>
                                </p:cTn>
                              </p:par>
                              <p:par>
                                <p:cTn id="22" presetID="10" presetClass="entr" presetSubtype="0" fill="hold" grpId="0" nodeType="withEffect">
                                  <p:stCondLst>
                                    <p:cond delay="125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750"/>
                                        <p:tgtEl>
                                          <p:spTgt spid="3">
                                            <p:txEl>
                                              <p:pRg st="4" end="4"/>
                                            </p:txEl>
                                          </p:spTgt>
                                        </p:tgtEl>
                                      </p:cBhvr>
                                    </p:animEffect>
                                  </p:childTnLst>
                                </p:cTn>
                              </p:par>
                              <p:par>
                                <p:cTn id="25" presetID="10" presetClass="entr" presetSubtype="0" fill="hold" grpId="0" nodeType="withEffect">
                                  <p:stCondLst>
                                    <p:cond delay="1250"/>
                                  </p:stCondLst>
                                  <p:childTnLst>
                                    <p:set>
                                      <p:cBhvr>
                                        <p:cTn id="26" dur="1" fill="hold">
                                          <p:stCondLst>
                                            <p:cond delay="0"/>
                                          </p:stCondLst>
                                        </p:cTn>
                                        <p:tgtEl>
                                          <p:spTgt spid="4">
                                            <p:txEl>
                                              <p:pRg st="0" end="0"/>
                                            </p:txEl>
                                          </p:spTgt>
                                        </p:tgtEl>
                                        <p:attrNameLst>
                                          <p:attrName>style.visibility</p:attrName>
                                        </p:attrNameLst>
                                      </p:cBhvr>
                                      <p:to>
                                        <p:strVal val="visible"/>
                                      </p:to>
                                    </p:set>
                                    <p:animEffect transition="in" filter="fade">
                                      <p:cBhvr>
                                        <p:cTn id="27" dur="750"/>
                                        <p:tgtEl>
                                          <p:spTgt spid="4">
                                            <p:txEl>
                                              <p:pRg st="0" end="0"/>
                                            </p:txEl>
                                          </p:spTgt>
                                        </p:tgtEl>
                                      </p:cBhvr>
                                    </p:animEffect>
                                  </p:childTnLst>
                                </p:cTn>
                              </p:par>
                              <p:par>
                                <p:cTn id="28" presetID="10" presetClass="entr" presetSubtype="0" fill="hold" grpId="0" nodeType="withEffect">
                                  <p:stCondLst>
                                    <p:cond delay="1250"/>
                                  </p:stCondLst>
                                  <p:childTnLst>
                                    <p:set>
                                      <p:cBhvr>
                                        <p:cTn id="29" dur="1" fill="hold">
                                          <p:stCondLst>
                                            <p:cond delay="0"/>
                                          </p:stCondLst>
                                        </p:cTn>
                                        <p:tgtEl>
                                          <p:spTgt spid="4">
                                            <p:txEl>
                                              <p:pRg st="1" end="1"/>
                                            </p:txEl>
                                          </p:spTgt>
                                        </p:tgtEl>
                                        <p:attrNameLst>
                                          <p:attrName>style.visibility</p:attrName>
                                        </p:attrNameLst>
                                      </p:cBhvr>
                                      <p:to>
                                        <p:strVal val="visible"/>
                                      </p:to>
                                    </p:set>
                                    <p:animEffect transition="in" filter="fade">
                                      <p:cBhvr>
                                        <p:cTn id="30" dur="750"/>
                                        <p:tgtEl>
                                          <p:spTgt spid="4">
                                            <p:txEl>
                                              <p:pRg st="1" end="1"/>
                                            </p:txEl>
                                          </p:spTgt>
                                        </p:tgtEl>
                                      </p:cBhvr>
                                    </p:animEffect>
                                  </p:childTnLst>
                                </p:cTn>
                              </p:par>
                              <p:par>
                                <p:cTn id="31" presetID="10" presetClass="entr" presetSubtype="0" fill="hold" grpId="0" nodeType="withEffect">
                                  <p:stCondLst>
                                    <p:cond delay="1250"/>
                                  </p:stCondLst>
                                  <p:childTnLst>
                                    <p:set>
                                      <p:cBhvr>
                                        <p:cTn id="32" dur="1" fill="hold">
                                          <p:stCondLst>
                                            <p:cond delay="0"/>
                                          </p:stCondLst>
                                        </p:cTn>
                                        <p:tgtEl>
                                          <p:spTgt spid="4">
                                            <p:txEl>
                                              <p:pRg st="2" end="2"/>
                                            </p:txEl>
                                          </p:spTgt>
                                        </p:tgtEl>
                                        <p:attrNameLst>
                                          <p:attrName>style.visibility</p:attrName>
                                        </p:attrNameLst>
                                      </p:cBhvr>
                                      <p:to>
                                        <p:strVal val="visible"/>
                                      </p:to>
                                    </p:set>
                                    <p:animEffect transition="in" filter="fade">
                                      <p:cBhvr>
                                        <p:cTn id="33" dur="750"/>
                                        <p:tgtEl>
                                          <p:spTgt spid="4">
                                            <p:txEl>
                                              <p:pRg st="2" end="2"/>
                                            </p:txEl>
                                          </p:spTgt>
                                        </p:tgtEl>
                                      </p:cBhvr>
                                    </p:animEffect>
                                  </p:childTnLst>
                                </p:cTn>
                              </p:par>
                              <p:par>
                                <p:cTn id="34" presetID="10" presetClass="entr" presetSubtype="0" fill="hold" grpId="0" nodeType="withEffect">
                                  <p:stCondLst>
                                    <p:cond delay="1250"/>
                                  </p:stCondLst>
                                  <p:childTnLst>
                                    <p:set>
                                      <p:cBhvr>
                                        <p:cTn id="35" dur="1" fill="hold">
                                          <p:stCondLst>
                                            <p:cond delay="0"/>
                                          </p:stCondLst>
                                        </p:cTn>
                                        <p:tgtEl>
                                          <p:spTgt spid="4">
                                            <p:txEl>
                                              <p:pRg st="3" end="3"/>
                                            </p:txEl>
                                          </p:spTgt>
                                        </p:tgtEl>
                                        <p:attrNameLst>
                                          <p:attrName>style.visibility</p:attrName>
                                        </p:attrNameLst>
                                      </p:cBhvr>
                                      <p:to>
                                        <p:strVal val="visible"/>
                                      </p:to>
                                    </p:set>
                                    <p:animEffect transition="in" filter="fade">
                                      <p:cBhvr>
                                        <p:cTn id="36" dur="750"/>
                                        <p:tgtEl>
                                          <p:spTgt spid="4">
                                            <p:txEl>
                                              <p:pRg st="3" end="3"/>
                                            </p:txEl>
                                          </p:spTgt>
                                        </p:tgtEl>
                                      </p:cBhvr>
                                    </p:animEffect>
                                  </p:childTnLst>
                                </p:cTn>
                              </p:par>
                              <p:par>
                                <p:cTn id="37" presetID="10" presetClass="entr" presetSubtype="0" fill="hold" grpId="0" nodeType="withEffect">
                                  <p:stCondLst>
                                    <p:cond delay="1250"/>
                                  </p:stCondLst>
                                  <p:childTnLst>
                                    <p:set>
                                      <p:cBhvr>
                                        <p:cTn id="38" dur="1" fill="hold">
                                          <p:stCondLst>
                                            <p:cond delay="0"/>
                                          </p:stCondLst>
                                        </p:cTn>
                                        <p:tgtEl>
                                          <p:spTgt spid="4">
                                            <p:txEl>
                                              <p:pRg st="4" end="4"/>
                                            </p:txEl>
                                          </p:spTgt>
                                        </p:tgtEl>
                                        <p:attrNameLst>
                                          <p:attrName>style.visibility</p:attrName>
                                        </p:attrNameLst>
                                      </p:cBhvr>
                                      <p:to>
                                        <p:strVal val="visible"/>
                                      </p:to>
                                    </p:set>
                                    <p:animEffect transition="in" filter="fade">
                                      <p:cBhvr>
                                        <p:cTn id="39" dur="750"/>
                                        <p:tgtEl>
                                          <p:spTgt spid="4">
                                            <p:txEl>
                                              <p:pRg st="4" end="4"/>
                                            </p:txEl>
                                          </p:spTgt>
                                        </p:tgtEl>
                                      </p:cBhvr>
                                    </p:animEffect>
                                  </p:childTnLst>
                                </p:cTn>
                              </p:par>
                            </p:childTnLst>
                          </p:cTn>
                        </p:par>
                        <p:par>
                          <p:cTn id="40" fill="hold">
                            <p:stCondLst>
                              <p:cond delay="2000"/>
                            </p:stCondLst>
                            <p:childTnLst>
                              <p:par>
                                <p:cTn id="41" presetID="18" presetClass="entr" presetSubtype="12" fill="hold"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strips(downLeft)">
                                      <p:cBhvr>
                                        <p:cTn id="43" dur="500"/>
                                        <p:tgtEl>
                                          <p:spTgt spid="14"/>
                                        </p:tgtEl>
                                      </p:cBhvr>
                                    </p:animEffect>
                                  </p:childTnLst>
                                </p:cTn>
                              </p:par>
                            </p:childTnLst>
                          </p:cTn>
                        </p:par>
                        <p:par>
                          <p:cTn id="44" fill="hold">
                            <p:stCondLst>
                              <p:cond delay="2500"/>
                            </p:stCondLst>
                            <p:childTnLst>
                              <p:par>
                                <p:cTn id="45" presetID="22" presetClass="entr" presetSubtype="4" fill="hold" nodeType="after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down)">
                                      <p:cBhvr>
                                        <p:cTn id="47" dur="500"/>
                                        <p:tgtEl>
                                          <p:spTgt spid="15"/>
                                        </p:tgtEl>
                                      </p:cBhvr>
                                    </p:animEffect>
                                  </p:childTnLst>
                                </p:cTn>
                              </p:par>
                            </p:childTnLst>
                          </p:cTn>
                        </p:par>
                        <p:par>
                          <p:cTn id="48" fill="hold">
                            <p:stCondLst>
                              <p:cond delay="3000"/>
                            </p:stCondLst>
                            <p:childTnLst>
                              <p:par>
                                <p:cTn id="49" presetID="10" presetClass="entr" presetSubtype="0" fill="hold" nodeType="after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1000"/>
                                        <p:tgtEl>
                                          <p:spTgt spid="16"/>
                                        </p:tgtEl>
                                      </p:cBhvr>
                                    </p:animEffect>
                                  </p:childTnLst>
                                </p:cTn>
                              </p:par>
                              <p:par>
                                <p:cTn id="52" presetID="29" presetClass="entr" presetSubtype="0" fill="hold" nodeType="withEffect">
                                  <p:stCondLst>
                                    <p:cond delay="0"/>
                                  </p:stCondLst>
                                  <p:childTnLst>
                                    <p:set>
                                      <p:cBhvr>
                                        <p:cTn id="53" dur="1" fill="hold">
                                          <p:stCondLst>
                                            <p:cond delay="0"/>
                                          </p:stCondLst>
                                        </p:cTn>
                                        <p:tgtEl>
                                          <p:spTgt spid="17"/>
                                        </p:tgtEl>
                                        <p:attrNameLst>
                                          <p:attrName>style.visibility</p:attrName>
                                        </p:attrNameLst>
                                      </p:cBhvr>
                                      <p:to>
                                        <p:strVal val="visible"/>
                                      </p:to>
                                    </p:set>
                                    <p:anim calcmode="lin" valueType="num">
                                      <p:cBhvr>
                                        <p:cTn id="54" dur="500" fill="hold"/>
                                        <p:tgtEl>
                                          <p:spTgt spid="17"/>
                                        </p:tgtEl>
                                        <p:attrNameLst>
                                          <p:attrName>ppt_x</p:attrName>
                                        </p:attrNameLst>
                                      </p:cBhvr>
                                      <p:tavLst>
                                        <p:tav tm="0">
                                          <p:val>
                                            <p:strVal val="#ppt_x-.2"/>
                                          </p:val>
                                        </p:tav>
                                        <p:tav tm="100000">
                                          <p:val>
                                            <p:strVal val="#ppt_x"/>
                                          </p:val>
                                        </p:tav>
                                      </p:tavLst>
                                    </p:anim>
                                    <p:anim calcmode="lin" valueType="num">
                                      <p:cBhvr>
                                        <p:cTn id="55" dur="500" fill="hold"/>
                                        <p:tgtEl>
                                          <p:spTgt spid="17"/>
                                        </p:tgtEl>
                                        <p:attrNameLst>
                                          <p:attrName>ppt_y</p:attrName>
                                        </p:attrNameLst>
                                      </p:cBhvr>
                                      <p:tavLst>
                                        <p:tav tm="0">
                                          <p:val>
                                            <p:strVal val="#ppt_y"/>
                                          </p:val>
                                        </p:tav>
                                        <p:tav tm="100000">
                                          <p:val>
                                            <p:strVal val="#ppt_y"/>
                                          </p:val>
                                        </p:tav>
                                      </p:tavLst>
                                    </p:anim>
                                    <p:animEffect transition="in" filter="wipe(right)" prLst="gradientSize: 0.1">
                                      <p:cBhvr>
                                        <p:cTn id="5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 lvl="2">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 lvl="3">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 lvl="4">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 lvl="5">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Lst>
      </p:bldP>
      <p:bldP spid="4" grpId="0" build="p">
        <p:tmplLst>
          <p:tmpl lvl="1">
            <p:tnLst>
              <p:par>
                <p:cTn presetID="10" presetClass="entr" presetSubtype="0" fill="hold" nodeType="withEffect">
                  <p:stCondLst>
                    <p:cond delay="1250"/>
                  </p:stCondLst>
                  <p:childTnLst>
                    <p:set>
                      <p:cBhvr>
                        <p:cTn dur="1" fill="hold">
                          <p:stCondLst>
                            <p:cond delay="0"/>
                          </p:stCondLst>
                        </p:cTn>
                        <p:tgtEl>
                          <p:spTgt spid="4"/>
                        </p:tgtEl>
                        <p:attrNameLst>
                          <p:attrName>style.visibility</p:attrName>
                        </p:attrNameLst>
                      </p:cBhvr>
                      <p:to>
                        <p:strVal val="visible"/>
                      </p:to>
                    </p:set>
                    <p:animEffect transition="in" filter="fade">
                      <p:cBhvr>
                        <p:cTn dur="750"/>
                        <p:tgtEl>
                          <p:spTgt spid="4"/>
                        </p:tgtEl>
                      </p:cBhvr>
                    </p:animEffect>
                  </p:childTnLst>
                </p:cTn>
              </p:par>
            </p:tnLst>
          </p:tmpl>
          <p:tmpl lvl="2">
            <p:tnLst>
              <p:par>
                <p:cTn presetID="10" presetClass="entr" presetSubtype="0" fill="hold" nodeType="withEffect">
                  <p:stCondLst>
                    <p:cond delay="1250"/>
                  </p:stCondLst>
                  <p:childTnLst>
                    <p:set>
                      <p:cBhvr>
                        <p:cTn dur="1" fill="hold">
                          <p:stCondLst>
                            <p:cond delay="0"/>
                          </p:stCondLst>
                        </p:cTn>
                        <p:tgtEl>
                          <p:spTgt spid="4"/>
                        </p:tgtEl>
                        <p:attrNameLst>
                          <p:attrName>style.visibility</p:attrName>
                        </p:attrNameLst>
                      </p:cBhvr>
                      <p:to>
                        <p:strVal val="visible"/>
                      </p:to>
                    </p:set>
                    <p:animEffect transition="in" filter="fade">
                      <p:cBhvr>
                        <p:cTn dur="750"/>
                        <p:tgtEl>
                          <p:spTgt spid="4"/>
                        </p:tgtEl>
                      </p:cBhvr>
                    </p:animEffect>
                  </p:childTnLst>
                </p:cTn>
              </p:par>
            </p:tnLst>
          </p:tmpl>
          <p:tmpl lvl="3">
            <p:tnLst>
              <p:par>
                <p:cTn presetID="10" presetClass="entr" presetSubtype="0" fill="hold" nodeType="withEffect">
                  <p:stCondLst>
                    <p:cond delay="1250"/>
                  </p:stCondLst>
                  <p:childTnLst>
                    <p:set>
                      <p:cBhvr>
                        <p:cTn dur="1" fill="hold">
                          <p:stCondLst>
                            <p:cond delay="0"/>
                          </p:stCondLst>
                        </p:cTn>
                        <p:tgtEl>
                          <p:spTgt spid="4"/>
                        </p:tgtEl>
                        <p:attrNameLst>
                          <p:attrName>style.visibility</p:attrName>
                        </p:attrNameLst>
                      </p:cBhvr>
                      <p:to>
                        <p:strVal val="visible"/>
                      </p:to>
                    </p:set>
                    <p:animEffect transition="in" filter="fade">
                      <p:cBhvr>
                        <p:cTn dur="750"/>
                        <p:tgtEl>
                          <p:spTgt spid="4"/>
                        </p:tgtEl>
                      </p:cBhvr>
                    </p:animEffect>
                  </p:childTnLst>
                </p:cTn>
              </p:par>
            </p:tnLst>
          </p:tmpl>
          <p:tmpl lvl="4">
            <p:tnLst>
              <p:par>
                <p:cTn presetID="10" presetClass="entr" presetSubtype="0" fill="hold" nodeType="withEffect">
                  <p:stCondLst>
                    <p:cond delay="1250"/>
                  </p:stCondLst>
                  <p:childTnLst>
                    <p:set>
                      <p:cBhvr>
                        <p:cTn dur="1" fill="hold">
                          <p:stCondLst>
                            <p:cond delay="0"/>
                          </p:stCondLst>
                        </p:cTn>
                        <p:tgtEl>
                          <p:spTgt spid="4"/>
                        </p:tgtEl>
                        <p:attrNameLst>
                          <p:attrName>style.visibility</p:attrName>
                        </p:attrNameLst>
                      </p:cBhvr>
                      <p:to>
                        <p:strVal val="visible"/>
                      </p:to>
                    </p:set>
                    <p:animEffect transition="in" filter="fade">
                      <p:cBhvr>
                        <p:cTn dur="750"/>
                        <p:tgtEl>
                          <p:spTgt spid="4"/>
                        </p:tgtEl>
                      </p:cBhvr>
                    </p:animEffect>
                  </p:childTnLst>
                </p:cTn>
              </p:par>
            </p:tnLst>
          </p:tmpl>
          <p:tmpl lvl="5">
            <p:tnLst>
              <p:par>
                <p:cTn presetID="10" presetClass="entr" presetSubtype="0" fill="hold" nodeType="withEffect">
                  <p:stCondLst>
                    <p:cond delay="1250"/>
                  </p:stCondLst>
                  <p:childTnLst>
                    <p:set>
                      <p:cBhvr>
                        <p:cTn dur="1" fill="hold">
                          <p:stCondLst>
                            <p:cond delay="0"/>
                          </p:stCondLst>
                        </p:cTn>
                        <p:tgtEl>
                          <p:spTgt spid="4"/>
                        </p:tgtEl>
                        <p:attrNameLst>
                          <p:attrName>style.visibility</p:attrName>
                        </p:attrNameLst>
                      </p:cBhvr>
                      <p:to>
                        <p:strVal val="visible"/>
                      </p:to>
                    </p:set>
                    <p:animEffect transition="in" filter="fade">
                      <p:cBhvr>
                        <p:cTn dur="750"/>
                        <p:tgtEl>
                          <p:spTgt spid="4"/>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1_Karşılaştırma">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tr-TR"/>
              <a:t>Asıl başlık stili için tıklatın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4" name="Content Placeholder 3"/>
          <p:cNvSpPr>
            <a:spLocks noGrp="1"/>
          </p:cNvSpPr>
          <p:nvPr>
            <p:ph sz="half" idx="2"/>
          </p:nvPr>
        </p:nvSpPr>
        <p:spPr>
          <a:xfrm>
            <a:off x="629842" y="2505075"/>
            <a:ext cx="3868340" cy="368458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6" name="Content Placeholder 5"/>
          <p:cNvSpPr>
            <a:spLocks noGrp="1"/>
          </p:cNvSpPr>
          <p:nvPr>
            <p:ph sz="quarter" idx="4"/>
          </p:nvPr>
        </p:nvSpPr>
        <p:spPr>
          <a:xfrm>
            <a:off x="4629150" y="2505075"/>
            <a:ext cx="3887391" cy="368458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7A384AEE-717F-461B-8C96-9D64203B579B}" type="datetimeFigureOut">
              <a:rPr lang="tr-TR" smtClean="0"/>
              <a:t>31.3.2020</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EFB22F58-9FDF-474E-B940-7D6D24B82F83}" type="slidenum">
              <a:rPr lang="tr-TR" smtClean="0"/>
              <a:t>‹#›</a:t>
            </a:fld>
            <a:endParaRPr lang="tr-TR"/>
          </a:p>
        </p:txBody>
      </p:sp>
      <p:pic>
        <p:nvPicPr>
          <p:cNvPr id="13" name="Picture 2" descr="C:\Documents and Settings\systemx\Desktop\UE_SUNUM\Slayt_resim\ust_icerik.png">
            <a:extLst>
              <a:ext uri="{FF2B5EF4-FFF2-40B4-BE49-F238E27FC236}">
                <a16:creationId xmlns:a16="http://schemas.microsoft.com/office/drawing/2014/main" id="{5982E71D-F5D6-6A42-A387-0D5F710AD368}"/>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14" name="Picture 3" descr="C:\Documents and Settings\systemx\Desktop\UE_SUNUM\Slayt_resim\alt_icerik.png">
            <a:extLst>
              <a:ext uri="{FF2B5EF4-FFF2-40B4-BE49-F238E27FC236}">
                <a16:creationId xmlns:a16="http://schemas.microsoft.com/office/drawing/2014/main" id="{487E5075-313F-CB49-BD83-3D646A7346AB}"/>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5" name="Picture 4" descr="C:\Documents and Settings\systemx\Desktop\UE_SUNUM\Slayt_resim\sdu_logo_icerik.png">
            <a:extLst>
              <a:ext uri="{FF2B5EF4-FFF2-40B4-BE49-F238E27FC236}">
                <a16:creationId xmlns:a16="http://schemas.microsoft.com/office/drawing/2014/main" id="{5F341399-119C-5F45-9DD5-EE3FF654A655}"/>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6" name="Picture 3" descr="E:\Uzaktan Eğitim\UE_SUNUM\Slayt_resim\sdu_text_icerik_2.png">
            <a:extLst>
              <a:ext uri="{FF2B5EF4-FFF2-40B4-BE49-F238E27FC236}">
                <a16:creationId xmlns:a16="http://schemas.microsoft.com/office/drawing/2014/main" id="{742234DB-E25A-D94A-A9C6-C5107900F7F3}"/>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4557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trips(downLeft)">
                                      <p:cBhvr>
                                        <p:cTn id="7" dur="500"/>
                                        <p:tgtEl>
                                          <p:spTgt spid="13"/>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down)">
                                      <p:cBhvr>
                                        <p:cTn id="11" dur="500"/>
                                        <p:tgtEl>
                                          <p:spTgt spid="1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1000"/>
                                        <p:tgtEl>
                                          <p:spTgt spid="15"/>
                                        </p:tgtEl>
                                      </p:cBhvr>
                                    </p:animEffect>
                                  </p:childTnLst>
                                </p:cTn>
                              </p:par>
                              <p:par>
                                <p:cTn id="16" presetID="29" presetClass="entr" presetSubtype="0" fill="hold" nodeType="withEffect">
                                  <p:stCondLst>
                                    <p:cond delay="0"/>
                                  </p:stCondLst>
                                  <p:childTnLst>
                                    <p:set>
                                      <p:cBhvr>
                                        <p:cTn id="17" dur="1" fill="hold">
                                          <p:stCondLst>
                                            <p:cond delay="0"/>
                                          </p:stCondLst>
                                        </p:cTn>
                                        <p:tgtEl>
                                          <p:spTgt spid="16"/>
                                        </p:tgtEl>
                                        <p:attrNameLst>
                                          <p:attrName>style.visibility</p:attrName>
                                        </p:attrNameLst>
                                      </p:cBhvr>
                                      <p:to>
                                        <p:strVal val="visible"/>
                                      </p:to>
                                    </p:set>
                                    <p:anim calcmode="lin" valueType="num">
                                      <p:cBhvr>
                                        <p:cTn id="18" dur="500" fill="hold"/>
                                        <p:tgtEl>
                                          <p:spTgt spid="16"/>
                                        </p:tgtEl>
                                        <p:attrNameLst>
                                          <p:attrName>ppt_x</p:attrName>
                                        </p:attrNameLst>
                                      </p:cBhvr>
                                      <p:tavLst>
                                        <p:tav tm="0">
                                          <p:val>
                                            <p:strVal val="#ppt_x-.2"/>
                                          </p:val>
                                        </p:tav>
                                        <p:tav tm="100000">
                                          <p:val>
                                            <p:strVal val="#ppt_x"/>
                                          </p:val>
                                        </p:tav>
                                      </p:tavLst>
                                    </p:anim>
                                    <p:anim calcmode="lin" valueType="num">
                                      <p:cBhvr>
                                        <p:cTn id="19" dur="500" fill="hold"/>
                                        <p:tgtEl>
                                          <p:spTgt spid="16"/>
                                        </p:tgtEl>
                                        <p:attrNameLst>
                                          <p:attrName>ppt_y</p:attrName>
                                        </p:attrNameLst>
                                      </p:cBhvr>
                                      <p:tavLst>
                                        <p:tav tm="0">
                                          <p:val>
                                            <p:strVal val="#ppt_y"/>
                                          </p:val>
                                        </p:tav>
                                        <p:tav tm="100000">
                                          <p:val>
                                            <p:strVal val="#ppt_y"/>
                                          </p:val>
                                        </p:tav>
                                      </p:tavLst>
                                    </p:anim>
                                    <p:animEffect transition="in" filter="wipe(right)" prLst="gradientSize: 0.1">
                                      <p:cBhvr>
                                        <p:cTn id="2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1_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Date Placeholder 2"/>
          <p:cNvSpPr>
            <a:spLocks noGrp="1"/>
          </p:cNvSpPr>
          <p:nvPr>
            <p:ph type="dt" sz="half" idx="10"/>
          </p:nvPr>
        </p:nvSpPr>
        <p:spPr/>
        <p:txBody>
          <a:bodyPr/>
          <a:lstStyle/>
          <a:p>
            <a:fld id="{7A384AEE-717F-461B-8C96-9D64203B579B}" type="datetimeFigureOut">
              <a:rPr lang="tr-TR" smtClean="0"/>
              <a:t>31.3.2020</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EFB22F58-9FDF-474E-B940-7D6D24B82F83}" type="slidenum">
              <a:rPr lang="tr-TR" smtClean="0"/>
              <a:t>‹#›</a:t>
            </a:fld>
            <a:endParaRPr lang="tr-TR"/>
          </a:p>
        </p:txBody>
      </p:sp>
      <p:pic>
        <p:nvPicPr>
          <p:cNvPr id="9" name="Picture 2" descr="C:\Documents and Settings\systemx\Desktop\UE_SUNUM\Slayt_resim\ust_icerik.png">
            <a:extLst>
              <a:ext uri="{FF2B5EF4-FFF2-40B4-BE49-F238E27FC236}">
                <a16:creationId xmlns:a16="http://schemas.microsoft.com/office/drawing/2014/main" id="{1664BD23-CA4A-2146-AF1C-6055D62AF765}"/>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10" name="Picture 3" descr="C:\Documents and Settings\systemx\Desktop\UE_SUNUM\Slayt_resim\alt_icerik.png">
            <a:extLst>
              <a:ext uri="{FF2B5EF4-FFF2-40B4-BE49-F238E27FC236}">
                <a16:creationId xmlns:a16="http://schemas.microsoft.com/office/drawing/2014/main" id="{DEBD0A25-3C2C-4F40-BFC4-432296F1754D}"/>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1" name="Picture 4" descr="C:\Documents and Settings\systemx\Desktop\UE_SUNUM\Slayt_resim\sdu_logo_icerik.png">
            <a:extLst>
              <a:ext uri="{FF2B5EF4-FFF2-40B4-BE49-F238E27FC236}">
                <a16:creationId xmlns:a16="http://schemas.microsoft.com/office/drawing/2014/main" id="{E280C558-7A5F-8C48-BA4C-071AA3F7F650}"/>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2" name="Picture 3" descr="E:\Uzaktan Eğitim\UE_SUNUM\Slayt_resim\sdu_text_icerik_2.png">
            <a:extLst>
              <a:ext uri="{FF2B5EF4-FFF2-40B4-BE49-F238E27FC236}">
                <a16:creationId xmlns:a16="http://schemas.microsoft.com/office/drawing/2014/main" id="{1480449E-A9B3-274F-A419-696D362DD8B3}"/>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6633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trips(downLeft)">
                                      <p:cBhvr>
                                        <p:cTn id="7" dur="500"/>
                                        <p:tgtEl>
                                          <p:spTgt spid="9"/>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down)">
                                      <p:cBhvr>
                                        <p:cTn id="11" dur="500"/>
                                        <p:tgtEl>
                                          <p:spTgt spid="10"/>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1000"/>
                                        <p:tgtEl>
                                          <p:spTgt spid="11"/>
                                        </p:tgtEl>
                                      </p:cBhvr>
                                    </p:animEffect>
                                  </p:childTnLst>
                                </p:cTn>
                              </p:par>
                              <p:par>
                                <p:cTn id="16" presetID="29"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p:cTn id="18" dur="500" fill="hold"/>
                                        <p:tgtEl>
                                          <p:spTgt spid="12"/>
                                        </p:tgtEl>
                                        <p:attrNameLst>
                                          <p:attrName>ppt_x</p:attrName>
                                        </p:attrNameLst>
                                      </p:cBhvr>
                                      <p:tavLst>
                                        <p:tav tm="0">
                                          <p:val>
                                            <p:strVal val="#ppt_x-.2"/>
                                          </p:val>
                                        </p:tav>
                                        <p:tav tm="100000">
                                          <p:val>
                                            <p:strVal val="#ppt_x"/>
                                          </p:val>
                                        </p:tav>
                                      </p:tavLst>
                                    </p:anim>
                                    <p:anim calcmode="lin" valueType="num">
                                      <p:cBhvr>
                                        <p:cTn id="19" dur="500" fill="hold"/>
                                        <p:tgtEl>
                                          <p:spTgt spid="12"/>
                                        </p:tgtEl>
                                        <p:attrNameLst>
                                          <p:attrName>ppt_y</p:attrName>
                                        </p:attrNameLst>
                                      </p:cBhvr>
                                      <p:tavLst>
                                        <p:tav tm="0">
                                          <p:val>
                                            <p:strVal val="#ppt_y"/>
                                          </p:val>
                                        </p:tav>
                                        <p:tav tm="100000">
                                          <p:val>
                                            <p:strVal val="#ppt_y"/>
                                          </p:val>
                                        </p:tav>
                                      </p:tavLst>
                                    </p:anim>
                                    <p:animEffect transition="in" filter="wipe(right)" prLst="gradientSize: 0.1">
                                      <p:cBhvr>
                                        <p:cTn id="2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384AEE-717F-461B-8C96-9D64203B579B}" type="datetimeFigureOut">
              <a:rPr lang="tr-TR" smtClean="0"/>
              <a:t>31.3.2020</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EFB22F58-9FDF-474E-B940-7D6D24B82F83}" type="slidenum">
              <a:rPr lang="tr-TR" smtClean="0"/>
              <a:t>‹#›</a:t>
            </a:fld>
            <a:endParaRPr lang="tr-TR"/>
          </a:p>
        </p:txBody>
      </p:sp>
      <p:pic>
        <p:nvPicPr>
          <p:cNvPr id="8" name="Picture 2" descr="C:\Documents and Settings\systemx\Desktop\UE_SUNUM\Slayt_resim\ust_icerik.png">
            <a:extLst>
              <a:ext uri="{FF2B5EF4-FFF2-40B4-BE49-F238E27FC236}">
                <a16:creationId xmlns:a16="http://schemas.microsoft.com/office/drawing/2014/main" id="{F6F0BC35-BB1D-0045-A55B-AFFE2D310050}"/>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9" name="Picture 3" descr="C:\Documents and Settings\systemx\Desktop\UE_SUNUM\Slayt_resim\alt_icerik.png">
            <a:extLst>
              <a:ext uri="{FF2B5EF4-FFF2-40B4-BE49-F238E27FC236}">
                <a16:creationId xmlns:a16="http://schemas.microsoft.com/office/drawing/2014/main" id="{8EBCD001-D144-7A42-9E17-48922BEE224A}"/>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0" name="Picture 4" descr="C:\Documents and Settings\systemx\Desktop\UE_SUNUM\Slayt_resim\sdu_logo_icerik.png">
            <a:extLst>
              <a:ext uri="{FF2B5EF4-FFF2-40B4-BE49-F238E27FC236}">
                <a16:creationId xmlns:a16="http://schemas.microsoft.com/office/drawing/2014/main" id="{60B582D7-3C19-7E47-BCED-E4DAE60620D9}"/>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1" name="Picture 3" descr="E:\Uzaktan Eğitim\UE_SUNUM\Slayt_resim\sdu_text_icerik_2.png">
            <a:extLst>
              <a:ext uri="{FF2B5EF4-FFF2-40B4-BE49-F238E27FC236}">
                <a16:creationId xmlns:a16="http://schemas.microsoft.com/office/drawing/2014/main" id="{0445514E-D51D-374D-8D38-B7605C5B9E27}"/>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0236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downLeft)">
                                      <p:cBhvr>
                                        <p:cTn id="7" dur="500"/>
                                        <p:tgtEl>
                                          <p:spTgt spid="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down)">
                                      <p:cBhvr>
                                        <p:cTn id="11" dur="500"/>
                                        <p:tgtEl>
                                          <p:spTgt spid="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1000"/>
                                        <p:tgtEl>
                                          <p:spTgt spid="10"/>
                                        </p:tgtEl>
                                      </p:cBhvr>
                                    </p:animEffect>
                                  </p:childTnLst>
                                </p:cTn>
                              </p:par>
                              <p:par>
                                <p:cTn id="16" presetID="29"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p:cTn id="18" dur="500" fill="hold"/>
                                        <p:tgtEl>
                                          <p:spTgt spid="11"/>
                                        </p:tgtEl>
                                        <p:attrNameLst>
                                          <p:attrName>ppt_x</p:attrName>
                                        </p:attrNameLst>
                                      </p:cBhvr>
                                      <p:tavLst>
                                        <p:tav tm="0">
                                          <p:val>
                                            <p:strVal val="#ppt_x-.2"/>
                                          </p:val>
                                        </p:tav>
                                        <p:tav tm="100000">
                                          <p:val>
                                            <p:strVal val="#ppt_x"/>
                                          </p:val>
                                        </p:tav>
                                      </p:tavLst>
                                    </p:anim>
                                    <p:anim calcmode="lin" valueType="num">
                                      <p:cBhvr>
                                        <p:cTn id="19" dur="500" fill="hold"/>
                                        <p:tgtEl>
                                          <p:spTgt spid="11"/>
                                        </p:tgtEl>
                                        <p:attrNameLst>
                                          <p:attrName>ppt_y</p:attrName>
                                        </p:attrNameLst>
                                      </p:cBhvr>
                                      <p:tavLst>
                                        <p:tav tm="0">
                                          <p:val>
                                            <p:strVal val="#ppt_y"/>
                                          </p:val>
                                        </p:tav>
                                        <p:tav tm="100000">
                                          <p:val>
                                            <p:strVal val="#ppt_y"/>
                                          </p:val>
                                        </p:tav>
                                      </p:tavLst>
                                    </p:anim>
                                    <p:animEffect transition="in" filter="wipe(right)" prLst="gradientSize: 0.1">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1_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tr-TR"/>
              <a:t>Asıl başlık stili için tıklatın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a:t>
            </a:r>
          </a:p>
        </p:txBody>
      </p:sp>
      <p:sp>
        <p:nvSpPr>
          <p:cNvPr id="5" name="Date Placeholder 4"/>
          <p:cNvSpPr>
            <a:spLocks noGrp="1"/>
          </p:cNvSpPr>
          <p:nvPr>
            <p:ph type="dt" sz="half" idx="10"/>
          </p:nvPr>
        </p:nvSpPr>
        <p:spPr/>
        <p:txBody>
          <a:bodyPr/>
          <a:lstStyle/>
          <a:p>
            <a:fld id="{7A384AEE-717F-461B-8C96-9D64203B579B}" type="datetimeFigureOut">
              <a:rPr lang="tr-TR" smtClean="0"/>
              <a:t>31.3.2020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EFB22F58-9FDF-474E-B940-7D6D24B82F83}" type="slidenum">
              <a:rPr lang="tr-TR" smtClean="0"/>
              <a:t>‹#›</a:t>
            </a:fld>
            <a:endParaRPr lang="tr-TR"/>
          </a:p>
        </p:txBody>
      </p:sp>
      <p:pic>
        <p:nvPicPr>
          <p:cNvPr id="11" name="Picture 2" descr="C:\Documents and Settings\systemx\Desktop\UE_SUNUM\Slayt_resim\ust_icerik.png">
            <a:extLst>
              <a:ext uri="{FF2B5EF4-FFF2-40B4-BE49-F238E27FC236}">
                <a16:creationId xmlns:a16="http://schemas.microsoft.com/office/drawing/2014/main" id="{C6669CAE-374D-AC40-B11A-190FD0458008}"/>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12" name="Picture 3" descr="C:\Documents and Settings\systemx\Desktop\UE_SUNUM\Slayt_resim\alt_icerik.png">
            <a:extLst>
              <a:ext uri="{FF2B5EF4-FFF2-40B4-BE49-F238E27FC236}">
                <a16:creationId xmlns:a16="http://schemas.microsoft.com/office/drawing/2014/main" id="{200ACFD1-4155-464B-85EC-8726EA5D06ED}"/>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3" name="Picture 4" descr="C:\Documents and Settings\systemx\Desktop\UE_SUNUM\Slayt_resim\sdu_logo_icerik.png">
            <a:extLst>
              <a:ext uri="{FF2B5EF4-FFF2-40B4-BE49-F238E27FC236}">
                <a16:creationId xmlns:a16="http://schemas.microsoft.com/office/drawing/2014/main" id="{F05004A6-6AFC-E24E-9214-D7EE8636E645}"/>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4" name="Picture 3" descr="E:\Uzaktan Eğitim\UE_SUNUM\Slayt_resim\sdu_text_icerik_2.png">
            <a:extLst>
              <a:ext uri="{FF2B5EF4-FFF2-40B4-BE49-F238E27FC236}">
                <a16:creationId xmlns:a16="http://schemas.microsoft.com/office/drawing/2014/main" id="{A293A81E-9062-B84B-9A7B-D962785C9FB3}"/>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8415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strips(downLeft)">
                                      <p:cBhvr>
                                        <p:cTn id="7" dur="500"/>
                                        <p:tgtEl>
                                          <p:spTgt spid="11"/>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down)">
                                      <p:cBhvr>
                                        <p:cTn id="11" dur="500"/>
                                        <p:tgtEl>
                                          <p:spTgt spid="12"/>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childTnLst>
                                </p:cTn>
                              </p:par>
                              <p:par>
                                <p:cTn id="16" presetID="29"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 calcmode="lin" valueType="num">
                                      <p:cBhvr>
                                        <p:cTn id="18" dur="500" fill="hold"/>
                                        <p:tgtEl>
                                          <p:spTgt spid="14"/>
                                        </p:tgtEl>
                                        <p:attrNameLst>
                                          <p:attrName>ppt_x</p:attrName>
                                        </p:attrNameLst>
                                      </p:cBhvr>
                                      <p:tavLst>
                                        <p:tav tm="0">
                                          <p:val>
                                            <p:strVal val="#ppt_x-.2"/>
                                          </p:val>
                                        </p:tav>
                                        <p:tav tm="100000">
                                          <p:val>
                                            <p:strVal val="#ppt_x"/>
                                          </p:val>
                                        </p:tav>
                                      </p:tavLst>
                                    </p:anim>
                                    <p:anim calcmode="lin" valueType="num">
                                      <p:cBhvr>
                                        <p:cTn id="19" dur="500" fill="hold"/>
                                        <p:tgtEl>
                                          <p:spTgt spid="14"/>
                                        </p:tgtEl>
                                        <p:attrNameLst>
                                          <p:attrName>ppt_y</p:attrName>
                                        </p:attrNameLst>
                                      </p:cBhvr>
                                      <p:tavLst>
                                        <p:tav tm="0">
                                          <p:val>
                                            <p:strVal val="#ppt_y"/>
                                          </p:val>
                                        </p:tav>
                                        <p:tav tm="100000">
                                          <p:val>
                                            <p:strVal val="#ppt_y"/>
                                          </p:val>
                                        </p:tav>
                                      </p:tavLst>
                                    </p:anim>
                                    <p:animEffect transition="in" filter="wipe(right)" prLst="gradientSize: 0.1">
                                      <p:cBhvr>
                                        <p:cTn id="2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1_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tr-TR"/>
              <a:t>Asıl başlık stili için tıklatın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simgeyi tıklatın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a:t>
            </a:r>
          </a:p>
        </p:txBody>
      </p:sp>
      <p:sp>
        <p:nvSpPr>
          <p:cNvPr id="5" name="Date Placeholder 4"/>
          <p:cNvSpPr>
            <a:spLocks noGrp="1"/>
          </p:cNvSpPr>
          <p:nvPr>
            <p:ph type="dt" sz="half" idx="10"/>
          </p:nvPr>
        </p:nvSpPr>
        <p:spPr/>
        <p:txBody>
          <a:bodyPr/>
          <a:lstStyle/>
          <a:p>
            <a:fld id="{7A384AEE-717F-461B-8C96-9D64203B579B}" type="datetimeFigureOut">
              <a:rPr lang="tr-TR" smtClean="0"/>
              <a:t>31.3.2020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EFB22F58-9FDF-474E-B940-7D6D24B82F83}" type="slidenum">
              <a:rPr lang="tr-TR" smtClean="0"/>
              <a:t>‹#›</a:t>
            </a:fld>
            <a:endParaRPr lang="tr-TR"/>
          </a:p>
        </p:txBody>
      </p:sp>
      <p:pic>
        <p:nvPicPr>
          <p:cNvPr id="11" name="Picture 2" descr="C:\Documents and Settings\systemx\Desktop\UE_SUNUM\Slayt_resim\ust_icerik.png">
            <a:extLst>
              <a:ext uri="{FF2B5EF4-FFF2-40B4-BE49-F238E27FC236}">
                <a16:creationId xmlns:a16="http://schemas.microsoft.com/office/drawing/2014/main" id="{94CE979B-0D5F-6240-99C3-49CFBDE7BB1B}"/>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12" name="Picture 3" descr="C:\Documents and Settings\systemx\Desktop\UE_SUNUM\Slayt_resim\alt_icerik.png">
            <a:extLst>
              <a:ext uri="{FF2B5EF4-FFF2-40B4-BE49-F238E27FC236}">
                <a16:creationId xmlns:a16="http://schemas.microsoft.com/office/drawing/2014/main" id="{74190F14-02B7-5244-A1DA-A0F604CC491A}"/>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3" name="Picture 4" descr="C:\Documents and Settings\systemx\Desktop\UE_SUNUM\Slayt_resim\sdu_logo_icerik.png">
            <a:extLst>
              <a:ext uri="{FF2B5EF4-FFF2-40B4-BE49-F238E27FC236}">
                <a16:creationId xmlns:a16="http://schemas.microsoft.com/office/drawing/2014/main" id="{FE03CE68-C366-514C-B989-0CAAD6800A1A}"/>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4" name="Picture 3" descr="E:\Uzaktan Eğitim\UE_SUNUM\Slayt_resim\sdu_text_icerik_2.png">
            <a:extLst>
              <a:ext uri="{FF2B5EF4-FFF2-40B4-BE49-F238E27FC236}">
                <a16:creationId xmlns:a16="http://schemas.microsoft.com/office/drawing/2014/main" id="{FFD9A3F2-F5C7-CF40-9777-55669091DDCC}"/>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6286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strips(downLeft)">
                                      <p:cBhvr>
                                        <p:cTn id="7" dur="500"/>
                                        <p:tgtEl>
                                          <p:spTgt spid="11"/>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down)">
                                      <p:cBhvr>
                                        <p:cTn id="11" dur="500"/>
                                        <p:tgtEl>
                                          <p:spTgt spid="12"/>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childTnLst>
                                </p:cTn>
                              </p:par>
                              <p:par>
                                <p:cTn id="16" presetID="29"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 calcmode="lin" valueType="num">
                                      <p:cBhvr>
                                        <p:cTn id="18" dur="500" fill="hold"/>
                                        <p:tgtEl>
                                          <p:spTgt spid="14"/>
                                        </p:tgtEl>
                                        <p:attrNameLst>
                                          <p:attrName>ppt_x</p:attrName>
                                        </p:attrNameLst>
                                      </p:cBhvr>
                                      <p:tavLst>
                                        <p:tav tm="0">
                                          <p:val>
                                            <p:strVal val="#ppt_x-.2"/>
                                          </p:val>
                                        </p:tav>
                                        <p:tav tm="100000">
                                          <p:val>
                                            <p:strVal val="#ppt_x"/>
                                          </p:val>
                                        </p:tav>
                                      </p:tavLst>
                                    </p:anim>
                                    <p:anim calcmode="lin" valueType="num">
                                      <p:cBhvr>
                                        <p:cTn id="19" dur="500" fill="hold"/>
                                        <p:tgtEl>
                                          <p:spTgt spid="14"/>
                                        </p:tgtEl>
                                        <p:attrNameLst>
                                          <p:attrName>ppt_y</p:attrName>
                                        </p:attrNameLst>
                                      </p:cBhvr>
                                      <p:tavLst>
                                        <p:tav tm="0">
                                          <p:val>
                                            <p:strVal val="#ppt_y"/>
                                          </p:val>
                                        </p:tav>
                                        <p:tav tm="100000">
                                          <p:val>
                                            <p:strVal val="#ppt_y"/>
                                          </p:val>
                                        </p:tav>
                                      </p:tavLst>
                                    </p:anim>
                                    <p:animEffect transition="in" filter="wipe(right)" prLst="gradientSize: 0.1">
                                      <p:cBhvr>
                                        <p:cTn id="2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7A384AEE-717F-461B-8C96-9D64203B579B}" type="datetimeFigureOut">
              <a:rPr lang="tr-TR" smtClean="0"/>
              <a:t>31.3.2020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EFB22F58-9FDF-474E-B940-7D6D24B82F83}" type="slidenum">
              <a:rPr lang="tr-TR" smtClean="0"/>
              <a:t>‹#›</a:t>
            </a:fld>
            <a:endParaRPr lang="tr-TR"/>
          </a:p>
        </p:txBody>
      </p:sp>
      <p:pic>
        <p:nvPicPr>
          <p:cNvPr id="10" name="Picture 2" descr="C:\Documents and Settings\systemx\Desktop\UE_SUNUM\Slayt_resim\ust_icerik.png">
            <a:extLst>
              <a:ext uri="{FF2B5EF4-FFF2-40B4-BE49-F238E27FC236}">
                <a16:creationId xmlns:a16="http://schemas.microsoft.com/office/drawing/2014/main" id="{EF250502-1EBC-8141-8716-C441289B3B65}"/>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11" name="Picture 3" descr="C:\Documents and Settings\systemx\Desktop\UE_SUNUM\Slayt_resim\alt_icerik.png">
            <a:extLst>
              <a:ext uri="{FF2B5EF4-FFF2-40B4-BE49-F238E27FC236}">
                <a16:creationId xmlns:a16="http://schemas.microsoft.com/office/drawing/2014/main" id="{A0ACC324-E794-4846-8EE9-B9B5969B1582}"/>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2" name="Picture 4" descr="C:\Documents and Settings\systemx\Desktop\UE_SUNUM\Slayt_resim\sdu_logo_icerik.png">
            <a:extLst>
              <a:ext uri="{FF2B5EF4-FFF2-40B4-BE49-F238E27FC236}">
                <a16:creationId xmlns:a16="http://schemas.microsoft.com/office/drawing/2014/main" id="{E1E5F3BC-5650-574B-8CE0-3DD0DDD39B43}"/>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3" name="Picture 3" descr="E:\Uzaktan Eğitim\UE_SUNUM\Slayt_resim\sdu_text_icerik_2.png">
            <a:extLst>
              <a:ext uri="{FF2B5EF4-FFF2-40B4-BE49-F238E27FC236}">
                <a16:creationId xmlns:a16="http://schemas.microsoft.com/office/drawing/2014/main" id="{EA4EB691-6F3D-E44E-AEB4-6F83664F3870}"/>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5236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trips(downLeft)">
                                      <p:cBhvr>
                                        <p:cTn id="7" dur="500"/>
                                        <p:tgtEl>
                                          <p:spTgt spid="10"/>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down)">
                                      <p:cBhvr>
                                        <p:cTn id="11" dur="500"/>
                                        <p:tgtEl>
                                          <p:spTgt spid="11"/>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1000"/>
                                        <p:tgtEl>
                                          <p:spTgt spid="12"/>
                                        </p:tgtEl>
                                      </p:cBhvr>
                                    </p:animEffect>
                                  </p:childTnLst>
                                </p:cTn>
                              </p:par>
                              <p:par>
                                <p:cTn id="16" presetID="29"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p:cTn id="18" dur="500" fill="hold"/>
                                        <p:tgtEl>
                                          <p:spTgt spid="13"/>
                                        </p:tgtEl>
                                        <p:attrNameLst>
                                          <p:attrName>ppt_x</p:attrName>
                                        </p:attrNameLst>
                                      </p:cBhvr>
                                      <p:tavLst>
                                        <p:tav tm="0">
                                          <p:val>
                                            <p:strVal val="#ppt_x-.2"/>
                                          </p:val>
                                        </p:tav>
                                        <p:tav tm="100000">
                                          <p:val>
                                            <p:strVal val="#ppt_x"/>
                                          </p:val>
                                        </p:tav>
                                      </p:tavLst>
                                    </p:anim>
                                    <p:anim calcmode="lin" valueType="num">
                                      <p:cBhvr>
                                        <p:cTn id="19" dur="500" fill="hold"/>
                                        <p:tgtEl>
                                          <p:spTgt spid="13"/>
                                        </p:tgtEl>
                                        <p:attrNameLst>
                                          <p:attrName>ppt_y</p:attrName>
                                        </p:attrNameLst>
                                      </p:cBhvr>
                                      <p:tavLst>
                                        <p:tav tm="0">
                                          <p:val>
                                            <p:strVal val="#ppt_y"/>
                                          </p:val>
                                        </p:tav>
                                        <p:tav tm="100000">
                                          <p:val>
                                            <p:strVal val="#ppt_y"/>
                                          </p:val>
                                        </p:tav>
                                      </p:tavLst>
                                    </p:anim>
                                    <p:animEffect transition="in" filter="wipe(right)" prLst="gradientSize: 0.1">
                                      <p:cBhvr>
                                        <p:cTn id="2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1_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tr-TR"/>
              <a:t>Asıl başlık stili için tıklatın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7A384AEE-717F-461B-8C96-9D64203B579B}" type="datetimeFigureOut">
              <a:rPr lang="tr-TR" smtClean="0"/>
              <a:t>31.3.2020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EFB22F58-9FDF-474E-B940-7D6D24B82F83}" type="slidenum">
              <a:rPr lang="tr-TR" smtClean="0"/>
              <a:t>‹#›</a:t>
            </a:fld>
            <a:endParaRPr lang="tr-TR"/>
          </a:p>
        </p:txBody>
      </p:sp>
      <p:pic>
        <p:nvPicPr>
          <p:cNvPr id="10" name="Picture 2" descr="C:\Documents and Settings\systemx\Desktop\UE_SUNUM\Slayt_resim\ust_icerik.png">
            <a:extLst>
              <a:ext uri="{FF2B5EF4-FFF2-40B4-BE49-F238E27FC236}">
                <a16:creationId xmlns:a16="http://schemas.microsoft.com/office/drawing/2014/main" id="{C097CC64-DBE4-2543-9539-25C0D5F875B6}"/>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11" name="Picture 3" descr="C:\Documents and Settings\systemx\Desktop\UE_SUNUM\Slayt_resim\alt_icerik.png">
            <a:extLst>
              <a:ext uri="{FF2B5EF4-FFF2-40B4-BE49-F238E27FC236}">
                <a16:creationId xmlns:a16="http://schemas.microsoft.com/office/drawing/2014/main" id="{3817FF26-D818-A94F-8909-97CEDCAACAFE}"/>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2" name="Picture 4" descr="C:\Documents and Settings\systemx\Desktop\UE_SUNUM\Slayt_resim\sdu_logo_icerik.png">
            <a:extLst>
              <a:ext uri="{FF2B5EF4-FFF2-40B4-BE49-F238E27FC236}">
                <a16:creationId xmlns:a16="http://schemas.microsoft.com/office/drawing/2014/main" id="{0431534A-17E5-FB44-BC7A-5270DB4C1880}"/>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3" name="Picture 3" descr="E:\Uzaktan Eğitim\UE_SUNUM\Slayt_resim\sdu_text_icerik_2.png">
            <a:extLst>
              <a:ext uri="{FF2B5EF4-FFF2-40B4-BE49-F238E27FC236}">
                <a16:creationId xmlns:a16="http://schemas.microsoft.com/office/drawing/2014/main" id="{D605E63E-6EBB-FB48-AAED-BCC7C44FA766}"/>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24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trips(downLeft)">
                                      <p:cBhvr>
                                        <p:cTn id="7" dur="500"/>
                                        <p:tgtEl>
                                          <p:spTgt spid="10"/>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down)">
                                      <p:cBhvr>
                                        <p:cTn id="11" dur="500"/>
                                        <p:tgtEl>
                                          <p:spTgt spid="11"/>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1000"/>
                                        <p:tgtEl>
                                          <p:spTgt spid="12"/>
                                        </p:tgtEl>
                                      </p:cBhvr>
                                    </p:animEffect>
                                  </p:childTnLst>
                                </p:cTn>
                              </p:par>
                              <p:par>
                                <p:cTn id="16" presetID="29"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p:cTn id="18" dur="500" fill="hold"/>
                                        <p:tgtEl>
                                          <p:spTgt spid="13"/>
                                        </p:tgtEl>
                                        <p:attrNameLst>
                                          <p:attrName>ppt_x</p:attrName>
                                        </p:attrNameLst>
                                      </p:cBhvr>
                                      <p:tavLst>
                                        <p:tav tm="0">
                                          <p:val>
                                            <p:strVal val="#ppt_x-.2"/>
                                          </p:val>
                                        </p:tav>
                                        <p:tav tm="100000">
                                          <p:val>
                                            <p:strVal val="#ppt_x"/>
                                          </p:val>
                                        </p:tav>
                                      </p:tavLst>
                                    </p:anim>
                                    <p:anim calcmode="lin" valueType="num">
                                      <p:cBhvr>
                                        <p:cTn id="19" dur="500" fill="hold"/>
                                        <p:tgtEl>
                                          <p:spTgt spid="13"/>
                                        </p:tgtEl>
                                        <p:attrNameLst>
                                          <p:attrName>ppt_y</p:attrName>
                                        </p:attrNameLst>
                                      </p:cBhvr>
                                      <p:tavLst>
                                        <p:tav tm="0">
                                          <p:val>
                                            <p:strVal val="#ppt_y"/>
                                          </p:val>
                                        </p:tav>
                                        <p:tav tm="100000">
                                          <p:val>
                                            <p:strVal val="#ppt_y"/>
                                          </p:val>
                                        </p:tav>
                                      </p:tavLst>
                                    </p:anim>
                                    <p:animEffect transition="in" filter="wipe(right)" prLst="gradientSize: 0.1">
                                      <p:cBhvr>
                                        <p:cTn id="2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1 Başlık Yer Tutucusu"/>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tr-TR"/>
              <a:t>Asıl başlık stili için tıklatın</a:t>
            </a:r>
          </a:p>
        </p:txBody>
      </p:sp>
      <p:sp>
        <p:nvSpPr>
          <p:cNvPr id="1027" name="2 Metin Yer Tutucusu"/>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E7846A13-9F12-41DC-9D69-8D9BD821FB58}" type="datetimeFigureOut">
              <a:rPr lang="tr-TR"/>
              <a:pPr>
                <a:defRPr/>
              </a:pPr>
              <a:t>31.3.2020</a:t>
            </a:fld>
            <a:endParaRPr lang="tr-TR"/>
          </a:p>
        </p:txBody>
      </p:sp>
      <p:sp>
        <p:nvSpPr>
          <p:cNvPr id="5" name="4 Altbilgi Yer Tutucusu"/>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tr-TR"/>
          </a:p>
        </p:txBody>
      </p:sp>
      <p:sp>
        <p:nvSpPr>
          <p:cNvPr id="6" name="5 Slayt Numarası Yer Tutucusu"/>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E12F3739-513E-4BB4-9AD0-B6BC58DA1F1B}" type="slidenum">
              <a:rPr lang="tr-TR"/>
              <a:pPr>
                <a:defRPr/>
              </a:pPr>
              <a:t>‹#›</a:t>
            </a:fld>
            <a:endParaRPr lang="tr-TR"/>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lt Başlık 1">
            <a:extLst>
              <a:ext uri="{FF2B5EF4-FFF2-40B4-BE49-F238E27FC236}">
                <a16:creationId xmlns:a16="http://schemas.microsoft.com/office/drawing/2014/main" id="{77197998-B74C-5048-833E-E9C3434BEE9B}"/>
              </a:ext>
            </a:extLst>
          </p:cNvPr>
          <p:cNvSpPr>
            <a:spLocks noGrp="1"/>
          </p:cNvSpPr>
          <p:nvPr>
            <p:ph type="subTitle" idx="1"/>
          </p:nvPr>
        </p:nvSpPr>
        <p:spPr/>
        <p:txBody>
          <a:bodyPr/>
          <a:lstStyle/>
          <a:p>
            <a:r>
              <a:rPr lang="tr-TR" dirty="0"/>
              <a:t>Bilgisayar Ağları</a:t>
            </a:r>
          </a:p>
        </p:txBody>
      </p:sp>
      <p:sp>
        <p:nvSpPr>
          <p:cNvPr id="3" name="Metin Yer Tutucusu 2">
            <a:extLst>
              <a:ext uri="{FF2B5EF4-FFF2-40B4-BE49-F238E27FC236}">
                <a16:creationId xmlns:a16="http://schemas.microsoft.com/office/drawing/2014/main" id="{0744FE32-494C-4944-B4D7-865039D7B750}"/>
              </a:ext>
            </a:extLst>
          </p:cNvPr>
          <p:cNvSpPr>
            <a:spLocks noGrp="1"/>
          </p:cNvSpPr>
          <p:nvPr>
            <p:ph type="body" sz="quarter" idx="13"/>
          </p:nvPr>
        </p:nvSpPr>
        <p:spPr/>
        <p:txBody>
          <a:bodyPr/>
          <a:lstStyle/>
          <a:p>
            <a:r>
              <a:rPr lang="tr-TR" dirty="0"/>
              <a:t>Dr. </a:t>
            </a:r>
            <a:r>
              <a:rPr lang="tr-TR" dirty="0" err="1"/>
              <a:t>Öğr</a:t>
            </a:r>
            <a:r>
              <a:rPr lang="tr-TR" dirty="0"/>
              <a:t>. Üyesi </a:t>
            </a:r>
            <a:r>
              <a:rPr lang="tr-TR" dirty="0" err="1"/>
              <a:t>Mevlüt</a:t>
            </a:r>
            <a:r>
              <a:rPr lang="tr-TR" dirty="0"/>
              <a:t> ERSOY</a:t>
            </a:r>
          </a:p>
        </p:txBody>
      </p:sp>
      <p:sp>
        <p:nvSpPr>
          <p:cNvPr id="4" name="Metin Yer Tutucusu 3">
            <a:extLst>
              <a:ext uri="{FF2B5EF4-FFF2-40B4-BE49-F238E27FC236}">
                <a16:creationId xmlns:a16="http://schemas.microsoft.com/office/drawing/2014/main" id="{F119D374-AC3C-034C-8AB9-F889A26B42E3}"/>
              </a:ext>
            </a:extLst>
          </p:cNvPr>
          <p:cNvSpPr>
            <a:spLocks noGrp="1"/>
          </p:cNvSpPr>
          <p:nvPr>
            <p:ph type="body" sz="quarter" idx="14"/>
          </p:nvPr>
        </p:nvSpPr>
        <p:spPr/>
        <p:txBody>
          <a:bodyPr/>
          <a:lstStyle/>
          <a:p>
            <a:r>
              <a:rPr lang="tr-TR" dirty="0"/>
              <a:t>7. Hafta - Kablosuz Teknolojiler</a:t>
            </a:r>
          </a:p>
        </p:txBody>
      </p:sp>
    </p:spTree>
    <p:extLst>
      <p:ext uri="{BB962C8B-B14F-4D97-AF65-F5344CB8AC3E}">
        <p14:creationId xmlns:p14="http://schemas.microsoft.com/office/powerpoint/2010/main" val="1074566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1">
            <a:extLst>
              <a:ext uri="{FF2B5EF4-FFF2-40B4-BE49-F238E27FC236}">
                <a16:creationId xmlns:a16="http://schemas.microsoft.com/office/drawing/2014/main" id="{6C8684D2-542F-224D-8719-6747131F98D1}"/>
              </a:ext>
            </a:extLst>
          </p:cNvPr>
          <p:cNvSpPr>
            <a:spLocks noGrp="1"/>
          </p:cNvSpPr>
          <p:nvPr>
            <p:ph type="title"/>
          </p:nvPr>
        </p:nvSpPr>
        <p:spPr>
          <a:xfrm>
            <a:off x="313765" y="853415"/>
            <a:ext cx="8686800" cy="536114"/>
          </a:xfrm>
        </p:spPr>
        <p:txBody>
          <a:bodyPr>
            <a:normAutofit fontScale="90000"/>
          </a:bodyPr>
          <a:lstStyle/>
          <a:p>
            <a:r>
              <a:rPr lang="tr-TR" dirty="0"/>
              <a:t>Bölüm / Hafta Hedefleri</a:t>
            </a:r>
          </a:p>
        </p:txBody>
      </p:sp>
      <p:sp>
        <p:nvSpPr>
          <p:cNvPr id="5" name="İçerik Yer Tutucusu 2">
            <a:extLst>
              <a:ext uri="{FF2B5EF4-FFF2-40B4-BE49-F238E27FC236}">
                <a16:creationId xmlns:a16="http://schemas.microsoft.com/office/drawing/2014/main" id="{38A35BBB-8AFD-4941-AE2F-6BE7230124BA}"/>
              </a:ext>
            </a:extLst>
          </p:cNvPr>
          <p:cNvSpPr>
            <a:spLocks noGrp="1"/>
          </p:cNvSpPr>
          <p:nvPr>
            <p:ph idx="1"/>
          </p:nvPr>
        </p:nvSpPr>
        <p:spPr>
          <a:xfrm>
            <a:off x="313765" y="1371600"/>
            <a:ext cx="8686800" cy="4929308"/>
          </a:xfrm>
        </p:spPr>
        <p:txBody>
          <a:bodyPr/>
          <a:lstStyle/>
          <a:p>
            <a:r>
              <a:rPr lang="tr-TR" sz="2000" dirty="0"/>
              <a:t>Avantajları – Sınırlamaları</a:t>
            </a:r>
          </a:p>
          <a:p>
            <a:r>
              <a:rPr lang="tr-TR" sz="2000" dirty="0"/>
              <a:t>Ağ Türleri</a:t>
            </a:r>
          </a:p>
          <a:p>
            <a:r>
              <a:rPr lang="tr-TR" sz="2000" dirty="0"/>
              <a:t>LAN Standartları</a:t>
            </a:r>
          </a:p>
          <a:p>
            <a:r>
              <a:rPr lang="tr-TR" sz="2000" dirty="0"/>
              <a:t>WLAN ve SSID</a:t>
            </a:r>
          </a:p>
          <a:p>
            <a:r>
              <a:rPr lang="tr-TR" sz="2000" dirty="0"/>
              <a:t>Kanal Atama</a:t>
            </a:r>
          </a:p>
          <a:p>
            <a:r>
              <a:rPr lang="tr-TR" sz="2000" dirty="0"/>
              <a:t>Erişim Noktası Yapılandırma</a:t>
            </a:r>
          </a:p>
          <a:p>
            <a:r>
              <a:rPr lang="tr-TR" sz="2000" dirty="0"/>
              <a:t>İstemci Yapılandırma</a:t>
            </a:r>
          </a:p>
          <a:p>
            <a:r>
              <a:rPr lang="tr-TR" sz="2000" dirty="0"/>
              <a:t>Kimlik doğrulama</a:t>
            </a:r>
          </a:p>
          <a:p>
            <a:pPr lvl="1"/>
            <a:r>
              <a:rPr lang="tr-TR" sz="1800" dirty="0"/>
              <a:t>PSK</a:t>
            </a:r>
          </a:p>
          <a:p>
            <a:pPr lvl="1"/>
            <a:r>
              <a:rPr lang="tr-TR" sz="1800" dirty="0"/>
              <a:t>EAP</a:t>
            </a:r>
          </a:p>
          <a:p>
            <a:r>
              <a:rPr lang="tr-TR" sz="2000" dirty="0"/>
              <a:t>Şifreleme</a:t>
            </a:r>
          </a:p>
          <a:p>
            <a:pPr lvl="1"/>
            <a:r>
              <a:rPr lang="tr-TR" sz="1800" dirty="0"/>
              <a:t>WEP</a:t>
            </a:r>
          </a:p>
          <a:p>
            <a:pPr lvl="1"/>
            <a:r>
              <a:rPr lang="tr-TR" sz="1800" dirty="0"/>
              <a:t>WPA</a:t>
            </a:r>
          </a:p>
          <a:p>
            <a:r>
              <a:rPr lang="tr-TR" sz="2000" dirty="0"/>
              <a:t>Trafik Filtreleme</a:t>
            </a:r>
          </a:p>
          <a:p>
            <a:pPr lvl="1"/>
            <a:endParaRPr lang="tr-TR" sz="1800" dirty="0"/>
          </a:p>
        </p:txBody>
      </p:sp>
    </p:spTree>
    <p:extLst>
      <p:ext uri="{BB962C8B-B14F-4D97-AF65-F5344CB8AC3E}">
        <p14:creationId xmlns:p14="http://schemas.microsoft.com/office/powerpoint/2010/main" val="1161259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1">
            <a:extLst>
              <a:ext uri="{FF2B5EF4-FFF2-40B4-BE49-F238E27FC236}">
                <a16:creationId xmlns:a16="http://schemas.microsoft.com/office/drawing/2014/main" id="{42C33752-5EAC-8640-9EEC-C3A4D68F2F13}"/>
              </a:ext>
            </a:extLst>
          </p:cNvPr>
          <p:cNvSpPr>
            <a:spLocks noGrp="1"/>
          </p:cNvSpPr>
          <p:nvPr>
            <p:ph type="title"/>
          </p:nvPr>
        </p:nvSpPr>
        <p:spPr>
          <a:xfrm>
            <a:off x="313765" y="853415"/>
            <a:ext cx="8686800" cy="536114"/>
          </a:xfrm>
        </p:spPr>
        <p:txBody>
          <a:bodyPr>
            <a:normAutofit fontScale="90000"/>
          </a:bodyPr>
          <a:lstStyle/>
          <a:p>
            <a:r>
              <a:rPr lang="tr-TR" dirty="0"/>
              <a:t>Kablosuz Teknolojiler ve Cihazlar</a:t>
            </a:r>
          </a:p>
        </p:txBody>
      </p:sp>
      <p:sp>
        <p:nvSpPr>
          <p:cNvPr id="5" name="İçerik Yer Tutucusu 2">
            <a:extLst>
              <a:ext uri="{FF2B5EF4-FFF2-40B4-BE49-F238E27FC236}">
                <a16:creationId xmlns:a16="http://schemas.microsoft.com/office/drawing/2014/main" id="{773DB25E-4628-CC43-84F4-7822077E538F}"/>
              </a:ext>
            </a:extLst>
          </p:cNvPr>
          <p:cNvSpPr>
            <a:spLocks noGrp="1"/>
          </p:cNvSpPr>
          <p:nvPr>
            <p:ph idx="1"/>
          </p:nvPr>
        </p:nvSpPr>
        <p:spPr>
          <a:xfrm>
            <a:off x="313765" y="1524000"/>
            <a:ext cx="8686800" cy="4929308"/>
          </a:xfrm>
        </p:spPr>
        <p:txBody>
          <a:bodyPr/>
          <a:lstStyle/>
          <a:p>
            <a:pPr marL="0" indent="0" algn="just">
              <a:buNone/>
            </a:pPr>
            <a:r>
              <a:rPr lang="tr-TR" sz="1600" dirty="0"/>
              <a:t>Kablolu ağın yanı sıra, konak bilgisayarlar arasında kablo olmadan bilgi iletimi sağlayan çeşitli teknolojiler mevcuttur. Bunlar kablosuz teknolojiler olarak bilinir. Kablosuz teknolojiler, cihazlar arasında bilgi taşımak için elektromanyetik dalgaları kullanır. Elektromanyetik dalga, havada radyo sinyallerini taşıyan ortamın aynısıdır.</a:t>
            </a:r>
          </a:p>
          <a:p>
            <a:pPr marL="0" indent="0" algn="just">
              <a:buNone/>
            </a:pPr>
            <a:r>
              <a:rPr lang="tr-TR" sz="1600" dirty="0"/>
              <a:t>Genel kablosuz iletişim için kullanılan en yaygın dalga boyları arasında Kızılötesi ve Radyo Frekansı (RF) bandının bir bölümü yer alır.</a:t>
            </a:r>
          </a:p>
          <a:p>
            <a:pPr algn="just"/>
            <a:r>
              <a:rPr lang="tr-TR" sz="1600" b="1" dirty="0"/>
              <a:t>Kızılötesi (IR)</a:t>
            </a:r>
          </a:p>
          <a:p>
            <a:pPr marL="0" indent="0" algn="just">
              <a:buNone/>
            </a:pPr>
            <a:r>
              <a:rPr lang="tr-TR" sz="1600" dirty="0"/>
              <a:t>Kızılötesi (IR) nispeten daha düşük seviyeli bir enerji olup duvar veya diğer nesnelerden geçemez. Ancak Kişisel Sayısal Yardımcı (PDA) ve PC (Kişisel Bilgisayar) gibi aygıtlar arasında bağlantı ve veri taşıma amacıyla yaygın olarak kullanılır. Kızılötesi Doğrudan Erişim (</a:t>
            </a:r>
            <a:r>
              <a:rPr lang="tr-TR" sz="1600" dirty="0" err="1"/>
              <a:t>IrDA</a:t>
            </a:r>
            <a:r>
              <a:rPr lang="tr-TR" sz="1600" dirty="0"/>
              <a:t>) bağlantı noktası olarak bilinen özel bir iletişim bağlantı noktası, aygıtlar arasında bilgi alışverişi yapılmasını sağlamak için </a:t>
            </a:r>
            <a:r>
              <a:rPr lang="tr-TR" sz="1600" dirty="0" err="1"/>
              <a:t>IR'yi</a:t>
            </a:r>
            <a:r>
              <a:rPr lang="tr-TR" sz="1600" dirty="0"/>
              <a:t> kullanır. IR yalnızca birebir bağlantı türüne izin verir.</a:t>
            </a:r>
          </a:p>
          <a:p>
            <a:pPr algn="just"/>
            <a:r>
              <a:rPr lang="tr-TR" sz="1600" b="1" dirty="0"/>
              <a:t>Radyo Frekansı (RF)</a:t>
            </a:r>
          </a:p>
          <a:p>
            <a:pPr marL="0" indent="0" algn="just">
              <a:buNone/>
            </a:pPr>
            <a:r>
              <a:rPr lang="tr-TR" sz="1600" dirty="0"/>
              <a:t>RF dalgaları duvarlardan ve diğer nesnelerden geçerek </a:t>
            </a:r>
            <a:r>
              <a:rPr lang="tr-TR" sz="1600" dirty="0" err="1"/>
              <a:t>IR'den</a:t>
            </a:r>
            <a:r>
              <a:rPr lang="tr-TR" sz="1600" dirty="0"/>
              <a:t> daha geniş bir aralık sağlar. </a:t>
            </a:r>
          </a:p>
          <a:p>
            <a:pPr marL="0" indent="0" algn="just">
              <a:buNone/>
            </a:pPr>
            <a:r>
              <a:rPr lang="tr-TR" sz="1600" dirty="0"/>
              <a:t>RF bantlarının belirli alanları, kablosuz LAN (Yerel Ağ), kablosuz telefon ve bilgisayar çevresel aygıtları gibi lisanssız aygıtların kullanımına ayrılmıştır. Bu alanlar, 900 MHz, 2.4 GHz ve 5 GHz frekans aralıklarıdır. Bu aralıklar Endüstriyel, Bilimsel ve Tıbbi (ISM) bantlar olarak bilinir ve çok az bir kısıtlamayla kullanılabilir.</a:t>
            </a:r>
          </a:p>
        </p:txBody>
      </p:sp>
    </p:spTree>
    <p:extLst>
      <p:ext uri="{BB962C8B-B14F-4D97-AF65-F5344CB8AC3E}">
        <p14:creationId xmlns:p14="http://schemas.microsoft.com/office/powerpoint/2010/main" val="29731678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1">
            <a:extLst>
              <a:ext uri="{FF2B5EF4-FFF2-40B4-BE49-F238E27FC236}">
                <a16:creationId xmlns:a16="http://schemas.microsoft.com/office/drawing/2014/main" id="{42C33752-5EAC-8640-9EEC-C3A4D68F2F13}"/>
              </a:ext>
            </a:extLst>
          </p:cNvPr>
          <p:cNvSpPr>
            <a:spLocks noGrp="1"/>
          </p:cNvSpPr>
          <p:nvPr>
            <p:ph type="title"/>
          </p:nvPr>
        </p:nvSpPr>
        <p:spPr>
          <a:xfrm>
            <a:off x="313765" y="853415"/>
            <a:ext cx="8686800" cy="536114"/>
          </a:xfrm>
        </p:spPr>
        <p:txBody>
          <a:bodyPr>
            <a:normAutofit fontScale="90000"/>
          </a:bodyPr>
          <a:lstStyle/>
          <a:p>
            <a:r>
              <a:rPr lang="tr-TR" dirty="0"/>
              <a:t>Kablosuz Teknolojinin Avantajları ve Sınırlamaları</a:t>
            </a:r>
          </a:p>
        </p:txBody>
      </p:sp>
      <p:sp>
        <p:nvSpPr>
          <p:cNvPr id="5" name="İçerik Yer Tutucusu 2">
            <a:extLst>
              <a:ext uri="{FF2B5EF4-FFF2-40B4-BE49-F238E27FC236}">
                <a16:creationId xmlns:a16="http://schemas.microsoft.com/office/drawing/2014/main" id="{773DB25E-4628-CC43-84F4-7822077E538F}"/>
              </a:ext>
            </a:extLst>
          </p:cNvPr>
          <p:cNvSpPr>
            <a:spLocks noGrp="1"/>
          </p:cNvSpPr>
          <p:nvPr>
            <p:ph idx="1"/>
          </p:nvPr>
        </p:nvSpPr>
        <p:spPr>
          <a:xfrm>
            <a:off x="313765" y="1395292"/>
            <a:ext cx="8686800" cy="4929308"/>
          </a:xfrm>
        </p:spPr>
        <p:txBody>
          <a:bodyPr/>
          <a:lstStyle/>
          <a:p>
            <a:pPr algn="just"/>
            <a:r>
              <a:rPr lang="tr-TR" sz="1600" b="1" dirty="0"/>
              <a:t>Avantajları</a:t>
            </a:r>
          </a:p>
          <a:p>
            <a:pPr marL="0" indent="0" algn="just">
              <a:buNone/>
            </a:pPr>
            <a:r>
              <a:rPr lang="tr-TR" sz="1600" dirty="0"/>
              <a:t>Kablosuz teknoloji, geleneksel kablolu ağlara göre birçok avantaj sağlar. En büyük avantajlarından biri, her zaman her yerde bağlantı sağlama yeteneğidir. Kablosuz bağlantının etkin nokta adı verilen kamuya açık yerlerde yaygın olarak kullanılması, insanların bilgi indirmek ve e-posta ve dosya alışverişi yapmak için kolayca İnternet'e bağlanmasını sağlar. Kablosuz teknolojinin kurulumu oldukça kolay ve uygun fiyatlıdır. Ev ve işletmelere yönelik kablosuz cihazların maliyetleri düşmeye devam etmektedir. Maliyetteki düşüşe rağmen, bu cihazların veri hızı ve yetenekleri de sürekli artmakta ve bu cihazlar giderek daha hızlı ve daha güvenilir kablosuz bağlantı sağlamaktadır.</a:t>
            </a:r>
          </a:p>
          <a:p>
            <a:pPr algn="just"/>
            <a:r>
              <a:rPr lang="tr-TR" sz="1600" b="1" dirty="0"/>
              <a:t>Sınırlamaları</a:t>
            </a:r>
          </a:p>
          <a:p>
            <a:pPr marL="0" indent="0" algn="just">
              <a:buNone/>
            </a:pPr>
            <a:r>
              <a:rPr lang="tr-TR" sz="1600" dirty="0"/>
              <a:t>Kablosuz bağlantının esnekliği ve avantajlarına rağmen bazı sınırlamaları ve riskleri vardır. Birinci olarak, Kablosuz LAN (WLAN) teknolojileri, RF tayfının lisanssız bölgelerini kullanır. Bu bölgeler düzenlenmemiş nitelikte olduğundan birçok farklı aygıt bu bölgeleri kullanır. Sonuç olarak bu bölgeler tıkanır ve farklı aygıtlardan gelen sinyaller birbirine girişimde bulunabilir. Ayrıca mikrodalga fırın ve kablosuz telefon gibi birçok aygıt da bu frekansları kullanarak WLAN iletişimlerine girişim yapabilir. İkinci olarak, kablosuz bağlantıyla ilgili duyulan en büyük endişe güvenliktir. Kablosuz bağlantı, erişim kolaylığı sağlar. Bu erişim kolaylığı, verilerin herkese erişim yeteneği sağlayacak biçimde yayınlanmasıyla sağlanır. Ancak bu özellik aynı zamanda kablosuz bağlantının veri için sağlayabileceği koruma düzeyini sınırlar. Kablosuz bağlantının bu özelliği, istenmeyen alıcılar da dahil, herkesin iletişim akışına müdahale etmesine izin verir. Bu tür güvenlik endişelerini ortadan kaldırmak üzere, güvenli kablosuz iletimin gerçekleşmesine yardımcı olması için şifreleme ve kimlik doğrulama gibi teknikler geliştirilmiştir.</a:t>
            </a:r>
          </a:p>
        </p:txBody>
      </p:sp>
    </p:spTree>
    <p:extLst>
      <p:ext uri="{BB962C8B-B14F-4D97-AF65-F5344CB8AC3E}">
        <p14:creationId xmlns:p14="http://schemas.microsoft.com/office/powerpoint/2010/main" val="729488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1">
            <a:extLst>
              <a:ext uri="{FF2B5EF4-FFF2-40B4-BE49-F238E27FC236}">
                <a16:creationId xmlns:a16="http://schemas.microsoft.com/office/drawing/2014/main" id="{42C33752-5EAC-8640-9EEC-C3A4D68F2F13}"/>
              </a:ext>
            </a:extLst>
          </p:cNvPr>
          <p:cNvSpPr>
            <a:spLocks noGrp="1"/>
          </p:cNvSpPr>
          <p:nvPr>
            <p:ph type="title"/>
          </p:nvPr>
        </p:nvSpPr>
        <p:spPr>
          <a:xfrm>
            <a:off x="313765" y="853415"/>
            <a:ext cx="8686800" cy="536114"/>
          </a:xfrm>
        </p:spPr>
        <p:txBody>
          <a:bodyPr>
            <a:normAutofit fontScale="90000"/>
          </a:bodyPr>
          <a:lstStyle/>
          <a:p>
            <a:r>
              <a:rPr lang="tr-TR" dirty="0"/>
              <a:t>Kablosuz Ağ Türleri</a:t>
            </a:r>
          </a:p>
        </p:txBody>
      </p:sp>
      <p:sp>
        <p:nvSpPr>
          <p:cNvPr id="5" name="İçerik Yer Tutucusu 2">
            <a:extLst>
              <a:ext uri="{FF2B5EF4-FFF2-40B4-BE49-F238E27FC236}">
                <a16:creationId xmlns:a16="http://schemas.microsoft.com/office/drawing/2014/main" id="{773DB25E-4628-CC43-84F4-7822077E538F}"/>
              </a:ext>
            </a:extLst>
          </p:cNvPr>
          <p:cNvSpPr>
            <a:spLocks noGrp="1"/>
          </p:cNvSpPr>
          <p:nvPr>
            <p:ph idx="1"/>
          </p:nvPr>
        </p:nvSpPr>
        <p:spPr>
          <a:xfrm>
            <a:off x="313765" y="1515035"/>
            <a:ext cx="8686800" cy="4929308"/>
          </a:xfrm>
        </p:spPr>
        <p:txBody>
          <a:bodyPr/>
          <a:lstStyle/>
          <a:p>
            <a:pPr marL="0" indent="0" algn="just">
              <a:buNone/>
            </a:pPr>
            <a:r>
              <a:rPr lang="tr-TR" sz="1500" dirty="0"/>
              <a:t>Kablosuz ağlar üç ana kategoriye ayrılır: Kablosuz Kişisel Alan ağları (WPAN), Kablosuz Yerel ağlar (WLAN) ve Kablosuz Geniş Alan ağları (WWAN). </a:t>
            </a:r>
          </a:p>
          <a:p>
            <a:pPr marL="0" indent="0" algn="just">
              <a:buNone/>
            </a:pPr>
            <a:r>
              <a:rPr lang="tr-TR" sz="1500" dirty="0"/>
              <a:t>Bu ayrı kategorilere rağmen kablosuz bağlantı uygulamasına sınır kısıtlamaları koymak zordur. Bunun nedeni, kablosuz ağların kablolu ağlardan farklı olarak net biçimde tanımlanmış sınırlarının olmamasıdır. Kablosuz iletimlerin aralığı birçok faktöre bağlı olarak değişebilir. Kablosuz ağlar hem doğal hem de insanların yol açtığı dış girişim kaynaklarına karşı hassastır. Sıcaklık ve nemdeki değişimler kablosuz ağların kapsamını büyük ölçüde değiştirebilir. Kablosuz ortam içindeki engeller de aralığı etkileyebilir. </a:t>
            </a:r>
          </a:p>
          <a:p>
            <a:r>
              <a:rPr lang="tr-TR" sz="1500" b="1" dirty="0"/>
              <a:t>WPAN</a:t>
            </a:r>
          </a:p>
          <a:p>
            <a:pPr marL="0" indent="0" algn="just">
              <a:buNone/>
            </a:pPr>
            <a:r>
              <a:rPr lang="tr-TR" sz="1500" dirty="0"/>
              <a:t>Bu, fare, klavye ve PDA gibi çeşitli çevresel aygıtları bilgisayara bağlamak için kullanılan en küçük kablosuz ağdır. Bu aygıtların her biri tek bir konak bilgisayara adanır ve genellikle IP veya Bluetooth teknolojisini kullanır. </a:t>
            </a:r>
          </a:p>
          <a:p>
            <a:pPr algn="just"/>
            <a:r>
              <a:rPr lang="tr-TR" sz="1500" b="1" dirty="0"/>
              <a:t>WLAN</a:t>
            </a:r>
          </a:p>
          <a:p>
            <a:pPr marL="0" indent="0" algn="just">
              <a:buNone/>
            </a:pPr>
            <a:r>
              <a:rPr lang="tr-TR" sz="1500" dirty="0"/>
              <a:t>WLAN genellikle kablolu yerel ağın (LAN) sınırlarını genişletmek için kullanılır. </a:t>
            </a:r>
            <a:r>
              <a:rPr lang="tr-TR" sz="1500" dirty="0" err="1"/>
              <a:t>WLAN'lar</a:t>
            </a:r>
            <a:r>
              <a:rPr lang="tr-TR" sz="1500" dirty="0"/>
              <a:t> RF teknolojisini kullanır ve IEEE 802.11 standartlarına uyar. Bu ağ, birçok kullanıcının Erişim Noktası (AP) olarak bilinen bir aygıt üzerinden kablolu bir ağa bağlanmasını sağlar. Erişim Noktası, kablosuz konak bilgisayarlar ile Ethernet kablolu ağındaki konak bilgisayarlar arasında bağlantı sağlar. </a:t>
            </a:r>
          </a:p>
          <a:p>
            <a:pPr algn="just"/>
            <a:r>
              <a:rPr lang="tr-TR" sz="1500" b="1" dirty="0"/>
              <a:t>WWAN</a:t>
            </a:r>
          </a:p>
          <a:p>
            <a:pPr marL="0" indent="0" algn="just">
              <a:buNone/>
            </a:pPr>
            <a:r>
              <a:rPr lang="tr-TR" sz="1500" dirty="0"/>
              <a:t>WWAN ağlar, aşırı büyük alanlarda kapsama alanı sağlar. WWAN için iyi bir örnek, cep telefonu şebekesidir. Bu ağlar, Kod Bölmeli Çoklu Erişim (CDMA) veya Mobil İletişim için Küresel Sistem (GSM) gibi teknolojileri kullanır ve genellikle devlet daireleri tarafından düzenlenir. </a:t>
            </a:r>
          </a:p>
        </p:txBody>
      </p:sp>
    </p:spTree>
    <p:extLst>
      <p:ext uri="{BB962C8B-B14F-4D97-AF65-F5344CB8AC3E}">
        <p14:creationId xmlns:p14="http://schemas.microsoft.com/office/powerpoint/2010/main" val="2660645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1">
            <a:extLst>
              <a:ext uri="{FF2B5EF4-FFF2-40B4-BE49-F238E27FC236}">
                <a16:creationId xmlns:a16="http://schemas.microsoft.com/office/drawing/2014/main" id="{42C33752-5EAC-8640-9EEC-C3A4D68F2F13}"/>
              </a:ext>
            </a:extLst>
          </p:cNvPr>
          <p:cNvSpPr>
            <a:spLocks noGrp="1"/>
          </p:cNvSpPr>
          <p:nvPr>
            <p:ph type="title"/>
          </p:nvPr>
        </p:nvSpPr>
        <p:spPr>
          <a:xfrm>
            <a:off x="313765" y="853415"/>
            <a:ext cx="8686800" cy="536114"/>
          </a:xfrm>
        </p:spPr>
        <p:txBody>
          <a:bodyPr>
            <a:normAutofit fontScale="90000"/>
          </a:bodyPr>
          <a:lstStyle/>
          <a:p>
            <a:r>
              <a:rPr lang="tr-TR" dirty="0"/>
              <a:t>Kablosuz Ağ Türleri</a:t>
            </a:r>
          </a:p>
        </p:txBody>
      </p:sp>
      <p:pic>
        <p:nvPicPr>
          <p:cNvPr id="3" name="İçerik Yer Tutucusu 2">
            <a:extLst>
              <a:ext uri="{FF2B5EF4-FFF2-40B4-BE49-F238E27FC236}">
                <a16:creationId xmlns:a16="http://schemas.microsoft.com/office/drawing/2014/main" id="{6B4FFD36-8C3A-4DDB-9AB8-F0B13B094FE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1085" y="1447800"/>
            <a:ext cx="8641829" cy="4709568"/>
          </a:xfrm>
        </p:spPr>
      </p:pic>
    </p:spTree>
    <p:extLst>
      <p:ext uri="{BB962C8B-B14F-4D97-AF65-F5344CB8AC3E}">
        <p14:creationId xmlns:p14="http://schemas.microsoft.com/office/powerpoint/2010/main" val="2191729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C1A0948-5B3F-4BCE-8D03-FB12A03018C5}"/>
              </a:ext>
            </a:extLst>
          </p:cNvPr>
          <p:cNvSpPr>
            <a:spLocks noGrp="1"/>
          </p:cNvSpPr>
          <p:nvPr>
            <p:ph type="title"/>
          </p:nvPr>
        </p:nvSpPr>
        <p:spPr/>
        <p:txBody>
          <a:bodyPr>
            <a:normAutofit fontScale="90000"/>
          </a:bodyPr>
          <a:lstStyle/>
          <a:p>
            <a:r>
              <a:rPr lang="tr-TR" dirty="0"/>
              <a:t>Kablosuz LAN Standartları</a:t>
            </a:r>
          </a:p>
        </p:txBody>
      </p:sp>
      <p:sp>
        <p:nvSpPr>
          <p:cNvPr id="3" name="İçerik Yer Tutucusu 2">
            <a:extLst>
              <a:ext uri="{FF2B5EF4-FFF2-40B4-BE49-F238E27FC236}">
                <a16:creationId xmlns:a16="http://schemas.microsoft.com/office/drawing/2014/main" id="{A1DFDAEB-3D90-485D-91CB-9BED21905D1C}"/>
              </a:ext>
            </a:extLst>
          </p:cNvPr>
          <p:cNvSpPr>
            <a:spLocks noGrp="1"/>
          </p:cNvSpPr>
          <p:nvPr>
            <p:ph idx="1"/>
          </p:nvPr>
        </p:nvSpPr>
        <p:spPr>
          <a:xfrm>
            <a:off x="313765" y="1447800"/>
            <a:ext cx="8686800" cy="4929308"/>
          </a:xfrm>
        </p:spPr>
        <p:txBody>
          <a:bodyPr/>
          <a:lstStyle/>
          <a:p>
            <a:pPr marL="0" indent="0" algn="just">
              <a:buNone/>
            </a:pPr>
            <a:r>
              <a:rPr lang="tr-TR" sz="2000" dirty="0"/>
              <a:t>Kablosuz cihazların iletişim kurabilmesini sağlamak için birçok standart geliştirilmiştir. Bu standartlar kullanılan RF tayfını, veri hızlarını, bilginin iletim şeklini ve daha fazlasını belirtir. Kablosuz teknik standartların oluşturulmasından sorumlu ana kuruluş </a:t>
            </a:r>
            <a:r>
              <a:rPr lang="tr-TR" sz="2000" dirty="0" err="1"/>
              <a:t>IEEE'dir</a:t>
            </a:r>
            <a:r>
              <a:rPr lang="tr-TR" sz="2000" dirty="0"/>
              <a:t>. </a:t>
            </a:r>
          </a:p>
          <a:p>
            <a:pPr marL="0" indent="0" algn="just">
              <a:buNone/>
            </a:pPr>
            <a:endParaRPr lang="tr-TR" sz="2000" dirty="0"/>
          </a:p>
          <a:p>
            <a:pPr marL="0" indent="0" algn="just">
              <a:buNone/>
            </a:pPr>
            <a:r>
              <a:rPr lang="tr-TR" sz="2000" dirty="0"/>
              <a:t>IEEE 802.11 standardı WLAN ortamını yönetir. IEEE 802.11 standardında kablosuz iletişimlerin farklı özelliklerini açıklayan dört ek düzeltme vardır. Geçerli olarak kullanılan ek düzeltmeler 802.11a, 802.11b, 802.11g ve 802.11n'dir (802.11n bu belge yazılırken onaylanmamıştır). Bu teknolojilere topluca </a:t>
            </a:r>
            <a:r>
              <a:rPr lang="tr-TR" sz="2000" dirty="0" err="1"/>
              <a:t>Wi</a:t>
            </a:r>
            <a:r>
              <a:rPr lang="tr-TR" sz="2000" dirty="0"/>
              <a:t>-Fi (Kablosuz Bağlılık) denir. </a:t>
            </a:r>
          </a:p>
          <a:p>
            <a:pPr marL="0" indent="0" algn="just">
              <a:buNone/>
            </a:pPr>
            <a:endParaRPr lang="tr-TR" sz="2000" dirty="0"/>
          </a:p>
          <a:p>
            <a:pPr marL="0" indent="0" algn="just">
              <a:buNone/>
            </a:pPr>
            <a:r>
              <a:rPr lang="tr-TR" sz="2000" dirty="0" err="1"/>
              <a:t>Wi</a:t>
            </a:r>
            <a:r>
              <a:rPr lang="tr-TR" sz="2000" dirty="0"/>
              <a:t>-Fi </a:t>
            </a:r>
            <a:r>
              <a:rPr lang="tr-TR" sz="2000" dirty="0" err="1"/>
              <a:t>Alliance</a:t>
            </a:r>
            <a:r>
              <a:rPr lang="tr-TR" sz="2000" dirty="0"/>
              <a:t> olarak bilinen başka bir kuruluş da farklı üreticilerin kablosuz LAN aygıtlarının test edilmesinden sorumludur. Bir cihazdaki </a:t>
            </a:r>
            <a:r>
              <a:rPr lang="tr-TR" sz="2000" dirty="0" err="1"/>
              <a:t>Wi</a:t>
            </a:r>
            <a:r>
              <a:rPr lang="tr-TR" sz="2000" dirty="0"/>
              <a:t>-Fi logosu, o ekipmanın standartları karşıladığı ve aynı standartlara sahip diğer cihazlarla birlikte çalışabileceği anlamına gelir.</a:t>
            </a:r>
          </a:p>
        </p:txBody>
      </p:sp>
    </p:spTree>
    <p:extLst>
      <p:ext uri="{BB962C8B-B14F-4D97-AF65-F5344CB8AC3E}">
        <p14:creationId xmlns:p14="http://schemas.microsoft.com/office/powerpoint/2010/main" val="2008490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2825017-246F-48A3-847F-5D5A465461D3}"/>
              </a:ext>
            </a:extLst>
          </p:cNvPr>
          <p:cNvSpPr>
            <a:spLocks noGrp="1"/>
          </p:cNvSpPr>
          <p:nvPr>
            <p:ph type="title"/>
          </p:nvPr>
        </p:nvSpPr>
        <p:spPr/>
        <p:txBody>
          <a:bodyPr>
            <a:normAutofit fontScale="90000"/>
          </a:bodyPr>
          <a:lstStyle/>
          <a:p>
            <a:r>
              <a:rPr lang="tr-TR" dirty="0" err="1"/>
              <a:t>WLAN’lar</a:t>
            </a:r>
            <a:r>
              <a:rPr lang="tr-TR" dirty="0"/>
              <a:t> ve SSID (Hizmet Kümesi Tanımlayıcısı)</a:t>
            </a:r>
          </a:p>
        </p:txBody>
      </p:sp>
      <p:sp>
        <p:nvSpPr>
          <p:cNvPr id="3" name="İçerik Yer Tutucusu 2">
            <a:extLst>
              <a:ext uri="{FF2B5EF4-FFF2-40B4-BE49-F238E27FC236}">
                <a16:creationId xmlns:a16="http://schemas.microsoft.com/office/drawing/2014/main" id="{E3D78604-1090-483E-A55D-9729C5413F3A}"/>
              </a:ext>
            </a:extLst>
          </p:cNvPr>
          <p:cNvSpPr>
            <a:spLocks noGrp="1"/>
          </p:cNvSpPr>
          <p:nvPr>
            <p:ph idx="1"/>
          </p:nvPr>
        </p:nvSpPr>
        <p:spPr/>
        <p:txBody>
          <a:bodyPr/>
          <a:lstStyle/>
          <a:p>
            <a:pPr marL="0" indent="0" algn="just">
              <a:buNone/>
            </a:pPr>
            <a:r>
              <a:rPr lang="tr-TR" sz="1500" dirty="0"/>
              <a:t>Kablosuz bir ağ oluşturulurken, kablosuz bileşenlerin uygun </a:t>
            </a:r>
            <a:r>
              <a:rPr lang="tr-TR" sz="1500" dirty="0" err="1"/>
              <a:t>WLAN'a</a:t>
            </a:r>
            <a:r>
              <a:rPr lang="tr-TR" sz="1500" dirty="0"/>
              <a:t> bağlanması önemlidir. Bu da, Hizmet Kümesi Tanımlayıcısı (SSID) kullanılarak yapılır. SSID, en fazla 32 karakterden oluşan büyük/küçük harf duyarlı, </a:t>
            </a:r>
            <a:r>
              <a:rPr lang="tr-TR" sz="1500" dirty="0" err="1"/>
              <a:t>alfasayısal</a:t>
            </a:r>
            <a:r>
              <a:rPr lang="tr-TR" sz="1500" dirty="0"/>
              <a:t> bir dizgidir. WLAN üzerinden iletilen tüm çerçevelerin başlığında gönderilir. Kablosuz cihazlara hangi </a:t>
            </a:r>
            <a:r>
              <a:rPr lang="tr-TR" sz="1500" dirty="0" err="1"/>
              <a:t>WLAN'a</a:t>
            </a:r>
            <a:r>
              <a:rPr lang="tr-TR" sz="1500" dirty="0"/>
              <a:t> ait olduklarını ve başka hangi cihazlarla iletişim kurabileceklerini söylemek için SSID kullanılır. WLAN yüklemesinin türü ne olursa olsun, </a:t>
            </a:r>
            <a:r>
              <a:rPr lang="tr-TR" sz="1500" dirty="0" err="1"/>
              <a:t>WLAN'daki</a:t>
            </a:r>
            <a:r>
              <a:rPr lang="tr-TR" sz="1500" dirty="0"/>
              <a:t> tüm kablosuz cihazların iletişim kurması için aynı SSID ile yapılandırılmış olması gerekir.</a:t>
            </a:r>
          </a:p>
          <a:p>
            <a:pPr marL="0" indent="0" algn="just">
              <a:buNone/>
            </a:pPr>
            <a:r>
              <a:rPr lang="tr-TR" sz="1500" dirty="0"/>
              <a:t>İki temel WLAN kurulum biçimi vardır: Geçici kip ve altyapı kipi.</a:t>
            </a:r>
          </a:p>
          <a:p>
            <a:pPr algn="just"/>
            <a:r>
              <a:rPr lang="tr-TR" sz="1500" b="1" dirty="0"/>
              <a:t>Geçici</a:t>
            </a:r>
          </a:p>
          <a:p>
            <a:pPr marL="0" indent="0" algn="just">
              <a:buNone/>
            </a:pPr>
            <a:r>
              <a:rPr lang="tr-TR" sz="1500" dirty="0"/>
              <a:t>İki veya daha fazla kablosuz istemciyi eşler arası bir ağda birbirine bağlama yoluyla en basit kablosuz ağ biçimi oluşturulur. Bu şekilde oluşturulmuş bir ağ, geçici olarak bilinir ve AP içermez. Geçici ağdaki tüm istemciler eşittir. Bu ağın kapsadığı alana Bağımsız Temel Hizmet Kümesi (IBSS) denir. Basit bir geçici ağ, AP satın alma ve yapılandırma masrafı ve karmaşıklığı olmadan iki aygıt arasında dosya ve bilgi alışverişi yapmak için kullanılabilir.</a:t>
            </a:r>
          </a:p>
          <a:p>
            <a:pPr algn="just"/>
            <a:r>
              <a:rPr lang="tr-TR" sz="1500" b="1" dirty="0"/>
              <a:t>Altyapı Kipi</a:t>
            </a:r>
          </a:p>
          <a:p>
            <a:pPr marL="0" indent="0" algn="just">
              <a:buNone/>
            </a:pPr>
            <a:r>
              <a:rPr lang="tr-TR" sz="1500" dirty="0"/>
              <a:t>Geçici düzen küçük ağlar için iyi olsa da, büyük ağlar için kablosuz hücrede iletişimleri denetleyen tek bir aygıt gereklidir. Varsa bir AP bu rolü üstlenir ve kimin ne zaman konuşacağını denetler. Buna altyapı kipi denir ve bu kip, ev ve işletme ortamında en sık kullanılan kablosuz iletişim kipidir. Bu WLAN biçiminde, </a:t>
            </a:r>
            <a:r>
              <a:rPr lang="tr-TR" sz="1500" dirty="0" err="1"/>
              <a:t>STA'lar</a:t>
            </a:r>
            <a:r>
              <a:rPr lang="tr-TR" sz="1500" dirty="0"/>
              <a:t> birbirleriyle doğrudan iletişim kuramaz. Her aygıtın iletişim kurmak için AP'den izin alması gerekir. AP tüm iletişimleri denetler ve tüm </a:t>
            </a:r>
            <a:r>
              <a:rPr lang="tr-TR" sz="1500" dirty="0" err="1"/>
              <a:t>STA'ların</a:t>
            </a:r>
            <a:r>
              <a:rPr lang="tr-TR" sz="1500" dirty="0"/>
              <a:t> ortama eşit erişimi olmasını sağlar. Tek bir AP'nin kapsadığı alana Temel Hizmet Kümesi (BSS) veya hücre denir.</a:t>
            </a:r>
          </a:p>
          <a:p>
            <a:pPr marL="0" indent="0" algn="just">
              <a:buNone/>
            </a:pPr>
            <a:endParaRPr lang="tr-TR" sz="1600" dirty="0"/>
          </a:p>
        </p:txBody>
      </p:sp>
    </p:spTree>
    <p:extLst>
      <p:ext uri="{BB962C8B-B14F-4D97-AF65-F5344CB8AC3E}">
        <p14:creationId xmlns:p14="http://schemas.microsoft.com/office/powerpoint/2010/main" val="802444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DE9EF0F-D2DF-4E79-8109-555E29843FE3}"/>
              </a:ext>
            </a:extLst>
          </p:cNvPr>
          <p:cNvSpPr>
            <a:spLocks noGrp="1"/>
          </p:cNvSpPr>
          <p:nvPr>
            <p:ph type="title"/>
          </p:nvPr>
        </p:nvSpPr>
        <p:spPr/>
        <p:txBody>
          <a:bodyPr>
            <a:normAutofit fontScale="90000"/>
          </a:bodyPr>
          <a:lstStyle/>
          <a:p>
            <a:r>
              <a:rPr lang="tr-TR" dirty="0"/>
              <a:t>Kanal Atama</a:t>
            </a:r>
          </a:p>
        </p:txBody>
      </p:sp>
      <p:sp>
        <p:nvSpPr>
          <p:cNvPr id="3" name="İçerik Yer Tutucusu 2">
            <a:extLst>
              <a:ext uri="{FF2B5EF4-FFF2-40B4-BE49-F238E27FC236}">
                <a16:creationId xmlns:a16="http://schemas.microsoft.com/office/drawing/2014/main" id="{E2804349-EB0D-429B-A8E2-6DD82D7E22DF}"/>
              </a:ext>
            </a:extLst>
          </p:cNvPr>
          <p:cNvSpPr>
            <a:spLocks noGrp="1"/>
          </p:cNvSpPr>
          <p:nvPr>
            <p:ph idx="1"/>
          </p:nvPr>
        </p:nvSpPr>
        <p:spPr/>
        <p:txBody>
          <a:bodyPr/>
          <a:lstStyle/>
          <a:p>
            <a:pPr marL="0" indent="0" algn="just">
              <a:buNone/>
            </a:pPr>
            <a:r>
              <a:rPr lang="tr-TR" sz="1700" dirty="0"/>
              <a:t>Kablosuz istemciler ister IBSS içinde, ister BSS veya ESS içinde iletişim kuruyor olsun, gönderen ve alıcı arasındaki iletişimin denetlenmesi gerekir. Bunu gerçekleştirmenin bir yolu kanalların kullanılmasıdır.</a:t>
            </a:r>
          </a:p>
          <a:p>
            <a:pPr marL="0" indent="0" algn="just">
              <a:buNone/>
            </a:pPr>
            <a:endParaRPr lang="tr-TR" sz="1700" dirty="0"/>
          </a:p>
          <a:p>
            <a:pPr marL="0" indent="0" algn="just">
              <a:buNone/>
            </a:pPr>
            <a:r>
              <a:rPr lang="tr-TR" sz="1700" dirty="0"/>
              <a:t>Mevcut RF tayfı bölünerek kanallar oluşturulur. Her kanal farklı bir iletişimi taşıyabilir. Bu, tek bir ortam üzerinden birden çok televizyon kanalının iletilmesine benzer. Birden çok AP, iletişim için farklı kanalları kullandığı sürece birbirine yakın konumda çalışabilir. </a:t>
            </a:r>
          </a:p>
          <a:p>
            <a:pPr marL="0" indent="0" algn="just">
              <a:buNone/>
            </a:pPr>
            <a:endParaRPr lang="tr-TR" sz="1700" dirty="0"/>
          </a:p>
          <a:p>
            <a:pPr marL="0" indent="0" algn="just">
              <a:buNone/>
            </a:pPr>
            <a:r>
              <a:rPr lang="tr-TR" sz="1700" dirty="0"/>
              <a:t>Ne yazık ki bazı kanalların kullandığı frekanslar, başka kanalların kullandığı frekanslarla örtüşebilir. Farklı iletişimlerin örtüşmeyen kanallarda taşınması gerekir. Kanalların sayısı ve dağılımı bölgeye ve teknolojiye göre değişiklik gösterir. Geçerli kullanım ve taşınan mevcut veri miktarı gibi faktörler temel alınarak belirli bir iletişim için kullanılan kanalın seçimi manuel veya otomatik olarak ayarlanabilir.</a:t>
            </a:r>
          </a:p>
          <a:p>
            <a:pPr marL="0" indent="0" algn="just">
              <a:buNone/>
            </a:pPr>
            <a:endParaRPr lang="tr-TR" sz="1700" dirty="0"/>
          </a:p>
          <a:p>
            <a:pPr marL="0" indent="0" algn="just">
              <a:buNone/>
            </a:pPr>
            <a:r>
              <a:rPr lang="tr-TR" sz="1700" dirty="0"/>
              <a:t>Normalde her kablosuz iletişim ayrı bir kanalı kullanır. Yeni teknolojilerin bazıları tek bir geniş kanal oluşturmak için kanalları birleştirerek daha fazla bant genişliği sağlar ve veri hızını artırır. </a:t>
            </a:r>
          </a:p>
        </p:txBody>
      </p:sp>
    </p:spTree>
    <p:extLst>
      <p:ext uri="{BB962C8B-B14F-4D97-AF65-F5344CB8AC3E}">
        <p14:creationId xmlns:p14="http://schemas.microsoft.com/office/powerpoint/2010/main" val="137188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157CF43-4D57-4788-B4FC-12CB68B4B50E}"/>
              </a:ext>
            </a:extLst>
          </p:cNvPr>
          <p:cNvSpPr>
            <a:spLocks noGrp="1"/>
          </p:cNvSpPr>
          <p:nvPr>
            <p:ph type="title"/>
          </p:nvPr>
        </p:nvSpPr>
        <p:spPr/>
        <p:txBody>
          <a:bodyPr>
            <a:normAutofit fontScale="90000"/>
          </a:bodyPr>
          <a:lstStyle/>
          <a:p>
            <a:r>
              <a:rPr lang="tr-TR" dirty="0"/>
              <a:t>Kanal Atama</a:t>
            </a:r>
          </a:p>
        </p:txBody>
      </p:sp>
      <p:pic>
        <p:nvPicPr>
          <p:cNvPr id="4" name="İçerik Yer Tutucusu 3">
            <a:extLst>
              <a:ext uri="{FF2B5EF4-FFF2-40B4-BE49-F238E27FC236}">
                <a16:creationId xmlns:a16="http://schemas.microsoft.com/office/drawing/2014/main" id="{092C4DB8-FDD3-4472-85E9-D788357213E9}"/>
              </a:ext>
            </a:extLst>
          </p:cNvPr>
          <p:cNvPicPr>
            <a:picLocks noGrp="1" noChangeAspect="1"/>
          </p:cNvPicPr>
          <p:nvPr>
            <p:ph idx="1"/>
          </p:nvPr>
        </p:nvPicPr>
        <p:blipFill>
          <a:blip r:embed="rId2"/>
          <a:stretch>
            <a:fillRect/>
          </a:stretch>
        </p:blipFill>
        <p:spPr>
          <a:xfrm>
            <a:off x="228600" y="1524000"/>
            <a:ext cx="8686800" cy="4707133"/>
          </a:xfrm>
          <a:prstGeom prst="rect">
            <a:avLst/>
          </a:prstGeom>
        </p:spPr>
      </p:pic>
    </p:spTree>
    <p:extLst>
      <p:ext uri="{BB962C8B-B14F-4D97-AF65-F5344CB8AC3E}">
        <p14:creationId xmlns:p14="http://schemas.microsoft.com/office/powerpoint/2010/main" val="18216853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CF27B01-F773-4A8C-A76E-96EEBFAA96EB}"/>
              </a:ext>
            </a:extLst>
          </p:cNvPr>
          <p:cNvSpPr>
            <a:spLocks noGrp="1"/>
          </p:cNvSpPr>
          <p:nvPr>
            <p:ph type="title"/>
          </p:nvPr>
        </p:nvSpPr>
        <p:spPr/>
        <p:txBody>
          <a:bodyPr>
            <a:normAutofit fontScale="90000"/>
          </a:bodyPr>
          <a:lstStyle/>
          <a:p>
            <a:r>
              <a:rPr lang="tr-TR" dirty="0"/>
              <a:t>Kanal Atama</a:t>
            </a:r>
          </a:p>
        </p:txBody>
      </p:sp>
      <p:sp>
        <p:nvSpPr>
          <p:cNvPr id="3" name="İçerik Yer Tutucusu 2">
            <a:extLst>
              <a:ext uri="{FF2B5EF4-FFF2-40B4-BE49-F238E27FC236}">
                <a16:creationId xmlns:a16="http://schemas.microsoft.com/office/drawing/2014/main" id="{C1CC5CCB-DD98-4FA9-8174-FB6E4C466BD5}"/>
              </a:ext>
            </a:extLst>
          </p:cNvPr>
          <p:cNvSpPr>
            <a:spLocks noGrp="1"/>
          </p:cNvSpPr>
          <p:nvPr>
            <p:ph idx="1"/>
          </p:nvPr>
        </p:nvSpPr>
        <p:spPr/>
        <p:txBody>
          <a:bodyPr/>
          <a:lstStyle/>
          <a:p>
            <a:pPr marL="0" indent="0" algn="just">
              <a:buNone/>
            </a:pPr>
            <a:r>
              <a:rPr lang="tr-TR" sz="1600" dirty="0"/>
              <a:t>WLAN içinde iyi tanımlanmış sınırların olmaması, iletim sırasında çatışma oluşup oluşmadığının saptanmasını imkansız hale getirir. Bu nedenle, çatışma oluşmamasını sağlayacak bir kablosuz ağda erişim yönteminin kullanılması gerekir. </a:t>
            </a:r>
          </a:p>
          <a:p>
            <a:pPr marL="0" indent="0" algn="just">
              <a:buNone/>
            </a:pPr>
            <a:endParaRPr lang="tr-TR" sz="1600" dirty="0"/>
          </a:p>
          <a:p>
            <a:pPr marL="0" indent="0" algn="just">
              <a:buNone/>
            </a:pPr>
            <a:r>
              <a:rPr lang="tr-TR" sz="1600" dirty="0"/>
              <a:t>Kablosuz teknoloji, Taşıyıcı Algılamalı Çoklu Erişim Çatışma Önleme (CSMA/CA) adı verilen bir erişim yöntemini kullanır. CSMA/CA, belirli bir iletişim tarafından kullanılması için kanalda bir koruma oluşturur. Koruma bulunurken başka bir aygıt kanalda iletim yapamaz ve böylece olası çatışmalar önlenir.</a:t>
            </a:r>
          </a:p>
          <a:p>
            <a:pPr marL="0" indent="0" algn="just">
              <a:buNone/>
            </a:pPr>
            <a:endParaRPr lang="tr-TR" sz="1600" dirty="0"/>
          </a:p>
          <a:p>
            <a:pPr marL="0" indent="0" algn="just">
              <a:buNone/>
            </a:pPr>
            <a:r>
              <a:rPr lang="tr-TR" sz="1600" dirty="0"/>
              <a:t>Bu koruma işlemi nasıl çalışır? Bir aygıtın </a:t>
            </a:r>
            <a:r>
              <a:rPr lang="tr-TR" sz="1600" dirty="0" err="1"/>
              <a:t>BSS'deki</a:t>
            </a:r>
            <a:r>
              <a:rPr lang="tr-TR" sz="1600" dirty="0"/>
              <a:t> belirli bir iletişim kanalını kullanması gerekiyorsa, AP'den izin istemesi gerekir. Buna Gönderim İsteği (RTS) denir. Kanal kullanılabilir durumdaysa, AP, aygıtın kanalda iletim yapabileceğini bildiren bir Gönderme için Hazır (CTS) iletisiyle aygıta yanıt verir. CTS, BSS içindeki tüm aygıtlara yayın niteliğindedir. Bu nedenle </a:t>
            </a:r>
            <a:r>
              <a:rPr lang="tr-TR" sz="1600" dirty="0" err="1"/>
              <a:t>BSS'deki</a:t>
            </a:r>
            <a:r>
              <a:rPr lang="tr-TR" sz="1600" dirty="0"/>
              <a:t> tüm aygıtlar istenen kanalın şu anda kullanıldığını bilir. </a:t>
            </a:r>
          </a:p>
          <a:p>
            <a:pPr marL="0" indent="0" algn="just">
              <a:buNone/>
            </a:pPr>
            <a:endParaRPr lang="tr-TR" sz="1600" dirty="0"/>
          </a:p>
          <a:p>
            <a:pPr marL="0" indent="0" algn="just">
              <a:buNone/>
            </a:pPr>
            <a:r>
              <a:rPr lang="tr-TR" sz="1600" dirty="0"/>
              <a:t>İletişim tamamlandıktan sonra, kanalı isteyen aygıt AP'ye Alındı Bildirimi (ACK) olarak bilinen başka bir ileti gönderir. ACK, kanalın yayınlanabileceğini AP'ye bildirir. Bu ileti de </a:t>
            </a:r>
            <a:r>
              <a:rPr lang="tr-TR" sz="1600" dirty="0" err="1"/>
              <a:t>WLAN'daki</a:t>
            </a:r>
            <a:r>
              <a:rPr lang="tr-TR" sz="1600" dirty="0"/>
              <a:t> tüm aygıtlara yayın niteliğindedir. BSS içindeki tüm aygıtlar </a:t>
            </a:r>
            <a:r>
              <a:rPr lang="tr-TR" sz="1600" dirty="0" err="1"/>
              <a:t>ACK'yi</a:t>
            </a:r>
            <a:r>
              <a:rPr lang="tr-TR" sz="1600" dirty="0"/>
              <a:t> alır ve kanalın yine kullanılabilir durumda olduğunu bilir.</a:t>
            </a:r>
          </a:p>
        </p:txBody>
      </p:sp>
    </p:spTree>
    <p:extLst>
      <p:ext uri="{BB962C8B-B14F-4D97-AF65-F5344CB8AC3E}">
        <p14:creationId xmlns:p14="http://schemas.microsoft.com/office/powerpoint/2010/main" val="23379348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C299FD9-4313-429B-9806-F4D420B4E88E}"/>
              </a:ext>
            </a:extLst>
          </p:cNvPr>
          <p:cNvSpPr>
            <a:spLocks noGrp="1"/>
          </p:cNvSpPr>
          <p:nvPr>
            <p:ph type="title"/>
          </p:nvPr>
        </p:nvSpPr>
        <p:spPr/>
        <p:txBody>
          <a:bodyPr>
            <a:normAutofit fontScale="90000"/>
          </a:bodyPr>
          <a:lstStyle/>
          <a:p>
            <a:r>
              <a:rPr lang="tr-TR" dirty="0"/>
              <a:t>Erişim Noktası Yapılandırma</a:t>
            </a:r>
          </a:p>
        </p:txBody>
      </p:sp>
      <p:sp>
        <p:nvSpPr>
          <p:cNvPr id="3" name="İçerik Yer Tutucusu 2">
            <a:extLst>
              <a:ext uri="{FF2B5EF4-FFF2-40B4-BE49-F238E27FC236}">
                <a16:creationId xmlns:a16="http://schemas.microsoft.com/office/drawing/2014/main" id="{4D63EB8B-F71E-4E71-847E-E30001076011}"/>
              </a:ext>
            </a:extLst>
          </p:cNvPr>
          <p:cNvSpPr>
            <a:spLocks noGrp="1"/>
          </p:cNvSpPr>
          <p:nvPr>
            <p:ph idx="1"/>
          </p:nvPr>
        </p:nvSpPr>
        <p:spPr/>
        <p:txBody>
          <a:bodyPr/>
          <a:lstStyle/>
          <a:p>
            <a:pPr marL="0" indent="0" algn="just">
              <a:buNone/>
            </a:pPr>
            <a:r>
              <a:rPr lang="tr-TR" sz="1600" dirty="0"/>
              <a:t>Kablosuz standardı, düzeni ve kanal ataması seçildikten sonra sıra AP'nin yapılandırılmasına gelir. Çoğu tümleşik yönlendirici hem kablolu hem de kablosuz bağlantı sunar ve kablosuz ağda AP görevi görür. Cihaz ister kablolu ister kablosuz konak bilgisayarlara bağlanmak için kullanılsın, parola, IP adresleri ve DHCP ayarları gibi temel yapılandırma ayarları aynıdır. AP canlı bir ağa bağlanmadan önce, varsayılan parolayı değiştirme gibi temel yapılandırma görevlerinin gerçekleştirilmesi gerekir. Tümleşik bir yönlendiricinin kablosuz işlevi kullanılırken, kablosuz kipini, </a:t>
            </a:r>
            <a:r>
              <a:rPr lang="tr-TR" sz="1600" dirty="0" err="1"/>
              <a:t>SSID'yi</a:t>
            </a:r>
            <a:r>
              <a:rPr lang="tr-TR" sz="1600" dirty="0"/>
              <a:t> ve kullanılacak kablosuz kanalları ayarlama gibi ek yapılandırma parametreleri gerekir.</a:t>
            </a:r>
          </a:p>
          <a:p>
            <a:pPr marL="0" indent="0" algn="just">
              <a:buNone/>
            </a:pPr>
            <a:endParaRPr lang="tr-TR" sz="1600" dirty="0"/>
          </a:p>
          <a:p>
            <a:pPr marL="0" indent="0" algn="just">
              <a:buNone/>
            </a:pPr>
            <a:endParaRPr lang="tr-TR" sz="1600" dirty="0"/>
          </a:p>
        </p:txBody>
      </p:sp>
      <p:pic>
        <p:nvPicPr>
          <p:cNvPr id="4" name="Resim 3">
            <a:extLst>
              <a:ext uri="{FF2B5EF4-FFF2-40B4-BE49-F238E27FC236}">
                <a16:creationId xmlns:a16="http://schemas.microsoft.com/office/drawing/2014/main" id="{78767472-A803-4249-99DB-0A2E4D80BA75}"/>
              </a:ext>
            </a:extLst>
          </p:cNvPr>
          <p:cNvPicPr>
            <a:picLocks noChangeAspect="1"/>
          </p:cNvPicPr>
          <p:nvPr/>
        </p:nvPicPr>
        <p:blipFill>
          <a:blip r:embed="rId2"/>
          <a:stretch>
            <a:fillRect/>
          </a:stretch>
        </p:blipFill>
        <p:spPr>
          <a:xfrm>
            <a:off x="1532965" y="3316687"/>
            <a:ext cx="6248400" cy="3107061"/>
          </a:xfrm>
          <a:prstGeom prst="rect">
            <a:avLst/>
          </a:prstGeom>
        </p:spPr>
      </p:pic>
    </p:spTree>
    <p:extLst>
      <p:ext uri="{BB962C8B-B14F-4D97-AF65-F5344CB8AC3E}">
        <p14:creationId xmlns:p14="http://schemas.microsoft.com/office/powerpoint/2010/main" val="777604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CD5E9EB-966A-4D46-9C6D-C1D730BDA8F8}"/>
              </a:ext>
            </a:extLst>
          </p:cNvPr>
          <p:cNvSpPr>
            <a:spLocks noGrp="1"/>
          </p:cNvSpPr>
          <p:nvPr>
            <p:ph type="title"/>
          </p:nvPr>
        </p:nvSpPr>
        <p:spPr/>
        <p:txBody>
          <a:bodyPr>
            <a:normAutofit fontScale="90000"/>
          </a:bodyPr>
          <a:lstStyle/>
          <a:p>
            <a:r>
              <a:rPr lang="tr-TR" dirty="0"/>
              <a:t>Erişim Noktası Yapılandırma</a:t>
            </a:r>
          </a:p>
        </p:txBody>
      </p:sp>
      <p:sp>
        <p:nvSpPr>
          <p:cNvPr id="3" name="İçerik Yer Tutucusu 2">
            <a:extLst>
              <a:ext uri="{FF2B5EF4-FFF2-40B4-BE49-F238E27FC236}">
                <a16:creationId xmlns:a16="http://schemas.microsoft.com/office/drawing/2014/main" id="{7C352603-DA43-4090-A46E-2280C7606B1C}"/>
              </a:ext>
            </a:extLst>
          </p:cNvPr>
          <p:cNvSpPr>
            <a:spLocks noGrp="1"/>
          </p:cNvSpPr>
          <p:nvPr>
            <p:ph idx="1"/>
          </p:nvPr>
        </p:nvSpPr>
        <p:spPr/>
        <p:txBody>
          <a:bodyPr/>
          <a:lstStyle/>
          <a:p>
            <a:pPr algn="just"/>
            <a:r>
              <a:rPr lang="tr-TR" sz="1600" b="1" dirty="0"/>
              <a:t>Kablosuz Kipi</a:t>
            </a:r>
          </a:p>
          <a:p>
            <a:pPr marL="0" indent="0" algn="just">
              <a:buNone/>
            </a:pPr>
            <a:r>
              <a:rPr lang="tr-TR" sz="1600" dirty="0"/>
              <a:t>Ev AP aygıtlarının çoğu başta 802.11b, 802.11g ve 802.11n olmak üzere çeşitli kipleri destekleyebilir. Bu kiplerin tümü 2.4 GHz aralık kullansa da, her biri maksimum taşınan veri miktarı elde etmek için farklı bir teknoloji kullanır. AP'de etkinleştirilen kipin türü, AP'ye bağlanan konak bilgisayar türüne bağlıdır. AP aygıtına yalnızca bir tür konak bilgisayar bağlanıyorsa, kipi bu türü destekleyecek şekilde ayarlayın. Birden çok türde konak bilgisayar bağlanacaksa, karma kipini seçin. Her kip belirli miktarda yük içerir. Karma kipi etkinleştirildiğinde, destekleyen tüm kiplerde yük oluşması nedeniyle ağ başarımı düşer.</a:t>
            </a:r>
          </a:p>
          <a:p>
            <a:pPr algn="just"/>
            <a:r>
              <a:rPr lang="tr-TR" sz="1600" b="1" dirty="0"/>
              <a:t>SSID</a:t>
            </a:r>
          </a:p>
          <a:p>
            <a:pPr marL="0" indent="0" algn="just">
              <a:buNone/>
            </a:pPr>
            <a:r>
              <a:rPr lang="tr-TR" sz="1600" dirty="0"/>
              <a:t>SSID, </a:t>
            </a:r>
            <a:r>
              <a:rPr lang="tr-TR" sz="1600" dirty="0" err="1"/>
              <a:t>WLAN'ı</a:t>
            </a:r>
            <a:r>
              <a:rPr lang="tr-TR" sz="1600" dirty="0"/>
              <a:t> tanımlamak için kullanılır. </a:t>
            </a:r>
            <a:r>
              <a:rPr lang="tr-TR" sz="1600" dirty="0" err="1"/>
              <a:t>WLAN'a</a:t>
            </a:r>
            <a:r>
              <a:rPr lang="tr-TR" sz="1600" dirty="0"/>
              <a:t> girmek isteyen tüm cihazların aynı </a:t>
            </a:r>
            <a:r>
              <a:rPr lang="tr-TR" sz="1600" dirty="0" err="1"/>
              <a:t>SSID'yi</a:t>
            </a:r>
            <a:r>
              <a:rPr lang="tr-TR" sz="1600" dirty="0"/>
              <a:t> kullanması gerekir. </a:t>
            </a:r>
            <a:r>
              <a:rPr lang="tr-TR" sz="1600" dirty="0" err="1"/>
              <a:t>WLAN'ın</a:t>
            </a:r>
            <a:r>
              <a:rPr lang="tr-TR" sz="1600" dirty="0"/>
              <a:t> istemciler tarafından kolayca algılanmasını sağlamak için SSID yayın niteliğindedir. </a:t>
            </a:r>
            <a:r>
              <a:rPr lang="tr-TR" sz="1600" dirty="0" err="1"/>
              <a:t>SSID'nin</a:t>
            </a:r>
            <a:r>
              <a:rPr lang="tr-TR" sz="1600" dirty="0"/>
              <a:t> yayın özelliği devre dışı bırakılabilir. SSID yayın niteliğinde olmadığında, kablosuz istemcilerin bu değeri manuel yapılandırmaları gerekir.</a:t>
            </a:r>
          </a:p>
          <a:p>
            <a:pPr algn="just"/>
            <a:r>
              <a:rPr lang="tr-TR" sz="1600" b="1" dirty="0"/>
              <a:t>Kablosuz Kanal</a:t>
            </a:r>
          </a:p>
          <a:p>
            <a:pPr marL="0" indent="0" algn="just">
              <a:buNone/>
            </a:pPr>
            <a:r>
              <a:rPr lang="tr-TR" sz="1600" dirty="0"/>
              <a:t>AP için etrafındaki diğer kablosuz ağlarla ilgili bir AP kanalı seçimi yapılması gerekir. Bitişik </a:t>
            </a:r>
            <a:r>
              <a:rPr lang="tr-TR" sz="1600" dirty="0" err="1"/>
              <a:t>BSS'ler</a:t>
            </a:r>
            <a:r>
              <a:rPr lang="tr-TR" sz="1600" dirty="0"/>
              <a:t>, taşınan veri miktarını en iyi duruma getirmek için örtüşmeyen kanallar kullanmalıdır. Günümüzde çoğu AP, manuel kanal yapılandırma seçeneği sunar veya AP'nin en az tıkanmış kanalı ya da maksimum taşınan veri miktarı sunan kanalı otomatik olarak bulmasını sağlar.</a:t>
            </a:r>
          </a:p>
          <a:p>
            <a:pPr marL="0" indent="0" algn="just">
              <a:buNone/>
            </a:pPr>
            <a:endParaRPr lang="tr-TR" sz="1600" dirty="0"/>
          </a:p>
          <a:p>
            <a:pPr marL="0" indent="0" algn="just">
              <a:buNone/>
            </a:pPr>
            <a:endParaRPr lang="tr-TR" sz="1600" dirty="0"/>
          </a:p>
        </p:txBody>
      </p:sp>
    </p:spTree>
    <p:extLst>
      <p:ext uri="{BB962C8B-B14F-4D97-AF65-F5344CB8AC3E}">
        <p14:creationId xmlns:p14="http://schemas.microsoft.com/office/powerpoint/2010/main" val="31964880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8E91A14-FE93-4EA2-B46C-DA7474436F4F}"/>
              </a:ext>
            </a:extLst>
          </p:cNvPr>
          <p:cNvSpPr>
            <a:spLocks noGrp="1"/>
          </p:cNvSpPr>
          <p:nvPr>
            <p:ph type="title"/>
          </p:nvPr>
        </p:nvSpPr>
        <p:spPr/>
        <p:txBody>
          <a:bodyPr>
            <a:normAutofit fontScale="90000"/>
          </a:bodyPr>
          <a:lstStyle/>
          <a:p>
            <a:r>
              <a:rPr lang="tr-TR" dirty="0"/>
              <a:t>Kablosuz İstemciyi Yapılandırma</a:t>
            </a:r>
          </a:p>
        </p:txBody>
      </p:sp>
      <p:sp>
        <p:nvSpPr>
          <p:cNvPr id="3" name="İçerik Yer Tutucusu 2">
            <a:extLst>
              <a:ext uri="{FF2B5EF4-FFF2-40B4-BE49-F238E27FC236}">
                <a16:creationId xmlns:a16="http://schemas.microsoft.com/office/drawing/2014/main" id="{EDAE697C-CA62-4F3C-9F04-0965276C2C4A}"/>
              </a:ext>
            </a:extLst>
          </p:cNvPr>
          <p:cNvSpPr>
            <a:spLocks noGrp="1"/>
          </p:cNvSpPr>
          <p:nvPr>
            <p:ph idx="1"/>
          </p:nvPr>
        </p:nvSpPr>
        <p:spPr/>
        <p:txBody>
          <a:bodyPr/>
          <a:lstStyle/>
          <a:p>
            <a:pPr marL="0" indent="0" algn="just">
              <a:buNone/>
            </a:pPr>
            <a:r>
              <a:rPr lang="tr-TR" sz="1600" dirty="0"/>
              <a:t>Kablosuz konak bilgisayar veya STA, bir kablosuz NIC (Ağ </a:t>
            </a:r>
            <a:r>
              <a:rPr lang="tr-TR" sz="1600" dirty="0" err="1"/>
              <a:t>Arayüz</a:t>
            </a:r>
            <a:r>
              <a:rPr lang="tr-TR" sz="1600" dirty="0"/>
              <a:t> Kartı) ve kablosuz istemci yazılımı içeren herhangi bir cihaz olarak tanımlanır. Bu istemci yazılımı, donanımın </a:t>
            </a:r>
            <a:r>
              <a:rPr lang="tr-TR" sz="1600" dirty="0" err="1"/>
              <a:t>WLAN'a</a:t>
            </a:r>
            <a:r>
              <a:rPr lang="tr-TR" sz="1600" dirty="0"/>
              <a:t> girmesini sağlar. STA niteliğindeki aygıtlar şunlardır: </a:t>
            </a:r>
            <a:r>
              <a:rPr lang="tr-TR" sz="1600" dirty="0" err="1"/>
              <a:t>PDA'lar</a:t>
            </a:r>
            <a:r>
              <a:rPr lang="tr-TR" sz="1600" dirty="0"/>
              <a:t>, dizüstü bilgisayarlar, masaüstü PC'ler, yazıcılar, projektörler ve </a:t>
            </a:r>
            <a:r>
              <a:rPr lang="tr-TR" sz="1600" dirty="0" err="1"/>
              <a:t>Wi</a:t>
            </a:r>
            <a:r>
              <a:rPr lang="tr-TR" sz="1600" dirty="0"/>
              <a:t>-Fi telefonlar.  </a:t>
            </a:r>
            <a:r>
              <a:rPr lang="tr-TR" sz="1600" dirty="0" err="1"/>
              <a:t>STA'nın</a:t>
            </a:r>
            <a:r>
              <a:rPr lang="tr-TR" sz="1600" dirty="0"/>
              <a:t> </a:t>
            </a:r>
            <a:r>
              <a:rPr lang="tr-TR" sz="1600" dirty="0" err="1"/>
              <a:t>WLAN'a</a:t>
            </a:r>
            <a:r>
              <a:rPr lang="tr-TR" sz="1600" dirty="0"/>
              <a:t> bağlanması için, istemci yapılandırmasının AP yapılandırmasıyla aynı olması gerekir. AP'de kanal manuel olarak ayarlanmışsa, bu yapılandırma kapsamında SSID, güvenlik ayarları ve kanal bilgileri yer alır. Bu ayarlar, istemci bağlantısını yöneten istemci yazılımında belirtilir. Kullanılan kablosuz istemci yazılımı, aygıtın işletim sistemine </a:t>
            </a:r>
            <a:r>
              <a:rPr lang="tr-TR" sz="1600" dirty="0" err="1"/>
              <a:t>tümleştirilmiş</a:t>
            </a:r>
            <a:r>
              <a:rPr lang="tr-TR" sz="1600" dirty="0"/>
              <a:t> bir yazılım olabileceği gibi, kablosuz NIC ile etkileşim kurmak üzere özel olarak tasarlanmış bağımsız, indirilebilir bir kablosuz yardımcı program yazılımı da olabilir. </a:t>
            </a:r>
          </a:p>
          <a:p>
            <a:pPr marL="0" indent="0" algn="just">
              <a:buNone/>
            </a:pPr>
            <a:endParaRPr lang="tr-TR" sz="1600" dirty="0"/>
          </a:p>
        </p:txBody>
      </p:sp>
      <p:pic>
        <p:nvPicPr>
          <p:cNvPr id="4" name="Resim 3">
            <a:extLst>
              <a:ext uri="{FF2B5EF4-FFF2-40B4-BE49-F238E27FC236}">
                <a16:creationId xmlns:a16="http://schemas.microsoft.com/office/drawing/2014/main" id="{68FA12FE-8B2D-4310-B878-769E16ACC227}"/>
              </a:ext>
            </a:extLst>
          </p:cNvPr>
          <p:cNvPicPr>
            <a:picLocks noChangeAspect="1"/>
          </p:cNvPicPr>
          <p:nvPr/>
        </p:nvPicPr>
        <p:blipFill>
          <a:blip r:embed="rId2"/>
          <a:stretch>
            <a:fillRect/>
          </a:stretch>
        </p:blipFill>
        <p:spPr>
          <a:xfrm>
            <a:off x="2759868" y="3784300"/>
            <a:ext cx="3624263" cy="2785549"/>
          </a:xfrm>
          <a:prstGeom prst="rect">
            <a:avLst/>
          </a:prstGeom>
        </p:spPr>
      </p:pic>
    </p:spTree>
    <p:extLst>
      <p:ext uri="{BB962C8B-B14F-4D97-AF65-F5344CB8AC3E}">
        <p14:creationId xmlns:p14="http://schemas.microsoft.com/office/powerpoint/2010/main" val="131254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9D82AB6-DC8E-48E2-8CEA-AACDD5557F98}"/>
              </a:ext>
            </a:extLst>
          </p:cNvPr>
          <p:cNvSpPr>
            <a:spLocks noGrp="1"/>
          </p:cNvSpPr>
          <p:nvPr>
            <p:ph type="title"/>
          </p:nvPr>
        </p:nvSpPr>
        <p:spPr/>
        <p:txBody>
          <a:bodyPr>
            <a:normAutofit fontScale="90000"/>
          </a:bodyPr>
          <a:lstStyle/>
          <a:p>
            <a:r>
              <a:rPr lang="tr-TR" dirty="0"/>
              <a:t>Kablosuz İstemciyi Yapılandırma</a:t>
            </a:r>
          </a:p>
        </p:txBody>
      </p:sp>
      <p:sp>
        <p:nvSpPr>
          <p:cNvPr id="3" name="İçerik Yer Tutucusu 2">
            <a:extLst>
              <a:ext uri="{FF2B5EF4-FFF2-40B4-BE49-F238E27FC236}">
                <a16:creationId xmlns:a16="http://schemas.microsoft.com/office/drawing/2014/main" id="{8365711C-D900-46DA-9044-7E9EA8EACEE0}"/>
              </a:ext>
            </a:extLst>
          </p:cNvPr>
          <p:cNvSpPr>
            <a:spLocks noGrp="1"/>
          </p:cNvSpPr>
          <p:nvPr>
            <p:ph idx="1"/>
          </p:nvPr>
        </p:nvSpPr>
        <p:spPr>
          <a:xfrm>
            <a:off x="313765" y="1371600"/>
            <a:ext cx="8686800" cy="4929308"/>
          </a:xfrm>
        </p:spPr>
        <p:txBody>
          <a:bodyPr/>
          <a:lstStyle/>
          <a:p>
            <a:pPr algn="just"/>
            <a:r>
              <a:rPr lang="tr-TR" sz="1550" b="1" dirty="0"/>
              <a:t>Tümleşik Kablosuz Yardımcı Program Yazılımı</a:t>
            </a:r>
          </a:p>
          <a:p>
            <a:pPr marL="0" indent="0" algn="just">
              <a:buNone/>
            </a:pPr>
            <a:r>
              <a:rPr lang="tr-TR" sz="1550" dirty="0"/>
              <a:t>Windows XP kablosuz istemci yazılımı, cihaz </a:t>
            </a:r>
            <a:r>
              <a:rPr lang="tr-TR" sz="1550" dirty="0" err="1"/>
              <a:t>OS'sinin</a:t>
            </a:r>
            <a:r>
              <a:rPr lang="tr-TR" sz="1550" dirty="0"/>
              <a:t> (İşletim Sistemi) bir parçası olarak bulunan yaygın kablosuz istemci yardımcı programına bir örnektir. Bu istemci yazılımı, çoğu kablosuz istemci yapılandırmasını denetleyebilen temel yönetim yazılımıdır. Kullanıcı dostu olup basit bir bağlantı süreci sunar.</a:t>
            </a:r>
          </a:p>
          <a:p>
            <a:pPr marL="0" indent="0" algn="just">
              <a:buNone/>
            </a:pPr>
            <a:endParaRPr lang="tr-TR" sz="1550" dirty="0"/>
          </a:p>
          <a:p>
            <a:pPr algn="just"/>
            <a:r>
              <a:rPr lang="tr-TR" sz="1550" b="1" dirty="0"/>
              <a:t>Bağımsız Kablosuz Yardımcı Program Yazılımı</a:t>
            </a:r>
          </a:p>
          <a:p>
            <a:pPr marL="0" indent="0" algn="just">
              <a:buNone/>
            </a:pPr>
            <a:r>
              <a:rPr lang="tr-TR" sz="1550" dirty="0"/>
              <a:t>Kablosuz NIC ile verilen yazılım gibi, kablosuz yardımcı program yazılımı da belirli bir NIC ile çalışacak biçimde tasarlanmıştır. Genellikle Windows XP kablosuz yardımcı programından daha gelişmiş, aşağıda örnekleri bulunan işlevleri sunar:</a:t>
            </a:r>
          </a:p>
          <a:p>
            <a:pPr algn="just">
              <a:buFont typeface="+mj-lt"/>
              <a:buAutoNum type="arabicPeriod"/>
            </a:pPr>
            <a:r>
              <a:rPr lang="tr-TR" sz="1550" b="1" dirty="0"/>
              <a:t>Bağ Bilgisi </a:t>
            </a:r>
            <a:r>
              <a:rPr lang="tr-TR" sz="1550" dirty="0"/>
              <a:t>- tek bir kablosuz bağlantının geçerli gücünü ve kalitesini görüntüler.</a:t>
            </a:r>
          </a:p>
          <a:p>
            <a:pPr algn="just">
              <a:buFont typeface="+mj-lt"/>
              <a:buAutoNum type="arabicPeriod"/>
            </a:pPr>
            <a:r>
              <a:rPr lang="tr-TR" sz="1550" b="1" dirty="0"/>
              <a:t>Profiller</a:t>
            </a:r>
            <a:r>
              <a:rPr lang="tr-TR" sz="1550" dirty="0"/>
              <a:t> - kablosuz ağların her biri için belirtilecek kanal ve SSID gibi yapılandırma seçeneklerine izin verir.</a:t>
            </a:r>
          </a:p>
          <a:p>
            <a:pPr algn="just">
              <a:buFont typeface="+mj-lt"/>
              <a:buAutoNum type="arabicPeriod"/>
            </a:pPr>
            <a:r>
              <a:rPr lang="tr-TR" sz="1550" b="1" dirty="0"/>
              <a:t>Yerinde İnceleme </a:t>
            </a:r>
            <a:r>
              <a:rPr lang="tr-TR" sz="1550" dirty="0"/>
              <a:t>- civardaki tüm kablosuz ağların algılanmasını sağlar.</a:t>
            </a:r>
          </a:p>
          <a:p>
            <a:pPr marL="0" indent="0" algn="just">
              <a:buNone/>
            </a:pPr>
            <a:endParaRPr lang="tr-TR" sz="1550" dirty="0"/>
          </a:p>
          <a:p>
            <a:pPr marL="0" indent="0" algn="just">
              <a:buNone/>
            </a:pPr>
            <a:r>
              <a:rPr lang="tr-TR" sz="1550" dirty="0"/>
              <a:t>Aynı anda hem kablosuz yardımcı program yazılımının hem de Windows XP istemci yazılımının kablosuz bağlantıyı yönetmesini sağlamak mümkün değildir. Çoğu durumda Windows XP yeterlidir. Ancak her kablosuz ağ için birden çok profil oluşturulması gerekiyorsa veya gelişmiş yapılandırmalar gerekliyse, NIC ile birlikte verilen yardımcı programı kullanmak daha iyi olacaktır.</a:t>
            </a:r>
          </a:p>
        </p:txBody>
      </p:sp>
    </p:spTree>
    <p:extLst>
      <p:ext uri="{BB962C8B-B14F-4D97-AF65-F5344CB8AC3E}">
        <p14:creationId xmlns:p14="http://schemas.microsoft.com/office/powerpoint/2010/main" val="19571191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4CCF5BE-6ACA-459C-8662-86F0C3DD1D0B}"/>
              </a:ext>
            </a:extLst>
          </p:cNvPr>
          <p:cNvSpPr>
            <a:spLocks noGrp="1"/>
          </p:cNvSpPr>
          <p:nvPr>
            <p:ph type="title"/>
          </p:nvPr>
        </p:nvSpPr>
        <p:spPr/>
        <p:txBody>
          <a:bodyPr>
            <a:normAutofit fontScale="90000"/>
          </a:bodyPr>
          <a:lstStyle/>
          <a:p>
            <a:r>
              <a:rPr lang="tr-TR" dirty="0"/>
              <a:t>Kablosuz İstemciyi Yapılandırma</a:t>
            </a:r>
          </a:p>
        </p:txBody>
      </p:sp>
      <p:sp>
        <p:nvSpPr>
          <p:cNvPr id="3" name="İçerik Yer Tutucusu 2">
            <a:extLst>
              <a:ext uri="{FF2B5EF4-FFF2-40B4-BE49-F238E27FC236}">
                <a16:creationId xmlns:a16="http://schemas.microsoft.com/office/drawing/2014/main" id="{247C50CB-358B-4631-89F8-BEB0DB16AE4A}"/>
              </a:ext>
            </a:extLst>
          </p:cNvPr>
          <p:cNvSpPr>
            <a:spLocks noGrp="1"/>
          </p:cNvSpPr>
          <p:nvPr>
            <p:ph idx="1"/>
          </p:nvPr>
        </p:nvSpPr>
        <p:spPr/>
        <p:txBody>
          <a:bodyPr/>
          <a:lstStyle/>
          <a:p>
            <a:pPr marL="0" indent="0" algn="just">
              <a:buNone/>
            </a:pPr>
            <a:r>
              <a:rPr lang="tr-TR" sz="1600" dirty="0"/>
              <a:t>İstemci yazılımı yapılandırıldıktan sonra, istemci ve AP arasındaki bağı doğrulayın. </a:t>
            </a:r>
          </a:p>
          <a:p>
            <a:pPr marL="0" indent="0" algn="just">
              <a:buNone/>
            </a:pPr>
            <a:endParaRPr lang="tr-TR" sz="1600" dirty="0"/>
          </a:p>
          <a:p>
            <a:pPr marL="0" indent="0" algn="just">
              <a:buNone/>
            </a:pPr>
            <a:r>
              <a:rPr lang="tr-TR" sz="1600" dirty="0"/>
              <a:t>Bağlantı veri hızı, bağlantı durumu ve kullanılan kablosuz kanal gibi bilgileri görüntülemek için kablosuz bağ bilgileri ekranını açın. Varsa Bağ Bilgileri özelliği, geçerli sinyal gücünü ve kablosuz sinyalin kalitesini görüntüler. </a:t>
            </a:r>
          </a:p>
          <a:p>
            <a:pPr marL="0" indent="0" algn="just">
              <a:buNone/>
            </a:pPr>
            <a:endParaRPr lang="tr-TR" sz="1600" dirty="0"/>
          </a:p>
          <a:p>
            <a:pPr marL="0" indent="0" algn="just">
              <a:buNone/>
            </a:pPr>
            <a:r>
              <a:rPr lang="tr-TR" sz="1600" dirty="0"/>
              <a:t>Kablosuz bağlantı durumunu doğrulamanın yanı sıra, verinin gerçekten iletilebileceğini de doğrulayın. Başarılı veri iletimini doğrulamaya yönelik en yaygın sınamalardan biri </a:t>
            </a:r>
            <a:r>
              <a:rPr lang="tr-TR" sz="1600" dirty="0" err="1"/>
              <a:t>Ping</a:t>
            </a:r>
            <a:r>
              <a:rPr lang="tr-TR" sz="1600" dirty="0"/>
              <a:t> sınamasıdır. </a:t>
            </a:r>
            <a:r>
              <a:rPr lang="tr-TR" sz="1600" dirty="0" err="1"/>
              <a:t>Ping</a:t>
            </a:r>
            <a:r>
              <a:rPr lang="tr-TR" sz="1600" dirty="0"/>
              <a:t> başarılıysa, veri iletimi mümkün demektir. </a:t>
            </a:r>
          </a:p>
          <a:p>
            <a:pPr marL="0" indent="0" algn="just">
              <a:buNone/>
            </a:pPr>
            <a:endParaRPr lang="tr-TR" sz="1600" dirty="0"/>
          </a:p>
          <a:p>
            <a:pPr marL="0" indent="0" algn="just">
              <a:buNone/>
            </a:pPr>
            <a:r>
              <a:rPr lang="tr-TR" sz="1600" dirty="0"/>
              <a:t>Kaynaktan hedefe </a:t>
            </a:r>
            <a:r>
              <a:rPr lang="tr-TR" sz="1600" dirty="0" err="1"/>
              <a:t>ping</a:t>
            </a:r>
            <a:r>
              <a:rPr lang="tr-TR" sz="1600" dirty="0"/>
              <a:t> başarısız olursa, kablosuz bağlantının kullanılabilir durumda olduğundan emin olmak için kablosuz istemciden AP'ye </a:t>
            </a:r>
            <a:r>
              <a:rPr lang="tr-TR" sz="1600" dirty="0" err="1"/>
              <a:t>ping</a:t>
            </a:r>
            <a:r>
              <a:rPr lang="tr-TR" sz="1600" dirty="0"/>
              <a:t> atın. Bu da başarısız olursa, sorun kablosuz istemci ile AP arasındadır. Ayar bilgilerini kontrol edin ve bağlantıyı yeniden kurmayı deneyin. </a:t>
            </a:r>
          </a:p>
          <a:p>
            <a:pPr marL="0" indent="0" algn="just">
              <a:buNone/>
            </a:pPr>
            <a:endParaRPr lang="tr-TR" sz="1600" dirty="0"/>
          </a:p>
          <a:p>
            <a:pPr marL="0" indent="0" algn="just">
              <a:buNone/>
            </a:pPr>
            <a:r>
              <a:rPr lang="tr-TR" sz="1600" dirty="0"/>
              <a:t>Kablosuz istemci başarıyla AP'ye bağlanabilirse, AP ile hedefe giden yol üzerindeki bir sonraki sekme arasındaki bağlantıyı kontrol edin. Bu başarılı olursa, büyük ihtimalle sorun AP yapılandırmasıyla ilgili değildir; hedefe giden yol üzerindeki başka bir aygıtla veya hedef aygıtın kendisiyle ilgili olabilir.</a:t>
            </a:r>
          </a:p>
        </p:txBody>
      </p:sp>
    </p:spTree>
    <p:extLst>
      <p:ext uri="{BB962C8B-B14F-4D97-AF65-F5344CB8AC3E}">
        <p14:creationId xmlns:p14="http://schemas.microsoft.com/office/powerpoint/2010/main" val="21821067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C3168B7-6A9B-4196-87E5-4CFCB0BDF2F9}"/>
              </a:ext>
            </a:extLst>
          </p:cNvPr>
          <p:cNvSpPr>
            <a:spLocks noGrp="1"/>
          </p:cNvSpPr>
          <p:nvPr>
            <p:ph type="title"/>
          </p:nvPr>
        </p:nvSpPr>
        <p:spPr/>
        <p:txBody>
          <a:bodyPr>
            <a:normAutofit fontScale="90000"/>
          </a:bodyPr>
          <a:lstStyle/>
          <a:p>
            <a:r>
              <a:rPr lang="tr-TR" dirty="0" err="1"/>
              <a:t>WLAN’da</a:t>
            </a:r>
            <a:r>
              <a:rPr lang="tr-TR" dirty="0"/>
              <a:t> Kimlik Doğrulaması</a:t>
            </a:r>
          </a:p>
        </p:txBody>
      </p:sp>
      <p:sp>
        <p:nvSpPr>
          <p:cNvPr id="3" name="İçerik Yer Tutucusu 2">
            <a:extLst>
              <a:ext uri="{FF2B5EF4-FFF2-40B4-BE49-F238E27FC236}">
                <a16:creationId xmlns:a16="http://schemas.microsoft.com/office/drawing/2014/main" id="{6542DD15-4657-4BFA-98EC-5F0C4527F361}"/>
              </a:ext>
            </a:extLst>
          </p:cNvPr>
          <p:cNvSpPr>
            <a:spLocks noGrp="1"/>
          </p:cNvSpPr>
          <p:nvPr>
            <p:ph idx="1"/>
          </p:nvPr>
        </p:nvSpPr>
        <p:spPr/>
        <p:txBody>
          <a:bodyPr/>
          <a:lstStyle/>
          <a:p>
            <a:pPr marL="0" indent="0" algn="just">
              <a:buNone/>
            </a:pPr>
            <a:r>
              <a:rPr lang="tr-TR" sz="1600" dirty="0"/>
              <a:t>Bağlanabilecek kişileri denetlemenin başka bir yolu da kimlik doğrulaması uygulamaktır. Kimlik doğrulama, kimlik bilgilerine dayanarak ağa giriş izni verme işlemidir. Ağa bağlanmayı deneyen cihazın güvenilir olduğunu doğrulamak için bu işlem kullanılır. </a:t>
            </a:r>
          </a:p>
          <a:p>
            <a:pPr marL="0" indent="0" algn="just">
              <a:buNone/>
            </a:pPr>
            <a:endParaRPr lang="tr-TR" sz="1600" dirty="0"/>
          </a:p>
          <a:p>
            <a:pPr marL="0" indent="0" algn="just">
              <a:buNone/>
            </a:pPr>
            <a:r>
              <a:rPr lang="tr-TR" sz="1600" dirty="0"/>
              <a:t>Kullanıcı adı ve parola kullanılması, en yaygın kimlik doğrulama biçimidir. Kablosuz bir ortamda da kimlik doğrulama işlemi, bağlanan konak bilgisayarın doğrulanmasını sağlar ancak doğrulama işlemi biraz daha farklı biçimde ele alınır. İstemcinin </a:t>
            </a:r>
            <a:r>
              <a:rPr lang="tr-TR" sz="1600" dirty="0" err="1"/>
              <a:t>WLAN'a</a:t>
            </a:r>
            <a:r>
              <a:rPr lang="tr-TR" sz="1600" dirty="0"/>
              <a:t> bağlanmasına izin verilmeden önce kimlik doğrulamasının (etkinleştirilmişse) gerçekleşmesi gerekir. Üç tür kablosuz kimlik doğrulama yöntemi vardır: açık kimlik doğrulama, PSK (Ön Paylaşımlı Anahtar) ve EAP (Genişletilebilir Kimlik Doğrulama Protokolü).</a:t>
            </a:r>
          </a:p>
          <a:p>
            <a:pPr marL="0" indent="0" algn="just">
              <a:buNone/>
            </a:pPr>
            <a:endParaRPr lang="tr-TR" sz="1600" dirty="0"/>
          </a:p>
          <a:p>
            <a:pPr algn="just"/>
            <a:r>
              <a:rPr lang="tr-TR" sz="1600" b="1" dirty="0"/>
              <a:t>Açık Kimlik Doğrulama</a:t>
            </a:r>
            <a:endParaRPr lang="tr-TR" sz="1600" dirty="0"/>
          </a:p>
          <a:p>
            <a:pPr marL="0" indent="0" algn="just">
              <a:buNone/>
            </a:pPr>
            <a:r>
              <a:rPr lang="tr-TR" sz="1600" dirty="0"/>
              <a:t>Varsayılan olarak, kablosuz cihazlar kimlik doğrulaması gerektirmez. Tüm istemciler kim olduklarına bakılmaksızın ilişkilendirilebilir. Buna açık kimlik doğrulama denir. Açık kimlik doğrulama yalnızca okul ve restoranlarda bulunan ağlar gibi genel kablosuz ağlarda kullanılmalıdır. Ağa bağlandıktan sonra kimlik doğrulamasının başka yollarla yapılacağı ağlarda da bu kimlik doğrulama yöntemi kullanılabilir. </a:t>
            </a:r>
          </a:p>
        </p:txBody>
      </p:sp>
    </p:spTree>
    <p:extLst>
      <p:ext uri="{BB962C8B-B14F-4D97-AF65-F5344CB8AC3E}">
        <p14:creationId xmlns:p14="http://schemas.microsoft.com/office/powerpoint/2010/main" val="36966642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453020A-0998-452B-BAFB-0395E78ACE6B}"/>
              </a:ext>
            </a:extLst>
          </p:cNvPr>
          <p:cNvSpPr>
            <a:spLocks noGrp="1"/>
          </p:cNvSpPr>
          <p:nvPr>
            <p:ph type="title"/>
          </p:nvPr>
        </p:nvSpPr>
        <p:spPr/>
        <p:txBody>
          <a:bodyPr>
            <a:normAutofit fontScale="90000"/>
          </a:bodyPr>
          <a:lstStyle/>
          <a:p>
            <a:r>
              <a:rPr lang="tr-TR" dirty="0" err="1"/>
              <a:t>WLAN’da</a:t>
            </a:r>
            <a:r>
              <a:rPr lang="tr-TR" dirty="0"/>
              <a:t> Kimlik Doğrulaması</a:t>
            </a:r>
          </a:p>
        </p:txBody>
      </p:sp>
      <p:sp>
        <p:nvSpPr>
          <p:cNvPr id="3" name="İçerik Yer Tutucusu 2">
            <a:extLst>
              <a:ext uri="{FF2B5EF4-FFF2-40B4-BE49-F238E27FC236}">
                <a16:creationId xmlns:a16="http://schemas.microsoft.com/office/drawing/2014/main" id="{983008C0-B351-4ACF-B003-A37793D44880}"/>
              </a:ext>
            </a:extLst>
          </p:cNvPr>
          <p:cNvSpPr>
            <a:spLocks noGrp="1"/>
          </p:cNvSpPr>
          <p:nvPr>
            <p:ph idx="1"/>
          </p:nvPr>
        </p:nvSpPr>
        <p:spPr/>
        <p:txBody>
          <a:bodyPr/>
          <a:lstStyle/>
          <a:p>
            <a:pPr algn="just"/>
            <a:r>
              <a:rPr lang="tr-TR" sz="1600" b="1" dirty="0"/>
              <a:t>Ön paylaşımlı anahtarlar (PSK)</a:t>
            </a:r>
          </a:p>
          <a:p>
            <a:pPr marL="0" indent="0" algn="just">
              <a:buNone/>
            </a:pPr>
            <a:r>
              <a:rPr lang="tr-TR" sz="1600" dirty="0" err="1"/>
              <a:t>PSK'de</a:t>
            </a:r>
            <a:r>
              <a:rPr lang="tr-TR" sz="1600" dirty="0"/>
              <a:t> AP'nin ve istemcinin aynı anahtar veya gizli sözcük ile yapılandırılmış olması gerekir. AP, istemciye rastgele bir bayt dizgisi gönderir. İstemci dizgiyi kabul eder, anahtarı temel alarak dizgiyi şifreler (veya gizli tutar) ve AP'ye geri gönderir. AP şifrelenen dizgiyi alır ve dizginin şifresini çözmek (veya çözümlemek) için anahtarını kullanır. İstemciden alınan şifresi çözülmüş dizgi, istemciye gönderilen özgün dizgiyle eşleşiyorsa, istemcinin bağlanmasına izin verilir. PSK tek yönlü kimlik doğrulama yapar, başka bir deyişle, konak bilgisayar AP'de kimlik doğrulaması yapar. PSK konak bilgisayarda AP'nin kimlik doğrulamasını ve konak bilgisayarın gerçek kullanıcısının kimlik doğrulamasını yapmaz. </a:t>
            </a:r>
          </a:p>
          <a:p>
            <a:pPr marL="0" indent="0" algn="just">
              <a:buNone/>
            </a:pPr>
            <a:endParaRPr lang="tr-TR" sz="1600" dirty="0"/>
          </a:p>
          <a:p>
            <a:pPr algn="just"/>
            <a:r>
              <a:rPr lang="tr-TR" sz="1600" b="1" dirty="0"/>
              <a:t>Genişletilebilir Kimlik Doğrulama Protokolü (EAP)</a:t>
            </a:r>
          </a:p>
          <a:p>
            <a:pPr marL="0" indent="0" algn="just">
              <a:buNone/>
            </a:pPr>
            <a:r>
              <a:rPr lang="tr-TR" sz="1600" dirty="0"/>
              <a:t>EAP, kullanıcı kimlik doğrulamasının yanı sıra, karşılıklı veya iki yönlü kimlik doğrulaması sağlar. İstemciye EAP yazılımı yüklendiğinde, istemci Uzaktan Kimlik Doğrulama Çevirmeli Kullanıcı Hizmeti (RADIUS) gibi arka uç kimlik doğrulama sunucusuyla iletişim kurar. Bu arka uç sunucu, AP'den ayrı olarak çalışır ve ağa erişebilen geçerli kullanıcıların bir </a:t>
            </a:r>
            <a:r>
              <a:rPr lang="tr-TR" sz="1600" dirty="0" err="1"/>
              <a:t>veritabanını</a:t>
            </a:r>
            <a:r>
              <a:rPr lang="tr-TR" sz="1600" dirty="0"/>
              <a:t> korur. EAP kullanılırken konak bilgisayarın yanı sıra kullanıcının da geçerliliği RADIUS </a:t>
            </a:r>
            <a:r>
              <a:rPr lang="tr-TR" sz="1600" dirty="0" err="1"/>
              <a:t>veritabanında</a:t>
            </a:r>
            <a:r>
              <a:rPr lang="tr-TR" sz="1600" dirty="0"/>
              <a:t> kontrol edilecek bir kullanıcı adı ve parola sağlaması gerekir. Bunlar geçerliyse kullanıcının kimliği doğrulanır.</a:t>
            </a:r>
          </a:p>
        </p:txBody>
      </p:sp>
    </p:spTree>
    <p:extLst>
      <p:ext uri="{BB962C8B-B14F-4D97-AF65-F5344CB8AC3E}">
        <p14:creationId xmlns:p14="http://schemas.microsoft.com/office/powerpoint/2010/main" val="34982489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7C44F6B-8F2D-4DCD-ABBB-82AA5AD29423}"/>
              </a:ext>
            </a:extLst>
          </p:cNvPr>
          <p:cNvSpPr>
            <a:spLocks noGrp="1"/>
          </p:cNvSpPr>
          <p:nvPr>
            <p:ph type="title"/>
          </p:nvPr>
        </p:nvSpPr>
        <p:spPr/>
        <p:txBody>
          <a:bodyPr>
            <a:normAutofit fontScale="90000"/>
          </a:bodyPr>
          <a:lstStyle/>
          <a:p>
            <a:r>
              <a:rPr lang="tr-TR" dirty="0" err="1"/>
              <a:t>WLAN’da</a:t>
            </a:r>
            <a:r>
              <a:rPr lang="tr-TR" dirty="0"/>
              <a:t> Şifreleme</a:t>
            </a:r>
          </a:p>
        </p:txBody>
      </p:sp>
      <p:sp>
        <p:nvSpPr>
          <p:cNvPr id="3" name="İçerik Yer Tutucusu 2">
            <a:extLst>
              <a:ext uri="{FF2B5EF4-FFF2-40B4-BE49-F238E27FC236}">
                <a16:creationId xmlns:a16="http://schemas.microsoft.com/office/drawing/2014/main" id="{9D81F2E8-1446-4668-947E-2210CAE4DCBD}"/>
              </a:ext>
            </a:extLst>
          </p:cNvPr>
          <p:cNvSpPr>
            <a:spLocks noGrp="1"/>
          </p:cNvSpPr>
          <p:nvPr>
            <p:ph idx="1"/>
          </p:nvPr>
        </p:nvSpPr>
        <p:spPr/>
        <p:txBody>
          <a:bodyPr/>
          <a:lstStyle/>
          <a:p>
            <a:pPr marL="0" indent="0" algn="just">
              <a:buNone/>
            </a:pPr>
            <a:r>
              <a:rPr lang="tr-TR" sz="1700" dirty="0"/>
              <a:t>Kimlik doğrulama ve MAC filtreleme, saldırganların kablosuz ağa bağlanmasını durdurur ancak iletilen verilere müdahale edebilmelerini önleyemez. Kablosuz bir ağda belirgin sınırlar olmadığından ve tüm trafik hava üzerinden iletildiğinden, saldırganların kablosuz çerçevelere müdahale etmesi veya çerçeveleri dinlemesi kolaydır. Şifreleme, verilerin müdahale edilse bile kullanılamayacak biçime dönüştürülmesi işlemidir. </a:t>
            </a:r>
          </a:p>
          <a:p>
            <a:pPr marL="0" indent="0" algn="just">
              <a:buNone/>
            </a:pPr>
            <a:endParaRPr lang="tr-TR" sz="1700" dirty="0"/>
          </a:p>
          <a:p>
            <a:pPr algn="just"/>
            <a:r>
              <a:rPr lang="tr-TR" sz="1700" b="1" dirty="0"/>
              <a:t>Kabloluya Eş Gizlilik Protokolü (WEP)</a:t>
            </a:r>
          </a:p>
          <a:p>
            <a:pPr marL="0" indent="0" algn="just">
              <a:buNone/>
            </a:pPr>
            <a:r>
              <a:rPr lang="tr-TR" sz="1700" dirty="0"/>
              <a:t>Kabloluya Eş Gizlilik Protokolü (WEP), ağ trafiğini havada dolaşırken şifreleyen gelişmiş bir güvenlik özelliğidir. WEP, verileri şifrelemek ve verilerin şifresini çözmek için önceden yapılandırılmış anahtarları kullanır.</a:t>
            </a:r>
          </a:p>
          <a:p>
            <a:pPr marL="0" indent="0" algn="just">
              <a:buNone/>
            </a:pPr>
            <a:r>
              <a:rPr lang="tr-TR" sz="1700" dirty="0"/>
              <a:t>WEP anahtarı sayı ve harf dizgisi olarak girilir ve genellikle 64 bit veya 128 bit uzunluğunda olur. Bazı durumlarda WEP 256 bit anahtarları da destekler. Bu anahtarların oluşturulmasını ve girilmesini basitleştirmek için birçok aygıtta Şifre seçeneği bulunur. Şifre, otomatik olarak bir anahtar oluşturmak için kullanılan sözcük veya ifadeyi hatırlamanın kolay bir yoludur. </a:t>
            </a:r>
            <a:r>
              <a:rPr lang="tr-TR" sz="1700" dirty="0" err="1"/>
              <a:t>WEP'in</a:t>
            </a:r>
            <a:r>
              <a:rPr lang="tr-TR" sz="1700" dirty="0"/>
              <a:t> çalışması için, ağa erişmesine izin verilen her kablosuz aygıt gibi AP'ye de aynı WEP anahtarı girilmiş olmalıdır. Bu anahtar olmadan aygıtlar kablosuz iletimleri anlayamaz.</a:t>
            </a:r>
          </a:p>
        </p:txBody>
      </p:sp>
    </p:spTree>
    <p:extLst>
      <p:ext uri="{BB962C8B-B14F-4D97-AF65-F5344CB8AC3E}">
        <p14:creationId xmlns:p14="http://schemas.microsoft.com/office/powerpoint/2010/main" val="5446820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F1C9FC5-2626-4FBE-AC59-CC56A793B81B}"/>
              </a:ext>
            </a:extLst>
          </p:cNvPr>
          <p:cNvSpPr>
            <a:spLocks noGrp="1"/>
          </p:cNvSpPr>
          <p:nvPr>
            <p:ph type="title"/>
          </p:nvPr>
        </p:nvSpPr>
        <p:spPr/>
        <p:txBody>
          <a:bodyPr>
            <a:normAutofit fontScale="90000"/>
          </a:bodyPr>
          <a:lstStyle/>
          <a:p>
            <a:r>
              <a:rPr lang="tr-TR" dirty="0" err="1"/>
              <a:t>WLAN’da</a:t>
            </a:r>
            <a:r>
              <a:rPr lang="tr-TR" dirty="0"/>
              <a:t> Şifreleme</a:t>
            </a:r>
          </a:p>
        </p:txBody>
      </p:sp>
      <p:sp>
        <p:nvSpPr>
          <p:cNvPr id="3" name="İçerik Yer Tutucusu 2">
            <a:extLst>
              <a:ext uri="{FF2B5EF4-FFF2-40B4-BE49-F238E27FC236}">
                <a16:creationId xmlns:a16="http://schemas.microsoft.com/office/drawing/2014/main" id="{50886623-626F-4D86-A982-CB8C83A67CE5}"/>
              </a:ext>
            </a:extLst>
          </p:cNvPr>
          <p:cNvSpPr>
            <a:spLocks noGrp="1"/>
          </p:cNvSpPr>
          <p:nvPr>
            <p:ph idx="1"/>
          </p:nvPr>
        </p:nvSpPr>
        <p:spPr/>
        <p:txBody>
          <a:bodyPr/>
          <a:lstStyle/>
          <a:p>
            <a:pPr marL="0" indent="0" algn="just">
              <a:buNone/>
            </a:pPr>
            <a:r>
              <a:rPr lang="tr-TR" sz="1700" dirty="0"/>
              <a:t>WEP, saldırganların verilere müdahale etmesini önlemenin ideal bir yoludur. Ancak WEP içinde, tüm WEB etkin aygıtlarda statik anahtar kullanılması gibi zayıf noktalar vardır. WEP anahtarını keşfetmek için saldırganların kullanabileceği uygulamalar mevcuttur. Bu uygulamalar İnternet'te kullanıma hazır durumdadır. Saldırgan anahtarı aldıktan sonra, tüm iletilen bilgilere tam erişim sahibi olur.</a:t>
            </a:r>
          </a:p>
          <a:p>
            <a:pPr marL="0" indent="0" algn="just">
              <a:buNone/>
            </a:pPr>
            <a:r>
              <a:rPr lang="tr-TR" sz="1700" dirty="0"/>
              <a:t>Bu zayıflığın üstesinden gelmenin bir yolu, sık sık anahtarı değiştirmektir. Başka bir yolu da, </a:t>
            </a:r>
            <a:r>
              <a:rPr lang="tr-TR" sz="1700" dirty="0" err="1"/>
              <a:t>Wi</a:t>
            </a:r>
            <a:r>
              <a:rPr lang="tr-TR" sz="1700" dirty="0"/>
              <a:t>-Fi (Kablosuz Bağlılık) Korumalı Erişim (WPA) olarak bilinen daha gelişmiş ve daha güvenli bir şifreleme biçimini kullanmaktır. </a:t>
            </a:r>
          </a:p>
          <a:p>
            <a:pPr marL="0" indent="0" algn="just">
              <a:buNone/>
            </a:pPr>
            <a:endParaRPr lang="tr-TR" sz="1700" dirty="0"/>
          </a:p>
          <a:p>
            <a:pPr algn="just"/>
            <a:r>
              <a:rPr lang="tr-TR" sz="1700" b="1" dirty="0" err="1"/>
              <a:t>Wi</a:t>
            </a:r>
            <a:r>
              <a:rPr lang="tr-TR" sz="1700" b="1" dirty="0"/>
              <a:t>-Fi Korumalı Erişim (WPA) </a:t>
            </a:r>
            <a:endParaRPr lang="tr-TR" sz="1700" dirty="0"/>
          </a:p>
          <a:p>
            <a:pPr marL="0" indent="0" algn="just">
              <a:buNone/>
            </a:pPr>
            <a:r>
              <a:rPr lang="tr-TR" sz="1700" dirty="0"/>
              <a:t>WPA da 64 bit ile en fazla 256 bit arasındaki şifreleme anahtarlarını kullanır. Ancak </a:t>
            </a:r>
            <a:r>
              <a:rPr lang="tr-TR" sz="1700" dirty="0" err="1"/>
              <a:t>WEP'ten</a:t>
            </a:r>
            <a:r>
              <a:rPr lang="tr-TR" sz="1700" dirty="0"/>
              <a:t> farklı olarak WPA, bir istemci AP ile her bağlantı kurduğunda yeni ve dinamik anahtarlar oluşturur. Bu nedenle </a:t>
            </a:r>
            <a:r>
              <a:rPr lang="tr-TR" sz="1700" dirty="0" err="1"/>
              <a:t>WPA'nın</a:t>
            </a:r>
            <a:r>
              <a:rPr lang="tr-TR" sz="1700" dirty="0"/>
              <a:t> çözülmesi çok daha zor olduğu için WPA </a:t>
            </a:r>
            <a:r>
              <a:rPr lang="tr-TR" sz="1700" dirty="0" err="1"/>
              <a:t>WEP'den</a:t>
            </a:r>
            <a:r>
              <a:rPr lang="tr-TR" sz="1700" dirty="0"/>
              <a:t> daha güvenli olarak değerlendirilir.</a:t>
            </a:r>
          </a:p>
        </p:txBody>
      </p:sp>
    </p:spTree>
    <p:extLst>
      <p:ext uri="{BB962C8B-B14F-4D97-AF65-F5344CB8AC3E}">
        <p14:creationId xmlns:p14="http://schemas.microsoft.com/office/powerpoint/2010/main" val="4711239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64D574A-3C96-4836-B15E-4B317D4899DD}"/>
              </a:ext>
            </a:extLst>
          </p:cNvPr>
          <p:cNvSpPr>
            <a:spLocks noGrp="1"/>
          </p:cNvSpPr>
          <p:nvPr>
            <p:ph type="title"/>
          </p:nvPr>
        </p:nvSpPr>
        <p:spPr/>
        <p:txBody>
          <a:bodyPr>
            <a:normAutofit fontScale="90000"/>
          </a:bodyPr>
          <a:lstStyle/>
          <a:p>
            <a:r>
              <a:rPr lang="tr-TR" dirty="0" err="1"/>
              <a:t>WLAN’da</a:t>
            </a:r>
            <a:r>
              <a:rPr lang="tr-TR" dirty="0"/>
              <a:t> Trafik Filtreleme</a:t>
            </a:r>
          </a:p>
        </p:txBody>
      </p:sp>
      <p:sp>
        <p:nvSpPr>
          <p:cNvPr id="3" name="İçerik Yer Tutucusu 2">
            <a:extLst>
              <a:ext uri="{FF2B5EF4-FFF2-40B4-BE49-F238E27FC236}">
                <a16:creationId xmlns:a16="http://schemas.microsoft.com/office/drawing/2014/main" id="{E679084B-4BA1-4339-8FB8-4381D26850EB}"/>
              </a:ext>
            </a:extLst>
          </p:cNvPr>
          <p:cNvSpPr>
            <a:spLocks noGrp="1"/>
          </p:cNvSpPr>
          <p:nvPr>
            <p:ph idx="1"/>
          </p:nvPr>
        </p:nvSpPr>
        <p:spPr/>
        <p:txBody>
          <a:bodyPr/>
          <a:lstStyle/>
          <a:p>
            <a:pPr marL="0" indent="0" algn="just">
              <a:buNone/>
            </a:pPr>
            <a:r>
              <a:rPr lang="tr-TR" sz="2000" dirty="0" err="1"/>
              <a:t>WLAN'a</a:t>
            </a:r>
            <a:r>
              <a:rPr lang="tr-TR" sz="2000" dirty="0"/>
              <a:t> kimlerin erişim kazanacağının ve iletilen verileri kimlerin kullanabileceğinin denetlenmesinin yanı sıra, WLAN üzerinden iletilen trafik türünün de denetlenmesi yararlıdır. Trafik filtrelemesi kullanılarak bu gerçekleştirilir. </a:t>
            </a:r>
          </a:p>
          <a:p>
            <a:pPr marL="0" indent="0" algn="just">
              <a:buNone/>
            </a:pPr>
            <a:endParaRPr lang="tr-TR" sz="2000" dirty="0"/>
          </a:p>
          <a:p>
            <a:pPr marL="0" indent="0" algn="just">
              <a:buNone/>
            </a:pPr>
            <a:r>
              <a:rPr lang="tr-TR" sz="2000" dirty="0"/>
              <a:t>Trafik filtrelemesi, istenmeyen trafiğin kablosuz ağa girmesini veya kablosuz ağdan çıkmasını engeller. Trafik, AP üzerinden geçerken AP tarafından </a:t>
            </a:r>
            <a:r>
              <a:rPr lang="tr-TR" sz="2000" dirty="0" err="1"/>
              <a:t>fitreleme</a:t>
            </a:r>
            <a:r>
              <a:rPr lang="tr-TR" sz="2000" dirty="0"/>
              <a:t> yapılır. Belirli bir MAC veya IP adresinden trafiği kaldırmak ya da belirli bir MAC veya IP adresine trafiği hedeflemek için filtreleme yapılabilir. Bu işlev, belirli uygulamaları da bağlantı noktası numaralarına göre engelleyebilir. İstenmeyen ve şüpheli trafik ağdan kaldırılarak, önemli trafiğin hareketine daha fazla bant genişliği adanır ve </a:t>
            </a:r>
            <a:r>
              <a:rPr lang="tr-TR" sz="2000" dirty="0" err="1"/>
              <a:t>WLAN'ın</a:t>
            </a:r>
            <a:r>
              <a:rPr lang="tr-TR" sz="2000" dirty="0"/>
              <a:t> başarımı artırılır. Örneğin, kimlik doğrulama sunucusu gibi belirli bir makineyi hedefleyen tüm telnet trafiğini engellemek için trafik filtreleme kullanılabilir. Kimlik doğrulama sunucusuna yönelik telnet girişimleri şüpheli olarak değerlendirilir ve engellenir.</a:t>
            </a:r>
          </a:p>
          <a:p>
            <a:pPr marL="0" indent="0" algn="just">
              <a:buNone/>
            </a:pPr>
            <a:endParaRPr lang="tr-TR" sz="2000" dirty="0"/>
          </a:p>
        </p:txBody>
      </p:sp>
    </p:spTree>
    <p:extLst>
      <p:ext uri="{BB962C8B-B14F-4D97-AF65-F5344CB8AC3E}">
        <p14:creationId xmlns:p14="http://schemas.microsoft.com/office/powerpoint/2010/main" val="6399049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Unvan 4">
            <a:extLst>
              <a:ext uri="{FF2B5EF4-FFF2-40B4-BE49-F238E27FC236}">
                <a16:creationId xmlns:a16="http://schemas.microsoft.com/office/drawing/2014/main" id="{26822225-E19D-EC43-AE5B-4CC6E2D5A64A}"/>
              </a:ext>
            </a:extLst>
          </p:cNvPr>
          <p:cNvSpPr>
            <a:spLocks noGrp="1"/>
          </p:cNvSpPr>
          <p:nvPr>
            <p:ph type="title"/>
          </p:nvPr>
        </p:nvSpPr>
        <p:spPr>
          <a:xfrm>
            <a:off x="313765" y="853415"/>
            <a:ext cx="8686800" cy="536114"/>
          </a:xfrm>
        </p:spPr>
        <p:txBody>
          <a:bodyPr>
            <a:normAutofit fontScale="90000"/>
          </a:bodyPr>
          <a:lstStyle/>
          <a:p>
            <a:r>
              <a:rPr lang="tr-TR" dirty="0"/>
              <a:t>Bölüm / Hafta Özeti</a:t>
            </a:r>
          </a:p>
        </p:txBody>
      </p:sp>
      <p:sp>
        <p:nvSpPr>
          <p:cNvPr id="7" name="İçerik Yer Tutucusu 5">
            <a:extLst>
              <a:ext uri="{FF2B5EF4-FFF2-40B4-BE49-F238E27FC236}">
                <a16:creationId xmlns:a16="http://schemas.microsoft.com/office/drawing/2014/main" id="{31301F19-586A-9F42-97FA-25F89C0B7106}"/>
              </a:ext>
            </a:extLst>
          </p:cNvPr>
          <p:cNvSpPr>
            <a:spLocks noGrp="1"/>
          </p:cNvSpPr>
          <p:nvPr>
            <p:ph idx="1"/>
          </p:nvPr>
        </p:nvSpPr>
        <p:spPr>
          <a:xfrm>
            <a:off x="313765" y="1515035"/>
            <a:ext cx="8686800" cy="4929308"/>
          </a:xfrm>
        </p:spPr>
        <p:txBody>
          <a:bodyPr/>
          <a:lstStyle/>
          <a:p>
            <a:pPr marL="0" indent="0" algn="just">
              <a:buNone/>
            </a:pPr>
            <a:r>
              <a:rPr lang="tr-TR" sz="2500" dirty="0"/>
              <a:t>Bu bölümde kablo kullanmadan konak bilgisayarlar arasında bilgi iletimi yapmak için yararlanılabilecek çeşitli teknolojiler ele alınmıştır. Bu bölümde ayrıca bu kablosuz teknolojilerin faydaları ve sınırlamaları ile onları kullanan cihazlar hakkında bilgiler verilmiştir. Ağ türleri anlatılmış ve </a:t>
            </a:r>
            <a:r>
              <a:rPr lang="tr-TR" sz="2500" dirty="0" err="1"/>
              <a:t>WLAN’da</a:t>
            </a:r>
            <a:r>
              <a:rPr lang="tr-TR" sz="2500" dirty="0"/>
              <a:t> kimlik doğrulama, şifreleme ve trafik filtreme konuları anlatılmıştır.</a:t>
            </a:r>
          </a:p>
        </p:txBody>
      </p:sp>
    </p:spTree>
    <p:extLst>
      <p:ext uri="{BB962C8B-B14F-4D97-AF65-F5344CB8AC3E}">
        <p14:creationId xmlns:p14="http://schemas.microsoft.com/office/powerpoint/2010/main" val="25844932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Unvan 1">
            <a:extLst>
              <a:ext uri="{FF2B5EF4-FFF2-40B4-BE49-F238E27FC236}">
                <a16:creationId xmlns:a16="http://schemas.microsoft.com/office/drawing/2014/main" id="{19D5AA8E-60EA-E445-B7CC-6B48E02B71EA}"/>
              </a:ext>
            </a:extLst>
          </p:cNvPr>
          <p:cNvSpPr>
            <a:spLocks noGrp="1"/>
          </p:cNvSpPr>
          <p:nvPr>
            <p:ph type="title"/>
          </p:nvPr>
        </p:nvSpPr>
        <p:spPr>
          <a:xfrm>
            <a:off x="313765" y="853415"/>
            <a:ext cx="8686800" cy="536114"/>
          </a:xfrm>
        </p:spPr>
        <p:txBody>
          <a:bodyPr>
            <a:normAutofit fontScale="90000"/>
          </a:bodyPr>
          <a:lstStyle/>
          <a:p>
            <a:r>
              <a:rPr lang="tr-TR" dirty="0"/>
              <a:t>Kaynaklar </a:t>
            </a:r>
          </a:p>
        </p:txBody>
      </p:sp>
      <p:sp>
        <p:nvSpPr>
          <p:cNvPr id="7" name="İçerik Yer Tutucusu 4">
            <a:extLst>
              <a:ext uri="{FF2B5EF4-FFF2-40B4-BE49-F238E27FC236}">
                <a16:creationId xmlns:a16="http://schemas.microsoft.com/office/drawing/2014/main" id="{B23C765D-7536-8845-9192-B08D3EE5C869}"/>
              </a:ext>
            </a:extLst>
          </p:cNvPr>
          <p:cNvSpPr>
            <a:spLocks noGrp="1"/>
          </p:cNvSpPr>
          <p:nvPr>
            <p:ph idx="1"/>
          </p:nvPr>
        </p:nvSpPr>
        <p:spPr>
          <a:xfrm>
            <a:off x="313765" y="1515035"/>
            <a:ext cx="8686800" cy="4929308"/>
          </a:xfrm>
        </p:spPr>
        <p:txBody>
          <a:bodyPr/>
          <a:lstStyle/>
          <a:p>
            <a:r>
              <a:rPr lang="tr-TR" dirty="0"/>
              <a:t>CISCO CCNA Eğitim Modülü</a:t>
            </a:r>
          </a:p>
        </p:txBody>
      </p:sp>
    </p:spTree>
    <p:extLst>
      <p:ext uri="{BB962C8B-B14F-4D97-AF65-F5344CB8AC3E}">
        <p14:creationId xmlns:p14="http://schemas.microsoft.com/office/powerpoint/2010/main" val="4704772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lt Başlık 1">
            <a:extLst>
              <a:ext uri="{FF2B5EF4-FFF2-40B4-BE49-F238E27FC236}">
                <a16:creationId xmlns:a16="http://schemas.microsoft.com/office/drawing/2014/main" id="{77197998-B74C-5048-833E-E9C3434BEE9B}"/>
              </a:ext>
            </a:extLst>
          </p:cNvPr>
          <p:cNvSpPr>
            <a:spLocks noGrp="1"/>
          </p:cNvSpPr>
          <p:nvPr>
            <p:ph type="subTitle" idx="1"/>
          </p:nvPr>
        </p:nvSpPr>
        <p:spPr>
          <a:xfrm>
            <a:off x="152400" y="5334000"/>
            <a:ext cx="8422108" cy="861580"/>
          </a:xfrm>
        </p:spPr>
        <p:txBody>
          <a:bodyPr/>
          <a:lstStyle/>
          <a:p>
            <a:r>
              <a:rPr lang="tr-TR" dirty="0"/>
              <a:t>TEŞEKKÜRLER</a:t>
            </a:r>
          </a:p>
        </p:txBody>
      </p:sp>
    </p:spTree>
    <p:extLst>
      <p:ext uri="{BB962C8B-B14F-4D97-AF65-F5344CB8AC3E}">
        <p14:creationId xmlns:p14="http://schemas.microsoft.com/office/powerpoint/2010/main" val="2997841539"/>
      </p:ext>
    </p:extLst>
  </p:cSld>
  <p:clrMapOvr>
    <a:masterClrMapping/>
  </p:clrMapOvr>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Belge" ma:contentTypeID="0x01010013E297F443179941B3CCCA537649BB75" ma:contentTypeVersion="4" ma:contentTypeDescription="Yeni belge oluşturun." ma:contentTypeScope="" ma:versionID="eefc4eb90b5ecf2742aa9b516938315d">
  <xsd:schema xmlns:xsd="http://www.w3.org/2001/XMLSchema" xmlns:xs="http://www.w3.org/2001/XMLSchema" xmlns:p="http://schemas.microsoft.com/office/2006/metadata/properties" xmlns:ns2="4eb0f163-66f3-43ab-a6dc-8fd6c1b95e0c" targetNamespace="http://schemas.microsoft.com/office/2006/metadata/properties" ma:root="true" ma:fieldsID="4f3cfb2777f582e4a62cd9ea7a7bfd1a" ns2:_="">
    <xsd:import namespace="4eb0f163-66f3-43ab-a6dc-8fd6c1b95e0c"/>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eb0f163-66f3-43ab-a6dc-8fd6c1b95e0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0E35BF-9EE1-47BD-960A-B71FFD6E6160}"/>
</file>

<file path=customXml/itemProps2.xml><?xml version="1.0" encoding="utf-8"?>
<ds:datastoreItem xmlns:ds="http://schemas.openxmlformats.org/officeDocument/2006/customXml" ds:itemID="{13DA9D49-B817-4AAA-839F-B2B2C70E68EA}"/>
</file>

<file path=customXml/itemProps3.xml><?xml version="1.0" encoding="utf-8"?>
<ds:datastoreItem xmlns:ds="http://schemas.openxmlformats.org/officeDocument/2006/customXml" ds:itemID="{DA60FEB0-ED1D-4700-8737-BF20F80C5D57}"/>
</file>

<file path=docProps/app.xml><?xml version="1.0" encoding="utf-8"?>
<Properties xmlns="http://schemas.openxmlformats.org/officeDocument/2006/extended-properties" xmlns:vt="http://schemas.openxmlformats.org/officeDocument/2006/docPropsVTypes">
  <TotalTime>309</TotalTime>
  <Words>3279</Words>
  <Application>Microsoft Office PowerPoint</Application>
  <PresentationFormat>Ekran Gösterisi (4:3)</PresentationFormat>
  <Paragraphs>139</Paragraphs>
  <Slides>24</Slides>
  <Notes>2</Notes>
  <HiddenSlides>0</HiddenSlides>
  <MMClips>0</MMClips>
  <ScaleCrop>false</ScaleCrop>
  <HeadingPairs>
    <vt:vector size="6" baseType="variant">
      <vt:variant>
        <vt:lpstr>Kullanılan Yazı Tipleri</vt:lpstr>
      </vt:variant>
      <vt:variant>
        <vt:i4>2</vt:i4>
      </vt:variant>
      <vt:variant>
        <vt:lpstr>Tema</vt:lpstr>
      </vt:variant>
      <vt:variant>
        <vt:i4>1</vt:i4>
      </vt:variant>
      <vt:variant>
        <vt:lpstr>Slayt Başlıkları</vt:lpstr>
      </vt:variant>
      <vt:variant>
        <vt:i4>24</vt:i4>
      </vt:variant>
    </vt:vector>
  </HeadingPairs>
  <TitlesOfParts>
    <vt:vector size="27" baseType="lpstr">
      <vt:lpstr>Arial</vt:lpstr>
      <vt:lpstr>Calibri</vt:lpstr>
      <vt:lpstr>Ofis Teması</vt:lpstr>
      <vt:lpstr>PowerPoint Sunusu</vt:lpstr>
      <vt:lpstr>Bölüm / Hafta Hedefleri</vt:lpstr>
      <vt:lpstr>Kablosuz Teknolojiler ve Cihazlar</vt:lpstr>
      <vt:lpstr>Kablosuz Teknolojinin Avantajları ve Sınırlamaları</vt:lpstr>
      <vt:lpstr>Kablosuz Ağ Türleri</vt:lpstr>
      <vt:lpstr>Kablosuz Ağ Türleri</vt:lpstr>
      <vt:lpstr>Kablosuz LAN Standartları</vt:lpstr>
      <vt:lpstr>WLAN’lar ve SSID (Hizmet Kümesi Tanımlayıcısı)</vt:lpstr>
      <vt:lpstr>Kanal Atama</vt:lpstr>
      <vt:lpstr>Kanal Atama</vt:lpstr>
      <vt:lpstr>Kanal Atama</vt:lpstr>
      <vt:lpstr>Erişim Noktası Yapılandırma</vt:lpstr>
      <vt:lpstr>Erişim Noktası Yapılandırma</vt:lpstr>
      <vt:lpstr>Kablosuz İstemciyi Yapılandırma</vt:lpstr>
      <vt:lpstr>Kablosuz İstemciyi Yapılandırma</vt:lpstr>
      <vt:lpstr>Kablosuz İstemciyi Yapılandırma</vt:lpstr>
      <vt:lpstr>WLAN’da Kimlik Doğrulaması</vt:lpstr>
      <vt:lpstr>WLAN’da Kimlik Doğrulaması</vt:lpstr>
      <vt:lpstr>WLAN’da Şifreleme</vt:lpstr>
      <vt:lpstr>WLAN’da Şifreleme</vt:lpstr>
      <vt:lpstr>WLAN’da Trafik Filtreleme</vt:lpstr>
      <vt:lpstr>Bölüm / Hafta Özeti</vt:lpstr>
      <vt:lpstr>Kaynaklar </vt:lpstr>
      <vt:lpstr>PowerPoint Sunusu</vt:lpstr>
    </vt:vector>
  </TitlesOfParts>
  <Company>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SDÜ - UE-MYO - Osman DABAN</dc:title>
  <dc:creator>"Osman Daban" &lt;osmand@sdu.edu.tr&gt;</dc:creator>
  <cp:keywords>SDÜ, UEMYO, Osman, Daban</cp:keywords>
  <dc:description>Uzaktan Eğitim Meslek Yüksekokulu Sistem Birimi</dc:description>
  <cp:lastModifiedBy>Cem Kumral</cp:lastModifiedBy>
  <cp:revision>105</cp:revision>
  <dcterms:created xsi:type="dcterms:W3CDTF">2009-03-19T22:17:51Z</dcterms:created>
  <dcterms:modified xsi:type="dcterms:W3CDTF">2020-03-30T21:32:16Z</dcterms:modified>
  <cp:category>Şablon</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0x01010013E297F443179941B3CCCA537649BB75</vt:lpwstr>
  </property>
</Properties>
</file>