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78" r:id="rId4"/>
    <p:sldId id="285" r:id="rId5"/>
    <p:sldId id="293" r:id="rId6"/>
    <p:sldId id="292" r:id="rId7"/>
    <p:sldId id="291" r:id="rId8"/>
    <p:sldId id="290" r:id="rId9"/>
    <p:sldId id="289" r:id="rId10"/>
    <p:sldId id="288" r:id="rId11"/>
    <p:sldId id="287" r:id="rId12"/>
    <p:sldId id="286" r:id="rId13"/>
    <p:sldId id="284" r:id="rId14"/>
    <p:sldId id="283" r:id="rId15"/>
    <p:sldId id="282" r:id="rId16"/>
    <p:sldId id="281" r:id="rId17"/>
    <p:sldId id="280" r:id="rId18"/>
    <p:sldId id="279" r:id="rId19"/>
    <p:sldId id="296" r:id="rId20"/>
    <p:sldId id="295" r:id="rId21"/>
    <p:sldId id="294" r:id="rId22"/>
    <p:sldId id="299" r:id="rId23"/>
    <p:sldId id="298" r:id="rId24"/>
    <p:sldId id="303" r:id="rId25"/>
    <p:sldId id="302" r:id="rId26"/>
    <p:sldId id="301" r:id="rId27"/>
    <p:sldId id="300" r:id="rId28"/>
    <p:sldId id="297" r:id="rId29"/>
    <p:sldId id="304" r:id="rId30"/>
    <p:sldId id="263" r:id="rId31"/>
    <p:sldId id="265" r:id="rId32"/>
    <p:sldId id="266" r:id="rId33"/>
  </p:sldIdLst>
  <p:sldSz cx="9144000" cy="6858000" type="screen4x3"/>
  <p:notesSz cx="6858000" cy="9144000"/>
  <p:defaultTextStyle>
    <a:defPPr>
      <a:defRPr lang="tr-T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792" autoAdjust="0"/>
    <p:restoredTop sz="94674"/>
  </p:normalViewPr>
  <p:slideViewPr>
    <p:cSldViewPr>
      <p:cViewPr varScale="1">
        <p:scale>
          <a:sx n="81" d="100"/>
          <a:sy n="81" d="100"/>
        </p:scale>
        <p:origin x="1906"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40"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3 Veri Yer Tutucusu"/>
          <p:cNvSpPr>
            <a:spLocks noGrp="1"/>
          </p:cNvSpPr>
          <p:nvPr>
            <p:ph type="dt" sz="half" idx="10"/>
          </p:nvPr>
        </p:nvSpPr>
        <p:spPr/>
        <p:txBody>
          <a:bodyPr/>
          <a:lstStyle>
            <a:lvl1pPr>
              <a:defRPr/>
            </a:lvl1pPr>
          </a:lstStyle>
          <a:p>
            <a:pPr>
              <a:defRPr/>
            </a:pPr>
            <a:fld id="{201C5554-F657-435A-BCA1-2EF31523C46E}" type="datetimeFigureOut">
              <a:rPr lang="tr-TR"/>
              <a:pPr>
                <a:defRPr/>
              </a:pPr>
              <a:t>16.4.2020</a:t>
            </a:fld>
            <a:endParaRPr lang="tr-TR"/>
          </a:p>
        </p:txBody>
      </p:sp>
      <p:sp>
        <p:nvSpPr>
          <p:cNvPr id="5" name="4 Altbilgi Yer Tutucusu"/>
          <p:cNvSpPr>
            <a:spLocks noGrp="1"/>
          </p:cNvSpPr>
          <p:nvPr>
            <p:ph type="ftr" sz="quarter" idx="11"/>
          </p:nvPr>
        </p:nvSpPr>
        <p:spPr/>
        <p:txBody>
          <a:bodyPr/>
          <a:lstStyle>
            <a:lvl1pPr>
              <a:defRPr/>
            </a:lvl1pPr>
          </a:lstStyle>
          <a:p>
            <a:pPr>
              <a:defRPr/>
            </a:pPr>
            <a:endParaRPr lang="tr-TR"/>
          </a:p>
        </p:txBody>
      </p:sp>
      <p:sp>
        <p:nvSpPr>
          <p:cNvPr id="6" name="5 Slayt Numarası Yer Tutucusu"/>
          <p:cNvSpPr>
            <a:spLocks noGrp="1"/>
          </p:cNvSpPr>
          <p:nvPr>
            <p:ph type="sldNum" sz="quarter" idx="12"/>
          </p:nvPr>
        </p:nvSpPr>
        <p:spPr/>
        <p:txBody>
          <a:bodyPr/>
          <a:lstStyle>
            <a:lvl1pPr>
              <a:defRPr/>
            </a:lvl1pPr>
          </a:lstStyle>
          <a:p>
            <a:pPr>
              <a:defRPr/>
            </a:pPr>
            <a:fld id="{A8F60EFD-6F48-4DC3-AF5A-479D8CBF7889}" type="slidenum">
              <a:rPr lang="tr-TR"/>
              <a:pPr>
                <a:defRPr/>
              </a:pPr>
              <a:t>‹#›</a:t>
            </a:fld>
            <a:endParaRPr lang="tr-TR"/>
          </a:p>
        </p:txBody>
      </p:sp>
      <p:sp>
        <p:nvSpPr>
          <p:cNvPr id="7" name="Metin kutusu 6">
            <a:extLst>
              <a:ext uri="{FF2B5EF4-FFF2-40B4-BE49-F238E27FC236}">
                <a16:creationId xmlns:a16="http://schemas.microsoft.com/office/drawing/2014/main" id="{A3ABB93D-730F-7D4E-9DC9-EA6E7E1066F8}"/>
              </a:ext>
            </a:extLst>
          </p:cNvPr>
          <p:cNvSpPr txBox="1"/>
          <p:nvPr userDrawn="1"/>
        </p:nvSpPr>
        <p:spPr>
          <a:xfrm>
            <a:off x="5540188" y="1640541"/>
            <a:ext cx="184731" cy="369332"/>
          </a:xfrm>
          <a:prstGeom prst="rect">
            <a:avLst/>
          </a:prstGeom>
          <a:noFill/>
        </p:spPr>
        <p:txBody>
          <a:bodyPr wrap="none" rtlCol="0">
            <a:spAutoFit/>
          </a:bodyPr>
          <a:lstStyle/>
          <a:p>
            <a:endParaRPr lang="tr-T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şlık Slaydı">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a:extLst>
              <a:ext uri="{C183D7F6-B498-43B3-948B-1728B52AA6E4}">
                <adec:decorative xmlns:adec="http://schemas.microsoft.com/office/drawing/2017/decorative" val="0"/>
              </a:ext>
            </a:extLst>
          </p:cNvPr>
          <p:cNvSpPr>
            <a:spLocks noGrp="1"/>
          </p:cNvSpPr>
          <p:nvPr>
            <p:ph type="subTitle" idx="1" hasCustomPrompt="1"/>
          </p:nvPr>
        </p:nvSpPr>
        <p:spPr>
          <a:xfrm>
            <a:off x="360946" y="4511620"/>
            <a:ext cx="8422108" cy="861580"/>
          </a:xfrm>
        </p:spPr>
        <p:txBody>
          <a:bodyPr>
            <a:noAutofit/>
          </a:bodyPr>
          <a:lstStyle>
            <a:lvl1pPr marL="0" indent="0" algn="ctr">
              <a:buNone/>
              <a:defRPr sz="2700" b="1" baseline="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dirty="0"/>
              <a:t>DERS ADINI BURAYA YAZINIZ</a:t>
            </a:r>
          </a:p>
        </p:txBody>
      </p:sp>
      <p:sp>
        <p:nvSpPr>
          <p:cNvPr id="14" name="Metin Yer Tutucusu 13"/>
          <p:cNvSpPr>
            <a:spLocks noGrp="1"/>
          </p:cNvSpPr>
          <p:nvPr>
            <p:ph type="body" sz="quarter" idx="13" hasCustomPrompt="1"/>
          </p:nvPr>
        </p:nvSpPr>
        <p:spPr>
          <a:xfrm>
            <a:off x="360946" y="5373200"/>
            <a:ext cx="8419760" cy="457200"/>
          </a:xfrm>
        </p:spPr>
        <p:txBody>
          <a:bodyPr>
            <a:normAutofit/>
          </a:bodyPr>
          <a:lstStyle>
            <a:lvl1pPr marL="0" indent="0" algn="ctr">
              <a:buNone/>
              <a:defRPr sz="2000" baseline="0">
                <a:solidFill>
                  <a:schemeClr val="bg1"/>
                </a:solidFill>
                <a:latin typeface="Arial" panose="020B0604020202020204" pitchFamily="34" charset="0"/>
                <a:cs typeface="Arial" panose="020B0604020202020204" pitchFamily="34" charset="0"/>
              </a:defRPr>
            </a:lvl1pPr>
          </a:lstStyle>
          <a:p>
            <a:pPr lvl="0"/>
            <a:r>
              <a:rPr lang="tr-TR" dirty="0"/>
              <a:t>Öğretim Elemanı adını buraya yazınız</a:t>
            </a:r>
          </a:p>
        </p:txBody>
      </p:sp>
      <p:sp>
        <p:nvSpPr>
          <p:cNvPr id="10" name="Metin Yer Tutucusu 13">
            <a:extLst>
              <a:ext uri="{FF2B5EF4-FFF2-40B4-BE49-F238E27FC236}">
                <a16:creationId xmlns:a16="http://schemas.microsoft.com/office/drawing/2014/main" id="{84CE4D64-8539-4529-BCE1-681C75D8E2E7}"/>
              </a:ext>
            </a:extLst>
          </p:cNvPr>
          <p:cNvSpPr>
            <a:spLocks noGrp="1"/>
          </p:cNvSpPr>
          <p:nvPr>
            <p:ph type="body" sz="quarter" idx="14" hasCustomPrompt="1"/>
          </p:nvPr>
        </p:nvSpPr>
        <p:spPr>
          <a:xfrm>
            <a:off x="360946" y="5899412"/>
            <a:ext cx="8419760" cy="457200"/>
          </a:xfrm>
        </p:spPr>
        <p:txBody>
          <a:bodyPr>
            <a:normAutofit/>
          </a:bodyPr>
          <a:lstStyle>
            <a:lvl1pPr marL="0" indent="0" algn="ctr">
              <a:buNone/>
              <a:defRPr sz="1400" b="1" baseline="0">
                <a:solidFill>
                  <a:schemeClr val="bg1"/>
                </a:solidFill>
                <a:latin typeface="Arial" panose="020B0604020202020204" pitchFamily="34" charset="0"/>
                <a:cs typeface="Arial" panose="020B0604020202020204" pitchFamily="34" charset="0"/>
              </a:defRPr>
            </a:lvl1pPr>
          </a:lstStyle>
          <a:p>
            <a:pPr lvl="0"/>
            <a:r>
              <a:rPr lang="tr-TR" dirty="0"/>
              <a:t>Kaçıncı bölüm/hafta dersi ise onu bu alana yazınız. (</a:t>
            </a:r>
            <a:r>
              <a:rPr lang="tr-TR" dirty="0" err="1"/>
              <a:t>Örn</a:t>
            </a:r>
            <a:r>
              <a:rPr lang="tr-TR" dirty="0"/>
              <a:t>: 1. Hafta ya da 1. Bölüm)</a:t>
            </a:r>
          </a:p>
        </p:txBody>
      </p:sp>
      <p:pic>
        <p:nvPicPr>
          <p:cNvPr id="11" name="Picture 12" descr="C:\Documents and Settings\systemx\Desktop\UE_SUNUM\Slayt_resim\sdu_logo.png">
            <a:extLst>
              <a:ext uri="{FF2B5EF4-FFF2-40B4-BE49-F238E27FC236}">
                <a16:creationId xmlns:a16="http://schemas.microsoft.com/office/drawing/2014/main" id="{54A5F748-F960-AE4B-A1A3-6201FEF16D44}"/>
              </a:ext>
            </a:extLst>
          </p:cNvPr>
          <p:cNvPicPr>
            <a:picLocks noChangeAspect="1" noChangeArrowheads="1"/>
          </p:cNvPicPr>
          <p:nvPr userDrawn="1"/>
        </p:nvPicPr>
        <p:blipFill>
          <a:blip r:embed="rId3"/>
          <a:srcRect/>
          <a:stretch>
            <a:fillRect/>
          </a:stretch>
        </p:blipFill>
        <p:spPr bwMode="auto">
          <a:xfrm>
            <a:off x="3267075" y="1895475"/>
            <a:ext cx="2514600" cy="2314575"/>
          </a:xfrm>
          <a:prstGeom prst="rect">
            <a:avLst/>
          </a:prstGeom>
          <a:noFill/>
          <a:ln w="9525">
            <a:noFill/>
            <a:miter lim="800000"/>
            <a:headEnd/>
            <a:tailEnd/>
          </a:ln>
        </p:spPr>
      </p:pic>
      <p:pic>
        <p:nvPicPr>
          <p:cNvPr id="12" name="Picture 13" descr="C:\Documents and Settings\systemx\Desktop\UE_SUNUM\Slayt_resim\sdu_text.png">
            <a:extLst>
              <a:ext uri="{FF2B5EF4-FFF2-40B4-BE49-F238E27FC236}">
                <a16:creationId xmlns:a16="http://schemas.microsoft.com/office/drawing/2014/main" id="{93B7F04A-9970-B24A-8B74-E30EB3A35AEA}"/>
              </a:ext>
            </a:extLst>
          </p:cNvPr>
          <p:cNvPicPr>
            <a:picLocks noChangeAspect="1" noChangeArrowheads="1"/>
          </p:cNvPicPr>
          <p:nvPr userDrawn="1"/>
        </p:nvPicPr>
        <p:blipFill>
          <a:blip r:embed="rId4"/>
          <a:srcRect/>
          <a:stretch>
            <a:fillRect/>
          </a:stretch>
        </p:blipFill>
        <p:spPr bwMode="auto">
          <a:xfrm>
            <a:off x="1295400" y="1066800"/>
            <a:ext cx="6772275" cy="971550"/>
          </a:xfrm>
          <a:prstGeom prst="rect">
            <a:avLst/>
          </a:prstGeom>
          <a:noFill/>
          <a:ln w="9525">
            <a:noFill/>
            <a:miter lim="800000"/>
            <a:headEnd/>
            <a:tailEnd/>
          </a:ln>
        </p:spPr>
      </p:pic>
      <p:pic>
        <p:nvPicPr>
          <p:cNvPr id="13" name="Picture 7" descr="C:\Documents and Settings\systemx\Desktop\UE_SUNUM\Slayt_resim\ust.png">
            <a:extLst>
              <a:ext uri="{FF2B5EF4-FFF2-40B4-BE49-F238E27FC236}">
                <a16:creationId xmlns:a16="http://schemas.microsoft.com/office/drawing/2014/main" id="{2CFBFC92-D40E-5E41-9934-7BCC66B441BA}"/>
              </a:ext>
            </a:extLst>
          </p:cNvPr>
          <p:cNvPicPr>
            <a:picLocks noChangeAspect="1" noChangeArrowheads="1"/>
          </p:cNvPicPr>
          <p:nvPr userDrawn="1"/>
        </p:nvPicPr>
        <p:blipFill>
          <a:blip r:embed="rId5"/>
          <a:srcRect/>
          <a:stretch>
            <a:fillRect/>
          </a:stretch>
        </p:blipFill>
        <p:spPr bwMode="auto">
          <a:xfrm>
            <a:off x="0" y="0"/>
            <a:ext cx="9144001" cy="609600"/>
          </a:xfrm>
          <a:prstGeom prst="rect">
            <a:avLst/>
          </a:prstGeom>
          <a:noFill/>
        </p:spPr>
      </p:pic>
    </p:spTree>
    <p:extLst>
      <p:ext uri="{BB962C8B-B14F-4D97-AF65-F5344CB8AC3E}">
        <p14:creationId xmlns:p14="http://schemas.microsoft.com/office/powerpoint/2010/main" val="4264617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25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25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1000"/>
                                        <p:tgtEl>
                                          <p:spTgt spid="14">
                                            <p:txEl>
                                              <p:pRg st="0" end="0"/>
                                            </p:txEl>
                                          </p:spTgt>
                                        </p:tgtEl>
                                      </p:cBhvr>
                                    </p:animEffect>
                                    <p:anim calcmode="lin" valueType="num">
                                      <p:cBhvr>
                                        <p:cTn id="13"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25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1000"/>
                                        <p:tgtEl>
                                          <p:spTgt spid="10">
                                            <p:txEl>
                                              <p:pRg st="0" end="0"/>
                                            </p:txEl>
                                          </p:spTgt>
                                        </p:tgtEl>
                                      </p:cBhvr>
                                    </p:animEffect>
                                    <p:anim calcmode="lin" valueType="num">
                                      <p:cBhvr>
                                        <p:cTn id="1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2250"/>
                            </p:stCondLst>
                            <p:childTnLst>
                              <p:par>
                                <p:cTn id="21" presetID="22" presetClass="entr" presetSubtype="4"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500"/>
                                        <p:tgtEl>
                                          <p:spTgt spid="13"/>
                                        </p:tgtEl>
                                      </p:cBhvr>
                                    </p:animEffect>
                                  </p:childTnLst>
                                </p:cTn>
                              </p:par>
                            </p:childTnLst>
                          </p:cTn>
                        </p:par>
                        <p:par>
                          <p:cTn id="24" fill="hold">
                            <p:stCondLst>
                              <p:cond delay="2750"/>
                            </p:stCondLst>
                            <p:childTnLst>
                              <p:par>
                                <p:cTn id="25" presetID="10" presetClass="entr" presetSubtype="0" fill="hold" nodeType="afterEffect">
                                  <p:stCondLst>
                                    <p:cond delay="10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0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2"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14" grpId="0" build="p">
        <p:tmplLst>
          <p:tmpl lvl="1">
            <p:tnLst>
              <p:par>
                <p:cTn presetID="42" presetClass="entr" presetSubtype="0" fill="hold" nodeType="withEffect">
                  <p:stCondLst>
                    <p:cond delay="1250"/>
                  </p:stCondLst>
                  <p:childTnLst>
                    <p:set>
                      <p:cBhvr>
                        <p:cTn dur="1" fill="hold">
                          <p:stCondLst>
                            <p:cond delay="0"/>
                          </p:stCondLst>
                        </p:cTn>
                        <p:tgtEl>
                          <p:spTgt spid="14"/>
                        </p:tgtEl>
                        <p:attrNameLst>
                          <p:attrName>style.visibility</p:attrName>
                        </p:attrNameLst>
                      </p:cBhvr>
                      <p:to>
                        <p:strVal val="visible"/>
                      </p:to>
                    </p:set>
                    <p:animEffect transition="in" filter="fade">
                      <p:cBhvr>
                        <p:cTn dur="1000"/>
                        <p:tgtEl>
                          <p:spTgt spid="14"/>
                        </p:tgtEl>
                      </p:cBhvr>
                    </p:animEffect>
                    <p:anim calcmode="lin" valueType="num">
                      <p:cBhvr>
                        <p:cTn dur="1000" fill="hold"/>
                        <p:tgtEl>
                          <p:spTgt spid="14"/>
                        </p:tgtEl>
                        <p:attrNameLst>
                          <p:attrName>ppt_x</p:attrName>
                        </p:attrNameLst>
                      </p:cBhvr>
                      <p:tavLst>
                        <p:tav tm="0">
                          <p:val>
                            <p:strVal val="#ppt_x"/>
                          </p:val>
                        </p:tav>
                        <p:tav tm="100000">
                          <p:val>
                            <p:strVal val="#ppt_x"/>
                          </p:val>
                        </p:tav>
                      </p:tavLst>
                    </p:anim>
                    <p:anim calcmode="lin" valueType="num">
                      <p:cBhvr>
                        <p:cTn dur="1000" fill="hold"/>
                        <p:tgtEl>
                          <p:spTgt spid="14"/>
                        </p:tgtEl>
                        <p:attrNameLst>
                          <p:attrName>ppt_y</p:attrName>
                        </p:attrNameLst>
                      </p:cBhvr>
                      <p:tavLst>
                        <p:tav tm="0">
                          <p:val>
                            <p:strVal val="#ppt_y+.1"/>
                          </p:val>
                        </p:tav>
                        <p:tav tm="100000">
                          <p:val>
                            <p:strVal val="#ppt_y"/>
                          </p:val>
                        </p:tav>
                      </p:tavLst>
                    </p:anim>
                  </p:childTnLst>
                </p:cTn>
              </p:par>
            </p:tnLst>
          </p:tmpl>
        </p:tmplLst>
      </p:bldP>
      <p:bldP spid="10" grpId="0" build="p">
        <p:tmplLst>
          <p:tmpl lvl="1">
            <p:tnLst>
              <p:par>
                <p:cTn presetID="42" presetClass="entr" presetSubtype="0" fill="hold" nodeType="withEffect">
                  <p:stCondLst>
                    <p:cond delay="1250"/>
                  </p:stCondLst>
                  <p:childTnLst>
                    <p:set>
                      <p:cBhvr>
                        <p:cTn dur="1" fill="hold">
                          <p:stCondLst>
                            <p:cond delay="0"/>
                          </p:stCondLst>
                        </p:cTn>
                        <p:tgtEl>
                          <p:spTgt spid="10"/>
                        </p:tgtEl>
                        <p:attrNameLst>
                          <p:attrName>style.visibility</p:attrName>
                        </p:attrNameLst>
                      </p:cBhvr>
                      <p:to>
                        <p:strVal val="visible"/>
                      </p:to>
                    </p:set>
                    <p:animEffect transition="in" filter="fade">
                      <p:cBhvr>
                        <p:cTn dur="1000"/>
                        <p:tgtEl>
                          <p:spTgt spid="10"/>
                        </p:tgtEl>
                      </p:cBhvr>
                    </p:animEffect>
                    <p:anim calcmode="lin" valueType="num">
                      <p:cBhvr>
                        <p:cTn dur="1000" fill="hold"/>
                        <p:tgtEl>
                          <p:spTgt spid="10"/>
                        </p:tgtEl>
                        <p:attrNameLst>
                          <p:attrName>ppt_x</p:attrName>
                        </p:attrNameLst>
                      </p:cBhvr>
                      <p:tavLst>
                        <p:tav tm="0">
                          <p:val>
                            <p:strVal val="#ppt_x"/>
                          </p:val>
                        </p:tav>
                        <p:tav tm="100000">
                          <p:val>
                            <p:strVal val="#ppt_x"/>
                          </p:val>
                        </p:tav>
                      </p:tavLst>
                    </p:anim>
                    <p:anim calcmode="lin" valueType="num">
                      <p:cBhvr>
                        <p:cTn dur="1000" fill="hold"/>
                        <p:tgtEl>
                          <p:spTgt spid="10"/>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Başlık ve İçeri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3765" y="853415"/>
            <a:ext cx="8686800" cy="536114"/>
          </a:xfrm>
        </p:spPr>
        <p:txBody>
          <a:bodyPr>
            <a:normAutofit/>
          </a:bodyPr>
          <a:lstStyle>
            <a:lvl1pPr>
              <a:defRPr sz="3600" b="1" baseline="0">
                <a:solidFill>
                  <a:srgbClr val="002060"/>
                </a:solidFill>
                <a:effectLst/>
                <a:latin typeface="+mn-lt"/>
              </a:defRPr>
            </a:lvl1pPr>
          </a:lstStyle>
          <a:p>
            <a:r>
              <a:rPr lang="tr-TR" dirty="0"/>
              <a:t>Bölüm/Ünite/Başlık bilgisini yazınız</a:t>
            </a:r>
            <a:endParaRPr lang="en-US" dirty="0"/>
          </a:p>
        </p:txBody>
      </p:sp>
      <p:sp>
        <p:nvSpPr>
          <p:cNvPr id="3" name="Content Placeholder 2"/>
          <p:cNvSpPr>
            <a:spLocks noGrp="1"/>
          </p:cNvSpPr>
          <p:nvPr>
            <p:ph idx="1" hasCustomPrompt="1"/>
          </p:nvPr>
        </p:nvSpPr>
        <p:spPr>
          <a:xfrm>
            <a:off x="313765" y="1515035"/>
            <a:ext cx="8686800" cy="4929308"/>
          </a:xfrm>
        </p:spPr>
        <p:txBody>
          <a:bodyPr/>
          <a:lstStyle>
            <a:lvl1pPr>
              <a:defRPr/>
            </a:lvl1pPr>
          </a:lstStyle>
          <a:p>
            <a:pPr lvl="0"/>
            <a:r>
              <a:rPr lang="tr-TR" dirty="0"/>
              <a:t>Konu Bilgisini yazınız</a:t>
            </a:r>
          </a:p>
          <a:p>
            <a:pPr lvl="1"/>
            <a:r>
              <a:rPr lang="tr-TR" dirty="0"/>
              <a:t>İkinci düzey</a:t>
            </a:r>
          </a:p>
          <a:p>
            <a:pPr lvl="2"/>
            <a:r>
              <a:rPr lang="tr-TR" dirty="0"/>
              <a:t>Üçüncü düzey</a:t>
            </a:r>
          </a:p>
          <a:p>
            <a:pPr lvl="3"/>
            <a:r>
              <a:rPr lang="tr-TR" dirty="0"/>
              <a:t>Dördüncü düzey</a:t>
            </a:r>
          </a:p>
          <a:p>
            <a:pPr lvl="4"/>
            <a:r>
              <a:rPr lang="tr-TR" dirty="0"/>
              <a:t>Beşinci düzey</a:t>
            </a:r>
            <a:endParaRPr lang="en-US" dirty="0"/>
          </a:p>
        </p:txBody>
      </p:sp>
      <p:sp>
        <p:nvSpPr>
          <p:cNvPr id="4" name="Date Placeholder 3"/>
          <p:cNvSpPr>
            <a:spLocks noGrp="1"/>
          </p:cNvSpPr>
          <p:nvPr>
            <p:ph type="dt" sz="half" idx="10"/>
          </p:nvPr>
        </p:nvSpPr>
        <p:spPr>
          <a:xfrm>
            <a:off x="313765" y="6356351"/>
            <a:ext cx="1891553" cy="365125"/>
          </a:xfrm>
        </p:spPr>
        <p:txBody>
          <a:bodyPr/>
          <a:lstStyle/>
          <a:p>
            <a:fld id="{7A384AEE-717F-461B-8C96-9D64203B579B}" type="datetimeFigureOut">
              <a:rPr lang="tr-TR" smtClean="0"/>
              <a:t>16.4.2020</a:t>
            </a:fld>
            <a:endParaRPr lang="tr-TR" dirty="0"/>
          </a:p>
        </p:txBody>
      </p:sp>
      <p:sp>
        <p:nvSpPr>
          <p:cNvPr id="5" name="Footer Placeholder 4"/>
          <p:cNvSpPr>
            <a:spLocks noGrp="1"/>
          </p:cNvSpPr>
          <p:nvPr>
            <p:ph type="ftr" sz="quarter" idx="11"/>
          </p:nvPr>
        </p:nvSpPr>
        <p:spPr>
          <a:xfrm>
            <a:off x="2411505" y="5618742"/>
            <a:ext cx="4527177" cy="365125"/>
          </a:xfrm>
        </p:spPr>
        <p:txBody>
          <a:bodyPr/>
          <a:lstStyle/>
          <a:p>
            <a:endParaRPr lang="tr-TR" dirty="0"/>
          </a:p>
        </p:txBody>
      </p:sp>
      <p:sp>
        <p:nvSpPr>
          <p:cNvPr id="6" name="Slide Number Placeholder 5"/>
          <p:cNvSpPr>
            <a:spLocks noGrp="1"/>
          </p:cNvSpPr>
          <p:nvPr>
            <p:ph type="sldNum" sz="quarter" idx="12"/>
          </p:nvPr>
        </p:nvSpPr>
        <p:spPr>
          <a:xfrm>
            <a:off x="6938682" y="6356351"/>
            <a:ext cx="2061882" cy="365125"/>
          </a:xfrm>
        </p:spPr>
        <p:txBody>
          <a:bodyPr/>
          <a:lstStyle/>
          <a:p>
            <a:fld id="{EFB22F58-9FDF-474E-B940-7D6D24B82F83}" type="slidenum">
              <a:rPr lang="tr-TR" smtClean="0"/>
              <a:t>‹#›</a:t>
            </a:fld>
            <a:endParaRPr lang="tr-TR"/>
          </a:p>
        </p:txBody>
      </p:sp>
      <p:pic>
        <p:nvPicPr>
          <p:cNvPr id="11" name="Picture 2" descr="C:\Documents and Settings\systemx\Desktop\UE_SUNUM\Slayt_resim\ust_icerik.png">
            <a:extLst>
              <a:ext uri="{FF2B5EF4-FFF2-40B4-BE49-F238E27FC236}">
                <a16:creationId xmlns:a16="http://schemas.microsoft.com/office/drawing/2014/main" id="{84A1DFD6-93C8-4445-88F7-8A0A4EC543D4}"/>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2" name="Picture 3" descr="C:\Documents and Settings\systemx\Desktop\UE_SUNUM\Slayt_resim\alt_icerik.png">
            <a:extLst>
              <a:ext uri="{FF2B5EF4-FFF2-40B4-BE49-F238E27FC236}">
                <a16:creationId xmlns:a16="http://schemas.microsoft.com/office/drawing/2014/main" id="{60D13B43-439F-3B46-8347-DE652410DB1D}"/>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3" name="Picture 4" descr="C:\Documents and Settings\systemx\Desktop\UE_SUNUM\Slayt_resim\sdu_logo_icerik.png">
            <a:extLst>
              <a:ext uri="{FF2B5EF4-FFF2-40B4-BE49-F238E27FC236}">
                <a16:creationId xmlns:a16="http://schemas.microsoft.com/office/drawing/2014/main" id="{406B7BCA-9423-4D42-A3B7-B4F6BB57FE31}"/>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4" name="Picture 3" descr="E:\Uzaktan Eğitim\UE_SUNUM\Slayt_resim\sdu_text_icerik_2.png">
            <a:extLst>
              <a:ext uri="{FF2B5EF4-FFF2-40B4-BE49-F238E27FC236}">
                <a16:creationId xmlns:a16="http://schemas.microsoft.com/office/drawing/2014/main" id="{9E8C404A-CFE7-9945-8080-75219E9B814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7355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3"/>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10" presetClass="entr" presetSubtype="0" fill="hold" grpId="0" nodeType="withEffect">
                                  <p:stCondLst>
                                    <p:cond delay="125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50"/>
                                        <p:tgtEl>
                                          <p:spTgt spid="3">
                                            <p:txEl>
                                              <p:pRg st="0" end="0"/>
                                            </p:txEl>
                                          </p:spTgt>
                                        </p:tgtEl>
                                      </p:cBhvr>
                                    </p:animEffect>
                                  </p:childTnLst>
                                </p:cTn>
                              </p:par>
                              <p:par>
                                <p:cTn id="13" presetID="10" presetClass="entr" presetSubtype="0" fill="hold" grpId="0" nodeType="withEffect">
                                  <p:stCondLst>
                                    <p:cond delay="125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50"/>
                                        <p:tgtEl>
                                          <p:spTgt spid="3">
                                            <p:txEl>
                                              <p:pRg st="1" end="1"/>
                                            </p:txEl>
                                          </p:spTgt>
                                        </p:tgtEl>
                                      </p:cBhvr>
                                    </p:animEffect>
                                  </p:childTnLst>
                                </p:cTn>
                              </p:par>
                              <p:par>
                                <p:cTn id="16" presetID="10" presetClass="entr" presetSubtype="0" fill="hold" grpId="0" nodeType="withEffect">
                                  <p:stCondLst>
                                    <p:cond delay="125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750"/>
                                        <p:tgtEl>
                                          <p:spTgt spid="3">
                                            <p:txEl>
                                              <p:pRg st="2" end="2"/>
                                            </p:txEl>
                                          </p:spTgt>
                                        </p:tgtEl>
                                      </p:cBhvr>
                                    </p:animEffect>
                                  </p:childTnLst>
                                </p:cTn>
                              </p:par>
                              <p:par>
                                <p:cTn id="19" presetID="10" presetClass="entr" presetSubtype="0" fill="hold" grpId="0" nodeType="withEffect">
                                  <p:stCondLst>
                                    <p:cond delay="125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750"/>
                                        <p:tgtEl>
                                          <p:spTgt spid="3">
                                            <p:txEl>
                                              <p:pRg st="3" end="3"/>
                                            </p:txEl>
                                          </p:spTgt>
                                        </p:tgtEl>
                                      </p:cBhvr>
                                    </p:animEffect>
                                  </p:childTnLst>
                                </p:cTn>
                              </p:par>
                              <p:par>
                                <p:cTn id="22" presetID="10" presetClass="entr" presetSubtype="0" fill="hold" grpId="0" nodeType="withEffect">
                                  <p:stCondLst>
                                    <p:cond delay="125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750"/>
                                        <p:tgtEl>
                                          <p:spTgt spid="3">
                                            <p:txEl>
                                              <p:pRg st="4" end="4"/>
                                            </p:txEl>
                                          </p:spTgt>
                                        </p:tgtEl>
                                      </p:cBhvr>
                                    </p:animEffect>
                                  </p:childTnLst>
                                </p:cTn>
                              </p:par>
                            </p:childTnLst>
                          </p:cTn>
                        </p:par>
                        <p:par>
                          <p:cTn id="25" fill="hold">
                            <p:stCondLst>
                              <p:cond delay="2000"/>
                            </p:stCondLst>
                            <p:childTnLst>
                              <p:par>
                                <p:cTn id="26" presetID="18" presetClass="entr" presetSubtype="12"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strips(downLeft)">
                                      <p:cBhvr>
                                        <p:cTn id="28" dur="500"/>
                                        <p:tgtEl>
                                          <p:spTgt spid="11"/>
                                        </p:tgtEl>
                                      </p:cBhvr>
                                    </p:animEffect>
                                  </p:childTnLst>
                                </p:cTn>
                              </p:par>
                            </p:childTnLst>
                          </p:cTn>
                        </p:par>
                        <p:par>
                          <p:cTn id="29" fill="hold">
                            <p:stCondLst>
                              <p:cond delay="2500"/>
                            </p:stCondLst>
                            <p:childTnLst>
                              <p:par>
                                <p:cTn id="30" presetID="22" presetClass="entr" presetSubtype="4"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par>
                          <p:cTn id="33" fill="hold">
                            <p:stCondLst>
                              <p:cond delay="3000"/>
                            </p:stCondLst>
                            <p:childTnLst>
                              <p:par>
                                <p:cTn id="34" presetID="10" presetClass="entr" presetSubtype="0"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childTnLst>
                                </p:cTn>
                              </p:par>
                              <p:par>
                                <p:cTn id="37" presetID="29"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ppt_x</p:attrName>
                                        </p:attrNameLst>
                                      </p:cBhvr>
                                      <p:tavLst>
                                        <p:tav tm="0">
                                          <p:val>
                                            <p:strVal val="#ppt_x-.2"/>
                                          </p:val>
                                        </p:tav>
                                        <p:tav tm="100000">
                                          <p:val>
                                            <p:strVal val="#ppt_x"/>
                                          </p:val>
                                        </p:tav>
                                      </p:tavLst>
                                    </p:anim>
                                    <p:anim calcmode="lin" valueType="num">
                                      <p:cBhvr>
                                        <p:cTn id="40" dur="5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2">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3">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4">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5">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tr-TR"/>
              <a:t>Asıl başlık stili için tıklatın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7A384AEE-717F-461B-8C96-9D64203B579B}" type="datetimeFigureOut">
              <a:rPr lang="tr-TR" smtClean="0"/>
              <a:t>16.4.2020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FB22F58-9FDF-474E-B940-7D6D24B82F83}" type="slidenum">
              <a:rPr lang="tr-TR" smtClean="0"/>
              <a:t>‹#›</a:t>
            </a:fld>
            <a:endParaRPr lang="tr-TR"/>
          </a:p>
        </p:txBody>
      </p:sp>
      <p:pic>
        <p:nvPicPr>
          <p:cNvPr id="10" name="Picture 2" descr="C:\Documents and Settings\systemx\Desktop\UE_SUNUM\Slayt_resim\ust_icerik.png">
            <a:extLst>
              <a:ext uri="{FF2B5EF4-FFF2-40B4-BE49-F238E27FC236}">
                <a16:creationId xmlns:a16="http://schemas.microsoft.com/office/drawing/2014/main" id="{D124583F-BCBB-CD45-AE3C-AF99A3E42100}"/>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1" name="Picture 3" descr="C:\Documents and Settings\systemx\Desktop\UE_SUNUM\Slayt_resim\alt_icerik.png">
            <a:extLst>
              <a:ext uri="{FF2B5EF4-FFF2-40B4-BE49-F238E27FC236}">
                <a16:creationId xmlns:a16="http://schemas.microsoft.com/office/drawing/2014/main" id="{4F6C485D-3148-5741-AEDD-4500565D4FA3}"/>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2" name="Picture 4" descr="C:\Documents and Settings\systemx\Desktop\UE_SUNUM\Slayt_resim\sdu_logo_icerik.png">
            <a:extLst>
              <a:ext uri="{FF2B5EF4-FFF2-40B4-BE49-F238E27FC236}">
                <a16:creationId xmlns:a16="http://schemas.microsoft.com/office/drawing/2014/main" id="{6B5F9717-9813-FC40-A8D8-A5F6BF514DAD}"/>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3" name="Picture 3" descr="E:\Uzaktan Eğitim\UE_SUNUM\Slayt_resim\sdu_text_icerik_2.png">
            <a:extLst>
              <a:ext uri="{FF2B5EF4-FFF2-40B4-BE49-F238E27FC236}">
                <a16:creationId xmlns:a16="http://schemas.microsoft.com/office/drawing/2014/main" id="{B922BC28-EC96-AD4D-8F45-8414D6877D58}"/>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021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childTnLst>
                                </p:cTn>
                              </p:par>
                              <p:par>
                                <p:cTn id="16" presetID="2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ppt_x</p:attrName>
                                        </p:attrNameLst>
                                      </p:cBhvr>
                                      <p:tavLst>
                                        <p:tav tm="0">
                                          <p:val>
                                            <p:strVal val="#ppt_x-.2"/>
                                          </p:val>
                                        </p:tav>
                                        <p:tav tm="100000">
                                          <p:val>
                                            <p:strVal val="#ppt_x"/>
                                          </p:val>
                                        </p:tav>
                                      </p:tavLst>
                                    </p:anim>
                                    <p:anim calcmode="lin" valueType="num">
                                      <p:cBhvr>
                                        <p:cTn id="19" dur="5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İki İçeri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2729" y="779923"/>
            <a:ext cx="8650942" cy="678049"/>
          </a:xfrm>
        </p:spPr>
        <p:txBody>
          <a:bodyPr>
            <a:normAutofit/>
          </a:bodyPr>
          <a:lstStyle>
            <a:lvl1pPr>
              <a:defRPr sz="3600" b="1">
                <a:solidFill>
                  <a:srgbClr val="002060"/>
                </a:solidFill>
                <a:effectLst/>
                <a:latin typeface="+mn-lt"/>
              </a:defRPr>
            </a:lvl1pPr>
          </a:lstStyle>
          <a:p>
            <a:r>
              <a:rPr lang="tr-TR" dirty="0"/>
              <a:t>Bölüm/Ünite/Başlık bilgisini yazınız</a:t>
            </a:r>
            <a:endParaRPr lang="en-US" dirty="0"/>
          </a:p>
        </p:txBody>
      </p:sp>
      <p:sp>
        <p:nvSpPr>
          <p:cNvPr id="3" name="Content Placeholder 2"/>
          <p:cNvSpPr>
            <a:spLocks noGrp="1"/>
          </p:cNvSpPr>
          <p:nvPr>
            <p:ph sz="half" idx="1"/>
          </p:nvPr>
        </p:nvSpPr>
        <p:spPr>
          <a:xfrm>
            <a:off x="322728" y="1637360"/>
            <a:ext cx="4141695" cy="4806983"/>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4652682" y="1637360"/>
            <a:ext cx="4310905" cy="4806983"/>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a:xfrm>
            <a:off x="322729" y="6356351"/>
            <a:ext cx="2363321" cy="365125"/>
          </a:xfrm>
        </p:spPr>
        <p:txBody>
          <a:bodyPr/>
          <a:lstStyle/>
          <a:p>
            <a:fld id="{7A384AEE-717F-461B-8C96-9D64203B579B}" type="datetimeFigureOut">
              <a:rPr lang="tr-TR" smtClean="0"/>
              <a:t>16.4.2020</a:t>
            </a:fld>
            <a:endParaRPr lang="tr-TR" dirty="0"/>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FB22F58-9FDF-474E-B940-7D6D24B82F83}" type="slidenum">
              <a:rPr lang="tr-TR" smtClean="0"/>
              <a:t>‹#›</a:t>
            </a:fld>
            <a:endParaRPr lang="tr-TR"/>
          </a:p>
        </p:txBody>
      </p:sp>
      <p:pic>
        <p:nvPicPr>
          <p:cNvPr id="14" name="Picture 2" descr="C:\Documents and Settings\systemx\Desktop\UE_SUNUM\Slayt_resim\ust_icerik.png">
            <a:extLst>
              <a:ext uri="{FF2B5EF4-FFF2-40B4-BE49-F238E27FC236}">
                <a16:creationId xmlns:a16="http://schemas.microsoft.com/office/drawing/2014/main" id="{16C282B3-0FA8-EC48-8557-B7980E8C6383}"/>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5" name="Picture 3" descr="C:\Documents and Settings\systemx\Desktop\UE_SUNUM\Slayt_resim\alt_icerik.png">
            <a:extLst>
              <a:ext uri="{FF2B5EF4-FFF2-40B4-BE49-F238E27FC236}">
                <a16:creationId xmlns:a16="http://schemas.microsoft.com/office/drawing/2014/main" id="{2AA198C9-893E-6241-A6BB-697EDB2A0415}"/>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6" name="Picture 4" descr="C:\Documents and Settings\systemx\Desktop\UE_SUNUM\Slayt_resim\sdu_logo_icerik.png">
            <a:extLst>
              <a:ext uri="{FF2B5EF4-FFF2-40B4-BE49-F238E27FC236}">
                <a16:creationId xmlns:a16="http://schemas.microsoft.com/office/drawing/2014/main" id="{3EDC7159-F9EA-074D-A24D-3782ACD3B9A3}"/>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7" name="Picture 3" descr="E:\Uzaktan Eğitim\UE_SUNUM\Slayt_resim\sdu_text_icerik_2.png">
            <a:extLst>
              <a:ext uri="{FF2B5EF4-FFF2-40B4-BE49-F238E27FC236}">
                <a16:creationId xmlns:a16="http://schemas.microsoft.com/office/drawing/2014/main" id="{E53280C5-28B2-8A48-841A-49C87151316E}"/>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734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3"/>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10" presetClass="entr" presetSubtype="0" fill="hold" grpId="0" nodeType="withEffect">
                                  <p:stCondLst>
                                    <p:cond delay="125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50"/>
                                        <p:tgtEl>
                                          <p:spTgt spid="3">
                                            <p:txEl>
                                              <p:pRg st="0" end="0"/>
                                            </p:txEl>
                                          </p:spTgt>
                                        </p:tgtEl>
                                      </p:cBhvr>
                                    </p:animEffect>
                                  </p:childTnLst>
                                </p:cTn>
                              </p:par>
                              <p:par>
                                <p:cTn id="13" presetID="10" presetClass="entr" presetSubtype="0" fill="hold" grpId="0" nodeType="withEffect">
                                  <p:stCondLst>
                                    <p:cond delay="125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50"/>
                                        <p:tgtEl>
                                          <p:spTgt spid="3">
                                            <p:txEl>
                                              <p:pRg st="1" end="1"/>
                                            </p:txEl>
                                          </p:spTgt>
                                        </p:tgtEl>
                                      </p:cBhvr>
                                    </p:animEffect>
                                  </p:childTnLst>
                                </p:cTn>
                              </p:par>
                              <p:par>
                                <p:cTn id="16" presetID="10" presetClass="entr" presetSubtype="0" fill="hold" grpId="0" nodeType="withEffect">
                                  <p:stCondLst>
                                    <p:cond delay="125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750"/>
                                        <p:tgtEl>
                                          <p:spTgt spid="3">
                                            <p:txEl>
                                              <p:pRg st="2" end="2"/>
                                            </p:txEl>
                                          </p:spTgt>
                                        </p:tgtEl>
                                      </p:cBhvr>
                                    </p:animEffect>
                                  </p:childTnLst>
                                </p:cTn>
                              </p:par>
                              <p:par>
                                <p:cTn id="19" presetID="10" presetClass="entr" presetSubtype="0" fill="hold" grpId="0" nodeType="withEffect">
                                  <p:stCondLst>
                                    <p:cond delay="125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750"/>
                                        <p:tgtEl>
                                          <p:spTgt spid="3">
                                            <p:txEl>
                                              <p:pRg st="3" end="3"/>
                                            </p:txEl>
                                          </p:spTgt>
                                        </p:tgtEl>
                                      </p:cBhvr>
                                    </p:animEffect>
                                  </p:childTnLst>
                                </p:cTn>
                              </p:par>
                              <p:par>
                                <p:cTn id="22" presetID="10" presetClass="entr" presetSubtype="0" fill="hold" grpId="0" nodeType="withEffect">
                                  <p:stCondLst>
                                    <p:cond delay="125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750"/>
                                        <p:tgtEl>
                                          <p:spTgt spid="3">
                                            <p:txEl>
                                              <p:pRg st="4" end="4"/>
                                            </p:txEl>
                                          </p:spTgt>
                                        </p:tgtEl>
                                      </p:cBhvr>
                                    </p:animEffect>
                                  </p:childTnLst>
                                </p:cTn>
                              </p:par>
                              <p:par>
                                <p:cTn id="25" presetID="10" presetClass="entr" presetSubtype="0" fill="hold" grpId="0" nodeType="withEffect">
                                  <p:stCondLst>
                                    <p:cond delay="125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fade">
                                      <p:cBhvr>
                                        <p:cTn id="27" dur="750"/>
                                        <p:tgtEl>
                                          <p:spTgt spid="4">
                                            <p:txEl>
                                              <p:pRg st="0" end="0"/>
                                            </p:txEl>
                                          </p:spTgt>
                                        </p:tgtEl>
                                      </p:cBhvr>
                                    </p:animEffect>
                                  </p:childTnLst>
                                </p:cTn>
                              </p:par>
                              <p:par>
                                <p:cTn id="28" presetID="10" presetClass="entr" presetSubtype="0" fill="hold" grpId="0" nodeType="withEffect">
                                  <p:stCondLst>
                                    <p:cond delay="1250"/>
                                  </p:stCondLst>
                                  <p:childTnLst>
                                    <p:set>
                                      <p:cBhvr>
                                        <p:cTn id="29" dur="1" fill="hold">
                                          <p:stCondLst>
                                            <p:cond delay="0"/>
                                          </p:stCondLst>
                                        </p:cTn>
                                        <p:tgtEl>
                                          <p:spTgt spid="4">
                                            <p:txEl>
                                              <p:pRg st="1" end="1"/>
                                            </p:txEl>
                                          </p:spTgt>
                                        </p:tgtEl>
                                        <p:attrNameLst>
                                          <p:attrName>style.visibility</p:attrName>
                                        </p:attrNameLst>
                                      </p:cBhvr>
                                      <p:to>
                                        <p:strVal val="visible"/>
                                      </p:to>
                                    </p:set>
                                    <p:animEffect transition="in" filter="fade">
                                      <p:cBhvr>
                                        <p:cTn id="30" dur="750"/>
                                        <p:tgtEl>
                                          <p:spTgt spid="4">
                                            <p:txEl>
                                              <p:pRg st="1" end="1"/>
                                            </p:txEl>
                                          </p:spTgt>
                                        </p:tgtEl>
                                      </p:cBhvr>
                                    </p:animEffect>
                                  </p:childTnLst>
                                </p:cTn>
                              </p:par>
                              <p:par>
                                <p:cTn id="31" presetID="10" presetClass="entr" presetSubtype="0" fill="hold" grpId="0" nodeType="withEffect">
                                  <p:stCondLst>
                                    <p:cond delay="1250"/>
                                  </p:stCondLst>
                                  <p:childTnLst>
                                    <p:set>
                                      <p:cBhvr>
                                        <p:cTn id="32" dur="1" fill="hold">
                                          <p:stCondLst>
                                            <p:cond delay="0"/>
                                          </p:stCondLst>
                                        </p:cTn>
                                        <p:tgtEl>
                                          <p:spTgt spid="4">
                                            <p:txEl>
                                              <p:pRg st="2" end="2"/>
                                            </p:txEl>
                                          </p:spTgt>
                                        </p:tgtEl>
                                        <p:attrNameLst>
                                          <p:attrName>style.visibility</p:attrName>
                                        </p:attrNameLst>
                                      </p:cBhvr>
                                      <p:to>
                                        <p:strVal val="visible"/>
                                      </p:to>
                                    </p:set>
                                    <p:animEffect transition="in" filter="fade">
                                      <p:cBhvr>
                                        <p:cTn id="33" dur="750"/>
                                        <p:tgtEl>
                                          <p:spTgt spid="4">
                                            <p:txEl>
                                              <p:pRg st="2" end="2"/>
                                            </p:txEl>
                                          </p:spTgt>
                                        </p:tgtEl>
                                      </p:cBhvr>
                                    </p:animEffect>
                                  </p:childTnLst>
                                </p:cTn>
                              </p:par>
                              <p:par>
                                <p:cTn id="34" presetID="10" presetClass="entr" presetSubtype="0" fill="hold" grpId="0" nodeType="withEffect">
                                  <p:stCondLst>
                                    <p:cond delay="1250"/>
                                  </p:stCondLst>
                                  <p:childTnLst>
                                    <p:set>
                                      <p:cBhvr>
                                        <p:cTn id="35" dur="1" fill="hold">
                                          <p:stCondLst>
                                            <p:cond delay="0"/>
                                          </p:stCondLst>
                                        </p:cTn>
                                        <p:tgtEl>
                                          <p:spTgt spid="4">
                                            <p:txEl>
                                              <p:pRg st="3" end="3"/>
                                            </p:txEl>
                                          </p:spTgt>
                                        </p:tgtEl>
                                        <p:attrNameLst>
                                          <p:attrName>style.visibility</p:attrName>
                                        </p:attrNameLst>
                                      </p:cBhvr>
                                      <p:to>
                                        <p:strVal val="visible"/>
                                      </p:to>
                                    </p:set>
                                    <p:animEffect transition="in" filter="fade">
                                      <p:cBhvr>
                                        <p:cTn id="36" dur="750"/>
                                        <p:tgtEl>
                                          <p:spTgt spid="4">
                                            <p:txEl>
                                              <p:pRg st="3" end="3"/>
                                            </p:txEl>
                                          </p:spTgt>
                                        </p:tgtEl>
                                      </p:cBhvr>
                                    </p:animEffect>
                                  </p:childTnLst>
                                </p:cTn>
                              </p:par>
                              <p:par>
                                <p:cTn id="37" presetID="10" presetClass="entr" presetSubtype="0" fill="hold" grpId="0" nodeType="withEffect">
                                  <p:stCondLst>
                                    <p:cond delay="1250"/>
                                  </p:stCondLst>
                                  <p:childTnLst>
                                    <p:set>
                                      <p:cBhvr>
                                        <p:cTn id="38" dur="1" fill="hold">
                                          <p:stCondLst>
                                            <p:cond delay="0"/>
                                          </p:stCondLst>
                                        </p:cTn>
                                        <p:tgtEl>
                                          <p:spTgt spid="4">
                                            <p:txEl>
                                              <p:pRg st="4" end="4"/>
                                            </p:txEl>
                                          </p:spTgt>
                                        </p:tgtEl>
                                        <p:attrNameLst>
                                          <p:attrName>style.visibility</p:attrName>
                                        </p:attrNameLst>
                                      </p:cBhvr>
                                      <p:to>
                                        <p:strVal val="visible"/>
                                      </p:to>
                                    </p:set>
                                    <p:animEffect transition="in" filter="fade">
                                      <p:cBhvr>
                                        <p:cTn id="39" dur="750"/>
                                        <p:tgtEl>
                                          <p:spTgt spid="4">
                                            <p:txEl>
                                              <p:pRg st="4" end="4"/>
                                            </p:txEl>
                                          </p:spTgt>
                                        </p:tgtEl>
                                      </p:cBhvr>
                                    </p:animEffect>
                                  </p:childTnLst>
                                </p:cTn>
                              </p:par>
                            </p:childTnLst>
                          </p:cTn>
                        </p:par>
                        <p:par>
                          <p:cTn id="40" fill="hold">
                            <p:stCondLst>
                              <p:cond delay="2000"/>
                            </p:stCondLst>
                            <p:childTnLst>
                              <p:par>
                                <p:cTn id="41" presetID="18" presetClass="entr" presetSubtype="12" fill="hold"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strips(downLeft)">
                                      <p:cBhvr>
                                        <p:cTn id="43" dur="500"/>
                                        <p:tgtEl>
                                          <p:spTgt spid="14"/>
                                        </p:tgtEl>
                                      </p:cBhvr>
                                    </p:animEffect>
                                  </p:childTnLst>
                                </p:cTn>
                              </p:par>
                            </p:childTnLst>
                          </p:cTn>
                        </p:par>
                        <p:par>
                          <p:cTn id="44" fill="hold">
                            <p:stCondLst>
                              <p:cond delay="2500"/>
                            </p:stCondLst>
                            <p:childTnLst>
                              <p:par>
                                <p:cTn id="45" presetID="22" presetClass="entr" presetSubtype="4"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down)">
                                      <p:cBhvr>
                                        <p:cTn id="47" dur="500"/>
                                        <p:tgtEl>
                                          <p:spTgt spid="15"/>
                                        </p:tgtEl>
                                      </p:cBhvr>
                                    </p:animEffect>
                                  </p:childTnLst>
                                </p:cTn>
                              </p:par>
                            </p:childTnLst>
                          </p:cTn>
                        </p:par>
                        <p:par>
                          <p:cTn id="48" fill="hold">
                            <p:stCondLst>
                              <p:cond delay="3000"/>
                            </p:stCondLst>
                            <p:childTnLst>
                              <p:par>
                                <p:cTn id="49" presetID="10" presetClass="entr" presetSubtype="0" fill="hold"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1000"/>
                                        <p:tgtEl>
                                          <p:spTgt spid="16"/>
                                        </p:tgtEl>
                                      </p:cBhvr>
                                    </p:animEffect>
                                  </p:childTnLst>
                                </p:cTn>
                              </p:par>
                              <p:par>
                                <p:cTn id="52" presetID="29" presetClass="entr" presetSubtype="0" fill="hold" nodeType="withEffect">
                                  <p:stCondLst>
                                    <p:cond delay="0"/>
                                  </p:stCondLst>
                                  <p:childTnLst>
                                    <p:set>
                                      <p:cBhvr>
                                        <p:cTn id="53" dur="1" fill="hold">
                                          <p:stCondLst>
                                            <p:cond delay="0"/>
                                          </p:stCondLst>
                                        </p:cTn>
                                        <p:tgtEl>
                                          <p:spTgt spid="17"/>
                                        </p:tgtEl>
                                        <p:attrNameLst>
                                          <p:attrName>style.visibility</p:attrName>
                                        </p:attrNameLst>
                                      </p:cBhvr>
                                      <p:to>
                                        <p:strVal val="visible"/>
                                      </p:to>
                                    </p:set>
                                    <p:anim calcmode="lin" valueType="num">
                                      <p:cBhvr>
                                        <p:cTn id="54" dur="500" fill="hold"/>
                                        <p:tgtEl>
                                          <p:spTgt spid="17"/>
                                        </p:tgtEl>
                                        <p:attrNameLst>
                                          <p:attrName>ppt_x</p:attrName>
                                        </p:attrNameLst>
                                      </p:cBhvr>
                                      <p:tavLst>
                                        <p:tav tm="0">
                                          <p:val>
                                            <p:strVal val="#ppt_x-.2"/>
                                          </p:val>
                                        </p:tav>
                                        <p:tav tm="100000">
                                          <p:val>
                                            <p:strVal val="#ppt_x"/>
                                          </p:val>
                                        </p:tav>
                                      </p:tavLst>
                                    </p:anim>
                                    <p:anim calcmode="lin" valueType="num">
                                      <p:cBhvr>
                                        <p:cTn id="55" dur="500" fill="hold"/>
                                        <p:tgtEl>
                                          <p:spTgt spid="17"/>
                                        </p:tgtEl>
                                        <p:attrNameLst>
                                          <p:attrName>ppt_y</p:attrName>
                                        </p:attrNameLst>
                                      </p:cBhvr>
                                      <p:tavLst>
                                        <p:tav tm="0">
                                          <p:val>
                                            <p:strVal val="#ppt_y"/>
                                          </p:val>
                                        </p:tav>
                                        <p:tav tm="100000">
                                          <p:val>
                                            <p:strVal val="#ppt_y"/>
                                          </p:val>
                                        </p:tav>
                                      </p:tavLst>
                                    </p:anim>
                                    <p:animEffect transition="in" filter="wipe(right)" prLst="gradientSize: 0.1">
                                      <p:cBhvr>
                                        <p:cTn id="5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2">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3">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4">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5">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Lst>
      </p:bldP>
      <p:bldP spid="4" grpId="0" build="p">
        <p:tmplLst>
          <p:tmpl lvl="1">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2">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3">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4">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5">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tr-TR"/>
              <a:t>Asıl başlık stili için tıklatın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629842" y="2505075"/>
            <a:ext cx="3868340"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4629150" y="2505075"/>
            <a:ext cx="3887391"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7A384AEE-717F-461B-8C96-9D64203B579B}" type="datetimeFigureOut">
              <a:rPr lang="tr-TR" smtClean="0"/>
              <a:t>16.4.2020</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EFB22F58-9FDF-474E-B940-7D6D24B82F83}" type="slidenum">
              <a:rPr lang="tr-TR" smtClean="0"/>
              <a:t>‹#›</a:t>
            </a:fld>
            <a:endParaRPr lang="tr-TR"/>
          </a:p>
        </p:txBody>
      </p:sp>
      <p:pic>
        <p:nvPicPr>
          <p:cNvPr id="13" name="Picture 2" descr="C:\Documents and Settings\systemx\Desktop\UE_SUNUM\Slayt_resim\ust_icerik.png">
            <a:extLst>
              <a:ext uri="{FF2B5EF4-FFF2-40B4-BE49-F238E27FC236}">
                <a16:creationId xmlns:a16="http://schemas.microsoft.com/office/drawing/2014/main" id="{5982E71D-F5D6-6A42-A387-0D5F710AD368}"/>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4" name="Picture 3" descr="C:\Documents and Settings\systemx\Desktop\UE_SUNUM\Slayt_resim\alt_icerik.png">
            <a:extLst>
              <a:ext uri="{FF2B5EF4-FFF2-40B4-BE49-F238E27FC236}">
                <a16:creationId xmlns:a16="http://schemas.microsoft.com/office/drawing/2014/main" id="{487E5075-313F-CB49-BD83-3D646A7346AB}"/>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5" name="Picture 4" descr="C:\Documents and Settings\systemx\Desktop\UE_SUNUM\Slayt_resim\sdu_logo_icerik.png">
            <a:extLst>
              <a:ext uri="{FF2B5EF4-FFF2-40B4-BE49-F238E27FC236}">
                <a16:creationId xmlns:a16="http://schemas.microsoft.com/office/drawing/2014/main" id="{5F341399-119C-5F45-9DD5-EE3FF654A655}"/>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6" name="Picture 3" descr="E:\Uzaktan Eğitim\UE_SUNUM\Slayt_resim\sdu_text_icerik_2.png">
            <a:extLst>
              <a:ext uri="{FF2B5EF4-FFF2-40B4-BE49-F238E27FC236}">
                <a16:creationId xmlns:a16="http://schemas.microsoft.com/office/drawing/2014/main" id="{742234DB-E25A-D94A-A9C6-C5107900F7F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55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Left)">
                                      <p:cBhvr>
                                        <p:cTn id="7" dur="500"/>
                                        <p:tgtEl>
                                          <p:spTgt spid="1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1000"/>
                                        <p:tgtEl>
                                          <p:spTgt spid="15"/>
                                        </p:tgtEl>
                                      </p:cBhvr>
                                    </p:animEffect>
                                  </p:childTnLst>
                                </p:cTn>
                              </p:par>
                              <p:par>
                                <p:cTn id="16" presetID="29"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p:cTn id="18" dur="500" fill="hold"/>
                                        <p:tgtEl>
                                          <p:spTgt spid="16"/>
                                        </p:tgtEl>
                                        <p:attrNameLst>
                                          <p:attrName>ppt_x</p:attrName>
                                        </p:attrNameLst>
                                      </p:cBhvr>
                                      <p:tavLst>
                                        <p:tav tm="0">
                                          <p:val>
                                            <p:strVal val="#ppt_x-.2"/>
                                          </p:val>
                                        </p:tav>
                                        <p:tav tm="100000">
                                          <p:val>
                                            <p:strVal val="#ppt_x"/>
                                          </p:val>
                                        </p:tav>
                                      </p:tavLst>
                                    </p:anim>
                                    <p:anim calcmode="lin" valueType="num">
                                      <p:cBhvr>
                                        <p:cTn id="19" dur="500" fill="hold"/>
                                        <p:tgtEl>
                                          <p:spTgt spid="16"/>
                                        </p:tgtEl>
                                        <p:attrNameLst>
                                          <p:attrName>ppt_y</p:attrName>
                                        </p:attrNameLst>
                                      </p:cBhvr>
                                      <p:tavLst>
                                        <p:tav tm="0">
                                          <p:val>
                                            <p:strVal val="#ppt_y"/>
                                          </p:val>
                                        </p:tav>
                                        <p:tav tm="100000">
                                          <p:val>
                                            <p:strVal val="#ppt_y"/>
                                          </p:val>
                                        </p:tav>
                                      </p:tavLst>
                                    </p:anim>
                                    <p:animEffect transition="in" filter="wipe(right)" prLst="gradientSize: 0.1">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7A384AEE-717F-461B-8C96-9D64203B579B}" type="datetimeFigureOut">
              <a:rPr lang="tr-TR" smtClean="0"/>
              <a:t>16.4.2020</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EFB22F58-9FDF-474E-B940-7D6D24B82F83}" type="slidenum">
              <a:rPr lang="tr-TR" smtClean="0"/>
              <a:t>‹#›</a:t>
            </a:fld>
            <a:endParaRPr lang="tr-TR"/>
          </a:p>
        </p:txBody>
      </p:sp>
      <p:pic>
        <p:nvPicPr>
          <p:cNvPr id="9" name="Picture 2" descr="C:\Documents and Settings\systemx\Desktop\UE_SUNUM\Slayt_resim\ust_icerik.png">
            <a:extLst>
              <a:ext uri="{FF2B5EF4-FFF2-40B4-BE49-F238E27FC236}">
                <a16:creationId xmlns:a16="http://schemas.microsoft.com/office/drawing/2014/main" id="{1664BD23-CA4A-2146-AF1C-6055D62AF765}"/>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0" name="Picture 3" descr="C:\Documents and Settings\systemx\Desktop\UE_SUNUM\Slayt_resim\alt_icerik.png">
            <a:extLst>
              <a:ext uri="{FF2B5EF4-FFF2-40B4-BE49-F238E27FC236}">
                <a16:creationId xmlns:a16="http://schemas.microsoft.com/office/drawing/2014/main" id="{DEBD0A25-3C2C-4F40-BFC4-432296F1754D}"/>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1" name="Picture 4" descr="C:\Documents and Settings\systemx\Desktop\UE_SUNUM\Slayt_resim\sdu_logo_icerik.png">
            <a:extLst>
              <a:ext uri="{FF2B5EF4-FFF2-40B4-BE49-F238E27FC236}">
                <a16:creationId xmlns:a16="http://schemas.microsoft.com/office/drawing/2014/main" id="{E280C558-7A5F-8C48-BA4C-071AA3F7F650}"/>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2" name="Picture 3" descr="E:\Uzaktan Eğitim\UE_SUNUM\Slayt_resim\sdu_text_icerik_2.png">
            <a:extLst>
              <a:ext uri="{FF2B5EF4-FFF2-40B4-BE49-F238E27FC236}">
                <a16:creationId xmlns:a16="http://schemas.microsoft.com/office/drawing/2014/main" id="{1480449E-A9B3-274F-A419-696D362DD8B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63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Left)">
                                      <p:cBhvr>
                                        <p:cTn id="7" dur="500"/>
                                        <p:tgtEl>
                                          <p:spTgt spid="9"/>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1000"/>
                                        <p:tgtEl>
                                          <p:spTgt spid="11"/>
                                        </p:tgtEl>
                                      </p:cBhvr>
                                    </p:animEffect>
                                  </p:childTnLst>
                                </p:cTn>
                              </p:par>
                              <p:par>
                                <p:cTn id="16" presetID="29"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500" fill="hold"/>
                                        <p:tgtEl>
                                          <p:spTgt spid="12"/>
                                        </p:tgtEl>
                                        <p:attrNameLst>
                                          <p:attrName>ppt_x</p:attrName>
                                        </p:attrNameLst>
                                      </p:cBhvr>
                                      <p:tavLst>
                                        <p:tav tm="0">
                                          <p:val>
                                            <p:strVal val="#ppt_x-.2"/>
                                          </p:val>
                                        </p:tav>
                                        <p:tav tm="100000">
                                          <p:val>
                                            <p:strVal val="#ppt_x"/>
                                          </p:val>
                                        </p:tav>
                                      </p:tavLst>
                                    </p:anim>
                                    <p:anim calcmode="lin" valueType="num">
                                      <p:cBhvr>
                                        <p:cTn id="19" dur="500" fill="hold"/>
                                        <p:tgtEl>
                                          <p:spTgt spid="12"/>
                                        </p:tgtEl>
                                        <p:attrNameLst>
                                          <p:attrName>ppt_y</p:attrName>
                                        </p:attrNameLst>
                                      </p:cBhvr>
                                      <p:tavLst>
                                        <p:tav tm="0">
                                          <p:val>
                                            <p:strVal val="#ppt_y"/>
                                          </p:val>
                                        </p:tav>
                                        <p:tav tm="100000">
                                          <p:val>
                                            <p:strVal val="#ppt_y"/>
                                          </p:val>
                                        </p:tav>
                                      </p:tavLst>
                                    </p:anim>
                                    <p:animEffect transition="in" filter="wipe(right)" prLst="gradientSize: 0.1">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384AEE-717F-461B-8C96-9D64203B579B}" type="datetimeFigureOut">
              <a:rPr lang="tr-TR" smtClean="0"/>
              <a:t>16.4.2020</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EFB22F58-9FDF-474E-B940-7D6D24B82F83}" type="slidenum">
              <a:rPr lang="tr-TR" smtClean="0"/>
              <a:t>‹#›</a:t>
            </a:fld>
            <a:endParaRPr lang="tr-TR"/>
          </a:p>
        </p:txBody>
      </p:sp>
      <p:pic>
        <p:nvPicPr>
          <p:cNvPr id="8" name="Picture 2" descr="C:\Documents and Settings\systemx\Desktop\UE_SUNUM\Slayt_resim\ust_icerik.png">
            <a:extLst>
              <a:ext uri="{FF2B5EF4-FFF2-40B4-BE49-F238E27FC236}">
                <a16:creationId xmlns:a16="http://schemas.microsoft.com/office/drawing/2014/main" id="{F6F0BC35-BB1D-0045-A55B-AFFE2D310050}"/>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9" name="Picture 3" descr="C:\Documents and Settings\systemx\Desktop\UE_SUNUM\Slayt_resim\alt_icerik.png">
            <a:extLst>
              <a:ext uri="{FF2B5EF4-FFF2-40B4-BE49-F238E27FC236}">
                <a16:creationId xmlns:a16="http://schemas.microsoft.com/office/drawing/2014/main" id="{8EBCD001-D144-7A42-9E17-48922BEE224A}"/>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0" name="Picture 4" descr="C:\Documents and Settings\systemx\Desktop\UE_SUNUM\Slayt_resim\sdu_logo_icerik.png">
            <a:extLst>
              <a:ext uri="{FF2B5EF4-FFF2-40B4-BE49-F238E27FC236}">
                <a16:creationId xmlns:a16="http://schemas.microsoft.com/office/drawing/2014/main" id="{60B582D7-3C19-7E47-BCED-E4DAE60620D9}"/>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1" name="Picture 3" descr="E:\Uzaktan Eğitim\UE_SUNUM\Slayt_resim\sdu_text_icerik_2.png">
            <a:extLst>
              <a:ext uri="{FF2B5EF4-FFF2-40B4-BE49-F238E27FC236}">
                <a16:creationId xmlns:a16="http://schemas.microsoft.com/office/drawing/2014/main" id="{0445514E-D51D-374D-8D38-B7605C5B9E27}"/>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236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Left)">
                                      <p:cBhvr>
                                        <p:cTn id="7" dur="500"/>
                                        <p:tgtEl>
                                          <p:spTgt spid="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childTnLst>
                                </p:cTn>
                              </p:par>
                              <p:par>
                                <p:cTn id="16" presetID="29"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ppt_x</p:attrName>
                                        </p:attrNameLst>
                                      </p:cBhvr>
                                      <p:tavLst>
                                        <p:tav tm="0">
                                          <p:val>
                                            <p:strVal val="#ppt_x-.2"/>
                                          </p:val>
                                        </p:tav>
                                        <p:tav tm="100000">
                                          <p:val>
                                            <p:strVal val="#ppt_x"/>
                                          </p:val>
                                        </p:tav>
                                      </p:tavLst>
                                    </p:anim>
                                    <p:anim calcmode="lin" valueType="num">
                                      <p:cBhvr>
                                        <p:cTn id="19" dur="500" fill="hold"/>
                                        <p:tgtEl>
                                          <p:spTgt spid="11"/>
                                        </p:tgtEl>
                                        <p:attrNameLst>
                                          <p:attrName>ppt_y</p:attrName>
                                        </p:attrNameLst>
                                      </p:cBhvr>
                                      <p:tavLst>
                                        <p:tav tm="0">
                                          <p:val>
                                            <p:strVal val="#ppt_y"/>
                                          </p:val>
                                        </p:tav>
                                        <p:tav tm="100000">
                                          <p:val>
                                            <p:strVal val="#ppt_y"/>
                                          </p:val>
                                        </p:tav>
                                      </p:tavLst>
                                    </p:anim>
                                    <p:animEffect transition="in" filter="wipe(right)" prLst="gradientSize: 0.1">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1_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tr-TR"/>
              <a:t>Asıl başlık stili için tıklatın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Date Placeholder 4"/>
          <p:cNvSpPr>
            <a:spLocks noGrp="1"/>
          </p:cNvSpPr>
          <p:nvPr>
            <p:ph type="dt" sz="half" idx="10"/>
          </p:nvPr>
        </p:nvSpPr>
        <p:spPr/>
        <p:txBody>
          <a:bodyPr/>
          <a:lstStyle/>
          <a:p>
            <a:fld id="{7A384AEE-717F-461B-8C96-9D64203B579B}" type="datetimeFigureOut">
              <a:rPr lang="tr-TR" smtClean="0"/>
              <a:t>16.4.2020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FB22F58-9FDF-474E-B940-7D6D24B82F83}" type="slidenum">
              <a:rPr lang="tr-TR" smtClean="0"/>
              <a:t>‹#›</a:t>
            </a:fld>
            <a:endParaRPr lang="tr-TR"/>
          </a:p>
        </p:txBody>
      </p:sp>
      <p:pic>
        <p:nvPicPr>
          <p:cNvPr id="11" name="Picture 2" descr="C:\Documents and Settings\systemx\Desktop\UE_SUNUM\Slayt_resim\ust_icerik.png">
            <a:extLst>
              <a:ext uri="{FF2B5EF4-FFF2-40B4-BE49-F238E27FC236}">
                <a16:creationId xmlns:a16="http://schemas.microsoft.com/office/drawing/2014/main" id="{C6669CAE-374D-AC40-B11A-190FD0458008}"/>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2" name="Picture 3" descr="C:\Documents and Settings\systemx\Desktop\UE_SUNUM\Slayt_resim\alt_icerik.png">
            <a:extLst>
              <a:ext uri="{FF2B5EF4-FFF2-40B4-BE49-F238E27FC236}">
                <a16:creationId xmlns:a16="http://schemas.microsoft.com/office/drawing/2014/main" id="{200ACFD1-4155-464B-85EC-8726EA5D06ED}"/>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3" name="Picture 4" descr="C:\Documents and Settings\systemx\Desktop\UE_SUNUM\Slayt_resim\sdu_logo_icerik.png">
            <a:extLst>
              <a:ext uri="{FF2B5EF4-FFF2-40B4-BE49-F238E27FC236}">
                <a16:creationId xmlns:a16="http://schemas.microsoft.com/office/drawing/2014/main" id="{F05004A6-6AFC-E24E-9214-D7EE8636E645}"/>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4" name="Picture 3" descr="E:\Uzaktan Eğitim\UE_SUNUM\Slayt_resim\sdu_text_icerik_2.png">
            <a:extLst>
              <a:ext uri="{FF2B5EF4-FFF2-40B4-BE49-F238E27FC236}">
                <a16:creationId xmlns:a16="http://schemas.microsoft.com/office/drawing/2014/main" id="{A293A81E-9062-B84B-9A7B-D962785C9FB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841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Left)">
                                      <p:cBhvr>
                                        <p:cTn id="7" dur="500"/>
                                        <p:tgtEl>
                                          <p:spTgt spid="1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childTnLst>
                                </p:cTn>
                              </p:par>
                              <p:par>
                                <p:cTn id="16" presetID="29"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500" fill="hold"/>
                                        <p:tgtEl>
                                          <p:spTgt spid="14"/>
                                        </p:tgtEl>
                                        <p:attrNameLst>
                                          <p:attrName>ppt_x</p:attrName>
                                        </p:attrNameLst>
                                      </p:cBhvr>
                                      <p:tavLst>
                                        <p:tav tm="0">
                                          <p:val>
                                            <p:strVal val="#ppt_x-.2"/>
                                          </p:val>
                                        </p:tav>
                                        <p:tav tm="100000">
                                          <p:val>
                                            <p:strVal val="#ppt_x"/>
                                          </p:val>
                                        </p:tav>
                                      </p:tavLst>
                                    </p:anim>
                                    <p:anim calcmode="lin" valueType="num">
                                      <p:cBhvr>
                                        <p:cTn id="19" dur="5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1_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simgeyi tıklatın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Date Placeholder 4"/>
          <p:cNvSpPr>
            <a:spLocks noGrp="1"/>
          </p:cNvSpPr>
          <p:nvPr>
            <p:ph type="dt" sz="half" idx="10"/>
          </p:nvPr>
        </p:nvSpPr>
        <p:spPr/>
        <p:txBody>
          <a:bodyPr/>
          <a:lstStyle/>
          <a:p>
            <a:fld id="{7A384AEE-717F-461B-8C96-9D64203B579B}" type="datetimeFigureOut">
              <a:rPr lang="tr-TR" smtClean="0"/>
              <a:t>16.4.2020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FB22F58-9FDF-474E-B940-7D6D24B82F83}" type="slidenum">
              <a:rPr lang="tr-TR" smtClean="0"/>
              <a:t>‹#›</a:t>
            </a:fld>
            <a:endParaRPr lang="tr-TR"/>
          </a:p>
        </p:txBody>
      </p:sp>
      <p:pic>
        <p:nvPicPr>
          <p:cNvPr id="11" name="Picture 2" descr="C:\Documents and Settings\systemx\Desktop\UE_SUNUM\Slayt_resim\ust_icerik.png">
            <a:extLst>
              <a:ext uri="{FF2B5EF4-FFF2-40B4-BE49-F238E27FC236}">
                <a16:creationId xmlns:a16="http://schemas.microsoft.com/office/drawing/2014/main" id="{94CE979B-0D5F-6240-99C3-49CFBDE7BB1B}"/>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2" name="Picture 3" descr="C:\Documents and Settings\systemx\Desktop\UE_SUNUM\Slayt_resim\alt_icerik.png">
            <a:extLst>
              <a:ext uri="{FF2B5EF4-FFF2-40B4-BE49-F238E27FC236}">
                <a16:creationId xmlns:a16="http://schemas.microsoft.com/office/drawing/2014/main" id="{74190F14-02B7-5244-A1DA-A0F604CC491A}"/>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3" name="Picture 4" descr="C:\Documents and Settings\systemx\Desktop\UE_SUNUM\Slayt_resim\sdu_logo_icerik.png">
            <a:extLst>
              <a:ext uri="{FF2B5EF4-FFF2-40B4-BE49-F238E27FC236}">
                <a16:creationId xmlns:a16="http://schemas.microsoft.com/office/drawing/2014/main" id="{FE03CE68-C366-514C-B989-0CAAD6800A1A}"/>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4" name="Picture 3" descr="E:\Uzaktan Eğitim\UE_SUNUM\Slayt_resim\sdu_text_icerik_2.png">
            <a:extLst>
              <a:ext uri="{FF2B5EF4-FFF2-40B4-BE49-F238E27FC236}">
                <a16:creationId xmlns:a16="http://schemas.microsoft.com/office/drawing/2014/main" id="{FFD9A3F2-F5C7-CF40-9777-55669091DDCC}"/>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286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Left)">
                                      <p:cBhvr>
                                        <p:cTn id="7" dur="500"/>
                                        <p:tgtEl>
                                          <p:spTgt spid="1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childTnLst>
                                </p:cTn>
                              </p:par>
                              <p:par>
                                <p:cTn id="16" presetID="29"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500" fill="hold"/>
                                        <p:tgtEl>
                                          <p:spTgt spid="14"/>
                                        </p:tgtEl>
                                        <p:attrNameLst>
                                          <p:attrName>ppt_x</p:attrName>
                                        </p:attrNameLst>
                                      </p:cBhvr>
                                      <p:tavLst>
                                        <p:tav tm="0">
                                          <p:val>
                                            <p:strVal val="#ppt_x-.2"/>
                                          </p:val>
                                        </p:tav>
                                        <p:tav tm="100000">
                                          <p:val>
                                            <p:strVal val="#ppt_x"/>
                                          </p:val>
                                        </p:tav>
                                      </p:tavLst>
                                    </p:anim>
                                    <p:anim calcmode="lin" valueType="num">
                                      <p:cBhvr>
                                        <p:cTn id="19" dur="5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A384AEE-717F-461B-8C96-9D64203B579B}" type="datetimeFigureOut">
              <a:rPr lang="tr-TR" smtClean="0"/>
              <a:t>16.4.2020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FB22F58-9FDF-474E-B940-7D6D24B82F83}" type="slidenum">
              <a:rPr lang="tr-TR" smtClean="0"/>
              <a:t>‹#›</a:t>
            </a:fld>
            <a:endParaRPr lang="tr-TR"/>
          </a:p>
        </p:txBody>
      </p:sp>
      <p:pic>
        <p:nvPicPr>
          <p:cNvPr id="10" name="Picture 2" descr="C:\Documents and Settings\systemx\Desktop\UE_SUNUM\Slayt_resim\ust_icerik.png">
            <a:extLst>
              <a:ext uri="{FF2B5EF4-FFF2-40B4-BE49-F238E27FC236}">
                <a16:creationId xmlns:a16="http://schemas.microsoft.com/office/drawing/2014/main" id="{EF250502-1EBC-8141-8716-C441289B3B65}"/>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1" name="Picture 3" descr="C:\Documents and Settings\systemx\Desktop\UE_SUNUM\Slayt_resim\alt_icerik.png">
            <a:extLst>
              <a:ext uri="{FF2B5EF4-FFF2-40B4-BE49-F238E27FC236}">
                <a16:creationId xmlns:a16="http://schemas.microsoft.com/office/drawing/2014/main" id="{A0ACC324-E794-4846-8EE9-B9B5969B1582}"/>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2" name="Picture 4" descr="C:\Documents and Settings\systemx\Desktop\UE_SUNUM\Slayt_resim\sdu_logo_icerik.png">
            <a:extLst>
              <a:ext uri="{FF2B5EF4-FFF2-40B4-BE49-F238E27FC236}">
                <a16:creationId xmlns:a16="http://schemas.microsoft.com/office/drawing/2014/main" id="{E1E5F3BC-5650-574B-8CE0-3DD0DDD39B43}"/>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3" name="Picture 3" descr="E:\Uzaktan Eğitim\UE_SUNUM\Slayt_resim\sdu_text_icerik_2.png">
            <a:extLst>
              <a:ext uri="{FF2B5EF4-FFF2-40B4-BE49-F238E27FC236}">
                <a16:creationId xmlns:a16="http://schemas.microsoft.com/office/drawing/2014/main" id="{EA4EB691-6F3D-E44E-AEB4-6F83664F3870}"/>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23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childTnLst>
                                </p:cTn>
                              </p:par>
                              <p:par>
                                <p:cTn id="16" presetID="2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ppt_x</p:attrName>
                                        </p:attrNameLst>
                                      </p:cBhvr>
                                      <p:tavLst>
                                        <p:tav tm="0">
                                          <p:val>
                                            <p:strVal val="#ppt_x-.2"/>
                                          </p:val>
                                        </p:tav>
                                        <p:tav tm="100000">
                                          <p:val>
                                            <p:strVal val="#ppt_x"/>
                                          </p:val>
                                        </p:tav>
                                      </p:tavLst>
                                    </p:anim>
                                    <p:anim calcmode="lin" valueType="num">
                                      <p:cBhvr>
                                        <p:cTn id="19" dur="5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1_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tr-TR"/>
              <a:t>Asıl başlık stili için tıklatın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A384AEE-717F-461B-8C96-9D64203B579B}" type="datetimeFigureOut">
              <a:rPr lang="tr-TR" smtClean="0"/>
              <a:t>16.4.2020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FB22F58-9FDF-474E-B940-7D6D24B82F83}" type="slidenum">
              <a:rPr lang="tr-TR" smtClean="0"/>
              <a:t>‹#›</a:t>
            </a:fld>
            <a:endParaRPr lang="tr-TR"/>
          </a:p>
        </p:txBody>
      </p:sp>
      <p:pic>
        <p:nvPicPr>
          <p:cNvPr id="10" name="Picture 2" descr="C:\Documents and Settings\systemx\Desktop\UE_SUNUM\Slayt_resim\ust_icerik.png">
            <a:extLst>
              <a:ext uri="{FF2B5EF4-FFF2-40B4-BE49-F238E27FC236}">
                <a16:creationId xmlns:a16="http://schemas.microsoft.com/office/drawing/2014/main" id="{C097CC64-DBE4-2543-9539-25C0D5F875B6}"/>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1" name="Picture 3" descr="C:\Documents and Settings\systemx\Desktop\UE_SUNUM\Slayt_resim\alt_icerik.png">
            <a:extLst>
              <a:ext uri="{FF2B5EF4-FFF2-40B4-BE49-F238E27FC236}">
                <a16:creationId xmlns:a16="http://schemas.microsoft.com/office/drawing/2014/main" id="{3817FF26-D818-A94F-8909-97CEDCAACAFE}"/>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2" name="Picture 4" descr="C:\Documents and Settings\systemx\Desktop\UE_SUNUM\Slayt_resim\sdu_logo_icerik.png">
            <a:extLst>
              <a:ext uri="{FF2B5EF4-FFF2-40B4-BE49-F238E27FC236}">
                <a16:creationId xmlns:a16="http://schemas.microsoft.com/office/drawing/2014/main" id="{0431534A-17E5-FB44-BC7A-5270DB4C1880}"/>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3" name="Picture 3" descr="E:\Uzaktan Eğitim\UE_SUNUM\Slayt_resim\sdu_text_icerik_2.png">
            <a:extLst>
              <a:ext uri="{FF2B5EF4-FFF2-40B4-BE49-F238E27FC236}">
                <a16:creationId xmlns:a16="http://schemas.microsoft.com/office/drawing/2014/main" id="{D605E63E-6EBB-FB48-AAED-BCC7C44FA766}"/>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2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childTnLst>
                                </p:cTn>
                              </p:par>
                              <p:par>
                                <p:cTn id="16" presetID="2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ppt_x</p:attrName>
                                        </p:attrNameLst>
                                      </p:cBhvr>
                                      <p:tavLst>
                                        <p:tav tm="0">
                                          <p:val>
                                            <p:strVal val="#ppt_x-.2"/>
                                          </p:val>
                                        </p:tav>
                                        <p:tav tm="100000">
                                          <p:val>
                                            <p:strVal val="#ppt_x"/>
                                          </p:val>
                                        </p:tav>
                                      </p:tavLst>
                                    </p:anim>
                                    <p:anim calcmode="lin" valueType="num">
                                      <p:cBhvr>
                                        <p:cTn id="19" dur="5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1 Başlık Yer Tutucusu"/>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tr-TR"/>
              <a:t>Asıl başlık stili için tıklatın</a:t>
            </a:r>
          </a:p>
        </p:txBody>
      </p:sp>
      <p:sp>
        <p:nvSpPr>
          <p:cNvPr id="1027" name="2 Metin Yer Tutucusu"/>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E7846A13-9F12-41DC-9D69-8D9BD821FB58}" type="datetimeFigureOut">
              <a:rPr lang="tr-TR"/>
              <a:pPr>
                <a:defRPr/>
              </a:pPr>
              <a:t>16.4.2020</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E12F3739-513E-4BB4-9AD0-B6BC58DA1F1B}" type="slidenum">
              <a:rPr lang="tr-TR"/>
              <a:pPr>
                <a:defRPr/>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aşlık 1">
            <a:extLst>
              <a:ext uri="{FF2B5EF4-FFF2-40B4-BE49-F238E27FC236}">
                <a16:creationId xmlns:a16="http://schemas.microsoft.com/office/drawing/2014/main" id="{77197998-B74C-5048-833E-E9C3434BEE9B}"/>
              </a:ext>
            </a:extLst>
          </p:cNvPr>
          <p:cNvSpPr>
            <a:spLocks noGrp="1"/>
          </p:cNvSpPr>
          <p:nvPr>
            <p:ph type="subTitle" idx="1"/>
          </p:nvPr>
        </p:nvSpPr>
        <p:spPr/>
        <p:txBody>
          <a:bodyPr/>
          <a:lstStyle/>
          <a:p>
            <a:r>
              <a:rPr lang="tr-TR" dirty="0"/>
              <a:t>Bilgisayar Ağları</a:t>
            </a:r>
          </a:p>
        </p:txBody>
      </p:sp>
      <p:sp>
        <p:nvSpPr>
          <p:cNvPr id="3" name="Metin Yer Tutucusu 2">
            <a:extLst>
              <a:ext uri="{FF2B5EF4-FFF2-40B4-BE49-F238E27FC236}">
                <a16:creationId xmlns:a16="http://schemas.microsoft.com/office/drawing/2014/main" id="{0744FE32-494C-4944-B4D7-865039D7B750}"/>
              </a:ext>
            </a:extLst>
          </p:cNvPr>
          <p:cNvSpPr>
            <a:spLocks noGrp="1"/>
          </p:cNvSpPr>
          <p:nvPr>
            <p:ph type="body" sz="quarter" idx="13"/>
          </p:nvPr>
        </p:nvSpPr>
        <p:spPr/>
        <p:txBody>
          <a:bodyPr/>
          <a:lstStyle/>
          <a:p>
            <a:r>
              <a:rPr lang="tr-TR" dirty="0"/>
              <a:t>Dr. </a:t>
            </a:r>
            <a:r>
              <a:rPr lang="tr-TR" dirty="0" err="1"/>
              <a:t>Öğr</a:t>
            </a:r>
            <a:r>
              <a:rPr lang="tr-TR" dirty="0"/>
              <a:t>. Üyesi </a:t>
            </a:r>
            <a:r>
              <a:rPr lang="tr-TR" dirty="0" err="1"/>
              <a:t>Mevlüt</a:t>
            </a:r>
            <a:r>
              <a:rPr lang="tr-TR" dirty="0"/>
              <a:t> ERSOY</a:t>
            </a:r>
          </a:p>
        </p:txBody>
      </p:sp>
      <p:sp>
        <p:nvSpPr>
          <p:cNvPr id="4" name="Metin Yer Tutucusu 3">
            <a:extLst>
              <a:ext uri="{FF2B5EF4-FFF2-40B4-BE49-F238E27FC236}">
                <a16:creationId xmlns:a16="http://schemas.microsoft.com/office/drawing/2014/main" id="{F119D374-AC3C-034C-8AB9-F889A26B42E3}"/>
              </a:ext>
            </a:extLst>
          </p:cNvPr>
          <p:cNvSpPr>
            <a:spLocks noGrp="1"/>
          </p:cNvSpPr>
          <p:nvPr>
            <p:ph type="body" sz="quarter" idx="14"/>
          </p:nvPr>
        </p:nvSpPr>
        <p:spPr/>
        <p:txBody>
          <a:bodyPr/>
          <a:lstStyle/>
          <a:p>
            <a:r>
              <a:rPr lang="tr-TR" dirty="0"/>
              <a:t>10. Hafta – </a:t>
            </a:r>
            <a:r>
              <a:rPr lang="tr-TR" dirty="0" err="1"/>
              <a:t>Router</a:t>
            </a:r>
            <a:r>
              <a:rPr lang="tr-TR" dirty="0"/>
              <a:t> Yapılandırma (</a:t>
            </a:r>
            <a:r>
              <a:rPr lang="tr-TR" dirty="0" err="1"/>
              <a:t>Static</a:t>
            </a:r>
            <a:r>
              <a:rPr lang="tr-TR" dirty="0"/>
              <a:t>)</a:t>
            </a:r>
          </a:p>
        </p:txBody>
      </p:sp>
    </p:spTree>
    <p:extLst>
      <p:ext uri="{BB962C8B-B14F-4D97-AF65-F5344CB8AC3E}">
        <p14:creationId xmlns:p14="http://schemas.microsoft.com/office/powerpoint/2010/main" val="1074566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1">
            <a:extLst>
              <a:ext uri="{FF2B5EF4-FFF2-40B4-BE49-F238E27FC236}">
                <a16:creationId xmlns:a16="http://schemas.microsoft.com/office/drawing/2014/main" id="{6C8684D2-542F-224D-8719-6747131F98D1}"/>
              </a:ext>
            </a:extLst>
          </p:cNvPr>
          <p:cNvSpPr>
            <a:spLocks noGrp="1"/>
          </p:cNvSpPr>
          <p:nvPr>
            <p:ph type="title"/>
          </p:nvPr>
        </p:nvSpPr>
        <p:spPr>
          <a:xfrm>
            <a:off x="313765" y="853415"/>
            <a:ext cx="8686800" cy="536114"/>
          </a:xfrm>
        </p:spPr>
        <p:txBody>
          <a:bodyPr>
            <a:normAutofit fontScale="90000"/>
          </a:bodyPr>
          <a:lstStyle/>
          <a:p>
            <a:r>
              <a:rPr lang="tr-TR" dirty="0"/>
              <a:t>Bölüm / Hafta Hedefleri</a:t>
            </a:r>
          </a:p>
        </p:txBody>
      </p:sp>
      <p:sp>
        <p:nvSpPr>
          <p:cNvPr id="5" name="İçerik Yer Tutucusu 2">
            <a:extLst>
              <a:ext uri="{FF2B5EF4-FFF2-40B4-BE49-F238E27FC236}">
                <a16:creationId xmlns:a16="http://schemas.microsoft.com/office/drawing/2014/main" id="{38A35BBB-8AFD-4941-AE2F-6BE7230124BA}"/>
              </a:ext>
            </a:extLst>
          </p:cNvPr>
          <p:cNvSpPr>
            <a:spLocks noGrp="1"/>
          </p:cNvSpPr>
          <p:nvPr>
            <p:ph idx="1"/>
          </p:nvPr>
        </p:nvSpPr>
        <p:spPr>
          <a:xfrm>
            <a:off x="313765" y="1515035"/>
            <a:ext cx="8686800" cy="4929308"/>
          </a:xfrm>
        </p:spPr>
        <p:txBody>
          <a:bodyPr/>
          <a:lstStyle/>
          <a:p>
            <a:r>
              <a:rPr lang="tr-TR" sz="2400" dirty="0"/>
              <a:t>Komut Satırı </a:t>
            </a:r>
            <a:r>
              <a:rPr lang="tr-TR" sz="2400" dirty="0" err="1"/>
              <a:t>Arayüzü</a:t>
            </a:r>
            <a:r>
              <a:rPr lang="tr-TR" sz="2400" dirty="0"/>
              <a:t> Kipleri</a:t>
            </a:r>
          </a:p>
          <a:p>
            <a:r>
              <a:rPr lang="tr-TR" sz="2400" dirty="0"/>
              <a:t>CISCO IOS </a:t>
            </a:r>
            <a:r>
              <a:rPr lang="tr-TR" sz="2400" dirty="0" err="1"/>
              <a:t>CLI’sını</a:t>
            </a:r>
            <a:r>
              <a:rPr lang="tr-TR" sz="2400" dirty="0"/>
              <a:t> Kullanma</a:t>
            </a:r>
          </a:p>
          <a:p>
            <a:r>
              <a:rPr lang="tr-TR" sz="2400" dirty="0"/>
              <a:t>Show (Göster) Komutlarını Kullanma</a:t>
            </a:r>
          </a:p>
          <a:p>
            <a:r>
              <a:rPr lang="tr-TR" sz="2400" dirty="0"/>
              <a:t>Temel Yapılandırma</a:t>
            </a:r>
          </a:p>
          <a:p>
            <a:r>
              <a:rPr lang="tr-TR" sz="2400" dirty="0"/>
              <a:t>Bir </a:t>
            </a:r>
            <a:r>
              <a:rPr lang="tr-TR" sz="2400" dirty="0" err="1"/>
              <a:t>Arayüzü</a:t>
            </a:r>
            <a:r>
              <a:rPr lang="tr-TR" sz="2400" dirty="0"/>
              <a:t> Yapılandırma</a:t>
            </a:r>
          </a:p>
          <a:p>
            <a:r>
              <a:rPr lang="tr-TR" sz="2400" dirty="0"/>
              <a:t>Bir Varsayılan Rota Yapılandırma</a:t>
            </a:r>
          </a:p>
          <a:p>
            <a:r>
              <a:rPr lang="tr-TR" sz="2400" dirty="0"/>
              <a:t>DHCP Hizmetlerini Yapılandırma</a:t>
            </a:r>
          </a:p>
          <a:p>
            <a:r>
              <a:rPr lang="tr-TR" sz="2400" dirty="0"/>
              <a:t>CISCO IOS </a:t>
            </a:r>
            <a:r>
              <a:rPr lang="tr-TR" sz="2400" dirty="0" err="1"/>
              <a:t>CLI’sı</a:t>
            </a:r>
            <a:r>
              <a:rPr lang="tr-TR" sz="2400" dirty="0"/>
              <a:t> Kullanarak Statik NAT Yapılandırma</a:t>
            </a:r>
          </a:p>
        </p:txBody>
      </p:sp>
    </p:spTree>
    <p:extLst>
      <p:ext uri="{BB962C8B-B14F-4D97-AF65-F5344CB8AC3E}">
        <p14:creationId xmlns:p14="http://schemas.microsoft.com/office/powerpoint/2010/main" val="1161259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33DEEF7-983A-49CD-A7F8-239B74ACDD7F}"/>
              </a:ext>
            </a:extLst>
          </p:cNvPr>
          <p:cNvSpPr>
            <a:spLocks noGrp="1"/>
          </p:cNvSpPr>
          <p:nvPr>
            <p:ph type="title"/>
          </p:nvPr>
        </p:nvSpPr>
        <p:spPr/>
        <p:txBody>
          <a:bodyPr>
            <a:normAutofit fontScale="90000"/>
          </a:bodyPr>
          <a:lstStyle/>
          <a:p>
            <a:r>
              <a:rPr lang="tr-TR" dirty="0"/>
              <a:t>Komut Satırı </a:t>
            </a:r>
            <a:r>
              <a:rPr lang="tr-TR" dirty="0" err="1"/>
              <a:t>Arayüzü</a:t>
            </a:r>
            <a:r>
              <a:rPr lang="tr-TR" dirty="0"/>
              <a:t> Kipleri</a:t>
            </a:r>
          </a:p>
        </p:txBody>
      </p:sp>
      <p:sp>
        <p:nvSpPr>
          <p:cNvPr id="3" name="İçerik Yer Tutucusu 2">
            <a:extLst>
              <a:ext uri="{FF2B5EF4-FFF2-40B4-BE49-F238E27FC236}">
                <a16:creationId xmlns:a16="http://schemas.microsoft.com/office/drawing/2014/main" id="{8EFDEC5B-82FC-4835-A8DB-F1AF305B5721}"/>
              </a:ext>
            </a:extLst>
          </p:cNvPr>
          <p:cNvSpPr>
            <a:spLocks noGrp="1"/>
          </p:cNvSpPr>
          <p:nvPr>
            <p:ph idx="1"/>
          </p:nvPr>
        </p:nvSpPr>
        <p:spPr>
          <a:xfrm>
            <a:off x="313765" y="1700092"/>
            <a:ext cx="8686800" cy="4929308"/>
          </a:xfrm>
        </p:spPr>
        <p:txBody>
          <a:bodyPr/>
          <a:lstStyle/>
          <a:p>
            <a:pPr marL="0" indent="0" algn="just">
              <a:buNone/>
            </a:pPr>
            <a:r>
              <a:rPr lang="tr-TR" sz="1600" dirty="0"/>
              <a:t>Bir cihazı yapılandırmak ve izlemek için Cisco IOS </a:t>
            </a:r>
            <a:r>
              <a:rPr lang="tr-TR" sz="1600" dirty="0" err="1"/>
              <a:t>CLI'yi</a:t>
            </a:r>
            <a:r>
              <a:rPr lang="tr-TR" sz="1600" dirty="0"/>
              <a:t> kullanmak, SDM kullanmaktan çok farklıdır. CLI, adım adım yapılandırma yardımı sunmaz; bu nedenle, kullanmak için daha fazla planlama ve uzmanlık gerektirir. </a:t>
            </a:r>
          </a:p>
          <a:p>
            <a:pPr marL="0" indent="0" algn="just">
              <a:buNone/>
            </a:pPr>
            <a:endParaRPr lang="tr-TR" sz="1600" dirty="0"/>
          </a:p>
          <a:p>
            <a:pPr marL="0" indent="0" algn="just">
              <a:buNone/>
            </a:pPr>
            <a:r>
              <a:rPr lang="tr-TR" sz="1600" b="1" dirty="0"/>
              <a:t>CLI Komut Kipleri</a:t>
            </a:r>
          </a:p>
          <a:p>
            <a:pPr marL="0" indent="0" algn="just">
              <a:buNone/>
            </a:pPr>
            <a:endParaRPr lang="tr-TR" sz="1600" dirty="0"/>
          </a:p>
          <a:p>
            <a:pPr marL="0" indent="0" algn="just">
              <a:buNone/>
            </a:pPr>
            <a:r>
              <a:rPr lang="tr-TR" sz="1600" dirty="0"/>
              <a:t>Cisco IOS, </a:t>
            </a:r>
            <a:r>
              <a:rPr lang="tr-TR" sz="1600" dirty="0" err="1"/>
              <a:t>CLI'ya</a:t>
            </a:r>
            <a:r>
              <a:rPr lang="tr-TR" sz="1600" dirty="0"/>
              <a:t> iki düzeyde erişimi destekler: kullanıcı EXEC kipi ve ayrıcalıklı EXEC kipi. </a:t>
            </a:r>
          </a:p>
          <a:p>
            <a:pPr marL="0" indent="0" algn="just">
              <a:buNone/>
            </a:pPr>
            <a:endParaRPr lang="tr-TR" sz="1600" dirty="0"/>
          </a:p>
          <a:p>
            <a:pPr marL="0" indent="0" algn="just">
              <a:buNone/>
            </a:pPr>
            <a:r>
              <a:rPr lang="tr-TR" sz="1600" dirty="0"/>
              <a:t>Bir yönlendirici veya başka bir Cisco IOS cihazı çalıştırıldığında, erişim düzeyi varsayılan olarak kullanıcı EXEC kipindedir. Bu kip, şu komut satırı istemiyle gösterilir: </a:t>
            </a:r>
          </a:p>
          <a:p>
            <a:pPr marL="0" indent="0" algn="just">
              <a:buNone/>
            </a:pPr>
            <a:endParaRPr lang="tr-TR" sz="1600" dirty="0"/>
          </a:p>
          <a:p>
            <a:pPr marL="0" indent="0" algn="just">
              <a:buNone/>
            </a:pPr>
            <a:r>
              <a:rPr lang="tr-TR" sz="1600" dirty="0" err="1"/>
              <a:t>Router</a:t>
            </a:r>
            <a:r>
              <a:rPr lang="tr-TR" sz="1600" dirty="0"/>
              <a:t>&gt;</a:t>
            </a:r>
          </a:p>
          <a:p>
            <a:pPr marL="0" indent="0" algn="just">
              <a:buNone/>
            </a:pPr>
            <a:endParaRPr lang="tr-TR" sz="1600" dirty="0"/>
          </a:p>
          <a:p>
            <a:pPr marL="0" indent="0" algn="just">
              <a:buNone/>
            </a:pPr>
            <a:r>
              <a:rPr lang="tr-TR" sz="1600" dirty="0"/>
              <a:t>Kullanıcı EXEC kipinde çalıştırılabilen komutlar, cihazın nasıl çalıştığıyla ilgili bilgi almakla ve bazı </a:t>
            </a:r>
            <a:r>
              <a:rPr lang="tr-TR" sz="1600" dirty="0" err="1"/>
              <a:t>show</a:t>
            </a:r>
            <a:r>
              <a:rPr lang="tr-TR" sz="1600" dirty="0"/>
              <a:t> (göster) komutlarını, </a:t>
            </a:r>
            <a:r>
              <a:rPr lang="tr-TR" sz="1600" dirty="0" err="1"/>
              <a:t>ping</a:t>
            </a:r>
            <a:r>
              <a:rPr lang="tr-TR" sz="1600" dirty="0"/>
              <a:t> komutunu ve </a:t>
            </a:r>
            <a:r>
              <a:rPr lang="tr-TR" sz="1600" dirty="0" err="1"/>
              <a:t>traceroute</a:t>
            </a:r>
            <a:r>
              <a:rPr lang="tr-TR" sz="1600" dirty="0"/>
              <a:t> yardımcı programlarını kullanarak sorun gidermekle sınırlıdır.</a:t>
            </a:r>
          </a:p>
        </p:txBody>
      </p:sp>
    </p:spTree>
    <p:extLst>
      <p:ext uri="{BB962C8B-B14F-4D97-AF65-F5344CB8AC3E}">
        <p14:creationId xmlns:p14="http://schemas.microsoft.com/office/powerpoint/2010/main" val="3979431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82874BF-FE22-43A7-B220-250A6770BCF3}"/>
              </a:ext>
            </a:extLst>
          </p:cNvPr>
          <p:cNvSpPr>
            <a:spLocks noGrp="1"/>
          </p:cNvSpPr>
          <p:nvPr>
            <p:ph type="title"/>
          </p:nvPr>
        </p:nvSpPr>
        <p:spPr/>
        <p:txBody>
          <a:bodyPr>
            <a:normAutofit fontScale="90000"/>
          </a:bodyPr>
          <a:lstStyle/>
          <a:p>
            <a:r>
              <a:rPr lang="tr-TR" dirty="0"/>
              <a:t>Komut Satırı </a:t>
            </a:r>
            <a:r>
              <a:rPr lang="tr-TR" dirty="0" err="1"/>
              <a:t>Arayüzü</a:t>
            </a:r>
            <a:r>
              <a:rPr lang="tr-TR" dirty="0"/>
              <a:t> Kipleri</a:t>
            </a:r>
          </a:p>
        </p:txBody>
      </p:sp>
      <p:sp>
        <p:nvSpPr>
          <p:cNvPr id="3" name="İçerik Yer Tutucusu 2">
            <a:extLst>
              <a:ext uri="{FF2B5EF4-FFF2-40B4-BE49-F238E27FC236}">
                <a16:creationId xmlns:a16="http://schemas.microsoft.com/office/drawing/2014/main" id="{C5437E96-3A80-4F0D-B4B8-7469973BFCBB}"/>
              </a:ext>
            </a:extLst>
          </p:cNvPr>
          <p:cNvSpPr>
            <a:spLocks noGrp="1"/>
          </p:cNvSpPr>
          <p:nvPr>
            <p:ph idx="1"/>
          </p:nvPr>
        </p:nvSpPr>
        <p:spPr/>
        <p:txBody>
          <a:bodyPr/>
          <a:lstStyle/>
          <a:p>
            <a:pPr marL="0" indent="0" algn="just">
              <a:buNone/>
            </a:pPr>
            <a:endParaRPr lang="tr-TR" sz="1600" dirty="0"/>
          </a:p>
          <a:p>
            <a:pPr marL="0" indent="0" algn="just">
              <a:buNone/>
            </a:pPr>
            <a:r>
              <a:rPr lang="tr-TR" sz="1600" dirty="0"/>
              <a:t>Cihazın çalışmasını değiştirebilecek komutları girmek için ayrıcalıklı düzeyde erişim gereklidir. Komut istemine </a:t>
            </a:r>
            <a:r>
              <a:rPr lang="tr-TR" sz="1600" dirty="0" err="1"/>
              <a:t>enable</a:t>
            </a:r>
            <a:r>
              <a:rPr lang="tr-TR" sz="1600" dirty="0"/>
              <a:t> (etkinleştir) yazıp </a:t>
            </a:r>
            <a:r>
              <a:rPr lang="tr-TR" sz="1600" dirty="0" err="1"/>
              <a:t>Enter</a:t>
            </a:r>
            <a:r>
              <a:rPr lang="tr-TR" sz="1600" dirty="0"/>
              <a:t> tuşuna basarak ayrıcalıklı EXEC kipini etkinleştirin. </a:t>
            </a:r>
          </a:p>
          <a:p>
            <a:pPr marL="0" indent="0" algn="just">
              <a:buNone/>
            </a:pPr>
            <a:endParaRPr lang="tr-TR" sz="1600" dirty="0"/>
          </a:p>
          <a:p>
            <a:pPr marL="0" indent="0" algn="just">
              <a:buNone/>
            </a:pPr>
            <a:r>
              <a:rPr lang="tr-TR" sz="1600" dirty="0"/>
              <a:t>Komut satırı istemi, kip değişikliğini yansıtacak biçimde değişir. Ayrıcalıklı EXEC kipi için istem şu şekildedir:</a:t>
            </a:r>
          </a:p>
          <a:p>
            <a:pPr marL="0" indent="0" algn="just">
              <a:buNone/>
            </a:pPr>
            <a:endParaRPr lang="tr-TR" sz="1600" dirty="0"/>
          </a:p>
          <a:p>
            <a:pPr marL="0" indent="0" algn="just">
              <a:buNone/>
            </a:pPr>
            <a:r>
              <a:rPr lang="tr-TR" sz="1600" dirty="0" err="1"/>
              <a:t>Router</a:t>
            </a:r>
            <a:r>
              <a:rPr lang="tr-TR" sz="1600" dirty="0"/>
              <a:t>#</a:t>
            </a:r>
          </a:p>
          <a:p>
            <a:pPr marL="0" indent="0" algn="just">
              <a:buNone/>
            </a:pPr>
            <a:endParaRPr lang="tr-TR" sz="1600" dirty="0"/>
          </a:p>
          <a:p>
            <a:pPr marL="0" indent="0" algn="just">
              <a:buNone/>
            </a:pPr>
            <a:r>
              <a:rPr lang="tr-TR" sz="1600" dirty="0"/>
              <a:t>Ayrıcalıklı kipi devre dışı bırakıp kullanıcı kipine dönmek için, komut isteminde </a:t>
            </a:r>
            <a:r>
              <a:rPr lang="tr-TR" sz="1600" dirty="0" err="1"/>
              <a:t>disable</a:t>
            </a:r>
            <a:r>
              <a:rPr lang="tr-TR" sz="1600" dirty="0"/>
              <a:t> (devre dışı bırak) veya </a:t>
            </a:r>
            <a:r>
              <a:rPr lang="tr-TR" sz="1600" dirty="0" err="1"/>
              <a:t>exit</a:t>
            </a:r>
            <a:r>
              <a:rPr lang="tr-TR" sz="1600" dirty="0"/>
              <a:t> (çıkış) yazın.</a:t>
            </a:r>
          </a:p>
          <a:p>
            <a:pPr marL="0" indent="0" algn="just">
              <a:buNone/>
            </a:pPr>
            <a:endParaRPr lang="tr-TR" sz="1600" dirty="0"/>
          </a:p>
          <a:p>
            <a:pPr marL="0" indent="0" algn="just">
              <a:buNone/>
            </a:pPr>
            <a:r>
              <a:rPr lang="tr-TR" sz="1600" dirty="0"/>
              <a:t>Her iki kip de bir parolayla veya bir kullanıcı adı ve parola kombinasyonuyla korunabilir.</a:t>
            </a:r>
          </a:p>
          <a:p>
            <a:pPr marL="0" indent="0" algn="just">
              <a:buNone/>
            </a:pPr>
            <a:endParaRPr lang="tr-TR" sz="1600" dirty="0"/>
          </a:p>
          <a:p>
            <a:pPr marL="0" indent="0" algn="just">
              <a:buNone/>
            </a:pPr>
            <a:endParaRPr lang="tr-TR" sz="1600" dirty="0"/>
          </a:p>
          <a:p>
            <a:pPr marL="0" indent="0" algn="just">
              <a:buNone/>
            </a:pPr>
            <a:endParaRPr lang="tr-TR" sz="1600" dirty="0"/>
          </a:p>
        </p:txBody>
      </p:sp>
    </p:spTree>
    <p:extLst>
      <p:ext uri="{BB962C8B-B14F-4D97-AF65-F5344CB8AC3E}">
        <p14:creationId xmlns:p14="http://schemas.microsoft.com/office/powerpoint/2010/main" val="1985888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7388418-049F-4F30-B108-FE3DC2D8A0DF}"/>
              </a:ext>
            </a:extLst>
          </p:cNvPr>
          <p:cNvSpPr>
            <a:spLocks noGrp="1"/>
          </p:cNvSpPr>
          <p:nvPr>
            <p:ph type="title"/>
          </p:nvPr>
        </p:nvSpPr>
        <p:spPr/>
        <p:txBody>
          <a:bodyPr>
            <a:normAutofit fontScale="90000"/>
          </a:bodyPr>
          <a:lstStyle/>
          <a:p>
            <a:r>
              <a:rPr lang="tr-TR" dirty="0"/>
              <a:t>Komut Satırı </a:t>
            </a:r>
            <a:r>
              <a:rPr lang="tr-TR" dirty="0" err="1"/>
              <a:t>Arayüzü</a:t>
            </a:r>
            <a:r>
              <a:rPr lang="tr-TR" dirty="0"/>
              <a:t> Kipleri</a:t>
            </a:r>
          </a:p>
        </p:txBody>
      </p:sp>
      <p:sp>
        <p:nvSpPr>
          <p:cNvPr id="3" name="İçerik Yer Tutucusu 2">
            <a:extLst>
              <a:ext uri="{FF2B5EF4-FFF2-40B4-BE49-F238E27FC236}">
                <a16:creationId xmlns:a16="http://schemas.microsoft.com/office/drawing/2014/main" id="{E94EAD50-5613-46D5-87CE-2C91422E1721}"/>
              </a:ext>
            </a:extLst>
          </p:cNvPr>
          <p:cNvSpPr>
            <a:spLocks noGrp="1"/>
          </p:cNvSpPr>
          <p:nvPr>
            <p:ph idx="1"/>
          </p:nvPr>
        </p:nvSpPr>
        <p:spPr/>
        <p:txBody>
          <a:bodyPr/>
          <a:lstStyle/>
          <a:p>
            <a:pPr marL="0" indent="0" algn="just">
              <a:buNone/>
            </a:pPr>
            <a:r>
              <a:rPr lang="tr-TR" sz="1600" dirty="0"/>
              <a:t>Bir cihazı kurmak için çeşitli yapılandırma kipleri kullanılır. Bir Cisco IOS cihazını yapılandırma işlemi, ayrıcalıklı EXEC kipine girmekle başlar. Kullanıcı, ayrıcalıklı EXEC kipinden diğer yapılandırma kiplerine erişebilir.</a:t>
            </a:r>
          </a:p>
          <a:p>
            <a:pPr marL="0" indent="0" algn="just">
              <a:buNone/>
            </a:pPr>
            <a:endParaRPr lang="tr-TR" sz="1600" dirty="0"/>
          </a:p>
          <a:p>
            <a:pPr marL="0" indent="0" algn="just">
              <a:buNone/>
            </a:pPr>
            <a:r>
              <a:rPr lang="tr-TR" sz="1600" dirty="0"/>
              <a:t>Çoğu durumda komutlar, çalışan yapılandırma dosyasına, bir uçbirim bağlantısı kullanılarak uygulanır. Bu komutları kullanmak için kullanıcının küresel yapılandırma kipine girmesi gerekir. </a:t>
            </a:r>
          </a:p>
          <a:p>
            <a:pPr marL="0" indent="0" algn="just">
              <a:buNone/>
            </a:pPr>
            <a:endParaRPr lang="tr-TR" sz="1600" dirty="0"/>
          </a:p>
          <a:p>
            <a:pPr marL="0" indent="0" algn="just">
              <a:buNone/>
            </a:pPr>
            <a:r>
              <a:rPr lang="tr-TR" sz="1600" dirty="0"/>
              <a:t>Küresel yapılandırmaya girmek için </a:t>
            </a:r>
            <a:r>
              <a:rPr lang="tr-TR" sz="1600" dirty="0" err="1"/>
              <a:t>configure</a:t>
            </a:r>
            <a:r>
              <a:rPr lang="tr-TR" sz="1600" dirty="0"/>
              <a:t> terminal (uçbirimi yapılandır) veya </a:t>
            </a:r>
            <a:r>
              <a:rPr lang="tr-TR" sz="1600" dirty="0" err="1"/>
              <a:t>config</a:t>
            </a:r>
            <a:r>
              <a:rPr lang="tr-TR" sz="1600" dirty="0"/>
              <a:t> t komutunu yazın. Küresel yapılandırma kipi, şu komut satırı istemiyle gösterilir:</a:t>
            </a:r>
          </a:p>
          <a:p>
            <a:pPr marL="0" indent="0" algn="just">
              <a:buNone/>
            </a:pPr>
            <a:endParaRPr lang="tr-TR" sz="1600" dirty="0"/>
          </a:p>
          <a:p>
            <a:pPr marL="0" indent="0" algn="just">
              <a:buNone/>
            </a:pPr>
            <a:r>
              <a:rPr lang="tr-TR" sz="1600" dirty="0" err="1"/>
              <a:t>Router</a:t>
            </a:r>
            <a:r>
              <a:rPr lang="tr-TR" sz="1600" dirty="0"/>
              <a:t>(</a:t>
            </a:r>
            <a:r>
              <a:rPr lang="tr-TR" sz="1600" dirty="0" err="1"/>
              <a:t>config</a:t>
            </a:r>
            <a:r>
              <a:rPr lang="tr-TR" sz="1600" dirty="0"/>
              <a:t>)#</a:t>
            </a:r>
          </a:p>
          <a:p>
            <a:pPr marL="0" indent="0" algn="just">
              <a:buNone/>
            </a:pPr>
            <a:endParaRPr lang="tr-TR" sz="1600" dirty="0"/>
          </a:p>
          <a:p>
            <a:pPr marL="0" indent="0" algn="just">
              <a:buNone/>
            </a:pPr>
            <a:r>
              <a:rPr lang="tr-TR" sz="1600" dirty="0"/>
              <a:t>Bu kipte girilen komutlar hemen etkinleşir ve cihazın işleyişini değiştirebilir. </a:t>
            </a:r>
          </a:p>
          <a:p>
            <a:pPr marL="0" indent="0" algn="just">
              <a:buNone/>
            </a:pPr>
            <a:endParaRPr lang="tr-TR" sz="1600" dirty="0"/>
          </a:p>
          <a:p>
            <a:pPr marL="0" indent="0" algn="just">
              <a:buNone/>
            </a:pPr>
            <a:r>
              <a:rPr lang="tr-TR" sz="1600" dirty="0"/>
              <a:t>Yönetici, küresel yapılandırma kipinden diğer alt kiplere girebilir. </a:t>
            </a:r>
          </a:p>
        </p:txBody>
      </p:sp>
    </p:spTree>
    <p:extLst>
      <p:ext uri="{BB962C8B-B14F-4D97-AF65-F5344CB8AC3E}">
        <p14:creationId xmlns:p14="http://schemas.microsoft.com/office/powerpoint/2010/main" val="3395440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0FE0FB1-38F4-47A4-9397-E77AB19EEC51}"/>
              </a:ext>
            </a:extLst>
          </p:cNvPr>
          <p:cNvSpPr>
            <a:spLocks noGrp="1"/>
          </p:cNvSpPr>
          <p:nvPr>
            <p:ph type="title"/>
          </p:nvPr>
        </p:nvSpPr>
        <p:spPr/>
        <p:txBody>
          <a:bodyPr>
            <a:normAutofit fontScale="90000"/>
          </a:bodyPr>
          <a:lstStyle/>
          <a:p>
            <a:r>
              <a:rPr lang="tr-TR" dirty="0"/>
              <a:t>Komut Satırı </a:t>
            </a:r>
            <a:r>
              <a:rPr lang="tr-TR" dirty="0" err="1"/>
              <a:t>Arayüzü</a:t>
            </a:r>
            <a:r>
              <a:rPr lang="tr-TR" dirty="0"/>
              <a:t> Kipleri</a:t>
            </a:r>
          </a:p>
        </p:txBody>
      </p:sp>
      <p:sp>
        <p:nvSpPr>
          <p:cNvPr id="3" name="İçerik Yer Tutucusu 2">
            <a:extLst>
              <a:ext uri="{FF2B5EF4-FFF2-40B4-BE49-F238E27FC236}">
                <a16:creationId xmlns:a16="http://schemas.microsoft.com/office/drawing/2014/main" id="{5468081A-6A2E-427C-B477-2D88740862A7}"/>
              </a:ext>
            </a:extLst>
          </p:cNvPr>
          <p:cNvSpPr>
            <a:spLocks noGrp="1"/>
          </p:cNvSpPr>
          <p:nvPr>
            <p:ph idx="1"/>
          </p:nvPr>
        </p:nvSpPr>
        <p:spPr/>
        <p:txBody>
          <a:bodyPr/>
          <a:lstStyle/>
          <a:p>
            <a:pPr marL="0" indent="0" algn="just">
              <a:buNone/>
            </a:pPr>
            <a:endParaRPr lang="tr-TR" sz="1600" dirty="0"/>
          </a:p>
          <a:p>
            <a:pPr marL="0" indent="0" algn="just">
              <a:buNone/>
            </a:pPr>
            <a:r>
              <a:rPr lang="tr-TR" sz="1600" dirty="0"/>
              <a:t>LAN ve WAN </a:t>
            </a:r>
            <a:r>
              <a:rPr lang="tr-TR" sz="1600" dirty="0" err="1"/>
              <a:t>arayüzlerini</a:t>
            </a:r>
            <a:r>
              <a:rPr lang="tr-TR" sz="1600" dirty="0"/>
              <a:t> yapılandırmak için </a:t>
            </a:r>
            <a:r>
              <a:rPr lang="tr-TR" sz="1600" dirty="0" err="1"/>
              <a:t>arayüz</a:t>
            </a:r>
            <a:r>
              <a:rPr lang="tr-TR" sz="1600" dirty="0"/>
              <a:t> yapılandırma kipi kullanılır. Küresel yapılandırmadan </a:t>
            </a:r>
            <a:r>
              <a:rPr lang="tr-TR" sz="1600" dirty="0" err="1"/>
              <a:t>arayüz</a:t>
            </a:r>
            <a:r>
              <a:rPr lang="tr-TR" sz="1600" dirty="0"/>
              <a:t> yapılandırma kipine erişmek için, </a:t>
            </a:r>
            <a:r>
              <a:rPr lang="tr-TR" sz="1600" dirty="0" err="1"/>
              <a:t>interface</a:t>
            </a:r>
            <a:r>
              <a:rPr lang="tr-TR" sz="1600" dirty="0"/>
              <a:t> [</a:t>
            </a:r>
            <a:r>
              <a:rPr lang="tr-TR" sz="1600" dirty="0" err="1"/>
              <a:t>type</a:t>
            </a:r>
            <a:r>
              <a:rPr lang="tr-TR" sz="1600" dirty="0"/>
              <a:t>] [</a:t>
            </a:r>
            <a:r>
              <a:rPr lang="tr-TR" sz="1600" dirty="0" err="1"/>
              <a:t>number</a:t>
            </a:r>
            <a:r>
              <a:rPr lang="tr-TR" sz="1600" dirty="0"/>
              <a:t>] (</a:t>
            </a:r>
            <a:r>
              <a:rPr lang="tr-TR" sz="1600" dirty="0" err="1"/>
              <a:t>arayüz</a:t>
            </a:r>
            <a:r>
              <a:rPr lang="tr-TR" sz="1600" dirty="0"/>
              <a:t> [tip] [numara]) komutunu girin. </a:t>
            </a:r>
            <a:r>
              <a:rPr lang="tr-TR" sz="1600" dirty="0" err="1"/>
              <a:t>Arayüz</a:t>
            </a:r>
            <a:r>
              <a:rPr lang="tr-TR" sz="1600" dirty="0"/>
              <a:t> yapılandırma kipi, şu komut satırı istemiyle gösterilir:</a:t>
            </a:r>
          </a:p>
          <a:p>
            <a:pPr marL="0" indent="0" algn="just">
              <a:buNone/>
            </a:pPr>
            <a:endParaRPr lang="tr-TR" sz="1600" dirty="0"/>
          </a:p>
          <a:p>
            <a:pPr marL="0" indent="0" algn="just">
              <a:buNone/>
            </a:pPr>
            <a:r>
              <a:rPr lang="tr-TR" sz="1600" dirty="0" err="1"/>
              <a:t>Router</a:t>
            </a:r>
            <a:r>
              <a:rPr lang="tr-TR" sz="1600" dirty="0"/>
              <a:t>(</a:t>
            </a:r>
            <a:r>
              <a:rPr lang="tr-TR" sz="1600" dirty="0" err="1"/>
              <a:t>config-if</a:t>
            </a:r>
            <a:r>
              <a:rPr lang="tr-TR" sz="1600" dirty="0"/>
              <a:t>)#</a:t>
            </a:r>
          </a:p>
          <a:p>
            <a:pPr marL="0" indent="0" algn="just">
              <a:buNone/>
            </a:pPr>
            <a:endParaRPr lang="tr-TR" sz="1600" dirty="0"/>
          </a:p>
          <a:p>
            <a:pPr marL="0" indent="0" algn="just">
              <a:buNone/>
            </a:pPr>
            <a:r>
              <a:rPr lang="tr-TR" sz="1600" dirty="0"/>
              <a:t>Yaygın olarak kullanılan diğer bir alt kip de, aşağıdaki istem ile gösterilen yönlendirici yapılandırma alt kipidir:</a:t>
            </a:r>
          </a:p>
          <a:p>
            <a:pPr marL="0" indent="0" algn="just">
              <a:buNone/>
            </a:pPr>
            <a:endParaRPr lang="tr-TR" sz="1600" dirty="0"/>
          </a:p>
          <a:p>
            <a:pPr marL="0" indent="0" algn="just">
              <a:buNone/>
            </a:pPr>
            <a:r>
              <a:rPr lang="tr-TR" sz="1600" dirty="0" err="1"/>
              <a:t>Router</a:t>
            </a:r>
            <a:r>
              <a:rPr lang="tr-TR" sz="1600" dirty="0"/>
              <a:t>(</a:t>
            </a:r>
            <a:r>
              <a:rPr lang="tr-TR" sz="1600" dirty="0" err="1"/>
              <a:t>config-router</a:t>
            </a:r>
            <a:r>
              <a:rPr lang="tr-TR" sz="1600" dirty="0"/>
              <a:t>)#</a:t>
            </a:r>
          </a:p>
          <a:p>
            <a:pPr marL="0" indent="0" algn="just">
              <a:buNone/>
            </a:pPr>
            <a:endParaRPr lang="tr-TR" sz="1600" dirty="0"/>
          </a:p>
          <a:p>
            <a:pPr marL="0" indent="0" algn="just">
              <a:buNone/>
            </a:pPr>
            <a:r>
              <a:rPr lang="tr-TR" sz="1600" dirty="0"/>
              <a:t>Bu kip, yönlendirme parametrelerini yapılandırmak için kullanılır.</a:t>
            </a:r>
          </a:p>
        </p:txBody>
      </p:sp>
    </p:spTree>
    <p:extLst>
      <p:ext uri="{BB962C8B-B14F-4D97-AF65-F5344CB8AC3E}">
        <p14:creationId xmlns:p14="http://schemas.microsoft.com/office/powerpoint/2010/main" val="2123553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36BEC1D-7F26-463B-BC01-3FE8805579DD}"/>
              </a:ext>
            </a:extLst>
          </p:cNvPr>
          <p:cNvSpPr>
            <a:spLocks noGrp="1"/>
          </p:cNvSpPr>
          <p:nvPr>
            <p:ph type="title"/>
          </p:nvPr>
        </p:nvSpPr>
        <p:spPr/>
        <p:txBody>
          <a:bodyPr>
            <a:normAutofit fontScale="90000"/>
          </a:bodyPr>
          <a:lstStyle/>
          <a:p>
            <a:r>
              <a:rPr lang="tr-TR" dirty="0"/>
              <a:t>Komut Satırı </a:t>
            </a:r>
            <a:r>
              <a:rPr lang="tr-TR" dirty="0" err="1"/>
              <a:t>Arayüzü</a:t>
            </a:r>
            <a:r>
              <a:rPr lang="tr-TR" dirty="0"/>
              <a:t> Kipleri</a:t>
            </a:r>
          </a:p>
        </p:txBody>
      </p:sp>
      <p:pic>
        <p:nvPicPr>
          <p:cNvPr id="4" name="Resim 3">
            <a:extLst>
              <a:ext uri="{FF2B5EF4-FFF2-40B4-BE49-F238E27FC236}">
                <a16:creationId xmlns:a16="http://schemas.microsoft.com/office/drawing/2014/main" id="{8A440B18-853F-4B4F-BA69-EAA6CA2F9318}"/>
              </a:ext>
            </a:extLst>
          </p:cNvPr>
          <p:cNvPicPr>
            <a:picLocks noChangeAspect="1"/>
          </p:cNvPicPr>
          <p:nvPr/>
        </p:nvPicPr>
        <p:blipFill>
          <a:blip r:embed="rId2"/>
          <a:stretch>
            <a:fillRect/>
          </a:stretch>
        </p:blipFill>
        <p:spPr>
          <a:xfrm>
            <a:off x="1149080" y="1600200"/>
            <a:ext cx="7016169" cy="4712774"/>
          </a:xfrm>
          <a:prstGeom prst="rect">
            <a:avLst/>
          </a:prstGeom>
        </p:spPr>
      </p:pic>
    </p:spTree>
    <p:extLst>
      <p:ext uri="{BB962C8B-B14F-4D97-AF65-F5344CB8AC3E}">
        <p14:creationId xmlns:p14="http://schemas.microsoft.com/office/powerpoint/2010/main" val="4291018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C8CE84-7638-4892-A746-FB8777742E6D}"/>
              </a:ext>
            </a:extLst>
          </p:cNvPr>
          <p:cNvSpPr>
            <a:spLocks noGrp="1"/>
          </p:cNvSpPr>
          <p:nvPr>
            <p:ph type="title"/>
          </p:nvPr>
        </p:nvSpPr>
        <p:spPr/>
        <p:txBody>
          <a:bodyPr>
            <a:normAutofit fontScale="90000"/>
          </a:bodyPr>
          <a:lstStyle/>
          <a:p>
            <a:r>
              <a:rPr lang="tr-TR" dirty="0"/>
              <a:t>CISCO IOS </a:t>
            </a:r>
            <a:r>
              <a:rPr lang="tr-TR" dirty="0" err="1"/>
              <a:t>CLI’sını</a:t>
            </a:r>
            <a:r>
              <a:rPr lang="tr-TR" dirty="0"/>
              <a:t> Kullanma</a:t>
            </a:r>
          </a:p>
        </p:txBody>
      </p:sp>
      <p:sp>
        <p:nvSpPr>
          <p:cNvPr id="3" name="İçerik Yer Tutucusu 2">
            <a:extLst>
              <a:ext uri="{FF2B5EF4-FFF2-40B4-BE49-F238E27FC236}">
                <a16:creationId xmlns:a16="http://schemas.microsoft.com/office/drawing/2014/main" id="{139678E1-6E9C-40DE-8418-4D41B86DFE16}"/>
              </a:ext>
            </a:extLst>
          </p:cNvPr>
          <p:cNvSpPr>
            <a:spLocks noGrp="1"/>
          </p:cNvSpPr>
          <p:nvPr>
            <p:ph idx="1"/>
          </p:nvPr>
        </p:nvSpPr>
        <p:spPr/>
        <p:txBody>
          <a:bodyPr/>
          <a:lstStyle/>
          <a:p>
            <a:pPr marL="0" indent="0" algn="just">
              <a:buNone/>
            </a:pPr>
            <a:r>
              <a:rPr lang="tr-TR" sz="1400" dirty="0"/>
              <a:t>Cisco IOS </a:t>
            </a:r>
            <a:r>
              <a:rPr lang="tr-TR" sz="1400" dirty="0" err="1"/>
              <a:t>CLI'sı</a:t>
            </a:r>
            <a:r>
              <a:rPr lang="tr-TR" sz="1400" dirty="0"/>
              <a:t>, bir cihazı yapılandırmak için ihtiyaç duyulan komutları hatırlamaya yardımcı olan özellikler içerir. Bu özellikler, ağ teknisyenlerinin yönlendiricileri yapılandırmak için Cisco IOS </a:t>
            </a:r>
            <a:r>
              <a:rPr lang="tr-TR" sz="1400" dirty="0" err="1"/>
              <a:t>CLI'sını</a:t>
            </a:r>
            <a:r>
              <a:rPr lang="tr-TR" sz="1400" dirty="0"/>
              <a:t> tercih etmelerinin nedenlerinden biridir.</a:t>
            </a:r>
          </a:p>
          <a:p>
            <a:pPr marL="0" indent="0" algn="just">
              <a:buNone/>
            </a:pPr>
            <a:endParaRPr lang="tr-TR" sz="1400" dirty="0"/>
          </a:p>
          <a:p>
            <a:pPr marL="0" indent="0" algn="just">
              <a:buNone/>
            </a:pPr>
            <a:r>
              <a:rPr lang="tr-TR" sz="1400" dirty="0"/>
              <a:t>Bir cihazı yapılandırırken bağlama duyarlı yardım özelliği, özellikle yararlıdır. Komut istemine </a:t>
            </a:r>
            <a:r>
              <a:rPr lang="tr-TR" sz="1400" dirty="0" err="1"/>
              <a:t>help</a:t>
            </a:r>
            <a:r>
              <a:rPr lang="tr-TR" sz="1400" dirty="0"/>
              <a:t> (yardım) veya ? yazıldığında, yardım sisteminin kısa bir açıklaması görüntülenir.</a:t>
            </a:r>
          </a:p>
          <a:p>
            <a:pPr marL="0" indent="0" algn="just">
              <a:buNone/>
            </a:pPr>
            <a:endParaRPr lang="tr-TR" sz="1400" dirty="0"/>
          </a:p>
          <a:p>
            <a:pPr marL="0" indent="0" algn="just">
              <a:buNone/>
            </a:pPr>
            <a:r>
              <a:rPr lang="tr-TR" sz="1400" dirty="0" err="1"/>
              <a:t>Router</a:t>
            </a:r>
            <a:r>
              <a:rPr lang="tr-TR" sz="1400" dirty="0"/>
              <a:t># </a:t>
            </a:r>
            <a:r>
              <a:rPr lang="tr-TR" sz="1400" dirty="0" err="1"/>
              <a:t>help</a:t>
            </a:r>
            <a:endParaRPr lang="tr-TR" sz="1400" dirty="0"/>
          </a:p>
          <a:p>
            <a:pPr marL="0" indent="0" algn="just">
              <a:buNone/>
            </a:pPr>
            <a:endParaRPr lang="tr-TR" sz="1400" dirty="0"/>
          </a:p>
          <a:p>
            <a:pPr marL="0" indent="0" algn="just">
              <a:buNone/>
            </a:pPr>
            <a:r>
              <a:rPr lang="tr-TR" sz="1400" dirty="0"/>
              <a:t>Bağlama duyarlı yardım, bir komutu tamamlamak için öneriler sunabilir. Bir komutun ilk birkaç karakteri biliniyor ancak tamamı bilinmiyorsa, komutun mümkün olduğu kadar çok karakterini yazın ve ardından ? işareti koyun. Komut karakterleri ile ? işareti arasında boşluk bırakmamanız gerektiğini unutmayın.</a:t>
            </a:r>
          </a:p>
          <a:p>
            <a:pPr marL="0" indent="0" algn="just">
              <a:buNone/>
            </a:pPr>
            <a:endParaRPr lang="tr-TR" sz="1400" dirty="0"/>
          </a:p>
          <a:p>
            <a:pPr marL="0" indent="0" algn="just">
              <a:buNone/>
            </a:pPr>
            <a:r>
              <a:rPr lang="tr-TR" sz="1400" dirty="0"/>
              <a:t>Ayrıca, belirli bir komut için parametre seçeneklerinin listesini almak için, komutun bir bölümünü girin, ardından bir boşluk bırakın ve ? işaretini koyun. Örneğin, </a:t>
            </a:r>
            <a:r>
              <a:rPr lang="tr-TR" sz="1400" dirty="0" err="1"/>
              <a:t>configure</a:t>
            </a:r>
            <a:r>
              <a:rPr lang="tr-TR" sz="1400" dirty="0"/>
              <a:t> (yapılandır) komutunu girip ardından bir boşluk bırakarak ? işaretini koyduğunuzda, olası çeşitlemelerin listesi görüntülenir. Komut dizesini tamamlamak için maddelerden birini seçin. Komut dizesi tamamlandığında, &lt;</a:t>
            </a:r>
            <a:r>
              <a:rPr lang="tr-TR" sz="1400" dirty="0" err="1"/>
              <a:t>cr</a:t>
            </a:r>
            <a:r>
              <a:rPr lang="tr-TR" sz="1400" dirty="0"/>
              <a:t>&gt; görüntülenir. Komutu kullanmak için </a:t>
            </a:r>
            <a:r>
              <a:rPr lang="tr-TR" sz="1400" dirty="0" err="1"/>
              <a:t>Enter</a:t>
            </a:r>
            <a:r>
              <a:rPr lang="tr-TR" sz="1400" dirty="0"/>
              <a:t> tuşuna basın. </a:t>
            </a:r>
          </a:p>
          <a:p>
            <a:pPr marL="0" indent="0" algn="just">
              <a:buNone/>
            </a:pPr>
            <a:endParaRPr lang="tr-TR" sz="1400" dirty="0"/>
          </a:p>
          <a:p>
            <a:pPr marL="0" indent="0" algn="just">
              <a:buNone/>
            </a:pPr>
            <a:r>
              <a:rPr lang="tr-TR" sz="1400" dirty="0"/>
              <a:t>? işareti konmuşsa ve eşleşen bir komut çıkmamışsa, yardım listesi boş olacaktır. Bu, komut dizesinin desteklenen bir komut olmadığını gösterir.</a:t>
            </a:r>
          </a:p>
        </p:txBody>
      </p:sp>
    </p:spTree>
    <p:extLst>
      <p:ext uri="{BB962C8B-B14F-4D97-AF65-F5344CB8AC3E}">
        <p14:creationId xmlns:p14="http://schemas.microsoft.com/office/powerpoint/2010/main" val="2494930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EEC44B7-1131-42B3-96FB-0EE07FA54959}"/>
              </a:ext>
            </a:extLst>
          </p:cNvPr>
          <p:cNvSpPr>
            <a:spLocks noGrp="1"/>
          </p:cNvSpPr>
          <p:nvPr>
            <p:ph type="title"/>
          </p:nvPr>
        </p:nvSpPr>
        <p:spPr/>
        <p:txBody>
          <a:bodyPr>
            <a:normAutofit fontScale="90000"/>
          </a:bodyPr>
          <a:lstStyle/>
          <a:p>
            <a:r>
              <a:rPr lang="tr-TR" dirty="0"/>
              <a:t>CISCO IOS </a:t>
            </a:r>
            <a:r>
              <a:rPr lang="tr-TR" dirty="0" err="1"/>
              <a:t>CLI’sını</a:t>
            </a:r>
            <a:r>
              <a:rPr lang="tr-TR" dirty="0"/>
              <a:t> Kullanma</a:t>
            </a:r>
          </a:p>
        </p:txBody>
      </p:sp>
      <p:sp>
        <p:nvSpPr>
          <p:cNvPr id="3" name="İçerik Yer Tutucusu 2">
            <a:extLst>
              <a:ext uri="{FF2B5EF4-FFF2-40B4-BE49-F238E27FC236}">
                <a16:creationId xmlns:a16="http://schemas.microsoft.com/office/drawing/2014/main" id="{8507B660-4D82-45D1-A9FA-923154553EFB}"/>
              </a:ext>
            </a:extLst>
          </p:cNvPr>
          <p:cNvSpPr>
            <a:spLocks noGrp="1"/>
          </p:cNvSpPr>
          <p:nvPr>
            <p:ph idx="1"/>
          </p:nvPr>
        </p:nvSpPr>
        <p:spPr/>
        <p:txBody>
          <a:bodyPr/>
          <a:lstStyle/>
          <a:p>
            <a:pPr marL="0" indent="0" algn="just">
              <a:buNone/>
            </a:pPr>
            <a:r>
              <a:rPr lang="tr-TR" sz="1600" dirty="0"/>
              <a:t>Kullanıcılar bazen bir komutu yazarken hata yapar. CLI, tanınmayan veya eksik bir komut girildiğinde bunu belirtir. % simgesi, bir hata iletisinin başlangıcını belirtir. Örneğin, </a:t>
            </a:r>
            <a:r>
              <a:rPr lang="tr-TR" sz="1600" dirty="0" err="1"/>
              <a:t>interface</a:t>
            </a:r>
            <a:r>
              <a:rPr lang="tr-TR" sz="1600" dirty="0"/>
              <a:t> (</a:t>
            </a:r>
            <a:r>
              <a:rPr lang="tr-TR" sz="1600" dirty="0" err="1"/>
              <a:t>arayüz</a:t>
            </a:r>
            <a:r>
              <a:rPr lang="tr-TR" sz="1600" dirty="0"/>
              <a:t>) komutu başka bir parametre olmadan girilirse, bunun eksik bir komut olduğunu belirten bir hata iletisi görüntülenir:</a:t>
            </a:r>
          </a:p>
          <a:p>
            <a:pPr marL="0" indent="0" algn="just">
              <a:buNone/>
            </a:pPr>
            <a:endParaRPr lang="tr-TR" sz="1600" dirty="0"/>
          </a:p>
          <a:p>
            <a:pPr marL="0" indent="0" algn="just">
              <a:buNone/>
            </a:pPr>
            <a:r>
              <a:rPr lang="tr-TR" sz="1600" dirty="0"/>
              <a:t>% Eksik komut</a:t>
            </a:r>
          </a:p>
          <a:p>
            <a:pPr marL="0" indent="0" algn="just">
              <a:buNone/>
            </a:pPr>
            <a:endParaRPr lang="tr-TR" sz="1600" dirty="0"/>
          </a:p>
          <a:p>
            <a:pPr marL="0" indent="0" algn="just">
              <a:buNone/>
            </a:pPr>
            <a:r>
              <a:rPr lang="tr-TR" sz="1600" dirty="0"/>
              <a:t>Kullanılabilir parametrelerin bir listesini almak için ? işaretini kullanın. </a:t>
            </a:r>
          </a:p>
          <a:p>
            <a:pPr marL="0" indent="0" algn="just">
              <a:buNone/>
            </a:pPr>
            <a:endParaRPr lang="tr-TR" sz="1600" dirty="0"/>
          </a:p>
          <a:p>
            <a:pPr marL="0" indent="0" algn="just">
              <a:buNone/>
            </a:pPr>
            <a:r>
              <a:rPr lang="tr-TR" sz="1600" dirty="0"/>
              <a:t>Eksik bir komut girilirse, şu hata iletisi görüntülenir:</a:t>
            </a:r>
          </a:p>
          <a:p>
            <a:pPr marL="0" indent="0" algn="just">
              <a:buNone/>
            </a:pPr>
            <a:endParaRPr lang="tr-TR" sz="1600" dirty="0"/>
          </a:p>
          <a:p>
            <a:pPr marL="0" indent="0" algn="just">
              <a:buNone/>
            </a:pPr>
            <a:r>
              <a:rPr lang="tr-TR" sz="1600" dirty="0"/>
              <a:t>% Geçersiz giriş algılandı</a:t>
            </a:r>
          </a:p>
          <a:p>
            <a:pPr marL="0" indent="0" algn="just">
              <a:buNone/>
            </a:pPr>
            <a:endParaRPr lang="tr-TR" sz="1600" dirty="0"/>
          </a:p>
          <a:p>
            <a:pPr marL="0" indent="0" algn="just">
              <a:buNone/>
            </a:pPr>
            <a:r>
              <a:rPr lang="tr-TR" sz="1600" dirty="0"/>
              <a:t>Eksik girilmiş bir komutta hatayı görmek bazen zordur. Ne var ki, </a:t>
            </a:r>
            <a:r>
              <a:rPr lang="tr-TR" sz="1600" dirty="0" err="1"/>
              <a:t>CLI'da</a:t>
            </a:r>
            <a:r>
              <a:rPr lang="tr-TR" sz="1600" dirty="0"/>
              <a:t> bir hata göstergesi mevcuttur. Komut dizesinin yanlış veya tanınmayan bir karakter girilen noktasında düzeltme işareti (^) görüntülenir. Kullanıcı, hatanın yapıldığı noktaya dönüp kullanılacak doğru komutu belirlemek için yardım işlevini kullanabilir.</a:t>
            </a:r>
          </a:p>
        </p:txBody>
      </p:sp>
    </p:spTree>
    <p:extLst>
      <p:ext uri="{BB962C8B-B14F-4D97-AF65-F5344CB8AC3E}">
        <p14:creationId xmlns:p14="http://schemas.microsoft.com/office/powerpoint/2010/main" val="2445692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B5CAFA0-9EF5-499F-8F69-163EBB9FE159}"/>
              </a:ext>
            </a:extLst>
          </p:cNvPr>
          <p:cNvSpPr>
            <a:spLocks noGrp="1"/>
          </p:cNvSpPr>
          <p:nvPr>
            <p:ph type="title"/>
          </p:nvPr>
        </p:nvSpPr>
        <p:spPr/>
        <p:txBody>
          <a:bodyPr>
            <a:normAutofit fontScale="90000"/>
          </a:bodyPr>
          <a:lstStyle/>
          <a:p>
            <a:r>
              <a:rPr lang="tr-TR" dirty="0"/>
              <a:t>CISCO IOS </a:t>
            </a:r>
            <a:r>
              <a:rPr lang="tr-TR" dirty="0" err="1"/>
              <a:t>CLI’sını</a:t>
            </a:r>
            <a:r>
              <a:rPr lang="tr-TR" dirty="0"/>
              <a:t> Kullanma</a:t>
            </a:r>
          </a:p>
        </p:txBody>
      </p:sp>
      <p:sp>
        <p:nvSpPr>
          <p:cNvPr id="3" name="İçerik Yer Tutucusu 2">
            <a:extLst>
              <a:ext uri="{FF2B5EF4-FFF2-40B4-BE49-F238E27FC236}">
                <a16:creationId xmlns:a16="http://schemas.microsoft.com/office/drawing/2014/main" id="{DD5A5B5B-0CFC-41A5-8F58-EE3CD2CB6DA6}"/>
              </a:ext>
            </a:extLst>
          </p:cNvPr>
          <p:cNvSpPr>
            <a:spLocks noGrp="1"/>
          </p:cNvSpPr>
          <p:nvPr>
            <p:ph idx="1"/>
          </p:nvPr>
        </p:nvSpPr>
        <p:spPr/>
        <p:txBody>
          <a:bodyPr/>
          <a:lstStyle/>
          <a:p>
            <a:pPr marL="0" indent="0" algn="just">
              <a:buNone/>
            </a:pPr>
            <a:r>
              <a:rPr lang="tr-TR" sz="1500" dirty="0"/>
              <a:t>Cisco IOS </a:t>
            </a:r>
            <a:r>
              <a:rPr lang="tr-TR" sz="1500" dirty="0" err="1"/>
              <a:t>CLI'sının</a:t>
            </a:r>
            <a:r>
              <a:rPr lang="tr-TR" sz="1500" dirty="0"/>
              <a:t> diğer bir özelliği de, daha önceden yazılan komutları hatırlayabilmesidir. Bu özellik, özellikle uzun veya karmaşık komutların veya girişlerin geri çağrılması açısından yararlıdır.</a:t>
            </a:r>
          </a:p>
          <a:p>
            <a:pPr marL="0" indent="0" algn="just">
              <a:buNone/>
            </a:pPr>
            <a:endParaRPr lang="tr-TR" sz="1500" dirty="0"/>
          </a:p>
          <a:p>
            <a:pPr marL="0" indent="0" algn="just">
              <a:buNone/>
            </a:pPr>
            <a:r>
              <a:rPr lang="tr-TR" sz="1500" dirty="0"/>
              <a:t>Komut geçmişi varsayılan olarak etkinleştirilmiştir ve sistem, geçmiş tamponunda 10 komut satırını kaydeder. Sistemin bir oturum sırasında kaydettiği komut satırlarının sayısını değiştirmek için, terminal </a:t>
            </a:r>
            <a:r>
              <a:rPr lang="tr-TR" sz="1500" dirty="0" err="1"/>
              <a:t>history</a:t>
            </a:r>
            <a:r>
              <a:rPr lang="tr-TR" sz="1500" dirty="0"/>
              <a:t> size (uçbirim geçmiş boyutu) veya </a:t>
            </a:r>
            <a:r>
              <a:rPr lang="tr-TR" sz="1500" dirty="0" err="1"/>
              <a:t>history</a:t>
            </a:r>
            <a:r>
              <a:rPr lang="tr-TR" sz="1500" dirty="0"/>
              <a:t> size (geçmiş boyutu) komutunu kullanın. Maksimum komut satırı sayısı 256'dır. </a:t>
            </a:r>
          </a:p>
          <a:p>
            <a:pPr marL="0" indent="0" algn="just">
              <a:buNone/>
            </a:pPr>
            <a:endParaRPr lang="tr-TR" sz="1500" dirty="0"/>
          </a:p>
          <a:p>
            <a:pPr marL="0" indent="0" algn="just">
              <a:buNone/>
            </a:pPr>
            <a:r>
              <a:rPr lang="tr-TR" sz="1500" dirty="0"/>
              <a:t>Geçmiş tamponundaki en son kullanılan komutu geri çağırmak için, </a:t>
            </a:r>
            <a:r>
              <a:rPr lang="tr-TR" sz="1500" dirty="0" err="1"/>
              <a:t>Ctrl+P'ye</a:t>
            </a:r>
            <a:r>
              <a:rPr lang="tr-TR" sz="1500" dirty="0"/>
              <a:t> veya Yukarı Ok tuşuna basın. Eski komutları art arda yeniden çağırmak için bu işlevi tekrarlayın. Geçmiş tamponunda daha yeni bir komuta dönmek için, </a:t>
            </a:r>
            <a:r>
              <a:rPr lang="tr-TR" sz="1500" dirty="0" err="1"/>
              <a:t>Ctrl+N'ye</a:t>
            </a:r>
            <a:r>
              <a:rPr lang="tr-TR" sz="1500" dirty="0"/>
              <a:t> veya Aşağı Ok Tuşuna basın. Daha yeni komutları art arda yeniden çağırmak için bu işlevi tekrarlayın.</a:t>
            </a:r>
          </a:p>
          <a:p>
            <a:pPr marL="0" indent="0" algn="just">
              <a:buNone/>
            </a:pPr>
            <a:endParaRPr lang="tr-TR" sz="1500" dirty="0"/>
          </a:p>
          <a:p>
            <a:pPr marL="0" indent="0" algn="just">
              <a:buNone/>
            </a:pPr>
            <a:r>
              <a:rPr lang="tr-TR" sz="1500" dirty="0"/>
              <a:t>CLI, bir kısmı yazılan komutları ilk benzersiz karakterlerine dayalı olarak tanır. Örneğin "</a:t>
            </a:r>
            <a:r>
              <a:rPr lang="tr-TR" sz="1500" dirty="0" err="1"/>
              <a:t>interface</a:t>
            </a:r>
            <a:r>
              <a:rPr lang="tr-TR" sz="1500" dirty="0"/>
              <a:t>" yerine "</a:t>
            </a:r>
            <a:r>
              <a:rPr lang="tr-TR" sz="1500" dirty="0" err="1"/>
              <a:t>int</a:t>
            </a:r>
            <a:r>
              <a:rPr lang="tr-TR" sz="1500" dirty="0"/>
              <a:t>" yazın. "</a:t>
            </a:r>
            <a:r>
              <a:rPr lang="tr-TR" sz="1500" dirty="0" err="1"/>
              <a:t>int</a:t>
            </a:r>
            <a:r>
              <a:rPr lang="tr-TR" sz="1500" dirty="0"/>
              <a:t>" gibi bir </a:t>
            </a:r>
            <a:r>
              <a:rPr lang="tr-TR" sz="1500" dirty="0" err="1"/>
              <a:t>kısayol</a:t>
            </a:r>
            <a:r>
              <a:rPr lang="tr-TR" sz="1500" dirty="0"/>
              <a:t> girilirse, Sekme tuşuna basıldığında "</a:t>
            </a:r>
            <a:r>
              <a:rPr lang="tr-TR" sz="1500" dirty="0" err="1"/>
              <a:t>interface</a:t>
            </a:r>
            <a:r>
              <a:rPr lang="tr-TR" sz="1500" dirty="0"/>
              <a:t>" komut girişi tamamlanacaktır. </a:t>
            </a:r>
          </a:p>
          <a:p>
            <a:pPr marL="0" indent="0" algn="just">
              <a:buNone/>
            </a:pPr>
            <a:endParaRPr lang="tr-TR" sz="1500" dirty="0"/>
          </a:p>
          <a:p>
            <a:pPr marL="0" indent="0" algn="just">
              <a:buNone/>
            </a:pPr>
            <a:r>
              <a:rPr lang="tr-TR" sz="1500" dirty="0"/>
              <a:t>Çoğu bilgisayarda, çeşitli işlev tuşları yardımıyla ek seçme ve kopyalama işlevleri kullanılabilir. Daha önceki bir komut dizesi kopyalanıp geçerli komut girişi olarak yapıştırılabilir veya eklenebilir.</a:t>
            </a:r>
          </a:p>
        </p:txBody>
      </p:sp>
    </p:spTree>
    <p:extLst>
      <p:ext uri="{BB962C8B-B14F-4D97-AF65-F5344CB8AC3E}">
        <p14:creationId xmlns:p14="http://schemas.microsoft.com/office/powerpoint/2010/main" val="2979011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EFF7E71-D837-4729-9F12-DD5120D3F386}"/>
              </a:ext>
            </a:extLst>
          </p:cNvPr>
          <p:cNvSpPr>
            <a:spLocks noGrp="1"/>
          </p:cNvSpPr>
          <p:nvPr>
            <p:ph type="title"/>
          </p:nvPr>
        </p:nvSpPr>
        <p:spPr/>
        <p:txBody>
          <a:bodyPr>
            <a:normAutofit fontScale="90000"/>
          </a:bodyPr>
          <a:lstStyle/>
          <a:p>
            <a:r>
              <a:rPr lang="tr-TR" dirty="0"/>
              <a:t>CISCO IOS </a:t>
            </a:r>
            <a:r>
              <a:rPr lang="tr-TR" dirty="0" err="1"/>
              <a:t>CLI’sını</a:t>
            </a:r>
            <a:r>
              <a:rPr lang="tr-TR" dirty="0"/>
              <a:t> Kullanma</a:t>
            </a:r>
          </a:p>
        </p:txBody>
      </p:sp>
      <p:pic>
        <p:nvPicPr>
          <p:cNvPr id="4" name="Resim 3">
            <a:extLst>
              <a:ext uri="{FF2B5EF4-FFF2-40B4-BE49-F238E27FC236}">
                <a16:creationId xmlns:a16="http://schemas.microsoft.com/office/drawing/2014/main" id="{AAC39A1B-1BC9-4F7C-B110-6279C6A32051}"/>
              </a:ext>
            </a:extLst>
          </p:cNvPr>
          <p:cNvPicPr>
            <a:picLocks noChangeAspect="1"/>
          </p:cNvPicPr>
          <p:nvPr/>
        </p:nvPicPr>
        <p:blipFill>
          <a:blip r:embed="rId2"/>
          <a:stretch>
            <a:fillRect/>
          </a:stretch>
        </p:blipFill>
        <p:spPr>
          <a:xfrm>
            <a:off x="961465" y="1389529"/>
            <a:ext cx="7391400" cy="4974307"/>
          </a:xfrm>
          <a:prstGeom prst="rect">
            <a:avLst/>
          </a:prstGeom>
        </p:spPr>
      </p:pic>
    </p:spTree>
    <p:extLst>
      <p:ext uri="{BB962C8B-B14F-4D97-AF65-F5344CB8AC3E}">
        <p14:creationId xmlns:p14="http://schemas.microsoft.com/office/powerpoint/2010/main" val="3354447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20B033D-3B90-4A63-8CFF-6AA31761B78D}"/>
              </a:ext>
            </a:extLst>
          </p:cNvPr>
          <p:cNvSpPr>
            <a:spLocks noGrp="1"/>
          </p:cNvSpPr>
          <p:nvPr>
            <p:ph type="title"/>
          </p:nvPr>
        </p:nvSpPr>
        <p:spPr/>
        <p:txBody>
          <a:bodyPr>
            <a:normAutofit fontScale="90000"/>
          </a:bodyPr>
          <a:lstStyle/>
          <a:p>
            <a:r>
              <a:rPr lang="tr-TR" dirty="0"/>
              <a:t>Show (Göster) Komutlarını Kullanma</a:t>
            </a:r>
          </a:p>
        </p:txBody>
      </p:sp>
      <p:sp>
        <p:nvSpPr>
          <p:cNvPr id="3" name="İçerik Yer Tutucusu 2">
            <a:extLst>
              <a:ext uri="{FF2B5EF4-FFF2-40B4-BE49-F238E27FC236}">
                <a16:creationId xmlns:a16="http://schemas.microsoft.com/office/drawing/2014/main" id="{0E966743-0F9A-43FA-89FB-E44E67C84C6E}"/>
              </a:ext>
            </a:extLst>
          </p:cNvPr>
          <p:cNvSpPr>
            <a:spLocks noGrp="1"/>
          </p:cNvSpPr>
          <p:nvPr>
            <p:ph idx="1"/>
          </p:nvPr>
        </p:nvSpPr>
        <p:spPr/>
        <p:txBody>
          <a:bodyPr/>
          <a:lstStyle/>
          <a:p>
            <a:pPr marL="0" indent="0" algn="just">
              <a:buNone/>
            </a:pPr>
            <a:r>
              <a:rPr lang="tr-TR" sz="1600" dirty="0"/>
              <a:t>Cisco IOS </a:t>
            </a:r>
            <a:r>
              <a:rPr lang="tr-TR" sz="1600" dirty="0" err="1"/>
              <a:t>CLI'sı</a:t>
            </a:r>
            <a:r>
              <a:rPr lang="tr-TR" sz="1600" dirty="0"/>
              <a:t>, cihazın yapılandırması ve çalışması ile ilgili bilgileri görüntüleyen </a:t>
            </a:r>
            <a:r>
              <a:rPr lang="tr-TR" sz="1600" dirty="0" err="1"/>
              <a:t>show</a:t>
            </a:r>
            <a:r>
              <a:rPr lang="tr-TR" sz="1600" dirty="0"/>
              <a:t> (göster) komutlarını içerir.</a:t>
            </a:r>
          </a:p>
          <a:p>
            <a:pPr marL="0" indent="0" algn="just">
              <a:buNone/>
            </a:pPr>
            <a:endParaRPr lang="tr-TR" sz="1600" dirty="0"/>
          </a:p>
          <a:p>
            <a:pPr marL="0" indent="0" algn="just">
              <a:buNone/>
            </a:pPr>
            <a:r>
              <a:rPr lang="tr-TR" sz="1600" dirty="0"/>
              <a:t>Ağ teknisyenleri yapılandırma dosyalarını görüntülemek, cihaz </a:t>
            </a:r>
            <a:r>
              <a:rPr lang="tr-TR" sz="1600" dirty="0" err="1"/>
              <a:t>arayüzlerinin</a:t>
            </a:r>
            <a:r>
              <a:rPr lang="tr-TR" sz="1600" dirty="0"/>
              <a:t> ve işlemlerinin durumunu denetlemek ve cihazın çalışma durumunu doğrulamak için </a:t>
            </a:r>
            <a:r>
              <a:rPr lang="tr-TR" sz="1600" dirty="0" err="1"/>
              <a:t>show</a:t>
            </a:r>
            <a:r>
              <a:rPr lang="tr-TR" sz="1600" dirty="0"/>
              <a:t> (göster) komutlarını yoğun şekilde kullanır. Cihaz ister CLI kullanılarak ister SDM kullanılarak yapılandırılmış olsun, </a:t>
            </a:r>
            <a:r>
              <a:rPr lang="tr-TR" sz="1600" dirty="0" err="1"/>
              <a:t>show</a:t>
            </a:r>
            <a:r>
              <a:rPr lang="tr-TR" sz="1600" dirty="0"/>
              <a:t> (göster) komutları her iki durumda da kullanılabilir.</a:t>
            </a:r>
          </a:p>
          <a:p>
            <a:pPr marL="0" indent="0" algn="just">
              <a:buNone/>
            </a:pPr>
            <a:endParaRPr lang="tr-TR" sz="1600" dirty="0"/>
          </a:p>
          <a:p>
            <a:pPr marL="0" indent="0" algn="just">
              <a:buNone/>
            </a:pPr>
            <a:r>
              <a:rPr lang="tr-TR" sz="1600" dirty="0"/>
              <a:t>Yönlendiricinin hemen hemen her işleminin veya işlevinin durumu bir </a:t>
            </a:r>
            <a:r>
              <a:rPr lang="tr-TR" sz="1600" dirty="0" err="1"/>
              <a:t>show</a:t>
            </a:r>
            <a:r>
              <a:rPr lang="tr-TR" sz="1600" dirty="0"/>
              <a:t> (göster) komutu kullanılarak görüntülenebilir. En yaygın </a:t>
            </a:r>
            <a:r>
              <a:rPr lang="tr-TR" sz="1600" dirty="0" err="1"/>
              <a:t>show</a:t>
            </a:r>
            <a:r>
              <a:rPr lang="tr-TR" sz="1600" dirty="0"/>
              <a:t> (göster) komutlarından bazıları şunlardır:</a:t>
            </a:r>
          </a:p>
          <a:p>
            <a:pPr marL="0" indent="0" algn="just">
              <a:buNone/>
            </a:pPr>
            <a:endParaRPr lang="tr-TR" sz="1600" dirty="0"/>
          </a:p>
          <a:p>
            <a:pPr marL="0" indent="0" algn="just">
              <a:buNone/>
            </a:pPr>
            <a:r>
              <a:rPr lang="tr-TR" sz="1600" dirty="0" err="1"/>
              <a:t>show</a:t>
            </a:r>
            <a:r>
              <a:rPr lang="tr-TR" sz="1600" dirty="0"/>
              <a:t> </a:t>
            </a:r>
            <a:r>
              <a:rPr lang="tr-TR" sz="1600" dirty="0" err="1"/>
              <a:t>running-config</a:t>
            </a:r>
            <a:r>
              <a:rPr lang="tr-TR" sz="1600" dirty="0"/>
              <a:t> (çalışan yapılandırmayı göster)</a:t>
            </a:r>
          </a:p>
          <a:p>
            <a:pPr marL="0" indent="0" algn="just">
              <a:buNone/>
            </a:pPr>
            <a:r>
              <a:rPr lang="tr-TR" sz="1600" dirty="0" err="1"/>
              <a:t>show</a:t>
            </a:r>
            <a:r>
              <a:rPr lang="tr-TR" sz="1600" dirty="0"/>
              <a:t> </a:t>
            </a:r>
            <a:r>
              <a:rPr lang="tr-TR" sz="1600" dirty="0" err="1"/>
              <a:t>interfaces</a:t>
            </a:r>
            <a:r>
              <a:rPr lang="tr-TR" sz="1600" dirty="0"/>
              <a:t> (</a:t>
            </a:r>
            <a:r>
              <a:rPr lang="tr-TR" sz="1600" dirty="0" err="1"/>
              <a:t>arayüzleri</a:t>
            </a:r>
            <a:r>
              <a:rPr lang="tr-TR" sz="1600" dirty="0"/>
              <a:t> göster)</a:t>
            </a:r>
          </a:p>
          <a:p>
            <a:pPr marL="0" indent="0" algn="just">
              <a:buNone/>
            </a:pPr>
            <a:r>
              <a:rPr lang="tr-TR" sz="1600" dirty="0" err="1"/>
              <a:t>show</a:t>
            </a:r>
            <a:r>
              <a:rPr lang="tr-TR" sz="1600" dirty="0"/>
              <a:t> arp (</a:t>
            </a:r>
            <a:r>
              <a:rPr lang="tr-TR" sz="1600" dirty="0" err="1"/>
              <a:t>arp'yi</a:t>
            </a:r>
            <a:r>
              <a:rPr lang="tr-TR" sz="1600" dirty="0"/>
              <a:t> göster)</a:t>
            </a:r>
          </a:p>
          <a:p>
            <a:pPr marL="0" indent="0" algn="just">
              <a:buNone/>
            </a:pPr>
            <a:r>
              <a:rPr lang="tr-TR" sz="1600" dirty="0" err="1"/>
              <a:t>show</a:t>
            </a:r>
            <a:r>
              <a:rPr lang="tr-TR" sz="1600" dirty="0"/>
              <a:t> ip </a:t>
            </a:r>
            <a:r>
              <a:rPr lang="tr-TR" sz="1600" dirty="0" err="1"/>
              <a:t>route</a:t>
            </a:r>
            <a:r>
              <a:rPr lang="tr-TR" sz="1600" dirty="0"/>
              <a:t> (ip rotasını göster)</a:t>
            </a:r>
          </a:p>
          <a:p>
            <a:pPr marL="0" indent="0" algn="just">
              <a:buNone/>
            </a:pPr>
            <a:r>
              <a:rPr lang="tr-TR" sz="1600" dirty="0" err="1"/>
              <a:t>show</a:t>
            </a:r>
            <a:r>
              <a:rPr lang="tr-TR" sz="1600" dirty="0"/>
              <a:t> </a:t>
            </a:r>
            <a:r>
              <a:rPr lang="tr-TR" sz="1600" dirty="0" err="1"/>
              <a:t>protocols</a:t>
            </a:r>
            <a:r>
              <a:rPr lang="tr-TR" sz="1600" dirty="0"/>
              <a:t> (protokolleri göster)</a:t>
            </a:r>
          </a:p>
          <a:p>
            <a:pPr marL="0" indent="0" algn="just">
              <a:buNone/>
            </a:pPr>
            <a:r>
              <a:rPr lang="tr-TR" sz="1600" dirty="0" err="1"/>
              <a:t>show</a:t>
            </a:r>
            <a:r>
              <a:rPr lang="tr-TR" sz="1600" dirty="0"/>
              <a:t> </a:t>
            </a:r>
            <a:r>
              <a:rPr lang="tr-TR" sz="1600" dirty="0" err="1"/>
              <a:t>version</a:t>
            </a:r>
            <a:r>
              <a:rPr lang="tr-TR" sz="1600" dirty="0"/>
              <a:t> (sürümü göster)</a:t>
            </a:r>
          </a:p>
        </p:txBody>
      </p:sp>
    </p:spTree>
    <p:extLst>
      <p:ext uri="{BB962C8B-B14F-4D97-AF65-F5344CB8AC3E}">
        <p14:creationId xmlns:p14="http://schemas.microsoft.com/office/powerpoint/2010/main" val="3222609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11B56B2-F2F2-4D57-AF06-07C88C5012DC}"/>
              </a:ext>
            </a:extLst>
          </p:cNvPr>
          <p:cNvSpPr>
            <a:spLocks noGrp="1"/>
          </p:cNvSpPr>
          <p:nvPr>
            <p:ph type="title"/>
          </p:nvPr>
        </p:nvSpPr>
        <p:spPr/>
        <p:txBody>
          <a:bodyPr>
            <a:normAutofit fontScale="90000"/>
          </a:bodyPr>
          <a:lstStyle/>
          <a:p>
            <a:r>
              <a:rPr lang="tr-TR" dirty="0"/>
              <a:t>Temel Yapılandırma</a:t>
            </a:r>
          </a:p>
        </p:txBody>
      </p:sp>
      <p:sp>
        <p:nvSpPr>
          <p:cNvPr id="3" name="İçerik Yer Tutucusu 2">
            <a:extLst>
              <a:ext uri="{FF2B5EF4-FFF2-40B4-BE49-F238E27FC236}">
                <a16:creationId xmlns:a16="http://schemas.microsoft.com/office/drawing/2014/main" id="{77FB196E-0557-4E1C-8EF0-1AF09698CB0C}"/>
              </a:ext>
            </a:extLst>
          </p:cNvPr>
          <p:cNvSpPr>
            <a:spLocks noGrp="1"/>
          </p:cNvSpPr>
          <p:nvPr>
            <p:ph idx="1"/>
          </p:nvPr>
        </p:nvSpPr>
        <p:spPr/>
        <p:txBody>
          <a:bodyPr/>
          <a:lstStyle/>
          <a:p>
            <a:pPr marL="0" indent="0" algn="just">
              <a:buNone/>
            </a:pPr>
            <a:r>
              <a:rPr lang="tr-TR" sz="1600" dirty="0"/>
              <a:t>Bir Cisco IOS cihazının başlangıç yapılandırması, cihazın çeşitli işlevlerine erişimi denetlemek için kullanılan cihaz adının ve ardından parolaların yapılandırılmasını içerir.</a:t>
            </a:r>
          </a:p>
          <a:p>
            <a:pPr marL="0" indent="0" algn="just">
              <a:buNone/>
            </a:pPr>
            <a:endParaRPr lang="tr-TR" sz="1600" dirty="0"/>
          </a:p>
          <a:p>
            <a:pPr marL="0" indent="0" algn="just">
              <a:buNone/>
            </a:pPr>
            <a:r>
              <a:rPr lang="tr-TR" sz="1600" dirty="0"/>
              <a:t>İlk yapılandırma görevlerinden biri, cihaza benzersiz bir ad vermektir. Bu görev, küresel yapılandırma kipinde aşağıdaki komut kullanılarak gerçekleştirilir.</a:t>
            </a:r>
          </a:p>
          <a:p>
            <a:pPr marL="0" indent="0" algn="just">
              <a:buNone/>
            </a:pPr>
            <a:endParaRPr lang="tr-TR" sz="1600" dirty="0"/>
          </a:p>
          <a:p>
            <a:pPr marL="0" indent="0" algn="just">
              <a:buNone/>
            </a:pPr>
            <a:r>
              <a:rPr lang="tr-TR" sz="1600" dirty="0" err="1"/>
              <a:t>Router</a:t>
            </a:r>
            <a:r>
              <a:rPr lang="tr-TR" sz="1600" dirty="0"/>
              <a:t>(</a:t>
            </a:r>
            <a:r>
              <a:rPr lang="tr-TR" sz="1600" dirty="0" err="1"/>
              <a:t>config</a:t>
            </a:r>
            <a:r>
              <a:rPr lang="tr-TR" sz="1600" dirty="0"/>
              <a:t>)# </a:t>
            </a:r>
            <a:r>
              <a:rPr lang="tr-TR" sz="1600" dirty="0" err="1"/>
              <a:t>hostname</a:t>
            </a:r>
            <a:r>
              <a:rPr lang="tr-TR" sz="1600" dirty="0"/>
              <a:t> &lt;name&gt;</a:t>
            </a:r>
          </a:p>
          <a:p>
            <a:pPr marL="0" indent="0" algn="just">
              <a:buNone/>
            </a:pPr>
            <a:endParaRPr lang="tr-TR" sz="1600" dirty="0"/>
          </a:p>
          <a:p>
            <a:pPr marL="0" indent="0" algn="just">
              <a:buNone/>
            </a:pPr>
            <a:r>
              <a:rPr lang="tr-TR" sz="1600" dirty="0" err="1"/>
              <a:t>Enter</a:t>
            </a:r>
            <a:r>
              <a:rPr lang="tr-TR" sz="1600" dirty="0"/>
              <a:t> tuşuna basıldığında istem, </a:t>
            </a:r>
            <a:r>
              <a:rPr lang="tr-TR" sz="1600" dirty="0" err="1"/>
              <a:t>Router</a:t>
            </a:r>
            <a:r>
              <a:rPr lang="tr-TR" sz="1600" dirty="0"/>
              <a:t> (Yönlendirici) olan varsayılan konak bilgisayar adından yeni yapılandırılan konak bilgisayar adına değişir. </a:t>
            </a:r>
          </a:p>
          <a:p>
            <a:pPr marL="0" indent="0" algn="just">
              <a:buNone/>
            </a:pPr>
            <a:endParaRPr lang="tr-TR" sz="1600" dirty="0"/>
          </a:p>
          <a:p>
            <a:pPr marL="0" indent="0" algn="just">
              <a:buNone/>
            </a:pPr>
            <a:r>
              <a:rPr lang="tr-TR" sz="1600" dirty="0"/>
              <a:t>Yapılandırmada bir sonraki adım, yetkisiz kişilerin cihaza erişimini engellemek için parolaları yapılandırmaktır.</a:t>
            </a:r>
          </a:p>
          <a:p>
            <a:pPr marL="0" indent="0" algn="just">
              <a:buNone/>
            </a:pPr>
            <a:endParaRPr lang="tr-TR" sz="1600" dirty="0"/>
          </a:p>
          <a:p>
            <a:pPr marL="0" indent="0" algn="just">
              <a:buNone/>
            </a:pPr>
            <a:r>
              <a:rPr lang="tr-TR" sz="1600" dirty="0"/>
              <a:t>Ayrıcalıklı EXEC kipine erişimi kısıtlamak için </a:t>
            </a:r>
            <a:r>
              <a:rPr lang="tr-TR" sz="1600" dirty="0" err="1"/>
              <a:t>enable</a:t>
            </a:r>
            <a:r>
              <a:rPr lang="tr-TR" sz="1600" dirty="0"/>
              <a:t> </a:t>
            </a:r>
            <a:r>
              <a:rPr lang="tr-TR" sz="1600" dirty="0" err="1"/>
              <a:t>password</a:t>
            </a:r>
            <a:r>
              <a:rPr lang="tr-TR" sz="1600" dirty="0"/>
              <a:t> (parolayı etkinleştir) ve </a:t>
            </a:r>
            <a:r>
              <a:rPr lang="tr-TR" sz="1600" dirty="0" err="1"/>
              <a:t>enable</a:t>
            </a:r>
            <a:r>
              <a:rPr lang="tr-TR" sz="1600" dirty="0"/>
              <a:t> </a:t>
            </a:r>
            <a:r>
              <a:rPr lang="tr-TR" sz="1600" dirty="0" err="1"/>
              <a:t>secret</a:t>
            </a:r>
            <a:r>
              <a:rPr lang="tr-TR" sz="1600" dirty="0"/>
              <a:t> (gizli parolayı etkinleştir) komutları kullanılır ve bu komutlar, yetkisiz kullanıcıların yönlendiricide yapılandırma değişiklikleri yapmalarını önler.</a:t>
            </a:r>
          </a:p>
        </p:txBody>
      </p:sp>
    </p:spTree>
    <p:extLst>
      <p:ext uri="{BB962C8B-B14F-4D97-AF65-F5344CB8AC3E}">
        <p14:creationId xmlns:p14="http://schemas.microsoft.com/office/powerpoint/2010/main" val="2976993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2A80AD7-933C-4D70-94CA-75E644635B49}"/>
              </a:ext>
            </a:extLst>
          </p:cNvPr>
          <p:cNvSpPr>
            <a:spLocks noGrp="1"/>
          </p:cNvSpPr>
          <p:nvPr>
            <p:ph type="title"/>
          </p:nvPr>
        </p:nvSpPr>
        <p:spPr/>
        <p:txBody>
          <a:bodyPr>
            <a:normAutofit fontScale="90000"/>
          </a:bodyPr>
          <a:lstStyle/>
          <a:p>
            <a:r>
              <a:rPr lang="tr-TR" dirty="0"/>
              <a:t>Temel Yapılandırma</a:t>
            </a:r>
          </a:p>
        </p:txBody>
      </p:sp>
      <p:sp>
        <p:nvSpPr>
          <p:cNvPr id="3" name="İçerik Yer Tutucusu 2">
            <a:extLst>
              <a:ext uri="{FF2B5EF4-FFF2-40B4-BE49-F238E27FC236}">
                <a16:creationId xmlns:a16="http://schemas.microsoft.com/office/drawing/2014/main" id="{B4305BD9-5BB1-4A23-9C78-3C361209DB01}"/>
              </a:ext>
            </a:extLst>
          </p:cNvPr>
          <p:cNvSpPr>
            <a:spLocks noGrp="1"/>
          </p:cNvSpPr>
          <p:nvPr>
            <p:ph idx="1"/>
          </p:nvPr>
        </p:nvSpPr>
        <p:spPr/>
        <p:txBody>
          <a:bodyPr/>
          <a:lstStyle/>
          <a:p>
            <a:pPr marL="0" indent="0" algn="just">
              <a:buNone/>
            </a:pPr>
            <a:r>
              <a:rPr lang="tr-TR" sz="1600" dirty="0" err="1"/>
              <a:t>Router</a:t>
            </a:r>
            <a:r>
              <a:rPr lang="tr-TR" sz="1600" dirty="0"/>
              <a:t>(</a:t>
            </a:r>
            <a:r>
              <a:rPr lang="tr-TR" sz="1600" dirty="0" err="1"/>
              <a:t>config</a:t>
            </a:r>
            <a:r>
              <a:rPr lang="tr-TR" sz="1600" dirty="0"/>
              <a:t>)# </a:t>
            </a:r>
            <a:r>
              <a:rPr lang="tr-TR" sz="1600" dirty="0" err="1"/>
              <a:t>enable</a:t>
            </a:r>
            <a:r>
              <a:rPr lang="tr-TR" sz="1600" dirty="0"/>
              <a:t> </a:t>
            </a:r>
            <a:r>
              <a:rPr lang="tr-TR" sz="1600" dirty="0" err="1"/>
              <a:t>password</a:t>
            </a:r>
            <a:r>
              <a:rPr lang="tr-TR" sz="1600" dirty="0"/>
              <a:t> &lt;</a:t>
            </a:r>
            <a:r>
              <a:rPr lang="tr-TR" sz="1600" dirty="0" err="1"/>
              <a:t>password</a:t>
            </a:r>
            <a:r>
              <a:rPr lang="tr-TR" sz="1600" dirty="0"/>
              <a:t>&gt;</a:t>
            </a:r>
          </a:p>
          <a:p>
            <a:pPr marL="0" indent="0" algn="just">
              <a:buNone/>
            </a:pPr>
            <a:endParaRPr lang="tr-TR" sz="1600" dirty="0"/>
          </a:p>
          <a:p>
            <a:pPr marL="0" indent="0" algn="just">
              <a:buNone/>
            </a:pPr>
            <a:r>
              <a:rPr lang="tr-TR" sz="1600" dirty="0" err="1"/>
              <a:t>Router</a:t>
            </a:r>
            <a:r>
              <a:rPr lang="tr-TR" sz="1600" dirty="0"/>
              <a:t>(</a:t>
            </a:r>
            <a:r>
              <a:rPr lang="tr-TR" sz="1600" dirty="0" err="1"/>
              <a:t>config</a:t>
            </a:r>
            <a:r>
              <a:rPr lang="tr-TR" sz="1600" dirty="0"/>
              <a:t>)# </a:t>
            </a:r>
            <a:r>
              <a:rPr lang="tr-TR" sz="1600" dirty="0" err="1"/>
              <a:t>enable</a:t>
            </a:r>
            <a:r>
              <a:rPr lang="tr-TR" sz="1600" dirty="0"/>
              <a:t> </a:t>
            </a:r>
            <a:r>
              <a:rPr lang="tr-TR" sz="1600" dirty="0" err="1"/>
              <a:t>secret</a:t>
            </a:r>
            <a:r>
              <a:rPr lang="tr-TR" sz="1600" dirty="0"/>
              <a:t> &lt;</a:t>
            </a:r>
            <a:r>
              <a:rPr lang="tr-TR" sz="1600" dirty="0" err="1"/>
              <a:t>password</a:t>
            </a:r>
            <a:r>
              <a:rPr lang="tr-TR" sz="1600" dirty="0"/>
              <a:t>&gt;</a:t>
            </a:r>
          </a:p>
          <a:p>
            <a:pPr marL="0" indent="0" algn="just">
              <a:buNone/>
            </a:pPr>
            <a:endParaRPr lang="tr-TR" sz="1600" dirty="0"/>
          </a:p>
          <a:p>
            <a:pPr marL="0" indent="0" algn="just">
              <a:buNone/>
            </a:pPr>
            <a:r>
              <a:rPr lang="tr-TR" sz="1600" dirty="0"/>
              <a:t>İki komut arasındaki fark, </a:t>
            </a:r>
            <a:r>
              <a:rPr lang="tr-TR" sz="1600" dirty="0" err="1"/>
              <a:t>enable</a:t>
            </a:r>
            <a:r>
              <a:rPr lang="tr-TR" sz="1600" dirty="0"/>
              <a:t> </a:t>
            </a:r>
            <a:r>
              <a:rPr lang="tr-TR" sz="1600" dirty="0" err="1"/>
              <a:t>password</a:t>
            </a:r>
            <a:r>
              <a:rPr lang="tr-TR" sz="1600" dirty="0"/>
              <a:t> (parolayı etkinleştir) komutunun varsayılan olarak şifrelenmemiş olmasıdır. </a:t>
            </a:r>
            <a:r>
              <a:rPr lang="tr-TR" sz="1600" dirty="0" err="1"/>
              <a:t>enable</a:t>
            </a:r>
            <a:r>
              <a:rPr lang="tr-TR" sz="1600" dirty="0"/>
              <a:t> </a:t>
            </a:r>
            <a:r>
              <a:rPr lang="tr-TR" sz="1600" dirty="0" err="1"/>
              <a:t>password</a:t>
            </a:r>
            <a:r>
              <a:rPr lang="tr-TR" sz="1600" dirty="0"/>
              <a:t> (parolayı etkinleştir) komutu ve ardından </a:t>
            </a:r>
            <a:r>
              <a:rPr lang="tr-TR" sz="1600" dirty="0" err="1"/>
              <a:t>enable</a:t>
            </a:r>
            <a:r>
              <a:rPr lang="tr-TR" sz="1600" dirty="0"/>
              <a:t> </a:t>
            </a:r>
            <a:r>
              <a:rPr lang="tr-TR" sz="1600" dirty="0" err="1"/>
              <a:t>secret</a:t>
            </a:r>
            <a:r>
              <a:rPr lang="tr-TR" sz="1600" dirty="0"/>
              <a:t> </a:t>
            </a:r>
            <a:r>
              <a:rPr lang="tr-TR" sz="1600" dirty="0" err="1"/>
              <a:t>password</a:t>
            </a:r>
            <a:r>
              <a:rPr lang="tr-TR" sz="1600" dirty="0"/>
              <a:t> (gizli parolayı etkinleştir) komutu kullanılırsa, </a:t>
            </a:r>
            <a:r>
              <a:rPr lang="tr-TR" sz="1600" dirty="0" err="1"/>
              <a:t>enable</a:t>
            </a:r>
            <a:r>
              <a:rPr lang="tr-TR" sz="1600" dirty="0"/>
              <a:t> </a:t>
            </a:r>
            <a:r>
              <a:rPr lang="tr-TR" sz="1600" dirty="0" err="1"/>
              <a:t>secret</a:t>
            </a:r>
            <a:r>
              <a:rPr lang="tr-TR" sz="1600" dirty="0"/>
              <a:t> (gizli parolayı etkinleştir) komutu </a:t>
            </a:r>
            <a:r>
              <a:rPr lang="tr-TR" sz="1600" dirty="0" err="1"/>
              <a:t>enable</a:t>
            </a:r>
            <a:r>
              <a:rPr lang="tr-TR" sz="1600" dirty="0"/>
              <a:t> </a:t>
            </a:r>
            <a:r>
              <a:rPr lang="tr-TR" sz="1600" dirty="0" err="1"/>
              <a:t>password</a:t>
            </a:r>
            <a:r>
              <a:rPr lang="tr-TR" sz="1600" dirty="0"/>
              <a:t> (parolayı etkinleştir) komutunu geçersiz kılar.</a:t>
            </a:r>
          </a:p>
        </p:txBody>
      </p:sp>
      <p:pic>
        <p:nvPicPr>
          <p:cNvPr id="4" name="Resim 3">
            <a:extLst>
              <a:ext uri="{FF2B5EF4-FFF2-40B4-BE49-F238E27FC236}">
                <a16:creationId xmlns:a16="http://schemas.microsoft.com/office/drawing/2014/main" id="{AEEBC493-F8FC-4E75-A79A-C64CF22C414B}"/>
              </a:ext>
            </a:extLst>
          </p:cNvPr>
          <p:cNvPicPr>
            <a:picLocks noChangeAspect="1"/>
          </p:cNvPicPr>
          <p:nvPr/>
        </p:nvPicPr>
        <p:blipFill>
          <a:blip r:embed="rId2"/>
          <a:stretch>
            <a:fillRect/>
          </a:stretch>
        </p:blipFill>
        <p:spPr>
          <a:xfrm>
            <a:off x="1990165" y="4027739"/>
            <a:ext cx="5334000" cy="2404820"/>
          </a:xfrm>
          <a:prstGeom prst="rect">
            <a:avLst/>
          </a:prstGeom>
        </p:spPr>
      </p:pic>
    </p:spTree>
    <p:extLst>
      <p:ext uri="{BB962C8B-B14F-4D97-AF65-F5344CB8AC3E}">
        <p14:creationId xmlns:p14="http://schemas.microsoft.com/office/powerpoint/2010/main" val="3085938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3AE6479-58F7-4F85-A841-DFC2484DD335}"/>
              </a:ext>
            </a:extLst>
          </p:cNvPr>
          <p:cNvSpPr>
            <a:spLocks noGrp="1"/>
          </p:cNvSpPr>
          <p:nvPr>
            <p:ph type="title"/>
          </p:nvPr>
        </p:nvSpPr>
        <p:spPr/>
        <p:txBody>
          <a:bodyPr>
            <a:normAutofit fontScale="90000"/>
          </a:bodyPr>
          <a:lstStyle/>
          <a:p>
            <a:r>
              <a:rPr lang="tr-TR" dirty="0"/>
              <a:t>Temel Yapılandırma</a:t>
            </a:r>
          </a:p>
        </p:txBody>
      </p:sp>
      <p:sp>
        <p:nvSpPr>
          <p:cNvPr id="3" name="İçerik Yer Tutucusu 2">
            <a:extLst>
              <a:ext uri="{FF2B5EF4-FFF2-40B4-BE49-F238E27FC236}">
                <a16:creationId xmlns:a16="http://schemas.microsoft.com/office/drawing/2014/main" id="{E4A1B6F2-9D08-4A66-B40D-28E108850880}"/>
              </a:ext>
            </a:extLst>
          </p:cNvPr>
          <p:cNvSpPr>
            <a:spLocks noGrp="1"/>
          </p:cNvSpPr>
          <p:nvPr>
            <p:ph idx="1"/>
          </p:nvPr>
        </p:nvSpPr>
        <p:spPr/>
        <p:txBody>
          <a:bodyPr/>
          <a:lstStyle/>
          <a:p>
            <a:pPr marL="0" indent="0" algn="just">
              <a:buNone/>
            </a:pPr>
            <a:r>
              <a:rPr lang="tr-TR" sz="1500" dirty="0"/>
              <a:t>Bir yönlendiricinin diğer temel yapılandırmaları, başlık çubuğunu yapılandırmayı, eşzamanlı günlük tutmayı etkinleştirmeyi ve etki alanı aramayı devre dışı bırakmayı içerir.</a:t>
            </a:r>
          </a:p>
          <a:p>
            <a:pPr marL="0" indent="0" algn="just">
              <a:buNone/>
            </a:pPr>
            <a:endParaRPr lang="tr-TR" sz="1500" dirty="0"/>
          </a:p>
          <a:p>
            <a:pPr marL="0" indent="0" algn="just">
              <a:buNone/>
            </a:pPr>
            <a:r>
              <a:rPr lang="tr-TR" sz="1500" b="1" dirty="0"/>
              <a:t>Başlık çubukları</a:t>
            </a:r>
          </a:p>
          <a:p>
            <a:pPr marL="0" indent="0" algn="just">
              <a:buNone/>
            </a:pPr>
            <a:endParaRPr lang="tr-TR" sz="1500" dirty="0"/>
          </a:p>
          <a:p>
            <a:pPr marL="0" indent="0" algn="just">
              <a:buNone/>
            </a:pPr>
            <a:r>
              <a:rPr lang="tr-TR" sz="1500" dirty="0"/>
              <a:t>Başlık çubuğu, kullanıcının yönlendiricide oturum açarken gördüğü ilk metindir. Uygun bir başlık çubuğu yapılandırma, iyi bir güvenlik planının parçasıdır. Başlık çubuğu en azından yetkisiz erişime karşı uyarmalıdır. Asla yetkisiz bir kullanıcıyı karşılayan bir başlık çubuğu yapılandırmayın. </a:t>
            </a:r>
          </a:p>
          <a:p>
            <a:pPr marL="0" indent="0" algn="just">
              <a:buNone/>
            </a:pPr>
            <a:endParaRPr lang="tr-TR" sz="1500" dirty="0"/>
          </a:p>
          <a:p>
            <a:pPr marL="0" indent="0" algn="just">
              <a:buNone/>
            </a:pPr>
            <a:r>
              <a:rPr lang="tr-TR" sz="1500" dirty="0"/>
              <a:t>İki tip başlık çubuğu vardır: günün iletisi (MOTD) ve oturum açma bilgileri. İki ayrı başlık çubuğunun kullanılmasındaki amaç, birinin başlık çubuğu iletisinin tamamını etkilemeden değiştirilebilmesidir. </a:t>
            </a:r>
          </a:p>
          <a:p>
            <a:pPr marL="0" indent="0" algn="just">
              <a:buNone/>
            </a:pPr>
            <a:endParaRPr lang="tr-TR" sz="1500" dirty="0"/>
          </a:p>
          <a:p>
            <a:pPr marL="0" indent="0" algn="just">
              <a:buNone/>
            </a:pPr>
            <a:r>
              <a:rPr lang="tr-TR" sz="1500" dirty="0"/>
              <a:t>Başlık çubuklarını yapılandırmak için kullanılan komutlar banner </a:t>
            </a:r>
            <a:r>
              <a:rPr lang="tr-TR" sz="1500" dirty="0" err="1"/>
              <a:t>motd</a:t>
            </a:r>
            <a:r>
              <a:rPr lang="tr-TR" sz="1500" dirty="0"/>
              <a:t> (başlık çubuğu günün iletisi) ve banner </a:t>
            </a:r>
            <a:r>
              <a:rPr lang="tr-TR" sz="1500" dirty="0" err="1"/>
              <a:t>login</a:t>
            </a:r>
            <a:r>
              <a:rPr lang="tr-TR" sz="1500" dirty="0"/>
              <a:t> (başlık çubuğu oturum açma) komutlarıdır. Her iki tip için de, iletinin başında ve sonunda # gibi sınırlayıcı bir karakter kullanılır. Sınırlayıcı, kullanıcının birden çok satırlı bir başlık çubuğu yapılandırmasına olanak verir.</a:t>
            </a:r>
          </a:p>
          <a:p>
            <a:pPr marL="0" indent="0" algn="just">
              <a:buNone/>
            </a:pPr>
            <a:endParaRPr lang="tr-TR" sz="1500" dirty="0"/>
          </a:p>
          <a:p>
            <a:pPr marL="0" indent="0" algn="just">
              <a:buNone/>
            </a:pPr>
            <a:r>
              <a:rPr lang="tr-TR" sz="1500" dirty="0"/>
              <a:t>Her iki başlık çubuğu da yapılandırılırsa, oturum açma başlık çubuğu </a:t>
            </a:r>
            <a:r>
              <a:rPr lang="tr-TR" sz="1500" dirty="0" err="1"/>
              <a:t>MOTD'den</a:t>
            </a:r>
            <a:r>
              <a:rPr lang="tr-TR" sz="1500" dirty="0"/>
              <a:t> sonra ancak oturum açma kimlik bilgilerinden önce görüntülenir.</a:t>
            </a:r>
          </a:p>
        </p:txBody>
      </p:sp>
    </p:spTree>
    <p:extLst>
      <p:ext uri="{BB962C8B-B14F-4D97-AF65-F5344CB8AC3E}">
        <p14:creationId xmlns:p14="http://schemas.microsoft.com/office/powerpoint/2010/main" val="3847048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4BD782C-6585-4519-9D75-C9A967549305}"/>
              </a:ext>
            </a:extLst>
          </p:cNvPr>
          <p:cNvSpPr>
            <a:spLocks noGrp="1"/>
          </p:cNvSpPr>
          <p:nvPr>
            <p:ph type="title"/>
          </p:nvPr>
        </p:nvSpPr>
        <p:spPr/>
        <p:txBody>
          <a:bodyPr>
            <a:normAutofit fontScale="90000"/>
          </a:bodyPr>
          <a:lstStyle/>
          <a:p>
            <a:r>
              <a:rPr lang="tr-TR" dirty="0"/>
              <a:t>Temel Yapılandırma</a:t>
            </a:r>
          </a:p>
        </p:txBody>
      </p:sp>
      <p:sp>
        <p:nvSpPr>
          <p:cNvPr id="3" name="İçerik Yer Tutucusu 2">
            <a:extLst>
              <a:ext uri="{FF2B5EF4-FFF2-40B4-BE49-F238E27FC236}">
                <a16:creationId xmlns:a16="http://schemas.microsoft.com/office/drawing/2014/main" id="{ECCA382D-F705-4EC7-A0E3-D83F363727DE}"/>
              </a:ext>
            </a:extLst>
          </p:cNvPr>
          <p:cNvSpPr>
            <a:spLocks noGrp="1"/>
          </p:cNvSpPr>
          <p:nvPr>
            <p:ph idx="1"/>
          </p:nvPr>
        </p:nvSpPr>
        <p:spPr/>
        <p:txBody>
          <a:bodyPr/>
          <a:lstStyle/>
          <a:p>
            <a:pPr marL="0" indent="0" algn="just">
              <a:buNone/>
            </a:pPr>
            <a:r>
              <a:rPr lang="tr-TR" sz="1600" b="1" dirty="0"/>
              <a:t>Eşzamanlı Günlük Tutma </a:t>
            </a:r>
          </a:p>
          <a:p>
            <a:pPr marL="0" indent="0" algn="just">
              <a:buNone/>
            </a:pPr>
            <a:endParaRPr lang="tr-TR" sz="1600" dirty="0"/>
          </a:p>
          <a:p>
            <a:pPr marL="0" indent="0" algn="just">
              <a:buNone/>
            </a:pPr>
            <a:r>
              <a:rPr lang="tr-TR" sz="1600" dirty="0"/>
              <a:t>Cisco IOS yazılımı, yapılandırılmış bir </a:t>
            </a:r>
            <a:r>
              <a:rPr lang="tr-TR" sz="1600" dirty="0" err="1"/>
              <a:t>arayüzün</a:t>
            </a:r>
            <a:r>
              <a:rPr lang="tr-TR" sz="1600" dirty="0"/>
              <a:t> durumundaki değişiklik gibi genellikle istenmeyen iletiler gönderir. Bazen bu iletiler, bir komut girme sırasında ortaya çıkar. Bu iletiler komutu etkilemez ancak komutu girerken kullanıcının aklının karışmasına neden olabilir. İstenmeyen çıkışları yazılan girişlerden ayrı tutmak için, küresel yapılandırma kipinde </a:t>
            </a:r>
            <a:r>
              <a:rPr lang="tr-TR" sz="1600" dirty="0" err="1"/>
              <a:t>logging</a:t>
            </a:r>
            <a:r>
              <a:rPr lang="tr-TR" sz="1600" dirty="0"/>
              <a:t> </a:t>
            </a:r>
            <a:r>
              <a:rPr lang="tr-TR" sz="1600" dirty="0" err="1"/>
              <a:t>synchronous</a:t>
            </a:r>
            <a:r>
              <a:rPr lang="tr-TR" sz="1600" dirty="0"/>
              <a:t> (eşzamanlı günlük tutma) komutu girilebilir. </a:t>
            </a:r>
          </a:p>
          <a:p>
            <a:pPr marL="0" indent="0" algn="just">
              <a:buNone/>
            </a:pPr>
            <a:endParaRPr lang="tr-TR" sz="1600" dirty="0"/>
          </a:p>
          <a:p>
            <a:pPr marL="0" indent="0" algn="just">
              <a:buNone/>
            </a:pPr>
            <a:r>
              <a:rPr lang="tr-TR" sz="1600" b="1" dirty="0"/>
              <a:t>Etki Alanı Aramayı Devre Dışı Bırakma</a:t>
            </a:r>
          </a:p>
          <a:p>
            <a:pPr marL="0" indent="0" algn="just">
              <a:buNone/>
            </a:pPr>
            <a:endParaRPr lang="tr-TR" sz="1600" dirty="0"/>
          </a:p>
          <a:p>
            <a:pPr marL="0" indent="0" algn="just">
              <a:buNone/>
            </a:pPr>
            <a:r>
              <a:rPr lang="tr-TR" sz="1600" dirty="0"/>
              <a:t>Varsayılan olarak, </a:t>
            </a:r>
            <a:r>
              <a:rPr lang="tr-TR" sz="1600" dirty="0" err="1"/>
              <a:t>enable</a:t>
            </a:r>
            <a:r>
              <a:rPr lang="tr-TR" sz="1600" dirty="0"/>
              <a:t> (etkinleştir) kipinde bir konak bilgisayar adı girildiğinde, yönlendirici kullanıcının bir cihaza telnet bağlantısı kurmaya çalıştığını varsayar. Yönlendirici, </a:t>
            </a:r>
            <a:r>
              <a:rPr lang="tr-TR" sz="1600" dirty="0" err="1"/>
              <a:t>enable</a:t>
            </a:r>
            <a:r>
              <a:rPr lang="tr-TR" sz="1600" dirty="0"/>
              <a:t> (etkinleştir) kipinde girilen bilinmeyen adları DNS sunucusuna göndererek çözümlemeye çalışır. Bu işlem, yanlış yazılan komutlar da dahil olmak üzere, yönlendiricinin tanımadığı sözcükleri de kapsar. Bu özellik istenmiyorsa, </a:t>
            </a:r>
            <a:r>
              <a:rPr lang="tr-TR" sz="1600" dirty="0" err="1"/>
              <a:t>no</a:t>
            </a:r>
            <a:r>
              <a:rPr lang="tr-TR" sz="1600" dirty="0"/>
              <a:t> ip domain-</a:t>
            </a:r>
            <a:r>
              <a:rPr lang="tr-TR" sz="1600" dirty="0" err="1"/>
              <a:t>lookup</a:t>
            </a:r>
            <a:r>
              <a:rPr lang="tr-TR" sz="1600" dirty="0"/>
              <a:t> (ip etki alanı araması yapma) komutu bu varsayılan özelliği kapatır.</a:t>
            </a:r>
          </a:p>
          <a:p>
            <a:pPr marL="0" indent="0" algn="just">
              <a:buNone/>
            </a:pPr>
            <a:endParaRPr lang="tr-TR" sz="1600" dirty="0"/>
          </a:p>
        </p:txBody>
      </p:sp>
    </p:spTree>
    <p:extLst>
      <p:ext uri="{BB962C8B-B14F-4D97-AF65-F5344CB8AC3E}">
        <p14:creationId xmlns:p14="http://schemas.microsoft.com/office/powerpoint/2010/main" val="4043016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70050F7-610C-44AE-9296-1D358595AE39}"/>
              </a:ext>
            </a:extLst>
          </p:cNvPr>
          <p:cNvSpPr>
            <a:spLocks noGrp="1"/>
          </p:cNvSpPr>
          <p:nvPr>
            <p:ph type="title"/>
          </p:nvPr>
        </p:nvSpPr>
        <p:spPr/>
        <p:txBody>
          <a:bodyPr>
            <a:normAutofit fontScale="90000"/>
          </a:bodyPr>
          <a:lstStyle/>
          <a:p>
            <a:r>
              <a:rPr lang="tr-TR" dirty="0"/>
              <a:t>Temel Yapılandırma</a:t>
            </a:r>
          </a:p>
        </p:txBody>
      </p:sp>
      <p:sp>
        <p:nvSpPr>
          <p:cNvPr id="3" name="İçerik Yer Tutucusu 2">
            <a:extLst>
              <a:ext uri="{FF2B5EF4-FFF2-40B4-BE49-F238E27FC236}">
                <a16:creationId xmlns:a16="http://schemas.microsoft.com/office/drawing/2014/main" id="{E4A41153-9AED-4770-92AC-FA1041E93619}"/>
              </a:ext>
            </a:extLst>
          </p:cNvPr>
          <p:cNvSpPr>
            <a:spLocks noGrp="1"/>
          </p:cNvSpPr>
          <p:nvPr>
            <p:ph idx="1"/>
          </p:nvPr>
        </p:nvSpPr>
        <p:spPr/>
        <p:txBody>
          <a:bodyPr/>
          <a:lstStyle/>
          <a:p>
            <a:pPr marL="0" indent="0" algn="just">
              <a:buNone/>
            </a:pPr>
            <a:r>
              <a:rPr lang="tr-TR" sz="1600" dirty="0"/>
              <a:t>Yapılandırma görevlerini gerçekleştirmek üzere bir cihaza erişmenin birden çok yolu vardır. Bu yollardan biri, cihaz üzerindeki konsol bağlantı noktasına bağlı bir PC kullanmaktır. Bu tip bir bağlantı, genellikle cihazın başlangıç yapılandırmasında kullanılır.</a:t>
            </a:r>
          </a:p>
          <a:p>
            <a:pPr marL="0" indent="0" algn="just">
              <a:buNone/>
            </a:pPr>
            <a:endParaRPr lang="tr-TR" sz="1600" dirty="0"/>
          </a:p>
          <a:p>
            <a:pPr marL="0" indent="0" algn="just">
              <a:buNone/>
            </a:pPr>
            <a:r>
              <a:rPr lang="tr-TR" sz="1600" dirty="0"/>
              <a:t>Konsol bağlantısı erişimi için parola belirleme işlemi, küresel yapılandırma kipinde gerçekleştirilir. Bu komutlar, yetkisiz kullanıcıların konsol bağlantı noktasından kullanıcı kipine erişmesini önler.</a:t>
            </a:r>
          </a:p>
          <a:p>
            <a:pPr marL="0" indent="0" algn="just">
              <a:buNone/>
            </a:pPr>
            <a:endParaRPr lang="tr-TR" sz="1600" dirty="0"/>
          </a:p>
          <a:p>
            <a:pPr marL="0" indent="0" algn="just">
              <a:buNone/>
            </a:pPr>
            <a:r>
              <a:rPr lang="tr-TR" sz="1600" dirty="0" err="1"/>
              <a:t>Route</a:t>
            </a:r>
            <a:r>
              <a:rPr lang="tr-TR" sz="1600" dirty="0"/>
              <a:t>(</a:t>
            </a:r>
            <a:r>
              <a:rPr lang="tr-TR" sz="1600" dirty="0" err="1"/>
              <a:t>config</a:t>
            </a:r>
            <a:r>
              <a:rPr lang="tr-TR" sz="1600" dirty="0"/>
              <a:t>)# </a:t>
            </a:r>
            <a:r>
              <a:rPr lang="tr-TR" sz="1600" dirty="0" err="1"/>
              <a:t>line</a:t>
            </a:r>
            <a:r>
              <a:rPr lang="tr-TR" sz="1600" dirty="0"/>
              <a:t> </a:t>
            </a:r>
            <a:r>
              <a:rPr lang="tr-TR" sz="1600" dirty="0" err="1"/>
              <a:t>console</a:t>
            </a:r>
            <a:r>
              <a:rPr lang="tr-TR" sz="1600" dirty="0"/>
              <a:t> 0</a:t>
            </a:r>
          </a:p>
          <a:p>
            <a:pPr marL="0" indent="0" algn="just">
              <a:buNone/>
            </a:pPr>
            <a:endParaRPr lang="tr-TR" sz="1600" dirty="0"/>
          </a:p>
          <a:p>
            <a:pPr marL="0" indent="0" algn="just">
              <a:buNone/>
            </a:pPr>
            <a:r>
              <a:rPr lang="tr-TR" sz="1600" dirty="0" err="1"/>
              <a:t>Router</a:t>
            </a:r>
            <a:r>
              <a:rPr lang="tr-TR" sz="1600" dirty="0"/>
              <a:t>(</a:t>
            </a:r>
            <a:r>
              <a:rPr lang="tr-TR" sz="1600" dirty="0" err="1"/>
              <a:t>config</a:t>
            </a:r>
            <a:r>
              <a:rPr lang="tr-TR" sz="1600" dirty="0"/>
              <a:t>)# </a:t>
            </a:r>
            <a:r>
              <a:rPr lang="tr-TR" sz="1600" dirty="0" err="1"/>
              <a:t>password</a:t>
            </a:r>
            <a:r>
              <a:rPr lang="tr-TR" sz="1600" dirty="0"/>
              <a:t> &lt;</a:t>
            </a:r>
            <a:r>
              <a:rPr lang="tr-TR" sz="1600" dirty="0" err="1"/>
              <a:t>password</a:t>
            </a:r>
            <a:r>
              <a:rPr lang="tr-TR" sz="1600" dirty="0"/>
              <a:t>&gt;</a:t>
            </a:r>
          </a:p>
          <a:p>
            <a:pPr marL="0" indent="0" algn="just">
              <a:buNone/>
            </a:pPr>
            <a:endParaRPr lang="tr-TR" sz="1600" dirty="0"/>
          </a:p>
          <a:p>
            <a:pPr marL="0" indent="0" algn="just">
              <a:buNone/>
            </a:pPr>
            <a:r>
              <a:rPr lang="tr-TR" sz="1600" dirty="0" err="1"/>
              <a:t>Router</a:t>
            </a:r>
            <a:r>
              <a:rPr lang="tr-TR" sz="1600" dirty="0"/>
              <a:t>(</a:t>
            </a:r>
            <a:r>
              <a:rPr lang="tr-TR" sz="1600" dirty="0" err="1"/>
              <a:t>config</a:t>
            </a:r>
            <a:r>
              <a:rPr lang="tr-TR" sz="1600" dirty="0"/>
              <a:t>)# </a:t>
            </a:r>
            <a:r>
              <a:rPr lang="tr-TR" sz="1600" dirty="0" err="1"/>
              <a:t>login</a:t>
            </a:r>
            <a:endParaRPr lang="tr-TR" sz="1600" dirty="0"/>
          </a:p>
          <a:p>
            <a:pPr marL="0" indent="0" algn="just">
              <a:buNone/>
            </a:pPr>
            <a:endParaRPr lang="tr-TR" sz="1600" dirty="0"/>
          </a:p>
          <a:p>
            <a:pPr marL="0" indent="0" algn="just">
              <a:buNone/>
            </a:pPr>
            <a:r>
              <a:rPr lang="tr-TR" sz="1600" dirty="0"/>
              <a:t>Cihaz ağa bağlandığında, ağ bağlantısı üzerinden cihaza erişilebilir. Cihaza ağ üzerinden erişildiğinde, bu bir </a:t>
            </a:r>
            <a:r>
              <a:rPr lang="tr-TR" sz="1600" dirty="0" err="1"/>
              <a:t>vty</a:t>
            </a:r>
            <a:r>
              <a:rPr lang="tr-TR" sz="1600" dirty="0"/>
              <a:t> bağlantısı olarak değerlendirilir. Parola, </a:t>
            </a:r>
            <a:r>
              <a:rPr lang="tr-TR" sz="1600" dirty="0" err="1"/>
              <a:t>vty</a:t>
            </a:r>
            <a:r>
              <a:rPr lang="tr-TR" sz="1600" dirty="0"/>
              <a:t> bağlantı noktası üzerinde yapılandırılmalıdır.</a:t>
            </a:r>
          </a:p>
          <a:p>
            <a:pPr marL="0" indent="0" algn="just">
              <a:buNone/>
            </a:pPr>
            <a:endParaRPr lang="tr-TR" sz="1600" dirty="0"/>
          </a:p>
        </p:txBody>
      </p:sp>
    </p:spTree>
    <p:extLst>
      <p:ext uri="{BB962C8B-B14F-4D97-AF65-F5344CB8AC3E}">
        <p14:creationId xmlns:p14="http://schemas.microsoft.com/office/powerpoint/2010/main" val="122192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491FDAB-2A41-445E-8755-70E0925AA319}"/>
              </a:ext>
            </a:extLst>
          </p:cNvPr>
          <p:cNvSpPr>
            <a:spLocks noGrp="1"/>
          </p:cNvSpPr>
          <p:nvPr>
            <p:ph type="title"/>
          </p:nvPr>
        </p:nvSpPr>
        <p:spPr/>
        <p:txBody>
          <a:bodyPr>
            <a:normAutofit fontScale="90000"/>
          </a:bodyPr>
          <a:lstStyle/>
          <a:p>
            <a:r>
              <a:rPr lang="tr-TR" dirty="0"/>
              <a:t>Temel Yapılandırma</a:t>
            </a:r>
          </a:p>
        </p:txBody>
      </p:sp>
      <p:sp>
        <p:nvSpPr>
          <p:cNvPr id="3" name="İçerik Yer Tutucusu 2">
            <a:extLst>
              <a:ext uri="{FF2B5EF4-FFF2-40B4-BE49-F238E27FC236}">
                <a16:creationId xmlns:a16="http://schemas.microsoft.com/office/drawing/2014/main" id="{C7872DFC-3E4E-419F-A922-6153A40A8E71}"/>
              </a:ext>
            </a:extLst>
          </p:cNvPr>
          <p:cNvSpPr>
            <a:spLocks noGrp="1"/>
          </p:cNvSpPr>
          <p:nvPr>
            <p:ph idx="1"/>
          </p:nvPr>
        </p:nvSpPr>
        <p:spPr>
          <a:xfrm>
            <a:off x="313765" y="1447800"/>
            <a:ext cx="8686800" cy="4929308"/>
          </a:xfrm>
        </p:spPr>
        <p:txBody>
          <a:bodyPr/>
          <a:lstStyle/>
          <a:p>
            <a:pPr marL="0" indent="0" algn="just">
              <a:buNone/>
            </a:pPr>
            <a:r>
              <a:rPr lang="tr-TR" sz="1500" dirty="0" err="1"/>
              <a:t>Route</a:t>
            </a:r>
            <a:r>
              <a:rPr lang="tr-TR" sz="1500" dirty="0"/>
              <a:t>(</a:t>
            </a:r>
            <a:r>
              <a:rPr lang="tr-TR" sz="1500" dirty="0" err="1"/>
              <a:t>config</a:t>
            </a:r>
            <a:r>
              <a:rPr lang="tr-TR" sz="1500" dirty="0"/>
              <a:t>)# </a:t>
            </a:r>
            <a:r>
              <a:rPr lang="tr-TR" sz="1500" dirty="0" err="1"/>
              <a:t>line</a:t>
            </a:r>
            <a:r>
              <a:rPr lang="tr-TR" sz="1500" dirty="0"/>
              <a:t> </a:t>
            </a:r>
            <a:r>
              <a:rPr lang="tr-TR" sz="1500" dirty="0" err="1"/>
              <a:t>vty</a:t>
            </a:r>
            <a:r>
              <a:rPr lang="tr-TR" sz="1500" dirty="0"/>
              <a:t> 0 4</a:t>
            </a:r>
          </a:p>
          <a:p>
            <a:pPr marL="0" indent="0" algn="just">
              <a:buNone/>
            </a:pPr>
            <a:endParaRPr lang="tr-TR" sz="1500" dirty="0"/>
          </a:p>
          <a:p>
            <a:pPr marL="0" indent="0" algn="just">
              <a:buNone/>
            </a:pPr>
            <a:r>
              <a:rPr lang="tr-TR" sz="1500" dirty="0" err="1"/>
              <a:t>Router</a:t>
            </a:r>
            <a:r>
              <a:rPr lang="tr-TR" sz="1500" dirty="0"/>
              <a:t>(</a:t>
            </a:r>
            <a:r>
              <a:rPr lang="tr-TR" sz="1500" dirty="0" err="1"/>
              <a:t>config</a:t>
            </a:r>
            <a:r>
              <a:rPr lang="tr-TR" sz="1500" dirty="0"/>
              <a:t>)# </a:t>
            </a:r>
            <a:r>
              <a:rPr lang="tr-TR" sz="1500" dirty="0" err="1"/>
              <a:t>password</a:t>
            </a:r>
            <a:r>
              <a:rPr lang="tr-TR" sz="1500" dirty="0"/>
              <a:t> &lt;</a:t>
            </a:r>
            <a:r>
              <a:rPr lang="tr-TR" sz="1500" dirty="0" err="1"/>
              <a:t>password</a:t>
            </a:r>
            <a:r>
              <a:rPr lang="tr-TR" sz="1500" dirty="0"/>
              <a:t>&gt;</a:t>
            </a:r>
          </a:p>
          <a:p>
            <a:pPr marL="0" indent="0" algn="just">
              <a:buNone/>
            </a:pPr>
            <a:endParaRPr lang="tr-TR" sz="1500" dirty="0"/>
          </a:p>
          <a:p>
            <a:pPr marL="0" indent="0" algn="just">
              <a:buNone/>
            </a:pPr>
            <a:r>
              <a:rPr lang="tr-TR" sz="1500" dirty="0" err="1"/>
              <a:t>Router</a:t>
            </a:r>
            <a:r>
              <a:rPr lang="tr-TR" sz="1500" dirty="0"/>
              <a:t>(</a:t>
            </a:r>
            <a:r>
              <a:rPr lang="tr-TR" sz="1500" dirty="0" err="1"/>
              <a:t>config</a:t>
            </a:r>
            <a:r>
              <a:rPr lang="tr-TR" sz="1500" dirty="0"/>
              <a:t>)# </a:t>
            </a:r>
            <a:r>
              <a:rPr lang="tr-TR" sz="1500" dirty="0" err="1"/>
              <a:t>login</a:t>
            </a:r>
            <a:endParaRPr lang="tr-TR" sz="1500" dirty="0"/>
          </a:p>
          <a:p>
            <a:pPr marL="0" indent="0" algn="just">
              <a:buNone/>
            </a:pPr>
            <a:endParaRPr lang="tr-TR" sz="1500" dirty="0"/>
          </a:p>
          <a:p>
            <a:pPr marL="0" indent="0" algn="just">
              <a:buNone/>
            </a:pPr>
            <a:r>
              <a:rPr lang="tr-TR" sz="1500" dirty="0"/>
              <a:t>0 4, 5 eşzamanlı bant içi bağlantıyı temsil eder. </a:t>
            </a:r>
            <a:r>
              <a:rPr lang="tr-TR" sz="1500" dirty="0" err="1"/>
              <a:t>line</a:t>
            </a:r>
            <a:r>
              <a:rPr lang="tr-TR" sz="1500" dirty="0"/>
              <a:t> </a:t>
            </a:r>
            <a:r>
              <a:rPr lang="tr-TR" sz="1500" dirty="0" err="1"/>
              <a:t>vty</a:t>
            </a:r>
            <a:r>
              <a:rPr lang="tr-TR" sz="1500" dirty="0"/>
              <a:t> 0 gibi belirli hat bağlantı numaraları belirleyerek her bağlantı için farklı bir parola ayarlamak mümkündür. </a:t>
            </a:r>
          </a:p>
          <a:p>
            <a:pPr marL="0" indent="0" algn="just">
              <a:buNone/>
            </a:pPr>
            <a:endParaRPr lang="tr-TR" sz="1500" dirty="0"/>
          </a:p>
          <a:p>
            <a:pPr marL="0" indent="0" algn="just">
              <a:buNone/>
            </a:pPr>
            <a:r>
              <a:rPr lang="tr-TR" sz="1500" dirty="0"/>
              <a:t>Parolaların doğru şekilde ayarlandığını doğrulamak için, </a:t>
            </a:r>
            <a:r>
              <a:rPr lang="tr-TR" sz="1500" dirty="0" err="1"/>
              <a:t>show</a:t>
            </a:r>
            <a:r>
              <a:rPr lang="tr-TR" sz="1500" dirty="0"/>
              <a:t> </a:t>
            </a:r>
            <a:r>
              <a:rPr lang="tr-TR" sz="1500" dirty="0" err="1"/>
              <a:t>running-config</a:t>
            </a:r>
            <a:r>
              <a:rPr lang="tr-TR" sz="1500" dirty="0"/>
              <a:t> (çalışan yapılandırmayı göster) komutunu kullanın. Bu parolalar, çalışan yapılandırmada şifresiz olarak saklanır. Bir yönlendiricide saklanan tüm parolalara şifreleme uygulayarak yetkisiz kişiler tarafından kolayca okunmalarını engellemek mümkündür. Küresel yapılandırma komutu service </a:t>
            </a:r>
            <a:r>
              <a:rPr lang="tr-TR" sz="1500" dirty="0" err="1"/>
              <a:t>password-encryption</a:t>
            </a:r>
            <a:r>
              <a:rPr lang="tr-TR" sz="1500" dirty="0"/>
              <a:t> (hizmet parola şifreleme), tüm parolaların şifrelenmesini sağlar.</a:t>
            </a:r>
          </a:p>
          <a:p>
            <a:pPr marL="0" indent="0" algn="just">
              <a:buNone/>
            </a:pPr>
            <a:endParaRPr lang="tr-TR" sz="1500" dirty="0"/>
          </a:p>
          <a:p>
            <a:pPr marL="0" indent="0" algn="just">
              <a:buNone/>
            </a:pPr>
            <a:r>
              <a:rPr lang="tr-TR" sz="1500" dirty="0"/>
              <a:t>Unutmayın, çalışan yapılandırma değiştirilirse, başlangıç yapılandırma dosyasına kopyalanmalıdır; aksi takdirde cihaz </a:t>
            </a:r>
            <a:r>
              <a:rPr lang="tr-TR" sz="1500" dirty="0" err="1"/>
              <a:t>kapatıldığnda</a:t>
            </a:r>
            <a:r>
              <a:rPr lang="tr-TR" sz="1500" dirty="0"/>
              <a:t> değişiklikler kaybolur. Çalışan yapılandırmada yapılan değişiklikleri yeniden başlangıç yapılandırma dosyasına kopyalamak için, </a:t>
            </a:r>
            <a:r>
              <a:rPr lang="tr-TR" sz="1500" dirty="0" err="1"/>
              <a:t>copy</a:t>
            </a:r>
            <a:r>
              <a:rPr lang="tr-TR" sz="1500" dirty="0"/>
              <a:t> </a:t>
            </a:r>
            <a:r>
              <a:rPr lang="tr-TR" sz="1500" dirty="0" err="1"/>
              <a:t>run</a:t>
            </a:r>
            <a:r>
              <a:rPr lang="tr-TR" sz="1500" dirty="0"/>
              <a:t> start (çalışan yapılandırmayı başlangıç yapılandırmasına kopyala) komutunu kullanın.</a:t>
            </a:r>
          </a:p>
        </p:txBody>
      </p:sp>
    </p:spTree>
    <p:extLst>
      <p:ext uri="{BB962C8B-B14F-4D97-AF65-F5344CB8AC3E}">
        <p14:creationId xmlns:p14="http://schemas.microsoft.com/office/powerpoint/2010/main" val="2334070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1A14FF2-C9AB-444B-8635-EECBCB2BABFC}"/>
              </a:ext>
            </a:extLst>
          </p:cNvPr>
          <p:cNvSpPr>
            <a:spLocks noGrp="1"/>
          </p:cNvSpPr>
          <p:nvPr>
            <p:ph type="title"/>
          </p:nvPr>
        </p:nvSpPr>
        <p:spPr/>
        <p:txBody>
          <a:bodyPr>
            <a:normAutofit fontScale="90000"/>
          </a:bodyPr>
          <a:lstStyle/>
          <a:p>
            <a:r>
              <a:rPr lang="tr-TR" dirty="0"/>
              <a:t>Temel Yapılandırma</a:t>
            </a:r>
          </a:p>
        </p:txBody>
      </p:sp>
      <p:pic>
        <p:nvPicPr>
          <p:cNvPr id="4" name="Resim 3">
            <a:extLst>
              <a:ext uri="{FF2B5EF4-FFF2-40B4-BE49-F238E27FC236}">
                <a16:creationId xmlns:a16="http://schemas.microsoft.com/office/drawing/2014/main" id="{54B52AE7-2B8C-4000-B474-F2522766F328}"/>
              </a:ext>
            </a:extLst>
          </p:cNvPr>
          <p:cNvPicPr>
            <a:picLocks noChangeAspect="1"/>
          </p:cNvPicPr>
          <p:nvPr/>
        </p:nvPicPr>
        <p:blipFill>
          <a:blip r:embed="rId2"/>
          <a:stretch>
            <a:fillRect/>
          </a:stretch>
        </p:blipFill>
        <p:spPr>
          <a:xfrm>
            <a:off x="313765" y="1752600"/>
            <a:ext cx="8525435" cy="3800194"/>
          </a:xfrm>
          <a:prstGeom prst="rect">
            <a:avLst/>
          </a:prstGeom>
        </p:spPr>
      </p:pic>
    </p:spTree>
    <p:extLst>
      <p:ext uri="{BB962C8B-B14F-4D97-AF65-F5344CB8AC3E}">
        <p14:creationId xmlns:p14="http://schemas.microsoft.com/office/powerpoint/2010/main" val="2079764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64394AC-4386-404D-B5B0-02A456A0DCB8}"/>
              </a:ext>
            </a:extLst>
          </p:cNvPr>
          <p:cNvSpPr>
            <a:spLocks noGrp="1"/>
          </p:cNvSpPr>
          <p:nvPr>
            <p:ph type="title"/>
          </p:nvPr>
        </p:nvSpPr>
        <p:spPr/>
        <p:txBody>
          <a:bodyPr>
            <a:normAutofit fontScale="90000"/>
          </a:bodyPr>
          <a:lstStyle/>
          <a:p>
            <a:r>
              <a:rPr lang="tr-TR" dirty="0"/>
              <a:t>Bir </a:t>
            </a:r>
            <a:r>
              <a:rPr lang="tr-TR" dirty="0" err="1"/>
              <a:t>Arayüzü</a:t>
            </a:r>
            <a:r>
              <a:rPr lang="tr-TR" dirty="0"/>
              <a:t> Yapılandırma</a:t>
            </a:r>
          </a:p>
        </p:txBody>
      </p:sp>
      <p:sp>
        <p:nvSpPr>
          <p:cNvPr id="3" name="İçerik Yer Tutucusu 2">
            <a:extLst>
              <a:ext uri="{FF2B5EF4-FFF2-40B4-BE49-F238E27FC236}">
                <a16:creationId xmlns:a16="http://schemas.microsoft.com/office/drawing/2014/main" id="{7DE8FB58-4BAF-4627-BA78-1D9F18DCB0BC}"/>
              </a:ext>
            </a:extLst>
          </p:cNvPr>
          <p:cNvSpPr>
            <a:spLocks noGrp="1"/>
          </p:cNvSpPr>
          <p:nvPr>
            <p:ph idx="1"/>
          </p:nvPr>
        </p:nvSpPr>
        <p:spPr>
          <a:xfrm>
            <a:off x="313765" y="1371600"/>
            <a:ext cx="8686800" cy="4929308"/>
          </a:xfrm>
        </p:spPr>
        <p:txBody>
          <a:bodyPr/>
          <a:lstStyle/>
          <a:p>
            <a:pPr marL="0" indent="0" algn="just">
              <a:buNone/>
            </a:pPr>
            <a:r>
              <a:rPr lang="tr-TR" sz="1450" dirty="0"/>
              <a:t>Trafiği bir ağdan diğerine yönlendirmek için yönlendirici </a:t>
            </a:r>
            <a:r>
              <a:rPr lang="tr-TR" sz="1450" dirty="0" err="1"/>
              <a:t>arayüzleri</a:t>
            </a:r>
            <a:r>
              <a:rPr lang="tr-TR" sz="1450" dirty="0"/>
              <a:t>, ağların her birine katılmak üzere yapılandırılır. Bir ağa bağlanan yönlendirici </a:t>
            </a:r>
            <a:r>
              <a:rPr lang="tr-TR" sz="1450" dirty="0" err="1"/>
              <a:t>arayüzü</a:t>
            </a:r>
            <a:r>
              <a:rPr lang="tr-TR" sz="1450" dirty="0"/>
              <a:t>, genel olarak o ağ için belirlenen konak bilgisayar aralığında bulunan bir IP adresine ve alt ağ maskesine sahip olacaktır. </a:t>
            </a:r>
          </a:p>
          <a:p>
            <a:pPr marL="0" indent="0" algn="just">
              <a:buNone/>
            </a:pPr>
            <a:endParaRPr lang="tr-TR" sz="1450" dirty="0"/>
          </a:p>
          <a:p>
            <a:pPr marL="0" indent="0" algn="just">
              <a:buNone/>
            </a:pPr>
            <a:r>
              <a:rPr lang="tr-TR" sz="1450" dirty="0"/>
              <a:t>Bir yönlendiricide farklı </a:t>
            </a:r>
            <a:r>
              <a:rPr lang="tr-TR" sz="1450" dirty="0" err="1"/>
              <a:t>arayüz</a:t>
            </a:r>
            <a:r>
              <a:rPr lang="tr-TR" sz="1450" dirty="0"/>
              <a:t> tipleri bulunur. Seri </a:t>
            </a:r>
            <a:r>
              <a:rPr lang="tr-TR" sz="1450" dirty="0" err="1"/>
              <a:t>arayüz</a:t>
            </a:r>
            <a:r>
              <a:rPr lang="tr-TR" sz="1450" dirty="0"/>
              <a:t> ve Ethernet </a:t>
            </a:r>
            <a:r>
              <a:rPr lang="tr-TR" sz="1450" dirty="0" err="1"/>
              <a:t>arayüzü</a:t>
            </a:r>
            <a:r>
              <a:rPr lang="tr-TR" sz="1450" dirty="0"/>
              <a:t> en yaygın kullanılan </a:t>
            </a:r>
            <a:r>
              <a:rPr lang="tr-TR" sz="1450" dirty="0" err="1"/>
              <a:t>arayüzlerdir</a:t>
            </a:r>
            <a:r>
              <a:rPr lang="tr-TR" sz="1450" dirty="0"/>
              <a:t>. Yerel ağ bağlantıları, Ethernet </a:t>
            </a:r>
            <a:r>
              <a:rPr lang="tr-TR" sz="1450" dirty="0" err="1"/>
              <a:t>arayüzleri</a:t>
            </a:r>
            <a:r>
              <a:rPr lang="tr-TR" sz="1450" dirty="0"/>
              <a:t> kullanır.</a:t>
            </a:r>
          </a:p>
          <a:p>
            <a:pPr marL="0" indent="0" algn="just">
              <a:buNone/>
            </a:pPr>
            <a:endParaRPr lang="tr-TR" sz="1450" dirty="0"/>
          </a:p>
          <a:p>
            <a:pPr marL="0" indent="0" algn="just">
              <a:buNone/>
            </a:pPr>
            <a:r>
              <a:rPr lang="tr-TR" sz="1450" dirty="0"/>
              <a:t>WAN bağlantıları için bir ISP aracılığıyla seri bağlantı gerekir. Seri </a:t>
            </a:r>
            <a:r>
              <a:rPr lang="tr-TR" sz="1450" dirty="0" err="1"/>
              <a:t>arayüzler</a:t>
            </a:r>
            <a:r>
              <a:rPr lang="tr-TR" sz="1450" dirty="0"/>
              <a:t>, Ethernet </a:t>
            </a:r>
            <a:r>
              <a:rPr lang="tr-TR" sz="1450" dirty="0" err="1"/>
              <a:t>arayüzlerinin</a:t>
            </a:r>
            <a:r>
              <a:rPr lang="tr-TR" sz="1450" dirty="0"/>
              <a:t> aksine, iletişimlerin zamanlamasını denetlemek için saat hızı olarak adlandırılan bir saat sinyaline ihtiyaç duyar. Çoğu ortamda, modem veya CSU/DSU gibi veri iletişim ekipmanı (DCE) cihazları saat hızı işlevini sağlar.</a:t>
            </a:r>
          </a:p>
          <a:p>
            <a:pPr marL="0" indent="0" algn="just">
              <a:buNone/>
            </a:pPr>
            <a:endParaRPr lang="tr-TR" sz="1450" dirty="0"/>
          </a:p>
          <a:p>
            <a:pPr marL="0" indent="0" algn="just">
              <a:buNone/>
            </a:pPr>
            <a:r>
              <a:rPr lang="tr-TR" sz="1450" dirty="0"/>
              <a:t>Bir yönlendirici seri bağlantı kullanarak ISP'ye bağlandığında, WAN sayısal ise, bir CSU/DSU gereklidir. WAN analog ise, bir modem gerekir. Bu cihazlar, yönlendiriciden gelen verileri </a:t>
            </a:r>
            <a:r>
              <a:rPr lang="tr-TR" sz="1450" dirty="0" err="1"/>
              <a:t>WAN'dan</a:t>
            </a:r>
            <a:r>
              <a:rPr lang="tr-TR" sz="1450" dirty="0"/>
              <a:t> geçebilecek bir biçime dönüştürür ve </a:t>
            </a:r>
            <a:r>
              <a:rPr lang="tr-TR" sz="1450" dirty="0" err="1"/>
              <a:t>WAN'dan</a:t>
            </a:r>
            <a:r>
              <a:rPr lang="tr-TR" sz="1450" dirty="0"/>
              <a:t> gelen verileri de yönlendirici için kabul edilebilir bir formata dönüştürür. Varsayılan olarak, Cisco yönlendiriciler veri uçbirim ekipmanı (DTE) cihazlarıdır. DCE cihazları yönlendirici ile iletişimin zamanlamasını denetlediği için, Cisco DTE cihazları DCE cihazından gelen saat hızını kabul eder. </a:t>
            </a:r>
          </a:p>
          <a:p>
            <a:pPr marL="0" indent="0" algn="just">
              <a:buNone/>
            </a:pPr>
            <a:endParaRPr lang="tr-TR" sz="1450" dirty="0"/>
          </a:p>
          <a:p>
            <a:pPr marL="0" indent="0" algn="just">
              <a:buNone/>
            </a:pPr>
            <a:r>
              <a:rPr lang="tr-TR" sz="1450" dirty="0"/>
              <a:t>Pek yaygın olmasa da, iki yönlendiriciyi seri bağlantı kullanarak doğrudan birbirine bağlamak mümkündür. Bu durumda CSU/DSU veya modem kullanılmaz ve yönlendiricilerden birinin, saat işlevini sağlamak üzere DCE cihazı olarak yapılandırılması gerekir. Yönlendirici DCE cihazı olarak bağlanırsa, DCE/DTE bağlantısının zamanlamasını denetlemek için yönlendirici </a:t>
            </a:r>
            <a:r>
              <a:rPr lang="tr-TR" sz="1450" dirty="0" err="1"/>
              <a:t>arayüzünde</a:t>
            </a:r>
            <a:r>
              <a:rPr lang="tr-TR" sz="1450" dirty="0"/>
              <a:t> bir saat hızı ayarlanmalıdır.</a:t>
            </a:r>
          </a:p>
        </p:txBody>
      </p:sp>
    </p:spTree>
    <p:extLst>
      <p:ext uri="{BB962C8B-B14F-4D97-AF65-F5344CB8AC3E}">
        <p14:creationId xmlns:p14="http://schemas.microsoft.com/office/powerpoint/2010/main" val="24210165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06F1B70-7FDF-4E52-B6D3-5BF2E6F6EB29}"/>
              </a:ext>
            </a:extLst>
          </p:cNvPr>
          <p:cNvSpPr>
            <a:spLocks noGrp="1"/>
          </p:cNvSpPr>
          <p:nvPr>
            <p:ph type="title"/>
          </p:nvPr>
        </p:nvSpPr>
        <p:spPr/>
        <p:txBody>
          <a:bodyPr>
            <a:normAutofit fontScale="90000"/>
          </a:bodyPr>
          <a:lstStyle/>
          <a:p>
            <a:r>
              <a:rPr lang="tr-TR" dirty="0"/>
              <a:t>Bir </a:t>
            </a:r>
            <a:r>
              <a:rPr lang="tr-TR" dirty="0" err="1"/>
              <a:t>Arayüzü</a:t>
            </a:r>
            <a:r>
              <a:rPr lang="tr-TR" dirty="0"/>
              <a:t> Yapılandırma</a:t>
            </a:r>
          </a:p>
        </p:txBody>
      </p:sp>
      <p:sp>
        <p:nvSpPr>
          <p:cNvPr id="3" name="İçerik Yer Tutucusu 2">
            <a:extLst>
              <a:ext uri="{FF2B5EF4-FFF2-40B4-BE49-F238E27FC236}">
                <a16:creationId xmlns:a16="http://schemas.microsoft.com/office/drawing/2014/main" id="{AD3F300C-33C7-41EE-BE92-6B6755163A88}"/>
              </a:ext>
            </a:extLst>
          </p:cNvPr>
          <p:cNvSpPr>
            <a:spLocks noGrp="1"/>
          </p:cNvSpPr>
          <p:nvPr>
            <p:ph idx="1"/>
          </p:nvPr>
        </p:nvSpPr>
        <p:spPr/>
        <p:txBody>
          <a:bodyPr/>
          <a:lstStyle/>
          <a:p>
            <a:pPr marL="0" indent="0" algn="just">
              <a:buNone/>
            </a:pPr>
            <a:r>
              <a:rPr lang="tr-TR" sz="1600" dirty="0"/>
              <a:t>Yönlendirici üzerinde bir </a:t>
            </a:r>
            <a:r>
              <a:rPr lang="tr-TR" sz="1600" dirty="0" err="1"/>
              <a:t>arayüzü</a:t>
            </a:r>
            <a:r>
              <a:rPr lang="tr-TR" sz="1600" dirty="0"/>
              <a:t> yapılandırma işlemi, küresel yapılandırma kipinde gerçekleştirilmelidir. Bir Ethernet </a:t>
            </a:r>
            <a:r>
              <a:rPr lang="tr-TR" sz="1600" dirty="0" err="1"/>
              <a:t>arayüzünü</a:t>
            </a:r>
            <a:r>
              <a:rPr lang="tr-TR" sz="1600" dirty="0"/>
              <a:t> yapılandırmak, bir seri </a:t>
            </a:r>
            <a:r>
              <a:rPr lang="tr-TR" sz="1600" dirty="0" err="1"/>
              <a:t>arayüzü</a:t>
            </a:r>
            <a:r>
              <a:rPr lang="tr-TR" sz="1600" dirty="0"/>
              <a:t> yapılandırmaya çok benzer. Temel farklılıklardan biri, seri </a:t>
            </a:r>
            <a:r>
              <a:rPr lang="tr-TR" sz="1600" dirty="0" err="1"/>
              <a:t>arayüzün</a:t>
            </a:r>
            <a:r>
              <a:rPr lang="tr-TR" sz="1600" dirty="0"/>
              <a:t> bir DCE cihazı olarak hareket etmesi halinde ayarlı bir saat hızının bulunmasının gerekli olmasıdır.</a:t>
            </a:r>
          </a:p>
          <a:p>
            <a:pPr marL="0" indent="0" algn="just">
              <a:buNone/>
            </a:pPr>
            <a:endParaRPr lang="tr-TR" sz="1600" dirty="0"/>
          </a:p>
          <a:p>
            <a:pPr marL="0" indent="0" algn="just">
              <a:buNone/>
            </a:pPr>
            <a:r>
              <a:rPr lang="tr-TR" sz="1600" dirty="0"/>
              <a:t>Bir </a:t>
            </a:r>
            <a:r>
              <a:rPr lang="tr-TR" sz="1600" dirty="0" err="1"/>
              <a:t>arayüzü</a:t>
            </a:r>
            <a:r>
              <a:rPr lang="tr-TR" sz="1600" dirty="0"/>
              <a:t> yapılandırmanın adımları şunları içerir:</a:t>
            </a:r>
          </a:p>
          <a:p>
            <a:pPr marL="0" indent="0" algn="just">
              <a:buNone/>
            </a:pPr>
            <a:endParaRPr lang="tr-TR" sz="1600" dirty="0"/>
          </a:p>
          <a:p>
            <a:pPr marL="0" indent="0" algn="just">
              <a:buNone/>
            </a:pPr>
            <a:r>
              <a:rPr lang="tr-TR" sz="1600" dirty="0"/>
              <a:t>1. Adım. </a:t>
            </a:r>
            <a:r>
              <a:rPr lang="tr-TR" sz="1600" dirty="0" err="1"/>
              <a:t>Arayüz</a:t>
            </a:r>
            <a:r>
              <a:rPr lang="tr-TR" sz="1600" dirty="0"/>
              <a:t> tipini ve </a:t>
            </a:r>
            <a:r>
              <a:rPr lang="tr-TR" sz="1600" dirty="0" err="1"/>
              <a:t>arayüz</a:t>
            </a:r>
            <a:r>
              <a:rPr lang="tr-TR" sz="1600" dirty="0"/>
              <a:t> bağlantı noktası numarasını belirleme.</a:t>
            </a:r>
          </a:p>
          <a:p>
            <a:pPr marL="0" indent="0" algn="just">
              <a:buNone/>
            </a:pPr>
            <a:endParaRPr lang="tr-TR" sz="1600" dirty="0"/>
          </a:p>
          <a:p>
            <a:pPr marL="0" indent="0" algn="just">
              <a:buNone/>
            </a:pPr>
            <a:r>
              <a:rPr lang="tr-TR" sz="1600" dirty="0"/>
              <a:t>2. </a:t>
            </a:r>
            <a:r>
              <a:rPr lang="tr-TR" sz="1600" dirty="0" err="1"/>
              <a:t>Adım.Arayüzün</a:t>
            </a:r>
            <a:r>
              <a:rPr lang="tr-TR" sz="1600" dirty="0"/>
              <a:t> tanımını belirleme.</a:t>
            </a:r>
          </a:p>
          <a:p>
            <a:pPr marL="0" indent="0" algn="just">
              <a:buNone/>
            </a:pPr>
            <a:endParaRPr lang="tr-TR" sz="1600" dirty="0"/>
          </a:p>
          <a:p>
            <a:pPr marL="0" indent="0" algn="just">
              <a:buNone/>
            </a:pPr>
            <a:r>
              <a:rPr lang="tr-TR" sz="1600" dirty="0"/>
              <a:t>3. Adım. </a:t>
            </a:r>
            <a:r>
              <a:rPr lang="tr-TR" sz="1600" dirty="0" err="1"/>
              <a:t>Arayüz</a:t>
            </a:r>
            <a:r>
              <a:rPr lang="tr-TR" sz="1600" dirty="0"/>
              <a:t> IP adresini ve alt ağ maskesini yapılandırma.</a:t>
            </a:r>
          </a:p>
          <a:p>
            <a:pPr marL="0" indent="0" algn="just">
              <a:buNone/>
            </a:pPr>
            <a:endParaRPr lang="tr-TR" sz="1600" dirty="0"/>
          </a:p>
          <a:p>
            <a:pPr marL="0" indent="0" algn="just">
              <a:buNone/>
            </a:pPr>
            <a:r>
              <a:rPr lang="tr-TR" sz="1600" dirty="0"/>
              <a:t>4. Adım. Bir seri </a:t>
            </a:r>
            <a:r>
              <a:rPr lang="tr-TR" sz="1600" dirty="0" err="1"/>
              <a:t>arayüz</a:t>
            </a:r>
            <a:r>
              <a:rPr lang="tr-TR" sz="1600" dirty="0"/>
              <a:t> DCE olarak yapılandırılıyorsa saat hızını ayarlama.</a:t>
            </a:r>
          </a:p>
          <a:p>
            <a:pPr marL="0" indent="0" algn="just">
              <a:buNone/>
            </a:pPr>
            <a:endParaRPr lang="tr-TR" sz="1600" dirty="0"/>
          </a:p>
          <a:p>
            <a:pPr marL="0" indent="0" algn="just">
              <a:buNone/>
            </a:pPr>
            <a:r>
              <a:rPr lang="tr-TR" sz="1600" dirty="0"/>
              <a:t>5. Adım. </a:t>
            </a:r>
            <a:r>
              <a:rPr lang="tr-TR" sz="1600" dirty="0" err="1"/>
              <a:t>Arayüzü</a:t>
            </a:r>
            <a:r>
              <a:rPr lang="tr-TR" sz="1600" dirty="0"/>
              <a:t> etkinleştirme.</a:t>
            </a:r>
          </a:p>
        </p:txBody>
      </p:sp>
    </p:spTree>
    <p:extLst>
      <p:ext uri="{BB962C8B-B14F-4D97-AF65-F5344CB8AC3E}">
        <p14:creationId xmlns:p14="http://schemas.microsoft.com/office/powerpoint/2010/main" val="3496557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2BC4B4F-8600-4806-9C8C-C2E236850935}"/>
              </a:ext>
            </a:extLst>
          </p:cNvPr>
          <p:cNvSpPr>
            <a:spLocks noGrp="1"/>
          </p:cNvSpPr>
          <p:nvPr>
            <p:ph type="title"/>
          </p:nvPr>
        </p:nvSpPr>
        <p:spPr/>
        <p:txBody>
          <a:bodyPr>
            <a:normAutofit fontScale="90000"/>
          </a:bodyPr>
          <a:lstStyle/>
          <a:p>
            <a:r>
              <a:rPr lang="tr-TR" dirty="0"/>
              <a:t>Bir </a:t>
            </a:r>
            <a:r>
              <a:rPr lang="tr-TR" dirty="0" err="1"/>
              <a:t>Arayüzü</a:t>
            </a:r>
            <a:r>
              <a:rPr lang="tr-TR" dirty="0"/>
              <a:t> Yapılandırma</a:t>
            </a:r>
          </a:p>
        </p:txBody>
      </p:sp>
      <p:sp>
        <p:nvSpPr>
          <p:cNvPr id="3" name="İçerik Yer Tutucusu 2">
            <a:extLst>
              <a:ext uri="{FF2B5EF4-FFF2-40B4-BE49-F238E27FC236}">
                <a16:creationId xmlns:a16="http://schemas.microsoft.com/office/drawing/2014/main" id="{3EAA5B8D-76EA-405D-BD44-B4972F07045C}"/>
              </a:ext>
            </a:extLst>
          </p:cNvPr>
          <p:cNvSpPr>
            <a:spLocks noGrp="1"/>
          </p:cNvSpPr>
          <p:nvPr>
            <p:ph idx="1"/>
          </p:nvPr>
        </p:nvSpPr>
        <p:spPr/>
        <p:txBody>
          <a:bodyPr/>
          <a:lstStyle/>
          <a:p>
            <a:pPr marL="0" indent="0" algn="just">
              <a:buNone/>
            </a:pPr>
            <a:r>
              <a:rPr lang="tr-TR" sz="1800" dirty="0" err="1"/>
              <a:t>Arayüz</a:t>
            </a:r>
            <a:r>
              <a:rPr lang="tr-TR" sz="1800" dirty="0"/>
              <a:t> etkinleştirildikten sonra, bakım veya sorun giderme çalışmaları için </a:t>
            </a:r>
            <a:r>
              <a:rPr lang="tr-TR" sz="1800" dirty="0" err="1"/>
              <a:t>arayüzün</a:t>
            </a:r>
            <a:r>
              <a:rPr lang="tr-TR" sz="1800" dirty="0"/>
              <a:t> kapatılması gerekebilir. Bu durumda </a:t>
            </a:r>
            <a:r>
              <a:rPr lang="tr-TR" sz="1800" dirty="0" err="1"/>
              <a:t>shutdown</a:t>
            </a:r>
            <a:r>
              <a:rPr lang="tr-TR" sz="1800" dirty="0"/>
              <a:t> (kapat) komutunu kullanın.</a:t>
            </a:r>
          </a:p>
          <a:p>
            <a:pPr marL="0" indent="0" algn="just">
              <a:buNone/>
            </a:pPr>
            <a:endParaRPr lang="tr-TR" sz="1800" dirty="0"/>
          </a:p>
          <a:p>
            <a:pPr marL="0" indent="0" algn="just">
              <a:buNone/>
            </a:pPr>
            <a:r>
              <a:rPr lang="tr-TR" sz="1800" dirty="0"/>
              <a:t>1841 üzerinde seri </a:t>
            </a:r>
            <a:r>
              <a:rPr lang="tr-TR" sz="1800" dirty="0" err="1"/>
              <a:t>arayüzü</a:t>
            </a:r>
            <a:r>
              <a:rPr lang="tr-TR" sz="1800" dirty="0"/>
              <a:t> yapılandırırken, seri </a:t>
            </a:r>
            <a:r>
              <a:rPr lang="tr-TR" sz="1800" dirty="0" err="1"/>
              <a:t>arayüz</a:t>
            </a:r>
            <a:r>
              <a:rPr lang="tr-TR" sz="1800" dirty="0"/>
              <a:t> C/S/P biçiminde 3 haneden oluşur ve burada C=Controller# (Denetleyici), S=</a:t>
            </a:r>
            <a:r>
              <a:rPr lang="tr-TR" sz="1800" dirty="0" err="1"/>
              <a:t>Slot</a:t>
            </a:r>
            <a:r>
              <a:rPr lang="tr-TR" sz="1800" dirty="0"/>
              <a:t># (Yuva) ve P=Port# (Bağlantı Noktası) anlamına gelir. 1841'de iki modüler yuva vardır. Seri0/0/0 ifadesi, seri </a:t>
            </a:r>
            <a:r>
              <a:rPr lang="tr-TR" sz="1800" dirty="0" err="1"/>
              <a:t>arayüz</a:t>
            </a:r>
            <a:r>
              <a:rPr lang="tr-TR" sz="1800" dirty="0"/>
              <a:t> modülünün denetleyici 0'da ve yuva 0'da olduğunu ve kullanılacak </a:t>
            </a:r>
            <a:r>
              <a:rPr lang="tr-TR" sz="1800" dirty="0" err="1"/>
              <a:t>arayüzün</a:t>
            </a:r>
            <a:r>
              <a:rPr lang="tr-TR" sz="1800" dirty="0"/>
              <a:t> ilk </a:t>
            </a:r>
            <a:r>
              <a:rPr lang="tr-TR" sz="1800" dirty="0" err="1"/>
              <a:t>arayüz</a:t>
            </a:r>
            <a:r>
              <a:rPr lang="tr-TR" sz="1800" dirty="0"/>
              <a:t> (0) olduğunu gösterir. İkinci </a:t>
            </a:r>
            <a:r>
              <a:rPr lang="tr-TR" sz="1800" dirty="0" err="1"/>
              <a:t>arayüz</a:t>
            </a:r>
            <a:r>
              <a:rPr lang="tr-TR" sz="1800" dirty="0"/>
              <a:t> Seri0/0/1'dir. Seri modül normalde yuva 0'a yüklenir ancak yuva 1'e de yüklenebilir. Yuva 1'e yüklenmişse, ilk seri </a:t>
            </a:r>
            <a:r>
              <a:rPr lang="tr-TR" sz="1800" dirty="0" err="1"/>
              <a:t>arayüzün</a:t>
            </a:r>
            <a:r>
              <a:rPr lang="tr-TR" sz="1800" dirty="0"/>
              <a:t> ifadesi Seri0/1/0 ve ikincisinin ifadesi Seri0/1/1 olur.</a:t>
            </a:r>
          </a:p>
          <a:p>
            <a:pPr marL="0" indent="0" algn="just">
              <a:buNone/>
            </a:pPr>
            <a:endParaRPr lang="tr-TR" sz="1800" dirty="0"/>
          </a:p>
          <a:p>
            <a:pPr marL="0" indent="0" algn="just">
              <a:buNone/>
            </a:pPr>
            <a:r>
              <a:rPr lang="tr-TR" sz="1800" dirty="0" err="1"/>
              <a:t>FastEthernet</a:t>
            </a:r>
            <a:r>
              <a:rPr lang="tr-TR" sz="1800" dirty="0"/>
              <a:t> bağlantı noktaları gibi yerleşik bağlantı noktalarının işareti C/P biçiminde 2 hanelidir ve burada C=Controller# (Denetleyici) ve P=Port# (Bağlantı Noktası) anlamına gelir. Fa0/0 ifadesinde, denetleyici 0'ı ve </a:t>
            </a:r>
            <a:r>
              <a:rPr lang="tr-TR" sz="1800" dirty="0" err="1"/>
              <a:t>arayüz</a:t>
            </a:r>
            <a:r>
              <a:rPr lang="tr-TR" sz="1800" dirty="0"/>
              <a:t> 0'ı gösterir.</a:t>
            </a:r>
          </a:p>
        </p:txBody>
      </p:sp>
    </p:spTree>
    <p:extLst>
      <p:ext uri="{BB962C8B-B14F-4D97-AF65-F5344CB8AC3E}">
        <p14:creationId xmlns:p14="http://schemas.microsoft.com/office/powerpoint/2010/main" val="754267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41BD2A7-8AEF-415E-AA18-2FDAF83D71EC}"/>
              </a:ext>
            </a:extLst>
          </p:cNvPr>
          <p:cNvSpPr>
            <a:spLocks noGrp="1"/>
          </p:cNvSpPr>
          <p:nvPr>
            <p:ph type="title"/>
          </p:nvPr>
        </p:nvSpPr>
        <p:spPr/>
        <p:txBody>
          <a:bodyPr>
            <a:normAutofit fontScale="90000"/>
          </a:bodyPr>
          <a:lstStyle/>
          <a:p>
            <a:r>
              <a:rPr lang="tr-TR" dirty="0"/>
              <a:t>Bir </a:t>
            </a:r>
            <a:r>
              <a:rPr lang="tr-TR" dirty="0" err="1"/>
              <a:t>Arayüzü</a:t>
            </a:r>
            <a:r>
              <a:rPr lang="tr-TR" dirty="0"/>
              <a:t> Yapılandırma</a:t>
            </a:r>
          </a:p>
        </p:txBody>
      </p:sp>
      <p:pic>
        <p:nvPicPr>
          <p:cNvPr id="4" name="Resim 3">
            <a:extLst>
              <a:ext uri="{FF2B5EF4-FFF2-40B4-BE49-F238E27FC236}">
                <a16:creationId xmlns:a16="http://schemas.microsoft.com/office/drawing/2014/main" id="{E0CC0148-15FA-48C6-B147-3F4A24F347E2}"/>
              </a:ext>
            </a:extLst>
          </p:cNvPr>
          <p:cNvPicPr>
            <a:picLocks noChangeAspect="1"/>
          </p:cNvPicPr>
          <p:nvPr/>
        </p:nvPicPr>
        <p:blipFill>
          <a:blip r:embed="rId2"/>
          <a:stretch>
            <a:fillRect/>
          </a:stretch>
        </p:blipFill>
        <p:spPr>
          <a:xfrm>
            <a:off x="155542" y="1828800"/>
            <a:ext cx="8802278" cy="3500220"/>
          </a:xfrm>
          <a:prstGeom prst="rect">
            <a:avLst/>
          </a:prstGeom>
        </p:spPr>
      </p:pic>
    </p:spTree>
    <p:extLst>
      <p:ext uri="{BB962C8B-B14F-4D97-AF65-F5344CB8AC3E}">
        <p14:creationId xmlns:p14="http://schemas.microsoft.com/office/powerpoint/2010/main" val="1550090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AA81C56-A6B2-4A16-84B5-7A0A971DC9AB}"/>
              </a:ext>
            </a:extLst>
          </p:cNvPr>
          <p:cNvSpPr>
            <a:spLocks noGrp="1"/>
          </p:cNvSpPr>
          <p:nvPr>
            <p:ph type="title"/>
          </p:nvPr>
        </p:nvSpPr>
        <p:spPr/>
        <p:txBody>
          <a:bodyPr>
            <a:normAutofit fontScale="90000"/>
          </a:bodyPr>
          <a:lstStyle/>
          <a:p>
            <a:r>
              <a:rPr lang="tr-TR" dirty="0"/>
              <a:t>Bir Varsayılan Rota Yapılandırma</a:t>
            </a:r>
          </a:p>
        </p:txBody>
      </p:sp>
      <p:sp>
        <p:nvSpPr>
          <p:cNvPr id="3" name="İçerik Yer Tutucusu 2">
            <a:extLst>
              <a:ext uri="{FF2B5EF4-FFF2-40B4-BE49-F238E27FC236}">
                <a16:creationId xmlns:a16="http://schemas.microsoft.com/office/drawing/2014/main" id="{E2FFBC12-0ECF-48CA-BFE9-FF87D21BB112}"/>
              </a:ext>
            </a:extLst>
          </p:cNvPr>
          <p:cNvSpPr>
            <a:spLocks noGrp="1"/>
          </p:cNvSpPr>
          <p:nvPr>
            <p:ph idx="1"/>
          </p:nvPr>
        </p:nvSpPr>
        <p:spPr/>
        <p:txBody>
          <a:bodyPr/>
          <a:lstStyle/>
          <a:p>
            <a:pPr marL="0" indent="0" algn="just">
              <a:buNone/>
            </a:pPr>
            <a:r>
              <a:rPr lang="tr-TR" sz="1600" dirty="0"/>
              <a:t>Bir yönlendirici, paketlerde belirtilen hedef IP adresine dayalı olarak, paketleri bir ağdan başka bir ağa iletir. Hedef ağa ulaşması için paketi nerden göndermek gerektiğini belirlemek amacıyla yönlendirme tablosunu inceler. Yönlendiricide yönlendirme tablosunda bulunan belirli bir ağa giden bir rota yoksa, yönlendiriciye paketi nasıl ileteceğini söylemek için varsayılan bir rota yapılandırılabilir. Yönlendirici, varsayılan rotayı yalnızca bir paketi nereye göndereceğini bilmediği durumlarda kullanır.</a:t>
            </a:r>
          </a:p>
          <a:p>
            <a:pPr marL="0" indent="0" algn="just">
              <a:buNone/>
            </a:pPr>
            <a:endParaRPr lang="tr-TR" sz="1600" dirty="0"/>
          </a:p>
          <a:p>
            <a:pPr marL="0" indent="0" algn="just">
              <a:buNone/>
            </a:pPr>
            <a:r>
              <a:rPr lang="tr-TR" sz="1600" dirty="0"/>
              <a:t>Genel olarak varsayılan rota, İnternet'e giden yol üzerindeki bir sonraki sekme yönlendiricisine işaret eder. Varsayılan rotayı yapılandırmak için ihtiyaç duyulan bilgi, sonraki sekme yönlendiricisinin IP adresi veya yönlendiricinin hedef ağı bilinmeyen bir trafiği iletmek için kullandığı </a:t>
            </a:r>
            <a:r>
              <a:rPr lang="tr-TR" sz="1600" dirty="0" err="1"/>
              <a:t>arayüz</a:t>
            </a:r>
            <a:r>
              <a:rPr lang="tr-TR" sz="1600" dirty="0"/>
              <a:t> bilgisidir. </a:t>
            </a:r>
          </a:p>
          <a:p>
            <a:pPr marL="0" indent="0" algn="just">
              <a:buNone/>
            </a:pPr>
            <a:endParaRPr lang="tr-TR" sz="1600" dirty="0"/>
          </a:p>
          <a:p>
            <a:pPr marL="0" indent="0" algn="just">
              <a:buNone/>
            </a:pPr>
            <a:r>
              <a:rPr lang="tr-TR" sz="1600" dirty="0"/>
              <a:t>Bir Cisco </a:t>
            </a:r>
            <a:r>
              <a:rPr lang="tr-TR" sz="1600" dirty="0" err="1"/>
              <a:t>ISR'de</a:t>
            </a:r>
            <a:r>
              <a:rPr lang="tr-TR" sz="1600" dirty="0"/>
              <a:t> varsayılan rotayı yapılandırma işlemi, küresel yapılandırma kipinde gerçekleştirilmelidir.</a:t>
            </a:r>
          </a:p>
          <a:p>
            <a:pPr marL="0" indent="0" algn="just">
              <a:buNone/>
            </a:pPr>
            <a:endParaRPr lang="tr-TR" sz="1600" dirty="0"/>
          </a:p>
          <a:p>
            <a:pPr marL="0" indent="0" algn="just">
              <a:buNone/>
            </a:pPr>
            <a:r>
              <a:rPr lang="tr-TR" sz="1600" dirty="0" err="1"/>
              <a:t>Router</a:t>
            </a:r>
            <a:r>
              <a:rPr lang="tr-TR" sz="1600" dirty="0"/>
              <a:t>(</a:t>
            </a:r>
            <a:r>
              <a:rPr lang="tr-TR" sz="1600" dirty="0" err="1"/>
              <a:t>config</a:t>
            </a:r>
            <a:r>
              <a:rPr lang="tr-TR" sz="1600" dirty="0"/>
              <a:t>)# ip </a:t>
            </a:r>
            <a:r>
              <a:rPr lang="tr-TR" sz="1600" dirty="0" err="1"/>
              <a:t>route</a:t>
            </a:r>
            <a:r>
              <a:rPr lang="tr-TR" sz="1600" dirty="0"/>
              <a:t> 0.0.0.0 0.0.0.0 &lt;sonraki-sekme-IP-adresi&gt;</a:t>
            </a:r>
          </a:p>
          <a:p>
            <a:pPr marL="0" indent="0" algn="just">
              <a:buNone/>
            </a:pPr>
            <a:endParaRPr lang="tr-TR" sz="1600" dirty="0"/>
          </a:p>
          <a:p>
            <a:pPr marL="0" indent="0" algn="just">
              <a:buNone/>
            </a:pPr>
            <a:r>
              <a:rPr lang="tr-TR" sz="1600" dirty="0"/>
              <a:t>veya</a:t>
            </a:r>
          </a:p>
          <a:p>
            <a:pPr marL="0" indent="0" algn="just">
              <a:buNone/>
            </a:pPr>
            <a:endParaRPr lang="tr-TR" sz="1600" dirty="0"/>
          </a:p>
          <a:p>
            <a:pPr marL="0" indent="0" algn="just">
              <a:buNone/>
            </a:pPr>
            <a:r>
              <a:rPr lang="tr-TR" sz="1600" dirty="0" err="1"/>
              <a:t>Router</a:t>
            </a:r>
            <a:r>
              <a:rPr lang="tr-TR" sz="1600" dirty="0"/>
              <a:t>(</a:t>
            </a:r>
            <a:r>
              <a:rPr lang="tr-TR" sz="1600" dirty="0" err="1"/>
              <a:t>config</a:t>
            </a:r>
            <a:r>
              <a:rPr lang="tr-TR" sz="1600" dirty="0"/>
              <a:t>)# ip </a:t>
            </a:r>
            <a:r>
              <a:rPr lang="tr-TR" sz="1600" dirty="0" err="1"/>
              <a:t>route</a:t>
            </a:r>
            <a:r>
              <a:rPr lang="tr-TR" sz="1600" dirty="0"/>
              <a:t> 0.0.0.0 0.0.0.0 &lt;</a:t>
            </a:r>
            <a:r>
              <a:rPr lang="tr-TR" sz="1600" dirty="0" err="1"/>
              <a:t>arayuz</a:t>
            </a:r>
            <a:r>
              <a:rPr lang="tr-TR" sz="1600" dirty="0"/>
              <a:t>-tipi&gt; &lt;sayı&gt;</a:t>
            </a:r>
          </a:p>
          <a:p>
            <a:pPr marL="0" indent="0" algn="just">
              <a:buNone/>
            </a:pPr>
            <a:endParaRPr lang="tr-TR" sz="1600" dirty="0"/>
          </a:p>
          <a:p>
            <a:pPr marL="0" indent="0" algn="just">
              <a:buNone/>
            </a:pPr>
            <a:endParaRPr lang="tr-TR" sz="1600" dirty="0"/>
          </a:p>
          <a:p>
            <a:pPr marL="0" indent="0" algn="just">
              <a:buNone/>
            </a:pPr>
            <a:endParaRPr lang="tr-TR" sz="1600" dirty="0"/>
          </a:p>
        </p:txBody>
      </p:sp>
    </p:spTree>
    <p:extLst>
      <p:ext uri="{BB962C8B-B14F-4D97-AF65-F5344CB8AC3E}">
        <p14:creationId xmlns:p14="http://schemas.microsoft.com/office/powerpoint/2010/main" val="32579589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EDD344A-56F8-4E60-8392-4AE6B63BAC5F}"/>
              </a:ext>
            </a:extLst>
          </p:cNvPr>
          <p:cNvSpPr>
            <a:spLocks noGrp="1"/>
          </p:cNvSpPr>
          <p:nvPr>
            <p:ph type="title"/>
          </p:nvPr>
        </p:nvSpPr>
        <p:spPr/>
        <p:txBody>
          <a:bodyPr>
            <a:normAutofit fontScale="90000"/>
          </a:bodyPr>
          <a:lstStyle/>
          <a:p>
            <a:r>
              <a:rPr lang="tr-TR" dirty="0"/>
              <a:t>Bir Varsayılan Rota Yapılandırma</a:t>
            </a:r>
          </a:p>
        </p:txBody>
      </p:sp>
      <p:pic>
        <p:nvPicPr>
          <p:cNvPr id="5" name="Resim 4">
            <a:extLst>
              <a:ext uri="{FF2B5EF4-FFF2-40B4-BE49-F238E27FC236}">
                <a16:creationId xmlns:a16="http://schemas.microsoft.com/office/drawing/2014/main" id="{5B48F4A4-FABD-44D8-8BEB-A6C9FC0EB59F}"/>
              </a:ext>
            </a:extLst>
          </p:cNvPr>
          <p:cNvPicPr>
            <a:picLocks noChangeAspect="1"/>
          </p:cNvPicPr>
          <p:nvPr/>
        </p:nvPicPr>
        <p:blipFill>
          <a:blip r:embed="rId2"/>
          <a:stretch>
            <a:fillRect/>
          </a:stretch>
        </p:blipFill>
        <p:spPr>
          <a:xfrm>
            <a:off x="783431" y="1371600"/>
            <a:ext cx="7577138" cy="4804574"/>
          </a:xfrm>
          <a:prstGeom prst="rect">
            <a:avLst/>
          </a:prstGeom>
        </p:spPr>
      </p:pic>
    </p:spTree>
    <p:extLst>
      <p:ext uri="{BB962C8B-B14F-4D97-AF65-F5344CB8AC3E}">
        <p14:creationId xmlns:p14="http://schemas.microsoft.com/office/powerpoint/2010/main" val="897625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A6C80F9-1833-4A3D-8A12-9355FF89B086}"/>
              </a:ext>
            </a:extLst>
          </p:cNvPr>
          <p:cNvSpPr>
            <a:spLocks noGrp="1"/>
          </p:cNvSpPr>
          <p:nvPr>
            <p:ph type="title"/>
          </p:nvPr>
        </p:nvSpPr>
        <p:spPr>
          <a:xfrm>
            <a:off x="313765" y="762000"/>
            <a:ext cx="8686800" cy="536114"/>
          </a:xfrm>
        </p:spPr>
        <p:txBody>
          <a:bodyPr>
            <a:normAutofit fontScale="90000"/>
          </a:bodyPr>
          <a:lstStyle/>
          <a:p>
            <a:r>
              <a:rPr lang="tr-TR" dirty="0"/>
              <a:t>DHCP Hizmetlerini Yapılandırma</a:t>
            </a:r>
          </a:p>
        </p:txBody>
      </p:sp>
      <p:sp>
        <p:nvSpPr>
          <p:cNvPr id="3" name="İçerik Yer Tutucusu 2">
            <a:extLst>
              <a:ext uri="{FF2B5EF4-FFF2-40B4-BE49-F238E27FC236}">
                <a16:creationId xmlns:a16="http://schemas.microsoft.com/office/drawing/2014/main" id="{17BE33D7-21FB-496C-ABF7-0470B4DD60CF}"/>
              </a:ext>
            </a:extLst>
          </p:cNvPr>
          <p:cNvSpPr>
            <a:spLocks noGrp="1"/>
          </p:cNvSpPr>
          <p:nvPr>
            <p:ph idx="1"/>
          </p:nvPr>
        </p:nvSpPr>
        <p:spPr>
          <a:xfrm>
            <a:off x="313765" y="1319092"/>
            <a:ext cx="8686800" cy="4929308"/>
          </a:xfrm>
        </p:spPr>
        <p:txBody>
          <a:bodyPr/>
          <a:lstStyle/>
          <a:p>
            <a:pPr marL="0" indent="0" algn="just">
              <a:buNone/>
            </a:pPr>
            <a:r>
              <a:rPr lang="tr-TR" sz="1300" dirty="0"/>
              <a:t>Cisco IOS </a:t>
            </a:r>
            <a:r>
              <a:rPr lang="tr-TR" sz="1300" dirty="0" err="1"/>
              <a:t>CLI'sı</a:t>
            </a:r>
            <a:r>
              <a:rPr lang="tr-TR" sz="1300" dirty="0"/>
              <a:t>, bir yönlendiricinin bir DHCP Sunucusu olarak işlev gösterebilmesini sağlamak üzere yapılandırılabilir. Bir yönlendiriciyi DHCP ile yapılandırmak, bir ağdaki IP adreslerinin yönetimini kolaylaştırır. IP yapılandırma parametreleri değiştiğinde, yöneticinin tek bir merkezi yönlendiriciyi güncellemesi yeterlidir. </a:t>
            </a:r>
            <a:r>
              <a:rPr lang="tr-TR" sz="1300" dirty="0" err="1"/>
              <a:t>DHCP'yi</a:t>
            </a:r>
            <a:r>
              <a:rPr lang="tr-TR" sz="1300" dirty="0"/>
              <a:t> CLI kullanarak yapılandırmak, SDM kullanarak yapılandırmaktan biraz daha karmaşıktır. </a:t>
            </a:r>
          </a:p>
          <a:p>
            <a:pPr marL="0" indent="0" algn="just">
              <a:buNone/>
            </a:pPr>
            <a:r>
              <a:rPr lang="tr-TR" sz="1300" dirty="0" err="1"/>
              <a:t>DHCP'yi</a:t>
            </a:r>
            <a:r>
              <a:rPr lang="tr-TR" sz="1300" dirty="0"/>
              <a:t> CLI kullanarak yapılandırmanın sekiz temel adımı vardır.</a:t>
            </a:r>
          </a:p>
          <a:p>
            <a:pPr marL="0" indent="0" algn="just">
              <a:buNone/>
            </a:pPr>
            <a:endParaRPr lang="tr-TR" sz="1300" dirty="0"/>
          </a:p>
          <a:p>
            <a:pPr marL="0" indent="0" algn="just">
              <a:buNone/>
            </a:pPr>
            <a:r>
              <a:rPr lang="tr-TR" sz="1300" b="1" dirty="0"/>
              <a:t>1. Adım. </a:t>
            </a:r>
            <a:r>
              <a:rPr lang="tr-TR" sz="1300" dirty="0"/>
              <a:t>Bir DHCP adres havuzu oluşturma.</a:t>
            </a:r>
          </a:p>
          <a:p>
            <a:pPr marL="0" indent="0" algn="just">
              <a:buNone/>
            </a:pPr>
            <a:endParaRPr lang="tr-TR" sz="1300" dirty="0"/>
          </a:p>
          <a:p>
            <a:pPr marL="0" indent="0" algn="just">
              <a:buNone/>
            </a:pPr>
            <a:r>
              <a:rPr lang="tr-TR" sz="1300" b="1" dirty="0"/>
              <a:t>2. Adım. </a:t>
            </a:r>
            <a:r>
              <a:rPr lang="tr-TR" sz="1300" dirty="0"/>
              <a:t>Ağı veya alt ağı belirleme.</a:t>
            </a:r>
          </a:p>
          <a:p>
            <a:pPr marL="0" indent="0" algn="just">
              <a:buNone/>
            </a:pPr>
            <a:endParaRPr lang="tr-TR" sz="1300" dirty="0"/>
          </a:p>
          <a:p>
            <a:pPr marL="0" indent="0" algn="just">
              <a:buNone/>
            </a:pPr>
            <a:r>
              <a:rPr lang="tr-TR" sz="1300" b="1" dirty="0"/>
              <a:t>3. Adım. </a:t>
            </a:r>
            <a:r>
              <a:rPr lang="tr-TR" sz="1300" dirty="0"/>
              <a:t>Belirli IP adreslerini dışarıda bırakma.</a:t>
            </a:r>
          </a:p>
          <a:p>
            <a:pPr marL="0" indent="0" algn="just">
              <a:buNone/>
            </a:pPr>
            <a:endParaRPr lang="tr-TR" sz="1300" dirty="0"/>
          </a:p>
          <a:p>
            <a:pPr marL="0" indent="0" algn="just">
              <a:buNone/>
            </a:pPr>
            <a:r>
              <a:rPr lang="tr-TR" sz="1300" b="1" dirty="0"/>
              <a:t>4. Adım. </a:t>
            </a:r>
            <a:r>
              <a:rPr lang="tr-TR" sz="1300" dirty="0"/>
              <a:t>Etki alanı adını belirleme.</a:t>
            </a:r>
          </a:p>
          <a:p>
            <a:pPr marL="0" indent="0" algn="just">
              <a:buNone/>
            </a:pPr>
            <a:endParaRPr lang="tr-TR" sz="1300" dirty="0"/>
          </a:p>
          <a:p>
            <a:pPr marL="0" indent="0" algn="just">
              <a:buNone/>
            </a:pPr>
            <a:r>
              <a:rPr lang="tr-TR" sz="1300" b="1" dirty="0"/>
              <a:t>5. Adım. </a:t>
            </a:r>
            <a:r>
              <a:rPr lang="tr-TR" sz="1300" dirty="0"/>
              <a:t>DNS sunucusunun IP adresini belirleme.</a:t>
            </a:r>
          </a:p>
          <a:p>
            <a:pPr marL="0" indent="0" algn="just">
              <a:buNone/>
            </a:pPr>
            <a:endParaRPr lang="tr-TR" sz="1300" dirty="0"/>
          </a:p>
          <a:p>
            <a:pPr marL="0" indent="0" algn="just">
              <a:buNone/>
            </a:pPr>
            <a:r>
              <a:rPr lang="tr-TR" sz="1300" b="1" dirty="0"/>
              <a:t>6. Adım. </a:t>
            </a:r>
            <a:r>
              <a:rPr lang="tr-TR" sz="1300" dirty="0"/>
              <a:t>Varsayılan ağ geçidini ayarlama.</a:t>
            </a:r>
          </a:p>
          <a:p>
            <a:pPr marL="0" indent="0" algn="just">
              <a:buNone/>
            </a:pPr>
            <a:endParaRPr lang="tr-TR" sz="1300" dirty="0"/>
          </a:p>
          <a:p>
            <a:pPr marL="0" indent="0" algn="just">
              <a:buNone/>
            </a:pPr>
            <a:r>
              <a:rPr lang="tr-TR" sz="1300" b="1" dirty="0"/>
              <a:t>7. Adım. </a:t>
            </a:r>
            <a:r>
              <a:rPr lang="tr-TR" sz="1300" dirty="0"/>
              <a:t>Kira süresini ayarlama.</a:t>
            </a:r>
          </a:p>
          <a:p>
            <a:pPr marL="0" indent="0" algn="just">
              <a:buNone/>
            </a:pPr>
            <a:endParaRPr lang="tr-TR" sz="1300" dirty="0"/>
          </a:p>
          <a:p>
            <a:pPr marL="0" indent="0" algn="just">
              <a:buNone/>
            </a:pPr>
            <a:r>
              <a:rPr lang="tr-TR" sz="1300" b="1" dirty="0"/>
              <a:t>8. Adım. </a:t>
            </a:r>
            <a:r>
              <a:rPr lang="tr-TR" sz="1300" dirty="0"/>
              <a:t>Yapılandırmayı doğrulama.</a:t>
            </a:r>
          </a:p>
        </p:txBody>
      </p:sp>
    </p:spTree>
    <p:extLst>
      <p:ext uri="{BB962C8B-B14F-4D97-AF65-F5344CB8AC3E}">
        <p14:creationId xmlns:p14="http://schemas.microsoft.com/office/powerpoint/2010/main" val="37967807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23F5323-865D-4935-A41D-363AB53A11A5}"/>
              </a:ext>
            </a:extLst>
          </p:cNvPr>
          <p:cNvSpPr>
            <a:spLocks noGrp="1"/>
          </p:cNvSpPr>
          <p:nvPr>
            <p:ph type="title"/>
          </p:nvPr>
        </p:nvSpPr>
        <p:spPr>
          <a:xfrm>
            <a:off x="304800" y="987886"/>
            <a:ext cx="8686800" cy="536114"/>
          </a:xfrm>
        </p:spPr>
        <p:txBody>
          <a:bodyPr>
            <a:normAutofit fontScale="90000"/>
          </a:bodyPr>
          <a:lstStyle/>
          <a:p>
            <a:r>
              <a:rPr lang="tr-TR" dirty="0"/>
              <a:t>CISCO IOS </a:t>
            </a:r>
            <a:r>
              <a:rPr lang="tr-TR" dirty="0" err="1"/>
              <a:t>CLI’sı</a:t>
            </a:r>
            <a:r>
              <a:rPr lang="tr-TR" dirty="0"/>
              <a:t> Kullanarak Statik NAT Yapılandırma</a:t>
            </a:r>
          </a:p>
        </p:txBody>
      </p:sp>
      <p:sp>
        <p:nvSpPr>
          <p:cNvPr id="3" name="İçerik Yer Tutucusu 2">
            <a:extLst>
              <a:ext uri="{FF2B5EF4-FFF2-40B4-BE49-F238E27FC236}">
                <a16:creationId xmlns:a16="http://schemas.microsoft.com/office/drawing/2014/main" id="{65E0CE8A-4FB5-4BA1-A563-5E937ADED327}"/>
              </a:ext>
            </a:extLst>
          </p:cNvPr>
          <p:cNvSpPr>
            <a:spLocks noGrp="1"/>
          </p:cNvSpPr>
          <p:nvPr>
            <p:ph idx="1"/>
          </p:nvPr>
        </p:nvSpPr>
        <p:spPr>
          <a:xfrm>
            <a:off x="313765" y="1776292"/>
            <a:ext cx="8686800" cy="4929308"/>
          </a:xfrm>
        </p:spPr>
        <p:txBody>
          <a:bodyPr/>
          <a:lstStyle/>
          <a:p>
            <a:pPr marL="0" indent="0" algn="just">
              <a:buNone/>
            </a:pPr>
            <a:r>
              <a:rPr lang="tr-TR" sz="2000" dirty="0"/>
              <a:t>NAT, dahili özel adresleri olan konak bilgisayarların İnternet üzerinden iletişim kurmalarına olanak verir. </a:t>
            </a:r>
            <a:r>
              <a:rPr lang="tr-TR" sz="2000" dirty="0" err="1"/>
              <a:t>NAT'yi</a:t>
            </a:r>
            <a:r>
              <a:rPr lang="tr-TR" sz="2000" dirty="0"/>
              <a:t> yapılandırırken, en azından bir </a:t>
            </a:r>
            <a:r>
              <a:rPr lang="tr-TR" sz="2000" dirty="0" err="1"/>
              <a:t>arayüzün</a:t>
            </a:r>
            <a:r>
              <a:rPr lang="tr-TR" sz="2000" dirty="0"/>
              <a:t> iç </a:t>
            </a:r>
            <a:r>
              <a:rPr lang="tr-TR" sz="2000" dirty="0" err="1"/>
              <a:t>arayüz</a:t>
            </a:r>
            <a:r>
              <a:rPr lang="tr-TR" sz="2000" dirty="0"/>
              <a:t> olarak yapılandırılması gerekir. İç </a:t>
            </a:r>
            <a:r>
              <a:rPr lang="tr-TR" sz="2000" dirty="0" err="1"/>
              <a:t>arayüz</a:t>
            </a:r>
            <a:r>
              <a:rPr lang="tr-TR" sz="2000" dirty="0"/>
              <a:t> dahili, özel ağa bağlıdır. İnternet'e erişim sağlamak için kullanılan ve genellikle harici </a:t>
            </a:r>
            <a:r>
              <a:rPr lang="tr-TR" sz="2000" dirty="0" err="1"/>
              <a:t>arayüz</a:t>
            </a:r>
            <a:r>
              <a:rPr lang="tr-TR" sz="2000" dirty="0"/>
              <a:t> olan </a:t>
            </a:r>
            <a:r>
              <a:rPr lang="tr-TR" sz="2000" dirty="0" err="1"/>
              <a:t>arayüz</a:t>
            </a:r>
            <a:r>
              <a:rPr lang="tr-TR" sz="2000" dirty="0"/>
              <a:t> ise dış </a:t>
            </a:r>
            <a:r>
              <a:rPr lang="tr-TR" sz="2000" dirty="0" err="1"/>
              <a:t>arayüz</a:t>
            </a:r>
            <a:r>
              <a:rPr lang="tr-TR" sz="2000" dirty="0"/>
              <a:t> olarak yapılandırılmalıdır. Dahili ağdaki cihazlar harici </a:t>
            </a:r>
            <a:r>
              <a:rPr lang="tr-TR" sz="2000" dirty="0" err="1"/>
              <a:t>arayüz</a:t>
            </a:r>
            <a:r>
              <a:rPr lang="tr-TR" sz="2000" dirty="0"/>
              <a:t> aracılığıyla iletişim kurduklarında, adresler bir veya daha çok kayıtlı IP adresine çevrilir.</a:t>
            </a:r>
          </a:p>
          <a:p>
            <a:pPr marL="0" indent="0" algn="just">
              <a:buNone/>
            </a:pPr>
            <a:endParaRPr lang="tr-TR" sz="2000" dirty="0"/>
          </a:p>
          <a:p>
            <a:pPr marL="0" indent="0" algn="just">
              <a:buNone/>
            </a:pPr>
            <a:r>
              <a:rPr lang="tr-TR" sz="2000" dirty="0"/>
              <a:t>Bir dahili ağda bulunan bir sunucuya İnternet'ten erişmenin gerekli olduğu durumlar vardır. Bu erişilebilirlik, sunucunun harici kullanıcıların belirleyebileceği belirli bir kayıtlı adrese sahip olmasını gerektirir. Bu adresi dahili bir sunucuya sağlamanın bir yolu, statik çeviri yapılandırmaktır. </a:t>
            </a:r>
          </a:p>
          <a:p>
            <a:pPr marL="0" indent="0" algn="just">
              <a:buNone/>
            </a:pPr>
            <a:endParaRPr lang="tr-TR" sz="2000" dirty="0"/>
          </a:p>
          <a:p>
            <a:pPr marL="0" indent="0" algn="just">
              <a:buNone/>
            </a:pPr>
            <a:r>
              <a:rPr lang="tr-TR" sz="2000" dirty="0"/>
              <a:t>Statik NAT, dahili ağdaki konak bilgisayarlara atanan adreslerin her zaman aynı kayıtlı IP adresine çevrilmesini sağlar. </a:t>
            </a:r>
          </a:p>
        </p:txBody>
      </p:sp>
    </p:spTree>
    <p:extLst>
      <p:ext uri="{BB962C8B-B14F-4D97-AF65-F5344CB8AC3E}">
        <p14:creationId xmlns:p14="http://schemas.microsoft.com/office/powerpoint/2010/main" val="12222900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B19BE23-E849-4969-9599-A9094BA0A0FB}"/>
              </a:ext>
            </a:extLst>
          </p:cNvPr>
          <p:cNvSpPr>
            <a:spLocks noGrp="1"/>
          </p:cNvSpPr>
          <p:nvPr>
            <p:ph type="title"/>
          </p:nvPr>
        </p:nvSpPr>
        <p:spPr>
          <a:xfrm>
            <a:off x="313765" y="987886"/>
            <a:ext cx="8686800" cy="536114"/>
          </a:xfrm>
        </p:spPr>
        <p:txBody>
          <a:bodyPr>
            <a:normAutofit fontScale="90000"/>
          </a:bodyPr>
          <a:lstStyle/>
          <a:p>
            <a:r>
              <a:rPr lang="tr-TR" dirty="0"/>
              <a:t>CISCO IOS </a:t>
            </a:r>
            <a:r>
              <a:rPr lang="tr-TR" dirty="0" err="1"/>
              <a:t>CLI’sı</a:t>
            </a:r>
            <a:r>
              <a:rPr lang="tr-TR" dirty="0"/>
              <a:t> Kullanarak Statik NAT Yapılandırma</a:t>
            </a:r>
          </a:p>
        </p:txBody>
      </p:sp>
      <p:sp>
        <p:nvSpPr>
          <p:cNvPr id="3" name="İçerik Yer Tutucusu 2">
            <a:extLst>
              <a:ext uri="{FF2B5EF4-FFF2-40B4-BE49-F238E27FC236}">
                <a16:creationId xmlns:a16="http://schemas.microsoft.com/office/drawing/2014/main" id="{4D953FAF-A088-49F9-8DA0-55F6EBC331AA}"/>
              </a:ext>
            </a:extLst>
          </p:cNvPr>
          <p:cNvSpPr>
            <a:spLocks noGrp="1"/>
          </p:cNvSpPr>
          <p:nvPr>
            <p:ph idx="1"/>
          </p:nvPr>
        </p:nvSpPr>
        <p:spPr>
          <a:xfrm>
            <a:off x="313765" y="1700092"/>
            <a:ext cx="8686800" cy="4929308"/>
          </a:xfrm>
        </p:spPr>
        <p:txBody>
          <a:bodyPr/>
          <a:lstStyle/>
          <a:p>
            <a:pPr marL="0" indent="0" algn="just">
              <a:buNone/>
            </a:pPr>
            <a:r>
              <a:rPr lang="tr-TR" sz="1500" dirty="0"/>
              <a:t>Cisco IOS </a:t>
            </a:r>
            <a:r>
              <a:rPr lang="tr-TR" sz="1500" dirty="0" err="1"/>
              <a:t>CLI'sını</a:t>
            </a:r>
            <a:r>
              <a:rPr lang="tr-TR" sz="1500" dirty="0"/>
              <a:t> kullanarak </a:t>
            </a:r>
            <a:r>
              <a:rPr lang="tr-TR" sz="1500" dirty="0" err="1"/>
              <a:t>NAT'yi</a:t>
            </a:r>
            <a:r>
              <a:rPr lang="tr-TR" sz="1500" dirty="0"/>
              <a:t> ve statik </a:t>
            </a:r>
            <a:r>
              <a:rPr lang="tr-TR" sz="1500" dirty="0" err="1"/>
              <a:t>NAT'yi</a:t>
            </a:r>
            <a:r>
              <a:rPr lang="tr-TR" sz="1500" dirty="0"/>
              <a:t> yapılandırmak için bir dizi adımın uygulanması gerekir.</a:t>
            </a:r>
          </a:p>
          <a:p>
            <a:pPr marL="0" indent="0" algn="just">
              <a:buNone/>
            </a:pPr>
            <a:endParaRPr lang="tr-TR" sz="1500" dirty="0"/>
          </a:p>
          <a:p>
            <a:pPr marL="0" indent="0" algn="just">
              <a:buNone/>
            </a:pPr>
            <a:r>
              <a:rPr lang="tr-TR" sz="1500" b="1" dirty="0"/>
              <a:t>1. Adım. </a:t>
            </a:r>
            <a:r>
              <a:rPr lang="tr-TR" sz="1500" dirty="0"/>
              <a:t>İç </a:t>
            </a:r>
            <a:r>
              <a:rPr lang="tr-TR" sz="1500" dirty="0" err="1"/>
              <a:t>arayüzü</a:t>
            </a:r>
            <a:r>
              <a:rPr lang="tr-TR" sz="1500" dirty="0"/>
              <a:t> belirleme.</a:t>
            </a:r>
          </a:p>
          <a:p>
            <a:pPr marL="0" indent="0" algn="just">
              <a:buNone/>
            </a:pPr>
            <a:endParaRPr lang="tr-TR" sz="1500" dirty="0"/>
          </a:p>
          <a:p>
            <a:pPr marL="0" indent="0" algn="just">
              <a:buNone/>
            </a:pPr>
            <a:r>
              <a:rPr lang="tr-TR" sz="1500" b="1" dirty="0"/>
              <a:t>2. Adım. </a:t>
            </a:r>
            <a:r>
              <a:rPr lang="tr-TR" sz="1500" dirty="0"/>
              <a:t>İç </a:t>
            </a:r>
            <a:r>
              <a:rPr lang="tr-TR" sz="1500" dirty="0" err="1"/>
              <a:t>arayüzün</a:t>
            </a:r>
            <a:r>
              <a:rPr lang="tr-TR" sz="1500" dirty="0"/>
              <a:t> birincil IP adresini ayarlama.</a:t>
            </a:r>
          </a:p>
          <a:p>
            <a:pPr marL="0" indent="0" algn="just">
              <a:buNone/>
            </a:pPr>
            <a:endParaRPr lang="tr-TR" sz="1500" dirty="0"/>
          </a:p>
          <a:p>
            <a:pPr marL="0" indent="0" algn="just">
              <a:buNone/>
            </a:pPr>
            <a:r>
              <a:rPr lang="tr-TR" sz="1500" b="1" dirty="0"/>
              <a:t>3. Adım. </a:t>
            </a:r>
            <a:r>
              <a:rPr lang="tr-TR" sz="1500" dirty="0"/>
              <a:t>ip </a:t>
            </a:r>
            <a:r>
              <a:rPr lang="tr-TR" sz="1500" dirty="0" err="1"/>
              <a:t>nat</a:t>
            </a:r>
            <a:r>
              <a:rPr lang="tr-TR" sz="1500" dirty="0"/>
              <a:t> inside (ip </a:t>
            </a:r>
            <a:r>
              <a:rPr lang="tr-TR" sz="1500" dirty="0" err="1"/>
              <a:t>nat</a:t>
            </a:r>
            <a:r>
              <a:rPr lang="tr-TR" sz="1500" dirty="0"/>
              <a:t> iç) komutunu kullanarak iç </a:t>
            </a:r>
            <a:r>
              <a:rPr lang="tr-TR" sz="1500" dirty="0" err="1"/>
              <a:t>arayüzü</a:t>
            </a:r>
            <a:r>
              <a:rPr lang="tr-TR" sz="1500" dirty="0"/>
              <a:t> tanımlama.</a:t>
            </a:r>
          </a:p>
          <a:p>
            <a:pPr marL="0" indent="0" algn="just">
              <a:buNone/>
            </a:pPr>
            <a:endParaRPr lang="tr-TR" sz="1500" dirty="0"/>
          </a:p>
          <a:p>
            <a:pPr marL="0" indent="0" algn="just">
              <a:buNone/>
            </a:pPr>
            <a:r>
              <a:rPr lang="tr-TR" sz="1500" b="1" dirty="0"/>
              <a:t>4. Adım. </a:t>
            </a:r>
            <a:r>
              <a:rPr lang="tr-TR" sz="1500" dirty="0"/>
              <a:t>Dış </a:t>
            </a:r>
            <a:r>
              <a:rPr lang="tr-TR" sz="1500" dirty="0" err="1"/>
              <a:t>arayüzü</a:t>
            </a:r>
            <a:r>
              <a:rPr lang="tr-TR" sz="1500" dirty="0"/>
              <a:t> belirleme.</a:t>
            </a:r>
          </a:p>
          <a:p>
            <a:pPr marL="0" indent="0" algn="just">
              <a:buNone/>
            </a:pPr>
            <a:endParaRPr lang="tr-TR" sz="1500" dirty="0"/>
          </a:p>
          <a:p>
            <a:pPr marL="0" indent="0" algn="just">
              <a:buNone/>
            </a:pPr>
            <a:r>
              <a:rPr lang="tr-TR" sz="1500" b="1" dirty="0"/>
              <a:t>5. Adım. </a:t>
            </a:r>
            <a:r>
              <a:rPr lang="tr-TR" sz="1500" dirty="0"/>
              <a:t>Dış </a:t>
            </a:r>
            <a:r>
              <a:rPr lang="tr-TR" sz="1500" dirty="0" err="1"/>
              <a:t>arayüzün</a:t>
            </a:r>
            <a:r>
              <a:rPr lang="tr-TR" sz="1500" dirty="0"/>
              <a:t> birincil IP adresini ayarlama.</a:t>
            </a:r>
          </a:p>
          <a:p>
            <a:pPr marL="0" indent="0" algn="just">
              <a:buNone/>
            </a:pPr>
            <a:endParaRPr lang="tr-TR" sz="1500" dirty="0"/>
          </a:p>
          <a:p>
            <a:pPr marL="0" indent="0" algn="just">
              <a:buNone/>
            </a:pPr>
            <a:r>
              <a:rPr lang="tr-TR" sz="1500" b="1" dirty="0"/>
              <a:t>6. Adım. </a:t>
            </a:r>
            <a:r>
              <a:rPr lang="tr-TR" sz="1500" dirty="0"/>
              <a:t>ip </a:t>
            </a:r>
            <a:r>
              <a:rPr lang="tr-TR" sz="1500" dirty="0" err="1"/>
              <a:t>nat</a:t>
            </a:r>
            <a:r>
              <a:rPr lang="tr-TR" sz="1500" dirty="0"/>
              <a:t> </a:t>
            </a:r>
            <a:r>
              <a:rPr lang="tr-TR" sz="1500" dirty="0" err="1"/>
              <a:t>outside</a:t>
            </a:r>
            <a:r>
              <a:rPr lang="tr-TR" sz="1500" dirty="0"/>
              <a:t> (ip </a:t>
            </a:r>
            <a:r>
              <a:rPr lang="tr-TR" sz="1500" dirty="0" err="1"/>
              <a:t>nat</a:t>
            </a:r>
            <a:r>
              <a:rPr lang="tr-TR" sz="1500" dirty="0"/>
              <a:t> iç) komutunu kullanarak dış </a:t>
            </a:r>
            <a:r>
              <a:rPr lang="tr-TR" sz="1500" dirty="0" err="1"/>
              <a:t>arayüzü</a:t>
            </a:r>
            <a:r>
              <a:rPr lang="tr-TR" sz="1500" dirty="0"/>
              <a:t> tanımlama.</a:t>
            </a:r>
          </a:p>
          <a:p>
            <a:pPr marL="0" indent="0" algn="just">
              <a:buNone/>
            </a:pPr>
            <a:endParaRPr lang="tr-TR" sz="1500" dirty="0"/>
          </a:p>
          <a:p>
            <a:pPr marL="0" indent="0" algn="just">
              <a:buNone/>
            </a:pPr>
            <a:r>
              <a:rPr lang="tr-TR" sz="1500" b="1" dirty="0"/>
              <a:t>7. Adım. </a:t>
            </a:r>
            <a:r>
              <a:rPr lang="tr-TR" sz="1500" dirty="0"/>
              <a:t>Statik adres çevirisini tanımlama. </a:t>
            </a:r>
          </a:p>
          <a:p>
            <a:pPr marL="0" indent="0" algn="just">
              <a:buNone/>
            </a:pPr>
            <a:endParaRPr lang="tr-TR" sz="1500" dirty="0"/>
          </a:p>
          <a:p>
            <a:pPr marL="0" indent="0" algn="just">
              <a:buNone/>
            </a:pPr>
            <a:r>
              <a:rPr lang="tr-TR" sz="1500" b="1" dirty="0"/>
              <a:t>8. Adım. </a:t>
            </a:r>
            <a:r>
              <a:rPr lang="tr-TR" sz="1500" dirty="0"/>
              <a:t>Yapılandırmayı doğrulama.</a:t>
            </a:r>
          </a:p>
          <a:p>
            <a:pPr marL="0" indent="0" algn="just">
              <a:buNone/>
            </a:pPr>
            <a:endParaRPr lang="tr-TR" sz="1500" dirty="0"/>
          </a:p>
        </p:txBody>
      </p:sp>
    </p:spTree>
    <p:extLst>
      <p:ext uri="{BB962C8B-B14F-4D97-AF65-F5344CB8AC3E}">
        <p14:creationId xmlns:p14="http://schemas.microsoft.com/office/powerpoint/2010/main" val="32848584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B5468C5-AD60-4B62-BAE5-CF195F17BB68}"/>
              </a:ext>
            </a:extLst>
          </p:cNvPr>
          <p:cNvSpPr>
            <a:spLocks noGrp="1"/>
          </p:cNvSpPr>
          <p:nvPr>
            <p:ph type="title"/>
          </p:nvPr>
        </p:nvSpPr>
        <p:spPr>
          <a:xfrm>
            <a:off x="313765" y="987886"/>
            <a:ext cx="8686800" cy="536114"/>
          </a:xfrm>
        </p:spPr>
        <p:txBody>
          <a:bodyPr>
            <a:normAutofit fontScale="90000"/>
          </a:bodyPr>
          <a:lstStyle/>
          <a:p>
            <a:r>
              <a:rPr lang="tr-TR" dirty="0"/>
              <a:t>CISCO IOS </a:t>
            </a:r>
            <a:r>
              <a:rPr lang="tr-TR" dirty="0" err="1"/>
              <a:t>CLI’sı</a:t>
            </a:r>
            <a:r>
              <a:rPr lang="tr-TR" dirty="0"/>
              <a:t> Kullanarak Statik NAT Yapılandırma</a:t>
            </a:r>
          </a:p>
        </p:txBody>
      </p:sp>
      <p:sp>
        <p:nvSpPr>
          <p:cNvPr id="3" name="İçerik Yer Tutucusu 2">
            <a:extLst>
              <a:ext uri="{FF2B5EF4-FFF2-40B4-BE49-F238E27FC236}">
                <a16:creationId xmlns:a16="http://schemas.microsoft.com/office/drawing/2014/main" id="{49242CD3-4543-45F6-A1A8-B0D3426E4AE1}"/>
              </a:ext>
            </a:extLst>
          </p:cNvPr>
          <p:cNvSpPr>
            <a:spLocks noGrp="1"/>
          </p:cNvSpPr>
          <p:nvPr>
            <p:ph idx="1"/>
          </p:nvPr>
        </p:nvSpPr>
        <p:spPr>
          <a:xfrm>
            <a:off x="313765" y="1776292"/>
            <a:ext cx="8686800" cy="4929308"/>
          </a:xfrm>
        </p:spPr>
        <p:txBody>
          <a:bodyPr/>
          <a:lstStyle/>
          <a:p>
            <a:pPr marL="0" indent="0" algn="just">
              <a:buNone/>
            </a:pPr>
            <a:r>
              <a:rPr lang="tr-TR" sz="1500" dirty="0"/>
              <a:t>Doğrulama ve sorun giderme amacıyla NAT işlemlerini görüntülemeyi sağlayan birçok yönlendirici CLI komutu vardır. </a:t>
            </a:r>
          </a:p>
          <a:p>
            <a:pPr marL="0" indent="0" algn="just">
              <a:buNone/>
            </a:pPr>
            <a:endParaRPr lang="tr-TR" sz="1500" dirty="0"/>
          </a:p>
          <a:p>
            <a:pPr marL="0" indent="0" algn="just">
              <a:buNone/>
            </a:pPr>
            <a:r>
              <a:rPr lang="tr-TR" sz="1500" dirty="0"/>
              <a:t>En yararlı komutlardan biri, </a:t>
            </a:r>
            <a:r>
              <a:rPr lang="tr-TR" sz="1500" dirty="0" err="1"/>
              <a:t>show</a:t>
            </a:r>
            <a:r>
              <a:rPr lang="tr-TR" sz="1500" dirty="0"/>
              <a:t> ip </a:t>
            </a:r>
            <a:r>
              <a:rPr lang="tr-TR" sz="1500" dirty="0" err="1"/>
              <a:t>nat</a:t>
            </a:r>
            <a:r>
              <a:rPr lang="tr-TR" sz="1500" dirty="0"/>
              <a:t> </a:t>
            </a:r>
            <a:r>
              <a:rPr lang="tr-TR" sz="1500" dirty="0" err="1"/>
              <a:t>translations</a:t>
            </a:r>
            <a:r>
              <a:rPr lang="tr-TR" sz="1500" dirty="0"/>
              <a:t> (ip </a:t>
            </a:r>
            <a:r>
              <a:rPr lang="tr-TR" sz="1500" dirty="0" err="1"/>
              <a:t>nat</a:t>
            </a:r>
            <a:r>
              <a:rPr lang="tr-TR" sz="1500" dirty="0"/>
              <a:t> çevirilerini göster) komutudur. Çıkış, ayrıntılı NAT atamalarını görüntüler. Komut, yapılandırılmış olan tüm statik çevirileri ve trafiğin oluşturmuş olduğu tüm dinamik çevirileri gösterir. Her çeviri, protokol ile ve iç ve dış yerel ve küresel adresler ile tanımlanır.</a:t>
            </a:r>
          </a:p>
          <a:p>
            <a:pPr marL="0" indent="0" algn="just">
              <a:buNone/>
            </a:pPr>
            <a:endParaRPr lang="tr-TR" sz="1500" dirty="0"/>
          </a:p>
          <a:p>
            <a:pPr marL="0" indent="0" algn="just">
              <a:buNone/>
            </a:pPr>
            <a:r>
              <a:rPr lang="tr-TR" sz="1500" dirty="0" err="1"/>
              <a:t>show</a:t>
            </a:r>
            <a:r>
              <a:rPr lang="tr-TR" sz="1500" dirty="0"/>
              <a:t> ip </a:t>
            </a:r>
            <a:r>
              <a:rPr lang="tr-TR" sz="1500" dirty="0" err="1"/>
              <a:t>nat</a:t>
            </a:r>
            <a:r>
              <a:rPr lang="tr-TR" sz="1500" dirty="0"/>
              <a:t> </a:t>
            </a:r>
            <a:r>
              <a:rPr lang="tr-TR" sz="1500" dirty="0" err="1"/>
              <a:t>statistics</a:t>
            </a:r>
            <a:r>
              <a:rPr lang="tr-TR" sz="1500" dirty="0"/>
              <a:t> (ip </a:t>
            </a:r>
            <a:r>
              <a:rPr lang="tr-TR" sz="1500" dirty="0" err="1"/>
              <a:t>nat</a:t>
            </a:r>
            <a:r>
              <a:rPr lang="tr-TR" sz="1500" dirty="0"/>
              <a:t> istatistiklerini göster) komutu toplam etkin çeviri sayısı, NAT yapılandırma parametreleri, havuzda bulunan adres sayısı ve bunlardan kaçının atanmış olduğu hakkındaki bilgileri görüntüler.</a:t>
            </a:r>
          </a:p>
          <a:p>
            <a:pPr marL="0" indent="0" algn="just">
              <a:buNone/>
            </a:pPr>
            <a:endParaRPr lang="tr-TR" sz="1500" dirty="0"/>
          </a:p>
          <a:p>
            <a:pPr marL="0" indent="0" algn="just">
              <a:buNone/>
            </a:pPr>
            <a:r>
              <a:rPr lang="tr-TR" sz="1500" dirty="0"/>
              <a:t>Ayrıca, </a:t>
            </a:r>
            <a:r>
              <a:rPr lang="tr-TR" sz="1500" dirty="0" err="1"/>
              <a:t>show</a:t>
            </a:r>
            <a:r>
              <a:rPr lang="tr-TR" sz="1500" dirty="0"/>
              <a:t> </a:t>
            </a:r>
            <a:r>
              <a:rPr lang="tr-TR" sz="1500" dirty="0" err="1"/>
              <a:t>run</a:t>
            </a:r>
            <a:r>
              <a:rPr lang="tr-TR" sz="1500" dirty="0"/>
              <a:t> (çalışmayı göster) komutunu kullanarak NAT yapılandırmalarını görüntüleyebilirsiniz. </a:t>
            </a:r>
          </a:p>
          <a:p>
            <a:pPr marL="0" indent="0" algn="just">
              <a:buNone/>
            </a:pPr>
            <a:endParaRPr lang="tr-TR" sz="1500" dirty="0"/>
          </a:p>
          <a:p>
            <a:pPr marL="0" indent="0" algn="just">
              <a:buNone/>
            </a:pPr>
            <a:r>
              <a:rPr lang="tr-TR" sz="1500" dirty="0"/>
              <a:t>Varsayılan olarak, dinamik NAT yapılandırılırsa, çeviri girişleri 24 saat sonunda zaman aşımına uğrar. Bazen dinamik girişleri 24 saatten önce temizlemek yararlıdır. Bu, özellikle NAT yapılandırmasını test ederken geçerlidir. Dinamik girişleri zaman aşımı süresi dolmadan önce temizlemek için, </a:t>
            </a:r>
            <a:r>
              <a:rPr lang="tr-TR" sz="1500" dirty="0" err="1"/>
              <a:t>enable</a:t>
            </a:r>
            <a:r>
              <a:rPr lang="tr-TR" sz="1500" dirty="0"/>
              <a:t> (etkinleştir) kipinde </a:t>
            </a:r>
            <a:r>
              <a:rPr lang="tr-TR" sz="1500" dirty="0" err="1"/>
              <a:t>clear</a:t>
            </a:r>
            <a:r>
              <a:rPr lang="tr-TR" sz="1500" dirty="0"/>
              <a:t> ip </a:t>
            </a:r>
            <a:r>
              <a:rPr lang="tr-TR" sz="1500" dirty="0" err="1"/>
              <a:t>nat</a:t>
            </a:r>
            <a:r>
              <a:rPr lang="tr-TR" sz="1500" dirty="0"/>
              <a:t> </a:t>
            </a:r>
            <a:r>
              <a:rPr lang="tr-TR" sz="1500" dirty="0" err="1"/>
              <a:t>translation</a:t>
            </a:r>
            <a:r>
              <a:rPr lang="tr-TR" sz="1500" dirty="0"/>
              <a:t> * (ip </a:t>
            </a:r>
            <a:r>
              <a:rPr lang="tr-TR" sz="1500" dirty="0" err="1"/>
              <a:t>nat</a:t>
            </a:r>
            <a:r>
              <a:rPr lang="tr-TR" sz="1500" dirty="0"/>
              <a:t> çevirisini temizle) komutunu kullanın. Yalnızca dinamik çeviriler tablodan kaldırılır. Statik çeviriler çeviri tablosundan silinemez.</a:t>
            </a:r>
          </a:p>
        </p:txBody>
      </p:sp>
    </p:spTree>
    <p:extLst>
      <p:ext uri="{BB962C8B-B14F-4D97-AF65-F5344CB8AC3E}">
        <p14:creationId xmlns:p14="http://schemas.microsoft.com/office/powerpoint/2010/main" val="5162830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van 4">
            <a:extLst>
              <a:ext uri="{FF2B5EF4-FFF2-40B4-BE49-F238E27FC236}">
                <a16:creationId xmlns:a16="http://schemas.microsoft.com/office/drawing/2014/main" id="{26822225-E19D-EC43-AE5B-4CC6E2D5A64A}"/>
              </a:ext>
            </a:extLst>
          </p:cNvPr>
          <p:cNvSpPr>
            <a:spLocks noGrp="1"/>
          </p:cNvSpPr>
          <p:nvPr>
            <p:ph type="title"/>
          </p:nvPr>
        </p:nvSpPr>
        <p:spPr>
          <a:xfrm>
            <a:off x="313765" y="853415"/>
            <a:ext cx="8686800" cy="536114"/>
          </a:xfrm>
        </p:spPr>
        <p:txBody>
          <a:bodyPr>
            <a:normAutofit fontScale="90000"/>
          </a:bodyPr>
          <a:lstStyle/>
          <a:p>
            <a:r>
              <a:rPr lang="tr-TR" dirty="0"/>
              <a:t>Bölüm / Hafta Özeti</a:t>
            </a:r>
          </a:p>
        </p:txBody>
      </p:sp>
      <p:sp>
        <p:nvSpPr>
          <p:cNvPr id="7" name="İçerik Yer Tutucusu 5">
            <a:extLst>
              <a:ext uri="{FF2B5EF4-FFF2-40B4-BE49-F238E27FC236}">
                <a16:creationId xmlns:a16="http://schemas.microsoft.com/office/drawing/2014/main" id="{31301F19-586A-9F42-97FA-25F89C0B7106}"/>
              </a:ext>
            </a:extLst>
          </p:cNvPr>
          <p:cNvSpPr>
            <a:spLocks noGrp="1"/>
          </p:cNvSpPr>
          <p:nvPr>
            <p:ph idx="1"/>
          </p:nvPr>
        </p:nvSpPr>
        <p:spPr>
          <a:xfrm>
            <a:off x="313765" y="1515035"/>
            <a:ext cx="8686800" cy="4929308"/>
          </a:xfrm>
        </p:spPr>
        <p:txBody>
          <a:bodyPr/>
          <a:lstStyle/>
          <a:p>
            <a:pPr marL="0" indent="0" algn="just">
              <a:buNone/>
            </a:pPr>
            <a:r>
              <a:rPr lang="tr-TR" sz="3000" dirty="0"/>
              <a:t>Bu bölümde </a:t>
            </a:r>
            <a:r>
              <a:rPr lang="tr-TR" sz="3000" dirty="0" err="1"/>
              <a:t>Router</a:t>
            </a:r>
            <a:r>
              <a:rPr lang="tr-TR" sz="3000" dirty="0"/>
              <a:t> cihazlarının temel yapılandırma işlemleri ve CISCO IOS CLI ekranının nasıl kullanılacağı görseller ile desteklenerek anlatılmıştır. </a:t>
            </a:r>
            <a:r>
              <a:rPr lang="tr-TR" sz="3000" dirty="0" err="1"/>
              <a:t>Router</a:t>
            </a:r>
            <a:r>
              <a:rPr lang="tr-TR" sz="3000" dirty="0"/>
              <a:t> cihazları üzerinde </a:t>
            </a:r>
            <a:r>
              <a:rPr lang="tr-TR" sz="3000" dirty="0" err="1"/>
              <a:t>arayüzlerin</a:t>
            </a:r>
            <a:r>
              <a:rPr lang="tr-TR" sz="3000" dirty="0"/>
              <a:t>, rotaların, DHCP servislerinin ve Statik NAT işlemlerinin yapılandırılması ele alınmıştır.</a:t>
            </a:r>
          </a:p>
        </p:txBody>
      </p:sp>
    </p:spTree>
    <p:extLst>
      <p:ext uri="{BB962C8B-B14F-4D97-AF65-F5344CB8AC3E}">
        <p14:creationId xmlns:p14="http://schemas.microsoft.com/office/powerpoint/2010/main" val="25844932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van 1">
            <a:extLst>
              <a:ext uri="{FF2B5EF4-FFF2-40B4-BE49-F238E27FC236}">
                <a16:creationId xmlns:a16="http://schemas.microsoft.com/office/drawing/2014/main" id="{19D5AA8E-60EA-E445-B7CC-6B48E02B71EA}"/>
              </a:ext>
            </a:extLst>
          </p:cNvPr>
          <p:cNvSpPr>
            <a:spLocks noGrp="1"/>
          </p:cNvSpPr>
          <p:nvPr>
            <p:ph type="title"/>
          </p:nvPr>
        </p:nvSpPr>
        <p:spPr>
          <a:xfrm>
            <a:off x="313765" y="853415"/>
            <a:ext cx="8686800" cy="536114"/>
          </a:xfrm>
        </p:spPr>
        <p:txBody>
          <a:bodyPr>
            <a:normAutofit fontScale="90000"/>
          </a:bodyPr>
          <a:lstStyle/>
          <a:p>
            <a:r>
              <a:rPr lang="tr-TR" dirty="0"/>
              <a:t>Kaynaklar </a:t>
            </a:r>
          </a:p>
        </p:txBody>
      </p:sp>
      <p:sp>
        <p:nvSpPr>
          <p:cNvPr id="7" name="İçerik Yer Tutucusu 4">
            <a:extLst>
              <a:ext uri="{FF2B5EF4-FFF2-40B4-BE49-F238E27FC236}">
                <a16:creationId xmlns:a16="http://schemas.microsoft.com/office/drawing/2014/main" id="{B23C765D-7536-8845-9192-B08D3EE5C869}"/>
              </a:ext>
            </a:extLst>
          </p:cNvPr>
          <p:cNvSpPr>
            <a:spLocks noGrp="1"/>
          </p:cNvSpPr>
          <p:nvPr>
            <p:ph idx="1"/>
          </p:nvPr>
        </p:nvSpPr>
        <p:spPr>
          <a:xfrm>
            <a:off x="313765" y="1515035"/>
            <a:ext cx="8686800" cy="4929308"/>
          </a:xfrm>
        </p:spPr>
        <p:txBody>
          <a:bodyPr/>
          <a:lstStyle/>
          <a:p>
            <a:r>
              <a:rPr lang="tr-TR" dirty="0"/>
              <a:t>CISCO CCNA Eğitim Modülü</a:t>
            </a:r>
          </a:p>
        </p:txBody>
      </p:sp>
    </p:spTree>
    <p:extLst>
      <p:ext uri="{BB962C8B-B14F-4D97-AF65-F5344CB8AC3E}">
        <p14:creationId xmlns:p14="http://schemas.microsoft.com/office/powerpoint/2010/main" val="470477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aşlık 1">
            <a:extLst>
              <a:ext uri="{FF2B5EF4-FFF2-40B4-BE49-F238E27FC236}">
                <a16:creationId xmlns:a16="http://schemas.microsoft.com/office/drawing/2014/main" id="{77197998-B74C-5048-833E-E9C3434BEE9B}"/>
              </a:ext>
            </a:extLst>
          </p:cNvPr>
          <p:cNvSpPr>
            <a:spLocks noGrp="1"/>
          </p:cNvSpPr>
          <p:nvPr>
            <p:ph type="subTitle" idx="1"/>
          </p:nvPr>
        </p:nvSpPr>
        <p:spPr>
          <a:xfrm>
            <a:off x="152400" y="5334000"/>
            <a:ext cx="8422108" cy="861580"/>
          </a:xfrm>
        </p:spPr>
        <p:txBody>
          <a:bodyPr/>
          <a:lstStyle/>
          <a:p>
            <a:r>
              <a:rPr lang="tr-TR" dirty="0"/>
              <a:t>TEŞEKKÜRLER</a:t>
            </a:r>
          </a:p>
        </p:txBody>
      </p:sp>
    </p:spTree>
    <p:extLst>
      <p:ext uri="{BB962C8B-B14F-4D97-AF65-F5344CB8AC3E}">
        <p14:creationId xmlns:p14="http://schemas.microsoft.com/office/powerpoint/2010/main" val="2997841539"/>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13E297F443179941B3CCCA537649BB75" ma:contentTypeVersion="4" ma:contentTypeDescription="Yeni belge oluşturun." ma:contentTypeScope="" ma:versionID="eefc4eb90b5ecf2742aa9b516938315d">
  <xsd:schema xmlns:xsd="http://www.w3.org/2001/XMLSchema" xmlns:xs="http://www.w3.org/2001/XMLSchema" xmlns:p="http://schemas.microsoft.com/office/2006/metadata/properties" xmlns:ns2="4eb0f163-66f3-43ab-a6dc-8fd6c1b95e0c" targetNamespace="http://schemas.microsoft.com/office/2006/metadata/properties" ma:root="true" ma:fieldsID="4f3cfb2777f582e4a62cd9ea7a7bfd1a" ns2:_="">
    <xsd:import namespace="4eb0f163-66f3-43ab-a6dc-8fd6c1b95e0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b0f163-66f3-43ab-a6dc-8fd6c1b95e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830BFF6-DA26-4D00-A58E-8F1A9E7C91EA}"/>
</file>

<file path=customXml/itemProps2.xml><?xml version="1.0" encoding="utf-8"?>
<ds:datastoreItem xmlns:ds="http://schemas.openxmlformats.org/officeDocument/2006/customXml" ds:itemID="{17348578-6B72-4114-86C9-E126B417CE16}"/>
</file>

<file path=customXml/itemProps3.xml><?xml version="1.0" encoding="utf-8"?>
<ds:datastoreItem xmlns:ds="http://schemas.openxmlformats.org/officeDocument/2006/customXml" ds:itemID="{1AEAA42B-EA61-484F-B824-3504C5CA423B}"/>
</file>

<file path=docProps/app.xml><?xml version="1.0" encoding="utf-8"?>
<Properties xmlns="http://schemas.openxmlformats.org/officeDocument/2006/extended-properties" xmlns:vt="http://schemas.openxmlformats.org/officeDocument/2006/docPropsVTypes">
  <TotalTime>234</TotalTime>
  <Words>3295</Words>
  <Application>Microsoft Office PowerPoint</Application>
  <PresentationFormat>Ekran Gösterisi (4:3)</PresentationFormat>
  <Paragraphs>274</Paragraphs>
  <Slides>32</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32</vt:i4>
      </vt:variant>
    </vt:vector>
  </HeadingPairs>
  <TitlesOfParts>
    <vt:vector size="35" baseType="lpstr">
      <vt:lpstr>Arial</vt:lpstr>
      <vt:lpstr>Calibri</vt:lpstr>
      <vt:lpstr>Ofis Teması</vt:lpstr>
      <vt:lpstr>PowerPoint Sunusu</vt:lpstr>
      <vt:lpstr>Bölüm / Hafta Hedefleri</vt:lpstr>
      <vt:lpstr>Komut Satırı Arayüzü Kipleri</vt:lpstr>
      <vt:lpstr>Komut Satırı Arayüzü Kipleri</vt:lpstr>
      <vt:lpstr>Komut Satırı Arayüzü Kipleri</vt:lpstr>
      <vt:lpstr>Komut Satırı Arayüzü Kipleri</vt:lpstr>
      <vt:lpstr>Komut Satırı Arayüzü Kipleri</vt:lpstr>
      <vt:lpstr>CISCO IOS CLI’sını Kullanma</vt:lpstr>
      <vt:lpstr>CISCO IOS CLI’sını Kullanma</vt:lpstr>
      <vt:lpstr>CISCO IOS CLI’sını Kullanma</vt:lpstr>
      <vt:lpstr>CISCO IOS CLI’sını Kullanma</vt:lpstr>
      <vt:lpstr>Show (Göster) Komutlarını Kullanma</vt:lpstr>
      <vt:lpstr>Temel Yapılandırma</vt:lpstr>
      <vt:lpstr>Temel Yapılandırma</vt:lpstr>
      <vt:lpstr>Temel Yapılandırma</vt:lpstr>
      <vt:lpstr>Temel Yapılandırma</vt:lpstr>
      <vt:lpstr>Temel Yapılandırma</vt:lpstr>
      <vt:lpstr>Temel Yapılandırma</vt:lpstr>
      <vt:lpstr>Temel Yapılandırma</vt:lpstr>
      <vt:lpstr>Bir Arayüzü Yapılandırma</vt:lpstr>
      <vt:lpstr>Bir Arayüzü Yapılandırma</vt:lpstr>
      <vt:lpstr>Bir Arayüzü Yapılandırma</vt:lpstr>
      <vt:lpstr>Bir Arayüzü Yapılandırma</vt:lpstr>
      <vt:lpstr>Bir Varsayılan Rota Yapılandırma</vt:lpstr>
      <vt:lpstr>Bir Varsayılan Rota Yapılandırma</vt:lpstr>
      <vt:lpstr>DHCP Hizmetlerini Yapılandırma</vt:lpstr>
      <vt:lpstr>CISCO IOS CLI’sı Kullanarak Statik NAT Yapılandırma</vt:lpstr>
      <vt:lpstr>CISCO IOS CLI’sı Kullanarak Statik NAT Yapılandırma</vt:lpstr>
      <vt:lpstr>CISCO IOS CLI’sı Kullanarak Statik NAT Yapılandırma</vt:lpstr>
      <vt:lpstr>Bölüm / Hafta Özeti</vt:lpstr>
      <vt:lpstr>Kaynaklar </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Cem Kumral</dc:creator>
  <cp:lastModifiedBy>Cem Kumral</cp:lastModifiedBy>
  <cp:revision>176</cp:revision>
  <dcterms:created xsi:type="dcterms:W3CDTF">2020-03-31T18:54:31Z</dcterms:created>
  <dcterms:modified xsi:type="dcterms:W3CDTF">2020-04-16T18:26:32Z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0x01010013E297F443179941B3CCCA537649BB75</vt:lpwstr>
  </property>
</Properties>
</file>