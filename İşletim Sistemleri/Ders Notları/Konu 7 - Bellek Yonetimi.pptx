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3" r:id="rId2"/>
    <p:sldId id="274" r:id="rId3"/>
    <p:sldId id="257" r:id="rId4"/>
    <p:sldId id="258" r:id="rId5"/>
    <p:sldId id="259" r:id="rId6"/>
    <p:sldId id="275" r:id="rId7"/>
    <p:sldId id="276" r:id="rId8"/>
    <p:sldId id="277" r:id="rId9"/>
    <p:sldId id="278" r:id="rId10"/>
    <p:sldId id="279" r:id="rId11"/>
    <p:sldId id="283" r:id="rId12"/>
    <p:sldId id="280" r:id="rId13"/>
    <p:sldId id="262" r:id="rId14"/>
    <p:sldId id="263" r:id="rId15"/>
    <p:sldId id="264" r:id="rId16"/>
    <p:sldId id="270" r:id="rId17"/>
    <p:sldId id="271" r:id="rId18"/>
    <p:sldId id="272" r:id="rId19"/>
    <p:sldId id="281" r:id="rId20"/>
    <p:sldId id="282" r:id="rId2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1091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464" units="cm"/>
          <inkml:channel name="Y" type="integer" max="900" units="cm"/>
        </inkml:traceFormat>
        <inkml:channelProperties>
          <inkml:channelProperty channel="X" name="resolution" value="68.25484" units="1/cm"/>
          <inkml:channelProperty channel="Y" name="resolution" value="33.21033" units="1/cm"/>
        </inkml:channelProperties>
      </inkml:inkSource>
      <inkml:timestamp xml:id="ts0" timeString="2013-12-10T18:36:34.27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64F7C3-25DB-4F9A-AF71-E27842012336}" type="datetimeFigureOut">
              <a:rPr lang="tr-TR" smtClean="0"/>
              <a:t>13.01.2021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74367F-B525-480D-BF47-DF3EA89074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46317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dirty="0"/>
              <a:t>Bir iş belleğe yüklenmeden önce, sayfa çerçeveleri adı verilen bellek konumlarına yüklenecek sayfa adı verilen parçalara bölünür. Sayfalanmış bellek ayırma eşit büyüklükte sayfalara</a:t>
            </a:r>
            <a:r>
              <a:rPr lang="tr-TR" baseline="0" dirty="0"/>
              <a:t> </a:t>
            </a:r>
            <a:r>
              <a:rPr lang="tr-TR" dirty="0"/>
              <a:t>her gelen iş bölünmesi kavramına dayanmaktadır. Bazı işletim sistemleri, bellek bloğu boyutuyla aynı ve işin depolandığı diskin bölümleriyle aynı boyutta olan bir sayfa boyutu seçer.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tr-TR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dirty="0"/>
              <a:t>Programların bitişik olmayan konumlarda depolanmasının birincil avantajı, boş bir sayfa çerçevesi herhangi bir sayfa tarafından kullanılabildiğinden, ana belleğin daha verimli kullanılmasıdır.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dirty="0"/>
              <a:t>Ek olarak, yer değiştirebilir bölümler için kullanılan sıkıştırma şeması ortadan kaldırılmıştır, çünkü sayfa çerçeveleri arasında harici parçalanma yoktur (ve çoğu sayfada dahili parçalanma yoktur).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dirty="0"/>
              <a:t>Bir işin sayfaları ana bellekte herhangi bir yere yerleştirilebildiğinden, Bellek Yöneticisinin artık onları izleyebilecek bir mekanizmaya ihtiyacı vardır - bu da işletim sistemi yazılımının boyutunu ve karmaşıklığını arttırmak anlamına gelir;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4367F-B525-480D-BF47-DF3EA890740E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74672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74367F-B525-480D-BF47-DF3EA890740E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16618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CA5BC1-84F0-42D3-9D4D-CF19D9984619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19922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8F98A-6498-4508-9C50-E46BCAD08C6B}" type="datetimeFigureOut">
              <a:rPr lang="tr-TR" smtClean="0"/>
              <a:t>13.01.2021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59A69-086B-4CD0-8021-9BA2D630E36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99384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8F98A-6498-4508-9C50-E46BCAD08C6B}" type="datetimeFigureOut">
              <a:rPr lang="tr-TR" smtClean="0"/>
              <a:t>13.01.2021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59A69-086B-4CD0-8021-9BA2D630E36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53251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8F98A-6498-4508-9C50-E46BCAD08C6B}" type="datetimeFigureOut">
              <a:rPr lang="tr-TR" smtClean="0"/>
              <a:t>13.01.2021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59A69-086B-4CD0-8021-9BA2D630E36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13553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8F98A-6498-4508-9C50-E46BCAD08C6B}" type="datetimeFigureOut">
              <a:rPr lang="tr-TR" smtClean="0"/>
              <a:t>13.01.2021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59A69-086B-4CD0-8021-9BA2D630E36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6869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8F98A-6498-4508-9C50-E46BCAD08C6B}" type="datetimeFigureOut">
              <a:rPr lang="tr-TR" smtClean="0"/>
              <a:t>13.01.2021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59A69-086B-4CD0-8021-9BA2D630E36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22154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8F98A-6498-4508-9C50-E46BCAD08C6B}" type="datetimeFigureOut">
              <a:rPr lang="tr-TR" smtClean="0"/>
              <a:t>13.01.2021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59A69-086B-4CD0-8021-9BA2D630E36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9575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8F98A-6498-4508-9C50-E46BCAD08C6B}" type="datetimeFigureOut">
              <a:rPr lang="tr-TR" smtClean="0"/>
              <a:t>13.01.2021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59A69-086B-4CD0-8021-9BA2D630E36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49302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8F98A-6498-4508-9C50-E46BCAD08C6B}" type="datetimeFigureOut">
              <a:rPr lang="tr-TR" smtClean="0"/>
              <a:t>13.01.2021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59A69-086B-4CD0-8021-9BA2D630E36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59054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8F98A-6498-4508-9C50-E46BCAD08C6B}" type="datetimeFigureOut">
              <a:rPr lang="tr-TR" smtClean="0"/>
              <a:t>13.01.2021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59A69-086B-4CD0-8021-9BA2D630E36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96383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8F98A-6498-4508-9C50-E46BCAD08C6B}" type="datetimeFigureOut">
              <a:rPr lang="tr-TR" smtClean="0"/>
              <a:t>13.01.2021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59A69-086B-4CD0-8021-9BA2D630E36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12758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8F98A-6498-4508-9C50-E46BCAD08C6B}" type="datetimeFigureOut">
              <a:rPr lang="tr-TR" smtClean="0"/>
              <a:t>13.01.2021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59A69-086B-4CD0-8021-9BA2D630E36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9938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8F98A-6498-4508-9C50-E46BCAD08C6B}" type="datetimeFigureOut">
              <a:rPr lang="tr-TR" smtClean="0"/>
              <a:t>13.01.2021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B59A69-086B-4CD0-8021-9BA2D630E36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36492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2279576" y="2132857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tr-TR" dirty="0"/>
              <a:t>BELLEK YÖNETİMİ</a:t>
            </a:r>
            <a:br>
              <a:rPr lang="tr-TR" dirty="0"/>
            </a:br>
            <a:r>
              <a:rPr lang="tr-TR" dirty="0"/>
              <a:t>Sayfalı Bellek  - Kesimli Bellek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Dr. </a:t>
            </a:r>
            <a:r>
              <a:rPr lang="tr-TR" dirty="0" err="1"/>
              <a:t>Öğr</a:t>
            </a:r>
            <a:r>
              <a:rPr lang="tr-TR" dirty="0"/>
              <a:t>. Üyesi </a:t>
            </a:r>
            <a:r>
              <a:rPr lang="tr-TR" dirty="0" err="1"/>
              <a:t>Mevlüt</a:t>
            </a:r>
            <a:r>
              <a:rPr lang="tr-TR" dirty="0"/>
              <a:t> ERSOY</a:t>
            </a:r>
          </a:p>
        </p:txBody>
      </p:sp>
    </p:spTree>
    <p:extLst>
      <p:ext uri="{BB962C8B-B14F-4D97-AF65-F5344CB8AC3E}">
        <p14:creationId xmlns:p14="http://schemas.microsoft.com/office/powerpoint/2010/main" val="1663908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6718"/>
          </a:xfrm>
        </p:spPr>
        <p:txBody>
          <a:bodyPr/>
          <a:lstStyle/>
          <a:p>
            <a:r>
              <a:rPr lang="tr-TR" dirty="0"/>
              <a:t>Sayfalı Bellek Yönetimi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331843"/>
            <a:ext cx="10515600" cy="18685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 dirty="0"/>
              <a:t>Bir programı yürütmeden önce, Bellek Yönetici görevi</a:t>
            </a:r>
            <a:r>
              <a:rPr lang="en-US" sz="2400" dirty="0"/>
              <a:t> </a:t>
            </a:r>
            <a:r>
              <a:rPr lang="tr-TR" sz="2400" dirty="0"/>
              <a:t>şu şekilde hazırlar:</a:t>
            </a:r>
          </a:p>
          <a:p>
            <a:pPr marL="0" indent="0">
              <a:buNone/>
            </a:pPr>
            <a:r>
              <a:rPr lang="tr-TR" sz="2400" dirty="0"/>
              <a:t>1. Programdaki sayfa sayısının belirlenmesi</a:t>
            </a:r>
          </a:p>
          <a:p>
            <a:pPr marL="0" indent="0">
              <a:buNone/>
            </a:pPr>
            <a:r>
              <a:rPr lang="tr-TR" sz="2400" dirty="0"/>
              <a:t>2. Ana bellekte yeterince boş sayfa çerçevesi bulma</a:t>
            </a:r>
          </a:p>
          <a:p>
            <a:pPr marL="0" indent="0">
              <a:buNone/>
            </a:pPr>
            <a:r>
              <a:rPr lang="tr-TR" sz="2400" dirty="0"/>
              <a:t>3. Programın tüm sayfalarını kendilerine yükleme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525" y="3200400"/>
            <a:ext cx="5833563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603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981200" y="260648"/>
            <a:ext cx="8229600" cy="1143000"/>
          </a:xfrm>
        </p:spPr>
        <p:txBody>
          <a:bodyPr/>
          <a:lstStyle/>
          <a:p>
            <a:r>
              <a:rPr lang="tr-TR" dirty="0"/>
              <a:t>Sayfalı Bellek Yönetimi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05" t="15000" r="10214" b="14530"/>
          <a:stretch/>
        </p:blipFill>
        <p:spPr bwMode="auto">
          <a:xfrm>
            <a:off x="2434026" y="1340768"/>
            <a:ext cx="7334382" cy="5104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Mürekkep 11"/>
              <p14:cNvContentPartPr/>
              <p14:nvPr/>
            </p14:nvContentPartPr>
            <p14:xfrm>
              <a:off x="6037806" y="2569103"/>
              <a:ext cx="360" cy="360"/>
            </p14:xfrm>
          </p:contentPart>
        </mc:Choice>
        <mc:Fallback xmlns="">
          <p:pic>
            <p:nvPicPr>
              <p:cNvPr id="12" name="Mürekkep 1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25926" y="2557223"/>
                <a:ext cx="24120" cy="2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7528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Sayfalı Bellek Yönetimi Adresleme Mantığı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00" t="14031" r="17730" b="29293"/>
          <a:stretch/>
        </p:blipFill>
        <p:spPr bwMode="auto">
          <a:xfrm>
            <a:off x="1991545" y="1916832"/>
            <a:ext cx="7835705" cy="4318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2515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78" t="32677" r="16346" b="11754"/>
          <a:stretch/>
        </p:blipFill>
        <p:spPr bwMode="auto">
          <a:xfrm>
            <a:off x="1629978" y="1124744"/>
            <a:ext cx="9074535" cy="462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2913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Sanal Bellek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Sanal belleği en önemli avantajı fiziksel bellekten büyük görevlerin çalıştırılabilmesini sağlamasıdır.</a:t>
            </a:r>
          </a:p>
        </p:txBody>
      </p:sp>
    </p:spTree>
    <p:extLst>
      <p:ext uri="{BB962C8B-B14F-4D97-AF65-F5344CB8AC3E}">
        <p14:creationId xmlns:p14="http://schemas.microsoft.com/office/powerpoint/2010/main" val="1787303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5562" y="908720"/>
            <a:ext cx="6239152" cy="5949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Sanal Bellek (Virtual Memory)</a:t>
            </a:r>
          </a:p>
        </p:txBody>
      </p:sp>
    </p:spTree>
    <p:extLst>
      <p:ext uri="{BB962C8B-B14F-4D97-AF65-F5344CB8AC3E}">
        <p14:creationId xmlns:p14="http://schemas.microsoft.com/office/powerpoint/2010/main" val="1697407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847528" y="908721"/>
            <a:ext cx="8363272" cy="5476205"/>
          </a:xfrm>
        </p:spPr>
        <p:txBody>
          <a:bodyPr>
            <a:normAutofit/>
          </a:bodyPr>
          <a:lstStyle/>
          <a:p>
            <a:r>
              <a:rPr lang="tr-TR" dirty="0"/>
              <a:t>Adres dönüştürme sürecinin ortasında, denetimin donanımdan bellek yönetici yazılımına aktarılmasından sonra gerçekleşmesi gereken işlemler şunlardır;</a:t>
            </a:r>
          </a:p>
          <a:p>
            <a:pPr marL="0" indent="0">
              <a:buNone/>
            </a:pPr>
            <a:endParaRPr lang="tr-TR" dirty="0"/>
          </a:p>
          <a:p>
            <a:pPr lvl="1"/>
            <a:r>
              <a:rPr lang="tr-TR" dirty="0"/>
              <a:t>Bellekte göreve atanacak boş bir sayfa aramak</a:t>
            </a:r>
          </a:p>
          <a:p>
            <a:pPr lvl="1"/>
            <a:r>
              <a:rPr lang="tr-TR" dirty="0"/>
              <a:t>Bellekte boş yer yoksa, yer açmak için, ana bellekten çıkarılacak sayfanın seçimini yapmak</a:t>
            </a:r>
          </a:p>
          <a:p>
            <a:pPr lvl="1"/>
            <a:r>
              <a:rPr lang="tr-TR" dirty="0"/>
              <a:t>Ana </a:t>
            </a:r>
            <a:r>
              <a:rPr lang="tr-TR" dirty="0" err="1"/>
              <a:t>bellketen</a:t>
            </a:r>
            <a:r>
              <a:rPr lang="tr-TR" dirty="0"/>
              <a:t> çıkarılacak sayfada güncelleme yapılmışsa, sayfayı diskteki yerine yazmak</a:t>
            </a:r>
          </a:p>
          <a:p>
            <a:pPr lvl="1"/>
            <a:r>
              <a:rPr lang="tr-TR" dirty="0"/>
              <a:t>Erişilmek istene sayfayı ana belleğe yüklemek</a:t>
            </a:r>
          </a:p>
          <a:p>
            <a:pPr lvl="1"/>
            <a:r>
              <a:rPr lang="tr-TR" dirty="0"/>
              <a:t>Yarıda kesilen komutun işletimini yeniden başlatmak</a:t>
            </a:r>
          </a:p>
        </p:txBody>
      </p:sp>
    </p:spTree>
    <p:extLst>
      <p:ext uri="{BB962C8B-B14F-4D97-AF65-F5344CB8AC3E}">
        <p14:creationId xmlns:p14="http://schemas.microsoft.com/office/powerpoint/2010/main" val="3984718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82" t="16194" r="19887" b="22884"/>
          <a:stretch/>
        </p:blipFill>
        <p:spPr bwMode="auto">
          <a:xfrm>
            <a:off x="1847529" y="908721"/>
            <a:ext cx="8596755" cy="5302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2796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Sayfa Çıkarma Algoritmaları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İlk Giren Sayfayı Çıkarma (FIFO)</a:t>
            </a:r>
          </a:p>
          <a:p>
            <a:r>
              <a:rPr lang="tr-TR" dirty="0"/>
              <a:t>En erken erişilmiş sayfayı çıkarma </a:t>
            </a:r>
          </a:p>
          <a:p>
            <a:pPr marL="0" indent="0">
              <a:buNone/>
            </a:pPr>
            <a:r>
              <a:rPr lang="tr-TR" dirty="0"/>
              <a:t>	(</a:t>
            </a:r>
            <a:r>
              <a:rPr lang="tr-TR" dirty="0" err="1"/>
              <a:t>Least</a:t>
            </a:r>
            <a:r>
              <a:rPr lang="tr-TR" dirty="0"/>
              <a:t> </a:t>
            </a:r>
            <a:r>
              <a:rPr lang="tr-TR" dirty="0" err="1"/>
              <a:t>Recently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 – En Az Kullanılan)(LRU)</a:t>
            </a:r>
          </a:p>
          <a:p>
            <a:r>
              <a:rPr lang="tr-TR" dirty="0"/>
              <a:t>En geç erişilecek sayfayı çıkarma (Optimal) - </a:t>
            </a:r>
            <a:r>
              <a:rPr lang="tr-TR" b="0" i="0" dirty="0">
                <a:solidFill>
                  <a:srgbClr val="000000"/>
                </a:solidFill>
                <a:effectLst/>
                <a:latin typeface="Roboto"/>
              </a:rPr>
              <a:t>bir sonraki referansa kadar geçen sürenin en uzun olduğu sayfayı değiştirmeyi seçer.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64672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10F00976-D50D-4907-BE1C-F07080639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83" y="665658"/>
            <a:ext cx="10852211" cy="5526684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3ECA4BCD-1A60-4D1B-AC55-9952E93C77C3}"/>
              </a:ext>
            </a:extLst>
          </p:cNvPr>
          <p:cNvSpPr txBox="1"/>
          <p:nvPr/>
        </p:nvSpPr>
        <p:spPr>
          <a:xfrm>
            <a:off x="2684206" y="2428568"/>
            <a:ext cx="255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*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CF42901B-7FD9-418A-9B14-5423AA28A8A3}"/>
              </a:ext>
            </a:extLst>
          </p:cNvPr>
          <p:cNvSpPr txBox="1"/>
          <p:nvPr/>
        </p:nvSpPr>
        <p:spPr>
          <a:xfrm>
            <a:off x="3333135" y="2428568"/>
            <a:ext cx="255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*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9AA3EEF6-1E16-4CFE-889B-FEA25060F93E}"/>
              </a:ext>
            </a:extLst>
          </p:cNvPr>
          <p:cNvSpPr txBox="1"/>
          <p:nvPr/>
        </p:nvSpPr>
        <p:spPr>
          <a:xfrm>
            <a:off x="4903693" y="2428568"/>
            <a:ext cx="255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*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78B53F52-0C7E-4665-BA47-9C7BE80E5512}"/>
              </a:ext>
            </a:extLst>
          </p:cNvPr>
          <p:cNvSpPr txBox="1"/>
          <p:nvPr/>
        </p:nvSpPr>
        <p:spPr>
          <a:xfrm>
            <a:off x="2644876" y="3941123"/>
            <a:ext cx="255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*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A08DB904-44DE-46F1-889A-6AC771E5A019}"/>
              </a:ext>
            </a:extLst>
          </p:cNvPr>
          <p:cNvSpPr txBox="1"/>
          <p:nvPr/>
        </p:nvSpPr>
        <p:spPr>
          <a:xfrm>
            <a:off x="3342966" y="3941123"/>
            <a:ext cx="255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*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D8CCEFD6-5F7F-44DC-98F5-2AA2F690F876}"/>
              </a:ext>
            </a:extLst>
          </p:cNvPr>
          <p:cNvSpPr txBox="1"/>
          <p:nvPr/>
        </p:nvSpPr>
        <p:spPr>
          <a:xfrm>
            <a:off x="4874194" y="3945049"/>
            <a:ext cx="255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*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F233F084-EA1A-4100-93AC-93741352ED59}"/>
              </a:ext>
            </a:extLst>
          </p:cNvPr>
          <p:cNvSpPr txBox="1"/>
          <p:nvPr/>
        </p:nvSpPr>
        <p:spPr>
          <a:xfrm>
            <a:off x="2684206" y="5553613"/>
            <a:ext cx="255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*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9CEC9F18-C8ED-4B3E-ABDF-EB3C296CFD43}"/>
              </a:ext>
            </a:extLst>
          </p:cNvPr>
          <p:cNvSpPr txBox="1"/>
          <p:nvPr/>
        </p:nvSpPr>
        <p:spPr>
          <a:xfrm>
            <a:off x="3421624" y="5553613"/>
            <a:ext cx="255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*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C6F33DC7-8848-4F5C-88AF-DB9AA846A7BE}"/>
              </a:ext>
            </a:extLst>
          </p:cNvPr>
          <p:cNvSpPr txBox="1"/>
          <p:nvPr/>
        </p:nvSpPr>
        <p:spPr>
          <a:xfrm>
            <a:off x="4874194" y="5557539"/>
            <a:ext cx="255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669122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tr-TR" dirty="0"/>
              <a:t>Kesimli Bellek Yönetimi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4957763"/>
          </a:xfrm>
        </p:spPr>
        <p:txBody>
          <a:bodyPr>
            <a:normAutofit fontScale="55000" lnSpcReduction="20000"/>
          </a:bodyPr>
          <a:lstStyle/>
          <a:p>
            <a:r>
              <a:rPr lang="tr-TR" dirty="0" err="1"/>
              <a:t>Segmentasyon</a:t>
            </a:r>
            <a:r>
              <a:rPr lang="tr-TR" dirty="0"/>
              <a:t> kavramı, programcıların programlarını modüller halinde (mantıksal kod gruplamaları) yapılandırma programcıları tarafından yapılan ortak uygulamaya dayanmaktadır.</a:t>
            </a:r>
          </a:p>
          <a:p>
            <a:endParaRPr lang="tr-TR" dirty="0"/>
          </a:p>
          <a:p>
            <a:r>
              <a:rPr lang="tr-TR" dirty="0"/>
              <a:t>Kesimli bellek tahsisi ile her iş, ilgili işlevleri yerine getiren parçaları içeren her modül için bir tane olmak üzere farklı boyutlarda birkaç bölüme ayrılır.</a:t>
            </a:r>
          </a:p>
          <a:p>
            <a:r>
              <a:rPr lang="tr-TR" dirty="0" err="1"/>
              <a:t>Segmentasyon</a:t>
            </a:r>
            <a:r>
              <a:rPr lang="tr-TR" dirty="0"/>
              <a:t> kavramı, programcıların programlarını modüller halinde (mantıksal kod gruplamaları) yapılandırma programcıları tarafından yapılan ortak uygulamaya dayanmaktadır.</a:t>
            </a:r>
          </a:p>
          <a:p>
            <a:endParaRPr lang="tr-TR" dirty="0"/>
          </a:p>
          <a:p>
            <a:r>
              <a:rPr lang="tr-TR" dirty="0"/>
              <a:t>Kesimli bellek tahsisi ile her iş, ilgili işlevleri yerine getiren parçaları içeren her modül için bir tane olmak üzere farklı boyutlarda birkaç bölüme ayrılır.</a:t>
            </a:r>
          </a:p>
          <a:p>
            <a:endParaRPr lang="tr-TR" dirty="0"/>
          </a:p>
          <a:p>
            <a:r>
              <a:rPr lang="tr-TR" dirty="0" err="1"/>
              <a:t>Kesimlenmiş</a:t>
            </a:r>
            <a:r>
              <a:rPr lang="tr-TR" dirty="0"/>
              <a:t> bellek ayırma, bir bölümün döngüsünün iki veya daha fazla sayfaya bölünmüş olmasından kaynaklanan sayfa hatalarını azaltmak için tasarlanmıştır.</a:t>
            </a:r>
          </a:p>
          <a:p>
            <a:endParaRPr lang="tr-TR" dirty="0"/>
          </a:p>
          <a:p>
            <a:r>
              <a:rPr lang="tr-TR" dirty="0"/>
              <a:t>Bir alt rutin, böyle bir mantıksal grubun bir örneğidir. Bu temelde, her biri birden fazla program modülünden parçalar içeren, aynı büyüklükteki işleri birkaç sayfaya bölen bir çağrı düzeninden temelde farklıdır.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dirty="0" err="1"/>
              <a:t>İkinci</a:t>
            </a:r>
            <a:r>
              <a:rPr lang="en-US" dirty="0"/>
              <a:t> </a:t>
            </a:r>
            <a:r>
              <a:rPr lang="en-US" dirty="0" err="1"/>
              <a:t>önemli</a:t>
            </a:r>
            <a:r>
              <a:rPr lang="en-US" dirty="0"/>
              <a:t> </a:t>
            </a:r>
            <a:r>
              <a:rPr lang="en-US" dirty="0" err="1"/>
              <a:t>fark</a:t>
            </a:r>
            <a:r>
              <a:rPr lang="en-US" dirty="0"/>
              <a:t>, </a:t>
            </a:r>
            <a:r>
              <a:rPr lang="en-US" dirty="0" err="1"/>
              <a:t>ana</a:t>
            </a:r>
            <a:r>
              <a:rPr lang="en-US" dirty="0"/>
              <a:t> </a:t>
            </a:r>
            <a:r>
              <a:rPr lang="en-US" dirty="0" err="1"/>
              <a:t>belleğin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sayfa</a:t>
            </a:r>
            <a:r>
              <a:rPr lang="en-US" dirty="0"/>
              <a:t> </a:t>
            </a:r>
            <a:r>
              <a:rPr lang="en-US" dirty="0" err="1"/>
              <a:t>çerçevelerine</a:t>
            </a:r>
            <a:r>
              <a:rPr lang="en-US" dirty="0"/>
              <a:t> </a:t>
            </a:r>
            <a:r>
              <a:rPr lang="en-US" dirty="0" err="1"/>
              <a:t>bölünmemesidir</a:t>
            </a:r>
            <a:r>
              <a:rPr lang="en-US" dirty="0"/>
              <a:t>, </a:t>
            </a:r>
            <a:r>
              <a:rPr lang="en-US" dirty="0" err="1"/>
              <a:t>çünkü</a:t>
            </a:r>
            <a:r>
              <a:rPr lang="en-US" dirty="0"/>
              <a:t> her </a:t>
            </a:r>
            <a:r>
              <a:rPr lang="en-US" dirty="0" err="1"/>
              <a:t>bölümün</a:t>
            </a:r>
            <a:r>
              <a:rPr lang="en-US" dirty="0"/>
              <a:t> </a:t>
            </a:r>
            <a:r>
              <a:rPr lang="en-US" dirty="0" err="1"/>
              <a:t>boyutu</a:t>
            </a:r>
            <a:r>
              <a:rPr lang="en-US" dirty="0"/>
              <a:t> </a:t>
            </a:r>
            <a:r>
              <a:rPr lang="en-US" dirty="0" err="1"/>
              <a:t>farklıdır</a:t>
            </a:r>
            <a:r>
              <a:rPr lang="en-US" dirty="0"/>
              <a:t> - </a:t>
            </a:r>
            <a:r>
              <a:rPr lang="en-US" dirty="0" err="1"/>
              <a:t>bazıları</a:t>
            </a:r>
            <a:r>
              <a:rPr lang="en-US" dirty="0"/>
              <a:t> </a:t>
            </a:r>
            <a:r>
              <a:rPr lang="en-US" dirty="0" err="1"/>
              <a:t>büyük</a:t>
            </a:r>
            <a:r>
              <a:rPr lang="en-US" dirty="0"/>
              <a:t>, </a:t>
            </a:r>
            <a:r>
              <a:rPr lang="en-US" dirty="0" err="1"/>
              <a:t>bazıları</a:t>
            </a:r>
            <a:r>
              <a:rPr lang="en-US" dirty="0"/>
              <a:t> </a:t>
            </a:r>
            <a:r>
              <a:rPr lang="en-US" dirty="0" err="1"/>
              <a:t>küçüktür</a:t>
            </a:r>
            <a:r>
              <a:rPr lang="en-US" dirty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77121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981200" y="533400"/>
            <a:ext cx="8229600" cy="735360"/>
          </a:xfrm>
        </p:spPr>
        <p:txBody>
          <a:bodyPr>
            <a:normAutofit/>
          </a:bodyPr>
          <a:lstStyle/>
          <a:p>
            <a:r>
              <a:rPr lang="tr-TR" dirty="0"/>
              <a:t>Kesimli Bellek Yönetimi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632" y="1196752"/>
            <a:ext cx="6361319" cy="532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4329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77" t="5907" r="14269" b="11939"/>
          <a:stretch/>
        </p:blipFill>
        <p:spPr bwMode="auto">
          <a:xfrm>
            <a:off x="2388096" y="886300"/>
            <a:ext cx="7668344" cy="5495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5956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32 b</a:t>
            </a:r>
            <a:r>
              <a:rPr lang="tr-TR" dirty="0"/>
              <a:t>it Intel Mimarisi Mantıksal Adres Fiziksel Adres Dönüşümü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038" y="1916832"/>
            <a:ext cx="9146962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etin kutusu 4"/>
          <p:cNvSpPr txBox="1"/>
          <p:nvPr/>
        </p:nvSpPr>
        <p:spPr>
          <a:xfrm>
            <a:off x="1550472" y="3789040"/>
            <a:ext cx="911752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/>
              <a:t>Bir görevin mantıksal adres bloğunda iki özel </a:t>
            </a:r>
            <a:r>
              <a:rPr lang="tr-TR" sz="2400" dirty="0" err="1"/>
              <a:t>segment</a:t>
            </a:r>
            <a:r>
              <a:rPr lang="tr-TR" sz="2400" dirty="0"/>
              <a:t> ayrılır.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tr-TR" sz="2400" dirty="0"/>
              <a:t> ilk </a:t>
            </a:r>
            <a:r>
              <a:rPr lang="tr-TR" sz="2400" dirty="0" err="1"/>
              <a:t>segment</a:t>
            </a:r>
            <a:r>
              <a:rPr lang="tr-TR" sz="2400" dirty="0"/>
              <a:t> göreve özel 8K boyutundadır.(</a:t>
            </a:r>
            <a:r>
              <a:rPr lang="tr-TR" sz="2400" b="1" dirty="0" err="1"/>
              <a:t>local</a:t>
            </a:r>
            <a:r>
              <a:rPr lang="tr-TR" sz="2400" b="1" dirty="0"/>
              <a:t> </a:t>
            </a:r>
            <a:r>
              <a:rPr lang="tr-TR" sz="2400" b="1" dirty="0" err="1"/>
              <a:t>descriptor</a:t>
            </a:r>
            <a:r>
              <a:rPr lang="tr-TR" sz="2400" b="1" dirty="0"/>
              <a:t> </a:t>
            </a:r>
            <a:r>
              <a:rPr lang="tr-TR" sz="2400" b="1" dirty="0" err="1"/>
              <a:t>table</a:t>
            </a:r>
            <a:r>
              <a:rPr lang="tr-TR" sz="2400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tr-TR" sz="2400" dirty="0"/>
              <a:t>ikinci </a:t>
            </a:r>
            <a:r>
              <a:rPr lang="tr-TR" sz="2400" dirty="0" err="1"/>
              <a:t>segment</a:t>
            </a:r>
            <a:r>
              <a:rPr lang="tr-TR" sz="2400" dirty="0"/>
              <a:t> tüm görevler tarafından paylaşılan </a:t>
            </a:r>
            <a:r>
              <a:rPr lang="tr-TR" sz="2400" dirty="0" err="1"/>
              <a:t>segmenttir</a:t>
            </a:r>
            <a:r>
              <a:rPr lang="tr-TR" sz="2400" dirty="0"/>
              <a:t>.</a:t>
            </a:r>
            <a:r>
              <a:rPr lang="tr-TR" sz="2400" b="1" dirty="0"/>
              <a:t> global </a:t>
            </a:r>
            <a:r>
              <a:rPr lang="tr-TR" sz="2400" b="1" dirty="0" err="1"/>
              <a:t>descriptor</a:t>
            </a:r>
            <a:r>
              <a:rPr lang="tr-TR" sz="2400" b="1" dirty="0"/>
              <a:t> </a:t>
            </a:r>
            <a:r>
              <a:rPr lang="tr-TR" sz="2400" b="1" dirty="0" err="1"/>
              <a:t>table</a:t>
            </a:r>
            <a:endParaRPr lang="tr-T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/>
              <a:t>Her görev için 16 K </a:t>
            </a:r>
            <a:r>
              <a:rPr lang="tr-TR" sz="2400" dirty="0" err="1"/>
              <a:t>segment</a:t>
            </a:r>
            <a:r>
              <a:rPr lang="tr-TR" sz="2400" dirty="0"/>
              <a:t> boylarını destekler.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/>
              <a:t>4GB’ a kadar </a:t>
            </a:r>
            <a:r>
              <a:rPr lang="tr-TR" sz="2400" dirty="0" err="1"/>
              <a:t>segment</a:t>
            </a:r>
            <a:r>
              <a:rPr lang="tr-TR" sz="2400" dirty="0"/>
              <a:t> olabilir.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/>
              <a:t>32 bit mimari 4KB ve 4MB arasında sayfa boyutlarına izin verebilir.</a:t>
            </a:r>
          </a:p>
        </p:txBody>
      </p:sp>
    </p:spTree>
    <p:extLst>
      <p:ext uri="{BB962C8B-B14F-4D97-AF65-F5344CB8AC3E}">
        <p14:creationId xmlns:p14="http://schemas.microsoft.com/office/powerpoint/2010/main" val="966859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Kesimli Sanal Bellek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4108" t="37599" r="24793" b="31556"/>
          <a:stretch/>
        </p:blipFill>
        <p:spPr bwMode="auto">
          <a:xfrm>
            <a:off x="1756229" y="1640114"/>
            <a:ext cx="8708571" cy="464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281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981200" y="533400"/>
            <a:ext cx="8229600" cy="735360"/>
          </a:xfrm>
        </p:spPr>
        <p:txBody>
          <a:bodyPr/>
          <a:lstStyle/>
          <a:p>
            <a:r>
              <a:rPr lang="tr-TR" sz="3200" dirty="0"/>
              <a:t>Kesimli Sayfalı Sanal Bellek Yönetimi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22" t="25333" r="9741" b="7111"/>
          <a:stretch/>
        </p:blipFill>
        <p:spPr bwMode="auto">
          <a:xfrm>
            <a:off x="2172072" y="1101452"/>
            <a:ext cx="8316416" cy="5496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5140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Adres Dönüştürme Süreci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6667" r="6818" b="5334"/>
          <a:stretch/>
        </p:blipFill>
        <p:spPr bwMode="auto">
          <a:xfrm>
            <a:off x="1919536" y="1504546"/>
            <a:ext cx="8388424" cy="4824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6289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85" t="19200" r="16692" b="11385"/>
          <a:stretch/>
        </p:blipFill>
        <p:spPr bwMode="auto">
          <a:xfrm>
            <a:off x="2063552" y="1052736"/>
            <a:ext cx="8159262" cy="5289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474912" y="404664"/>
            <a:ext cx="8229600" cy="807368"/>
          </a:xfrm>
        </p:spPr>
        <p:txBody>
          <a:bodyPr/>
          <a:lstStyle/>
          <a:p>
            <a:r>
              <a:rPr lang="tr-TR" dirty="0" err="1"/>
              <a:t>Associative</a:t>
            </a:r>
            <a:r>
              <a:rPr lang="tr-TR" dirty="0"/>
              <a:t> Ön Bellek Kullanımı</a:t>
            </a:r>
          </a:p>
        </p:txBody>
      </p:sp>
    </p:spTree>
    <p:extLst>
      <p:ext uri="{BB962C8B-B14F-4D97-AF65-F5344CB8AC3E}">
        <p14:creationId xmlns:p14="http://schemas.microsoft.com/office/powerpoint/2010/main" val="1504333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Adres Dönüştürme İşlemleri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13" t="41750" r="25469" b="29125"/>
          <a:stretch/>
        </p:blipFill>
        <p:spPr bwMode="auto">
          <a:xfrm>
            <a:off x="1703512" y="1772816"/>
            <a:ext cx="8920957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2553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606</Words>
  <Application>Microsoft Office PowerPoint</Application>
  <PresentationFormat>Geniş ekran</PresentationFormat>
  <Paragraphs>67</Paragraphs>
  <Slides>20</Slides>
  <Notes>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Roboto</vt:lpstr>
      <vt:lpstr>Office Teması</vt:lpstr>
      <vt:lpstr>BELLEK YÖNETİMİ Sayfalı Bellek  - Kesimli Bellek</vt:lpstr>
      <vt:lpstr>Sayfalı Bellek Yönetimi</vt:lpstr>
      <vt:lpstr>Sayfalı Bellek Yönetimi</vt:lpstr>
      <vt:lpstr>Sayfalı Bellek Yönetimi Adresleme Mantığı</vt:lpstr>
      <vt:lpstr>PowerPoint Sunusu</vt:lpstr>
      <vt:lpstr>Sanal Bellek</vt:lpstr>
      <vt:lpstr>Sanal Bellek (Virtual Memory)</vt:lpstr>
      <vt:lpstr>PowerPoint Sunusu</vt:lpstr>
      <vt:lpstr>PowerPoint Sunusu</vt:lpstr>
      <vt:lpstr>Sayfa Çıkarma Algoritmaları</vt:lpstr>
      <vt:lpstr>PowerPoint Sunusu</vt:lpstr>
      <vt:lpstr>Kesimli Bellek Yönetimi</vt:lpstr>
      <vt:lpstr>Kesimli Bellek Yönetimi</vt:lpstr>
      <vt:lpstr>PowerPoint Sunusu</vt:lpstr>
      <vt:lpstr>32 bit Intel Mimarisi Mantıksal Adres Fiziksel Adres Dönüşümü</vt:lpstr>
      <vt:lpstr>Kesimli Sanal Bellek</vt:lpstr>
      <vt:lpstr>Kesimli Sayfalı Sanal Bellek Yönetimi</vt:lpstr>
      <vt:lpstr>Adres Dönüştürme Süreci</vt:lpstr>
      <vt:lpstr>Associative Ön Bellek Kullanımı</vt:lpstr>
      <vt:lpstr>Adres Dönüştürme İşlemleri</vt:lpstr>
    </vt:vector>
  </TitlesOfParts>
  <Company>Silentall Unattended Installer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BELLEK YÖNETİMİ Sayfalı Bellek  - Kesimli Bellek</dc:title>
  <dc:creator>mevlut ersoy</dc:creator>
  <cp:lastModifiedBy>Mevlüt Ersoy</cp:lastModifiedBy>
  <cp:revision>13</cp:revision>
  <dcterms:created xsi:type="dcterms:W3CDTF">2019-12-10T07:15:31Z</dcterms:created>
  <dcterms:modified xsi:type="dcterms:W3CDTF">2021-01-13T08:54:11Z</dcterms:modified>
</cp:coreProperties>
</file>