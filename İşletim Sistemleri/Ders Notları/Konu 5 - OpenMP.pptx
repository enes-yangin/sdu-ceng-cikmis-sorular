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14AB0-4A14-4DBF-A2D1-7832A505903E}" type="datetimeFigureOut">
              <a:rPr lang="tr-TR" smtClean="0"/>
              <a:t>6.11.2018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368E-0B5B-4525-8F47-A718DE399A9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5532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14AB0-4A14-4DBF-A2D1-7832A505903E}" type="datetimeFigureOut">
              <a:rPr lang="tr-TR" smtClean="0"/>
              <a:t>6.11.2018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368E-0B5B-4525-8F47-A718DE399A9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4617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14AB0-4A14-4DBF-A2D1-7832A505903E}" type="datetimeFigureOut">
              <a:rPr lang="tr-TR" smtClean="0"/>
              <a:t>6.11.2018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368E-0B5B-4525-8F47-A718DE399A9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38275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14AB0-4A14-4DBF-A2D1-7832A505903E}" type="datetimeFigureOut">
              <a:rPr lang="tr-TR" smtClean="0"/>
              <a:t>6.11.2018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368E-0B5B-4525-8F47-A718DE399A9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81236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14AB0-4A14-4DBF-A2D1-7832A505903E}" type="datetimeFigureOut">
              <a:rPr lang="tr-TR" smtClean="0"/>
              <a:t>6.11.2018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368E-0B5B-4525-8F47-A718DE399A9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50752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14AB0-4A14-4DBF-A2D1-7832A505903E}" type="datetimeFigureOut">
              <a:rPr lang="tr-TR" smtClean="0"/>
              <a:t>6.11.2018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368E-0B5B-4525-8F47-A718DE399A9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7325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14AB0-4A14-4DBF-A2D1-7832A505903E}" type="datetimeFigureOut">
              <a:rPr lang="tr-TR" smtClean="0"/>
              <a:t>6.11.2018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368E-0B5B-4525-8F47-A718DE399A9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216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14AB0-4A14-4DBF-A2D1-7832A505903E}" type="datetimeFigureOut">
              <a:rPr lang="tr-TR" smtClean="0"/>
              <a:t>6.11.2018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368E-0B5B-4525-8F47-A718DE399A9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71398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14AB0-4A14-4DBF-A2D1-7832A505903E}" type="datetimeFigureOut">
              <a:rPr lang="tr-TR" smtClean="0"/>
              <a:t>6.11.2018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368E-0B5B-4525-8F47-A718DE399A9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2646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14AB0-4A14-4DBF-A2D1-7832A505903E}" type="datetimeFigureOut">
              <a:rPr lang="tr-TR" smtClean="0"/>
              <a:t>6.11.2018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368E-0B5B-4525-8F47-A718DE399A9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11886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14AB0-4A14-4DBF-A2D1-7832A505903E}" type="datetimeFigureOut">
              <a:rPr lang="tr-TR" smtClean="0"/>
              <a:t>6.11.2018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D368E-0B5B-4525-8F47-A718DE399A9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00852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14AB0-4A14-4DBF-A2D1-7832A505903E}" type="datetimeFigureOut">
              <a:rPr lang="tr-TR" smtClean="0"/>
              <a:t>6.11.2018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D368E-0B5B-4525-8F47-A718DE399A9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405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 smtClean="0"/>
              <a:t>OpenMP</a:t>
            </a:r>
            <a:r>
              <a:rPr lang="tr-TR" dirty="0" smtClean="0"/>
              <a:t> Temelleri</a:t>
            </a:r>
            <a:endParaRPr lang="tr-TR" dirty="0"/>
          </a:p>
        </p:txBody>
      </p:sp>
      <p:sp>
        <p:nvSpPr>
          <p:cNvPr id="4" name="Alt Başlık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43384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What</a:t>
            </a:r>
            <a:r>
              <a:rPr lang="tr-TR" b="1" dirty="0"/>
              <a:t> is </a:t>
            </a:r>
            <a:r>
              <a:rPr lang="tr-TR" b="1" dirty="0" err="1"/>
              <a:t>OpenMP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OpenMP</a:t>
            </a:r>
            <a:r>
              <a:rPr lang="en-US" dirty="0" smtClean="0"/>
              <a:t> </a:t>
            </a:r>
            <a:r>
              <a:rPr lang="en-US" dirty="0"/>
              <a:t>is an API designed for programming </a:t>
            </a:r>
            <a:r>
              <a:rPr lang="en-US" dirty="0" smtClean="0"/>
              <a:t>shared</a:t>
            </a:r>
            <a:r>
              <a:rPr lang="tr-TR" dirty="0" smtClean="0"/>
              <a:t> </a:t>
            </a:r>
            <a:r>
              <a:rPr lang="tr-TR" dirty="0" err="1" smtClean="0"/>
              <a:t>memory</a:t>
            </a:r>
            <a:r>
              <a:rPr lang="tr-TR" dirty="0" smtClean="0"/>
              <a:t> </a:t>
            </a:r>
            <a:r>
              <a:rPr lang="tr-TR" dirty="0" err="1"/>
              <a:t>parallel</a:t>
            </a:r>
            <a:r>
              <a:rPr lang="tr-TR" dirty="0"/>
              <a:t> </a:t>
            </a:r>
            <a:r>
              <a:rPr lang="tr-TR" dirty="0" err="1"/>
              <a:t>computers</a:t>
            </a:r>
            <a:endParaRPr lang="tr-TR" dirty="0"/>
          </a:p>
          <a:p>
            <a:r>
              <a:rPr lang="en-US" dirty="0" err="1" smtClean="0"/>
              <a:t>OpenMP</a:t>
            </a:r>
            <a:r>
              <a:rPr lang="en-US" dirty="0" smtClean="0"/>
              <a:t> </a:t>
            </a:r>
            <a:r>
              <a:rPr lang="en-US" dirty="0"/>
              <a:t>uses the concepts of </a:t>
            </a:r>
            <a:r>
              <a:rPr lang="en-US" i="1" dirty="0"/>
              <a:t>threads</a:t>
            </a:r>
          </a:p>
          <a:p>
            <a:r>
              <a:rPr lang="en-US" dirty="0" err="1" smtClean="0"/>
              <a:t>OpenMP</a:t>
            </a:r>
            <a:r>
              <a:rPr lang="en-US" dirty="0" smtClean="0"/>
              <a:t> </a:t>
            </a:r>
            <a:r>
              <a:rPr lang="en-US" dirty="0"/>
              <a:t>is a set of extensions to C, C++ and Fortran</a:t>
            </a:r>
          </a:p>
          <a:p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/>
              <a:t>extensions</a:t>
            </a:r>
            <a:r>
              <a:rPr lang="tr-TR" dirty="0"/>
              <a:t> </a:t>
            </a:r>
            <a:r>
              <a:rPr lang="tr-TR" dirty="0" err="1"/>
              <a:t>consist</a:t>
            </a:r>
            <a:r>
              <a:rPr lang="tr-TR" dirty="0"/>
              <a:t> of:</a:t>
            </a:r>
          </a:p>
          <a:p>
            <a:pPr lvl="1"/>
            <a:r>
              <a:rPr lang="tr-TR" dirty="0" smtClean="0"/>
              <a:t>Compiler </a:t>
            </a:r>
            <a:r>
              <a:rPr lang="tr-TR" dirty="0" err="1"/>
              <a:t>directives</a:t>
            </a:r>
            <a:endParaRPr lang="tr-TR" dirty="0"/>
          </a:p>
          <a:p>
            <a:pPr lvl="1"/>
            <a:r>
              <a:rPr lang="tr-TR" dirty="0" smtClean="0"/>
              <a:t>Runtime </a:t>
            </a:r>
            <a:r>
              <a:rPr lang="tr-TR" dirty="0" err="1"/>
              <a:t>library</a:t>
            </a:r>
            <a:r>
              <a:rPr lang="tr-TR" dirty="0"/>
              <a:t> </a:t>
            </a:r>
            <a:r>
              <a:rPr lang="tr-TR" dirty="0" err="1"/>
              <a:t>routines</a:t>
            </a:r>
            <a:endParaRPr lang="tr-TR" dirty="0"/>
          </a:p>
          <a:p>
            <a:pPr lvl="1"/>
            <a:r>
              <a:rPr lang="tr-TR" dirty="0" smtClean="0"/>
              <a:t>Environment </a:t>
            </a:r>
            <a:r>
              <a:rPr lang="tr-TR" dirty="0" err="1"/>
              <a:t>variables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80388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Directives</a:t>
            </a:r>
            <a:r>
              <a:rPr lang="tr-TR" b="1" dirty="0"/>
              <a:t>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Sentinels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/>
              <a:t>directive is a special line of source code with </a:t>
            </a:r>
            <a:r>
              <a:rPr lang="en-US" dirty="0" smtClean="0"/>
              <a:t>meaning</a:t>
            </a:r>
            <a:r>
              <a:rPr lang="tr-TR" dirty="0" smtClean="0"/>
              <a:t> </a:t>
            </a:r>
            <a:r>
              <a:rPr lang="tr-TR" dirty="0" err="1" smtClean="0"/>
              <a:t>only</a:t>
            </a:r>
            <a:r>
              <a:rPr lang="tr-TR" dirty="0" smtClean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certain</a:t>
            </a:r>
            <a:r>
              <a:rPr lang="tr-TR" dirty="0"/>
              <a:t> </a:t>
            </a:r>
            <a:r>
              <a:rPr lang="tr-TR" dirty="0" err="1"/>
              <a:t>compilers</a:t>
            </a:r>
            <a:endParaRPr lang="tr-TR" dirty="0"/>
          </a:p>
          <a:p>
            <a:r>
              <a:rPr lang="en-US" dirty="0" smtClean="0"/>
              <a:t>A </a:t>
            </a:r>
            <a:r>
              <a:rPr lang="en-US" dirty="0"/>
              <a:t>directive is distinguished by a sentinel at the start </a:t>
            </a:r>
            <a:r>
              <a:rPr lang="en-US" dirty="0" smtClean="0"/>
              <a:t>of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/>
              <a:t>line</a:t>
            </a:r>
            <a:endParaRPr lang="tr-TR" dirty="0"/>
          </a:p>
          <a:p>
            <a:r>
              <a:rPr lang="tr-TR" dirty="0" err="1" smtClean="0"/>
              <a:t>OpenMP</a:t>
            </a:r>
            <a:r>
              <a:rPr lang="tr-TR" dirty="0" smtClean="0"/>
              <a:t> </a:t>
            </a:r>
            <a:r>
              <a:rPr lang="tr-TR" dirty="0" err="1"/>
              <a:t>sentinels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:</a:t>
            </a:r>
          </a:p>
          <a:p>
            <a:pPr lvl="1"/>
            <a:r>
              <a:rPr lang="tr-TR" dirty="0" smtClean="0"/>
              <a:t>C </a:t>
            </a:r>
            <a:r>
              <a:rPr lang="tr-TR" dirty="0"/>
              <a:t>/ C++: </a:t>
            </a:r>
            <a:r>
              <a:rPr lang="tr-TR" b="1" dirty="0"/>
              <a:t>#pragma </a:t>
            </a:r>
            <a:r>
              <a:rPr lang="tr-TR" b="1" dirty="0" err="1"/>
              <a:t>omp</a:t>
            </a:r>
            <a:endParaRPr lang="tr-TR" b="1" dirty="0"/>
          </a:p>
          <a:p>
            <a:pPr lvl="1"/>
            <a:r>
              <a:rPr lang="tr-TR" dirty="0" smtClean="0"/>
              <a:t>Fortran </a:t>
            </a:r>
            <a:r>
              <a:rPr lang="tr-TR" dirty="0"/>
              <a:t>: </a:t>
            </a:r>
            <a:r>
              <a:rPr lang="tr-TR" b="1" dirty="0"/>
              <a:t>!$OMP</a:t>
            </a:r>
          </a:p>
          <a:p>
            <a:r>
              <a:rPr lang="en-US" dirty="0" smtClean="0"/>
              <a:t>This </a:t>
            </a:r>
            <a:r>
              <a:rPr lang="en-US" dirty="0"/>
              <a:t>means that </a:t>
            </a:r>
            <a:r>
              <a:rPr lang="en-US" dirty="0" err="1"/>
              <a:t>OpenMP</a:t>
            </a:r>
            <a:r>
              <a:rPr lang="en-US" dirty="0"/>
              <a:t> directives are ignored if </a:t>
            </a:r>
            <a:r>
              <a:rPr lang="en-US" dirty="0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code</a:t>
            </a:r>
            <a:r>
              <a:rPr lang="tr-TR" dirty="0" smtClean="0"/>
              <a:t> </a:t>
            </a:r>
            <a:r>
              <a:rPr lang="tr-TR" dirty="0"/>
              <a:t>is </a:t>
            </a:r>
            <a:r>
              <a:rPr lang="tr-TR" dirty="0" err="1"/>
              <a:t>compiled</a:t>
            </a:r>
            <a:r>
              <a:rPr lang="tr-TR" dirty="0"/>
              <a:t> as </a:t>
            </a:r>
            <a:r>
              <a:rPr lang="tr-TR" dirty="0" err="1"/>
              <a:t>regular</a:t>
            </a:r>
            <a:r>
              <a:rPr lang="tr-TR" dirty="0"/>
              <a:t> </a:t>
            </a:r>
            <a:r>
              <a:rPr lang="tr-TR" dirty="0" err="1"/>
              <a:t>sequential</a:t>
            </a:r>
            <a:r>
              <a:rPr lang="tr-TR" dirty="0"/>
              <a:t> C/C++/Fortran</a:t>
            </a:r>
          </a:p>
        </p:txBody>
      </p:sp>
    </p:spTree>
    <p:extLst>
      <p:ext uri="{BB962C8B-B14F-4D97-AF65-F5344CB8AC3E}">
        <p14:creationId xmlns:p14="http://schemas.microsoft.com/office/powerpoint/2010/main" val="177358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Parallel</a:t>
            </a:r>
            <a:r>
              <a:rPr lang="tr-TR" b="1" dirty="0"/>
              <a:t> </a:t>
            </a:r>
            <a:r>
              <a:rPr lang="tr-TR" b="1" dirty="0" err="1"/>
              <a:t>Region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i="1" dirty="0"/>
              <a:t>parallel region </a:t>
            </a:r>
            <a:r>
              <a:rPr lang="en-US" dirty="0"/>
              <a:t>is the basic parallel construct in </a:t>
            </a:r>
            <a:r>
              <a:rPr lang="en-US" dirty="0" err="1"/>
              <a:t>OpenMP</a:t>
            </a:r>
            <a:endParaRPr lang="en-US" dirty="0"/>
          </a:p>
          <a:p>
            <a:r>
              <a:rPr lang="en-US" dirty="0" smtClean="0"/>
              <a:t>A </a:t>
            </a:r>
            <a:r>
              <a:rPr lang="en-US" dirty="0"/>
              <a:t>parallel region defines a section of a program</a:t>
            </a:r>
          </a:p>
          <a:p>
            <a:r>
              <a:rPr lang="en-US" dirty="0" smtClean="0"/>
              <a:t>Program </a:t>
            </a:r>
            <a:r>
              <a:rPr lang="en-US" dirty="0"/>
              <a:t>begins execution on a single thread (the master thread)</a:t>
            </a:r>
          </a:p>
          <a:p>
            <a:r>
              <a:rPr lang="en-US" dirty="0" smtClean="0"/>
              <a:t>When </a:t>
            </a:r>
            <a:r>
              <a:rPr lang="en-US" dirty="0"/>
              <a:t>the first parallel region is encountered, master </a:t>
            </a:r>
            <a:r>
              <a:rPr lang="en-US" dirty="0" smtClean="0"/>
              <a:t>thread</a:t>
            </a:r>
            <a:r>
              <a:rPr lang="tr-TR" dirty="0" smtClean="0"/>
              <a:t> </a:t>
            </a:r>
            <a:r>
              <a:rPr lang="en-US" dirty="0" smtClean="0"/>
              <a:t>creates </a:t>
            </a:r>
            <a:r>
              <a:rPr lang="en-US" dirty="0"/>
              <a:t>a team of threads (fork/join model)</a:t>
            </a:r>
          </a:p>
          <a:p>
            <a:r>
              <a:rPr lang="en-US" dirty="0" smtClean="0"/>
              <a:t>Every </a:t>
            </a:r>
            <a:r>
              <a:rPr lang="en-US" dirty="0"/>
              <a:t>thread executes the statements which are inside </a:t>
            </a:r>
            <a:r>
              <a:rPr lang="en-US" dirty="0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parallel</a:t>
            </a:r>
            <a:r>
              <a:rPr lang="tr-TR" dirty="0" smtClean="0"/>
              <a:t> </a:t>
            </a:r>
            <a:r>
              <a:rPr lang="tr-TR" dirty="0" err="1"/>
              <a:t>region</a:t>
            </a:r>
            <a:endParaRPr lang="tr-TR" dirty="0"/>
          </a:p>
          <a:p>
            <a:r>
              <a:rPr lang="en-US" dirty="0" smtClean="0"/>
              <a:t>At </a:t>
            </a:r>
            <a:r>
              <a:rPr lang="en-US" dirty="0"/>
              <a:t>the end of the parallel region, the master thread waits for </a:t>
            </a:r>
            <a:r>
              <a:rPr lang="en-US" dirty="0" smtClean="0"/>
              <a:t>the</a:t>
            </a:r>
            <a:r>
              <a:rPr lang="tr-TR" dirty="0" smtClean="0"/>
              <a:t> </a:t>
            </a:r>
            <a:r>
              <a:rPr lang="en-US" dirty="0" smtClean="0"/>
              <a:t>other </a:t>
            </a:r>
            <a:r>
              <a:rPr lang="en-US" dirty="0"/>
              <a:t>threads to finish, and continues executing the </a:t>
            </a:r>
            <a:r>
              <a:rPr lang="en-US" dirty="0" smtClean="0"/>
              <a:t>next</a:t>
            </a:r>
            <a:r>
              <a:rPr lang="tr-TR" dirty="0" smtClean="0"/>
              <a:t> </a:t>
            </a:r>
            <a:r>
              <a:rPr lang="tr-TR" dirty="0" err="1" smtClean="0"/>
              <a:t>statements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69709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Parallel</a:t>
            </a:r>
            <a:r>
              <a:rPr lang="tr-TR" b="1" dirty="0"/>
              <a:t> </a:t>
            </a:r>
            <a:r>
              <a:rPr lang="tr-TR" b="1" dirty="0" err="1"/>
              <a:t>Region</a:t>
            </a:r>
            <a:endParaRPr lang="tr-TR" dirty="0"/>
          </a:p>
        </p:txBody>
      </p:sp>
      <p:pic>
        <p:nvPicPr>
          <p:cNvPr id="7" name="İçerik Yer Tutucusu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2028" y="1587682"/>
            <a:ext cx="6808348" cy="457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616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Shared</a:t>
            </a:r>
            <a:r>
              <a:rPr lang="tr-TR" b="1" dirty="0"/>
              <a:t>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Private</a:t>
            </a:r>
            <a:r>
              <a:rPr lang="tr-TR" b="1" dirty="0"/>
              <a:t> Data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Inside </a:t>
            </a:r>
            <a:r>
              <a:rPr lang="en-US" dirty="0"/>
              <a:t>a parallel region, variables can either be </a:t>
            </a:r>
            <a:r>
              <a:rPr lang="en-US" i="1" dirty="0" smtClean="0"/>
              <a:t>shared</a:t>
            </a:r>
            <a:r>
              <a:rPr lang="tr-TR" i="1" dirty="0" smtClean="0"/>
              <a:t> </a:t>
            </a:r>
            <a:r>
              <a:rPr lang="tr-TR" dirty="0" err="1" smtClean="0"/>
              <a:t>or</a:t>
            </a:r>
            <a:r>
              <a:rPr lang="tr-TR" dirty="0" smtClean="0"/>
              <a:t> </a:t>
            </a:r>
            <a:r>
              <a:rPr lang="tr-TR" i="1" dirty="0" err="1"/>
              <a:t>private</a:t>
            </a:r>
            <a:endParaRPr lang="tr-TR" i="1" dirty="0"/>
          </a:p>
          <a:p>
            <a:r>
              <a:rPr lang="en-US" dirty="0" smtClean="0"/>
              <a:t>All </a:t>
            </a:r>
            <a:r>
              <a:rPr lang="en-US" dirty="0"/>
              <a:t>threads see the same copy of shared variables</a:t>
            </a:r>
          </a:p>
          <a:p>
            <a:r>
              <a:rPr lang="en-US" dirty="0" smtClean="0"/>
              <a:t>All </a:t>
            </a:r>
            <a:r>
              <a:rPr lang="en-US" dirty="0"/>
              <a:t>threads can read or write shared variables</a:t>
            </a:r>
          </a:p>
          <a:p>
            <a:r>
              <a:rPr lang="en-US" dirty="0" smtClean="0"/>
              <a:t>Each </a:t>
            </a:r>
            <a:r>
              <a:rPr lang="en-US" dirty="0"/>
              <a:t>thread has its own copy of private </a:t>
            </a:r>
            <a:r>
              <a:rPr lang="en-US" dirty="0" smtClean="0"/>
              <a:t>variables:</a:t>
            </a:r>
            <a:r>
              <a:rPr lang="tr-TR" dirty="0" smtClean="0"/>
              <a:t> </a:t>
            </a:r>
            <a:r>
              <a:rPr lang="en-US" dirty="0" smtClean="0"/>
              <a:t>these </a:t>
            </a:r>
            <a:r>
              <a:rPr lang="en-US" dirty="0"/>
              <a:t>are invisible to other threads</a:t>
            </a:r>
          </a:p>
          <a:p>
            <a:r>
              <a:rPr lang="en-US" dirty="0" smtClean="0"/>
              <a:t>A </a:t>
            </a:r>
            <a:r>
              <a:rPr lang="en-US" dirty="0"/>
              <a:t>private variable can only be read or written by </a:t>
            </a:r>
            <a:r>
              <a:rPr lang="en-US" dirty="0" smtClean="0"/>
              <a:t>its</a:t>
            </a:r>
            <a:r>
              <a:rPr lang="tr-TR" dirty="0" smtClean="0"/>
              <a:t> </a:t>
            </a:r>
            <a:r>
              <a:rPr lang="tr-TR" dirty="0" err="1" smtClean="0"/>
              <a:t>own</a:t>
            </a:r>
            <a:r>
              <a:rPr lang="tr-TR" dirty="0" smtClean="0"/>
              <a:t> </a:t>
            </a:r>
            <a:r>
              <a:rPr lang="tr-TR" dirty="0" err="1"/>
              <a:t>thread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04337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Parallel</a:t>
            </a:r>
            <a:r>
              <a:rPr lang="tr-TR" b="1" dirty="0"/>
              <a:t> </a:t>
            </a:r>
            <a:r>
              <a:rPr lang="tr-TR" b="1" dirty="0" err="1"/>
              <a:t>Loops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In </a:t>
            </a:r>
            <a:r>
              <a:rPr lang="en-US" dirty="0"/>
              <a:t>a parallel region, all threads execute the same code</a:t>
            </a:r>
          </a:p>
          <a:p>
            <a:r>
              <a:rPr lang="en-US" dirty="0" err="1" smtClean="0"/>
              <a:t>OpenMP</a:t>
            </a:r>
            <a:r>
              <a:rPr lang="en-US" dirty="0" smtClean="0"/>
              <a:t> </a:t>
            </a:r>
            <a:r>
              <a:rPr lang="en-US" dirty="0"/>
              <a:t>has also directives which indicate that work should be divided </a:t>
            </a:r>
            <a:r>
              <a:rPr lang="en-US" dirty="0" smtClean="0"/>
              <a:t>up</a:t>
            </a:r>
            <a:r>
              <a:rPr lang="tr-TR" dirty="0" smtClean="0"/>
              <a:t> </a:t>
            </a:r>
            <a:r>
              <a:rPr lang="tr-TR" dirty="0" err="1" smtClean="0"/>
              <a:t>between</a:t>
            </a:r>
            <a:r>
              <a:rPr lang="tr-TR" dirty="0" smtClean="0"/>
              <a:t> </a:t>
            </a:r>
            <a:r>
              <a:rPr lang="tr-TR" dirty="0" err="1"/>
              <a:t>threads</a:t>
            </a:r>
            <a:r>
              <a:rPr lang="tr-TR" dirty="0"/>
              <a:t>, not </a:t>
            </a:r>
            <a:r>
              <a:rPr lang="tr-TR" dirty="0" err="1"/>
              <a:t>replicated</a:t>
            </a:r>
            <a:endParaRPr lang="tr-TR" dirty="0"/>
          </a:p>
          <a:p>
            <a:pPr lvl="1"/>
            <a:r>
              <a:rPr lang="tr-TR" dirty="0" err="1" smtClean="0"/>
              <a:t>this</a:t>
            </a:r>
            <a:r>
              <a:rPr lang="tr-TR" dirty="0" smtClean="0"/>
              <a:t> </a:t>
            </a:r>
            <a:r>
              <a:rPr lang="tr-TR" dirty="0"/>
              <a:t>is </a:t>
            </a:r>
            <a:r>
              <a:rPr lang="tr-TR" dirty="0" err="1"/>
              <a:t>called</a:t>
            </a:r>
            <a:r>
              <a:rPr lang="tr-TR" dirty="0"/>
              <a:t> </a:t>
            </a:r>
            <a:r>
              <a:rPr lang="tr-TR" i="1" dirty="0" err="1"/>
              <a:t>worksharing</a:t>
            </a:r>
            <a:endParaRPr lang="tr-TR" i="1" dirty="0"/>
          </a:p>
          <a:p>
            <a:r>
              <a:rPr lang="en-US" dirty="0" smtClean="0"/>
              <a:t>Since </a:t>
            </a:r>
            <a:r>
              <a:rPr lang="en-US" dirty="0"/>
              <a:t>loops are the main source of parallelism in many </a:t>
            </a:r>
            <a:r>
              <a:rPr lang="en-US" dirty="0" smtClean="0"/>
              <a:t>applications,</a:t>
            </a:r>
            <a:r>
              <a:rPr lang="tr-TR" dirty="0" smtClean="0"/>
              <a:t> </a:t>
            </a:r>
            <a:r>
              <a:rPr lang="en-US" dirty="0" err="1" smtClean="0"/>
              <a:t>OpenMP</a:t>
            </a:r>
            <a:r>
              <a:rPr lang="en-US" dirty="0" smtClean="0"/>
              <a:t> </a:t>
            </a:r>
            <a:r>
              <a:rPr lang="en-US" dirty="0"/>
              <a:t>has an extensive support for </a:t>
            </a:r>
            <a:r>
              <a:rPr lang="en-US" dirty="0" err="1"/>
              <a:t>parallelising</a:t>
            </a:r>
            <a:r>
              <a:rPr lang="en-US" dirty="0"/>
              <a:t> loops</a:t>
            </a:r>
          </a:p>
          <a:p>
            <a:r>
              <a:rPr lang="en-US" dirty="0" smtClean="0"/>
              <a:t>There </a:t>
            </a:r>
            <a:r>
              <a:rPr lang="en-US" dirty="0"/>
              <a:t>are a number of options to control which loop iterations are </a:t>
            </a:r>
            <a:r>
              <a:rPr lang="en-US" dirty="0" smtClean="0"/>
              <a:t>executed</a:t>
            </a:r>
            <a:r>
              <a:rPr lang="tr-TR" dirty="0" smtClean="0"/>
              <a:t> </a:t>
            </a:r>
            <a:r>
              <a:rPr lang="tr-TR" dirty="0" err="1" smtClean="0"/>
              <a:t>by</a:t>
            </a:r>
            <a:r>
              <a:rPr lang="tr-TR" dirty="0" smtClean="0"/>
              <a:t> </a:t>
            </a:r>
            <a:r>
              <a:rPr lang="tr-TR" dirty="0" err="1"/>
              <a:t>which</a:t>
            </a:r>
            <a:r>
              <a:rPr lang="tr-TR" dirty="0"/>
              <a:t> </a:t>
            </a:r>
            <a:r>
              <a:rPr lang="tr-TR" dirty="0" err="1"/>
              <a:t>threads</a:t>
            </a:r>
            <a:endParaRPr lang="tr-TR" dirty="0"/>
          </a:p>
          <a:p>
            <a:r>
              <a:rPr lang="en-US" dirty="0" smtClean="0"/>
              <a:t>It </a:t>
            </a:r>
            <a:r>
              <a:rPr lang="en-US" dirty="0"/>
              <a:t>is up to programmer to ensure that the iterations of a parallel loop </a:t>
            </a:r>
            <a:r>
              <a:rPr lang="en-US" dirty="0" smtClean="0"/>
              <a:t>are</a:t>
            </a:r>
            <a:r>
              <a:rPr lang="tr-TR" dirty="0" smtClean="0"/>
              <a:t> </a:t>
            </a:r>
            <a:r>
              <a:rPr lang="tr-TR" i="1" dirty="0" err="1" smtClean="0"/>
              <a:t>independent</a:t>
            </a:r>
            <a:endParaRPr lang="tr-TR" i="1" dirty="0"/>
          </a:p>
          <a:p>
            <a:r>
              <a:rPr lang="en-US" dirty="0" smtClean="0"/>
              <a:t>Only </a:t>
            </a:r>
            <a:r>
              <a:rPr lang="en-US" dirty="0"/>
              <a:t>loops where the iteration count can be computed before the </a:t>
            </a:r>
            <a:r>
              <a:rPr lang="en-US" dirty="0" smtClean="0"/>
              <a:t>execution</a:t>
            </a:r>
            <a:r>
              <a:rPr lang="tr-TR" dirty="0" smtClean="0"/>
              <a:t> </a:t>
            </a:r>
            <a:r>
              <a:rPr lang="en-US" dirty="0" smtClean="0"/>
              <a:t>of </a:t>
            </a:r>
            <a:r>
              <a:rPr lang="en-US" dirty="0"/>
              <a:t>the loop begins can be </a:t>
            </a:r>
            <a:r>
              <a:rPr lang="en-US" dirty="0" err="1"/>
              <a:t>parallelised</a:t>
            </a:r>
            <a:r>
              <a:rPr lang="en-US" dirty="0"/>
              <a:t> in this way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84172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Synchronisation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</a:t>
            </a:r>
            <a:r>
              <a:rPr lang="en-US" dirty="0"/>
              <a:t>main </a:t>
            </a:r>
            <a:r>
              <a:rPr lang="en-US" dirty="0" err="1"/>
              <a:t>synchronisation</a:t>
            </a:r>
            <a:r>
              <a:rPr lang="en-US" dirty="0"/>
              <a:t> concepts used in </a:t>
            </a:r>
            <a:r>
              <a:rPr lang="en-US" dirty="0" err="1"/>
              <a:t>OpenMP</a:t>
            </a:r>
            <a:r>
              <a:rPr lang="en-US" dirty="0"/>
              <a:t> are:</a:t>
            </a:r>
          </a:p>
          <a:p>
            <a:r>
              <a:rPr lang="tr-TR" dirty="0" err="1" smtClean="0"/>
              <a:t>Barrier</a:t>
            </a:r>
            <a:endParaRPr lang="tr-TR" dirty="0"/>
          </a:p>
          <a:p>
            <a:pPr lvl="1"/>
            <a:r>
              <a:rPr lang="en-US" dirty="0" smtClean="0"/>
              <a:t>all </a:t>
            </a:r>
            <a:r>
              <a:rPr lang="en-US" dirty="0"/>
              <a:t>threads must arrive at a barrier before any thread can proceed past </a:t>
            </a:r>
            <a:r>
              <a:rPr lang="en-US" dirty="0" smtClean="0"/>
              <a:t>it</a:t>
            </a:r>
          </a:p>
          <a:p>
            <a:pPr lvl="1"/>
            <a:r>
              <a:rPr lang="en-US" dirty="0" smtClean="0"/>
              <a:t>e.g</a:t>
            </a:r>
            <a:r>
              <a:rPr lang="en-US" dirty="0"/>
              <a:t>. delimiting phases of computation</a:t>
            </a:r>
          </a:p>
          <a:p>
            <a:r>
              <a:rPr lang="tr-TR" dirty="0" smtClean="0"/>
              <a:t> </a:t>
            </a:r>
            <a:r>
              <a:rPr lang="tr-TR" dirty="0"/>
              <a:t>Critical </a:t>
            </a:r>
            <a:r>
              <a:rPr lang="tr-TR" dirty="0" err="1"/>
              <a:t>regions</a:t>
            </a:r>
            <a:endParaRPr lang="tr-TR" dirty="0"/>
          </a:p>
          <a:p>
            <a:pPr lvl="1"/>
            <a:r>
              <a:rPr lang="en-US" dirty="0" smtClean="0"/>
              <a:t>a </a:t>
            </a:r>
            <a:r>
              <a:rPr lang="en-US" dirty="0"/>
              <a:t>section of code which only one thread at a time can enter</a:t>
            </a:r>
          </a:p>
          <a:p>
            <a:pPr lvl="1"/>
            <a:r>
              <a:rPr lang="en-US" dirty="0" smtClean="0"/>
              <a:t>e.g</a:t>
            </a:r>
            <a:r>
              <a:rPr lang="en-US" dirty="0"/>
              <a:t>. modification of shared variables</a:t>
            </a:r>
          </a:p>
          <a:p>
            <a:r>
              <a:rPr lang="tr-TR" dirty="0" err="1" smtClean="0"/>
              <a:t>Atomic</a:t>
            </a:r>
            <a:r>
              <a:rPr lang="tr-TR" dirty="0" smtClean="0"/>
              <a:t> </a:t>
            </a:r>
            <a:r>
              <a:rPr lang="tr-TR" dirty="0" err="1"/>
              <a:t>update</a:t>
            </a:r>
            <a:endParaRPr lang="tr-TR" dirty="0"/>
          </a:p>
          <a:p>
            <a:pPr lvl="1"/>
            <a:r>
              <a:rPr lang="en-US" dirty="0" smtClean="0"/>
              <a:t>an </a:t>
            </a:r>
            <a:r>
              <a:rPr lang="en-US" dirty="0"/>
              <a:t>update to a variable which can be performed only by one thread at a time</a:t>
            </a:r>
          </a:p>
          <a:p>
            <a:pPr lvl="1"/>
            <a:r>
              <a:rPr lang="en-US" dirty="0" smtClean="0"/>
              <a:t>e.g</a:t>
            </a:r>
            <a:r>
              <a:rPr lang="en-US" dirty="0"/>
              <a:t>. modification of shared variables (special case)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36513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Brief</a:t>
            </a:r>
            <a:r>
              <a:rPr lang="tr-TR" b="1" dirty="0"/>
              <a:t> </a:t>
            </a:r>
            <a:r>
              <a:rPr lang="tr-TR" b="1" dirty="0" err="1"/>
              <a:t>History</a:t>
            </a:r>
            <a:r>
              <a:rPr lang="tr-TR" b="1" dirty="0"/>
              <a:t> of </a:t>
            </a:r>
            <a:r>
              <a:rPr lang="tr-TR" b="1" dirty="0" err="1"/>
              <a:t>OpenMP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Historical </a:t>
            </a:r>
            <a:r>
              <a:rPr lang="en-US" dirty="0"/>
              <a:t>lack of </a:t>
            </a:r>
            <a:r>
              <a:rPr lang="en-US" dirty="0" err="1"/>
              <a:t>standardisation</a:t>
            </a:r>
            <a:r>
              <a:rPr lang="en-US" dirty="0"/>
              <a:t> in shared memory directives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each hardware vendor provided a different API</a:t>
            </a:r>
          </a:p>
          <a:p>
            <a:pPr lvl="1"/>
            <a:r>
              <a:rPr lang="tr-TR" dirty="0" smtClean="0"/>
              <a:t> </a:t>
            </a:r>
            <a:r>
              <a:rPr lang="tr-TR" dirty="0" err="1"/>
              <a:t>mainly</a:t>
            </a:r>
            <a:r>
              <a:rPr lang="tr-TR" dirty="0"/>
              <a:t> </a:t>
            </a:r>
            <a:r>
              <a:rPr lang="tr-TR" dirty="0" err="1"/>
              <a:t>directive</a:t>
            </a:r>
            <a:r>
              <a:rPr lang="tr-TR" dirty="0"/>
              <a:t> </a:t>
            </a:r>
            <a:r>
              <a:rPr lang="tr-TR" dirty="0" err="1"/>
              <a:t>based</a:t>
            </a:r>
            <a:endParaRPr lang="tr-TR" dirty="0"/>
          </a:p>
          <a:p>
            <a:pPr lvl="1"/>
            <a:r>
              <a:rPr lang="tr-TR" dirty="0" err="1" smtClean="0"/>
              <a:t>almost</a:t>
            </a:r>
            <a:r>
              <a:rPr lang="tr-TR" dirty="0" smtClean="0"/>
              <a:t> </a:t>
            </a:r>
            <a:r>
              <a:rPr lang="tr-TR" dirty="0" err="1"/>
              <a:t>all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Fortran</a:t>
            </a:r>
          </a:p>
          <a:p>
            <a:pPr lvl="1"/>
            <a:r>
              <a:rPr lang="en-US" dirty="0" smtClean="0"/>
              <a:t>hard </a:t>
            </a:r>
            <a:r>
              <a:rPr lang="en-US" dirty="0"/>
              <a:t>to write portable code</a:t>
            </a:r>
          </a:p>
          <a:p>
            <a:r>
              <a:rPr lang="en-US" dirty="0" err="1" smtClean="0"/>
              <a:t>OpenMP</a:t>
            </a:r>
            <a:r>
              <a:rPr lang="en-US" dirty="0" smtClean="0"/>
              <a:t> </a:t>
            </a:r>
            <a:r>
              <a:rPr lang="en-US" dirty="0"/>
              <a:t>forum is set up by Digital, IBM, Intel, KAI and SGI. </a:t>
            </a:r>
            <a:r>
              <a:rPr lang="en-US" dirty="0" smtClean="0"/>
              <a:t>Now</a:t>
            </a:r>
            <a:r>
              <a:rPr lang="tr-TR" dirty="0" smtClean="0"/>
              <a:t> </a:t>
            </a:r>
            <a:r>
              <a:rPr lang="en-US" dirty="0" smtClean="0"/>
              <a:t>includes </a:t>
            </a:r>
            <a:r>
              <a:rPr lang="en-US" dirty="0"/>
              <a:t>most major vendors (and some academic </a:t>
            </a:r>
            <a:r>
              <a:rPr lang="en-US" dirty="0" err="1"/>
              <a:t>organisations</a:t>
            </a:r>
            <a:r>
              <a:rPr lang="en-US" dirty="0"/>
              <a:t>)</a:t>
            </a:r>
          </a:p>
          <a:p>
            <a:r>
              <a:rPr lang="en-US" dirty="0" err="1" smtClean="0"/>
              <a:t>OpenMP</a:t>
            </a:r>
            <a:r>
              <a:rPr lang="en-US" dirty="0" smtClean="0"/>
              <a:t> </a:t>
            </a:r>
            <a:r>
              <a:rPr lang="en-US" dirty="0"/>
              <a:t>Fortran standard released in October 1997, minor </a:t>
            </a:r>
            <a:r>
              <a:rPr lang="en-US" dirty="0" smtClean="0"/>
              <a:t>revision</a:t>
            </a:r>
            <a:r>
              <a:rPr lang="tr-TR" dirty="0" smtClean="0"/>
              <a:t> </a:t>
            </a:r>
            <a:r>
              <a:rPr lang="en-US" dirty="0" smtClean="0"/>
              <a:t>(1.1</a:t>
            </a:r>
            <a:r>
              <a:rPr lang="en-US" dirty="0"/>
              <a:t>) in November 1999, Major revision (2.0) in November 2000</a:t>
            </a:r>
          </a:p>
          <a:p>
            <a:r>
              <a:rPr lang="en-US" dirty="0" err="1" smtClean="0"/>
              <a:t>OpenMP</a:t>
            </a:r>
            <a:r>
              <a:rPr lang="en-US" dirty="0" smtClean="0"/>
              <a:t> </a:t>
            </a:r>
            <a:r>
              <a:rPr lang="en-US" dirty="0"/>
              <a:t>C/C++ standard released October 1998. Major revision (</a:t>
            </a:r>
            <a:r>
              <a:rPr lang="en-US" dirty="0" smtClean="0"/>
              <a:t>2.0)</a:t>
            </a:r>
            <a:r>
              <a:rPr lang="tr-TR" dirty="0" smtClean="0"/>
              <a:t> in </a:t>
            </a:r>
            <a:r>
              <a:rPr lang="tr-TR" dirty="0" err="1"/>
              <a:t>March</a:t>
            </a:r>
            <a:r>
              <a:rPr lang="tr-TR" dirty="0"/>
              <a:t> 2002</a:t>
            </a:r>
          </a:p>
        </p:txBody>
      </p:sp>
    </p:spTree>
    <p:extLst>
      <p:ext uri="{BB962C8B-B14F-4D97-AF65-F5344CB8AC3E}">
        <p14:creationId xmlns:p14="http://schemas.microsoft.com/office/powerpoint/2010/main" val="3436615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History</a:t>
            </a:r>
            <a:r>
              <a:rPr lang="tr-TR" b="1" dirty="0"/>
              <a:t> (</a:t>
            </a:r>
            <a:r>
              <a:rPr lang="tr-TR" b="1" dirty="0" err="1"/>
              <a:t>cont</a:t>
            </a:r>
            <a:r>
              <a:rPr lang="tr-TR" b="1" dirty="0"/>
              <a:t>.)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Combined </a:t>
            </a:r>
            <a:r>
              <a:rPr lang="en-US" dirty="0" err="1"/>
              <a:t>OpenMP</a:t>
            </a:r>
            <a:r>
              <a:rPr lang="en-US" dirty="0"/>
              <a:t> C/C++/Fortran </a:t>
            </a:r>
            <a:r>
              <a:rPr lang="en-US" dirty="0" err="1"/>
              <a:t>standart</a:t>
            </a:r>
            <a:r>
              <a:rPr lang="en-US" dirty="0"/>
              <a:t> (2.5) released in May 2005</a:t>
            </a:r>
          </a:p>
          <a:p>
            <a:pPr lvl="1"/>
            <a:r>
              <a:rPr lang="en-US" dirty="0" smtClean="0"/>
              <a:t>no </a:t>
            </a:r>
            <a:r>
              <a:rPr lang="en-US" dirty="0"/>
              <a:t>new features, but extensive rewriting and clarification</a:t>
            </a:r>
          </a:p>
          <a:p>
            <a:r>
              <a:rPr lang="en-US" dirty="0" smtClean="0"/>
              <a:t>Version </a:t>
            </a:r>
            <a:r>
              <a:rPr lang="en-US" dirty="0"/>
              <a:t>3.0 released in May 2008</a:t>
            </a:r>
          </a:p>
          <a:p>
            <a:pPr lvl="1"/>
            <a:r>
              <a:rPr lang="en-US" dirty="0" smtClean="0"/>
              <a:t>new </a:t>
            </a:r>
            <a:r>
              <a:rPr lang="en-US" dirty="0"/>
              <a:t>features, including tasks, better support for loop parallelism and nested parallelism</a:t>
            </a:r>
          </a:p>
          <a:p>
            <a:r>
              <a:rPr lang="en-US" dirty="0" smtClean="0"/>
              <a:t>Version </a:t>
            </a:r>
            <a:r>
              <a:rPr lang="en-US" dirty="0"/>
              <a:t>3.1 released in June 2011</a:t>
            </a:r>
          </a:p>
          <a:p>
            <a:pPr lvl="1"/>
            <a:r>
              <a:rPr lang="en-US" dirty="0" smtClean="0"/>
              <a:t>corrections </a:t>
            </a:r>
            <a:r>
              <a:rPr lang="en-US" dirty="0"/>
              <a:t>and some minor new features</a:t>
            </a:r>
          </a:p>
          <a:p>
            <a:pPr lvl="1"/>
            <a:r>
              <a:rPr lang="en-US" dirty="0" smtClean="0"/>
              <a:t>most </a:t>
            </a:r>
            <a:r>
              <a:rPr lang="en-US" dirty="0"/>
              <a:t>current compilers support this</a:t>
            </a:r>
          </a:p>
          <a:p>
            <a:r>
              <a:rPr lang="en-US" dirty="0" smtClean="0"/>
              <a:t>Version </a:t>
            </a:r>
            <a:r>
              <a:rPr lang="en-US" dirty="0"/>
              <a:t>4.0 released in July 2013</a:t>
            </a:r>
          </a:p>
          <a:p>
            <a:pPr lvl="1"/>
            <a:r>
              <a:rPr lang="en-US" dirty="0" smtClean="0"/>
              <a:t>accelerator </a:t>
            </a:r>
            <a:r>
              <a:rPr lang="en-US" dirty="0"/>
              <a:t>offloading, thread affinity, more task support</a:t>
            </a:r>
          </a:p>
          <a:p>
            <a:pPr lvl="1"/>
            <a:r>
              <a:rPr lang="tr-TR" dirty="0" err="1" smtClean="0"/>
              <a:t>now</a:t>
            </a:r>
            <a:r>
              <a:rPr lang="tr-TR" dirty="0" smtClean="0"/>
              <a:t> </a:t>
            </a:r>
            <a:r>
              <a:rPr lang="tr-TR" dirty="0" err="1"/>
              <a:t>appearing</a:t>
            </a:r>
            <a:r>
              <a:rPr lang="tr-TR" dirty="0"/>
              <a:t> in </a:t>
            </a:r>
            <a:r>
              <a:rPr lang="tr-TR" dirty="0" err="1"/>
              <a:t>implementations</a:t>
            </a:r>
            <a:endParaRPr lang="tr-TR" dirty="0"/>
          </a:p>
          <a:p>
            <a:r>
              <a:rPr lang="en-US" dirty="0" smtClean="0"/>
              <a:t>Version </a:t>
            </a:r>
            <a:r>
              <a:rPr lang="en-US" dirty="0"/>
              <a:t>4.5 released in November 2015</a:t>
            </a:r>
          </a:p>
          <a:p>
            <a:pPr lvl="1"/>
            <a:r>
              <a:rPr lang="en-US" dirty="0" smtClean="0"/>
              <a:t>corrections </a:t>
            </a:r>
            <a:r>
              <a:rPr lang="en-US" dirty="0"/>
              <a:t>and a few new features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74931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Compiling and Running </a:t>
            </a:r>
            <a:r>
              <a:rPr lang="en-US" b="1" dirty="0" err="1"/>
              <a:t>OpenMP</a:t>
            </a:r>
            <a:r>
              <a:rPr lang="en-US" b="1" dirty="0"/>
              <a:t> Programs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OpenMP</a:t>
            </a:r>
            <a:r>
              <a:rPr lang="en-US" dirty="0" smtClean="0"/>
              <a:t> </a:t>
            </a:r>
            <a:r>
              <a:rPr lang="en-US" dirty="0"/>
              <a:t>is built-in to most of the compilers you are likely to use</a:t>
            </a:r>
          </a:p>
          <a:p>
            <a:r>
              <a:rPr lang="en-US" dirty="0" smtClean="0"/>
              <a:t>To </a:t>
            </a:r>
            <a:r>
              <a:rPr lang="en-US" dirty="0"/>
              <a:t>compile </a:t>
            </a:r>
            <a:r>
              <a:rPr lang="en-US" dirty="0" err="1"/>
              <a:t>OpenMP</a:t>
            </a:r>
            <a:r>
              <a:rPr lang="en-US" dirty="0"/>
              <a:t> program you need to add a (compiler-specific) flag </a:t>
            </a:r>
            <a:r>
              <a:rPr lang="en-US" dirty="0" smtClean="0"/>
              <a:t>to</a:t>
            </a:r>
            <a:r>
              <a:rPr lang="tr-TR" dirty="0" smtClean="0"/>
              <a:t> </a:t>
            </a:r>
            <a:r>
              <a:rPr lang="en-US" dirty="0" smtClean="0"/>
              <a:t>your </a:t>
            </a:r>
            <a:r>
              <a:rPr lang="en-US" dirty="0"/>
              <a:t>compile and link commands</a:t>
            </a:r>
          </a:p>
          <a:p>
            <a:pPr lvl="1"/>
            <a:r>
              <a:rPr lang="tr-TR" b="1" dirty="0" smtClean="0"/>
              <a:t>-</a:t>
            </a:r>
            <a:r>
              <a:rPr lang="tr-TR" b="1" dirty="0" err="1"/>
              <a:t>fopenmp</a:t>
            </a:r>
            <a:r>
              <a:rPr lang="tr-TR" b="1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gcc</a:t>
            </a:r>
            <a:r>
              <a:rPr lang="tr-TR" dirty="0"/>
              <a:t>/</a:t>
            </a:r>
            <a:r>
              <a:rPr lang="tr-TR" dirty="0" err="1"/>
              <a:t>gfortran</a:t>
            </a:r>
            <a:endParaRPr lang="tr-TR" dirty="0"/>
          </a:p>
          <a:p>
            <a:pPr lvl="1"/>
            <a:r>
              <a:rPr lang="tr-TR" b="1" dirty="0" smtClean="0"/>
              <a:t>-</a:t>
            </a:r>
            <a:r>
              <a:rPr lang="tr-TR" b="1" dirty="0" err="1"/>
              <a:t>openmp</a:t>
            </a:r>
            <a:r>
              <a:rPr lang="tr-TR" b="1" dirty="0"/>
              <a:t> </a:t>
            </a:r>
            <a:r>
              <a:rPr lang="tr-TR" dirty="0" err="1"/>
              <a:t>for</a:t>
            </a:r>
            <a:r>
              <a:rPr lang="tr-TR" dirty="0"/>
              <a:t> Intel </a:t>
            </a:r>
            <a:r>
              <a:rPr lang="tr-TR" dirty="0" err="1"/>
              <a:t>compilers</a:t>
            </a:r>
            <a:endParaRPr lang="tr-TR" dirty="0"/>
          </a:p>
          <a:p>
            <a:r>
              <a:rPr lang="en-US" dirty="0" smtClean="0"/>
              <a:t>The </a:t>
            </a:r>
            <a:r>
              <a:rPr lang="en-US" dirty="0"/>
              <a:t>number of threads which will be used is determined at runtime </a:t>
            </a:r>
            <a:r>
              <a:rPr lang="en-US" dirty="0" smtClean="0"/>
              <a:t>by</a:t>
            </a:r>
            <a:r>
              <a:rPr lang="tr-TR" dirty="0" smtClean="0"/>
              <a:t> </a:t>
            </a:r>
            <a:r>
              <a:rPr lang="tr-TR" b="1" dirty="0" smtClean="0"/>
              <a:t>OMP_NUM_THREADS </a:t>
            </a:r>
            <a:r>
              <a:rPr lang="tr-TR" dirty="0" err="1"/>
              <a:t>environment</a:t>
            </a:r>
            <a:r>
              <a:rPr lang="tr-TR" dirty="0"/>
              <a:t> </a:t>
            </a:r>
            <a:r>
              <a:rPr lang="tr-TR" dirty="0" err="1"/>
              <a:t>variable</a:t>
            </a:r>
            <a:endParaRPr lang="tr-TR" dirty="0"/>
          </a:p>
          <a:p>
            <a:pPr lvl="1"/>
            <a:r>
              <a:rPr lang="en-US" dirty="0" smtClean="0"/>
              <a:t>set </a:t>
            </a:r>
            <a:r>
              <a:rPr lang="en-US" dirty="0"/>
              <a:t>this before you run the program</a:t>
            </a:r>
          </a:p>
          <a:p>
            <a:pPr lvl="1"/>
            <a:r>
              <a:rPr lang="tr-TR" dirty="0" err="1" smtClean="0"/>
              <a:t>e.g</a:t>
            </a:r>
            <a:r>
              <a:rPr lang="tr-TR" dirty="0"/>
              <a:t>. </a:t>
            </a:r>
            <a:r>
              <a:rPr lang="tr-TR" b="1" dirty="0" err="1"/>
              <a:t>export</a:t>
            </a:r>
            <a:r>
              <a:rPr lang="tr-TR" b="1" dirty="0"/>
              <a:t> OMP_NUM_THREADS=4</a:t>
            </a:r>
          </a:p>
          <a:p>
            <a:r>
              <a:rPr lang="en-US" dirty="0" smtClean="0"/>
              <a:t>Run </a:t>
            </a:r>
            <a:r>
              <a:rPr lang="en-US" dirty="0"/>
              <a:t>in the same way you would a sequential program</a:t>
            </a:r>
          </a:p>
          <a:p>
            <a:pPr lvl="1"/>
            <a:r>
              <a:rPr lang="en-US" dirty="0" smtClean="0"/>
              <a:t>type </a:t>
            </a:r>
            <a:r>
              <a:rPr lang="en-US" dirty="0"/>
              <a:t>the name of the executable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65000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Exercise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“</a:t>
            </a:r>
            <a:r>
              <a:rPr lang="tr-TR" dirty="0" err="1"/>
              <a:t>Hello</a:t>
            </a:r>
            <a:r>
              <a:rPr lang="tr-TR" dirty="0"/>
              <a:t> World” program</a:t>
            </a:r>
          </a:p>
          <a:p>
            <a:r>
              <a:rPr lang="en-US" dirty="0" smtClean="0"/>
              <a:t>Aim</a:t>
            </a:r>
            <a:r>
              <a:rPr lang="en-US" dirty="0"/>
              <a:t>: to compile and run a trivial </a:t>
            </a:r>
            <a:r>
              <a:rPr lang="en-US" dirty="0" err="1"/>
              <a:t>OpenMP</a:t>
            </a:r>
            <a:r>
              <a:rPr lang="en-US" dirty="0"/>
              <a:t> program</a:t>
            </a:r>
          </a:p>
          <a:p>
            <a:r>
              <a:rPr lang="en-US" dirty="0" smtClean="0"/>
              <a:t> </a:t>
            </a:r>
            <a:r>
              <a:rPr lang="en-US" dirty="0"/>
              <a:t>Vary the number of threads using </a:t>
            </a:r>
            <a:r>
              <a:rPr lang="en-US" dirty="0" smtClean="0"/>
              <a:t>the</a:t>
            </a:r>
            <a:r>
              <a:rPr lang="tr-TR" dirty="0" smtClean="0"/>
              <a:t> </a:t>
            </a:r>
            <a:r>
              <a:rPr lang="tr-TR" b="1" dirty="0" smtClean="0"/>
              <a:t>OMP_NUM_THREADS </a:t>
            </a:r>
            <a:r>
              <a:rPr lang="tr-TR" dirty="0" err="1"/>
              <a:t>environment</a:t>
            </a:r>
            <a:r>
              <a:rPr lang="tr-TR" dirty="0"/>
              <a:t> </a:t>
            </a:r>
            <a:r>
              <a:rPr lang="tr-TR" dirty="0" err="1"/>
              <a:t>variable</a:t>
            </a:r>
            <a:endParaRPr lang="tr-TR" dirty="0"/>
          </a:p>
          <a:p>
            <a:r>
              <a:rPr lang="en-US" dirty="0" smtClean="0"/>
              <a:t>Run </a:t>
            </a:r>
            <a:r>
              <a:rPr lang="en-US" dirty="0"/>
              <a:t>the code several times. Is the output always </a:t>
            </a:r>
            <a:r>
              <a:rPr lang="en-US" dirty="0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same</a:t>
            </a:r>
            <a:r>
              <a:rPr lang="tr-T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47298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Parallel</a:t>
            </a:r>
            <a:r>
              <a:rPr lang="tr-TR" b="1" dirty="0"/>
              <a:t> </a:t>
            </a:r>
            <a:r>
              <a:rPr lang="tr-TR" b="1" dirty="0" err="1"/>
              <a:t>Regions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Code </a:t>
            </a:r>
            <a:r>
              <a:rPr lang="en-US" dirty="0"/>
              <a:t>within a parallel region is executed by </a:t>
            </a:r>
            <a:r>
              <a:rPr lang="en-US" dirty="0" smtClean="0"/>
              <a:t>all</a:t>
            </a:r>
            <a:r>
              <a:rPr lang="tr-TR" dirty="0" smtClean="0"/>
              <a:t> </a:t>
            </a:r>
            <a:r>
              <a:rPr lang="tr-TR" dirty="0" err="1" smtClean="0"/>
              <a:t>threads</a:t>
            </a:r>
            <a:endParaRPr lang="tr-TR" dirty="0"/>
          </a:p>
          <a:p>
            <a:r>
              <a:rPr lang="tr-TR" dirty="0" err="1" smtClean="0"/>
              <a:t>Syntax</a:t>
            </a:r>
            <a:r>
              <a:rPr lang="tr-TR" dirty="0"/>
              <a:t>:</a:t>
            </a:r>
          </a:p>
          <a:p>
            <a:r>
              <a:rPr lang="tr-TR" dirty="0"/>
              <a:t>C/C</a:t>
            </a:r>
            <a:r>
              <a:rPr lang="tr-TR" dirty="0" smtClean="0"/>
              <a:t>++:</a:t>
            </a:r>
          </a:p>
          <a:p>
            <a:pPr marL="457200" lvl="1" indent="0">
              <a:buNone/>
            </a:pPr>
            <a:r>
              <a:rPr lang="tr-TR" b="1" dirty="0"/>
              <a:t>#pragma </a:t>
            </a:r>
            <a:r>
              <a:rPr lang="tr-TR" b="1" dirty="0" err="1"/>
              <a:t>omp</a:t>
            </a:r>
            <a:r>
              <a:rPr lang="tr-TR" b="1" dirty="0"/>
              <a:t> </a:t>
            </a:r>
            <a:r>
              <a:rPr lang="tr-TR" b="1" dirty="0" err="1"/>
              <a:t>parallel</a:t>
            </a:r>
            <a:endParaRPr lang="tr-TR" b="1" dirty="0"/>
          </a:p>
          <a:p>
            <a:pPr marL="0" indent="0">
              <a:buNone/>
            </a:pPr>
            <a:r>
              <a:rPr lang="tr-TR" b="1" dirty="0" smtClean="0"/>
              <a:t>	{</a:t>
            </a:r>
            <a:endParaRPr lang="tr-TR" b="1" dirty="0"/>
          </a:p>
          <a:p>
            <a:pPr marL="0" indent="0">
              <a:buNone/>
            </a:pPr>
            <a:r>
              <a:rPr lang="tr-TR" b="1" dirty="0" smtClean="0"/>
              <a:t>		</a:t>
            </a:r>
            <a:r>
              <a:rPr lang="tr-TR" b="1" dirty="0" err="1" smtClean="0"/>
              <a:t>block</a:t>
            </a:r>
            <a:endParaRPr lang="tr-TR" b="1" dirty="0"/>
          </a:p>
          <a:p>
            <a:pPr marL="0" indent="0">
              <a:buNone/>
            </a:pPr>
            <a:r>
              <a:rPr lang="tr-TR" b="1" dirty="0" smtClean="0"/>
              <a:t>	}</a:t>
            </a:r>
            <a:endParaRPr lang="tr-TR" dirty="0"/>
          </a:p>
          <a:p>
            <a:r>
              <a:rPr lang="tr-TR" dirty="0"/>
              <a:t>Fortran: </a:t>
            </a:r>
            <a:r>
              <a:rPr lang="tr-TR" b="1" dirty="0"/>
              <a:t>!$OMP PARALLEL</a:t>
            </a:r>
          </a:p>
          <a:p>
            <a:pPr marL="0" indent="0">
              <a:buNone/>
            </a:pPr>
            <a:r>
              <a:rPr lang="tr-TR" b="1" dirty="0" smtClean="0"/>
              <a:t>		</a:t>
            </a:r>
            <a:r>
              <a:rPr lang="tr-TR" b="1" dirty="0" err="1" smtClean="0"/>
              <a:t>block</a:t>
            </a:r>
            <a:endParaRPr lang="tr-TR" b="1" dirty="0"/>
          </a:p>
          <a:p>
            <a:pPr marL="0" indent="0">
              <a:buNone/>
            </a:pPr>
            <a:r>
              <a:rPr lang="tr-TR" b="1" dirty="0" smtClean="0"/>
              <a:t>	!$</a:t>
            </a:r>
            <a:r>
              <a:rPr lang="tr-TR" b="1" dirty="0"/>
              <a:t>OMP END PARALLEL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55725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Parallel</a:t>
            </a:r>
            <a:r>
              <a:rPr lang="tr-TR" b="1" dirty="0"/>
              <a:t> </a:t>
            </a:r>
            <a:r>
              <a:rPr lang="tr-TR" b="1" dirty="0" err="1"/>
              <a:t>Region</a:t>
            </a:r>
            <a:r>
              <a:rPr lang="tr-TR" b="1" dirty="0"/>
              <a:t> Directive (</a:t>
            </a:r>
            <a:r>
              <a:rPr lang="tr-TR" b="1" dirty="0" err="1"/>
              <a:t>cont</a:t>
            </a:r>
            <a:r>
              <a:rPr lang="tr-TR" b="1" dirty="0"/>
              <a:t>.)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dirty="0" err="1"/>
              <a:t>fred</a:t>
            </a:r>
            <a:r>
              <a:rPr lang="tr-TR" b="1" dirty="0"/>
              <a:t>();</a:t>
            </a:r>
          </a:p>
          <a:p>
            <a:pPr marL="0" indent="0">
              <a:buNone/>
            </a:pPr>
            <a:r>
              <a:rPr lang="tr-TR" b="1" dirty="0"/>
              <a:t>#pragma </a:t>
            </a:r>
            <a:r>
              <a:rPr lang="tr-TR" b="1" dirty="0" err="1"/>
              <a:t>omp</a:t>
            </a:r>
            <a:r>
              <a:rPr lang="tr-TR" b="1" dirty="0"/>
              <a:t> </a:t>
            </a:r>
            <a:r>
              <a:rPr lang="tr-TR" b="1" dirty="0" err="1"/>
              <a:t>parallel</a:t>
            </a:r>
            <a:endParaRPr lang="tr-TR" b="1" dirty="0"/>
          </a:p>
          <a:p>
            <a:pPr marL="0" indent="0">
              <a:buNone/>
            </a:pPr>
            <a:r>
              <a:rPr lang="tr-TR" b="1" dirty="0" smtClean="0"/>
              <a:t>	{</a:t>
            </a:r>
            <a:endParaRPr lang="tr-TR" b="1" dirty="0"/>
          </a:p>
          <a:p>
            <a:pPr marL="0" indent="0">
              <a:buNone/>
            </a:pPr>
            <a:r>
              <a:rPr lang="tr-TR" b="1" dirty="0" smtClean="0"/>
              <a:t>		</a:t>
            </a:r>
            <a:r>
              <a:rPr lang="tr-TR" b="1" dirty="0" err="1" smtClean="0"/>
              <a:t>billy</a:t>
            </a:r>
            <a:r>
              <a:rPr lang="tr-TR" b="1" dirty="0"/>
              <a:t>();</a:t>
            </a:r>
          </a:p>
          <a:p>
            <a:pPr marL="0" indent="0">
              <a:buNone/>
            </a:pPr>
            <a:r>
              <a:rPr lang="tr-TR" b="1" dirty="0" smtClean="0"/>
              <a:t>	}</a:t>
            </a:r>
            <a:endParaRPr lang="tr-TR" b="1" dirty="0"/>
          </a:p>
          <a:p>
            <a:pPr marL="0" indent="0">
              <a:buNone/>
            </a:pPr>
            <a:r>
              <a:rPr lang="tr-TR" b="1" dirty="0" err="1"/>
              <a:t>daisy</a:t>
            </a:r>
            <a:r>
              <a:rPr lang="tr-TR" b="1" dirty="0"/>
              <a:t>();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40" y="1789814"/>
            <a:ext cx="3456384" cy="415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928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Useful</a:t>
            </a:r>
            <a:r>
              <a:rPr lang="tr-TR" b="1" dirty="0"/>
              <a:t> </a:t>
            </a:r>
            <a:r>
              <a:rPr lang="tr-TR" b="1" dirty="0" err="1"/>
              <a:t>Functions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Often </a:t>
            </a:r>
            <a:r>
              <a:rPr lang="en-US" dirty="0"/>
              <a:t>useful to find out number of threads being used</a:t>
            </a:r>
          </a:p>
          <a:p>
            <a:pPr marL="0" indent="0">
              <a:buNone/>
            </a:pPr>
            <a:r>
              <a:rPr lang="tr-TR" dirty="0" smtClean="0"/>
              <a:t>Fortran:</a:t>
            </a:r>
          </a:p>
          <a:p>
            <a:pPr marL="0" indent="0">
              <a:buNone/>
            </a:pPr>
            <a:r>
              <a:rPr lang="tr-TR" b="1" dirty="0" smtClean="0"/>
              <a:t>	USE </a:t>
            </a:r>
            <a:r>
              <a:rPr lang="tr-TR" b="1" dirty="0"/>
              <a:t>OMP_LIB</a:t>
            </a:r>
          </a:p>
          <a:p>
            <a:pPr marL="0" indent="0">
              <a:buNone/>
            </a:pPr>
            <a:r>
              <a:rPr lang="tr-TR" b="1" dirty="0" smtClean="0"/>
              <a:t>	INTEGER </a:t>
            </a:r>
            <a:r>
              <a:rPr lang="tr-TR" b="1" dirty="0"/>
              <a:t>FUNCTION </a:t>
            </a:r>
            <a:r>
              <a:rPr lang="tr-TR" b="1" dirty="0" smtClean="0"/>
              <a:t>	OMP_GET_NUM_THREADS</a:t>
            </a:r>
            <a:r>
              <a:rPr lang="tr-TR" b="1" dirty="0"/>
              <a:t>()</a:t>
            </a:r>
            <a:endParaRPr lang="tr-TR" dirty="0"/>
          </a:p>
          <a:p>
            <a:r>
              <a:rPr lang="tr-TR" dirty="0"/>
              <a:t>C/C</a:t>
            </a:r>
            <a:r>
              <a:rPr lang="tr-TR" dirty="0" smtClean="0"/>
              <a:t>++:</a:t>
            </a:r>
          </a:p>
          <a:p>
            <a:pPr marL="0" indent="0">
              <a:buNone/>
            </a:pPr>
            <a:r>
              <a:rPr lang="tr-TR" b="1" dirty="0"/>
              <a:t>#</a:t>
            </a:r>
            <a:r>
              <a:rPr lang="tr-TR" b="1" dirty="0" err="1"/>
              <a:t>include</a:t>
            </a:r>
            <a:r>
              <a:rPr lang="tr-TR" b="1" dirty="0"/>
              <a:t> &lt;</a:t>
            </a:r>
            <a:r>
              <a:rPr lang="tr-TR" b="1" dirty="0" err="1"/>
              <a:t>omp.h</a:t>
            </a:r>
            <a:r>
              <a:rPr lang="tr-TR" b="1" dirty="0"/>
              <a:t>&gt;</a:t>
            </a:r>
          </a:p>
          <a:p>
            <a:pPr marL="0" indent="0">
              <a:buNone/>
            </a:pPr>
            <a:r>
              <a:rPr lang="tr-TR" b="1" dirty="0" smtClean="0"/>
              <a:t> </a:t>
            </a:r>
            <a:r>
              <a:rPr lang="tr-TR" b="1" dirty="0" err="1" smtClean="0"/>
              <a:t>int</a:t>
            </a:r>
            <a:r>
              <a:rPr lang="tr-TR" b="1" dirty="0" smtClean="0"/>
              <a:t> </a:t>
            </a:r>
            <a:r>
              <a:rPr lang="tr-TR" b="1" dirty="0" err="1"/>
              <a:t>omp_get_num_threads</a:t>
            </a:r>
            <a:r>
              <a:rPr lang="tr-TR" b="1" dirty="0"/>
              <a:t>(</a:t>
            </a:r>
            <a:r>
              <a:rPr lang="tr-TR" b="1" dirty="0" err="1"/>
              <a:t>void</a:t>
            </a:r>
            <a:r>
              <a:rPr lang="tr-TR" b="1" dirty="0"/>
              <a:t>);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Note: returns 1 if called outside parallel region!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6178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Clauses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Specify additional information in the parallel </a:t>
            </a:r>
            <a:r>
              <a:rPr lang="en-US" dirty="0" smtClean="0"/>
              <a:t>region</a:t>
            </a:r>
            <a:r>
              <a:rPr lang="tr-TR" dirty="0" smtClean="0"/>
              <a:t> </a:t>
            </a:r>
            <a:r>
              <a:rPr lang="tr-TR" dirty="0" err="1" smtClean="0"/>
              <a:t>directive</a:t>
            </a:r>
            <a:r>
              <a:rPr lang="tr-TR" dirty="0" smtClean="0"/>
              <a:t> </a:t>
            </a:r>
            <a:r>
              <a:rPr lang="tr-TR" dirty="0" err="1"/>
              <a:t>through</a:t>
            </a:r>
            <a:r>
              <a:rPr lang="tr-TR" dirty="0"/>
              <a:t> </a:t>
            </a:r>
            <a:r>
              <a:rPr lang="tr-TR" i="1" dirty="0" err="1"/>
              <a:t>clauses</a:t>
            </a:r>
            <a:r>
              <a:rPr lang="tr-TR" dirty="0"/>
              <a:t>:</a:t>
            </a:r>
          </a:p>
          <a:p>
            <a:r>
              <a:rPr lang="tr-TR" dirty="0"/>
              <a:t>C/C++: </a:t>
            </a:r>
            <a:r>
              <a:rPr lang="tr-TR" b="1" dirty="0"/>
              <a:t>#pragma </a:t>
            </a:r>
            <a:r>
              <a:rPr lang="tr-TR" b="1" dirty="0" err="1"/>
              <a:t>omp</a:t>
            </a:r>
            <a:r>
              <a:rPr lang="tr-TR" b="1" dirty="0"/>
              <a:t> </a:t>
            </a:r>
            <a:r>
              <a:rPr lang="tr-TR" b="1" dirty="0" err="1"/>
              <a:t>parallel</a:t>
            </a:r>
            <a:r>
              <a:rPr lang="tr-TR" b="1" dirty="0"/>
              <a:t> </a:t>
            </a:r>
            <a:r>
              <a:rPr lang="tr-TR" b="1" i="1" dirty="0"/>
              <a:t>[</a:t>
            </a:r>
            <a:r>
              <a:rPr lang="tr-TR" b="1" i="1" dirty="0" err="1"/>
              <a:t>clauses</a:t>
            </a:r>
            <a:r>
              <a:rPr lang="tr-TR" b="1" i="1" dirty="0"/>
              <a:t>]</a:t>
            </a:r>
          </a:p>
          <a:p>
            <a:r>
              <a:rPr lang="tr-TR" dirty="0"/>
              <a:t>Fortran: </a:t>
            </a:r>
            <a:r>
              <a:rPr lang="tr-TR" b="1" dirty="0"/>
              <a:t>!$OMP PARALLEL </a:t>
            </a:r>
            <a:r>
              <a:rPr lang="tr-TR" b="1" i="1" dirty="0"/>
              <a:t>[</a:t>
            </a:r>
            <a:r>
              <a:rPr lang="tr-TR" b="1" i="1" dirty="0" err="1"/>
              <a:t>clauses</a:t>
            </a:r>
            <a:r>
              <a:rPr lang="tr-TR" b="1" i="1" dirty="0"/>
              <a:t>]</a:t>
            </a:r>
          </a:p>
          <a:p>
            <a:r>
              <a:rPr lang="en-US" dirty="0" smtClean="0"/>
              <a:t>Clauses </a:t>
            </a:r>
            <a:r>
              <a:rPr lang="en-US" dirty="0"/>
              <a:t>are comma or space separated in </a:t>
            </a:r>
            <a:r>
              <a:rPr lang="en-US" dirty="0" smtClean="0"/>
              <a:t>Fortran,</a:t>
            </a:r>
            <a:r>
              <a:rPr lang="tr-TR" dirty="0" smtClean="0"/>
              <a:t> </a:t>
            </a:r>
            <a:r>
              <a:rPr lang="tr-TR" dirty="0" err="1" smtClean="0"/>
              <a:t>space</a:t>
            </a:r>
            <a:r>
              <a:rPr lang="tr-TR" dirty="0" smtClean="0"/>
              <a:t> </a:t>
            </a:r>
            <a:r>
              <a:rPr lang="tr-TR" dirty="0" err="1"/>
              <a:t>separated</a:t>
            </a:r>
            <a:r>
              <a:rPr lang="tr-TR" dirty="0"/>
              <a:t> in C/C++</a:t>
            </a:r>
          </a:p>
        </p:txBody>
      </p:sp>
    </p:spTree>
    <p:extLst>
      <p:ext uri="{BB962C8B-B14F-4D97-AF65-F5344CB8AC3E}">
        <p14:creationId xmlns:p14="http://schemas.microsoft.com/office/powerpoint/2010/main" val="1909733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Shared</a:t>
            </a:r>
            <a:r>
              <a:rPr lang="tr-TR" b="1" dirty="0"/>
              <a:t>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Private</a:t>
            </a:r>
            <a:r>
              <a:rPr lang="tr-TR" b="1" dirty="0"/>
              <a:t> </a:t>
            </a:r>
            <a:r>
              <a:rPr lang="tr-TR" b="1" dirty="0" err="1"/>
              <a:t>Variables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Inside </a:t>
            </a:r>
            <a:r>
              <a:rPr lang="en-US" dirty="0"/>
              <a:t>a parallel region, variables can be </a:t>
            </a:r>
            <a:r>
              <a:rPr lang="en-US" dirty="0" smtClean="0"/>
              <a:t>either</a:t>
            </a:r>
            <a:r>
              <a:rPr lang="tr-TR" dirty="0" smtClean="0"/>
              <a:t> </a:t>
            </a:r>
            <a:r>
              <a:rPr lang="en-US" b="1" dirty="0" smtClean="0"/>
              <a:t>shared </a:t>
            </a:r>
            <a:r>
              <a:rPr lang="en-US" dirty="0"/>
              <a:t>(all threads see same copy) or </a:t>
            </a:r>
            <a:r>
              <a:rPr lang="en-US" b="1" dirty="0"/>
              <a:t>private </a:t>
            </a:r>
            <a:r>
              <a:rPr lang="en-US" dirty="0"/>
              <a:t>(</a:t>
            </a:r>
            <a:r>
              <a:rPr lang="en-US" dirty="0" smtClean="0"/>
              <a:t>each</a:t>
            </a:r>
            <a:r>
              <a:rPr lang="tr-TR" dirty="0" smtClean="0"/>
              <a:t> </a:t>
            </a:r>
            <a:r>
              <a:rPr lang="en-US" dirty="0" smtClean="0"/>
              <a:t>thread </a:t>
            </a:r>
            <a:r>
              <a:rPr lang="en-US" dirty="0"/>
              <a:t>has its own copy)</a:t>
            </a:r>
          </a:p>
          <a:p>
            <a:r>
              <a:rPr lang="en-US" b="1" dirty="0" smtClean="0"/>
              <a:t>shared</a:t>
            </a:r>
            <a:r>
              <a:rPr lang="en-US" dirty="0"/>
              <a:t>, </a:t>
            </a:r>
            <a:r>
              <a:rPr lang="en-US" b="1" dirty="0"/>
              <a:t>private </a:t>
            </a:r>
            <a:r>
              <a:rPr lang="en-US" dirty="0"/>
              <a:t>and </a:t>
            </a:r>
            <a:r>
              <a:rPr lang="en-US" b="1" dirty="0"/>
              <a:t>default </a:t>
            </a:r>
            <a:r>
              <a:rPr lang="en-US" dirty="0"/>
              <a:t>are </a:t>
            </a:r>
            <a:r>
              <a:rPr lang="en-US" dirty="0" err="1"/>
              <a:t>OpenMP</a:t>
            </a:r>
            <a:endParaRPr lang="en-US" dirty="0"/>
          </a:p>
          <a:p>
            <a:pPr marL="0" indent="0">
              <a:buNone/>
            </a:pPr>
            <a:r>
              <a:rPr lang="tr-TR" dirty="0" err="1"/>
              <a:t>clauses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C/C++:</a:t>
            </a:r>
          </a:p>
          <a:p>
            <a:pPr marL="0" indent="0">
              <a:buNone/>
            </a:pPr>
            <a:r>
              <a:rPr lang="tr-TR" dirty="0"/>
              <a:t>Fortran:</a:t>
            </a:r>
          </a:p>
          <a:p>
            <a:pPr marL="0" indent="0">
              <a:buNone/>
            </a:pPr>
            <a:r>
              <a:rPr lang="tr-TR" b="1" dirty="0" err="1"/>
              <a:t>shared</a:t>
            </a:r>
            <a:r>
              <a:rPr lang="tr-TR" b="1" i="1" dirty="0"/>
              <a:t>(</a:t>
            </a:r>
            <a:r>
              <a:rPr lang="tr-TR" b="1" i="1" dirty="0" err="1"/>
              <a:t>list</a:t>
            </a:r>
            <a:r>
              <a:rPr lang="tr-TR" b="1" i="1" dirty="0"/>
              <a:t>)</a:t>
            </a:r>
          </a:p>
          <a:p>
            <a:pPr marL="0" indent="0">
              <a:buNone/>
            </a:pPr>
            <a:r>
              <a:rPr lang="tr-TR" b="1" dirty="0" err="1"/>
              <a:t>private</a:t>
            </a:r>
            <a:r>
              <a:rPr lang="tr-TR" b="1" i="1" dirty="0"/>
              <a:t>(</a:t>
            </a:r>
            <a:r>
              <a:rPr lang="tr-TR" b="1" i="1" dirty="0" err="1"/>
              <a:t>list</a:t>
            </a:r>
            <a:r>
              <a:rPr lang="tr-TR" b="1" i="1" dirty="0"/>
              <a:t>)</a:t>
            </a:r>
          </a:p>
          <a:p>
            <a:pPr marL="0" indent="0">
              <a:buNone/>
            </a:pPr>
            <a:r>
              <a:rPr lang="tr-TR" b="1" dirty="0" err="1"/>
              <a:t>default</a:t>
            </a:r>
            <a:r>
              <a:rPr lang="tr-TR" b="1" dirty="0"/>
              <a:t>(</a:t>
            </a:r>
            <a:r>
              <a:rPr lang="tr-TR" b="1" dirty="0" err="1"/>
              <a:t>shared|none</a:t>
            </a:r>
            <a:r>
              <a:rPr lang="tr-TR" b="1" dirty="0"/>
              <a:t>)</a:t>
            </a:r>
          </a:p>
          <a:p>
            <a:pPr marL="0" indent="0">
              <a:buNone/>
            </a:pPr>
            <a:r>
              <a:rPr lang="tr-TR" b="1" dirty="0"/>
              <a:t>SHARED</a:t>
            </a:r>
            <a:r>
              <a:rPr lang="tr-TR" b="1" i="1" dirty="0"/>
              <a:t>(</a:t>
            </a:r>
            <a:r>
              <a:rPr lang="tr-TR" b="1" i="1" dirty="0" err="1"/>
              <a:t>list</a:t>
            </a:r>
            <a:r>
              <a:rPr lang="tr-TR" b="1" i="1" dirty="0"/>
              <a:t>)</a:t>
            </a:r>
          </a:p>
          <a:p>
            <a:pPr marL="0" indent="0">
              <a:buNone/>
            </a:pPr>
            <a:r>
              <a:rPr lang="tr-TR" b="1" dirty="0"/>
              <a:t>PRIVATE</a:t>
            </a:r>
            <a:r>
              <a:rPr lang="tr-TR" b="1" i="1" dirty="0"/>
              <a:t>(</a:t>
            </a:r>
            <a:r>
              <a:rPr lang="tr-TR" b="1" i="1" dirty="0" err="1"/>
              <a:t>list</a:t>
            </a:r>
            <a:r>
              <a:rPr lang="tr-TR" b="1" i="1" dirty="0"/>
              <a:t>)</a:t>
            </a:r>
          </a:p>
          <a:p>
            <a:pPr marL="0" indent="0">
              <a:buNone/>
            </a:pPr>
            <a:r>
              <a:rPr lang="tr-TR" b="1" dirty="0" smtClean="0"/>
              <a:t>DEFAULT(SHARED|PRIVATE|NONE</a:t>
            </a:r>
            <a:r>
              <a:rPr lang="tr-TR" b="1" dirty="0"/>
              <a:t>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95262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Shared</a:t>
            </a:r>
            <a:r>
              <a:rPr lang="tr-TR" b="1" dirty="0"/>
              <a:t>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Private</a:t>
            </a:r>
            <a:r>
              <a:rPr lang="tr-TR" b="1" dirty="0"/>
              <a:t> (</a:t>
            </a:r>
            <a:r>
              <a:rPr lang="tr-TR" b="1" dirty="0" err="1"/>
              <a:t>cont</a:t>
            </a:r>
            <a:r>
              <a:rPr lang="tr-TR" b="1" dirty="0"/>
              <a:t>.)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On </a:t>
            </a:r>
            <a:r>
              <a:rPr lang="en-US" dirty="0"/>
              <a:t>entry to a parallel region, private variables </a:t>
            </a:r>
            <a:r>
              <a:rPr lang="en-US" dirty="0" smtClean="0"/>
              <a:t>are</a:t>
            </a:r>
            <a:r>
              <a:rPr lang="tr-TR" dirty="0" smtClean="0"/>
              <a:t> </a:t>
            </a:r>
            <a:r>
              <a:rPr lang="tr-TR" dirty="0" err="1" smtClean="0"/>
              <a:t>uninitialised</a:t>
            </a:r>
            <a:endParaRPr lang="tr-TR" dirty="0"/>
          </a:p>
          <a:p>
            <a:r>
              <a:rPr lang="en-US" dirty="0" smtClean="0"/>
              <a:t>Variables </a:t>
            </a:r>
            <a:r>
              <a:rPr lang="en-US" dirty="0"/>
              <a:t>declared inside the scope of the parallel region </a:t>
            </a:r>
            <a:r>
              <a:rPr lang="en-US" dirty="0" smtClean="0"/>
              <a:t>are</a:t>
            </a:r>
            <a:r>
              <a:rPr lang="tr-TR" dirty="0" smtClean="0"/>
              <a:t> </a:t>
            </a:r>
            <a:r>
              <a:rPr lang="tr-TR" dirty="0" err="1" smtClean="0"/>
              <a:t>automatically</a:t>
            </a:r>
            <a:r>
              <a:rPr lang="tr-TR" dirty="0" smtClean="0"/>
              <a:t> </a:t>
            </a:r>
            <a:r>
              <a:rPr lang="tr-TR" dirty="0" err="1"/>
              <a:t>private</a:t>
            </a:r>
            <a:endParaRPr lang="tr-TR" dirty="0"/>
          </a:p>
          <a:p>
            <a:r>
              <a:rPr lang="en-US" dirty="0" smtClean="0"/>
              <a:t>After </a:t>
            </a:r>
            <a:r>
              <a:rPr lang="en-US" dirty="0"/>
              <a:t>the parallel region ends, the original variable </a:t>
            </a:r>
            <a:r>
              <a:rPr lang="en-US" dirty="0" smtClean="0"/>
              <a:t>is</a:t>
            </a:r>
            <a:r>
              <a:rPr lang="tr-TR" dirty="0" smtClean="0"/>
              <a:t> </a:t>
            </a:r>
            <a:r>
              <a:rPr lang="en-US" dirty="0" smtClean="0"/>
              <a:t>unaffected </a:t>
            </a:r>
            <a:r>
              <a:rPr lang="en-US" dirty="0"/>
              <a:t>by any changes to private copies</a:t>
            </a:r>
          </a:p>
          <a:p>
            <a:r>
              <a:rPr lang="en-US" dirty="0" smtClean="0"/>
              <a:t>Not </a:t>
            </a:r>
            <a:r>
              <a:rPr lang="en-US" dirty="0"/>
              <a:t>specifying a </a:t>
            </a:r>
            <a:r>
              <a:rPr lang="en-US" b="1" dirty="0"/>
              <a:t>DEFAULT </a:t>
            </a:r>
            <a:r>
              <a:rPr lang="en-US" dirty="0"/>
              <a:t>clause is the same as </a:t>
            </a:r>
            <a:r>
              <a:rPr lang="en-US" dirty="0" smtClean="0"/>
              <a:t>specifying</a:t>
            </a:r>
            <a:r>
              <a:rPr lang="tr-TR" dirty="0" smtClean="0"/>
              <a:t> </a:t>
            </a:r>
            <a:r>
              <a:rPr lang="tr-TR" b="1" dirty="0" smtClean="0"/>
              <a:t>DEFAULT(SHARED</a:t>
            </a:r>
            <a:r>
              <a:rPr lang="tr-TR" b="1" dirty="0"/>
              <a:t>)</a:t>
            </a:r>
          </a:p>
          <a:p>
            <a:r>
              <a:rPr lang="tr-TR" dirty="0" err="1" smtClean="0"/>
              <a:t>Danger</a:t>
            </a:r>
            <a:r>
              <a:rPr lang="tr-TR" dirty="0"/>
              <a:t>!</a:t>
            </a:r>
          </a:p>
          <a:p>
            <a:r>
              <a:rPr lang="tr-TR" dirty="0" err="1" smtClean="0"/>
              <a:t>Always</a:t>
            </a:r>
            <a:r>
              <a:rPr lang="tr-TR" dirty="0" smtClean="0"/>
              <a:t> </a:t>
            </a:r>
            <a:r>
              <a:rPr lang="tr-TR" dirty="0" err="1"/>
              <a:t>use</a:t>
            </a:r>
            <a:r>
              <a:rPr lang="tr-TR" dirty="0"/>
              <a:t> </a:t>
            </a:r>
            <a:r>
              <a:rPr lang="tr-TR" b="1" dirty="0"/>
              <a:t>DEFAULT(NONE)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63606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Shared</a:t>
            </a:r>
            <a:r>
              <a:rPr lang="tr-TR" b="1" dirty="0"/>
              <a:t> </a:t>
            </a:r>
            <a:r>
              <a:rPr lang="tr-TR" b="1" dirty="0" err="1"/>
              <a:t>and</a:t>
            </a:r>
            <a:r>
              <a:rPr lang="tr-TR" b="1" dirty="0"/>
              <a:t> </a:t>
            </a:r>
            <a:r>
              <a:rPr lang="tr-TR" b="1" dirty="0" err="1"/>
              <a:t>Private</a:t>
            </a:r>
            <a:r>
              <a:rPr lang="tr-TR" b="1" dirty="0"/>
              <a:t> (</a:t>
            </a:r>
            <a:r>
              <a:rPr lang="tr-TR" b="1" dirty="0" err="1"/>
              <a:t>cont</a:t>
            </a:r>
            <a:r>
              <a:rPr lang="tr-TR" b="1" dirty="0"/>
              <a:t>.)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each thread initializes its own column of a </a:t>
            </a:r>
            <a:r>
              <a:rPr lang="en-US" dirty="0" smtClean="0"/>
              <a:t>shared</a:t>
            </a:r>
            <a:r>
              <a:rPr lang="tr-TR" dirty="0" smtClean="0"/>
              <a:t> </a:t>
            </a:r>
            <a:r>
              <a:rPr lang="tr-TR" dirty="0" err="1" smtClean="0"/>
              <a:t>array</a:t>
            </a:r>
            <a:endParaRPr lang="tr-TR" dirty="0"/>
          </a:p>
          <a:p>
            <a:pPr marL="0" indent="0">
              <a:buNone/>
            </a:pPr>
            <a:r>
              <a:rPr lang="tr-TR" b="1" dirty="0"/>
              <a:t>!$OMP PARALLEL DEFAULT (NONE), PRIVATE (I, MYID),</a:t>
            </a:r>
          </a:p>
          <a:p>
            <a:pPr marL="0" indent="0">
              <a:buNone/>
            </a:pPr>
            <a:r>
              <a:rPr lang="tr-TR" b="1" dirty="0"/>
              <a:t>!$OMP&amp; SHARED(A,N)</a:t>
            </a:r>
          </a:p>
          <a:p>
            <a:pPr marL="0" indent="0">
              <a:buNone/>
            </a:pPr>
            <a:r>
              <a:rPr lang="tr-TR" b="1" dirty="0"/>
              <a:t>MYID = OMP_GET_THREAD_NUM() + 1</a:t>
            </a:r>
          </a:p>
          <a:p>
            <a:pPr marL="0" indent="0">
              <a:buNone/>
            </a:pPr>
            <a:r>
              <a:rPr lang="tr-TR" b="1" dirty="0"/>
              <a:t>DO I = 1, N</a:t>
            </a:r>
          </a:p>
          <a:p>
            <a:pPr marL="0" indent="0">
              <a:buNone/>
            </a:pPr>
            <a:r>
              <a:rPr lang="tr-TR" b="1" dirty="0"/>
              <a:t>A(I, MYID) = 1.0</a:t>
            </a:r>
          </a:p>
          <a:p>
            <a:pPr marL="0" indent="0">
              <a:buNone/>
            </a:pPr>
            <a:r>
              <a:rPr lang="tr-TR" b="1" dirty="0"/>
              <a:t>END DO</a:t>
            </a:r>
          </a:p>
          <a:p>
            <a:pPr marL="0" indent="0">
              <a:buNone/>
            </a:pPr>
            <a:r>
              <a:rPr lang="tr-TR" b="1" dirty="0"/>
              <a:t>!$OMP END PARALLEL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25323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Multi-</a:t>
            </a:r>
            <a:r>
              <a:rPr lang="tr-TR" b="1" dirty="0" err="1"/>
              <a:t>line</a:t>
            </a:r>
            <a:r>
              <a:rPr lang="tr-TR" b="1" dirty="0"/>
              <a:t> </a:t>
            </a:r>
            <a:r>
              <a:rPr lang="tr-TR" b="1" dirty="0" err="1"/>
              <a:t>Directives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dirty="0"/>
              <a:t>C/C++:</a:t>
            </a:r>
          </a:p>
          <a:p>
            <a:pPr marL="0" indent="0">
              <a:buNone/>
            </a:pPr>
            <a:r>
              <a:rPr lang="tr-TR" b="1" dirty="0"/>
              <a:t>#pragma </a:t>
            </a:r>
            <a:r>
              <a:rPr lang="tr-TR" b="1" dirty="0" err="1"/>
              <a:t>omp</a:t>
            </a:r>
            <a:r>
              <a:rPr lang="tr-TR" b="1" dirty="0"/>
              <a:t> </a:t>
            </a:r>
            <a:r>
              <a:rPr lang="tr-TR" b="1" dirty="0" err="1"/>
              <a:t>parallel</a:t>
            </a:r>
            <a:r>
              <a:rPr lang="tr-TR" b="1" dirty="0"/>
              <a:t> </a:t>
            </a:r>
            <a:r>
              <a:rPr lang="tr-TR" b="1" dirty="0" err="1"/>
              <a:t>default</a:t>
            </a:r>
            <a:r>
              <a:rPr lang="tr-TR" b="1" dirty="0"/>
              <a:t>(</a:t>
            </a:r>
            <a:r>
              <a:rPr lang="tr-TR" b="1" dirty="0" err="1"/>
              <a:t>none</a:t>
            </a:r>
            <a:r>
              <a:rPr lang="tr-TR" b="1" dirty="0"/>
              <a:t>) \</a:t>
            </a:r>
          </a:p>
          <a:p>
            <a:pPr marL="0" indent="0">
              <a:buNone/>
            </a:pPr>
            <a:r>
              <a:rPr lang="tr-TR" b="1" dirty="0" err="1"/>
              <a:t>private</a:t>
            </a:r>
            <a:r>
              <a:rPr lang="tr-TR" b="1" dirty="0"/>
              <a:t>(</a:t>
            </a:r>
            <a:r>
              <a:rPr lang="tr-TR" b="1" dirty="0" err="1"/>
              <a:t>i,myid</a:t>
            </a:r>
            <a:r>
              <a:rPr lang="tr-TR" b="1" dirty="0"/>
              <a:t>) </a:t>
            </a:r>
            <a:r>
              <a:rPr lang="tr-TR" b="1" dirty="0" err="1"/>
              <a:t>shared</a:t>
            </a:r>
            <a:r>
              <a:rPr lang="tr-TR" b="1" dirty="0"/>
              <a:t>(</a:t>
            </a:r>
            <a:r>
              <a:rPr lang="tr-TR" b="1" dirty="0" err="1"/>
              <a:t>a,n</a:t>
            </a:r>
            <a:r>
              <a:rPr lang="tr-TR" b="1" dirty="0"/>
              <a:t>)</a:t>
            </a:r>
          </a:p>
          <a:p>
            <a:pPr marL="0" indent="0">
              <a:buNone/>
            </a:pPr>
            <a:r>
              <a:rPr lang="tr-TR" dirty="0"/>
              <a:t>Fortran: </a:t>
            </a:r>
            <a:r>
              <a:rPr lang="tr-TR" dirty="0" err="1"/>
              <a:t>fixed</a:t>
            </a:r>
            <a:r>
              <a:rPr lang="tr-TR" dirty="0"/>
              <a:t> </a:t>
            </a:r>
            <a:r>
              <a:rPr lang="tr-TR" dirty="0" err="1"/>
              <a:t>source</a:t>
            </a:r>
            <a:r>
              <a:rPr lang="tr-TR" dirty="0"/>
              <a:t> form</a:t>
            </a:r>
          </a:p>
          <a:p>
            <a:pPr marL="0" indent="0">
              <a:buNone/>
            </a:pPr>
            <a:r>
              <a:rPr lang="tr-TR" b="1" dirty="0"/>
              <a:t>!$OMP PARALLEL DEFAULT(NONE), PRIVATE(I,MYID),</a:t>
            </a:r>
          </a:p>
          <a:p>
            <a:pPr marL="0" indent="0">
              <a:buNone/>
            </a:pPr>
            <a:r>
              <a:rPr lang="tr-TR" b="1" dirty="0"/>
              <a:t>!$OMP&amp; SHARED(A,N)</a:t>
            </a:r>
          </a:p>
          <a:p>
            <a:pPr marL="0" indent="0">
              <a:buNone/>
            </a:pPr>
            <a:r>
              <a:rPr lang="tr-TR" dirty="0"/>
              <a:t>Fortran: </a:t>
            </a:r>
            <a:r>
              <a:rPr lang="tr-TR" dirty="0" err="1"/>
              <a:t>free</a:t>
            </a:r>
            <a:r>
              <a:rPr lang="tr-TR" dirty="0"/>
              <a:t> </a:t>
            </a:r>
            <a:r>
              <a:rPr lang="tr-TR" dirty="0" err="1"/>
              <a:t>source</a:t>
            </a:r>
            <a:r>
              <a:rPr lang="tr-TR" dirty="0"/>
              <a:t> form</a:t>
            </a:r>
          </a:p>
          <a:p>
            <a:pPr marL="0" indent="0">
              <a:buNone/>
            </a:pPr>
            <a:r>
              <a:rPr lang="tr-TR" b="1" dirty="0"/>
              <a:t>!$OMP PARALLEL DEFAULT(NONE), PRIVATE(I,MYID), &amp;</a:t>
            </a:r>
          </a:p>
          <a:p>
            <a:pPr marL="0" indent="0">
              <a:buNone/>
            </a:pPr>
            <a:r>
              <a:rPr lang="tr-TR" b="1" dirty="0"/>
              <a:t>!$OMP SHARED(A,N)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93983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Initializing</a:t>
            </a:r>
            <a:r>
              <a:rPr lang="tr-TR" b="1" dirty="0"/>
              <a:t> </a:t>
            </a:r>
            <a:r>
              <a:rPr lang="tr-TR" b="1" dirty="0" err="1"/>
              <a:t>Private</a:t>
            </a:r>
            <a:r>
              <a:rPr lang="tr-TR" b="1" dirty="0"/>
              <a:t> </a:t>
            </a:r>
            <a:r>
              <a:rPr lang="tr-TR" b="1" dirty="0" err="1"/>
              <a:t>Variables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Private </a:t>
            </a:r>
            <a:r>
              <a:rPr lang="en-US" dirty="0"/>
              <a:t>variables are uninitialized at the start of </a:t>
            </a:r>
            <a:r>
              <a:rPr lang="en-US" dirty="0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parallel</a:t>
            </a:r>
            <a:r>
              <a:rPr lang="tr-TR" dirty="0" smtClean="0"/>
              <a:t> </a:t>
            </a:r>
            <a:r>
              <a:rPr lang="tr-TR" dirty="0" err="1"/>
              <a:t>region</a:t>
            </a:r>
            <a:endParaRPr lang="tr-TR" dirty="0"/>
          </a:p>
          <a:p>
            <a:r>
              <a:rPr lang="en-US" dirty="0" smtClean="0"/>
              <a:t>If </a:t>
            </a:r>
            <a:r>
              <a:rPr lang="en-US" dirty="0"/>
              <a:t>we wish to initialize them, we use </a:t>
            </a:r>
            <a:r>
              <a:rPr lang="en-US" b="1" dirty="0"/>
              <a:t>FIRSTPRIVATE</a:t>
            </a:r>
          </a:p>
          <a:p>
            <a:pPr marL="0" indent="0">
              <a:buNone/>
            </a:pPr>
            <a:r>
              <a:rPr lang="tr-TR" dirty="0" err="1"/>
              <a:t>clause</a:t>
            </a:r>
            <a:r>
              <a:rPr lang="tr-TR" dirty="0"/>
              <a:t>:</a:t>
            </a:r>
          </a:p>
          <a:p>
            <a:pPr marL="0" indent="0">
              <a:buNone/>
            </a:pPr>
            <a:r>
              <a:rPr lang="tr-TR" dirty="0"/>
              <a:t>C/C++: </a:t>
            </a:r>
            <a:r>
              <a:rPr lang="tr-TR" b="1" dirty="0" err="1"/>
              <a:t>firstprivate</a:t>
            </a:r>
            <a:r>
              <a:rPr lang="tr-TR" b="1" i="1" dirty="0"/>
              <a:t>(</a:t>
            </a:r>
            <a:r>
              <a:rPr lang="tr-TR" b="1" i="1" dirty="0" err="1"/>
              <a:t>list</a:t>
            </a:r>
            <a:r>
              <a:rPr lang="tr-TR" b="1" i="1" dirty="0"/>
              <a:t>)</a:t>
            </a:r>
          </a:p>
          <a:p>
            <a:pPr marL="0" indent="0">
              <a:buNone/>
            </a:pPr>
            <a:r>
              <a:rPr lang="tr-TR" dirty="0"/>
              <a:t>Fortran: </a:t>
            </a:r>
            <a:r>
              <a:rPr lang="tr-TR" b="1" dirty="0"/>
              <a:t>FIRSTPRIVATE</a:t>
            </a:r>
            <a:r>
              <a:rPr lang="tr-TR" b="1" i="1" dirty="0"/>
              <a:t>(</a:t>
            </a:r>
            <a:r>
              <a:rPr lang="tr-TR" b="1" i="1" dirty="0" err="1"/>
              <a:t>list</a:t>
            </a:r>
            <a:r>
              <a:rPr lang="tr-TR" b="1" i="1" dirty="0"/>
              <a:t>)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87266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Initializing</a:t>
            </a:r>
            <a:r>
              <a:rPr lang="tr-TR" b="1" dirty="0"/>
              <a:t> </a:t>
            </a:r>
            <a:r>
              <a:rPr lang="tr-TR" b="1" dirty="0" err="1"/>
              <a:t>Private</a:t>
            </a:r>
            <a:r>
              <a:rPr lang="tr-TR" b="1" dirty="0"/>
              <a:t> </a:t>
            </a:r>
            <a:r>
              <a:rPr lang="tr-TR" b="1" dirty="0" err="1"/>
              <a:t>Variables</a:t>
            </a:r>
            <a:r>
              <a:rPr lang="tr-TR" b="1" dirty="0"/>
              <a:t> (</a:t>
            </a:r>
            <a:r>
              <a:rPr lang="tr-TR" b="1" dirty="0" err="1"/>
              <a:t>cont</a:t>
            </a:r>
            <a:r>
              <a:rPr lang="tr-TR" b="1" dirty="0"/>
              <a:t>.)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tr-TR" b="1" dirty="0"/>
              <a:t>b = 23.0;</a:t>
            </a:r>
          </a:p>
          <a:p>
            <a:pPr marL="0" indent="0">
              <a:buNone/>
            </a:pPr>
            <a:r>
              <a:rPr lang="tr-TR" b="1" dirty="0"/>
              <a:t>. . . . .</a:t>
            </a:r>
          </a:p>
          <a:p>
            <a:pPr marL="0" indent="0">
              <a:buNone/>
            </a:pPr>
            <a:r>
              <a:rPr lang="tr-TR" b="1" dirty="0"/>
              <a:t>#pragma </a:t>
            </a:r>
            <a:r>
              <a:rPr lang="tr-TR" b="1" dirty="0" err="1"/>
              <a:t>omp</a:t>
            </a:r>
            <a:r>
              <a:rPr lang="tr-TR" b="1" dirty="0"/>
              <a:t> </a:t>
            </a:r>
            <a:r>
              <a:rPr lang="tr-TR" b="1" dirty="0" err="1"/>
              <a:t>parallel</a:t>
            </a:r>
            <a:r>
              <a:rPr lang="tr-TR" b="1" dirty="0"/>
              <a:t> </a:t>
            </a:r>
            <a:r>
              <a:rPr lang="tr-TR" b="1" dirty="0" err="1"/>
              <a:t>firstprivate</a:t>
            </a:r>
            <a:r>
              <a:rPr lang="tr-TR" b="1" dirty="0"/>
              <a:t>(b),</a:t>
            </a:r>
          </a:p>
          <a:p>
            <a:pPr marL="0" indent="0">
              <a:buNone/>
            </a:pPr>
            <a:r>
              <a:rPr lang="tr-TR" b="1" dirty="0" err="1"/>
              <a:t>private</a:t>
            </a:r>
            <a:r>
              <a:rPr lang="tr-TR" b="1" dirty="0"/>
              <a:t>(i, </a:t>
            </a:r>
            <a:r>
              <a:rPr lang="tr-TR" b="1" dirty="0" err="1"/>
              <a:t>myid</a:t>
            </a:r>
            <a:r>
              <a:rPr lang="tr-TR" b="1" dirty="0"/>
              <a:t>)</a:t>
            </a:r>
          </a:p>
          <a:p>
            <a:pPr marL="0" indent="0">
              <a:buNone/>
            </a:pPr>
            <a:r>
              <a:rPr lang="tr-TR" b="1" dirty="0"/>
              <a:t>{</a:t>
            </a:r>
          </a:p>
          <a:p>
            <a:pPr marL="0" indent="0">
              <a:buNone/>
            </a:pPr>
            <a:r>
              <a:rPr lang="tr-TR" b="1" dirty="0" err="1"/>
              <a:t>myid</a:t>
            </a:r>
            <a:r>
              <a:rPr lang="tr-TR" b="1" dirty="0"/>
              <a:t> = </a:t>
            </a:r>
            <a:r>
              <a:rPr lang="tr-TR" b="1" dirty="0" err="1"/>
              <a:t>omp_get_thread_num</a:t>
            </a:r>
            <a:r>
              <a:rPr lang="tr-TR" b="1" dirty="0"/>
              <a:t>();</a:t>
            </a:r>
          </a:p>
          <a:p>
            <a:pPr marL="0" indent="0">
              <a:buNone/>
            </a:pPr>
            <a:r>
              <a:rPr lang="tr-TR" b="1" dirty="0" err="1"/>
              <a:t>for</a:t>
            </a:r>
            <a:r>
              <a:rPr lang="tr-TR" b="1" dirty="0"/>
              <a:t> (i=0; i&lt;n; i++) {</a:t>
            </a:r>
          </a:p>
          <a:p>
            <a:pPr marL="0" indent="0">
              <a:buNone/>
            </a:pPr>
            <a:r>
              <a:rPr lang="tr-TR" b="1" dirty="0"/>
              <a:t>b += c[</a:t>
            </a:r>
            <a:r>
              <a:rPr lang="tr-TR" b="1" dirty="0" err="1"/>
              <a:t>myid</a:t>
            </a:r>
            <a:r>
              <a:rPr lang="tr-TR" b="1" dirty="0"/>
              <a:t>][i];</a:t>
            </a:r>
          </a:p>
          <a:p>
            <a:pPr marL="0" indent="0">
              <a:buNone/>
            </a:pPr>
            <a:r>
              <a:rPr lang="tr-TR" b="1" dirty="0"/>
              <a:t>}</a:t>
            </a:r>
          </a:p>
          <a:p>
            <a:pPr marL="0" indent="0">
              <a:buNone/>
            </a:pPr>
            <a:r>
              <a:rPr lang="tr-TR" b="1" dirty="0"/>
              <a:t>c[</a:t>
            </a:r>
            <a:r>
              <a:rPr lang="tr-TR" b="1" dirty="0" err="1"/>
              <a:t>myid</a:t>
            </a:r>
            <a:r>
              <a:rPr lang="tr-TR" b="1" dirty="0"/>
              <a:t>][n] = b;</a:t>
            </a:r>
          </a:p>
          <a:p>
            <a:pPr marL="0" indent="0">
              <a:buNone/>
            </a:pPr>
            <a:r>
              <a:rPr lang="tr-TR" b="1" dirty="0"/>
              <a:t>}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99525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Reductions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i="1" dirty="0"/>
              <a:t>reduction </a:t>
            </a:r>
            <a:r>
              <a:rPr lang="en-US" dirty="0"/>
              <a:t>produces a single value from </a:t>
            </a:r>
            <a:r>
              <a:rPr lang="en-US" dirty="0" smtClean="0"/>
              <a:t>associative</a:t>
            </a:r>
            <a:r>
              <a:rPr lang="tr-TR" dirty="0" smtClean="0"/>
              <a:t> </a:t>
            </a:r>
            <a:r>
              <a:rPr lang="en-US" dirty="0" smtClean="0"/>
              <a:t>operations </a:t>
            </a:r>
            <a:r>
              <a:rPr lang="en-US" dirty="0"/>
              <a:t>such as addition, multiplication, max, </a:t>
            </a:r>
            <a:r>
              <a:rPr lang="en-US" dirty="0" smtClean="0"/>
              <a:t>min,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/>
              <a:t>, </a:t>
            </a:r>
            <a:r>
              <a:rPr lang="tr-TR" dirty="0" err="1"/>
              <a:t>or</a:t>
            </a:r>
            <a:endParaRPr lang="tr-TR" dirty="0"/>
          </a:p>
          <a:p>
            <a:r>
              <a:rPr lang="en-US" dirty="0" smtClean="0"/>
              <a:t>Would </a:t>
            </a:r>
            <a:r>
              <a:rPr lang="en-US" dirty="0"/>
              <a:t>like each thread to reduce into a private </a:t>
            </a:r>
            <a:r>
              <a:rPr lang="en-US" dirty="0" smtClean="0"/>
              <a:t>copy,</a:t>
            </a:r>
            <a:r>
              <a:rPr lang="tr-TR" dirty="0" smtClean="0"/>
              <a:t> </a:t>
            </a:r>
            <a:r>
              <a:rPr lang="en-US" dirty="0" smtClean="0"/>
              <a:t>then </a:t>
            </a:r>
            <a:r>
              <a:rPr lang="en-US" dirty="0"/>
              <a:t>reduce all these to give final result</a:t>
            </a:r>
          </a:p>
          <a:p>
            <a:r>
              <a:rPr lang="tr-TR" dirty="0" err="1" smtClean="0"/>
              <a:t>Use</a:t>
            </a:r>
            <a:r>
              <a:rPr lang="tr-TR" dirty="0" smtClean="0"/>
              <a:t> </a:t>
            </a:r>
            <a:r>
              <a:rPr lang="tr-TR" b="1" dirty="0"/>
              <a:t>REDUCTION </a:t>
            </a:r>
            <a:r>
              <a:rPr lang="tr-TR" dirty="0" err="1"/>
              <a:t>clause</a:t>
            </a:r>
            <a:r>
              <a:rPr lang="tr-TR" dirty="0"/>
              <a:t>:</a:t>
            </a:r>
          </a:p>
          <a:p>
            <a:pPr marL="0" indent="0">
              <a:buNone/>
            </a:pPr>
            <a:r>
              <a:rPr lang="tr-TR" dirty="0"/>
              <a:t>C/C++: </a:t>
            </a:r>
            <a:r>
              <a:rPr lang="tr-TR" b="1" dirty="0" err="1"/>
              <a:t>reduction</a:t>
            </a:r>
            <a:r>
              <a:rPr lang="tr-TR" b="1" i="1" dirty="0"/>
              <a:t>(op: </a:t>
            </a:r>
            <a:r>
              <a:rPr lang="tr-TR" b="1" i="1" dirty="0" err="1"/>
              <a:t>list</a:t>
            </a:r>
            <a:r>
              <a:rPr lang="tr-TR" b="1" i="1" dirty="0"/>
              <a:t>)</a:t>
            </a:r>
          </a:p>
          <a:p>
            <a:pPr marL="0" indent="0">
              <a:buNone/>
            </a:pPr>
            <a:r>
              <a:rPr lang="tr-TR" dirty="0"/>
              <a:t>Fortran: </a:t>
            </a:r>
            <a:r>
              <a:rPr lang="tr-TR" b="1" dirty="0"/>
              <a:t>REDUCTION</a:t>
            </a:r>
            <a:r>
              <a:rPr lang="tr-TR" b="1" i="1" dirty="0"/>
              <a:t>(op: </a:t>
            </a:r>
            <a:r>
              <a:rPr lang="tr-TR" b="1" i="1" dirty="0" err="1"/>
              <a:t>list</a:t>
            </a:r>
            <a:r>
              <a:rPr lang="tr-TR" b="1" i="1" dirty="0"/>
              <a:t>)</a:t>
            </a:r>
          </a:p>
          <a:p>
            <a:r>
              <a:rPr lang="en-US" dirty="0" smtClean="0"/>
              <a:t>Can </a:t>
            </a:r>
            <a:r>
              <a:rPr lang="en-US" dirty="0"/>
              <a:t>have reduction arrays in Fortran, but not in C/C++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11785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Reductions</a:t>
            </a:r>
            <a:r>
              <a:rPr lang="tr-TR" b="1" dirty="0"/>
              <a:t> (</a:t>
            </a:r>
            <a:r>
              <a:rPr lang="tr-TR" b="1" dirty="0" err="1"/>
              <a:t>cont</a:t>
            </a:r>
            <a:r>
              <a:rPr lang="tr-TR" b="1" dirty="0"/>
              <a:t>.)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b="1" dirty="0"/>
              <a:t>B = 10</a:t>
            </a:r>
          </a:p>
          <a:p>
            <a:pPr marL="0" indent="0">
              <a:buNone/>
            </a:pPr>
            <a:r>
              <a:rPr lang="tr-TR" b="1" dirty="0"/>
              <a:t>!$OMP PARALLEL REDUCTION (+:B),</a:t>
            </a:r>
          </a:p>
          <a:p>
            <a:pPr marL="0" indent="0">
              <a:buNone/>
            </a:pPr>
            <a:r>
              <a:rPr lang="tr-TR" b="1" dirty="0"/>
              <a:t>!$OMP&amp; PRIVATE(I, MYID)</a:t>
            </a:r>
          </a:p>
          <a:p>
            <a:pPr marL="0" indent="0">
              <a:buNone/>
            </a:pPr>
            <a:r>
              <a:rPr lang="tr-TR" b="1" dirty="0"/>
              <a:t>MYID = OMP_GET_THREAD_NUM() + 1</a:t>
            </a:r>
          </a:p>
          <a:p>
            <a:pPr marL="0" indent="0">
              <a:buNone/>
            </a:pPr>
            <a:r>
              <a:rPr lang="tr-TR" b="1" dirty="0"/>
              <a:t>DO I = 1, N</a:t>
            </a:r>
          </a:p>
          <a:p>
            <a:pPr marL="0" indent="0">
              <a:buNone/>
            </a:pPr>
            <a:r>
              <a:rPr lang="tr-TR" b="1" dirty="0"/>
              <a:t>B = B + C[I][MYID]</a:t>
            </a:r>
          </a:p>
          <a:p>
            <a:pPr marL="0" indent="0">
              <a:buNone/>
            </a:pPr>
            <a:r>
              <a:rPr lang="tr-TR" b="1" dirty="0"/>
              <a:t>END DO</a:t>
            </a:r>
          </a:p>
          <a:p>
            <a:pPr marL="0" indent="0">
              <a:buNone/>
            </a:pPr>
            <a:r>
              <a:rPr lang="tr-TR" b="1" dirty="0"/>
              <a:t>!$OMP END PARALLEL</a:t>
            </a:r>
          </a:p>
          <a:p>
            <a:pPr marL="0" indent="0">
              <a:buNone/>
            </a:pPr>
            <a:r>
              <a:rPr lang="tr-TR" b="1" dirty="0"/>
              <a:t>A = B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445269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Exercise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281045"/>
            <a:ext cx="10515600" cy="2720249"/>
          </a:xfrm>
        </p:spPr>
        <p:txBody>
          <a:bodyPr>
            <a:noAutofit/>
          </a:bodyPr>
          <a:lstStyle/>
          <a:p>
            <a:r>
              <a:rPr lang="en-US" sz="1800" dirty="0"/>
              <a:t>Area of the Mandelbrot set</a:t>
            </a:r>
          </a:p>
          <a:p>
            <a:r>
              <a:rPr lang="en-US" sz="1800" dirty="0"/>
              <a:t>Aim: introduction to using parallel regions</a:t>
            </a:r>
          </a:p>
          <a:p>
            <a:r>
              <a:rPr lang="en-US" sz="1800" dirty="0"/>
              <a:t>Estimate the area of the Mandelbrot set by Monte Carlo sampling</a:t>
            </a:r>
          </a:p>
          <a:p>
            <a:r>
              <a:rPr lang="en-US" sz="1800" dirty="0"/>
              <a:t>Generate a grid of complex numbers in a box surrounding the set</a:t>
            </a:r>
          </a:p>
          <a:p>
            <a:r>
              <a:rPr lang="en-US" sz="1800" dirty="0"/>
              <a:t>Test each number to see if it is in the set or not</a:t>
            </a:r>
          </a:p>
          <a:p>
            <a:r>
              <a:rPr lang="en-US" sz="1800" dirty="0"/>
              <a:t>Ratio of points inside a total number of points gives an estimate of the area</a:t>
            </a:r>
          </a:p>
          <a:p>
            <a:r>
              <a:rPr lang="en-US" sz="1800" dirty="0"/>
              <a:t>Testing of points is independent - parallels with a parallel region</a:t>
            </a:r>
            <a:endParaRPr lang="tr-TR" sz="18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976" y="4001294"/>
            <a:ext cx="3692803" cy="274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258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Worksharing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Directives </a:t>
            </a:r>
            <a:r>
              <a:rPr lang="en-US" dirty="0"/>
              <a:t>which appear inside a parallel region </a:t>
            </a:r>
            <a:r>
              <a:rPr lang="en-US" dirty="0" smtClean="0"/>
              <a:t>and</a:t>
            </a:r>
            <a:r>
              <a:rPr lang="tr-TR" dirty="0" smtClean="0"/>
              <a:t> </a:t>
            </a:r>
            <a:r>
              <a:rPr lang="en-US" dirty="0" smtClean="0"/>
              <a:t>indicate </a:t>
            </a:r>
            <a:r>
              <a:rPr lang="en-US" dirty="0"/>
              <a:t>how work should be shared out </a:t>
            </a:r>
            <a:r>
              <a:rPr lang="en-US" dirty="0" smtClean="0"/>
              <a:t>between</a:t>
            </a:r>
            <a:r>
              <a:rPr lang="tr-TR" dirty="0" smtClean="0"/>
              <a:t> </a:t>
            </a:r>
            <a:r>
              <a:rPr lang="tr-TR" dirty="0" err="1" smtClean="0"/>
              <a:t>threads</a:t>
            </a:r>
            <a:r>
              <a:rPr lang="tr-TR" dirty="0" smtClean="0"/>
              <a:t> </a:t>
            </a:r>
            <a:r>
              <a:rPr lang="tr-TR" dirty="0" err="1"/>
              <a:t>are</a:t>
            </a:r>
            <a:endParaRPr lang="tr-TR" dirty="0"/>
          </a:p>
          <a:p>
            <a:pPr lvl="1"/>
            <a:r>
              <a:rPr lang="tr-TR" dirty="0" err="1" smtClean="0"/>
              <a:t>Parallel</a:t>
            </a:r>
            <a:r>
              <a:rPr lang="tr-TR" dirty="0" smtClean="0"/>
              <a:t> </a:t>
            </a:r>
            <a:r>
              <a:rPr lang="tr-TR" dirty="0"/>
              <a:t>DO/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loops</a:t>
            </a:r>
            <a:endParaRPr lang="tr-TR" dirty="0"/>
          </a:p>
          <a:p>
            <a:pPr lvl="1"/>
            <a:r>
              <a:rPr lang="tr-TR" dirty="0" err="1" smtClean="0"/>
              <a:t>Single</a:t>
            </a:r>
            <a:r>
              <a:rPr lang="tr-TR" dirty="0" smtClean="0"/>
              <a:t> </a:t>
            </a:r>
            <a:r>
              <a:rPr lang="tr-TR" dirty="0" err="1"/>
              <a:t>directive</a:t>
            </a:r>
            <a:endParaRPr lang="tr-TR" dirty="0"/>
          </a:p>
          <a:p>
            <a:pPr lvl="1"/>
            <a:r>
              <a:rPr lang="tr-TR" dirty="0" smtClean="0"/>
              <a:t>Master </a:t>
            </a:r>
            <a:r>
              <a:rPr lang="tr-TR" dirty="0" err="1"/>
              <a:t>directive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419920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Parallel</a:t>
            </a:r>
            <a:r>
              <a:rPr lang="tr-TR" b="1" dirty="0"/>
              <a:t> DO/</a:t>
            </a:r>
            <a:r>
              <a:rPr lang="tr-TR" b="1" dirty="0" err="1"/>
              <a:t>for</a:t>
            </a:r>
            <a:r>
              <a:rPr lang="tr-TR" b="1" dirty="0"/>
              <a:t> </a:t>
            </a:r>
            <a:r>
              <a:rPr lang="tr-TR" b="1" dirty="0" err="1"/>
              <a:t>Loops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Loops </a:t>
            </a:r>
            <a:r>
              <a:rPr lang="en-US" dirty="0"/>
              <a:t>are the most common source of parallelism in </a:t>
            </a:r>
            <a:r>
              <a:rPr lang="en-US" dirty="0" smtClean="0"/>
              <a:t>most</a:t>
            </a:r>
            <a:r>
              <a:rPr lang="tr-TR" dirty="0" smtClean="0"/>
              <a:t> </a:t>
            </a:r>
            <a:r>
              <a:rPr lang="en-US" dirty="0" smtClean="0"/>
              <a:t>codes</a:t>
            </a:r>
            <a:r>
              <a:rPr lang="en-US" dirty="0"/>
              <a:t>. Therefore, parallel loop directives are vey important!</a:t>
            </a:r>
          </a:p>
          <a:p>
            <a:r>
              <a:rPr lang="en-US" dirty="0" smtClean="0"/>
              <a:t>A </a:t>
            </a:r>
            <a:r>
              <a:rPr lang="en-US" dirty="0"/>
              <a:t>parallel DO/for loop divides up the iterations of the </a:t>
            </a:r>
            <a:r>
              <a:rPr lang="en-US" dirty="0" smtClean="0"/>
              <a:t>loop</a:t>
            </a:r>
            <a:r>
              <a:rPr lang="tr-TR" dirty="0" smtClean="0"/>
              <a:t> </a:t>
            </a:r>
            <a:r>
              <a:rPr lang="tr-TR" dirty="0" err="1" smtClean="0"/>
              <a:t>between</a:t>
            </a:r>
            <a:r>
              <a:rPr lang="tr-TR" dirty="0" smtClean="0"/>
              <a:t> </a:t>
            </a:r>
            <a:r>
              <a:rPr lang="tr-TR" dirty="0" err="1"/>
              <a:t>threads</a:t>
            </a:r>
            <a:endParaRPr lang="tr-TR" dirty="0"/>
          </a:p>
          <a:p>
            <a:r>
              <a:rPr lang="en-US" dirty="0" smtClean="0"/>
              <a:t>The </a:t>
            </a:r>
            <a:r>
              <a:rPr lang="en-US" dirty="0"/>
              <a:t>loop directive appears inside a parallel region </a:t>
            </a:r>
            <a:r>
              <a:rPr lang="en-US" dirty="0" smtClean="0"/>
              <a:t>and</a:t>
            </a:r>
            <a:r>
              <a:rPr lang="tr-TR" dirty="0" smtClean="0"/>
              <a:t> </a:t>
            </a:r>
            <a:r>
              <a:rPr lang="en-US" dirty="0" smtClean="0"/>
              <a:t>indicates </a:t>
            </a:r>
            <a:r>
              <a:rPr lang="en-US" dirty="0"/>
              <a:t>that the work should be shared out </a:t>
            </a:r>
            <a:r>
              <a:rPr lang="en-US" dirty="0" smtClean="0"/>
              <a:t>between</a:t>
            </a:r>
            <a:r>
              <a:rPr lang="tr-TR" dirty="0" smtClean="0"/>
              <a:t> </a:t>
            </a:r>
            <a:r>
              <a:rPr lang="tr-TR" dirty="0" err="1" smtClean="0"/>
              <a:t>threads</a:t>
            </a:r>
            <a:r>
              <a:rPr lang="tr-TR" dirty="0"/>
              <a:t>, </a:t>
            </a:r>
            <a:r>
              <a:rPr lang="tr-TR" dirty="0" err="1"/>
              <a:t>instead</a:t>
            </a:r>
            <a:r>
              <a:rPr lang="tr-TR" dirty="0"/>
              <a:t> of </a:t>
            </a:r>
            <a:r>
              <a:rPr lang="tr-TR" dirty="0" err="1" smtClean="0"/>
              <a:t>replication</a:t>
            </a:r>
            <a:endParaRPr lang="tr-TR" dirty="0" smtClean="0"/>
          </a:p>
          <a:p>
            <a:r>
              <a:rPr lang="en-US" dirty="0" smtClean="0"/>
              <a:t>There </a:t>
            </a:r>
            <a:r>
              <a:rPr lang="en-US" dirty="0"/>
              <a:t>is a </a:t>
            </a:r>
            <a:r>
              <a:rPr lang="en-US" dirty="0" err="1"/>
              <a:t>synchronisation</a:t>
            </a:r>
            <a:r>
              <a:rPr lang="en-US" dirty="0"/>
              <a:t> point at the end of the loop: </a:t>
            </a:r>
            <a:r>
              <a:rPr lang="en-US" dirty="0" smtClean="0"/>
              <a:t>all</a:t>
            </a:r>
            <a:r>
              <a:rPr lang="tr-TR" dirty="0" smtClean="0"/>
              <a:t> </a:t>
            </a:r>
            <a:r>
              <a:rPr lang="en-US" dirty="0" smtClean="0"/>
              <a:t>threads </a:t>
            </a:r>
            <a:r>
              <a:rPr lang="en-US" dirty="0"/>
              <a:t>must finish their iterations before any thread </a:t>
            </a:r>
            <a:r>
              <a:rPr lang="en-US" dirty="0" smtClean="0"/>
              <a:t>can</a:t>
            </a:r>
            <a:r>
              <a:rPr lang="tr-TR" dirty="0" smtClean="0"/>
              <a:t> </a:t>
            </a:r>
            <a:r>
              <a:rPr lang="tr-TR" dirty="0" err="1" smtClean="0"/>
              <a:t>proceed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963305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Parallel</a:t>
            </a:r>
            <a:r>
              <a:rPr lang="tr-TR" b="1" dirty="0"/>
              <a:t> DO/</a:t>
            </a:r>
            <a:r>
              <a:rPr lang="tr-TR" b="1" dirty="0" err="1"/>
              <a:t>for</a:t>
            </a:r>
            <a:r>
              <a:rPr lang="tr-TR" b="1" dirty="0"/>
              <a:t> </a:t>
            </a:r>
            <a:r>
              <a:rPr lang="tr-TR" b="1" dirty="0" err="1"/>
              <a:t>Loops</a:t>
            </a:r>
            <a:r>
              <a:rPr lang="tr-TR" b="1" dirty="0"/>
              <a:t> (</a:t>
            </a:r>
            <a:r>
              <a:rPr lang="tr-TR" b="1" dirty="0" err="1"/>
              <a:t>cont</a:t>
            </a:r>
            <a:r>
              <a:rPr lang="tr-TR" b="1" dirty="0"/>
              <a:t>.)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 err="1"/>
              <a:t>Syntax</a:t>
            </a:r>
            <a:r>
              <a:rPr lang="tr-TR" dirty="0"/>
              <a:t>:</a:t>
            </a:r>
          </a:p>
          <a:p>
            <a:pPr marL="0" indent="0">
              <a:buNone/>
            </a:pPr>
            <a:r>
              <a:rPr lang="tr-TR" dirty="0" smtClean="0"/>
              <a:t>Fortran</a:t>
            </a:r>
            <a:r>
              <a:rPr lang="tr-TR" dirty="0"/>
              <a:t>: </a:t>
            </a:r>
            <a:r>
              <a:rPr lang="tr-TR" b="1" dirty="0"/>
              <a:t>!$OMP DO </a:t>
            </a:r>
            <a:r>
              <a:rPr lang="tr-TR" b="1" i="1" dirty="0"/>
              <a:t>[</a:t>
            </a:r>
            <a:r>
              <a:rPr lang="tr-TR" b="1" i="1" dirty="0" err="1"/>
              <a:t>clauses</a:t>
            </a:r>
            <a:r>
              <a:rPr lang="tr-TR" b="1" i="1" dirty="0"/>
              <a:t>]</a:t>
            </a:r>
          </a:p>
          <a:p>
            <a:pPr marL="0" indent="0">
              <a:buNone/>
            </a:pPr>
            <a:r>
              <a:rPr lang="tr-TR" b="1" i="1" dirty="0"/>
              <a:t>DO </a:t>
            </a:r>
            <a:r>
              <a:rPr lang="tr-TR" b="1" i="1" dirty="0" err="1"/>
              <a:t>loop</a:t>
            </a:r>
            <a:endParaRPr lang="tr-TR" b="1" i="1" dirty="0"/>
          </a:p>
          <a:p>
            <a:pPr marL="0" indent="0">
              <a:buNone/>
            </a:pPr>
            <a:r>
              <a:rPr lang="tr-TR" b="1" dirty="0"/>
              <a:t>!$OMP END DO</a:t>
            </a:r>
          </a:p>
          <a:p>
            <a:pPr marL="0" indent="0">
              <a:buNone/>
            </a:pPr>
            <a:r>
              <a:rPr lang="tr-TR" dirty="0"/>
              <a:t>C/C++:</a:t>
            </a:r>
          </a:p>
          <a:p>
            <a:pPr marL="0" indent="0">
              <a:buNone/>
            </a:pPr>
            <a:r>
              <a:rPr lang="tr-TR" b="1" dirty="0" smtClean="0"/>
              <a:t>#</a:t>
            </a:r>
            <a:r>
              <a:rPr lang="tr-TR" b="1" dirty="0"/>
              <a:t>pragma </a:t>
            </a:r>
            <a:r>
              <a:rPr lang="tr-TR" b="1" dirty="0" err="1"/>
              <a:t>omp</a:t>
            </a:r>
            <a:r>
              <a:rPr lang="tr-TR" b="1" dirty="0"/>
              <a:t> </a:t>
            </a:r>
            <a:r>
              <a:rPr lang="tr-TR" b="1" dirty="0" err="1"/>
              <a:t>for</a:t>
            </a:r>
            <a:r>
              <a:rPr lang="tr-TR" b="1" dirty="0"/>
              <a:t> </a:t>
            </a:r>
            <a:r>
              <a:rPr lang="tr-TR" b="1" i="1" dirty="0"/>
              <a:t>[</a:t>
            </a:r>
            <a:r>
              <a:rPr lang="tr-TR" b="1" i="1" dirty="0" err="1"/>
              <a:t>clauses</a:t>
            </a:r>
            <a:r>
              <a:rPr lang="tr-TR" b="1" i="1" dirty="0"/>
              <a:t>]</a:t>
            </a:r>
          </a:p>
          <a:p>
            <a:pPr marL="0" indent="0">
              <a:buNone/>
            </a:pPr>
            <a:r>
              <a:rPr lang="tr-TR" b="1" i="1" dirty="0" err="1"/>
              <a:t>for</a:t>
            </a:r>
            <a:r>
              <a:rPr lang="tr-TR" b="1" i="1" dirty="0"/>
              <a:t> </a:t>
            </a:r>
            <a:r>
              <a:rPr lang="tr-TR" b="1" i="1" dirty="0" err="1"/>
              <a:t>loop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098599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Restrictions</a:t>
            </a:r>
            <a:r>
              <a:rPr lang="tr-TR" b="1" dirty="0"/>
              <a:t> in C/C++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Because </a:t>
            </a:r>
            <a:r>
              <a:rPr lang="en-US" dirty="0"/>
              <a:t>the for loop in C is a general while </a:t>
            </a:r>
            <a:r>
              <a:rPr lang="en-US" dirty="0" smtClean="0"/>
              <a:t>loop,</a:t>
            </a:r>
            <a:r>
              <a:rPr lang="tr-TR" dirty="0" smtClean="0"/>
              <a:t> </a:t>
            </a:r>
            <a:r>
              <a:rPr lang="en-US" dirty="0" smtClean="0"/>
              <a:t>there </a:t>
            </a:r>
            <a:r>
              <a:rPr lang="en-US" dirty="0"/>
              <a:t>are restrictions on the form it can take</a:t>
            </a:r>
          </a:p>
          <a:p>
            <a:r>
              <a:rPr lang="en-US" dirty="0" smtClean="0"/>
              <a:t>It </a:t>
            </a:r>
            <a:r>
              <a:rPr lang="en-US" dirty="0"/>
              <a:t>has two determinable trip count - it must be of </a:t>
            </a:r>
            <a:r>
              <a:rPr lang="en-US" dirty="0" smtClean="0"/>
              <a:t>the</a:t>
            </a:r>
            <a:r>
              <a:rPr lang="tr-TR" dirty="0" smtClean="0"/>
              <a:t> form</a:t>
            </a:r>
            <a:endParaRPr lang="tr-TR" dirty="0"/>
          </a:p>
          <a:p>
            <a:pPr marL="0" indent="0">
              <a:buNone/>
            </a:pPr>
            <a:r>
              <a:rPr lang="da-DK" b="1" dirty="0"/>
              <a:t>for (var = a; var </a:t>
            </a:r>
            <a:r>
              <a:rPr lang="da-DK" i="1" dirty="0"/>
              <a:t>logical-op </a:t>
            </a:r>
            <a:r>
              <a:rPr lang="da-DK" b="1" dirty="0"/>
              <a:t>b; </a:t>
            </a:r>
            <a:r>
              <a:rPr lang="da-DK" i="1" dirty="0"/>
              <a:t>incr-exp</a:t>
            </a:r>
            <a:r>
              <a:rPr lang="da-DK" b="1" dirty="0"/>
              <a:t>)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i="1" dirty="0"/>
              <a:t>logical-op </a:t>
            </a:r>
            <a:r>
              <a:rPr lang="en-US" dirty="0"/>
              <a:t>is one of &lt;, &lt;=, &gt;, &gt;=</a:t>
            </a:r>
          </a:p>
          <a:p>
            <a:pPr marL="0" indent="0">
              <a:buNone/>
            </a:pPr>
            <a:r>
              <a:rPr lang="en-US" dirty="0"/>
              <a:t>and </a:t>
            </a:r>
            <a:r>
              <a:rPr lang="en-US" i="1" dirty="0" err="1"/>
              <a:t>incr-exp</a:t>
            </a:r>
            <a:r>
              <a:rPr lang="en-US" i="1" dirty="0"/>
              <a:t> </a:t>
            </a:r>
            <a:r>
              <a:rPr lang="en-US" dirty="0"/>
              <a:t>is </a:t>
            </a:r>
            <a:r>
              <a:rPr lang="en-US" b="1" dirty="0" err="1"/>
              <a:t>var</a:t>
            </a:r>
            <a:r>
              <a:rPr lang="en-US" b="1" dirty="0"/>
              <a:t> = </a:t>
            </a:r>
            <a:r>
              <a:rPr lang="en-US" b="1" dirty="0" err="1"/>
              <a:t>var</a:t>
            </a:r>
            <a:r>
              <a:rPr lang="en-US" b="1" dirty="0"/>
              <a:t> +/- </a:t>
            </a:r>
            <a:r>
              <a:rPr lang="en-US" b="1" dirty="0" err="1"/>
              <a:t>incr</a:t>
            </a:r>
            <a:r>
              <a:rPr lang="en-US" b="1" dirty="0"/>
              <a:t> </a:t>
            </a:r>
            <a:r>
              <a:rPr lang="en-US" dirty="0"/>
              <a:t>or semantic</a:t>
            </a:r>
          </a:p>
          <a:p>
            <a:pPr marL="0" indent="0">
              <a:buNone/>
            </a:pPr>
            <a:r>
              <a:rPr lang="tr-TR" dirty="0" err="1"/>
              <a:t>equivalent</a:t>
            </a:r>
            <a:r>
              <a:rPr lang="tr-TR" dirty="0"/>
              <a:t> </a:t>
            </a:r>
            <a:r>
              <a:rPr lang="tr-TR" dirty="0" err="1"/>
              <a:t>such</a:t>
            </a:r>
            <a:r>
              <a:rPr lang="tr-TR" dirty="0"/>
              <a:t> as </a:t>
            </a:r>
            <a:r>
              <a:rPr lang="tr-TR" b="1" dirty="0"/>
              <a:t>var++</a:t>
            </a:r>
          </a:p>
          <a:p>
            <a:pPr marL="0" indent="0">
              <a:buNone/>
            </a:pPr>
            <a:r>
              <a:rPr lang="en-US" dirty="0"/>
              <a:t>also can not modify </a:t>
            </a:r>
            <a:r>
              <a:rPr lang="en-US" b="1" dirty="0" err="1"/>
              <a:t>var</a:t>
            </a:r>
            <a:r>
              <a:rPr lang="en-US" b="1" dirty="0"/>
              <a:t> </a:t>
            </a:r>
            <a:r>
              <a:rPr lang="en-US" dirty="0"/>
              <a:t>within the loop body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515901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Parallel</a:t>
            </a:r>
            <a:r>
              <a:rPr lang="tr-TR" b="1" dirty="0"/>
              <a:t> </a:t>
            </a:r>
            <a:r>
              <a:rPr lang="tr-TR" b="1" dirty="0" err="1"/>
              <a:t>Loops</a:t>
            </a:r>
            <a:r>
              <a:rPr lang="tr-TR" b="1" dirty="0"/>
              <a:t> (</a:t>
            </a:r>
            <a:r>
              <a:rPr lang="tr-TR" b="1" dirty="0" err="1"/>
              <a:t>Example</a:t>
            </a:r>
            <a:r>
              <a:rPr lang="tr-TR" b="1" dirty="0"/>
              <a:t>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tr-TR" b="1" dirty="0"/>
              <a:t>!$OMP PARALLEL</a:t>
            </a:r>
          </a:p>
          <a:p>
            <a:pPr marL="0" indent="0">
              <a:buNone/>
            </a:pPr>
            <a:r>
              <a:rPr lang="tr-TR" b="1" dirty="0"/>
              <a:t>!$OMP DO</a:t>
            </a:r>
          </a:p>
          <a:p>
            <a:pPr marL="0" indent="0">
              <a:buNone/>
            </a:pPr>
            <a:r>
              <a:rPr lang="tr-TR" b="1" dirty="0"/>
              <a:t>DO i=1,n</a:t>
            </a:r>
          </a:p>
          <a:p>
            <a:pPr marL="0" indent="0">
              <a:buNone/>
            </a:pPr>
            <a:r>
              <a:rPr lang="tr-TR" b="1" dirty="0"/>
              <a:t>b(i)=(a(i)-a(i-1))*0.5</a:t>
            </a:r>
          </a:p>
          <a:p>
            <a:pPr marL="0" indent="0">
              <a:buNone/>
            </a:pPr>
            <a:r>
              <a:rPr lang="tr-TR" b="1" dirty="0"/>
              <a:t>END DO</a:t>
            </a:r>
          </a:p>
          <a:p>
            <a:pPr marL="0" indent="0">
              <a:buNone/>
            </a:pPr>
            <a:r>
              <a:rPr lang="tr-TR" b="1" dirty="0"/>
              <a:t>!$OMP END DO</a:t>
            </a:r>
          </a:p>
          <a:p>
            <a:pPr marL="0" indent="0">
              <a:buNone/>
            </a:pPr>
            <a:r>
              <a:rPr lang="tr-TR" b="1" dirty="0"/>
              <a:t>!$OMP END PARALLEL</a:t>
            </a:r>
          </a:p>
          <a:p>
            <a:pPr marL="0" indent="0">
              <a:buNone/>
            </a:pPr>
            <a:r>
              <a:rPr lang="tr-TR" b="1" dirty="0" smtClean="0"/>
              <a:t>				#</a:t>
            </a:r>
            <a:r>
              <a:rPr lang="tr-TR" b="1" dirty="0"/>
              <a:t>pragma </a:t>
            </a:r>
            <a:r>
              <a:rPr lang="tr-TR" b="1" dirty="0" err="1"/>
              <a:t>omp</a:t>
            </a:r>
            <a:r>
              <a:rPr lang="tr-TR" b="1" dirty="0"/>
              <a:t> </a:t>
            </a:r>
            <a:r>
              <a:rPr lang="tr-TR" b="1" dirty="0" err="1"/>
              <a:t>parallel</a:t>
            </a:r>
            <a:endParaRPr lang="tr-TR" b="1" dirty="0"/>
          </a:p>
          <a:p>
            <a:pPr marL="0" indent="0">
              <a:buNone/>
            </a:pPr>
            <a:r>
              <a:rPr lang="tr-TR" b="1" dirty="0" smtClean="0"/>
              <a:t>				{</a:t>
            </a:r>
            <a:endParaRPr lang="tr-TR" b="1" dirty="0"/>
          </a:p>
          <a:p>
            <a:pPr marL="0" indent="0">
              <a:buNone/>
            </a:pPr>
            <a:r>
              <a:rPr lang="tr-TR" b="1" dirty="0" smtClean="0"/>
              <a:t>					#</a:t>
            </a:r>
            <a:r>
              <a:rPr lang="tr-TR" b="1" dirty="0"/>
              <a:t>pragma </a:t>
            </a:r>
            <a:r>
              <a:rPr lang="tr-TR" b="1" dirty="0" err="1"/>
              <a:t>omp</a:t>
            </a:r>
            <a:r>
              <a:rPr lang="tr-TR" b="1" dirty="0"/>
              <a:t> </a:t>
            </a:r>
            <a:r>
              <a:rPr lang="tr-TR" b="1" dirty="0" err="1"/>
              <a:t>for</a:t>
            </a:r>
            <a:endParaRPr lang="tr-TR" b="1" dirty="0"/>
          </a:p>
          <a:p>
            <a:pPr marL="0" indent="0">
              <a:buNone/>
            </a:pPr>
            <a:r>
              <a:rPr lang="tr-TR" b="1" dirty="0" smtClean="0"/>
              <a:t>					</a:t>
            </a:r>
            <a:r>
              <a:rPr lang="nn-NO" b="1" dirty="0" smtClean="0"/>
              <a:t>for </a:t>
            </a:r>
            <a:r>
              <a:rPr lang="nn-NO" b="1" dirty="0"/>
              <a:t>(int i=1, i&lt;=n, i++) {</a:t>
            </a:r>
          </a:p>
          <a:p>
            <a:pPr marL="0" indent="0">
              <a:buNone/>
            </a:pPr>
            <a:r>
              <a:rPr lang="tr-TR" b="1" dirty="0" smtClean="0"/>
              <a:t>						b(i</a:t>
            </a:r>
            <a:r>
              <a:rPr lang="tr-TR" b="1" dirty="0"/>
              <a:t>)=(a(i)-a(i-1))*0.5;</a:t>
            </a:r>
          </a:p>
          <a:p>
            <a:pPr marL="0" indent="0">
              <a:buNone/>
            </a:pPr>
            <a:r>
              <a:rPr lang="tr-TR" b="1" dirty="0" smtClean="0"/>
              <a:t>					}</a:t>
            </a:r>
            <a:endParaRPr lang="tr-TR" b="1" dirty="0"/>
          </a:p>
          <a:p>
            <a:pPr marL="0" indent="0">
              <a:buNone/>
            </a:pPr>
            <a:r>
              <a:rPr lang="tr-TR" b="1" dirty="0" smtClean="0"/>
              <a:t>				}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541107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Parallel</a:t>
            </a:r>
            <a:r>
              <a:rPr lang="tr-TR" b="1" dirty="0"/>
              <a:t> DO/</a:t>
            </a:r>
            <a:r>
              <a:rPr lang="tr-TR" b="1" dirty="0" err="1"/>
              <a:t>for</a:t>
            </a:r>
            <a:r>
              <a:rPr lang="tr-TR" b="1" dirty="0"/>
              <a:t> Directive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This </a:t>
            </a:r>
            <a:r>
              <a:rPr lang="en-US" dirty="0"/>
              <a:t>construct is common that there is shorthand </a:t>
            </a:r>
            <a:r>
              <a:rPr lang="en-US" dirty="0" smtClean="0"/>
              <a:t>form</a:t>
            </a:r>
            <a:r>
              <a:rPr lang="tr-TR" dirty="0" smtClean="0"/>
              <a:t> </a:t>
            </a:r>
            <a:r>
              <a:rPr lang="en-US" dirty="0" smtClean="0"/>
              <a:t>which </a:t>
            </a:r>
            <a:r>
              <a:rPr lang="en-US" dirty="0"/>
              <a:t>combines parallel region and DO/for loops</a:t>
            </a:r>
          </a:p>
          <a:p>
            <a:r>
              <a:rPr lang="tr-TR" dirty="0"/>
              <a:t>C/C</a:t>
            </a:r>
            <a:r>
              <a:rPr lang="tr-TR" dirty="0" smtClean="0"/>
              <a:t>++:</a:t>
            </a:r>
          </a:p>
          <a:p>
            <a:pPr marL="0" indent="0">
              <a:buNone/>
            </a:pPr>
            <a:r>
              <a:rPr lang="tr-TR" b="1" dirty="0"/>
              <a:t>	</a:t>
            </a:r>
            <a:r>
              <a:rPr lang="tr-TR" b="1" dirty="0" smtClean="0"/>
              <a:t>#</a:t>
            </a:r>
            <a:r>
              <a:rPr lang="tr-TR" b="1" dirty="0"/>
              <a:t>pragma </a:t>
            </a:r>
            <a:r>
              <a:rPr lang="tr-TR" b="1" dirty="0" err="1"/>
              <a:t>omg</a:t>
            </a:r>
            <a:r>
              <a:rPr lang="tr-TR" b="1" dirty="0"/>
              <a:t> </a:t>
            </a:r>
            <a:r>
              <a:rPr lang="tr-TR" b="1" dirty="0" err="1"/>
              <a:t>parallel</a:t>
            </a:r>
            <a:r>
              <a:rPr lang="tr-TR" b="1" dirty="0"/>
              <a:t> </a:t>
            </a:r>
            <a:r>
              <a:rPr lang="tr-TR" b="1" dirty="0" err="1"/>
              <a:t>for</a:t>
            </a:r>
            <a:r>
              <a:rPr lang="tr-TR" b="1" dirty="0"/>
              <a:t> </a:t>
            </a:r>
            <a:r>
              <a:rPr lang="tr-TR" b="1" i="1" dirty="0"/>
              <a:t>[</a:t>
            </a:r>
            <a:r>
              <a:rPr lang="tr-TR" b="1" i="1" dirty="0" err="1"/>
              <a:t>clauses</a:t>
            </a:r>
            <a:r>
              <a:rPr lang="tr-TR" b="1" i="1" dirty="0"/>
              <a:t>]</a:t>
            </a:r>
          </a:p>
          <a:p>
            <a:pPr marL="0" indent="0">
              <a:buNone/>
            </a:pPr>
            <a:r>
              <a:rPr lang="tr-TR" b="1" i="1" dirty="0" smtClean="0"/>
              <a:t>	</a:t>
            </a:r>
            <a:r>
              <a:rPr lang="tr-TR" b="1" i="1" dirty="0" err="1" smtClean="0"/>
              <a:t>for</a:t>
            </a:r>
            <a:r>
              <a:rPr lang="tr-TR" b="1" i="1" dirty="0" smtClean="0"/>
              <a:t> </a:t>
            </a:r>
            <a:r>
              <a:rPr lang="tr-TR" b="1" i="1" dirty="0" err="1"/>
              <a:t>loop</a:t>
            </a:r>
            <a:endParaRPr lang="tr-TR" dirty="0"/>
          </a:p>
          <a:p>
            <a:r>
              <a:rPr lang="pt-BR" dirty="0"/>
              <a:t>Fortran: </a:t>
            </a:r>
            <a:endParaRPr lang="tr-TR" dirty="0" smtClean="0"/>
          </a:p>
          <a:p>
            <a:pPr marL="0" indent="0">
              <a:buNone/>
            </a:pPr>
            <a:r>
              <a:rPr lang="pt-BR" b="1" dirty="0" smtClean="0"/>
              <a:t>!$</a:t>
            </a:r>
            <a:r>
              <a:rPr lang="pt-BR" b="1" dirty="0"/>
              <a:t>OMP PARALLEL DO </a:t>
            </a:r>
            <a:r>
              <a:rPr lang="pt-BR" b="1" i="1" dirty="0"/>
              <a:t>[clauses]</a:t>
            </a:r>
          </a:p>
          <a:p>
            <a:pPr marL="0" indent="0">
              <a:buNone/>
            </a:pPr>
            <a:r>
              <a:rPr lang="tr-TR" b="1" i="1" dirty="0"/>
              <a:t>do </a:t>
            </a:r>
            <a:r>
              <a:rPr lang="tr-TR" b="1" i="1" dirty="0" err="1"/>
              <a:t>loop</a:t>
            </a:r>
            <a:endParaRPr lang="tr-TR" b="1" i="1" dirty="0"/>
          </a:p>
          <a:p>
            <a:pPr marL="0" indent="0">
              <a:buNone/>
            </a:pPr>
            <a:r>
              <a:rPr lang="tr-TR" b="1" dirty="0"/>
              <a:t>!$OMP END PARALLEL DO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298899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Clauses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DO/for directive can take PRIVATE, FIRSTPRIVATE and</a:t>
            </a:r>
          </a:p>
          <a:p>
            <a:pPr marL="0" indent="0">
              <a:buNone/>
            </a:pPr>
            <a:r>
              <a:rPr lang="en-US" dirty="0"/>
              <a:t>REDUCTION clauses which refer to the scope of </a:t>
            </a:r>
            <a:r>
              <a:rPr lang="en-US" dirty="0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loop</a:t>
            </a:r>
            <a:endParaRPr lang="tr-TR" dirty="0"/>
          </a:p>
          <a:p>
            <a:r>
              <a:rPr lang="en-US" dirty="0" smtClean="0"/>
              <a:t>Note </a:t>
            </a:r>
            <a:r>
              <a:rPr lang="en-US" dirty="0"/>
              <a:t>that the parallel loop variable is PRIVATE by default</a:t>
            </a:r>
          </a:p>
          <a:p>
            <a:r>
              <a:rPr lang="en-US" dirty="0" smtClean="0"/>
              <a:t>loop </a:t>
            </a:r>
            <a:r>
              <a:rPr lang="en-US" dirty="0"/>
              <a:t>indices are private by default in Fortran, but not in C</a:t>
            </a:r>
          </a:p>
          <a:p>
            <a:r>
              <a:rPr lang="en-US" dirty="0" smtClean="0"/>
              <a:t>PARALLEL </a:t>
            </a:r>
            <a:r>
              <a:rPr lang="en-US" dirty="0"/>
              <a:t>DO/for directive can take all </a:t>
            </a:r>
            <a:r>
              <a:rPr lang="en-US" dirty="0" smtClean="0"/>
              <a:t>clauses</a:t>
            </a:r>
            <a:r>
              <a:rPr lang="tr-TR" dirty="0" smtClean="0"/>
              <a:t> </a:t>
            </a:r>
            <a:r>
              <a:rPr lang="tr-TR" dirty="0" err="1" smtClean="0"/>
              <a:t>available</a:t>
            </a:r>
            <a:r>
              <a:rPr lang="tr-TR" dirty="0" smtClean="0"/>
              <a:t> </a:t>
            </a:r>
            <a:r>
              <a:rPr lang="tr-TR" dirty="0" err="1"/>
              <a:t>for</a:t>
            </a:r>
            <a:r>
              <a:rPr lang="tr-TR" dirty="0"/>
              <a:t> PARALLEL </a:t>
            </a:r>
            <a:r>
              <a:rPr lang="tr-TR" dirty="0" err="1"/>
              <a:t>directive</a:t>
            </a:r>
            <a:endParaRPr lang="tr-TR" dirty="0"/>
          </a:p>
          <a:p>
            <a:r>
              <a:rPr lang="en-US" dirty="0" smtClean="0"/>
              <a:t>PARALLEL </a:t>
            </a:r>
            <a:r>
              <a:rPr lang="en-US" dirty="0"/>
              <a:t>DO/for is not the same as DO/for or the </a:t>
            </a:r>
            <a:r>
              <a:rPr lang="en-US" dirty="0" smtClean="0"/>
              <a:t>same</a:t>
            </a:r>
            <a:r>
              <a:rPr lang="tr-TR" dirty="0" smtClean="0"/>
              <a:t> as </a:t>
            </a:r>
            <a:r>
              <a:rPr lang="tr-TR" dirty="0"/>
              <a:t>PARALLEL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163716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Parallel</a:t>
            </a:r>
            <a:r>
              <a:rPr lang="tr-TR" b="1" dirty="0"/>
              <a:t> DO/</a:t>
            </a:r>
            <a:r>
              <a:rPr lang="tr-TR" b="1" dirty="0" err="1"/>
              <a:t>for</a:t>
            </a:r>
            <a:r>
              <a:rPr lang="tr-TR" b="1" dirty="0"/>
              <a:t> </a:t>
            </a:r>
            <a:r>
              <a:rPr lang="tr-TR" b="1" dirty="0" err="1"/>
              <a:t>Loops</a:t>
            </a:r>
            <a:r>
              <a:rPr lang="tr-TR" b="1" dirty="0"/>
              <a:t> (</a:t>
            </a:r>
            <a:r>
              <a:rPr lang="tr-TR" b="1" dirty="0" err="1"/>
              <a:t>cont</a:t>
            </a:r>
            <a:r>
              <a:rPr lang="tr-TR" b="1" dirty="0"/>
              <a:t>.)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With </a:t>
            </a:r>
            <a:r>
              <a:rPr lang="en-US" dirty="0"/>
              <a:t>no additional clauses, the DO/for directive </a:t>
            </a:r>
            <a:r>
              <a:rPr lang="en-US" dirty="0" smtClean="0"/>
              <a:t>will</a:t>
            </a:r>
            <a:r>
              <a:rPr lang="tr-TR" dirty="0" smtClean="0"/>
              <a:t> </a:t>
            </a:r>
            <a:r>
              <a:rPr lang="en-US" dirty="0" smtClean="0"/>
              <a:t>partition </a:t>
            </a:r>
            <a:r>
              <a:rPr lang="en-US" dirty="0"/>
              <a:t>the iterations as equally as possible </a:t>
            </a:r>
            <a:r>
              <a:rPr lang="en-US" dirty="0" smtClean="0"/>
              <a:t>between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/>
              <a:t>threads</a:t>
            </a:r>
            <a:endParaRPr lang="tr-TR" dirty="0"/>
          </a:p>
          <a:p>
            <a:r>
              <a:rPr lang="en-US" dirty="0" smtClean="0"/>
              <a:t>However </a:t>
            </a:r>
            <a:r>
              <a:rPr lang="en-US" dirty="0"/>
              <a:t>this is implementation dependent, and </a:t>
            </a:r>
            <a:r>
              <a:rPr lang="en-US" dirty="0" smtClean="0"/>
              <a:t>there</a:t>
            </a:r>
            <a:r>
              <a:rPr lang="tr-TR" dirty="0" smtClean="0"/>
              <a:t> is </a:t>
            </a:r>
            <a:r>
              <a:rPr lang="tr-TR" dirty="0" err="1"/>
              <a:t>still</a:t>
            </a:r>
            <a:r>
              <a:rPr lang="tr-TR" dirty="0"/>
              <a:t> </a:t>
            </a:r>
            <a:r>
              <a:rPr lang="tr-TR" dirty="0" err="1"/>
              <a:t>some</a:t>
            </a:r>
            <a:r>
              <a:rPr lang="tr-TR" dirty="0"/>
              <a:t> </a:t>
            </a:r>
            <a:r>
              <a:rPr lang="tr-TR" dirty="0" err="1" smtClean="0"/>
              <a:t>ambiguity</a:t>
            </a:r>
            <a:r>
              <a:rPr lang="tr-TR" dirty="0"/>
              <a:t> </a:t>
            </a:r>
            <a:endParaRPr lang="tr-TR" dirty="0" smtClean="0"/>
          </a:p>
          <a:p>
            <a:pPr marL="0" indent="0">
              <a:buNone/>
            </a:pPr>
            <a:r>
              <a:rPr lang="en-US" dirty="0" smtClean="0"/>
              <a:t>e.g</a:t>
            </a:r>
            <a:r>
              <a:rPr lang="en-US" dirty="0"/>
              <a:t>. 7 iterations, 3 threads. Could partition as 3+3+1 or 3+2+2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86661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1769</Words>
  <Application>Microsoft Office PowerPoint</Application>
  <PresentationFormat>Geniş ekran</PresentationFormat>
  <Paragraphs>260</Paragraphs>
  <Slides>33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Teması</vt:lpstr>
      <vt:lpstr>OpenMP Temelleri</vt:lpstr>
      <vt:lpstr>What is OpenMP</vt:lpstr>
      <vt:lpstr>Directives and Sentinels</vt:lpstr>
      <vt:lpstr>Parallel Region</vt:lpstr>
      <vt:lpstr>Parallel Region</vt:lpstr>
      <vt:lpstr>Shared and Private Data</vt:lpstr>
      <vt:lpstr>Parallel Loops</vt:lpstr>
      <vt:lpstr>Synchronisation</vt:lpstr>
      <vt:lpstr>Brief History of OpenMP</vt:lpstr>
      <vt:lpstr>History (cont.)</vt:lpstr>
      <vt:lpstr>Compiling and Running OpenMP Programs</vt:lpstr>
      <vt:lpstr>Exercise</vt:lpstr>
      <vt:lpstr>Parallel Regions</vt:lpstr>
      <vt:lpstr>Parallel Region Directive (cont.)</vt:lpstr>
      <vt:lpstr>Useful Functions</vt:lpstr>
      <vt:lpstr>Clauses</vt:lpstr>
      <vt:lpstr>Shared and Private Variables</vt:lpstr>
      <vt:lpstr>Shared and Private (cont.)</vt:lpstr>
      <vt:lpstr>Shared and Private (cont.)</vt:lpstr>
      <vt:lpstr>Multi-line Directives</vt:lpstr>
      <vt:lpstr>Initializing Private Variables</vt:lpstr>
      <vt:lpstr>Initializing Private Variables (cont.)</vt:lpstr>
      <vt:lpstr>Reductions</vt:lpstr>
      <vt:lpstr>Reductions (cont.)</vt:lpstr>
      <vt:lpstr>Exercise</vt:lpstr>
      <vt:lpstr>Worksharing</vt:lpstr>
      <vt:lpstr>Parallel DO/for Loops</vt:lpstr>
      <vt:lpstr>Parallel DO/for Loops (cont.)</vt:lpstr>
      <vt:lpstr>Restrictions in C/C++</vt:lpstr>
      <vt:lpstr>Parallel Loops (Example)</vt:lpstr>
      <vt:lpstr>Parallel DO/for Directive</vt:lpstr>
      <vt:lpstr>Clauses</vt:lpstr>
      <vt:lpstr>Parallel DO/for Loops (cont.)</vt:lpstr>
    </vt:vector>
  </TitlesOfParts>
  <Company>Silentall Unattended Installer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mevlut ersoy</dc:creator>
  <cp:lastModifiedBy>mevlut ersoy</cp:lastModifiedBy>
  <cp:revision>6</cp:revision>
  <dcterms:created xsi:type="dcterms:W3CDTF">2018-11-06T08:01:16Z</dcterms:created>
  <dcterms:modified xsi:type="dcterms:W3CDTF">2018-11-06T08:24:52Z</dcterms:modified>
</cp:coreProperties>
</file>