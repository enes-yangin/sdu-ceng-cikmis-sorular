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9" r:id="rId1"/>
  </p:sldMasterIdLst>
  <p:notesMasterIdLst>
    <p:notesMasterId r:id="rId35"/>
  </p:notesMasterIdLst>
  <p:handoutMasterIdLst>
    <p:handoutMasterId r:id="rId36"/>
  </p:handoutMasterIdLst>
  <p:sldIdLst>
    <p:sldId id="268" r:id="rId2"/>
    <p:sldId id="373" r:id="rId3"/>
    <p:sldId id="317" r:id="rId4"/>
    <p:sldId id="448" r:id="rId5"/>
    <p:sldId id="449" r:id="rId6"/>
    <p:sldId id="450" r:id="rId7"/>
    <p:sldId id="402" r:id="rId8"/>
    <p:sldId id="403" r:id="rId9"/>
    <p:sldId id="404" r:id="rId10"/>
    <p:sldId id="405" r:id="rId11"/>
    <p:sldId id="406" r:id="rId12"/>
    <p:sldId id="407" r:id="rId13"/>
    <p:sldId id="408" r:id="rId14"/>
    <p:sldId id="409" r:id="rId15"/>
    <p:sldId id="374" r:id="rId16"/>
    <p:sldId id="302" r:id="rId17"/>
    <p:sldId id="410" r:id="rId18"/>
    <p:sldId id="411" r:id="rId19"/>
    <p:sldId id="412" r:id="rId20"/>
    <p:sldId id="413" r:id="rId21"/>
    <p:sldId id="414" r:id="rId22"/>
    <p:sldId id="415" r:id="rId23"/>
    <p:sldId id="372" r:id="rId24"/>
    <p:sldId id="416" r:id="rId25"/>
    <p:sldId id="417" r:id="rId26"/>
    <p:sldId id="451" r:id="rId27"/>
    <p:sldId id="418" r:id="rId28"/>
    <p:sldId id="419" r:id="rId29"/>
    <p:sldId id="420" r:id="rId30"/>
    <p:sldId id="421" r:id="rId31"/>
    <p:sldId id="422" r:id="rId32"/>
    <p:sldId id="423" r:id="rId33"/>
    <p:sldId id="424" r:id="rId34"/>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Stil Yok, Tablo Kılavuz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94" autoAdjust="0"/>
    <p:restoredTop sz="90034" autoAdjust="0"/>
  </p:normalViewPr>
  <p:slideViewPr>
    <p:cSldViewPr>
      <p:cViewPr varScale="1">
        <p:scale>
          <a:sx n="66" d="100"/>
          <a:sy n="66" d="100"/>
        </p:scale>
        <p:origin x="1518"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p:scale>
          <a:sx n="75" d="100"/>
          <a:sy n="75" d="100"/>
        </p:scale>
        <p:origin x="-1224" y="-6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041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atin typeface="Tahoma" pitchFamily="34" charset="0"/>
              </a:defRPr>
            </a:lvl1pPr>
          </a:lstStyle>
          <a:p>
            <a:pPr>
              <a:defRPr/>
            </a:pPr>
            <a:endParaRPr lang="en-US"/>
          </a:p>
        </p:txBody>
      </p:sp>
      <p:sp>
        <p:nvSpPr>
          <p:cNvPr id="60419"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Tahoma" pitchFamily="34" charset="0"/>
              </a:defRPr>
            </a:lvl1pPr>
          </a:lstStyle>
          <a:p>
            <a:pPr>
              <a:defRPr/>
            </a:pPr>
            <a:endParaRPr lang="en-US"/>
          </a:p>
        </p:txBody>
      </p:sp>
      <p:sp>
        <p:nvSpPr>
          <p:cNvPr id="60420"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atin typeface="Tahoma" pitchFamily="34" charset="0"/>
              </a:defRPr>
            </a:lvl1pPr>
          </a:lstStyle>
          <a:p>
            <a:pPr>
              <a:defRPr/>
            </a:pPr>
            <a:endParaRPr lang="en-US"/>
          </a:p>
        </p:txBody>
      </p:sp>
      <p:sp>
        <p:nvSpPr>
          <p:cNvPr id="60421"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atin typeface="Tahoma" pitchFamily="34" charset="0"/>
              </a:defRPr>
            </a:lvl1pPr>
          </a:lstStyle>
          <a:p>
            <a:pPr>
              <a:defRPr/>
            </a:pPr>
            <a:fld id="{E00FC4A4-834B-4456-9328-E800C69ACCF9}" type="slidenum">
              <a:rPr lang="en-US"/>
              <a:pPr>
                <a:defRPr/>
              </a:pPr>
              <a:t>‹#›</a:t>
            </a:fld>
            <a:endParaRPr lang="en-US"/>
          </a:p>
        </p:txBody>
      </p:sp>
    </p:spTree>
    <p:extLst>
      <p:ext uri="{BB962C8B-B14F-4D97-AF65-F5344CB8AC3E}">
        <p14:creationId xmlns:p14="http://schemas.microsoft.com/office/powerpoint/2010/main" val="86097704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atin typeface="Times New Roman" charset="0"/>
              </a:defRPr>
            </a:lvl1pPr>
          </a:lstStyle>
          <a:p>
            <a:pPr>
              <a:defRPr/>
            </a:pPr>
            <a:endParaRPr lang="en-US"/>
          </a:p>
        </p:txBody>
      </p:sp>
      <p:sp>
        <p:nvSpPr>
          <p:cNvPr id="4099"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Times New Roman" charset="0"/>
              </a:defRPr>
            </a:lvl1pPr>
          </a:lstStyle>
          <a:p>
            <a:pPr>
              <a:defRPr/>
            </a:pPr>
            <a:endParaRPr lang="en-US"/>
          </a:p>
        </p:txBody>
      </p:sp>
      <p:sp>
        <p:nvSpPr>
          <p:cNvPr id="6144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01"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4102"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atin typeface="Times New Roman" charset="0"/>
              </a:defRPr>
            </a:lvl1pPr>
          </a:lstStyle>
          <a:p>
            <a:pPr>
              <a:defRPr/>
            </a:pPr>
            <a:endParaRPr lang="en-US"/>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atin typeface="Times New Roman" charset="0"/>
              </a:defRPr>
            </a:lvl1pPr>
          </a:lstStyle>
          <a:p>
            <a:pPr>
              <a:defRPr/>
            </a:pPr>
            <a:fld id="{CADDFD0D-D5AE-4F4D-94AE-64F67BBD87BD}" type="slidenum">
              <a:rPr lang="en-US"/>
              <a:pPr>
                <a:defRPr/>
              </a:pPr>
              <a:t>‹#›</a:t>
            </a:fld>
            <a:endParaRPr lang="en-US"/>
          </a:p>
        </p:txBody>
      </p:sp>
    </p:spTree>
    <p:extLst>
      <p:ext uri="{BB962C8B-B14F-4D97-AF65-F5344CB8AC3E}">
        <p14:creationId xmlns:p14="http://schemas.microsoft.com/office/powerpoint/2010/main" val="421309258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lvl1pPr>
              <a:defRPr sz="1200">
                <a:solidFill>
                  <a:schemeClr val="tx1"/>
                </a:solidFill>
                <a:latin typeface="Times New Roman" pitchFamily="18" charset="0"/>
              </a:defRPr>
            </a:lvl1pPr>
            <a:lvl2pPr marL="742950" indent="-285750">
              <a:defRPr sz="1200">
                <a:solidFill>
                  <a:schemeClr val="tx1"/>
                </a:solidFill>
                <a:latin typeface="Times New Roman" pitchFamily="18" charset="0"/>
              </a:defRPr>
            </a:lvl2pPr>
            <a:lvl3pPr marL="1143000" indent="-228600">
              <a:defRPr sz="1200">
                <a:solidFill>
                  <a:schemeClr val="tx1"/>
                </a:solidFill>
                <a:latin typeface="Times New Roman" pitchFamily="18" charset="0"/>
              </a:defRPr>
            </a:lvl3pPr>
            <a:lvl4pPr marL="1600200" indent="-228600">
              <a:defRPr sz="1200">
                <a:solidFill>
                  <a:schemeClr val="tx1"/>
                </a:solidFill>
                <a:latin typeface="Times New Roman" pitchFamily="18" charset="0"/>
              </a:defRPr>
            </a:lvl4pPr>
            <a:lvl5pPr marL="2057400" indent="-228600">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fld id="{9BF5D719-6C54-41C3-A511-26DFF43F782F}" type="slidenum">
              <a:rPr lang="en-US" altLang="tr-TR" smtClean="0"/>
              <a:pPr/>
              <a:t>1</a:t>
            </a:fld>
            <a:endParaRPr lang="en-US" altLang="tr-TR" smtClean="0"/>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p:spPr>
        <p:txBody>
          <a:bodyPr/>
          <a:lstStyle/>
          <a:p>
            <a:pPr eaLnBrk="1" hangingPunct="1"/>
            <a:endParaRPr lang="tr-TR" altLang="tr-TR" smtClean="0">
              <a:latin typeface="Times New Roman"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dirty="0" smtClean="0"/>
              <a:t>Manyetik bant, erken bilgisayar sistemlerinde rutin ikincil depolama için geliştirilmiştir ve seri olarak birbiri ardına depolanan kayıtları içerir. Bu kayıtların uzunluğu genellikle uygulama programı tarafından belirlenir ve her kayıt kasetteki konumu ile tanımlanabilir. Bu nedenle, tek bir kayda erişmek için, kasetin monte edilmesi ve istenen pozisyona gelinceye kadar başından hızlı ileri sarılması gerekir. Bu zaman alıcı bir süreç olabilir.</a:t>
            </a:r>
            <a:endParaRPr lang="tr-TR" dirty="0"/>
          </a:p>
        </p:txBody>
      </p:sp>
      <p:sp>
        <p:nvSpPr>
          <p:cNvPr id="4" name="Slayt Numarası Yer Tutucusu 3"/>
          <p:cNvSpPr>
            <a:spLocks noGrp="1"/>
          </p:cNvSpPr>
          <p:nvPr>
            <p:ph type="sldNum" sz="quarter" idx="10"/>
          </p:nvPr>
        </p:nvSpPr>
        <p:spPr/>
        <p:txBody>
          <a:bodyPr/>
          <a:lstStyle/>
          <a:p>
            <a:pPr>
              <a:defRPr/>
            </a:pPr>
            <a:fld id="{CADDFD0D-D5AE-4F4D-94AE-64F67BBD87BD}" type="slidenum">
              <a:rPr lang="en-US" smtClean="0"/>
              <a:pPr>
                <a:defRPr/>
              </a:pPr>
              <a:t>4</a:t>
            </a:fld>
            <a:endParaRPr lang="en-US"/>
          </a:p>
        </p:txBody>
      </p:sp>
    </p:spTree>
    <p:extLst>
      <p:ext uri="{BB962C8B-B14F-4D97-AF65-F5344CB8AC3E}">
        <p14:creationId xmlns:p14="http://schemas.microsoft.com/office/powerpoint/2010/main" val="12507486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dirty="0" smtClean="0"/>
              <a:t>Sabit kafalı bir manyetik disk, genellikle her iki tarafta da </a:t>
            </a:r>
            <a:r>
              <a:rPr lang="tr-TR" dirty="0" err="1" smtClean="0"/>
              <a:t>eşmerkezli</a:t>
            </a:r>
            <a:r>
              <a:rPr lang="tr-TR" dirty="0" smtClean="0"/>
              <a:t> daireler halinde biçimlendirilmiş manyetik film kaplı büyük bir CD veya DVD'ye benzer. Her daire bir parçadır. Veriler, üzerine yerleştirilmiş sabit okuma / yazma kafası ile her iz üzerine seri olarak kaydedilir.</a:t>
            </a:r>
            <a:endParaRPr lang="tr-TR" dirty="0"/>
          </a:p>
        </p:txBody>
      </p:sp>
      <p:sp>
        <p:nvSpPr>
          <p:cNvPr id="4" name="Slayt Numarası Yer Tutucusu 3"/>
          <p:cNvSpPr>
            <a:spLocks noGrp="1"/>
          </p:cNvSpPr>
          <p:nvPr>
            <p:ph type="sldNum" sz="quarter" idx="10"/>
          </p:nvPr>
        </p:nvSpPr>
        <p:spPr/>
        <p:txBody>
          <a:bodyPr/>
          <a:lstStyle/>
          <a:p>
            <a:pPr>
              <a:defRPr/>
            </a:pPr>
            <a:fld id="{CADDFD0D-D5AE-4F4D-94AE-64F67BBD87BD}" type="slidenum">
              <a:rPr lang="en-US" smtClean="0"/>
              <a:pPr>
                <a:defRPr/>
              </a:pPr>
              <a:t>5</a:t>
            </a:fld>
            <a:endParaRPr lang="en-US"/>
          </a:p>
        </p:txBody>
      </p:sp>
    </p:spTree>
    <p:extLst>
      <p:ext uri="{BB962C8B-B14F-4D97-AF65-F5344CB8AC3E}">
        <p14:creationId xmlns:p14="http://schemas.microsoft.com/office/powerpoint/2010/main" val="18626738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lvl1pPr>
              <a:defRPr sz="1200">
                <a:solidFill>
                  <a:schemeClr val="tx1"/>
                </a:solidFill>
                <a:latin typeface="Times New Roman" pitchFamily="18" charset="0"/>
              </a:defRPr>
            </a:lvl1pPr>
            <a:lvl2pPr marL="742950" indent="-285750">
              <a:defRPr sz="1200">
                <a:solidFill>
                  <a:schemeClr val="tx1"/>
                </a:solidFill>
                <a:latin typeface="Times New Roman" pitchFamily="18" charset="0"/>
              </a:defRPr>
            </a:lvl2pPr>
            <a:lvl3pPr marL="1143000" indent="-228600">
              <a:defRPr sz="1200">
                <a:solidFill>
                  <a:schemeClr val="tx1"/>
                </a:solidFill>
                <a:latin typeface="Times New Roman" pitchFamily="18" charset="0"/>
              </a:defRPr>
            </a:lvl3pPr>
            <a:lvl4pPr marL="1600200" indent="-228600">
              <a:defRPr sz="1200">
                <a:solidFill>
                  <a:schemeClr val="tx1"/>
                </a:solidFill>
                <a:latin typeface="Times New Roman" pitchFamily="18" charset="0"/>
              </a:defRPr>
            </a:lvl4pPr>
            <a:lvl5pPr marL="2057400" indent="-228600">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fld id="{39734168-9C7C-45A0-B55C-173E21B97C07}" type="slidenum">
              <a:rPr lang="en-US" altLang="tr-TR" smtClean="0"/>
              <a:pPr/>
              <a:t>16</a:t>
            </a:fld>
            <a:endParaRPr lang="en-US" altLang="tr-TR" smtClean="0"/>
          </a:p>
        </p:txBody>
      </p:sp>
      <p:sp>
        <p:nvSpPr>
          <p:cNvPr id="63491" name="Rectangle 2"/>
          <p:cNvSpPr>
            <a:spLocks noGrp="1" noRot="1" noChangeAspect="1" noChangeArrowheads="1" noTextEdit="1"/>
          </p:cNvSpPr>
          <p:nvPr>
            <p:ph type="sldImg"/>
          </p:nvPr>
        </p:nvSpPr>
        <p:spPr>
          <a:solidFill>
            <a:srgbClr val="FFFFFF"/>
          </a:solidFill>
          <a:ln/>
        </p:spPr>
      </p:sp>
      <p:sp>
        <p:nvSpPr>
          <p:cNvPr id="63492"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altLang="en-US" smtClean="0">
              <a:latin typeface="Times New Roman"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p:cNvSpPr>
            <a:spLocks noGrp="1"/>
          </p:cNvSpPr>
          <p:nvPr>
            <p:ph type="ctrTitle"/>
          </p:nvPr>
        </p:nvSpPr>
        <p:spPr>
          <a:xfrm>
            <a:off x="685800" y="2130425"/>
            <a:ext cx="7772400" cy="1470025"/>
          </a:xfrm>
        </p:spPr>
        <p:txBody>
          <a:bodyPr/>
          <a:lstStyle/>
          <a:p>
            <a:r>
              <a:rPr lang="tr-TR" smtClean="0"/>
              <a:t>Asıl başlık stili için tıklatın</a:t>
            </a:r>
            <a:endParaRPr lang="tr-TR"/>
          </a:p>
        </p:txBody>
      </p:sp>
      <p:sp>
        <p:nvSpPr>
          <p:cNvPr id="3" name="Alt Başlık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smtClean="0"/>
              <a:t>Asıl alt başlık stilini düzenlemek için tıklatın</a:t>
            </a:r>
            <a:endParaRPr lang="tr-TR"/>
          </a:p>
        </p:txBody>
      </p:sp>
      <p:sp>
        <p:nvSpPr>
          <p:cNvPr id="4" name="Veri Yer Tutucusu 3"/>
          <p:cNvSpPr>
            <a:spLocks noGrp="1"/>
          </p:cNvSpPr>
          <p:nvPr>
            <p:ph type="dt" sz="half" idx="10"/>
          </p:nvPr>
        </p:nvSpPr>
        <p:spPr/>
        <p:txBody>
          <a:bodyPr/>
          <a:lstStyle>
            <a:lvl1pPr>
              <a:defRPr/>
            </a:lvl1pPr>
          </a:lstStyle>
          <a:p>
            <a:pPr>
              <a:defRPr/>
            </a:pPr>
            <a:endParaRPr lang="en-US"/>
          </a:p>
        </p:txBody>
      </p:sp>
      <p:sp>
        <p:nvSpPr>
          <p:cNvPr id="5" name="Altbilgi Yer Tutucusu 4"/>
          <p:cNvSpPr>
            <a:spLocks noGrp="1"/>
          </p:cNvSpPr>
          <p:nvPr>
            <p:ph type="ftr" sz="quarter" idx="11"/>
          </p:nvPr>
        </p:nvSpPr>
        <p:spPr/>
        <p:txBody>
          <a:bodyPr/>
          <a:lstStyle>
            <a:lvl1pPr>
              <a:defRPr/>
            </a:lvl1pPr>
          </a:lstStyle>
          <a:p>
            <a:pPr>
              <a:defRPr/>
            </a:pPr>
            <a:r>
              <a:rPr lang="en-US"/>
              <a:t>Chapter 16 File Management</a:t>
            </a:r>
          </a:p>
        </p:txBody>
      </p:sp>
      <p:sp>
        <p:nvSpPr>
          <p:cNvPr id="6" name="Slayt Numarası Yer Tutucusu 5"/>
          <p:cNvSpPr>
            <a:spLocks noGrp="1"/>
          </p:cNvSpPr>
          <p:nvPr>
            <p:ph type="sldNum" sz="quarter" idx="12"/>
          </p:nvPr>
        </p:nvSpPr>
        <p:spPr/>
        <p:txBody>
          <a:bodyPr/>
          <a:lstStyle>
            <a:lvl1pPr>
              <a:defRPr/>
            </a:lvl1pPr>
          </a:lstStyle>
          <a:p>
            <a:pPr>
              <a:defRPr/>
            </a:pPr>
            <a:fld id="{68363BB9-85D1-4F51-8DF4-DE5659F1ED2B}" type="slidenum">
              <a:rPr lang="en-US"/>
              <a:pPr>
                <a:defRPr/>
              </a:pPr>
              <a:t>‹#›</a:t>
            </a:fld>
            <a:endParaRPr lang="en-US"/>
          </a:p>
        </p:txBody>
      </p:sp>
    </p:spTree>
    <p:extLst>
      <p:ext uri="{BB962C8B-B14F-4D97-AF65-F5344CB8AC3E}">
        <p14:creationId xmlns:p14="http://schemas.microsoft.com/office/powerpoint/2010/main" val="29625801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İçerik Yer Tutucusu 2"/>
          <p:cNvSpPr>
            <a:spLocks noGrp="1"/>
          </p:cNvSpPr>
          <p:nvPr>
            <p:ph idx="1"/>
          </p:nvPr>
        </p:nvSpPr>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lvl1pPr>
              <a:defRPr/>
            </a:lvl1pPr>
          </a:lstStyle>
          <a:p>
            <a:pPr>
              <a:defRPr/>
            </a:pPr>
            <a:endParaRPr lang="en-US"/>
          </a:p>
        </p:txBody>
      </p:sp>
      <p:sp>
        <p:nvSpPr>
          <p:cNvPr id="5" name="Altbilgi Yer Tutucusu 4"/>
          <p:cNvSpPr>
            <a:spLocks noGrp="1"/>
          </p:cNvSpPr>
          <p:nvPr>
            <p:ph type="ftr" sz="quarter" idx="11"/>
          </p:nvPr>
        </p:nvSpPr>
        <p:spPr/>
        <p:txBody>
          <a:bodyPr/>
          <a:lstStyle>
            <a:lvl1pPr>
              <a:defRPr/>
            </a:lvl1pPr>
          </a:lstStyle>
          <a:p>
            <a:pPr>
              <a:defRPr/>
            </a:pPr>
            <a:r>
              <a:rPr lang="en-US"/>
              <a:t>Chapter 16 File Management</a:t>
            </a:r>
          </a:p>
        </p:txBody>
      </p:sp>
      <p:sp>
        <p:nvSpPr>
          <p:cNvPr id="6" name="Slayt Numarası Yer Tutucusu 5"/>
          <p:cNvSpPr>
            <a:spLocks noGrp="1"/>
          </p:cNvSpPr>
          <p:nvPr>
            <p:ph type="sldNum" sz="quarter" idx="12"/>
          </p:nvPr>
        </p:nvSpPr>
        <p:spPr/>
        <p:txBody>
          <a:bodyPr/>
          <a:lstStyle>
            <a:lvl1pPr>
              <a:defRPr/>
            </a:lvl1pPr>
          </a:lstStyle>
          <a:p>
            <a:pPr>
              <a:defRPr/>
            </a:pPr>
            <a:r>
              <a:rPr lang="en-US"/>
              <a:t>16-</a:t>
            </a:r>
            <a:fld id="{B072555C-D60E-4923-8DA8-6475CC9BD205}" type="slidenum">
              <a:rPr lang="en-US"/>
              <a:pPr>
                <a:defRPr/>
              </a:pPr>
              <a:t>‹#›</a:t>
            </a:fld>
            <a:endParaRPr lang="en-US"/>
          </a:p>
        </p:txBody>
      </p:sp>
    </p:spTree>
    <p:extLst>
      <p:ext uri="{BB962C8B-B14F-4D97-AF65-F5344CB8AC3E}">
        <p14:creationId xmlns:p14="http://schemas.microsoft.com/office/powerpoint/2010/main" val="27532607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Başlık 1"/>
          <p:cNvSpPr>
            <a:spLocks noGrp="1"/>
          </p:cNvSpPr>
          <p:nvPr>
            <p:ph type="title"/>
          </p:nvPr>
        </p:nvSpPr>
        <p:spPr>
          <a:xfrm>
            <a:off x="722313" y="4406900"/>
            <a:ext cx="7772400" cy="1362075"/>
          </a:xfrm>
        </p:spPr>
        <p:txBody>
          <a:bodyPr anchor="t"/>
          <a:lstStyle>
            <a:lvl1pPr algn="l">
              <a:defRPr sz="4000" b="1" cap="all"/>
            </a:lvl1pPr>
          </a:lstStyle>
          <a:p>
            <a:r>
              <a:rPr lang="tr-TR" smtClean="0"/>
              <a:t>Asıl başlık stili için tıklatın</a:t>
            </a:r>
            <a:endParaRPr lang="tr-TR"/>
          </a:p>
        </p:txBody>
      </p:sp>
      <p:sp>
        <p:nvSpPr>
          <p:cNvPr id="3" name="Metin Yer Tutucusu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düzenlemek için tıklatın</a:t>
            </a:r>
          </a:p>
        </p:txBody>
      </p:sp>
      <p:sp>
        <p:nvSpPr>
          <p:cNvPr id="4" name="Veri Yer Tutucusu 3"/>
          <p:cNvSpPr>
            <a:spLocks noGrp="1"/>
          </p:cNvSpPr>
          <p:nvPr>
            <p:ph type="dt" sz="half" idx="10"/>
          </p:nvPr>
        </p:nvSpPr>
        <p:spPr/>
        <p:txBody>
          <a:bodyPr/>
          <a:lstStyle>
            <a:lvl1pPr>
              <a:defRPr/>
            </a:lvl1pPr>
          </a:lstStyle>
          <a:p>
            <a:pPr>
              <a:defRPr/>
            </a:pPr>
            <a:endParaRPr lang="en-US"/>
          </a:p>
        </p:txBody>
      </p:sp>
      <p:sp>
        <p:nvSpPr>
          <p:cNvPr id="5" name="Altbilgi Yer Tutucusu 4"/>
          <p:cNvSpPr>
            <a:spLocks noGrp="1"/>
          </p:cNvSpPr>
          <p:nvPr>
            <p:ph type="ftr" sz="quarter" idx="11"/>
          </p:nvPr>
        </p:nvSpPr>
        <p:spPr/>
        <p:txBody>
          <a:bodyPr/>
          <a:lstStyle>
            <a:lvl1pPr>
              <a:defRPr/>
            </a:lvl1pPr>
          </a:lstStyle>
          <a:p>
            <a:pPr>
              <a:defRPr/>
            </a:pPr>
            <a:r>
              <a:rPr lang="en-US"/>
              <a:t>Chapter 16 File Management</a:t>
            </a:r>
          </a:p>
        </p:txBody>
      </p:sp>
      <p:sp>
        <p:nvSpPr>
          <p:cNvPr id="6" name="Slayt Numarası Yer Tutucusu 5"/>
          <p:cNvSpPr>
            <a:spLocks noGrp="1"/>
          </p:cNvSpPr>
          <p:nvPr>
            <p:ph type="sldNum" sz="quarter" idx="12"/>
          </p:nvPr>
        </p:nvSpPr>
        <p:spPr/>
        <p:txBody>
          <a:bodyPr/>
          <a:lstStyle>
            <a:lvl1pPr>
              <a:defRPr/>
            </a:lvl1pPr>
          </a:lstStyle>
          <a:p>
            <a:pPr>
              <a:defRPr/>
            </a:pPr>
            <a:r>
              <a:rPr lang="en-US"/>
              <a:t>16-</a:t>
            </a:r>
            <a:fld id="{4D60F7B2-28E7-4168-B37D-3BF8DB25AD72}" type="slidenum">
              <a:rPr lang="en-US"/>
              <a:pPr>
                <a:defRPr/>
              </a:pPr>
              <a:t>‹#›</a:t>
            </a:fld>
            <a:endParaRPr lang="en-US"/>
          </a:p>
        </p:txBody>
      </p:sp>
    </p:spTree>
    <p:extLst>
      <p:ext uri="{BB962C8B-B14F-4D97-AF65-F5344CB8AC3E}">
        <p14:creationId xmlns:p14="http://schemas.microsoft.com/office/powerpoint/2010/main" val="526264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İçerik Yer Tutucus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İçerik Yer Tutucus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Veri Yer Tutucusu 3"/>
          <p:cNvSpPr>
            <a:spLocks noGrp="1"/>
          </p:cNvSpPr>
          <p:nvPr>
            <p:ph type="dt" sz="half" idx="10"/>
          </p:nvPr>
        </p:nvSpPr>
        <p:spPr/>
        <p:txBody>
          <a:bodyPr/>
          <a:lstStyle>
            <a:lvl1pPr>
              <a:defRPr/>
            </a:lvl1pPr>
          </a:lstStyle>
          <a:p>
            <a:pPr>
              <a:defRPr/>
            </a:pPr>
            <a:endParaRPr lang="en-US"/>
          </a:p>
        </p:txBody>
      </p:sp>
      <p:sp>
        <p:nvSpPr>
          <p:cNvPr id="6" name="Altbilgi Yer Tutucusu 4"/>
          <p:cNvSpPr>
            <a:spLocks noGrp="1"/>
          </p:cNvSpPr>
          <p:nvPr>
            <p:ph type="ftr" sz="quarter" idx="11"/>
          </p:nvPr>
        </p:nvSpPr>
        <p:spPr/>
        <p:txBody>
          <a:bodyPr/>
          <a:lstStyle>
            <a:lvl1pPr>
              <a:defRPr/>
            </a:lvl1pPr>
          </a:lstStyle>
          <a:p>
            <a:pPr>
              <a:defRPr/>
            </a:pPr>
            <a:r>
              <a:rPr lang="en-US"/>
              <a:t>Chapter 16 File Management</a:t>
            </a:r>
          </a:p>
        </p:txBody>
      </p:sp>
      <p:sp>
        <p:nvSpPr>
          <p:cNvPr id="7" name="Slayt Numarası Yer Tutucusu 5"/>
          <p:cNvSpPr>
            <a:spLocks noGrp="1"/>
          </p:cNvSpPr>
          <p:nvPr>
            <p:ph type="sldNum" sz="quarter" idx="12"/>
          </p:nvPr>
        </p:nvSpPr>
        <p:spPr/>
        <p:txBody>
          <a:bodyPr/>
          <a:lstStyle>
            <a:lvl1pPr>
              <a:defRPr/>
            </a:lvl1pPr>
          </a:lstStyle>
          <a:p>
            <a:pPr>
              <a:defRPr/>
            </a:pPr>
            <a:r>
              <a:rPr lang="en-US"/>
              <a:t>16-</a:t>
            </a:r>
            <a:fld id="{A973BACA-CEF4-4EC1-8546-201500035044}" type="slidenum">
              <a:rPr lang="en-US"/>
              <a:pPr>
                <a:defRPr/>
              </a:pPr>
              <a:t>‹#›</a:t>
            </a:fld>
            <a:endParaRPr lang="en-US"/>
          </a:p>
        </p:txBody>
      </p:sp>
    </p:spTree>
    <p:extLst>
      <p:ext uri="{BB962C8B-B14F-4D97-AF65-F5344CB8AC3E}">
        <p14:creationId xmlns:p14="http://schemas.microsoft.com/office/powerpoint/2010/main" val="35097654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lvl1pPr>
              <a:defRPr/>
            </a:lvl1pPr>
          </a:lstStyle>
          <a:p>
            <a:r>
              <a:rPr lang="tr-TR" smtClean="0"/>
              <a:t>Asıl başlık stili için tıklatın</a:t>
            </a:r>
            <a:endParaRPr lang="tr-TR"/>
          </a:p>
        </p:txBody>
      </p:sp>
      <p:sp>
        <p:nvSpPr>
          <p:cNvPr id="3" name="Metin Yer Tutucusu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İçerik Yer Tutucus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Metin Yer Tutucusu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6" name="İçerik Yer Tutucus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7" name="Veri Yer Tutucusu 3"/>
          <p:cNvSpPr>
            <a:spLocks noGrp="1"/>
          </p:cNvSpPr>
          <p:nvPr>
            <p:ph type="dt" sz="half" idx="10"/>
          </p:nvPr>
        </p:nvSpPr>
        <p:spPr/>
        <p:txBody>
          <a:bodyPr/>
          <a:lstStyle>
            <a:lvl1pPr>
              <a:defRPr/>
            </a:lvl1pPr>
          </a:lstStyle>
          <a:p>
            <a:pPr>
              <a:defRPr/>
            </a:pPr>
            <a:endParaRPr lang="en-US"/>
          </a:p>
        </p:txBody>
      </p:sp>
      <p:sp>
        <p:nvSpPr>
          <p:cNvPr id="8" name="Altbilgi Yer Tutucusu 4"/>
          <p:cNvSpPr>
            <a:spLocks noGrp="1"/>
          </p:cNvSpPr>
          <p:nvPr>
            <p:ph type="ftr" sz="quarter" idx="11"/>
          </p:nvPr>
        </p:nvSpPr>
        <p:spPr/>
        <p:txBody>
          <a:bodyPr/>
          <a:lstStyle>
            <a:lvl1pPr>
              <a:defRPr/>
            </a:lvl1pPr>
          </a:lstStyle>
          <a:p>
            <a:pPr>
              <a:defRPr/>
            </a:pPr>
            <a:r>
              <a:rPr lang="en-US"/>
              <a:t>Chapter 16 File Management</a:t>
            </a:r>
          </a:p>
        </p:txBody>
      </p:sp>
      <p:sp>
        <p:nvSpPr>
          <p:cNvPr id="9" name="Slayt Numarası Yer Tutucusu 5"/>
          <p:cNvSpPr>
            <a:spLocks noGrp="1"/>
          </p:cNvSpPr>
          <p:nvPr>
            <p:ph type="sldNum" sz="quarter" idx="12"/>
          </p:nvPr>
        </p:nvSpPr>
        <p:spPr/>
        <p:txBody>
          <a:bodyPr/>
          <a:lstStyle>
            <a:lvl1pPr>
              <a:defRPr/>
            </a:lvl1pPr>
          </a:lstStyle>
          <a:p>
            <a:pPr>
              <a:defRPr/>
            </a:pPr>
            <a:r>
              <a:rPr lang="en-US"/>
              <a:t>16-</a:t>
            </a:r>
            <a:fld id="{57661833-DBC2-428D-82E8-47C5212BF3A2}" type="slidenum">
              <a:rPr lang="en-US"/>
              <a:pPr>
                <a:defRPr/>
              </a:pPr>
              <a:t>‹#›</a:t>
            </a:fld>
            <a:endParaRPr lang="en-US"/>
          </a:p>
        </p:txBody>
      </p:sp>
    </p:spTree>
    <p:extLst>
      <p:ext uri="{BB962C8B-B14F-4D97-AF65-F5344CB8AC3E}">
        <p14:creationId xmlns:p14="http://schemas.microsoft.com/office/powerpoint/2010/main" val="27665727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Veri Yer Tutucusu 3"/>
          <p:cNvSpPr>
            <a:spLocks noGrp="1"/>
          </p:cNvSpPr>
          <p:nvPr>
            <p:ph type="dt" sz="half" idx="10"/>
          </p:nvPr>
        </p:nvSpPr>
        <p:spPr/>
        <p:txBody>
          <a:bodyPr/>
          <a:lstStyle>
            <a:lvl1pPr>
              <a:defRPr/>
            </a:lvl1pPr>
          </a:lstStyle>
          <a:p>
            <a:pPr>
              <a:defRPr/>
            </a:pPr>
            <a:endParaRPr lang="en-US"/>
          </a:p>
        </p:txBody>
      </p:sp>
      <p:sp>
        <p:nvSpPr>
          <p:cNvPr id="4" name="Altbilgi Yer Tutucusu 4"/>
          <p:cNvSpPr>
            <a:spLocks noGrp="1"/>
          </p:cNvSpPr>
          <p:nvPr>
            <p:ph type="ftr" sz="quarter" idx="11"/>
          </p:nvPr>
        </p:nvSpPr>
        <p:spPr/>
        <p:txBody>
          <a:bodyPr/>
          <a:lstStyle>
            <a:lvl1pPr>
              <a:defRPr/>
            </a:lvl1pPr>
          </a:lstStyle>
          <a:p>
            <a:pPr>
              <a:defRPr/>
            </a:pPr>
            <a:r>
              <a:rPr lang="en-US"/>
              <a:t>Chapter 16 File Management</a:t>
            </a:r>
          </a:p>
        </p:txBody>
      </p:sp>
      <p:sp>
        <p:nvSpPr>
          <p:cNvPr id="5" name="Slayt Numarası Yer Tutucusu 5"/>
          <p:cNvSpPr>
            <a:spLocks noGrp="1"/>
          </p:cNvSpPr>
          <p:nvPr>
            <p:ph type="sldNum" sz="quarter" idx="12"/>
          </p:nvPr>
        </p:nvSpPr>
        <p:spPr/>
        <p:txBody>
          <a:bodyPr/>
          <a:lstStyle>
            <a:lvl1pPr>
              <a:defRPr/>
            </a:lvl1pPr>
          </a:lstStyle>
          <a:p>
            <a:pPr>
              <a:defRPr/>
            </a:pPr>
            <a:r>
              <a:rPr lang="en-US"/>
              <a:t>16-</a:t>
            </a:r>
            <a:fld id="{D231C869-39B0-4DA1-8BF9-E1385A65A258}" type="slidenum">
              <a:rPr lang="en-US"/>
              <a:pPr>
                <a:defRPr/>
              </a:pPr>
              <a:t>‹#›</a:t>
            </a:fld>
            <a:endParaRPr lang="en-US"/>
          </a:p>
        </p:txBody>
      </p:sp>
    </p:spTree>
    <p:extLst>
      <p:ext uri="{BB962C8B-B14F-4D97-AF65-F5344CB8AC3E}">
        <p14:creationId xmlns:p14="http://schemas.microsoft.com/office/powerpoint/2010/main" val="36011391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3"/>
          <p:cNvSpPr>
            <a:spLocks noGrp="1"/>
          </p:cNvSpPr>
          <p:nvPr>
            <p:ph type="dt" sz="half" idx="10"/>
          </p:nvPr>
        </p:nvSpPr>
        <p:spPr/>
        <p:txBody>
          <a:bodyPr/>
          <a:lstStyle>
            <a:lvl1pPr>
              <a:defRPr/>
            </a:lvl1pPr>
          </a:lstStyle>
          <a:p>
            <a:pPr>
              <a:defRPr/>
            </a:pPr>
            <a:endParaRPr lang="en-US"/>
          </a:p>
        </p:txBody>
      </p:sp>
      <p:sp>
        <p:nvSpPr>
          <p:cNvPr id="3" name="Altbilgi Yer Tutucusu 4"/>
          <p:cNvSpPr>
            <a:spLocks noGrp="1"/>
          </p:cNvSpPr>
          <p:nvPr>
            <p:ph type="ftr" sz="quarter" idx="11"/>
          </p:nvPr>
        </p:nvSpPr>
        <p:spPr/>
        <p:txBody>
          <a:bodyPr/>
          <a:lstStyle>
            <a:lvl1pPr>
              <a:defRPr/>
            </a:lvl1pPr>
          </a:lstStyle>
          <a:p>
            <a:pPr>
              <a:defRPr/>
            </a:pPr>
            <a:r>
              <a:rPr lang="en-US"/>
              <a:t>Chapter 16 File Management</a:t>
            </a:r>
          </a:p>
        </p:txBody>
      </p:sp>
      <p:sp>
        <p:nvSpPr>
          <p:cNvPr id="4" name="Slayt Numarası Yer Tutucusu 5"/>
          <p:cNvSpPr>
            <a:spLocks noGrp="1"/>
          </p:cNvSpPr>
          <p:nvPr>
            <p:ph type="sldNum" sz="quarter" idx="12"/>
          </p:nvPr>
        </p:nvSpPr>
        <p:spPr/>
        <p:txBody>
          <a:bodyPr/>
          <a:lstStyle>
            <a:lvl1pPr>
              <a:defRPr/>
            </a:lvl1pPr>
          </a:lstStyle>
          <a:p>
            <a:pPr>
              <a:defRPr/>
            </a:pPr>
            <a:r>
              <a:rPr lang="en-US"/>
              <a:t>16-</a:t>
            </a:r>
            <a:fld id="{00EF9413-F75A-4955-A776-3F28F107E8E9}" type="slidenum">
              <a:rPr lang="en-US"/>
              <a:pPr>
                <a:defRPr/>
              </a:pPr>
              <a:t>‹#›</a:t>
            </a:fld>
            <a:endParaRPr lang="en-US"/>
          </a:p>
        </p:txBody>
      </p:sp>
    </p:spTree>
    <p:extLst>
      <p:ext uri="{BB962C8B-B14F-4D97-AF65-F5344CB8AC3E}">
        <p14:creationId xmlns:p14="http://schemas.microsoft.com/office/powerpoint/2010/main" val="17777107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p:cNvSpPr>
            <a:spLocks noGrp="1"/>
          </p:cNvSpPr>
          <p:nvPr>
            <p:ph type="title"/>
          </p:nvPr>
        </p:nvSpPr>
        <p:spPr>
          <a:xfrm>
            <a:off x="457200" y="273050"/>
            <a:ext cx="3008313" cy="1162050"/>
          </a:xfrm>
        </p:spPr>
        <p:txBody>
          <a:bodyPr anchor="b"/>
          <a:lstStyle>
            <a:lvl1pPr algn="l">
              <a:defRPr sz="2000" b="1"/>
            </a:lvl1pPr>
          </a:lstStyle>
          <a:p>
            <a:r>
              <a:rPr lang="tr-TR" smtClean="0"/>
              <a:t>Asıl başlık stili için tıklatın</a:t>
            </a:r>
            <a:endParaRPr lang="tr-TR"/>
          </a:p>
        </p:txBody>
      </p:sp>
      <p:sp>
        <p:nvSpPr>
          <p:cNvPr id="3" name="İçerik Yer Tutucus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Metin Yer Tutucusu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Veri Yer Tutucusu 3"/>
          <p:cNvSpPr>
            <a:spLocks noGrp="1"/>
          </p:cNvSpPr>
          <p:nvPr>
            <p:ph type="dt" sz="half" idx="10"/>
          </p:nvPr>
        </p:nvSpPr>
        <p:spPr/>
        <p:txBody>
          <a:bodyPr/>
          <a:lstStyle>
            <a:lvl1pPr>
              <a:defRPr/>
            </a:lvl1pPr>
          </a:lstStyle>
          <a:p>
            <a:pPr>
              <a:defRPr/>
            </a:pPr>
            <a:endParaRPr lang="en-US"/>
          </a:p>
        </p:txBody>
      </p:sp>
      <p:sp>
        <p:nvSpPr>
          <p:cNvPr id="6" name="Altbilgi Yer Tutucusu 4"/>
          <p:cNvSpPr>
            <a:spLocks noGrp="1"/>
          </p:cNvSpPr>
          <p:nvPr>
            <p:ph type="ftr" sz="quarter" idx="11"/>
          </p:nvPr>
        </p:nvSpPr>
        <p:spPr/>
        <p:txBody>
          <a:bodyPr/>
          <a:lstStyle>
            <a:lvl1pPr>
              <a:defRPr/>
            </a:lvl1pPr>
          </a:lstStyle>
          <a:p>
            <a:pPr>
              <a:defRPr/>
            </a:pPr>
            <a:r>
              <a:rPr lang="en-US"/>
              <a:t>Chapter 16 File Management</a:t>
            </a:r>
          </a:p>
        </p:txBody>
      </p:sp>
      <p:sp>
        <p:nvSpPr>
          <p:cNvPr id="7" name="Slayt Numarası Yer Tutucusu 5"/>
          <p:cNvSpPr>
            <a:spLocks noGrp="1"/>
          </p:cNvSpPr>
          <p:nvPr>
            <p:ph type="sldNum" sz="quarter" idx="12"/>
          </p:nvPr>
        </p:nvSpPr>
        <p:spPr/>
        <p:txBody>
          <a:bodyPr/>
          <a:lstStyle>
            <a:lvl1pPr>
              <a:defRPr/>
            </a:lvl1pPr>
          </a:lstStyle>
          <a:p>
            <a:pPr>
              <a:defRPr/>
            </a:pPr>
            <a:r>
              <a:rPr lang="en-US"/>
              <a:t>16-</a:t>
            </a:r>
            <a:fld id="{37EFA1BE-468C-4413-A964-2F29831F5F67}" type="slidenum">
              <a:rPr lang="en-US"/>
              <a:pPr>
                <a:defRPr/>
              </a:pPr>
              <a:t>‹#›</a:t>
            </a:fld>
            <a:endParaRPr lang="en-US"/>
          </a:p>
        </p:txBody>
      </p:sp>
    </p:spTree>
    <p:extLst>
      <p:ext uri="{BB962C8B-B14F-4D97-AF65-F5344CB8AC3E}">
        <p14:creationId xmlns:p14="http://schemas.microsoft.com/office/powerpoint/2010/main" val="4140341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p:cNvSpPr>
            <a:spLocks noGrp="1"/>
          </p:cNvSpPr>
          <p:nvPr>
            <p:ph type="title"/>
          </p:nvPr>
        </p:nvSpPr>
        <p:spPr>
          <a:xfrm>
            <a:off x="1792288" y="4800600"/>
            <a:ext cx="5486400" cy="566738"/>
          </a:xfrm>
        </p:spPr>
        <p:txBody>
          <a:bodyPr anchor="b"/>
          <a:lstStyle>
            <a:lvl1pPr algn="l">
              <a:defRPr sz="2000" b="1"/>
            </a:lvl1pPr>
          </a:lstStyle>
          <a:p>
            <a:r>
              <a:rPr lang="tr-TR" smtClean="0"/>
              <a:t>Asıl başlık stili için tıklatın</a:t>
            </a:r>
            <a:endParaRPr lang="tr-TR"/>
          </a:p>
        </p:txBody>
      </p:sp>
      <p:sp>
        <p:nvSpPr>
          <p:cNvPr id="3" name="Resim Yer Tutucusu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tr-TR" noProof="0" smtClean="0"/>
          </a:p>
        </p:txBody>
      </p:sp>
      <p:sp>
        <p:nvSpPr>
          <p:cNvPr id="4" name="Metin Yer Tutucusu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Veri Yer Tutucusu 3"/>
          <p:cNvSpPr>
            <a:spLocks noGrp="1"/>
          </p:cNvSpPr>
          <p:nvPr>
            <p:ph type="dt" sz="half" idx="10"/>
          </p:nvPr>
        </p:nvSpPr>
        <p:spPr/>
        <p:txBody>
          <a:bodyPr/>
          <a:lstStyle>
            <a:lvl1pPr>
              <a:defRPr/>
            </a:lvl1pPr>
          </a:lstStyle>
          <a:p>
            <a:pPr>
              <a:defRPr/>
            </a:pPr>
            <a:endParaRPr lang="en-US"/>
          </a:p>
        </p:txBody>
      </p:sp>
      <p:sp>
        <p:nvSpPr>
          <p:cNvPr id="6" name="Altbilgi Yer Tutucusu 4"/>
          <p:cNvSpPr>
            <a:spLocks noGrp="1"/>
          </p:cNvSpPr>
          <p:nvPr>
            <p:ph type="ftr" sz="quarter" idx="11"/>
          </p:nvPr>
        </p:nvSpPr>
        <p:spPr/>
        <p:txBody>
          <a:bodyPr/>
          <a:lstStyle>
            <a:lvl1pPr>
              <a:defRPr/>
            </a:lvl1pPr>
          </a:lstStyle>
          <a:p>
            <a:pPr>
              <a:defRPr/>
            </a:pPr>
            <a:r>
              <a:rPr lang="en-US"/>
              <a:t>Chapter 16 File Management</a:t>
            </a:r>
          </a:p>
        </p:txBody>
      </p:sp>
      <p:sp>
        <p:nvSpPr>
          <p:cNvPr id="7" name="Slayt Numarası Yer Tutucusu 5"/>
          <p:cNvSpPr>
            <a:spLocks noGrp="1"/>
          </p:cNvSpPr>
          <p:nvPr>
            <p:ph type="sldNum" sz="quarter" idx="12"/>
          </p:nvPr>
        </p:nvSpPr>
        <p:spPr/>
        <p:txBody>
          <a:bodyPr/>
          <a:lstStyle>
            <a:lvl1pPr>
              <a:defRPr/>
            </a:lvl1pPr>
          </a:lstStyle>
          <a:p>
            <a:pPr>
              <a:defRPr/>
            </a:pPr>
            <a:r>
              <a:rPr lang="en-US"/>
              <a:t>16-</a:t>
            </a:r>
            <a:fld id="{64C42D52-2CE7-449C-93ED-FA30C785752A}" type="slidenum">
              <a:rPr lang="en-US"/>
              <a:pPr>
                <a:defRPr/>
              </a:pPr>
              <a:t>‹#›</a:t>
            </a:fld>
            <a:endParaRPr lang="en-US"/>
          </a:p>
        </p:txBody>
      </p:sp>
    </p:spTree>
    <p:extLst>
      <p:ext uri="{BB962C8B-B14F-4D97-AF65-F5344CB8AC3E}">
        <p14:creationId xmlns:p14="http://schemas.microsoft.com/office/powerpoint/2010/main" val="15773313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Dikey Metin Yer Tutucusu 2"/>
          <p:cNvSpPr>
            <a:spLocks noGrp="1"/>
          </p:cNvSpPr>
          <p:nvPr>
            <p:ph type="body" orient="vert" idx="1"/>
          </p:nvPr>
        </p:nvSpPr>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lvl1pPr>
              <a:defRPr/>
            </a:lvl1pPr>
          </a:lstStyle>
          <a:p>
            <a:pPr>
              <a:defRPr/>
            </a:pPr>
            <a:endParaRPr lang="en-US"/>
          </a:p>
        </p:txBody>
      </p:sp>
      <p:sp>
        <p:nvSpPr>
          <p:cNvPr id="5" name="Altbilgi Yer Tutucusu 4"/>
          <p:cNvSpPr>
            <a:spLocks noGrp="1"/>
          </p:cNvSpPr>
          <p:nvPr>
            <p:ph type="ftr" sz="quarter" idx="11"/>
          </p:nvPr>
        </p:nvSpPr>
        <p:spPr/>
        <p:txBody>
          <a:bodyPr/>
          <a:lstStyle>
            <a:lvl1pPr>
              <a:defRPr/>
            </a:lvl1pPr>
          </a:lstStyle>
          <a:p>
            <a:pPr>
              <a:defRPr/>
            </a:pPr>
            <a:r>
              <a:rPr lang="en-US"/>
              <a:t>Chapter 16 File Management</a:t>
            </a:r>
          </a:p>
        </p:txBody>
      </p:sp>
      <p:sp>
        <p:nvSpPr>
          <p:cNvPr id="6" name="Slayt Numarası Yer Tutucusu 5"/>
          <p:cNvSpPr>
            <a:spLocks noGrp="1"/>
          </p:cNvSpPr>
          <p:nvPr>
            <p:ph type="sldNum" sz="quarter" idx="12"/>
          </p:nvPr>
        </p:nvSpPr>
        <p:spPr/>
        <p:txBody>
          <a:bodyPr/>
          <a:lstStyle>
            <a:lvl1pPr>
              <a:defRPr/>
            </a:lvl1pPr>
          </a:lstStyle>
          <a:p>
            <a:pPr>
              <a:defRPr/>
            </a:pPr>
            <a:r>
              <a:rPr lang="en-US"/>
              <a:t>16-</a:t>
            </a:r>
            <a:fld id="{025D9848-87D3-4839-B819-E08A70F1D1F3}" type="slidenum">
              <a:rPr lang="en-US"/>
              <a:pPr>
                <a:defRPr/>
              </a:pPr>
              <a:t>‹#›</a:t>
            </a:fld>
            <a:endParaRPr lang="en-US"/>
          </a:p>
        </p:txBody>
      </p:sp>
    </p:spTree>
    <p:extLst>
      <p:ext uri="{BB962C8B-B14F-4D97-AF65-F5344CB8AC3E}">
        <p14:creationId xmlns:p14="http://schemas.microsoft.com/office/powerpoint/2010/main" val="41699375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6629400" y="274638"/>
            <a:ext cx="2057400" cy="5851525"/>
          </a:xfrm>
        </p:spPr>
        <p:txBody>
          <a:bodyPr vert="eaVert"/>
          <a:lstStyle/>
          <a:p>
            <a:r>
              <a:rPr lang="tr-TR" smtClean="0"/>
              <a:t>Asıl başlık stili için tıklatın</a:t>
            </a:r>
            <a:endParaRPr lang="tr-TR"/>
          </a:p>
        </p:txBody>
      </p:sp>
      <p:sp>
        <p:nvSpPr>
          <p:cNvPr id="3" name="Dikey Metin Yer Tutucusu 2"/>
          <p:cNvSpPr>
            <a:spLocks noGrp="1"/>
          </p:cNvSpPr>
          <p:nvPr>
            <p:ph type="body" orient="vert" idx="1"/>
          </p:nvPr>
        </p:nvSpPr>
        <p:spPr>
          <a:xfrm>
            <a:off x="457200" y="274638"/>
            <a:ext cx="6019800" cy="5851525"/>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lvl1pPr>
              <a:defRPr/>
            </a:lvl1pPr>
          </a:lstStyle>
          <a:p>
            <a:pPr>
              <a:defRPr/>
            </a:pPr>
            <a:endParaRPr lang="en-US"/>
          </a:p>
        </p:txBody>
      </p:sp>
      <p:sp>
        <p:nvSpPr>
          <p:cNvPr id="5" name="Altbilgi Yer Tutucusu 4"/>
          <p:cNvSpPr>
            <a:spLocks noGrp="1"/>
          </p:cNvSpPr>
          <p:nvPr>
            <p:ph type="ftr" sz="quarter" idx="11"/>
          </p:nvPr>
        </p:nvSpPr>
        <p:spPr/>
        <p:txBody>
          <a:bodyPr/>
          <a:lstStyle>
            <a:lvl1pPr>
              <a:defRPr/>
            </a:lvl1pPr>
          </a:lstStyle>
          <a:p>
            <a:pPr>
              <a:defRPr/>
            </a:pPr>
            <a:r>
              <a:rPr lang="en-US"/>
              <a:t>Chapter 16 File Management</a:t>
            </a:r>
          </a:p>
        </p:txBody>
      </p:sp>
      <p:sp>
        <p:nvSpPr>
          <p:cNvPr id="6" name="Slayt Numarası Yer Tutucusu 5"/>
          <p:cNvSpPr>
            <a:spLocks noGrp="1"/>
          </p:cNvSpPr>
          <p:nvPr>
            <p:ph type="sldNum" sz="quarter" idx="12"/>
          </p:nvPr>
        </p:nvSpPr>
        <p:spPr/>
        <p:txBody>
          <a:bodyPr/>
          <a:lstStyle>
            <a:lvl1pPr>
              <a:defRPr/>
            </a:lvl1pPr>
          </a:lstStyle>
          <a:p>
            <a:pPr>
              <a:defRPr/>
            </a:pPr>
            <a:r>
              <a:rPr lang="en-US"/>
              <a:t>16-</a:t>
            </a:r>
            <a:fld id="{835846F6-6DAB-41FC-A189-5521499334E0}" type="slidenum">
              <a:rPr lang="en-US"/>
              <a:pPr>
                <a:defRPr/>
              </a:pPr>
              <a:t>‹#›</a:t>
            </a:fld>
            <a:endParaRPr lang="en-US"/>
          </a:p>
        </p:txBody>
      </p:sp>
    </p:spTree>
    <p:extLst>
      <p:ext uri="{BB962C8B-B14F-4D97-AF65-F5344CB8AC3E}">
        <p14:creationId xmlns:p14="http://schemas.microsoft.com/office/powerpoint/2010/main" val="39645198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Başlık Yer Tutucusu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tr-TR" altLang="tr-TR" smtClean="0"/>
              <a:t>Asıl başlık stili için tıklatın</a:t>
            </a:r>
          </a:p>
        </p:txBody>
      </p:sp>
      <p:sp>
        <p:nvSpPr>
          <p:cNvPr id="1027" name="Metin Yer Tutucusu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tr-TR" altLang="tr-TR" smtClean="0"/>
              <a:t>Asıl metin stillerini düzenlemek için tıklatın</a:t>
            </a:r>
          </a:p>
          <a:p>
            <a:pPr lvl="1"/>
            <a:r>
              <a:rPr lang="tr-TR" altLang="tr-TR" smtClean="0"/>
              <a:t>İkinci düzey</a:t>
            </a:r>
          </a:p>
          <a:p>
            <a:pPr lvl="2"/>
            <a:r>
              <a:rPr lang="tr-TR" altLang="tr-TR" smtClean="0"/>
              <a:t>Üçüncü düzey</a:t>
            </a:r>
          </a:p>
          <a:p>
            <a:pPr lvl="3"/>
            <a:r>
              <a:rPr lang="tr-TR" altLang="tr-TR" smtClean="0"/>
              <a:t>Dördüncü düzey</a:t>
            </a:r>
          </a:p>
          <a:p>
            <a:pPr lvl="4"/>
            <a:r>
              <a:rPr lang="tr-TR" altLang="tr-TR" smtClean="0"/>
              <a:t>Beşinci düzey</a:t>
            </a:r>
          </a:p>
        </p:txBody>
      </p:sp>
      <p:sp>
        <p:nvSpPr>
          <p:cNvPr id="4" name="Veri Yer Tutucusu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a:p>
        </p:txBody>
      </p:sp>
      <p:sp>
        <p:nvSpPr>
          <p:cNvPr id="5" name="Altbilgi Yer Tutucusu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r>
              <a:rPr lang="en-US"/>
              <a:t>Chapter 16 File Management</a:t>
            </a:r>
          </a:p>
        </p:txBody>
      </p:sp>
      <p:sp>
        <p:nvSpPr>
          <p:cNvPr id="6" name="Slayt Numarası Yer Tutucusu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r>
              <a:rPr lang="en-US"/>
              <a:t>16-</a:t>
            </a:r>
            <a:fld id="{B3A04B8A-B0DA-4C3F-AEB3-B52A06EACB15}"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812" r:id="rId1"/>
    <p:sldLayoutId id="2147483802" r:id="rId2"/>
    <p:sldLayoutId id="2147483803" r:id="rId3"/>
    <p:sldLayoutId id="2147483804" r:id="rId4"/>
    <p:sldLayoutId id="2147483805" r:id="rId5"/>
    <p:sldLayoutId id="2147483806" r:id="rId6"/>
    <p:sldLayoutId id="2147483807" r:id="rId7"/>
    <p:sldLayoutId id="2147483808" r:id="rId8"/>
    <p:sldLayoutId id="2147483809" r:id="rId9"/>
    <p:sldLayoutId id="2147483810" r:id="rId10"/>
    <p:sldLayoutId id="2147483811"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emf"/><Relationship Id="rId4" Type="http://schemas.openxmlformats.org/officeDocument/2006/relationships/image" Target="../media/image3.emf"/></Relationships>
</file>

<file path=ppt/slides/_rels/slide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gi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gi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gi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p:txBody>
          <a:bodyPr/>
          <a:lstStyle/>
          <a:p>
            <a:pPr eaLnBrk="1" hangingPunct="1"/>
            <a:r>
              <a:rPr lang="tr-TR" altLang="tr-TR" sz="4000" dirty="0" smtClean="0"/>
              <a:t>Disk Yönetimi</a:t>
            </a:r>
            <a:endParaRPr lang="en-US" altLang="tr-TR" sz="4000" dirty="0" smtClean="0"/>
          </a:p>
        </p:txBody>
      </p:sp>
      <p:sp>
        <p:nvSpPr>
          <p:cNvPr id="2" name="Alt Başlık 1"/>
          <p:cNvSpPr>
            <a:spLocks noGrp="1"/>
          </p:cNvSpPr>
          <p:nvPr>
            <p:ph type="subTitle" idx="1"/>
          </p:nvPr>
        </p:nvSpPr>
        <p:spPr/>
        <p:txBody>
          <a:bodyPr rtlCol="0">
            <a:normAutofit/>
          </a:bodyPr>
          <a:lstStyle/>
          <a:p>
            <a:pPr eaLnBrk="1" fontAlgn="auto" hangingPunct="1">
              <a:spcAft>
                <a:spcPts val="0"/>
              </a:spcAft>
              <a:buFont typeface="Arial" pitchFamily="34" charset="0"/>
              <a:buNone/>
              <a:defRPr/>
            </a:pPr>
            <a:endParaRPr lang="tr-TR"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Başlık 1"/>
          <p:cNvSpPr>
            <a:spLocks noGrp="1"/>
          </p:cNvSpPr>
          <p:nvPr>
            <p:ph type="title"/>
          </p:nvPr>
        </p:nvSpPr>
        <p:spPr/>
        <p:txBody>
          <a:bodyPr/>
          <a:lstStyle/>
          <a:p>
            <a:r>
              <a:rPr lang="tr-TR" altLang="tr-TR" smtClean="0"/>
              <a:t>Dosya Nedir?</a:t>
            </a:r>
          </a:p>
        </p:txBody>
      </p:sp>
      <p:sp>
        <p:nvSpPr>
          <p:cNvPr id="4099" name="İçerik Yer Tutucusu 2"/>
          <p:cNvSpPr>
            <a:spLocks noGrp="1"/>
          </p:cNvSpPr>
          <p:nvPr>
            <p:ph idx="1"/>
          </p:nvPr>
        </p:nvSpPr>
        <p:spPr/>
        <p:txBody>
          <a:bodyPr/>
          <a:lstStyle/>
          <a:p>
            <a:pPr marL="0" indent="0">
              <a:buFont typeface="Arial" charset="0"/>
              <a:buNone/>
            </a:pPr>
            <a:r>
              <a:rPr lang="tr-TR" altLang="tr-TR" smtClean="0"/>
              <a:t>Bir dosya kalıcı veya geçici olmayan depolama alanına yerleştirilen veri kolleksiyonudur.</a:t>
            </a:r>
          </a:p>
          <a:p>
            <a:pPr marL="0" indent="0">
              <a:buFont typeface="Arial" charset="0"/>
              <a:buNone/>
            </a:pPr>
            <a:endParaRPr lang="tr-TR" altLang="tr-TR" smtClean="0"/>
          </a:p>
        </p:txBody>
      </p:sp>
      <p:pic>
        <p:nvPicPr>
          <p:cNvPr id="410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1775" y="2795588"/>
            <a:ext cx="3600450" cy="4029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tr-TR" altLang="tr-TR" smtClean="0"/>
              <a:t>Dosyalar</a:t>
            </a:r>
            <a:endParaRPr lang="en-US" altLang="tr-TR" smtClean="0"/>
          </a:p>
        </p:txBody>
      </p:sp>
      <p:sp>
        <p:nvSpPr>
          <p:cNvPr id="5123" name="Rectangle 3"/>
          <p:cNvSpPr>
            <a:spLocks noGrp="1" noChangeArrowheads="1"/>
          </p:cNvSpPr>
          <p:nvPr>
            <p:ph idx="1"/>
          </p:nvPr>
        </p:nvSpPr>
        <p:spPr>
          <a:xfrm>
            <a:off x="914400" y="1524000"/>
            <a:ext cx="7772400" cy="4191000"/>
          </a:xfrm>
        </p:spPr>
        <p:txBody>
          <a:bodyPr/>
          <a:lstStyle/>
          <a:p>
            <a:pPr eaLnBrk="1" hangingPunct="1"/>
            <a:r>
              <a:rPr lang="en-US" altLang="tr-TR" sz="2800" smtClean="0"/>
              <a:t>Files</a:t>
            </a:r>
            <a:r>
              <a:rPr lang="tr-TR" altLang="tr-TR" sz="2800" smtClean="0"/>
              <a:t>(Dosyalar)</a:t>
            </a:r>
            <a:endParaRPr lang="en-US" altLang="tr-TR" sz="2800" smtClean="0"/>
          </a:p>
          <a:p>
            <a:pPr lvl="1" eaLnBrk="1" hangingPunct="1"/>
            <a:r>
              <a:rPr lang="tr-TR" altLang="tr-TR" sz="2400" smtClean="0"/>
              <a:t>Veri Kolleksiyonu</a:t>
            </a:r>
            <a:endParaRPr lang="en-US" altLang="tr-TR" sz="2400" smtClean="0"/>
          </a:p>
          <a:p>
            <a:pPr lvl="1" eaLnBrk="1" hangingPunct="1"/>
            <a:r>
              <a:rPr lang="tr-TR" altLang="tr-TR" sz="2400" smtClean="0"/>
              <a:t>En az bir blok gerektirir.</a:t>
            </a:r>
            <a:endParaRPr lang="en-US" altLang="tr-TR" sz="2400" smtClean="0"/>
          </a:p>
          <a:p>
            <a:pPr lvl="1" eaLnBrk="1" hangingPunct="1"/>
            <a:r>
              <a:rPr lang="tr-TR" altLang="tr-TR" sz="2400" smtClean="0"/>
              <a:t>Programlar için birliktelik</a:t>
            </a:r>
            <a:endParaRPr lang="en-US" altLang="tr-TR" sz="2400" smtClean="0"/>
          </a:p>
          <a:p>
            <a:pPr eaLnBrk="1" hangingPunct="1"/>
            <a:r>
              <a:rPr lang="tr-TR" altLang="tr-TR" sz="2800" smtClean="0"/>
              <a:t>Mantıksal görünüm </a:t>
            </a:r>
            <a:r>
              <a:rPr lang="en-US" altLang="tr-TR" sz="2800" smtClean="0"/>
              <a:t>vs. </a:t>
            </a:r>
            <a:r>
              <a:rPr lang="tr-TR" altLang="tr-TR" sz="2800" smtClean="0"/>
              <a:t>Fiziksel görünüm</a:t>
            </a:r>
            <a:endParaRPr lang="en-US" altLang="tr-TR" sz="2800" smtClean="0"/>
          </a:p>
          <a:p>
            <a:pPr eaLnBrk="1" hangingPunct="1"/>
            <a:r>
              <a:rPr lang="tr-TR" altLang="tr-TR" sz="2800" smtClean="0"/>
              <a:t>Sıralı Erişim</a:t>
            </a:r>
            <a:r>
              <a:rPr lang="en-US" altLang="tr-TR" sz="2800" smtClean="0"/>
              <a:t> vs. </a:t>
            </a:r>
            <a:r>
              <a:rPr lang="tr-TR" altLang="tr-TR" sz="2800" smtClean="0"/>
              <a:t>Rastgele Erişim</a:t>
            </a:r>
            <a:endParaRPr lang="en-US" altLang="tr-TR" sz="2800" smtClean="0"/>
          </a:p>
          <a:p>
            <a:pPr eaLnBrk="1" hangingPunct="1"/>
            <a:r>
              <a:rPr lang="tr-TR" altLang="tr-TR" sz="2800" smtClean="0"/>
              <a:t>Bitişik</a:t>
            </a:r>
            <a:r>
              <a:rPr lang="en-US" altLang="tr-TR" sz="2800" smtClean="0"/>
              <a:t> vs. </a:t>
            </a:r>
            <a:r>
              <a:rPr lang="tr-TR" altLang="tr-TR" sz="2800" smtClean="0"/>
              <a:t>Ayrık</a:t>
            </a:r>
            <a:endParaRPr lang="en-US" altLang="tr-TR" sz="280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Sıralı Erişim Depolama Ortamı</a:t>
            </a:r>
            <a:endParaRPr lang="tr-TR" dirty="0"/>
          </a:p>
        </p:txBody>
      </p:sp>
      <p:pic>
        <p:nvPicPr>
          <p:cNvPr id="4" name="İçerik Yer Tutucusu 3"/>
          <p:cNvPicPr>
            <a:picLocks noGrp="1" noChangeAspect="1"/>
          </p:cNvPicPr>
          <p:nvPr>
            <p:ph idx="1"/>
          </p:nvPr>
        </p:nvPicPr>
        <p:blipFill rotWithShape="1">
          <a:blip r:embed="rId3"/>
          <a:srcRect t="8650"/>
          <a:stretch/>
        </p:blipFill>
        <p:spPr>
          <a:xfrm>
            <a:off x="851465" y="1184199"/>
            <a:ext cx="7533789" cy="1973376"/>
          </a:xfrm>
          <a:prstGeom prst="rect">
            <a:avLst/>
          </a:prstGeom>
        </p:spPr>
      </p:pic>
      <p:pic>
        <p:nvPicPr>
          <p:cNvPr id="5" name="Resim 4"/>
          <p:cNvPicPr>
            <a:picLocks noChangeAspect="1"/>
          </p:cNvPicPr>
          <p:nvPr/>
        </p:nvPicPr>
        <p:blipFill rotWithShape="1">
          <a:blip r:embed="rId4"/>
          <a:srcRect l="412" t="20136" r="-412" b="-1631"/>
          <a:stretch/>
        </p:blipFill>
        <p:spPr>
          <a:xfrm>
            <a:off x="331780" y="3157575"/>
            <a:ext cx="8088137" cy="1457166"/>
          </a:xfrm>
          <a:prstGeom prst="rect">
            <a:avLst/>
          </a:prstGeom>
        </p:spPr>
      </p:pic>
      <p:pic>
        <p:nvPicPr>
          <p:cNvPr id="6" name="Resim 5"/>
          <p:cNvPicPr>
            <a:picLocks noChangeAspect="1"/>
          </p:cNvPicPr>
          <p:nvPr/>
        </p:nvPicPr>
        <p:blipFill>
          <a:blip r:embed="rId5"/>
          <a:stretch>
            <a:fillRect/>
          </a:stretch>
        </p:blipFill>
        <p:spPr>
          <a:xfrm>
            <a:off x="457199" y="4614740"/>
            <a:ext cx="7878537" cy="1739937"/>
          </a:xfrm>
          <a:prstGeom prst="rect">
            <a:avLst/>
          </a:prstGeom>
        </p:spPr>
      </p:pic>
    </p:spTree>
    <p:extLst>
      <p:ext uri="{BB962C8B-B14F-4D97-AF65-F5344CB8AC3E}">
        <p14:creationId xmlns:p14="http://schemas.microsoft.com/office/powerpoint/2010/main" val="13763674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457200" y="274638"/>
            <a:ext cx="8229600" cy="850106"/>
          </a:xfrm>
        </p:spPr>
        <p:txBody>
          <a:bodyPr/>
          <a:lstStyle/>
          <a:p>
            <a:r>
              <a:rPr lang="tr-TR" sz="4000" dirty="0" smtClean="0"/>
              <a:t>Doğrudan Erişimli Depolama Ortamı</a:t>
            </a:r>
            <a:endParaRPr lang="tr-TR" sz="4000" dirty="0"/>
          </a:p>
        </p:txBody>
      </p:sp>
      <p:sp>
        <p:nvSpPr>
          <p:cNvPr id="3" name="İçerik Yer Tutucusu 2"/>
          <p:cNvSpPr>
            <a:spLocks noGrp="1"/>
          </p:cNvSpPr>
          <p:nvPr>
            <p:ph idx="1"/>
          </p:nvPr>
        </p:nvSpPr>
        <p:spPr>
          <a:xfrm>
            <a:off x="457200" y="1268760"/>
            <a:ext cx="8229600" cy="4857403"/>
          </a:xfrm>
        </p:spPr>
        <p:txBody>
          <a:bodyPr/>
          <a:lstStyle/>
          <a:p>
            <a:r>
              <a:rPr lang="tr-TR" dirty="0" smtClean="0"/>
              <a:t>Sabit Kafalı Disk</a:t>
            </a:r>
          </a:p>
          <a:p>
            <a:endParaRPr lang="tr-TR" dirty="0"/>
          </a:p>
        </p:txBody>
      </p:sp>
      <p:pic>
        <p:nvPicPr>
          <p:cNvPr id="4" name="Resim 3"/>
          <p:cNvPicPr>
            <a:picLocks noChangeAspect="1"/>
          </p:cNvPicPr>
          <p:nvPr/>
        </p:nvPicPr>
        <p:blipFill>
          <a:blip r:embed="rId3"/>
          <a:stretch>
            <a:fillRect/>
          </a:stretch>
        </p:blipFill>
        <p:spPr>
          <a:xfrm>
            <a:off x="1187624" y="2214546"/>
            <a:ext cx="6308720" cy="3911617"/>
          </a:xfrm>
          <a:prstGeom prst="rect">
            <a:avLst/>
          </a:prstGeom>
        </p:spPr>
      </p:pic>
    </p:spTree>
    <p:extLst>
      <p:ext uri="{BB962C8B-B14F-4D97-AF65-F5344CB8AC3E}">
        <p14:creationId xmlns:p14="http://schemas.microsoft.com/office/powerpoint/2010/main" val="155791589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p:txBody>
          <a:bodyPr/>
          <a:lstStyle/>
          <a:p>
            <a:r>
              <a:rPr lang="tr-TR" dirty="0"/>
              <a:t>Doğrudan Erişimli Depolama </a:t>
            </a:r>
            <a:r>
              <a:rPr lang="tr-TR" dirty="0" smtClean="0"/>
              <a:t>Ortamı</a:t>
            </a:r>
          </a:p>
          <a:p>
            <a:endParaRPr lang="tr-TR" dirty="0"/>
          </a:p>
        </p:txBody>
      </p:sp>
      <p:sp>
        <p:nvSpPr>
          <p:cNvPr id="4" name="Unvan 1"/>
          <p:cNvSpPr>
            <a:spLocks noGrp="1"/>
          </p:cNvSpPr>
          <p:nvPr>
            <p:ph type="title"/>
          </p:nvPr>
        </p:nvSpPr>
        <p:spPr/>
        <p:txBody>
          <a:bodyPr/>
          <a:lstStyle/>
          <a:p>
            <a:r>
              <a:rPr lang="tr-TR" sz="4000" dirty="0" smtClean="0"/>
              <a:t>Doğrudan Erişimli Depolama Ortamı</a:t>
            </a:r>
            <a:endParaRPr lang="tr-TR" sz="4000" dirty="0"/>
          </a:p>
        </p:txBody>
      </p:sp>
      <p:pic>
        <p:nvPicPr>
          <p:cNvPr id="5" name="Resim 4"/>
          <p:cNvPicPr>
            <a:picLocks noChangeAspect="1"/>
          </p:cNvPicPr>
          <p:nvPr/>
        </p:nvPicPr>
        <p:blipFill>
          <a:blip r:embed="rId2"/>
          <a:stretch>
            <a:fillRect/>
          </a:stretch>
        </p:blipFill>
        <p:spPr>
          <a:xfrm>
            <a:off x="1146777" y="2420888"/>
            <a:ext cx="6850445" cy="3371518"/>
          </a:xfrm>
          <a:prstGeom prst="rect">
            <a:avLst/>
          </a:prstGeom>
        </p:spPr>
      </p:pic>
      <p:pic>
        <p:nvPicPr>
          <p:cNvPr id="6" name="Resim 5"/>
          <p:cNvPicPr>
            <a:picLocks noChangeAspect="1"/>
          </p:cNvPicPr>
          <p:nvPr/>
        </p:nvPicPr>
        <p:blipFill>
          <a:blip r:embed="rId3"/>
          <a:stretch>
            <a:fillRect/>
          </a:stretch>
        </p:blipFill>
        <p:spPr>
          <a:xfrm>
            <a:off x="1123946" y="2132856"/>
            <a:ext cx="6737591" cy="4541097"/>
          </a:xfrm>
          <a:prstGeom prst="rect">
            <a:avLst/>
          </a:prstGeom>
        </p:spPr>
      </p:pic>
    </p:spTree>
    <p:extLst>
      <p:ext uri="{BB962C8B-B14F-4D97-AF65-F5344CB8AC3E}">
        <p14:creationId xmlns:p14="http://schemas.microsoft.com/office/powerpoint/2010/main" val="1745202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Başlık 1"/>
          <p:cNvSpPr>
            <a:spLocks noGrp="1"/>
          </p:cNvSpPr>
          <p:nvPr>
            <p:ph type="title"/>
          </p:nvPr>
        </p:nvSpPr>
        <p:spPr/>
        <p:txBody>
          <a:bodyPr/>
          <a:lstStyle/>
          <a:p>
            <a:r>
              <a:rPr lang="tr-TR" altLang="tr-TR" dirty="0" smtClean="0"/>
              <a:t>Manyetik Diskin Yapısı</a:t>
            </a:r>
          </a:p>
        </p:txBody>
      </p:sp>
      <p:pic>
        <p:nvPicPr>
          <p:cNvPr id="2457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90888" y="2708275"/>
            <a:ext cx="5853112" cy="4187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4580" name="İçerik Yer Tutucusu 2"/>
          <p:cNvSpPr>
            <a:spLocks noGrp="1"/>
          </p:cNvSpPr>
          <p:nvPr>
            <p:ph idx="1"/>
          </p:nvPr>
        </p:nvSpPr>
        <p:spPr>
          <a:xfrm>
            <a:off x="34925" y="1196975"/>
            <a:ext cx="8229600" cy="4525963"/>
          </a:xfrm>
        </p:spPr>
        <p:txBody>
          <a:bodyPr/>
          <a:lstStyle/>
          <a:p>
            <a:r>
              <a:rPr lang="tr-TR" altLang="tr-TR" sz="2400" dirty="0" smtClean="0"/>
              <a:t>Manyetik diskler istenen yere direk olarak erişebilmeyi sağlar.</a:t>
            </a:r>
          </a:p>
          <a:p>
            <a:r>
              <a:rPr lang="tr-TR" altLang="tr-TR" sz="2400" dirty="0" smtClean="0"/>
              <a:t>Bir Diskin basit yapısında</a:t>
            </a:r>
          </a:p>
          <a:p>
            <a:pPr lvl="1"/>
            <a:r>
              <a:rPr lang="tr-TR" altLang="tr-TR" sz="2000" dirty="0" smtClean="0"/>
              <a:t>Disk blokları</a:t>
            </a:r>
          </a:p>
          <a:p>
            <a:pPr lvl="1"/>
            <a:r>
              <a:rPr lang="tr-TR" altLang="tr-TR" sz="2000" dirty="0" smtClean="0"/>
              <a:t>İzler (</a:t>
            </a:r>
            <a:r>
              <a:rPr lang="tr-TR" altLang="tr-TR" sz="2000" dirty="0" err="1" smtClean="0"/>
              <a:t>Tracks</a:t>
            </a:r>
            <a:r>
              <a:rPr lang="tr-TR" altLang="tr-TR" sz="2000" dirty="0" smtClean="0"/>
              <a:t>)</a:t>
            </a:r>
          </a:p>
          <a:p>
            <a:pPr lvl="1"/>
            <a:r>
              <a:rPr lang="tr-TR" altLang="tr-TR" sz="2000" dirty="0" smtClean="0"/>
              <a:t>Plakalar</a:t>
            </a:r>
          </a:p>
          <a:p>
            <a:pPr lvl="1"/>
            <a:r>
              <a:rPr lang="tr-TR" altLang="tr-TR" sz="2000" dirty="0" smtClean="0"/>
              <a:t>Sektörler</a:t>
            </a:r>
          </a:p>
          <a:p>
            <a:pPr lvl="1"/>
            <a:r>
              <a:rPr lang="tr-TR" altLang="tr-TR" sz="2000" dirty="0" smtClean="0"/>
              <a:t>Okuma Yazma Kafası</a:t>
            </a:r>
          </a:p>
          <a:p>
            <a:pPr lvl="1"/>
            <a:r>
              <a:rPr lang="tr-TR" altLang="tr-TR" sz="2000" dirty="0" smtClean="0"/>
              <a:t>Disk kontroller</a:t>
            </a:r>
          </a:p>
          <a:p>
            <a:pPr lvl="1"/>
            <a:r>
              <a:rPr lang="tr-TR" altLang="tr-TR" sz="2000" dirty="0" smtClean="0"/>
              <a:t>Erişim zamanı</a:t>
            </a:r>
          </a:p>
          <a:p>
            <a:pPr lvl="1"/>
            <a:r>
              <a:rPr lang="tr-TR" altLang="tr-TR" sz="2000" dirty="0" err="1" smtClean="0"/>
              <a:t>Rotasyonel</a:t>
            </a:r>
            <a:r>
              <a:rPr lang="tr-TR" altLang="tr-TR" sz="2000" dirty="0" smtClean="0"/>
              <a:t> gecikme </a:t>
            </a:r>
          </a:p>
          <a:p>
            <a:pPr lvl="1"/>
            <a:endParaRPr lang="tr-TR" altLang="tr-TR" sz="2000" dirty="0" smtClean="0"/>
          </a:p>
        </p:txBody>
      </p:sp>
    </p:spTree>
    <p:extLst>
      <p:ext uri="{BB962C8B-B14F-4D97-AF65-F5344CB8AC3E}">
        <p14:creationId xmlns:p14="http://schemas.microsoft.com/office/powerpoint/2010/main" val="309169173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Başlık 1"/>
          <p:cNvSpPr>
            <a:spLocks noGrp="1"/>
          </p:cNvSpPr>
          <p:nvPr>
            <p:ph type="title"/>
          </p:nvPr>
        </p:nvSpPr>
        <p:spPr/>
        <p:txBody>
          <a:bodyPr/>
          <a:lstStyle/>
          <a:p>
            <a:r>
              <a:rPr lang="tr-TR" altLang="tr-TR" smtClean="0"/>
              <a:t>Sektörler</a:t>
            </a:r>
          </a:p>
        </p:txBody>
      </p:sp>
      <p:sp>
        <p:nvSpPr>
          <p:cNvPr id="25603" name="İçerik Yer Tutucusu 2"/>
          <p:cNvSpPr>
            <a:spLocks noGrp="1"/>
          </p:cNvSpPr>
          <p:nvPr>
            <p:ph idx="1"/>
          </p:nvPr>
        </p:nvSpPr>
        <p:spPr>
          <a:xfrm>
            <a:off x="251520" y="1325790"/>
            <a:ext cx="8892480" cy="1108720"/>
          </a:xfrm>
        </p:spPr>
        <p:txBody>
          <a:bodyPr/>
          <a:lstStyle/>
          <a:p>
            <a:r>
              <a:rPr lang="tr-TR" altLang="tr-TR" dirty="0" smtClean="0"/>
              <a:t>Sektör, disk üzerindeki en küçük </a:t>
            </a:r>
            <a:r>
              <a:rPr lang="tr-TR" altLang="tr-TR" dirty="0" err="1" smtClean="0"/>
              <a:t>adreslenebilen</a:t>
            </a:r>
            <a:r>
              <a:rPr lang="tr-TR" altLang="tr-TR" dirty="0" smtClean="0"/>
              <a:t> alandır.</a:t>
            </a:r>
          </a:p>
        </p:txBody>
      </p:sp>
      <p:pic>
        <p:nvPicPr>
          <p:cNvPr id="2" name="Resim 1"/>
          <p:cNvPicPr>
            <a:picLocks noChangeAspect="1"/>
          </p:cNvPicPr>
          <p:nvPr/>
        </p:nvPicPr>
        <p:blipFill>
          <a:blip r:embed="rId2"/>
          <a:stretch>
            <a:fillRect/>
          </a:stretch>
        </p:blipFill>
        <p:spPr>
          <a:xfrm>
            <a:off x="1092246" y="2468790"/>
            <a:ext cx="6288066" cy="3933311"/>
          </a:xfrm>
          <a:prstGeom prst="rect">
            <a:avLst/>
          </a:prstGeom>
        </p:spPr>
      </p:pic>
    </p:spTree>
    <p:extLst>
      <p:ext uri="{BB962C8B-B14F-4D97-AF65-F5344CB8AC3E}">
        <p14:creationId xmlns:p14="http://schemas.microsoft.com/office/powerpoint/2010/main" val="289382069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p:cNvPicPr>
            <a:picLocks noChangeAspect="1" noChangeArrowheads="1"/>
          </p:cNvPicPr>
          <p:nvPr/>
        </p:nvPicPr>
        <p:blipFill>
          <a:blip r:embed="rId2">
            <a:extLst>
              <a:ext uri="{28A0092B-C50C-407E-A947-70E740481C1C}">
                <a14:useLocalDpi xmlns:a14="http://schemas.microsoft.com/office/drawing/2010/main" val="0"/>
              </a:ext>
            </a:extLst>
          </a:blip>
          <a:srcRect l="18594" t="17000" r="16718" b="31750"/>
          <a:stretch>
            <a:fillRect/>
          </a:stretch>
        </p:blipFill>
        <p:spPr bwMode="auto">
          <a:xfrm>
            <a:off x="58738" y="981075"/>
            <a:ext cx="9085262" cy="4498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6385189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Başlık 1"/>
          <p:cNvSpPr>
            <a:spLocks noGrp="1"/>
          </p:cNvSpPr>
          <p:nvPr>
            <p:ph type="title"/>
          </p:nvPr>
        </p:nvSpPr>
        <p:spPr/>
        <p:txBody>
          <a:bodyPr/>
          <a:lstStyle/>
          <a:p>
            <a:r>
              <a:rPr lang="tr-TR" altLang="tr-TR" smtClean="0"/>
              <a:t>Disk Kapasitesi</a:t>
            </a:r>
          </a:p>
        </p:txBody>
      </p:sp>
      <p:sp>
        <p:nvSpPr>
          <p:cNvPr id="27651" name="İçerik Yer Tutucusu 2"/>
          <p:cNvSpPr>
            <a:spLocks noGrp="1"/>
          </p:cNvSpPr>
          <p:nvPr>
            <p:ph idx="1"/>
          </p:nvPr>
        </p:nvSpPr>
        <p:spPr/>
        <p:txBody>
          <a:bodyPr/>
          <a:lstStyle/>
          <a:p>
            <a:r>
              <a:rPr lang="tr-TR" altLang="tr-TR" sz="2800" smtClean="0"/>
              <a:t>Silindir sayısı</a:t>
            </a:r>
            <a:r>
              <a:rPr lang="en-US" altLang="tr-TR" sz="2800" smtClean="0"/>
              <a:t>= </a:t>
            </a:r>
            <a:r>
              <a:rPr lang="tr-TR" altLang="tr-TR" sz="2800" smtClean="0"/>
              <a:t>Yüzeylerdeki track sayısı</a:t>
            </a:r>
            <a:endParaRPr lang="en-US" altLang="tr-TR" sz="2800" smtClean="0"/>
          </a:p>
          <a:p>
            <a:r>
              <a:rPr lang="en-US" altLang="tr-TR" sz="2800" smtClean="0"/>
              <a:t>Track </a:t>
            </a:r>
            <a:r>
              <a:rPr lang="tr-TR" altLang="tr-TR" sz="2800" smtClean="0"/>
              <a:t>kapasitesi</a:t>
            </a:r>
            <a:r>
              <a:rPr lang="en-US" altLang="tr-TR" sz="2800" smtClean="0"/>
              <a:t> = </a:t>
            </a:r>
            <a:r>
              <a:rPr lang="tr-TR" altLang="tr-TR" sz="2800" smtClean="0"/>
              <a:t>bir tracktaki sektör sayısı × her sektörün kapasitesi</a:t>
            </a:r>
          </a:p>
          <a:p>
            <a:r>
              <a:rPr lang="tr-TR" altLang="tr-TR" sz="2800" smtClean="0"/>
              <a:t>Silindir kapasitesi</a:t>
            </a:r>
            <a:r>
              <a:rPr lang="en-US" altLang="tr-TR" sz="2800" smtClean="0"/>
              <a:t>= </a:t>
            </a:r>
            <a:r>
              <a:rPr lang="tr-TR" altLang="tr-TR" sz="2800" smtClean="0"/>
              <a:t>yüzeylerin sayısı x track kapasitesi</a:t>
            </a:r>
          </a:p>
          <a:p>
            <a:r>
              <a:rPr lang="tr-TR" altLang="tr-TR" sz="2800" smtClean="0"/>
              <a:t>Sürücü kapasitesi</a:t>
            </a:r>
            <a:r>
              <a:rPr lang="en-US" altLang="tr-TR" sz="2800" smtClean="0"/>
              <a:t>= </a:t>
            </a:r>
            <a:r>
              <a:rPr lang="tr-TR" altLang="tr-TR" sz="2800" smtClean="0"/>
              <a:t>silindir sayısı x silindir kapasitesi</a:t>
            </a:r>
          </a:p>
        </p:txBody>
      </p:sp>
    </p:spTree>
    <p:extLst>
      <p:ext uri="{BB962C8B-B14F-4D97-AF65-F5344CB8AC3E}">
        <p14:creationId xmlns:p14="http://schemas.microsoft.com/office/powerpoint/2010/main" val="52573711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Başlık 1"/>
          <p:cNvSpPr>
            <a:spLocks noGrp="1"/>
          </p:cNvSpPr>
          <p:nvPr>
            <p:ph type="title"/>
          </p:nvPr>
        </p:nvSpPr>
        <p:spPr/>
        <p:txBody>
          <a:bodyPr/>
          <a:lstStyle/>
          <a:p>
            <a:r>
              <a:rPr lang="tr-TR" altLang="tr-TR" smtClean="0"/>
              <a:t>Örnek</a:t>
            </a:r>
          </a:p>
        </p:txBody>
      </p:sp>
      <p:sp>
        <p:nvSpPr>
          <p:cNvPr id="3" name="İçerik Yer Tutucusu 2"/>
          <p:cNvSpPr>
            <a:spLocks noGrp="1"/>
          </p:cNvSpPr>
          <p:nvPr>
            <p:ph idx="1"/>
          </p:nvPr>
        </p:nvSpPr>
        <p:spPr/>
        <p:txBody>
          <a:bodyPr/>
          <a:lstStyle/>
          <a:p>
            <a:pPr>
              <a:defRPr/>
            </a:pPr>
            <a:r>
              <a:rPr lang="tr-TR" dirty="0"/>
              <a:t>Disk </a:t>
            </a:r>
            <a:r>
              <a:rPr lang="tr-TR" dirty="0" smtClean="0"/>
              <a:t>karakteristikleri</a:t>
            </a:r>
            <a:endParaRPr lang="tr-TR" dirty="0"/>
          </a:p>
          <a:p>
            <a:pPr marL="0" indent="0">
              <a:buFont typeface="Arial" charset="0"/>
              <a:buNone/>
              <a:defRPr/>
            </a:pPr>
            <a:r>
              <a:rPr lang="en-US" dirty="0"/>
              <a:t>– </a:t>
            </a:r>
            <a:r>
              <a:rPr lang="tr-TR" dirty="0" smtClean="0"/>
              <a:t>Her sektörün kapasitesi</a:t>
            </a:r>
            <a:r>
              <a:rPr lang="en-US" dirty="0" smtClean="0"/>
              <a:t>= </a:t>
            </a:r>
            <a:r>
              <a:rPr lang="en-US" dirty="0"/>
              <a:t>512</a:t>
            </a:r>
          </a:p>
          <a:p>
            <a:pPr marL="0" indent="0">
              <a:buFont typeface="Arial" charset="0"/>
              <a:buNone/>
              <a:defRPr/>
            </a:pPr>
            <a:r>
              <a:rPr lang="en-US" dirty="0"/>
              <a:t>– </a:t>
            </a:r>
            <a:r>
              <a:rPr lang="tr-TR" dirty="0" smtClean="0"/>
              <a:t>her </a:t>
            </a:r>
            <a:r>
              <a:rPr lang="tr-TR" dirty="0" err="1" smtClean="0"/>
              <a:t>tracktaki</a:t>
            </a:r>
            <a:r>
              <a:rPr lang="tr-TR" dirty="0" smtClean="0"/>
              <a:t> sektör sayısı</a:t>
            </a:r>
            <a:r>
              <a:rPr lang="en-US" dirty="0" smtClean="0"/>
              <a:t>= 6</a:t>
            </a:r>
            <a:r>
              <a:rPr lang="tr-TR" dirty="0" smtClean="0"/>
              <a:t>4</a:t>
            </a:r>
            <a:endParaRPr lang="en-US" dirty="0"/>
          </a:p>
          <a:p>
            <a:pPr marL="0" indent="0">
              <a:buFont typeface="Arial" charset="0"/>
              <a:buNone/>
              <a:defRPr/>
            </a:pPr>
            <a:r>
              <a:rPr lang="en-US" dirty="0"/>
              <a:t>– </a:t>
            </a:r>
            <a:r>
              <a:rPr lang="tr-TR" dirty="0" smtClean="0"/>
              <a:t>Her silindirdeki </a:t>
            </a:r>
            <a:r>
              <a:rPr lang="tr-TR" dirty="0" err="1" smtClean="0"/>
              <a:t>track</a:t>
            </a:r>
            <a:r>
              <a:rPr lang="tr-TR" dirty="0" smtClean="0"/>
              <a:t> sayısı</a:t>
            </a:r>
            <a:r>
              <a:rPr lang="en-US" dirty="0" smtClean="0"/>
              <a:t> </a:t>
            </a:r>
            <a:r>
              <a:rPr lang="en-US" dirty="0"/>
              <a:t>= 16</a:t>
            </a:r>
          </a:p>
          <a:p>
            <a:pPr marL="0" indent="0">
              <a:buFont typeface="Arial" charset="0"/>
              <a:buNone/>
              <a:defRPr/>
            </a:pPr>
            <a:r>
              <a:rPr lang="tr-TR" dirty="0"/>
              <a:t>– </a:t>
            </a:r>
            <a:r>
              <a:rPr lang="tr-TR" dirty="0" smtClean="0"/>
              <a:t>silindir sayısı= 4096</a:t>
            </a:r>
          </a:p>
          <a:p>
            <a:pPr marL="0" indent="0">
              <a:buFont typeface="Arial" charset="0"/>
              <a:buNone/>
              <a:defRPr/>
            </a:pPr>
            <a:r>
              <a:rPr lang="tr-TR" dirty="0" smtClean="0"/>
              <a:t>Her birinin kapasitesi 256 bayt olan 5000 kayıt için kaç adet silindir gerekir?</a:t>
            </a:r>
            <a:endParaRPr lang="tr-TR" dirty="0"/>
          </a:p>
        </p:txBody>
      </p:sp>
    </p:spTree>
    <p:extLst>
      <p:ext uri="{BB962C8B-B14F-4D97-AF65-F5344CB8AC3E}">
        <p14:creationId xmlns:p14="http://schemas.microsoft.com/office/powerpoint/2010/main" val="234522467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Başlık 1"/>
          <p:cNvSpPr>
            <a:spLocks noGrp="1"/>
          </p:cNvSpPr>
          <p:nvPr>
            <p:ph type="title"/>
          </p:nvPr>
        </p:nvSpPr>
        <p:spPr/>
        <p:txBody>
          <a:bodyPr/>
          <a:lstStyle/>
          <a:p>
            <a:r>
              <a:rPr lang="tr-TR" altLang="tr-TR" smtClean="0"/>
              <a:t>Varolan bir Disk</a:t>
            </a:r>
          </a:p>
        </p:txBody>
      </p:sp>
      <p:sp>
        <p:nvSpPr>
          <p:cNvPr id="29699" name="İçerik Yer Tutucusu 2"/>
          <p:cNvSpPr>
            <a:spLocks noGrp="1"/>
          </p:cNvSpPr>
          <p:nvPr>
            <p:ph idx="1"/>
          </p:nvPr>
        </p:nvSpPr>
        <p:spPr/>
        <p:txBody>
          <a:bodyPr/>
          <a:lstStyle/>
          <a:p>
            <a:r>
              <a:rPr lang="tr-TR" altLang="tr-TR" sz="2800" dirty="0" smtClean="0"/>
              <a:t>Model: </a:t>
            </a:r>
            <a:r>
              <a:rPr lang="tr-TR" altLang="tr-TR" sz="2800" dirty="0" err="1" smtClean="0"/>
              <a:t>Seagate</a:t>
            </a:r>
            <a:r>
              <a:rPr lang="tr-TR" altLang="tr-TR" sz="2800" dirty="0" smtClean="0"/>
              <a:t> ST3200822A</a:t>
            </a:r>
          </a:p>
          <a:p>
            <a:r>
              <a:rPr lang="tr-TR" altLang="tr-TR" sz="2800" dirty="0" smtClean="0"/>
              <a:t>Kapasite: 200GB</a:t>
            </a:r>
          </a:p>
          <a:p>
            <a:r>
              <a:rPr lang="tr-TR" altLang="tr-TR" sz="2800" dirty="0" smtClean="0"/>
              <a:t>Transfer Hızları</a:t>
            </a:r>
          </a:p>
          <a:p>
            <a:pPr lvl="1"/>
            <a:r>
              <a:rPr lang="tr-TR" altLang="tr-TR" sz="2400" dirty="0" smtClean="0"/>
              <a:t>Maximum </a:t>
            </a:r>
            <a:r>
              <a:rPr lang="tr-TR" altLang="tr-TR" sz="2400" dirty="0" err="1" smtClean="0"/>
              <a:t>Internal</a:t>
            </a:r>
            <a:r>
              <a:rPr lang="tr-TR" altLang="tr-TR" sz="2400" dirty="0" smtClean="0"/>
              <a:t> 683Mbits/</a:t>
            </a:r>
            <a:r>
              <a:rPr lang="tr-TR" altLang="tr-TR" sz="2400" dirty="0" err="1" smtClean="0"/>
              <a:t>sec</a:t>
            </a:r>
            <a:endParaRPr lang="tr-TR" altLang="tr-TR" sz="2400" dirty="0" smtClean="0"/>
          </a:p>
          <a:p>
            <a:pPr lvl="1"/>
            <a:r>
              <a:rPr lang="tr-TR" altLang="tr-TR" sz="2400" dirty="0" smtClean="0"/>
              <a:t>Maximum </a:t>
            </a:r>
            <a:r>
              <a:rPr lang="tr-TR" altLang="tr-TR" sz="2400" dirty="0" err="1" smtClean="0"/>
              <a:t>External</a:t>
            </a:r>
            <a:r>
              <a:rPr lang="tr-TR" altLang="tr-TR" sz="2400" dirty="0" smtClean="0"/>
              <a:t> 100Mbytes/</a:t>
            </a:r>
            <a:r>
              <a:rPr lang="tr-TR" altLang="tr-TR" sz="2400" dirty="0" err="1" smtClean="0"/>
              <a:t>sec</a:t>
            </a:r>
            <a:endParaRPr lang="tr-TR" altLang="tr-TR" sz="2400" dirty="0" smtClean="0"/>
          </a:p>
          <a:p>
            <a:r>
              <a:rPr lang="tr-TR" altLang="tr-TR" sz="2800" dirty="0" err="1" smtClean="0"/>
              <a:t>Discs</a:t>
            </a:r>
            <a:r>
              <a:rPr lang="tr-TR" altLang="tr-TR" sz="2800" dirty="0" smtClean="0"/>
              <a:t>/</a:t>
            </a:r>
            <a:r>
              <a:rPr lang="tr-TR" altLang="tr-TR" sz="2800" dirty="0" err="1" smtClean="0"/>
              <a:t>Heads</a:t>
            </a:r>
            <a:r>
              <a:rPr lang="tr-TR" altLang="tr-TR" sz="2800" dirty="0" smtClean="0"/>
              <a:t> 2/4</a:t>
            </a:r>
          </a:p>
          <a:p>
            <a:r>
              <a:rPr lang="tr-TR" altLang="tr-TR" sz="2800" smtClean="0"/>
              <a:t>Her sektörün kapasitesi 512 bayt</a:t>
            </a:r>
          </a:p>
          <a:p>
            <a:r>
              <a:rPr lang="tr-TR" altLang="tr-TR" sz="2800" dirty="0" smtClean="0"/>
              <a:t>Dönüş Hızı 7200 </a:t>
            </a:r>
            <a:r>
              <a:rPr lang="tr-TR" altLang="tr-TR" sz="2800" dirty="0" err="1" smtClean="0"/>
              <a:t>rpm</a:t>
            </a:r>
            <a:endParaRPr lang="tr-TR" altLang="tr-TR" sz="2800" dirty="0" smtClean="0"/>
          </a:p>
          <a:p>
            <a:r>
              <a:rPr lang="tr-TR" altLang="tr-TR" sz="2800" dirty="0" smtClean="0"/>
              <a:t>Ortalama Erişim 8.5 milisaniye</a:t>
            </a:r>
          </a:p>
          <a:p>
            <a:r>
              <a:rPr lang="tr-TR" altLang="tr-TR" sz="2800" dirty="0" smtClean="0"/>
              <a:t>Ortalama gecikme 4.16 milisaniye</a:t>
            </a:r>
          </a:p>
        </p:txBody>
      </p:sp>
    </p:spTree>
    <p:extLst>
      <p:ext uri="{BB962C8B-B14F-4D97-AF65-F5344CB8AC3E}">
        <p14:creationId xmlns:p14="http://schemas.microsoft.com/office/powerpoint/2010/main" val="322675709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457200" y="274638"/>
            <a:ext cx="8229600" cy="635000"/>
          </a:xfrm>
        </p:spPr>
        <p:txBody>
          <a:bodyPr/>
          <a:lstStyle/>
          <a:p>
            <a:r>
              <a:rPr lang="tr-TR" sz="4000" b="1" dirty="0"/>
              <a:t>SSD (Solid </a:t>
            </a:r>
            <a:r>
              <a:rPr lang="tr-TR" sz="4000" b="1" dirty="0" err="1"/>
              <a:t>State</a:t>
            </a:r>
            <a:r>
              <a:rPr lang="tr-TR" sz="4000" b="1" dirty="0"/>
              <a:t> Disk – Katı Hal Diski</a:t>
            </a:r>
            <a:endParaRPr lang="tr-TR" sz="4000" dirty="0"/>
          </a:p>
        </p:txBody>
      </p:sp>
      <p:sp>
        <p:nvSpPr>
          <p:cNvPr id="3" name="İçerik Yer Tutucusu 2"/>
          <p:cNvSpPr>
            <a:spLocks noGrp="1"/>
          </p:cNvSpPr>
          <p:nvPr>
            <p:ph idx="1"/>
          </p:nvPr>
        </p:nvSpPr>
        <p:spPr>
          <a:xfrm>
            <a:off x="457200" y="1052736"/>
            <a:ext cx="8229600" cy="5073427"/>
          </a:xfrm>
        </p:spPr>
        <p:txBody>
          <a:bodyPr/>
          <a:lstStyle/>
          <a:p>
            <a:pPr algn="just"/>
            <a:r>
              <a:rPr lang="tr-TR" sz="2400" dirty="0"/>
              <a:t>Katı hal disk teknolojisinin arkasındaki düşünce, veriyi manyetik plakalar yerine yeniden yazılabilir </a:t>
            </a:r>
            <a:r>
              <a:rPr lang="tr-TR" sz="2400" dirty="0" err="1"/>
              <a:t>flash</a:t>
            </a:r>
            <a:r>
              <a:rPr lang="tr-TR" sz="2400" dirty="0"/>
              <a:t> belleklere kaydetmektir. Aslında USB belleklerden MP3 çalarlara kadar bu tarz bellekleri küçük çaplı depolama gereksinimlerimiz için uzunca bir süredir kullanıyoruz. Yeni disklerin üstünlükleri, yalnızca hızlı veri erişimi ve performansın sürekliliğini sağlamakla sınırlı değildir. </a:t>
            </a:r>
            <a:r>
              <a:rPr lang="tr-TR" sz="2400" dirty="0" err="1"/>
              <a:t>SSDlerde</a:t>
            </a:r>
            <a:r>
              <a:rPr lang="tr-TR" sz="2400" dirty="0"/>
              <a:t> hareketli parçaların olmamasının bile çok önemli getirileri var. </a:t>
            </a:r>
            <a:endParaRPr lang="tr-TR" sz="2400" dirty="0" smtClean="0"/>
          </a:p>
          <a:p>
            <a:pPr marL="0" indent="0" algn="just">
              <a:buNone/>
            </a:pPr>
            <a:endParaRPr lang="tr-TR" sz="2400" dirty="0"/>
          </a:p>
        </p:txBody>
      </p:sp>
    </p:spTree>
    <p:extLst>
      <p:ext uri="{BB962C8B-B14F-4D97-AF65-F5344CB8AC3E}">
        <p14:creationId xmlns:p14="http://schemas.microsoft.com/office/powerpoint/2010/main" val="90000547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sz="4000" b="1" dirty="0"/>
              <a:t>SSD (Solid </a:t>
            </a:r>
            <a:r>
              <a:rPr lang="tr-TR" sz="4000" b="1" dirty="0" err="1"/>
              <a:t>State</a:t>
            </a:r>
            <a:r>
              <a:rPr lang="tr-TR" sz="4000" b="1" dirty="0"/>
              <a:t> Disk – Katı Hal Diski</a:t>
            </a:r>
            <a:endParaRPr lang="tr-TR" sz="4000" dirty="0"/>
          </a:p>
        </p:txBody>
      </p:sp>
      <p:sp>
        <p:nvSpPr>
          <p:cNvPr id="3" name="İçerik Yer Tutucusu 2"/>
          <p:cNvSpPr>
            <a:spLocks noGrp="1"/>
          </p:cNvSpPr>
          <p:nvPr>
            <p:ph idx="1"/>
          </p:nvPr>
        </p:nvSpPr>
        <p:spPr/>
        <p:txBody>
          <a:bodyPr/>
          <a:lstStyle/>
          <a:p>
            <a:r>
              <a:rPr lang="tr-TR" sz="2000" dirty="0"/>
              <a:t>Örneğin, klasik sabit disklere göre daha az ısınıyorlar, genellikle daha az güç harcıyorlar ve tümüyle sessiz çalışıyorlar. Ayrıca aşırı sıcağa, soğuğa, çarpma ve düşmelere karşı daha dayanıklılar. Bu nedenle  </a:t>
            </a:r>
            <a:r>
              <a:rPr lang="tr-TR" sz="2000" dirty="0" err="1"/>
              <a:t>SSDler</a:t>
            </a:r>
            <a:r>
              <a:rPr lang="tr-TR" sz="2000" dirty="0"/>
              <a:t>, özellikle dizüstü bilgisayarlar ve zor koşullarda çalışmak üzere tasarlanmış bilgisayarlar için ideal bir depolama birimidir.</a:t>
            </a:r>
          </a:p>
          <a:p>
            <a:endParaRPr lang="tr-TR" sz="2000" dirty="0"/>
          </a:p>
        </p:txBody>
      </p:sp>
      <p:pic>
        <p:nvPicPr>
          <p:cNvPr id="4" name="Picture 5" descr="http://4.bp.blogspot.com/-pG1GY9_mH68/UC6jY-HdALI/AAAAAAAAMD4/jwiFKNxlExc/s1600/vertex-3-pcb-top.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6221" y="3284984"/>
            <a:ext cx="5740425" cy="35608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722633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Başlık 1"/>
          <p:cNvSpPr>
            <a:spLocks noGrp="1"/>
          </p:cNvSpPr>
          <p:nvPr>
            <p:ph type="title"/>
          </p:nvPr>
        </p:nvSpPr>
        <p:spPr/>
        <p:txBody>
          <a:bodyPr/>
          <a:lstStyle/>
          <a:p>
            <a:r>
              <a:rPr lang="tr-TR" altLang="tr-TR" sz="3600" smtClean="0"/>
              <a:t>Mantıksal görünüm </a:t>
            </a:r>
            <a:r>
              <a:rPr lang="en-US" altLang="tr-TR" sz="3600" smtClean="0"/>
              <a:t>vs. </a:t>
            </a:r>
            <a:r>
              <a:rPr lang="tr-TR" altLang="tr-TR" sz="3600" smtClean="0"/>
              <a:t>Fiziksel görünüm</a:t>
            </a:r>
          </a:p>
        </p:txBody>
      </p:sp>
      <p:sp>
        <p:nvSpPr>
          <p:cNvPr id="6147" name="İçerik Yer Tutucusu 2"/>
          <p:cNvSpPr>
            <a:spLocks noGrp="1"/>
          </p:cNvSpPr>
          <p:nvPr>
            <p:ph idx="1"/>
          </p:nvPr>
        </p:nvSpPr>
        <p:spPr/>
        <p:txBody>
          <a:bodyPr/>
          <a:lstStyle/>
          <a:p>
            <a:r>
              <a:rPr lang="tr-TR" altLang="tr-TR" smtClean="0"/>
              <a:t>Fiziksel Dosya: Dizin içinde bulunan, işletim sistemi tarafından bilinen, ikincil bellek üzerinde fiziksel olarak bulunan dosyadır</a:t>
            </a:r>
          </a:p>
          <a:p>
            <a:r>
              <a:rPr lang="tr-TR" altLang="tr-TR" smtClean="0"/>
              <a:t>Mantıksal Dosya: herhangi bir programın bir hat üzerinden bilginin ayıklandığı veya gönderildiği  yapıdır.</a:t>
            </a:r>
          </a:p>
          <a:p>
            <a:r>
              <a:rPr lang="tr-TR" altLang="tr-TR" smtClean="0"/>
              <a:t>Fiziksel dosyaya mantıksal dosya üzerinden erişim gerçekleştirilir.</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5"/>
          <p:cNvSpPr>
            <a:spLocks noGrp="1" noChangeArrowheads="1"/>
          </p:cNvSpPr>
          <p:nvPr>
            <p:ph type="title"/>
          </p:nvPr>
        </p:nvSpPr>
        <p:spPr>
          <a:xfrm>
            <a:off x="838200" y="228600"/>
            <a:ext cx="7924800" cy="1143000"/>
          </a:xfrm>
        </p:spPr>
        <p:txBody>
          <a:bodyPr/>
          <a:lstStyle/>
          <a:p>
            <a:pPr eaLnBrk="1" hangingPunct="1"/>
            <a:r>
              <a:rPr lang="en-US" altLang="tr-TR" sz="4000" smtClean="0"/>
              <a:t>Logical View vs. Physical View</a:t>
            </a:r>
          </a:p>
        </p:txBody>
      </p:sp>
      <p:pic>
        <p:nvPicPr>
          <p:cNvPr id="7171" name="Picture 6" descr="C:\Documents and Settings\All Users\Documents\Home\Bentley\cs220\IrvTextbookV3\Images\Ch16\c16f04.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1524000"/>
            <a:ext cx="5486400" cy="467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457200" y="274638"/>
            <a:ext cx="8229600" cy="922114"/>
          </a:xfrm>
        </p:spPr>
        <p:txBody>
          <a:bodyPr/>
          <a:lstStyle/>
          <a:p>
            <a:r>
              <a:rPr lang="tr-TR" b="1" dirty="0">
                <a:solidFill>
                  <a:srgbClr val="0070C0"/>
                </a:solidFill>
                <a:latin typeface="Arial" charset="0"/>
                <a:cs typeface="Arial" charset="0"/>
              </a:rPr>
              <a:t>Disk </a:t>
            </a:r>
            <a:r>
              <a:rPr lang="tr-TR" b="1" dirty="0" smtClean="0">
                <a:solidFill>
                  <a:srgbClr val="0070C0"/>
                </a:solidFill>
                <a:latin typeface="Arial" charset="0"/>
                <a:cs typeface="Arial" charset="0"/>
              </a:rPr>
              <a:t>Çizelgelemeleri</a:t>
            </a:r>
            <a:endParaRPr lang="tr-TR" dirty="0"/>
          </a:p>
        </p:txBody>
      </p:sp>
      <p:sp>
        <p:nvSpPr>
          <p:cNvPr id="8195" name="5 İçerik Yer Tutucusu"/>
          <p:cNvSpPr>
            <a:spLocks noGrp="1"/>
          </p:cNvSpPr>
          <p:nvPr>
            <p:ph idx="1"/>
          </p:nvPr>
        </p:nvSpPr>
        <p:spPr/>
        <p:txBody>
          <a:bodyPr/>
          <a:lstStyle/>
          <a:p>
            <a:pPr eaLnBrk="1" hangingPunct="1">
              <a:buFont typeface="Wingdings" pitchFamily="2" charset="2"/>
              <a:buNone/>
              <a:defRPr/>
            </a:pPr>
            <a:r>
              <a:rPr lang="tr-TR" dirty="0" smtClean="0">
                <a:latin typeface="Arial" charset="0"/>
                <a:cs typeface="Arial" charset="0"/>
              </a:rPr>
              <a:t>	</a:t>
            </a:r>
            <a:r>
              <a:rPr lang="tr-TR" sz="2000" dirty="0" smtClean="0">
                <a:latin typeface="Arial" charset="0"/>
                <a:cs typeface="Arial" charset="0"/>
              </a:rPr>
              <a:t>İkincil bellek üzerinde çok sayıda okuma/yazma işlemi yapılmaktadır. Bu nedenle okuma/yazma işlemlerinin çok hızlı gerçekleştirilmesi gerekir. Disk hızını belirleyen 3 etken vardır :</a:t>
            </a:r>
          </a:p>
          <a:p>
            <a:pPr eaLnBrk="1" hangingPunct="1">
              <a:lnSpc>
                <a:spcPts val="1300"/>
              </a:lnSpc>
              <a:spcBef>
                <a:spcPct val="0"/>
              </a:spcBef>
              <a:buFont typeface="Wingdings" pitchFamily="2" charset="2"/>
              <a:buNone/>
              <a:defRPr/>
            </a:pPr>
            <a:endParaRPr lang="tr-TR" sz="2200" dirty="0" smtClean="0">
              <a:latin typeface="Arial" charset="0"/>
              <a:cs typeface="Arial" charset="0"/>
            </a:endParaRPr>
          </a:p>
          <a:p>
            <a:pPr eaLnBrk="1" hangingPunct="1">
              <a:buFont typeface="Wingdings" pitchFamily="2" charset="2"/>
              <a:buNone/>
              <a:defRPr/>
            </a:pPr>
            <a:r>
              <a:rPr lang="tr-TR" dirty="0" smtClean="0">
                <a:latin typeface="Arial" charset="0"/>
                <a:cs typeface="Arial" charset="0"/>
              </a:rPr>
              <a:t>	</a:t>
            </a:r>
            <a:r>
              <a:rPr lang="tr-TR" sz="1900" b="1" dirty="0" smtClean="0">
                <a:solidFill>
                  <a:schemeClr val="accent1">
                    <a:lumMod val="75000"/>
                  </a:schemeClr>
                </a:solidFill>
                <a:latin typeface="Arial" charset="0"/>
                <a:cs typeface="Arial" charset="0"/>
              </a:rPr>
              <a:t>1.</a:t>
            </a:r>
            <a:r>
              <a:rPr lang="tr-TR" sz="1900" b="1" dirty="0" smtClean="0">
                <a:solidFill>
                  <a:srgbClr val="0070C0"/>
                </a:solidFill>
                <a:latin typeface="Arial" charset="0"/>
                <a:cs typeface="Arial" charset="0"/>
              </a:rPr>
              <a:t> </a:t>
            </a:r>
            <a:r>
              <a:rPr lang="tr-TR" sz="1900" dirty="0" smtClean="0">
                <a:latin typeface="Arial" charset="0"/>
                <a:cs typeface="Arial" charset="0"/>
              </a:rPr>
              <a:t>Sistem öncelikle kafayı uygun iz ya da silindir üzerine hareket ettirir. Bu harekete </a:t>
            </a:r>
            <a:r>
              <a:rPr lang="tr-TR" sz="1900" b="1" dirty="0" smtClean="0">
                <a:solidFill>
                  <a:srgbClr val="0070C0"/>
                </a:solidFill>
                <a:latin typeface="Arial" charset="0"/>
                <a:cs typeface="Arial" charset="0"/>
              </a:rPr>
              <a:t>”Arama”</a:t>
            </a:r>
            <a:r>
              <a:rPr lang="tr-TR" sz="1900" dirty="0" smtClean="0">
                <a:latin typeface="Arial" charset="0"/>
                <a:cs typeface="Arial" charset="0"/>
              </a:rPr>
              <a:t>, geçen süreye de </a:t>
            </a:r>
            <a:r>
              <a:rPr lang="tr-TR" sz="1900" b="1" dirty="0" smtClean="0">
                <a:solidFill>
                  <a:srgbClr val="0070C0"/>
                </a:solidFill>
                <a:latin typeface="Arial" charset="0"/>
                <a:cs typeface="Arial" charset="0"/>
              </a:rPr>
              <a:t>”Arama Süresi” </a:t>
            </a:r>
            <a:r>
              <a:rPr lang="tr-TR" sz="1900" dirty="0" smtClean="0">
                <a:latin typeface="Arial" charset="0"/>
                <a:cs typeface="Arial" charset="0"/>
              </a:rPr>
              <a:t>denir. </a:t>
            </a:r>
          </a:p>
          <a:p>
            <a:pPr eaLnBrk="1" hangingPunct="1">
              <a:lnSpc>
                <a:spcPts val="1400"/>
              </a:lnSpc>
              <a:spcBef>
                <a:spcPct val="0"/>
              </a:spcBef>
              <a:buFont typeface="Wingdings" pitchFamily="2" charset="2"/>
              <a:buNone/>
              <a:defRPr/>
            </a:pPr>
            <a:endParaRPr lang="tr-TR" sz="2200" dirty="0" smtClean="0">
              <a:latin typeface="Arial" charset="0"/>
              <a:cs typeface="Arial" charset="0"/>
            </a:endParaRPr>
          </a:p>
          <a:p>
            <a:pPr eaLnBrk="1" hangingPunct="1">
              <a:buFont typeface="Wingdings" pitchFamily="2" charset="2"/>
              <a:buNone/>
              <a:defRPr/>
            </a:pPr>
            <a:r>
              <a:rPr lang="tr-TR" sz="2200" dirty="0" smtClean="0">
                <a:latin typeface="Arial" charset="0"/>
                <a:cs typeface="Arial" charset="0"/>
              </a:rPr>
              <a:t>	</a:t>
            </a:r>
            <a:r>
              <a:rPr lang="tr-TR" sz="1900" b="1" dirty="0" smtClean="0">
                <a:solidFill>
                  <a:schemeClr val="accent1">
                    <a:lumMod val="75000"/>
                  </a:schemeClr>
                </a:solidFill>
                <a:latin typeface="Arial" charset="0"/>
                <a:cs typeface="Arial" charset="0"/>
              </a:rPr>
              <a:t>2.</a:t>
            </a:r>
            <a:r>
              <a:rPr lang="tr-TR" sz="1900" b="1" dirty="0" smtClean="0">
                <a:solidFill>
                  <a:srgbClr val="0070C0"/>
                </a:solidFill>
                <a:latin typeface="Arial" charset="0"/>
                <a:cs typeface="Arial" charset="0"/>
              </a:rPr>
              <a:t> </a:t>
            </a:r>
            <a:r>
              <a:rPr lang="tr-TR" sz="1900" dirty="0" smtClean="0">
                <a:latin typeface="Arial" charset="0"/>
                <a:cs typeface="Arial" charset="0"/>
              </a:rPr>
              <a:t>Kafa uygun </a:t>
            </a:r>
            <a:r>
              <a:rPr lang="tr-TR" sz="1900" dirty="0" err="1" smtClean="0">
                <a:latin typeface="Arial" charset="0"/>
                <a:cs typeface="Arial" charset="0"/>
              </a:rPr>
              <a:t>track</a:t>
            </a:r>
            <a:r>
              <a:rPr lang="tr-TR" sz="1900" dirty="0" smtClean="0">
                <a:latin typeface="Arial" charset="0"/>
                <a:cs typeface="Arial" charset="0"/>
              </a:rPr>
              <a:t>(iz) üzerindeyken, doğru sektöre gelene kadar geçen süreye de </a:t>
            </a:r>
            <a:r>
              <a:rPr lang="tr-TR" sz="1900" b="1" dirty="0" smtClean="0">
                <a:solidFill>
                  <a:srgbClr val="0070C0"/>
                </a:solidFill>
                <a:latin typeface="Arial" charset="0"/>
                <a:cs typeface="Arial" charset="0"/>
              </a:rPr>
              <a:t>”</a:t>
            </a:r>
            <a:r>
              <a:rPr lang="tr-TR" sz="1900" b="1" dirty="0" err="1" smtClean="0">
                <a:solidFill>
                  <a:srgbClr val="0070C0"/>
                </a:solidFill>
                <a:latin typeface="Arial" charset="0"/>
                <a:cs typeface="Arial" charset="0"/>
              </a:rPr>
              <a:t>Rotasyonel</a:t>
            </a:r>
            <a:r>
              <a:rPr lang="tr-TR" sz="1900" b="1" dirty="0" smtClean="0">
                <a:solidFill>
                  <a:srgbClr val="0070C0"/>
                </a:solidFill>
                <a:latin typeface="Arial" charset="0"/>
                <a:cs typeface="Arial" charset="0"/>
              </a:rPr>
              <a:t> Gecikme (</a:t>
            </a:r>
            <a:r>
              <a:rPr lang="tr-TR" sz="1900" b="1" dirty="0" err="1" smtClean="0">
                <a:solidFill>
                  <a:srgbClr val="0070C0"/>
                </a:solidFill>
                <a:latin typeface="Arial" charset="0"/>
                <a:cs typeface="Arial" charset="0"/>
              </a:rPr>
              <a:t>Rotational</a:t>
            </a:r>
            <a:r>
              <a:rPr lang="tr-TR" sz="1900" b="1" dirty="0" smtClean="0">
                <a:solidFill>
                  <a:srgbClr val="0070C0"/>
                </a:solidFill>
                <a:latin typeface="Arial" charset="0"/>
                <a:cs typeface="Arial" charset="0"/>
              </a:rPr>
              <a:t> </a:t>
            </a:r>
            <a:r>
              <a:rPr lang="tr-TR" sz="1900" b="1" dirty="0" err="1" smtClean="0">
                <a:solidFill>
                  <a:srgbClr val="0070C0"/>
                </a:solidFill>
                <a:latin typeface="Arial" charset="0"/>
                <a:cs typeface="Arial" charset="0"/>
              </a:rPr>
              <a:t>Delay</a:t>
            </a:r>
            <a:r>
              <a:rPr lang="tr-TR" sz="1900" b="1" dirty="0" smtClean="0">
                <a:solidFill>
                  <a:srgbClr val="0070C0"/>
                </a:solidFill>
                <a:latin typeface="Arial" charset="0"/>
                <a:cs typeface="Arial" charset="0"/>
              </a:rPr>
              <a:t>)” </a:t>
            </a:r>
            <a:r>
              <a:rPr lang="tr-TR" sz="1900" dirty="0" smtClean="0">
                <a:latin typeface="Arial" charset="0"/>
                <a:cs typeface="Arial" charset="0"/>
              </a:rPr>
              <a:t>denir.</a:t>
            </a:r>
          </a:p>
          <a:p>
            <a:pPr eaLnBrk="1" hangingPunct="1">
              <a:lnSpc>
                <a:spcPts val="1400"/>
              </a:lnSpc>
              <a:spcBef>
                <a:spcPct val="0"/>
              </a:spcBef>
              <a:buFont typeface="Wingdings" pitchFamily="2" charset="2"/>
              <a:buNone/>
              <a:defRPr/>
            </a:pPr>
            <a:endParaRPr lang="tr-TR" sz="2200" dirty="0" smtClean="0">
              <a:latin typeface="Arial" charset="0"/>
              <a:cs typeface="Arial" charset="0"/>
            </a:endParaRPr>
          </a:p>
          <a:p>
            <a:pPr eaLnBrk="1" hangingPunct="1">
              <a:buFont typeface="Wingdings" pitchFamily="2" charset="2"/>
              <a:buNone/>
              <a:defRPr/>
            </a:pPr>
            <a:r>
              <a:rPr lang="tr-TR" sz="2200" dirty="0" smtClean="0">
                <a:latin typeface="Arial" charset="0"/>
                <a:cs typeface="Arial" charset="0"/>
              </a:rPr>
              <a:t>	</a:t>
            </a:r>
            <a:r>
              <a:rPr lang="tr-TR" sz="1900" b="1" dirty="0" smtClean="0">
                <a:solidFill>
                  <a:schemeClr val="accent1">
                    <a:lumMod val="75000"/>
                  </a:schemeClr>
                </a:solidFill>
                <a:latin typeface="Arial" charset="0"/>
                <a:cs typeface="Arial" charset="0"/>
              </a:rPr>
              <a:t>3.</a:t>
            </a:r>
            <a:r>
              <a:rPr lang="tr-TR" sz="1900" b="1" dirty="0" smtClean="0">
                <a:solidFill>
                  <a:srgbClr val="0070C0"/>
                </a:solidFill>
                <a:latin typeface="Arial" charset="0"/>
                <a:cs typeface="Arial" charset="0"/>
              </a:rPr>
              <a:t> </a:t>
            </a:r>
            <a:r>
              <a:rPr lang="tr-TR" sz="1900" dirty="0" smtClean="0">
                <a:latin typeface="Arial" charset="0"/>
                <a:cs typeface="Arial" charset="0"/>
              </a:rPr>
              <a:t>Son olarak bilgi diskten okunarak ana belleğe transfer edilinceye kadar geçen süreye de </a:t>
            </a:r>
            <a:r>
              <a:rPr lang="tr-TR" sz="1900" b="1" dirty="0" smtClean="0">
                <a:solidFill>
                  <a:srgbClr val="0070C0"/>
                </a:solidFill>
                <a:latin typeface="Arial" charset="0"/>
                <a:cs typeface="Arial" charset="0"/>
              </a:rPr>
              <a:t>”Transfer Süresi” </a:t>
            </a:r>
            <a:r>
              <a:rPr lang="tr-TR" sz="1900" dirty="0" smtClean="0">
                <a:latin typeface="Arial" charset="0"/>
                <a:cs typeface="Arial" charset="0"/>
              </a:rPr>
              <a:t>denir.</a:t>
            </a:r>
          </a:p>
          <a:p>
            <a:pPr eaLnBrk="1" hangingPunct="1">
              <a:buFont typeface="Wingdings" pitchFamily="2" charset="2"/>
              <a:buNone/>
              <a:defRPr/>
            </a:pPr>
            <a:endParaRPr lang="tr-TR" sz="1900" dirty="0" smtClean="0">
              <a:latin typeface="Arial" charset="0"/>
              <a:cs typeface="Arial" charset="0"/>
            </a:endParaRPr>
          </a:p>
        </p:txBody>
      </p:sp>
    </p:spTree>
    <p:extLst>
      <p:ext uri="{BB962C8B-B14F-4D97-AF65-F5344CB8AC3E}">
        <p14:creationId xmlns:p14="http://schemas.microsoft.com/office/powerpoint/2010/main" val="330828714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457200" y="274638"/>
            <a:ext cx="8229600" cy="922114"/>
          </a:xfrm>
        </p:spPr>
        <p:txBody>
          <a:bodyPr/>
          <a:lstStyle/>
          <a:p>
            <a:r>
              <a:rPr lang="tr-TR" sz="4000" b="1" dirty="0">
                <a:solidFill>
                  <a:srgbClr val="0070C0"/>
                </a:solidFill>
                <a:latin typeface="Arial" charset="0"/>
                <a:cs typeface="Arial" charset="0"/>
              </a:rPr>
              <a:t>Disk </a:t>
            </a:r>
            <a:r>
              <a:rPr lang="tr-TR" sz="4000" b="1" dirty="0" smtClean="0">
                <a:solidFill>
                  <a:srgbClr val="0070C0"/>
                </a:solidFill>
                <a:latin typeface="Arial" charset="0"/>
                <a:cs typeface="Arial" charset="0"/>
              </a:rPr>
              <a:t>Çizelgeleme Algoritmaları</a:t>
            </a:r>
            <a:endParaRPr lang="tr-TR" sz="4000" dirty="0"/>
          </a:p>
        </p:txBody>
      </p:sp>
      <p:sp>
        <p:nvSpPr>
          <p:cNvPr id="8195" name="5 İçerik Yer Tutucusu"/>
          <p:cNvSpPr>
            <a:spLocks noGrp="1"/>
          </p:cNvSpPr>
          <p:nvPr>
            <p:ph idx="1"/>
          </p:nvPr>
        </p:nvSpPr>
        <p:spPr>
          <a:xfrm>
            <a:off x="457200" y="1196752"/>
            <a:ext cx="8229600" cy="4929411"/>
          </a:xfrm>
        </p:spPr>
        <p:txBody>
          <a:bodyPr/>
          <a:lstStyle/>
          <a:p>
            <a:pPr eaLnBrk="1" hangingPunct="1">
              <a:buFont typeface="Wingdings" pitchFamily="2" charset="2"/>
              <a:buNone/>
              <a:defRPr/>
            </a:pPr>
            <a:r>
              <a:rPr lang="tr-TR" dirty="0" smtClean="0">
                <a:latin typeface="Arial" charset="0"/>
                <a:cs typeface="Arial" charset="0"/>
              </a:rPr>
              <a:t>	</a:t>
            </a:r>
            <a:r>
              <a:rPr lang="tr-TR" sz="2000" dirty="0" smtClean="0">
                <a:latin typeface="Arial" charset="0"/>
                <a:cs typeface="Arial" charset="0"/>
              </a:rPr>
              <a:t>Bir diskin okuma/yazma isteğine cevap vermesi bu üç sürenin toplamıyla bulunur. Arama süresinin kısa olması ve kafanın istenilen bloğa hızlı ulaşabilmesi için, çeşitli disk çizelgeleme algoritmaları geliştirilmiştir. Bunlardan bazıları :</a:t>
            </a:r>
          </a:p>
          <a:p>
            <a:pPr eaLnBrk="1" hangingPunct="1">
              <a:lnSpc>
                <a:spcPts val="1300"/>
              </a:lnSpc>
              <a:spcBef>
                <a:spcPct val="0"/>
              </a:spcBef>
              <a:buFont typeface="Wingdings" pitchFamily="2" charset="2"/>
              <a:buNone/>
              <a:defRPr/>
            </a:pPr>
            <a:endParaRPr lang="tr-TR" sz="2200" dirty="0" smtClean="0">
              <a:latin typeface="Arial" charset="0"/>
              <a:cs typeface="Arial" charset="0"/>
            </a:endParaRPr>
          </a:p>
          <a:p>
            <a:pPr eaLnBrk="1" hangingPunct="1">
              <a:buFont typeface="Wingdings" pitchFamily="2" charset="2"/>
              <a:buNone/>
              <a:defRPr/>
            </a:pPr>
            <a:r>
              <a:rPr lang="tr-TR" dirty="0" smtClean="0">
                <a:latin typeface="Arial" charset="0"/>
                <a:cs typeface="Arial" charset="0"/>
              </a:rPr>
              <a:t>	</a:t>
            </a:r>
            <a:r>
              <a:rPr lang="tr-TR" sz="1900" b="1" dirty="0" smtClean="0">
                <a:solidFill>
                  <a:schemeClr val="accent1">
                    <a:lumMod val="75000"/>
                  </a:schemeClr>
                </a:solidFill>
                <a:latin typeface="Arial" charset="0"/>
                <a:cs typeface="Arial" charset="0"/>
              </a:rPr>
              <a:t>1.</a:t>
            </a:r>
            <a:r>
              <a:rPr lang="tr-TR" sz="1900" b="1" dirty="0" smtClean="0">
                <a:solidFill>
                  <a:srgbClr val="0070C0"/>
                </a:solidFill>
                <a:latin typeface="Arial" charset="0"/>
                <a:cs typeface="Arial" charset="0"/>
              </a:rPr>
              <a:t> FIFO (İlk gelen ilk hizmet) disk çizelgeleme algoritması</a:t>
            </a:r>
            <a:endParaRPr lang="tr-TR" sz="1900" dirty="0" smtClean="0">
              <a:latin typeface="Arial" charset="0"/>
              <a:cs typeface="Arial" charset="0"/>
            </a:endParaRPr>
          </a:p>
          <a:p>
            <a:pPr eaLnBrk="1" hangingPunct="1">
              <a:lnSpc>
                <a:spcPts val="300"/>
              </a:lnSpc>
              <a:spcBef>
                <a:spcPct val="0"/>
              </a:spcBef>
              <a:buFont typeface="Wingdings" pitchFamily="2" charset="2"/>
              <a:buNone/>
              <a:defRPr/>
            </a:pPr>
            <a:endParaRPr lang="tr-TR" sz="2200" dirty="0" smtClean="0">
              <a:latin typeface="Arial" charset="0"/>
              <a:cs typeface="Arial" charset="0"/>
            </a:endParaRPr>
          </a:p>
          <a:p>
            <a:pPr eaLnBrk="1" hangingPunct="1">
              <a:buFont typeface="Wingdings" pitchFamily="2" charset="2"/>
              <a:buNone/>
              <a:defRPr/>
            </a:pPr>
            <a:r>
              <a:rPr lang="tr-TR" sz="2200" dirty="0" smtClean="0">
                <a:latin typeface="Arial" charset="0"/>
                <a:cs typeface="Arial" charset="0"/>
              </a:rPr>
              <a:t>	</a:t>
            </a:r>
            <a:r>
              <a:rPr lang="tr-TR" sz="1900" b="1" dirty="0" smtClean="0">
                <a:solidFill>
                  <a:schemeClr val="accent1">
                    <a:lumMod val="75000"/>
                  </a:schemeClr>
                </a:solidFill>
                <a:latin typeface="Arial" charset="0"/>
                <a:cs typeface="Arial" charset="0"/>
              </a:rPr>
              <a:t>2. </a:t>
            </a:r>
            <a:r>
              <a:rPr lang="tr-TR" sz="1900" b="1" dirty="0" smtClean="0">
                <a:solidFill>
                  <a:srgbClr val="0070C0"/>
                </a:solidFill>
                <a:latin typeface="Arial" charset="0"/>
                <a:cs typeface="Arial" charset="0"/>
              </a:rPr>
              <a:t>SCAN disk çizelgeleme algoritması</a:t>
            </a:r>
          </a:p>
          <a:p>
            <a:pPr eaLnBrk="1" hangingPunct="1">
              <a:lnSpc>
                <a:spcPts val="300"/>
              </a:lnSpc>
              <a:spcBef>
                <a:spcPct val="0"/>
              </a:spcBef>
              <a:buFont typeface="Wingdings" pitchFamily="2" charset="2"/>
              <a:buNone/>
              <a:defRPr/>
            </a:pPr>
            <a:endParaRPr lang="tr-TR" sz="2200" dirty="0" smtClean="0">
              <a:latin typeface="Arial" charset="0"/>
              <a:cs typeface="Arial" charset="0"/>
            </a:endParaRPr>
          </a:p>
          <a:p>
            <a:pPr eaLnBrk="1" hangingPunct="1">
              <a:buFont typeface="Wingdings" pitchFamily="2" charset="2"/>
              <a:buNone/>
              <a:defRPr/>
            </a:pPr>
            <a:r>
              <a:rPr lang="tr-TR" sz="2200" dirty="0" smtClean="0">
                <a:latin typeface="Arial" charset="0"/>
                <a:cs typeface="Arial" charset="0"/>
              </a:rPr>
              <a:t>	</a:t>
            </a:r>
            <a:r>
              <a:rPr lang="tr-TR" sz="1900" b="1" dirty="0" smtClean="0">
                <a:solidFill>
                  <a:schemeClr val="accent1">
                    <a:lumMod val="75000"/>
                  </a:schemeClr>
                </a:solidFill>
                <a:latin typeface="Arial" charset="0"/>
                <a:cs typeface="Arial" charset="0"/>
              </a:rPr>
              <a:t>3. </a:t>
            </a:r>
            <a:r>
              <a:rPr lang="tr-TR" sz="1900" b="1" dirty="0" smtClean="0">
                <a:solidFill>
                  <a:srgbClr val="0070C0"/>
                </a:solidFill>
                <a:latin typeface="Arial" charset="0"/>
                <a:cs typeface="Arial" charset="0"/>
              </a:rPr>
              <a:t>C-SCAN disk çizelgeleme algoritması</a:t>
            </a:r>
          </a:p>
          <a:p>
            <a:pPr eaLnBrk="1" hangingPunct="1">
              <a:lnSpc>
                <a:spcPts val="300"/>
              </a:lnSpc>
              <a:spcBef>
                <a:spcPts val="0"/>
              </a:spcBef>
              <a:buFont typeface="Wingdings" pitchFamily="2" charset="2"/>
              <a:buNone/>
              <a:defRPr/>
            </a:pPr>
            <a:endParaRPr lang="tr-TR" sz="1900" b="1" dirty="0" smtClean="0">
              <a:solidFill>
                <a:srgbClr val="0070C0"/>
              </a:solidFill>
              <a:latin typeface="Arial" charset="0"/>
              <a:cs typeface="Arial" charset="0"/>
            </a:endParaRPr>
          </a:p>
          <a:p>
            <a:pPr eaLnBrk="1" hangingPunct="1">
              <a:buFont typeface="Wingdings" pitchFamily="2" charset="2"/>
              <a:buNone/>
              <a:defRPr/>
            </a:pPr>
            <a:r>
              <a:rPr lang="tr-TR" sz="1900" b="1" dirty="0" smtClean="0">
                <a:solidFill>
                  <a:srgbClr val="0070C0"/>
                </a:solidFill>
                <a:latin typeface="Arial" charset="0"/>
                <a:cs typeface="Arial" charset="0"/>
              </a:rPr>
              <a:t>	</a:t>
            </a:r>
            <a:r>
              <a:rPr lang="tr-TR" sz="1900" b="1" dirty="0" smtClean="0">
                <a:solidFill>
                  <a:schemeClr val="accent1">
                    <a:lumMod val="75000"/>
                  </a:schemeClr>
                </a:solidFill>
                <a:latin typeface="Arial" charset="0"/>
                <a:cs typeface="Arial" charset="0"/>
              </a:rPr>
              <a:t>4. </a:t>
            </a:r>
            <a:r>
              <a:rPr lang="tr-TR" sz="1900" b="1" dirty="0" smtClean="0">
                <a:solidFill>
                  <a:srgbClr val="0070C0"/>
                </a:solidFill>
                <a:latin typeface="Arial" charset="0"/>
                <a:cs typeface="Arial" charset="0"/>
              </a:rPr>
              <a:t>SSTF (</a:t>
            </a:r>
            <a:r>
              <a:rPr lang="tr-TR" sz="1900" b="1" dirty="0" err="1" smtClean="0">
                <a:solidFill>
                  <a:srgbClr val="0070C0"/>
                </a:solidFill>
                <a:latin typeface="Arial" charset="0"/>
                <a:cs typeface="Arial" charset="0"/>
              </a:rPr>
              <a:t>Shortest</a:t>
            </a:r>
            <a:r>
              <a:rPr lang="tr-TR" sz="1900" b="1" dirty="0" smtClean="0">
                <a:solidFill>
                  <a:srgbClr val="0070C0"/>
                </a:solidFill>
                <a:latin typeface="Arial" charset="0"/>
                <a:cs typeface="Arial" charset="0"/>
              </a:rPr>
              <a:t> </a:t>
            </a:r>
            <a:r>
              <a:rPr lang="tr-TR" sz="1900" b="1" dirty="0" err="1" smtClean="0">
                <a:solidFill>
                  <a:srgbClr val="0070C0"/>
                </a:solidFill>
                <a:latin typeface="Arial" charset="0"/>
                <a:cs typeface="Arial" charset="0"/>
              </a:rPr>
              <a:t>Seek</a:t>
            </a:r>
            <a:r>
              <a:rPr lang="tr-TR" sz="1900" b="1" dirty="0" smtClean="0">
                <a:solidFill>
                  <a:srgbClr val="0070C0"/>
                </a:solidFill>
                <a:latin typeface="Arial" charset="0"/>
                <a:cs typeface="Arial" charset="0"/>
              </a:rPr>
              <a:t> Time </a:t>
            </a:r>
            <a:r>
              <a:rPr lang="tr-TR" sz="1900" b="1" dirty="0" err="1" smtClean="0">
                <a:solidFill>
                  <a:srgbClr val="0070C0"/>
                </a:solidFill>
                <a:latin typeface="Arial" charset="0"/>
                <a:cs typeface="Arial" charset="0"/>
              </a:rPr>
              <a:t>First</a:t>
            </a:r>
            <a:r>
              <a:rPr lang="tr-TR" sz="1900" b="1" dirty="0" smtClean="0">
                <a:solidFill>
                  <a:srgbClr val="0070C0"/>
                </a:solidFill>
                <a:latin typeface="Arial" charset="0"/>
                <a:cs typeface="Arial" charset="0"/>
              </a:rPr>
              <a:t>) disk çizelgeleme algoritması</a:t>
            </a:r>
            <a:endParaRPr lang="tr-TR" sz="1900" dirty="0" smtClean="0">
              <a:latin typeface="Arial" charset="0"/>
              <a:cs typeface="Arial" charset="0"/>
            </a:endParaRPr>
          </a:p>
          <a:p>
            <a:pPr eaLnBrk="1" hangingPunct="1">
              <a:buFont typeface="Wingdings" pitchFamily="2" charset="2"/>
              <a:buNone/>
              <a:defRPr/>
            </a:pPr>
            <a:endParaRPr lang="tr-TR" sz="1900" dirty="0" smtClean="0">
              <a:latin typeface="Arial" charset="0"/>
              <a:cs typeface="Arial" charset="0"/>
            </a:endParaRPr>
          </a:p>
          <a:p>
            <a:pPr eaLnBrk="1" hangingPunct="1">
              <a:buFont typeface="Wingdings" pitchFamily="2" charset="2"/>
              <a:buNone/>
              <a:defRPr/>
            </a:pPr>
            <a:endParaRPr lang="tr-TR" sz="1900" dirty="0" smtClean="0">
              <a:latin typeface="Arial" charset="0"/>
              <a:cs typeface="Arial" charset="0"/>
            </a:endParaRPr>
          </a:p>
        </p:txBody>
      </p:sp>
    </p:spTree>
    <p:extLst>
      <p:ext uri="{BB962C8B-B14F-4D97-AF65-F5344CB8AC3E}">
        <p14:creationId xmlns:p14="http://schemas.microsoft.com/office/powerpoint/2010/main" val="309597121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a:solidFill>
                  <a:schemeClr val="accent1">
                    <a:lumMod val="50000"/>
                  </a:schemeClr>
                </a:solidFill>
                <a:latin typeface="Arial" charset="0"/>
                <a:cs typeface="Arial" charset="0"/>
              </a:rPr>
              <a:t>Disk Çizelgelemeleri</a:t>
            </a:r>
            <a:br>
              <a:rPr lang="tr-TR" b="1" dirty="0">
                <a:solidFill>
                  <a:schemeClr val="accent1">
                    <a:lumMod val="50000"/>
                  </a:schemeClr>
                </a:solidFill>
                <a:latin typeface="Arial" charset="0"/>
                <a:cs typeface="Arial" charset="0"/>
              </a:rPr>
            </a:br>
            <a:r>
              <a:rPr lang="tr-TR" sz="2000" b="1" dirty="0">
                <a:solidFill>
                  <a:schemeClr val="accent1">
                    <a:lumMod val="75000"/>
                  </a:schemeClr>
                </a:solidFill>
                <a:latin typeface="Arial" charset="0"/>
                <a:cs typeface="Arial" charset="0"/>
              </a:rPr>
              <a:t>1.</a:t>
            </a:r>
            <a:r>
              <a:rPr lang="tr-TR" sz="2000" b="1" dirty="0">
                <a:solidFill>
                  <a:srgbClr val="0070C0"/>
                </a:solidFill>
                <a:latin typeface="Arial" charset="0"/>
                <a:cs typeface="Arial" charset="0"/>
              </a:rPr>
              <a:t> FIFO (İlk gelen ilk hizmet) disk çizelgeleme </a:t>
            </a:r>
            <a:r>
              <a:rPr lang="tr-TR" sz="2000" b="1" dirty="0" smtClean="0">
                <a:solidFill>
                  <a:srgbClr val="0070C0"/>
                </a:solidFill>
                <a:latin typeface="Arial" charset="0"/>
                <a:cs typeface="Arial" charset="0"/>
              </a:rPr>
              <a:t>algoritması</a:t>
            </a:r>
            <a:endParaRPr lang="tr-TR" sz="2000" dirty="0"/>
          </a:p>
        </p:txBody>
      </p:sp>
      <p:sp>
        <p:nvSpPr>
          <p:cNvPr id="8195" name="5 İçerik Yer Tutucusu"/>
          <p:cNvSpPr>
            <a:spLocks noGrp="1"/>
          </p:cNvSpPr>
          <p:nvPr>
            <p:ph idx="1"/>
          </p:nvPr>
        </p:nvSpPr>
        <p:spPr>
          <a:xfrm>
            <a:off x="308115" y="2204864"/>
            <a:ext cx="8229600" cy="4525963"/>
          </a:xfrm>
        </p:spPr>
        <p:txBody>
          <a:bodyPr/>
          <a:lstStyle/>
          <a:p>
            <a:pPr eaLnBrk="1" hangingPunct="1">
              <a:buFont typeface="Wingdings" pitchFamily="2" charset="2"/>
              <a:buNone/>
              <a:defRPr/>
            </a:pPr>
            <a:r>
              <a:rPr lang="tr-TR" sz="2000" dirty="0" smtClean="0">
                <a:latin typeface="Arial" charset="0"/>
                <a:cs typeface="Arial" charset="0"/>
              </a:rPr>
              <a:t>En basit disk </a:t>
            </a:r>
            <a:r>
              <a:rPr lang="tr-TR" sz="2000" dirty="0" err="1" smtClean="0">
                <a:latin typeface="Arial" charset="0"/>
                <a:cs typeface="Arial" charset="0"/>
              </a:rPr>
              <a:t>tarifeleme</a:t>
            </a:r>
            <a:r>
              <a:rPr lang="tr-TR" sz="2000" dirty="0" smtClean="0">
                <a:latin typeface="Arial" charset="0"/>
                <a:cs typeface="Arial" charset="0"/>
              </a:rPr>
              <a:t> algoritmasıdır. Disk kuyruğundaki sıraya göre okuma/yazma kafası hareket ettirilir.</a:t>
            </a:r>
            <a:endParaRPr lang="tr-TR" sz="1900" dirty="0" smtClean="0">
              <a:latin typeface="Arial" charset="0"/>
              <a:cs typeface="Arial" charset="0"/>
            </a:endParaRPr>
          </a:p>
          <a:p>
            <a:pPr eaLnBrk="1" hangingPunct="1">
              <a:buFont typeface="Wingdings" pitchFamily="2" charset="2"/>
              <a:buNone/>
              <a:defRPr/>
            </a:pPr>
            <a:endParaRPr lang="tr-TR" sz="1900" dirty="0" smtClean="0">
              <a:latin typeface="Arial" charset="0"/>
              <a:cs typeface="Arial" charset="0"/>
            </a:endParaRPr>
          </a:p>
        </p:txBody>
      </p:sp>
      <p:pic>
        <p:nvPicPr>
          <p:cNvPr id="8" name="7 Resim" descr="fifo.gif"/>
          <p:cNvPicPr>
            <a:picLocks noChangeAspect="1"/>
          </p:cNvPicPr>
          <p:nvPr/>
        </p:nvPicPr>
        <p:blipFill>
          <a:blip r:embed="rId2"/>
          <a:stretch>
            <a:fillRect/>
          </a:stretch>
        </p:blipFill>
        <p:spPr>
          <a:xfrm>
            <a:off x="708165" y="3789040"/>
            <a:ext cx="7429500" cy="2628900"/>
          </a:xfrm>
          <a:prstGeom prst="rect">
            <a:avLst/>
          </a:prstGeom>
          <a:ln>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p:spPr>
      </p:pic>
    </p:spTree>
    <p:extLst>
      <p:ext uri="{BB962C8B-B14F-4D97-AF65-F5344CB8AC3E}">
        <p14:creationId xmlns:p14="http://schemas.microsoft.com/office/powerpoint/2010/main" val="199300781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179512" y="274638"/>
            <a:ext cx="8712968" cy="998389"/>
          </a:xfrm>
        </p:spPr>
        <p:txBody>
          <a:bodyPr/>
          <a:lstStyle/>
          <a:p>
            <a:pPr eaLnBrk="1" hangingPunct="1">
              <a:defRPr/>
            </a:pPr>
            <a:r>
              <a:rPr lang="tr-TR" b="1" dirty="0">
                <a:solidFill>
                  <a:schemeClr val="accent1">
                    <a:lumMod val="50000"/>
                  </a:schemeClr>
                </a:solidFill>
                <a:latin typeface="Arial" charset="0"/>
                <a:cs typeface="Arial" charset="0"/>
              </a:rPr>
              <a:t>Disk Çizelgelemeleri</a:t>
            </a:r>
            <a:br>
              <a:rPr lang="tr-TR" b="1" dirty="0">
                <a:solidFill>
                  <a:schemeClr val="accent1">
                    <a:lumMod val="50000"/>
                  </a:schemeClr>
                </a:solidFill>
                <a:latin typeface="Arial" charset="0"/>
                <a:cs typeface="Arial" charset="0"/>
              </a:rPr>
            </a:br>
            <a:r>
              <a:rPr lang="tr-TR" sz="2400" b="1" dirty="0" smtClean="0">
                <a:solidFill>
                  <a:schemeClr val="accent1">
                    <a:lumMod val="75000"/>
                  </a:schemeClr>
                </a:solidFill>
                <a:latin typeface="Arial" charset="0"/>
                <a:cs typeface="Arial" charset="0"/>
              </a:rPr>
              <a:t>2</a:t>
            </a:r>
            <a:r>
              <a:rPr lang="tr-TR" sz="2400" b="1" dirty="0">
                <a:solidFill>
                  <a:schemeClr val="accent1">
                    <a:lumMod val="75000"/>
                  </a:schemeClr>
                </a:solidFill>
                <a:latin typeface="Arial" charset="0"/>
                <a:cs typeface="Arial" charset="0"/>
              </a:rPr>
              <a:t>.</a:t>
            </a:r>
            <a:r>
              <a:rPr lang="tr-TR" sz="2400" b="1" dirty="0">
                <a:solidFill>
                  <a:srgbClr val="0070C0"/>
                </a:solidFill>
                <a:latin typeface="Arial" charset="0"/>
                <a:cs typeface="Arial" charset="0"/>
              </a:rPr>
              <a:t> SCAN disk çizelgeleme algoritması (</a:t>
            </a:r>
            <a:r>
              <a:rPr lang="tr-TR" sz="2400" b="1" dirty="0" err="1">
                <a:solidFill>
                  <a:srgbClr val="0070C0"/>
                </a:solidFill>
                <a:latin typeface="Arial" charset="0"/>
                <a:cs typeface="Arial" charset="0"/>
              </a:rPr>
              <a:t>Elevator</a:t>
            </a:r>
            <a:r>
              <a:rPr lang="tr-TR" sz="2400" b="1" dirty="0">
                <a:solidFill>
                  <a:srgbClr val="0070C0"/>
                </a:solidFill>
                <a:latin typeface="Arial" charset="0"/>
                <a:cs typeface="Arial" charset="0"/>
              </a:rPr>
              <a:t> </a:t>
            </a:r>
            <a:r>
              <a:rPr lang="tr-TR" sz="2400" b="1" dirty="0" err="1">
                <a:solidFill>
                  <a:srgbClr val="0070C0"/>
                </a:solidFill>
                <a:latin typeface="Arial" charset="0"/>
                <a:cs typeface="Arial" charset="0"/>
              </a:rPr>
              <a:t>Algorithm</a:t>
            </a:r>
            <a:r>
              <a:rPr lang="tr-TR" sz="2400" b="1" dirty="0" smtClean="0">
                <a:solidFill>
                  <a:srgbClr val="0070C0"/>
                </a:solidFill>
                <a:latin typeface="Arial" charset="0"/>
                <a:cs typeface="Arial" charset="0"/>
              </a:rPr>
              <a:t>)</a:t>
            </a:r>
            <a:endParaRPr lang="tr-TR" sz="4800" dirty="0"/>
          </a:p>
        </p:txBody>
      </p:sp>
      <p:sp>
        <p:nvSpPr>
          <p:cNvPr id="8195" name="5 İçerik Yer Tutucusu"/>
          <p:cNvSpPr>
            <a:spLocks noGrp="1"/>
          </p:cNvSpPr>
          <p:nvPr>
            <p:ph idx="1"/>
          </p:nvPr>
        </p:nvSpPr>
        <p:spPr/>
        <p:txBody>
          <a:bodyPr/>
          <a:lstStyle/>
          <a:p>
            <a:pPr eaLnBrk="1" hangingPunct="1">
              <a:lnSpc>
                <a:spcPts val="1000"/>
              </a:lnSpc>
              <a:spcBef>
                <a:spcPct val="0"/>
              </a:spcBef>
              <a:buFont typeface="Wingdings" pitchFamily="2" charset="2"/>
              <a:buNone/>
              <a:defRPr/>
            </a:pPr>
            <a:endParaRPr lang="tr-TR" sz="2000" dirty="0" smtClean="0">
              <a:latin typeface="Arial" charset="0"/>
              <a:cs typeface="Arial" charset="0"/>
            </a:endParaRPr>
          </a:p>
          <a:p>
            <a:pPr eaLnBrk="1" hangingPunct="1">
              <a:buFont typeface="Wingdings" pitchFamily="2" charset="2"/>
              <a:buNone/>
              <a:defRPr/>
            </a:pPr>
            <a:r>
              <a:rPr lang="tr-TR" dirty="0" smtClean="0">
                <a:latin typeface="Arial" charset="0"/>
                <a:cs typeface="Arial" charset="0"/>
              </a:rPr>
              <a:t>	</a:t>
            </a:r>
            <a:r>
              <a:rPr lang="tr-TR" sz="2000" dirty="0" smtClean="0">
                <a:latin typeface="Arial" charset="0"/>
                <a:cs typeface="Arial" charset="0"/>
              </a:rPr>
              <a:t>Okuma/yazma kafası tek yönde ilerliyor, o yöndeki isteklere cevap verdikten sonra geri yönde en yakın isteğe cevap veriyor.</a:t>
            </a:r>
            <a:endParaRPr lang="tr-TR" sz="1900" dirty="0" smtClean="0">
              <a:latin typeface="Arial" charset="0"/>
              <a:cs typeface="Arial" charset="0"/>
            </a:endParaRPr>
          </a:p>
          <a:p>
            <a:pPr eaLnBrk="1" hangingPunct="1">
              <a:buFont typeface="Wingdings" pitchFamily="2" charset="2"/>
              <a:buNone/>
              <a:defRPr/>
            </a:pPr>
            <a:endParaRPr lang="tr-TR" sz="1900" dirty="0" smtClean="0">
              <a:latin typeface="Arial" charset="0"/>
              <a:cs typeface="Arial" charset="0"/>
            </a:endParaRPr>
          </a:p>
        </p:txBody>
      </p:sp>
      <p:pic>
        <p:nvPicPr>
          <p:cNvPr id="8" name="7 Resim" descr="scan.gif"/>
          <p:cNvPicPr>
            <a:picLocks noChangeAspect="1"/>
          </p:cNvPicPr>
          <p:nvPr/>
        </p:nvPicPr>
        <p:blipFill>
          <a:blip r:embed="rId2"/>
          <a:stretch>
            <a:fillRect/>
          </a:stretch>
        </p:blipFill>
        <p:spPr>
          <a:xfrm>
            <a:off x="718104" y="3824436"/>
            <a:ext cx="7429500" cy="2628900"/>
          </a:xfrm>
          <a:prstGeom prst="rect">
            <a:avLst/>
          </a:prstGeom>
          <a:ln>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p:spPr>
      </p:pic>
    </p:spTree>
    <p:extLst>
      <p:ext uri="{BB962C8B-B14F-4D97-AF65-F5344CB8AC3E}">
        <p14:creationId xmlns:p14="http://schemas.microsoft.com/office/powerpoint/2010/main" val="105696214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pPr eaLnBrk="1" hangingPunct="1">
              <a:defRPr/>
            </a:pPr>
            <a:r>
              <a:rPr lang="tr-TR" b="1" dirty="0">
                <a:solidFill>
                  <a:schemeClr val="accent1">
                    <a:lumMod val="50000"/>
                  </a:schemeClr>
                </a:solidFill>
                <a:latin typeface="Arial" charset="0"/>
                <a:cs typeface="Arial" charset="0"/>
              </a:rPr>
              <a:t>Disk Çizelgelemeleri</a:t>
            </a:r>
            <a:br>
              <a:rPr lang="tr-TR" b="1" dirty="0">
                <a:solidFill>
                  <a:schemeClr val="accent1">
                    <a:lumMod val="50000"/>
                  </a:schemeClr>
                </a:solidFill>
                <a:latin typeface="Arial" charset="0"/>
                <a:cs typeface="Arial" charset="0"/>
              </a:rPr>
            </a:br>
            <a:r>
              <a:rPr lang="tr-TR" sz="3200" b="1" dirty="0" smtClean="0">
                <a:solidFill>
                  <a:schemeClr val="accent1">
                    <a:lumMod val="75000"/>
                  </a:schemeClr>
                </a:solidFill>
                <a:latin typeface="Arial" charset="0"/>
                <a:cs typeface="Arial" charset="0"/>
              </a:rPr>
              <a:t>3</a:t>
            </a:r>
            <a:r>
              <a:rPr lang="tr-TR" sz="3200" b="1" dirty="0">
                <a:solidFill>
                  <a:schemeClr val="accent1">
                    <a:lumMod val="75000"/>
                  </a:schemeClr>
                </a:solidFill>
                <a:latin typeface="Arial" charset="0"/>
                <a:cs typeface="Arial" charset="0"/>
              </a:rPr>
              <a:t>.</a:t>
            </a:r>
            <a:r>
              <a:rPr lang="tr-TR" sz="3200" b="1" dirty="0">
                <a:solidFill>
                  <a:srgbClr val="0070C0"/>
                </a:solidFill>
                <a:latin typeface="Arial" charset="0"/>
                <a:cs typeface="Arial" charset="0"/>
              </a:rPr>
              <a:t> C-SCAN disk çizelgeleme </a:t>
            </a:r>
            <a:r>
              <a:rPr lang="tr-TR" sz="3200" b="1" dirty="0" smtClean="0">
                <a:solidFill>
                  <a:srgbClr val="0070C0"/>
                </a:solidFill>
                <a:latin typeface="Arial" charset="0"/>
                <a:cs typeface="Arial" charset="0"/>
              </a:rPr>
              <a:t>algoritması</a:t>
            </a:r>
            <a:endParaRPr lang="tr-TR" sz="3200" dirty="0"/>
          </a:p>
        </p:txBody>
      </p:sp>
      <p:sp>
        <p:nvSpPr>
          <p:cNvPr id="8195" name="5 İçerik Yer Tutucusu"/>
          <p:cNvSpPr>
            <a:spLocks noGrp="1"/>
          </p:cNvSpPr>
          <p:nvPr>
            <p:ph idx="1"/>
          </p:nvPr>
        </p:nvSpPr>
        <p:spPr/>
        <p:txBody>
          <a:bodyPr/>
          <a:lstStyle/>
          <a:p>
            <a:pPr eaLnBrk="1" hangingPunct="1">
              <a:lnSpc>
                <a:spcPts val="1000"/>
              </a:lnSpc>
              <a:spcBef>
                <a:spcPct val="0"/>
              </a:spcBef>
              <a:buFont typeface="Wingdings" pitchFamily="2" charset="2"/>
              <a:buNone/>
              <a:defRPr/>
            </a:pPr>
            <a:endParaRPr lang="tr-TR" sz="2000" dirty="0" smtClean="0">
              <a:latin typeface="Arial" charset="0"/>
              <a:cs typeface="Arial" charset="0"/>
            </a:endParaRPr>
          </a:p>
          <a:p>
            <a:pPr eaLnBrk="1" hangingPunct="1">
              <a:buFont typeface="Wingdings" pitchFamily="2" charset="2"/>
              <a:buNone/>
              <a:defRPr/>
            </a:pPr>
            <a:r>
              <a:rPr lang="tr-TR" dirty="0" smtClean="0">
                <a:latin typeface="Arial" charset="0"/>
                <a:cs typeface="Arial" charset="0"/>
              </a:rPr>
              <a:t>	</a:t>
            </a:r>
            <a:r>
              <a:rPr lang="tr-TR" sz="2000" dirty="0" smtClean="0">
                <a:latin typeface="Arial" charset="0"/>
                <a:cs typeface="Arial" charset="0"/>
              </a:rPr>
              <a:t>SCAN algoritmasına benzer, fakat disk kolu sona ulaştığı zaman bir sonraki işlemde en başa geliyor.</a:t>
            </a:r>
            <a:endParaRPr lang="tr-TR" sz="1900" dirty="0" smtClean="0">
              <a:latin typeface="Arial" charset="0"/>
              <a:cs typeface="Arial" charset="0"/>
            </a:endParaRPr>
          </a:p>
          <a:p>
            <a:pPr eaLnBrk="1" hangingPunct="1">
              <a:buFont typeface="Wingdings" pitchFamily="2" charset="2"/>
              <a:buNone/>
              <a:defRPr/>
            </a:pPr>
            <a:endParaRPr lang="tr-TR" sz="1900" dirty="0" smtClean="0">
              <a:latin typeface="Arial" charset="0"/>
              <a:cs typeface="Arial" charset="0"/>
            </a:endParaRPr>
          </a:p>
        </p:txBody>
      </p:sp>
      <p:pic>
        <p:nvPicPr>
          <p:cNvPr id="6" name="5 Resim" descr="cscan.gif"/>
          <p:cNvPicPr>
            <a:picLocks noChangeAspect="1"/>
          </p:cNvPicPr>
          <p:nvPr/>
        </p:nvPicPr>
        <p:blipFill>
          <a:blip r:embed="rId2"/>
          <a:stretch>
            <a:fillRect/>
          </a:stretch>
        </p:blipFill>
        <p:spPr>
          <a:xfrm>
            <a:off x="708165" y="3752428"/>
            <a:ext cx="7429500" cy="2628900"/>
          </a:xfrm>
          <a:prstGeom prst="rect">
            <a:avLst/>
          </a:prstGeom>
          <a:ln>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p:spPr>
      </p:pic>
    </p:spTree>
    <p:extLst>
      <p:ext uri="{BB962C8B-B14F-4D97-AF65-F5344CB8AC3E}">
        <p14:creationId xmlns:p14="http://schemas.microsoft.com/office/powerpoint/2010/main" val="332663413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pPr eaLnBrk="1" hangingPunct="1">
              <a:defRPr/>
            </a:pPr>
            <a:r>
              <a:rPr lang="tr-TR" b="1" dirty="0">
                <a:solidFill>
                  <a:schemeClr val="accent1">
                    <a:lumMod val="50000"/>
                  </a:schemeClr>
                </a:solidFill>
                <a:latin typeface="Arial" charset="0"/>
                <a:cs typeface="Arial" charset="0"/>
              </a:rPr>
              <a:t>Disk Çizelgelemeleri</a:t>
            </a:r>
            <a:br>
              <a:rPr lang="tr-TR" b="1" dirty="0">
                <a:solidFill>
                  <a:schemeClr val="accent1">
                    <a:lumMod val="50000"/>
                  </a:schemeClr>
                </a:solidFill>
                <a:latin typeface="Arial" charset="0"/>
                <a:cs typeface="Arial" charset="0"/>
              </a:rPr>
            </a:br>
            <a:r>
              <a:rPr lang="tr-TR" sz="2400" b="1" dirty="0" smtClean="0">
                <a:solidFill>
                  <a:schemeClr val="accent1">
                    <a:lumMod val="75000"/>
                  </a:schemeClr>
                </a:solidFill>
                <a:latin typeface="Arial" charset="0"/>
                <a:cs typeface="Arial" charset="0"/>
              </a:rPr>
              <a:t>4</a:t>
            </a:r>
            <a:r>
              <a:rPr lang="tr-TR" sz="2400" b="1" dirty="0">
                <a:solidFill>
                  <a:schemeClr val="accent1">
                    <a:lumMod val="75000"/>
                  </a:schemeClr>
                </a:solidFill>
                <a:latin typeface="Arial" charset="0"/>
                <a:cs typeface="Arial" charset="0"/>
              </a:rPr>
              <a:t>.</a:t>
            </a:r>
            <a:r>
              <a:rPr lang="tr-TR" sz="2400" b="1" dirty="0">
                <a:solidFill>
                  <a:srgbClr val="0070C0"/>
                </a:solidFill>
                <a:latin typeface="Arial" charset="0"/>
                <a:cs typeface="Arial" charset="0"/>
              </a:rPr>
              <a:t> SSTF (En kısa arama zamanlı ilk önce) </a:t>
            </a:r>
            <a:r>
              <a:rPr lang="tr-TR" sz="2400" b="1" dirty="0" smtClean="0">
                <a:solidFill>
                  <a:srgbClr val="0070C0"/>
                </a:solidFill>
                <a:latin typeface="Arial" charset="0"/>
                <a:cs typeface="Arial" charset="0"/>
              </a:rPr>
              <a:t>algoritması</a:t>
            </a:r>
            <a:endParaRPr lang="tr-TR" sz="2400" dirty="0"/>
          </a:p>
        </p:txBody>
      </p:sp>
      <p:sp>
        <p:nvSpPr>
          <p:cNvPr id="8195" name="5 İçerik Yer Tutucusu"/>
          <p:cNvSpPr>
            <a:spLocks noGrp="1"/>
          </p:cNvSpPr>
          <p:nvPr>
            <p:ph idx="1"/>
          </p:nvPr>
        </p:nvSpPr>
        <p:spPr/>
        <p:txBody>
          <a:bodyPr/>
          <a:lstStyle/>
          <a:p>
            <a:pPr eaLnBrk="1" hangingPunct="1">
              <a:buFont typeface="Wingdings" pitchFamily="2" charset="2"/>
              <a:buNone/>
              <a:defRPr/>
            </a:pPr>
            <a:r>
              <a:rPr lang="tr-TR" sz="2000" dirty="0" smtClean="0">
                <a:latin typeface="Arial" charset="0"/>
                <a:cs typeface="Arial" charset="0"/>
              </a:rPr>
              <a:t>Okuma yazma kafası bulunduğu konumdan (başlama konumu), arama zamanının en düşük </a:t>
            </a:r>
            <a:r>
              <a:rPr lang="tr-TR" sz="1800" dirty="0" smtClean="0">
                <a:latin typeface="Arial" charset="0"/>
                <a:cs typeface="Arial" charset="0"/>
              </a:rPr>
              <a:t>olduğu</a:t>
            </a:r>
            <a:r>
              <a:rPr lang="tr-TR" sz="2000" dirty="0" smtClean="0">
                <a:latin typeface="Arial" charset="0"/>
                <a:cs typeface="Arial" charset="0"/>
              </a:rPr>
              <a:t> iz üzerine hareket eder.</a:t>
            </a:r>
            <a:endParaRPr lang="tr-TR" sz="1900" dirty="0" smtClean="0">
              <a:latin typeface="Arial" charset="0"/>
              <a:cs typeface="Arial" charset="0"/>
            </a:endParaRPr>
          </a:p>
          <a:p>
            <a:pPr eaLnBrk="1" hangingPunct="1">
              <a:buFont typeface="Wingdings" pitchFamily="2" charset="2"/>
              <a:buNone/>
              <a:defRPr/>
            </a:pPr>
            <a:endParaRPr lang="tr-TR" sz="1900" dirty="0" smtClean="0">
              <a:latin typeface="Arial" charset="0"/>
              <a:cs typeface="Arial" charset="0"/>
            </a:endParaRPr>
          </a:p>
        </p:txBody>
      </p:sp>
      <p:pic>
        <p:nvPicPr>
          <p:cNvPr id="7" name="6 Resim" descr="sstf.gif"/>
          <p:cNvPicPr>
            <a:picLocks noChangeAspect="1"/>
          </p:cNvPicPr>
          <p:nvPr/>
        </p:nvPicPr>
        <p:blipFill>
          <a:blip r:embed="rId2"/>
          <a:stretch>
            <a:fillRect/>
          </a:stretch>
        </p:blipFill>
        <p:spPr>
          <a:xfrm>
            <a:off x="708165" y="3824436"/>
            <a:ext cx="7429500" cy="2628900"/>
          </a:xfrm>
          <a:prstGeom prst="rect">
            <a:avLst/>
          </a:prstGeom>
          <a:ln>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p:spPr>
      </p:pic>
    </p:spTree>
    <p:extLst>
      <p:ext uri="{BB962C8B-B14F-4D97-AF65-F5344CB8AC3E}">
        <p14:creationId xmlns:p14="http://schemas.microsoft.com/office/powerpoint/2010/main" val="358317563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Başlık 1"/>
          <p:cNvSpPr>
            <a:spLocks noGrp="1"/>
          </p:cNvSpPr>
          <p:nvPr>
            <p:ph type="title"/>
          </p:nvPr>
        </p:nvSpPr>
        <p:spPr/>
        <p:txBody>
          <a:bodyPr/>
          <a:lstStyle/>
          <a:p>
            <a:r>
              <a:rPr lang="tr-TR" altLang="tr-TR" smtClean="0"/>
              <a:t>Dosya Yapısı (Erişim Yöntemleri)</a:t>
            </a:r>
          </a:p>
        </p:txBody>
      </p:sp>
      <p:sp>
        <p:nvSpPr>
          <p:cNvPr id="8195" name="İçerik Yer Tutucusu 2"/>
          <p:cNvSpPr>
            <a:spLocks noGrp="1"/>
          </p:cNvSpPr>
          <p:nvPr>
            <p:ph idx="1"/>
          </p:nvPr>
        </p:nvSpPr>
        <p:spPr/>
        <p:txBody>
          <a:bodyPr/>
          <a:lstStyle/>
          <a:p>
            <a:r>
              <a:rPr lang="tr-TR" altLang="tr-TR" smtClean="0"/>
              <a:t>Tape</a:t>
            </a:r>
          </a:p>
          <a:p>
            <a:pPr lvl="1"/>
            <a:r>
              <a:rPr lang="tr-TR" altLang="tr-TR" smtClean="0"/>
              <a:t>Sıralı Erişilen dosyalar</a:t>
            </a:r>
          </a:p>
          <a:p>
            <a:r>
              <a:rPr lang="tr-TR" altLang="tr-TR" smtClean="0"/>
              <a:t>Disk</a:t>
            </a:r>
          </a:p>
          <a:p>
            <a:pPr lvl="1"/>
            <a:r>
              <a:rPr lang="tr-TR" altLang="tr-TR" smtClean="0"/>
              <a:t>Rastgele Erişilen dosyalar</a:t>
            </a:r>
          </a:p>
          <a:p>
            <a:pPr lvl="1"/>
            <a:r>
              <a:rPr lang="tr-TR" altLang="tr-TR" smtClean="0"/>
              <a:t>İndeksli dosyalar</a:t>
            </a:r>
          </a:p>
          <a:p>
            <a:r>
              <a:rPr lang="tr-TR" altLang="tr-TR" smtClean="0"/>
              <a:t>Bellek için Ağaç Yapıları (1960)</a:t>
            </a:r>
          </a:p>
          <a:p>
            <a:pPr lvl="1"/>
            <a:r>
              <a:rPr lang="tr-TR" altLang="tr-TR" smtClean="0"/>
              <a:t>Binary Search Trees</a:t>
            </a:r>
          </a:p>
          <a:p>
            <a:r>
              <a:rPr lang="tr-TR" altLang="tr-TR" smtClean="0"/>
              <a:t>Dosya için uygun bellek yapısı (1973)</a:t>
            </a:r>
          </a:p>
          <a:p>
            <a:pPr lvl="1"/>
            <a:r>
              <a:rPr lang="tr-TR" altLang="tr-TR" smtClean="0"/>
              <a:t>B+ Tree</a:t>
            </a:r>
          </a:p>
          <a:p>
            <a:pPr lvl="1"/>
            <a:endParaRPr lang="tr-TR" altLang="tr-TR" smtClean="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Disk Yönetimi</a:t>
            </a:r>
            <a:endParaRPr lang="tr-TR" dirty="0"/>
          </a:p>
        </p:txBody>
      </p:sp>
      <p:sp>
        <p:nvSpPr>
          <p:cNvPr id="3" name="İçerik Yer Tutucusu 2"/>
          <p:cNvSpPr>
            <a:spLocks noGrp="1"/>
          </p:cNvSpPr>
          <p:nvPr>
            <p:ph idx="1"/>
          </p:nvPr>
        </p:nvSpPr>
        <p:spPr/>
        <p:txBody>
          <a:bodyPr/>
          <a:lstStyle/>
          <a:p>
            <a:r>
              <a:rPr lang="tr-TR" dirty="0" smtClean="0"/>
              <a:t>Diskin Biçimlendirilmesi</a:t>
            </a:r>
          </a:p>
          <a:p>
            <a:r>
              <a:rPr lang="tr-TR" dirty="0" smtClean="0"/>
              <a:t>Disk Başlatma</a:t>
            </a:r>
          </a:p>
          <a:p>
            <a:pPr lvl="1"/>
            <a:r>
              <a:rPr lang="tr-TR" dirty="0" smtClean="0"/>
              <a:t>Ön yükleme kodu (</a:t>
            </a:r>
            <a:r>
              <a:rPr lang="tr-TR" dirty="0" err="1" smtClean="0"/>
              <a:t>Boostrap</a:t>
            </a:r>
            <a:r>
              <a:rPr lang="tr-TR" dirty="0" smtClean="0"/>
              <a:t> </a:t>
            </a:r>
            <a:r>
              <a:rPr lang="tr-TR" dirty="0" err="1" smtClean="0"/>
              <a:t>code</a:t>
            </a:r>
            <a:r>
              <a:rPr lang="tr-TR" dirty="0" smtClean="0"/>
              <a:t>)</a:t>
            </a:r>
          </a:p>
          <a:p>
            <a:pPr lvl="1"/>
            <a:r>
              <a:rPr lang="tr-TR" dirty="0" smtClean="0"/>
              <a:t>Tam Ön yükleme Kodu</a:t>
            </a:r>
          </a:p>
          <a:p>
            <a:pPr lvl="2"/>
            <a:endParaRPr lang="tr-TR" dirty="0"/>
          </a:p>
        </p:txBody>
      </p:sp>
      <p:pic>
        <p:nvPicPr>
          <p:cNvPr id="4" name="Resim 3"/>
          <p:cNvPicPr>
            <a:picLocks noChangeAspect="1"/>
          </p:cNvPicPr>
          <p:nvPr/>
        </p:nvPicPr>
        <p:blipFill>
          <a:blip r:embed="rId2"/>
          <a:stretch>
            <a:fillRect/>
          </a:stretch>
        </p:blipFill>
        <p:spPr>
          <a:xfrm>
            <a:off x="2267743" y="4024248"/>
            <a:ext cx="4068311" cy="2573104"/>
          </a:xfrm>
          <a:prstGeom prst="rect">
            <a:avLst/>
          </a:prstGeom>
        </p:spPr>
      </p:pic>
    </p:spTree>
    <p:extLst>
      <p:ext uri="{BB962C8B-B14F-4D97-AF65-F5344CB8AC3E}">
        <p14:creationId xmlns:p14="http://schemas.microsoft.com/office/powerpoint/2010/main" val="266791344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Başlık 1"/>
          <p:cNvSpPr>
            <a:spLocks noGrp="1"/>
          </p:cNvSpPr>
          <p:nvPr>
            <p:ph type="title"/>
          </p:nvPr>
        </p:nvSpPr>
        <p:spPr/>
        <p:txBody>
          <a:bodyPr/>
          <a:lstStyle/>
          <a:p>
            <a:r>
              <a:rPr lang="tr-TR" altLang="tr-TR" sz="3200" smtClean="0"/>
              <a:t>RAID</a:t>
            </a:r>
            <a:br>
              <a:rPr lang="tr-TR" altLang="tr-TR" sz="3200" smtClean="0"/>
            </a:br>
            <a:r>
              <a:rPr lang="tr-TR" altLang="tr-TR" sz="3200" smtClean="0"/>
              <a:t>(Redundant Array of Independent Disks)</a:t>
            </a:r>
          </a:p>
        </p:txBody>
      </p:sp>
      <p:sp>
        <p:nvSpPr>
          <p:cNvPr id="31747" name="İçerik Yer Tutucusu 2"/>
          <p:cNvSpPr>
            <a:spLocks noGrp="1"/>
          </p:cNvSpPr>
          <p:nvPr>
            <p:ph idx="1"/>
          </p:nvPr>
        </p:nvSpPr>
        <p:spPr>
          <a:xfrm>
            <a:off x="457200" y="1417638"/>
            <a:ext cx="8229600" cy="5107706"/>
          </a:xfrm>
        </p:spPr>
        <p:txBody>
          <a:bodyPr/>
          <a:lstStyle/>
          <a:p>
            <a:r>
              <a:rPr lang="tr-TR" altLang="tr-TR" sz="2400" dirty="0"/>
              <a:t>RAID, işletim sistemi tarafından tek bir mantıksal birim olarak görüntülenen bir dizi fiziksel disk sürücüsüdür.</a:t>
            </a:r>
          </a:p>
          <a:p>
            <a:r>
              <a:rPr lang="tr-TR" altLang="tr-TR" sz="2400" dirty="0" smtClean="0"/>
              <a:t>Amaç : Performansı ve güvenilirliği artırmak.</a:t>
            </a:r>
          </a:p>
          <a:p>
            <a:r>
              <a:rPr lang="tr-TR" altLang="tr-TR" sz="2400" dirty="0" smtClean="0"/>
              <a:t>İki ana teknik var:</a:t>
            </a:r>
          </a:p>
          <a:p>
            <a:pPr lvl="1"/>
            <a:r>
              <a:rPr lang="tr-TR" altLang="tr-TR" dirty="0" smtClean="0"/>
              <a:t>Veri </a:t>
            </a:r>
            <a:r>
              <a:rPr lang="tr-TR" altLang="tr-TR" dirty="0" err="1" smtClean="0"/>
              <a:t>şeritleme</a:t>
            </a:r>
            <a:r>
              <a:rPr lang="tr-TR" altLang="tr-TR" dirty="0" smtClean="0"/>
              <a:t>: Veri bölümlendirilir; Bir bölümünün boyutuna </a:t>
            </a:r>
            <a:r>
              <a:rPr lang="tr-TR" altLang="tr-TR" dirty="0" err="1" smtClean="0"/>
              <a:t>şeritleme</a:t>
            </a:r>
            <a:r>
              <a:rPr lang="tr-TR" altLang="tr-TR" dirty="0" smtClean="0"/>
              <a:t>(</a:t>
            </a:r>
            <a:r>
              <a:rPr lang="tr-TR" altLang="tr-TR" dirty="0" err="1" smtClean="0"/>
              <a:t>stripping</a:t>
            </a:r>
            <a:r>
              <a:rPr lang="tr-TR" altLang="tr-TR" dirty="0" smtClean="0"/>
              <a:t>) birimi denir. Bölme birkaç disk üzerine dağıtılır.</a:t>
            </a:r>
          </a:p>
          <a:p>
            <a:pPr lvl="1"/>
            <a:r>
              <a:rPr lang="tr-TR" altLang="tr-TR" dirty="0" err="1" smtClean="0"/>
              <a:t>Artıklık</a:t>
            </a:r>
            <a:r>
              <a:rPr lang="tr-TR" altLang="tr-TR" dirty="0" smtClean="0"/>
              <a:t>: Daha fazla disk – Daha fazla hata demektir.</a:t>
            </a:r>
          </a:p>
          <a:p>
            <a:pPr lvl="2"/>
            <a:r>
              <a:rPr lang="tr-TR" altLang="tr-TR" sz="2800" dirty="0" smtClean="0"/>
              <a:t>Yedekli bilgiler disk arızalanırsa verinin yeniden yapılanmasına olanak sağlar.</a:t>
            </a:r>
          </a:p>
        </p:txBody>
      </p:sp>
    </p:spTree>
    <p:extLst>
      <p:ext uri="{BB962C8B-B14F-4D97-AF65-F5344CB8AC3E}">
        <p14:creationId xmlns:p14="http://schemas.microsoft.com/office/powerpoint/2010/main" val="101762305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çerik Yer Tutucusu 3"/>
          <p:cNvPicPr>
            <a:picLocks noGrp="1" noChangeAspect="1"/>
          </p:cNvPicPr>
          <p:nvPr>
            <p:ph idx="4294967295"/>
          </p:nvPr>
        </p:nvPicPr>
        <p:blipFill>
          <a:blip r:embed="rId2"/>
          <a:stretch>
            <a:fillRect/>
          </a:stretch>
        </p:blipFill>
        <p:spPr>
          <a:xfrm>
            <a:off x="539552" y="260648"/>
            <a:ext cx="7723598" cy="6264696"/>
          </a:xfrm>
          <a:prstGeom prst="rect">
            <a:avLst/>
          </a:prstGeom>
        </p:spPr>
      </p:pic>
    </p:spTree>
    <p:extLst>
      <p:ext uri="{BB962C8B-B14F-4D97-AF65-F5344CB8AC3E}">
        <p14:creationId xmlns:p14="http://schemas.microsoft.com/office/powerpoint/2010/main" val="366723823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Başlık 1"/>
          <p:cNvSpPr>
            <a:spLocks noGrp="1"/>
          </p:cNvSpPr>
          <p:nvPr>
            <p:ph type="title"/>
          </p:nvPr>
        </p:nvSpPr>
        <p:spPr/>
        <p:txBody>
          <a:bodyPr/>
          <a:lstStyle/>
          <a:p>
            <a:r>
              <a:rPr lang="tr-TR" altLang="tr-TR" sz="3600" smtClean="0"/>
              <a:t>RAID</a:t>
            </a:r>
            <a:br>
              <a:rPr lang="tr-TR" altLang="tr-TR" sz="3600" smtClean="0"/>
            </a:br>
            <a:r>
              <a:rPr lang="tr-TR" altLang="tr-TR" sz="3600" smtClean="0"/>
              <a:t>(Redundant Array of Independent Disks)</a:t>
            </a:r>
          </a:p>
        </p:txBody>
      </p:sp>
      <p:sp>
        <p:nvSpPr>
          <p:cNvPr id="32771" name="İçerik Yer Tutucusu 1"/>
          <p:cNvSpPr>
            <a:spLocks noGrp="1"/>
          </p:cNvSpPr>
          <p:nvPr>
            <p:ph idx="1"/>
          </p:nvPr>
        </p:nvSpPr>
        <p:spPr/>
        <p:txBody>
          <a:bodyPr/>
          <a:lstStyle/>
          <a:p>
            <a:r>
              <a:rPr lang="tr-TR" altLang="tr-TR" sz="2000" smtClean="0"/>
              <a:t> </a:t>
            </a:r>
            <a:r>
              <a:rPr lang="tr-TR" altLang="tr-TR" sz="2000" b="1" smtClean="0"/>
              <a:t>Disk Striping (RAID 0)</a:t>
            </a:r>
          </a:p>
          <a:p>
            <a:r>
              <a:rPr lang="tr-TR" altLang="tr-TR" sz="2000" smtClean="0"/>
              <a:t> Bu sistemde kullanılan en küçük kapasiteli diskin büyüklüğüne bağlı olarak disklerin tümünü tek bir disk olarak görüntüler. Hızlı veri aktarımının ön planda olduğu RAID konfigürasyonudur.</a:t>
            </a:r>
          </a:p>
          <a:p>
            <a:r>
              <a:rPr lang="tr-TR" altLang="tr-TR" sz="2000" smtClean="0"/>
              <a:t>Tüm diğer RAID konfigürasyonlarından farklı olarak hızlı veri aktarımına izin veren, herhangi bir veri-kontrol paritesine sahip olmadan veri kaydetmeyi sağlar. Ancak, disklerden birisi arızandığında, disklerdeki tüm veri ulaşılamaz hale gelir. </a:t>
            </a:r>
          </a:p>
        </p:txBody>
      </p:sp>
      <p:pic>
        <p:nvPicPr>
          <p:cNvPr id="3277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650" y="4221163"/>
            <a:ext cx="8137525" cy="1570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277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59113" y="5518150"/>
            <a:ext cx="3276600" cy="1266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3944315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Başlık 1"/>
          <p:cNvSpPr>
            <a:spLocks noGrp="1"/>
          </p:cNvSpPr>
          <p:nvPr>
            <p:ph type="title"/>
          </p:nvPr>
        </p:nvSpPr>
        <p:spPr/>
        <p:txBody>
          <a:bodyPr/>
          <a:lstStyle/>
          <a:p>
            <a:r>
              <a:rPr lang="tr-TR" altLang="tr-TR" smtClean="0"/>
              <a:t> </a:t>
            </a:r>
            <a:r>
              <a:rPr lang="tr-TR" altLang="tr-TR" b="1" smtClean="0"/>
              <a:t>Disk Mirroring (RAID 1)</a:t>
            </a:r>
            <a:endParaRPr lang="tr-TR" altLang="tr-TR" smtClean="0"/>
          </a:p>
        </p:txBody>
      </p:sp>
      <p:sp>
        <p:nvSpPr>
          <p:cNvPr id="33795" name="İçerik Yer Tutucusu 2"/>
          <p:cNvSpPr>
            <a:spLocks noGrp="1"/>
          </p:cNvSpPr>
          <p:nvPr>
            <p:ph idx="1"/>
          </p:nvPr>
        </p:nvSpPr>
        <p:spPr>
          <a:xfrm>
            <a:off x="519113" y="1600200"/>
            <a:ext cx="8229600" cy="4525963"/>
          </a:xfrm>
        </p:spPr>
        <p:txBody>
          <a:bodyPr/>
          <a:lstStyle/>
          <a:p>
            <a:pPr marL="0" indent="0" algn="just">
              <a:buFont typeface="Arial" charset="0"/>
              <a:buNone/>
            </a:pPr>
            <a:r>
              <a:rPr lang="tr-TR" altLang="tr-TR" sz="2000" smtClean="0"/>
              <a:t>Tüm disklerin konfigürasyona dahil edildiği, ancak toplam kapasitenin sadece %50’sinin kullanıldığı RAID konfigürasyonudur. RAID 1, kullanılan %50’lik kısmın tam bir kopyasını görünmeyen diğer %50’lik bölüme aktarır. Veri kapasitesinden çok, yedekleme ve güvenilirliğin daha önemli olduğu durumlarda çok kullanışlıdır. Bir disk arızalandığında, kaybolan verinin yerine getirilmesi ve RAID konfigürasyonunu otomatik olarak yeniden yapılandırmak mümkündür. </a:t>
            </a:r>
          </a:p>
        </p:txBody>
      </p:sp>
      <p:pic>
        <p:nvPicPr>
          <p:cNvPr id="3379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5188" y="4508500"/>
            <a:ext cx="7667625" cy="738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0558337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Başlık 1"/>
          <p:cNvSpPr>
            <a:spLocks noGrp="1"/>
          </p:cNvSpPr>
          <p:nvPr>
            <p:ph type="title"/>
          </p:nvPr>
        </p:nvSpPr>
        <p:spPr/>
        <p:txBody>
          <a:bodyPr/>
          <a:lstStyle/>
          <a:p>
            <a:r>
              <a:rPr lang="en-US" altLang="tr-TR" sz="4000" smtClean="0"/>
              <a:t>Disk Mirroring with Striping (RAID 10)</a:t>
            </a:r>
            <a:endParaRPr lang="tr-TR" altLang="tr-TR" sz="4000" smtClean="0"/>
          </a:p>
        </p:txBody>
      </p:sp>
      <p:sp>
        <p:nvSpPr>
          <p:cNvPr id="34819" name="İçerik Yer Tutucusu 2"/>
          <p:cNvSpPr>
            <a:spLocks noGrp="1"/>
          </p:cNvSpPr>
          <p:nvPr>
            <p:ph idx="1"/>
          </p:nvPr>
        </p:nvSpPr>
        <p:spPr/>
        <p:txBody>
          <a:bodyPr/>
          <a:lstStyle/>
          <a:p>
            <a:pPr marL="0" indent="0">
              <a:buFont typeface="Arial" charset="0"/>
              <a:buNone/>
            </a:pPr>
            <a:r>
              <a:rPr lang="tr-TR" altLang="tr-TR" sz="2400" smtClean="0"/>
              <a:t>Yine tüm disk kapasitesinin %50’si kullanılır. Aktarılan verinin diğer %50’lik görünmeyen kısmına otomatik olarak yedek alınır. Veri güvenliği ve yedeklemenin önemli olduğu durumlarda en çok tercih edilen RAID konfigürasyonudur. Bir disk arızalandığında ikinci yedekten otomatik olarak veri aktarımı sağlanır. </a:t>
            </a:r>
          </a:p>
        </p:txBody>
      </p:sp>
      <p:pic>
        <p:nvPicPr>
          <p:cNvPr id="3482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4038" y="5753100"/>
            <a:ext cx="8586787" cy="1028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482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6250" y="4076700"/>
            <a:ext cx="5181600" cy="133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757624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Başlık 1"/>
          <p:cNvSpPr>
            <a:spLocks noGrp="1"/>
          </p:cNvSpPr>
          <p:nvPr>
            <p:ph type="title"/>
          </p:nvPr>
        </p:nvSpPr>
        <p:spPr/>
        <p:txBody>
          <a:bodyPr/>
          <a:lstStyle/>
          <a:p>
            <a:r>
              <a:rPr lang="tr-TR" smtClean="0"/>
              <a:t>RAID 2 (Hamming Code Eşliği)</a:t>
            </a:r>
          </a:p>
        </p:txBody>
      </p:sp>
      <p:sp>
        <p:nvSpPr>
          <p:cNvPr id="35843" name="AutoShape 4" descr="https://upload.wikimedia.org/wikipedia/commons/thumb/b/b5/RAID2_arch.svg/1000px-RAID2_arch.svg.png"/>
          <p:cNvSpPr>
            <a:spLocks noChangeAspect="1" noChangeArrowheads="1"/>
          </p:cNvSpPr>
          <p:nvPr/>
        </p:nvSpPr>
        <p:spPr bwMode="auto">
          <a:xfrm>
            <a:off x="63500" y="-136525"/>
            <a:ext cx="9525000" cy="476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p>
        </p:txBody>
      </p:sp>
      <p:pic>
        <p:nvPicPr>
          <p:cNvPr id="35844" name="Picture 5"/>
          <p:cNvPicPr>
            <a:picLocks noChangeAspect="1" noChangeArrowheads="1"/>
          </p:cNvPicPr>
          <p:nvPr/>
        </p:nvPicPr>
        <p:blipFill>
          <a:blip r:embed="rId2">
            <a:extLst>
              <a:ext uri="{28A0092B-C50C-407E-A947-70E740481C1C}">
                <a14:useLocalDpi xmlns:a14="http://schemas.microsoft.com/office/drawing/2010/main" val="0"/>
              </a:ext>
            </a:extLst>
          </a:blip>
          <a:srcRect t="12897"/>
          <a:stretch>
            <a:fillRect/>
          </a:stretch>
        </p:blipFill>
        <p:spPr bwMode="auto">
          <a:xfrm>
            <a:off x="323850" y="2244725"/>
            <a:ext cx="8434388" cy="3673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8133306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Başlık 1"/>
          <p:cNvSpPr>
            <a:spLocks noGrp="1"/>
          </p:cNvSpPr>
          <p:nvPr>
            <p:ph type="title"/>
          </p:nvPr>
        </p:nvSpPr>
        <p:spPr/>
        <p:txBody>
          <a:bodyPr/>
          <a:lstStyle/>
          <a:p>
            <a:r>
              <a:rPr lang="en-US" altLang="tr-TR" sz="3200" b="1" smtClean="0"/>
              <a:t>Disk Striping with dedicated parity (RAID 3) </a:t>
            </a:r>
            <a:endParaRPr lang="tr-TR" altLang="tr-TR" sz="3200" smtClean="0"/>
          </a:p>
        </p:txBody>
      </p:sp>
      <p:sp>
        <p:nvSpPr>
          <p:cNvPr id="36867" name="İçerik Yer Tutucusu 2"/>
          <p:cNvSpPr>
            <a:spLocks noGrp="1"/>
          </p:cNvSpPr>
          <p:nvPr>
            <p:ph idx="1"/>
          </p:nvPr>
        </p:nvSpPr>
        <p:spPr/>
        <p:txBody>
          <a:bodyPr/>
          <a:lstStyle/>
          <a:p>
            <a:r>
              <a:rPr lang="tr-TR" altLang="tr-TR" sz="2000" smtClean="0"/>
              <a:t>Cihaz üzerindeki 4 diskin tamamı bu konfigürasyonda kullanılır. Ancak toplam disk kapasitesinde bir disk hariç tutulur. Ve bu disk parite bilgisi yedeklemek için kullanılarak byte seviyesinde striping yapan RAID 3 tarafından kullanılır. Parite verisinin güncellenmesi gerektiği her yazma işleminde veri kaydetmek tek parite diski kullanan sistemlerin dar boğazıdır. Atanmış bir parite diskinin bir diğer faydası da; parite diski arızalandığında parite bilgisi ve performans kısıntısı olmadan sistemin çalışmaya devam etmesidir. Bir disk arızalandığında değiştirilebilir ve veri otomatik olarak yeniden yapılandırılır. </a:t>
            </a:r>
          </a:p>
        </p:txBody>
      </p:sp>
      <p:pic>
        <p:nvPicPr>
          <p:cNvPr id="3686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2988" y="4581525"/>
            <a:ext cx="7443787" cy="703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686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4950" y="5445125"/>
            <a:ext cx="398145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4870406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Başlık 1"/>
          <p:cNvSpPr>
            <a:spLocks noGrp="1"/>
          </p:cNvSpPr>
          <p:nvPr>
            <p:ph type="title"/>
          </p:nvPr>
        </p:nvSpPr>
        <p:spPr/>
        <p:txBody>
          <a:bodyPr/>
          <a:lstStyle/>
          <a:p>
            <a:r>
              <a:rPr lang="en-US" altLang="tr-TR" sz="3200" b="1" smtClean="0"/>
              <a:t>Disk Striping with distributed parity (RAID 5) </a:t>
            </a:r>
            <a:endParaRPr lang="tr-TR" altLang="tr-TR" sz="3200" smtClean="0"/>
          </a:p>
        </p:txBody>
      </p:sp>
      <p:sp>
        <p:nvSpPr>
          <p:cNvPr id="37891" name="İçerik Yer Tutucusu 2"/>
          <p:cNvSpPr>
            <a:spLocks noGrp="1"/>
          </p:cNvSpPr>
          <p:nvPr>
            <p:ph idx="1"/>
          </p:nvPr>
        </p:nvSpPr>
        <p:spPr/>
        <p:txBody>
          <a:bodyPr/>
          <a:lstStyle/>
          <a:p>
            <a:r>
              <a:rPr lang="tr-TR" altLang="tr-TR" sz="2800" smtClean="0"/>
              <a:t>Bu konfigürasyonda da tüm diskler kullanılır. Ancak toplam kapasiteden bir disk kapasitesi eksiktir. Parite bilgisi tüm disklere yazılarak daha dengeli performans ve veri entegrasyonu sağlanır. Bir disk hata verdiğinde, veriler otomatik olarak yapılandırılarak arızalı diskin yerine takılan yeni diske aktarılır. RAID yapısı korunarak süreklilik sağlanır. </a:t>
            </a:r>
          </a:p>
        </p:txBody>
      </p:sp>
      <p:pic>
        <p:nvPicPr>
          <p:cNvPr id="3789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088" y="4652963"/>
            <a:ext cx="776605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789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4638" y="5373688"/>
            <a:ext cx="3790950" cy="1400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5685498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Başlık 1"/>
          <p:cNvSpPr>
            <a:spLocks noGrp="1"/>
          </p:cNvSpPr>
          <p:nvPr>
            <p:ph type="title"/>
          </p:nvPr>
        </p:nvSpPr>
        <p:spPr/>
        <p:txBody>
          <a:bodyPr/>
          <a:lstStyle/>
          <a:p>
            <a:r>
              <a:rPr lang="en-US" b="1" smtClean="0"/>
              <a:t>RAID 6 (Striping with Dual Parity)</a:t>
            </a:r>
            <a:endParaRPr lang="tr-TR" smtClean="0"/>
          </a:p>
        </p:txBody>
      </p:sp>
      <p:sp>
        <p:nvSpPr>
          <p:cNvPr id="38915" name="İçerik Yer Tutucusu 5"/>
          <p:cNvSpPr>
            <a:spLocks noGrp="1"/>
          </p:cNvSpPr>
          <p:nvPr>
            <p:ph idx="1"/>
          </p:nvPr>
        </p:nvSpPr>
        <p:spPr/>
        <p:txBody>
          <a:bodyPr/>
          <a:lstStyle/>
          <a:p>
            <a:pPr algn="just"/>
            <a:r>
              <a:rPr lang="tr-TR" sz="2000" dirty="0"/>
              <a:t>Bu konfigürasyon çok yüksek arıza ve tahrik arıza toleransı sunar. </a:t>
            </a:r>
            <a:endParaRPr lang="tr-TR" sz="2000" dirty="0" smtClean="0"/>
          </a:p>
          <a:p>
            <a:pPr algn="just"/>
            <a:r>
              <a:rPr lang="tr-TR" sz="2000" dirty="0" smtClean="0"/>
              <a:t>Arşivleme </a:t>
            </a:r>
            <a:r>
              <a:rPr lang="tr-TR" sz="2000" dirty="0"/>
              <a:t>gibi uzun veri saklama süreleri gerektiren ortamlar için </a:t>
            </a:r>
            <a:r>
              <a:rPr lang="tr-TR" sz="2000" dirty="0" smtClean="0"/>
              <a:t>kullanılır. </a:t>
            </a:r>
          </a:p>
          <a:p>
            <a:pPr algn="just"/>
            <a:r>
              <a:rPr lang="tr-TR" sz="2000" dirty="0"/>
              <a:t> RAID 6'yı kullanmanın bir dezavantajı, her parite grubunun ayrı ayrı hesaplanması gerektiğidir; bu da yazma performansını </a:t>
            </a:r>
            <a:r>
              <a:rPr lang="tr-TR" sz="2000" dirty="0" smtClean="0"/>
              <a:t>yavaşlatır. </a:t>
            </a:r>
            <a:r>
              <a:rPr lang="tr-TR" sz="2000" dirty="0"/>
              <a:t>Parite için gereken iki ekstra disk nedeniyle RAID 6'yı uygulama da daha pahalıdır</a:t>
            </a:r>
            <a:r>
              <a:rPr lang="tr-TR" sz="2000" dirty="0" smtClean="0"/>
              <a:t>.</a:t>
            </a:r>
          </a:p>
          <a:p>
            <a:pPr algn="just"/>
            <a:r>
              <a:rPr lang="tr-TR" sz="2800" dirty="0"/>
              <a:t>en az 4 disk gerektirir ve 2 ayrı </a:t>
            </a:r>
            <a:r>
              <a:rPr lang="tr-TR" sz="2800" dirty="0" err="1"/>
              <a:t>parity</a:t>
            </a:r>
            <a:r>
              <a:rPr lang="tr-TR" sz="2800" dirty="0"/>
              <a:t> disk oluşturur.</a:t>
            </a:r>
            <a:endParaRPr lang="tr-TR" sz="1800" dirty="0" smtClean="0"/>
          </a:p>
        </p:txBody>
      </p:sp>
      <p:pic>
        <p:nvPicPr>
          <p:cNvPr id="3076" name="Picture 4" descr="raid_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9752" y="3933056"/>
            <a:ext cx="4474696" cy="26251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126398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is Teması">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is Teması">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3345</TotalTime>
  <Words>1134</Words>
  <Application>Microsoft Office PowerPoint</Application>
  <PresentationFormat>Ekran Gösterisi (4:3)</PresentationFormat>
  <Paragraphs>135</Paragraphs>
  <Slides>33</Slides>
  <Notes>4</Notes>
  <HiddenSlides>0</HiddenSlides>
  <MMClips>0</MMClips>
  <ScaleCrop>false</ScaleCrop>
  <HeadingPairs>
    <vt:vector size="6" baseType="variant">
      <vt:variant>
        <vt:lpstr>Kullanılan Yazı Tipleri</vt:lpstr>
      </vt:variant>
      <vt:variant>
        <vt:i4>5</vt:i4>
      </vt:variant>
      <vt:variant>
        <vt:lpstr>Tema</vt:lpstr>
      </vt:variant>
      <vt:variant>
        <vt:i4>1</vt:i4>
      </vt:variant>
      <vt:variant>
        <vt:lpstr>Slayt Başlıkları</vt:lpstr>
      </vt:variant>
      <vt:variant>
        <vt:i4>33</vt:i4>
      </vt:variant>
    </vt:vector>
  </HeadingPairs>
  <TitlesOfParts>
    <vt:vector size="39" baseType="lpstr">
      <vt:lpstr>Arial</vt:lpstr>
      <vt:lpstr>Calibri</vt:lpstr>
      <vt:lpstr>Tahoma</vt:lpstr>
      <vt:lpstr>Times New Roman</vt:lpstr>
      <vt:lpstr>Wingdings</vt:lpstr>
      <vt:lpstr>Ofis Teması</vt:lpstr>
      <vt:lpstr>Disk Yönetimi</vt:lpstr>
      <vt:lpstr>Dosya Nedir?</vt:lpstr>
      <vt:lpstr>Dosyalar</vt:lpstr>
      <vt:lpstr>Sıralı Erişim Depolama Ortamı</vt:lpstr>
      <vt:lpstr>Doğrudan Erişimli Depolama Ortamı</vt:lpstr>
      <vt:lpstr>Doğrudan Erişimli Depolama Ortamı</vt:lpstr>
      <vt:lpstr>Manyetik Diskin Yapısı</vt:lpstr>
      <vt:lpstr>Sektörler</vt:lpstr>
      <vt:lpstr>PowerPoint Sunusu</vt:lpstr>
      <vt:lpstr>Disk Kapasitesi</vt:lpstr>
      <vt:lpstr>Örnek</vt:lpstr>
      <vt:lpstr>Varolan bir Disk</vt:lpstr>
      <vt:lpstr>SSD (Solid State Disk – Katı Hal Diski</vt:lpstr>
      <vt:lpstr>SSD (Solid State Disk – Katı Hal Diski</vt:lpstr>
      <vt:lpstr>Mantıksal görünüm vs. Fiziksel görünüm</vt:lpstr>
      <vt:lpstr>Logical View vs. Physical View</vt:lpstr>
      <vt:lpstr>Disk Çizelgelemeleri</vt:lpstr>
      <vt:lpstr>Disk Çizelgeleme Algoritmaları</vt:lpstr>
      <vt:lpstr>Disk Çizelgelemeleri 1. FIFO (İlk gelen ilk hizmet) disk çizelgeleme algoritması</vt:lpstr>
      <vt:lpstr>Disk Çizelgelemeleri 2. SCAN disk çizelgeleme algoritması (Elevator Algorithm)</vt:lpstr>
      <vt:lpstr>Disk Çizelgelemeleri 3. C-SCAN disk çizelgeleme algoritması</vt:lpstr>
      <vt:lpstr>Disk Çizelgelemeleri 4. SSTF (En kısa arama zamanlı ilk önce) algoritması</vt:lpstr>
      <vt:lpstr>Dosya Yapısı (Erişim Yöntemleri)</vt:lpstr>
      <vt:lpstr>Disk Yönetimi</vt:lpstr>
      <vt:lpstr>RAID (Redundant Array of Independent Disks)</vt:lpstr>
      <vt:lpstr>PowerPoint Sunusu</vt:lpstr>
      <vt:lpstr>RAID (Redundant Array of Independent Disks)</vt:lpstr>
      <vt:lpstr> Disk Mirroring (RAID 1)</vt:lpstr>
      <vt:lpstr>Disk Mirroring with Striping (RAID 10)</vt:lpstr>
      <vt:lpstr>RAID 2 (Hamming Code Eşliği)</vt:lpstr>
      <vt:lpstr>Disk Striping with dedicated parity (RAID 3) </vt:lpstr>
      <vt:lpstr>Disk Striping with distributed parity (RAID 5) </vt:lpstr>
      <vt:lpstr>RAID 6 (Striping with Dual Parity)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Inside and Outside the OS</dc:title>
  <dc:creator>mevlut</dc:creator>
  <cp:lastModifiedBy>mevlut ersoy</cp:lastModifiedBy>
  <cp:revision>139</cp:revision>
  <dcterms:created xsi:type="dcterms:W3CDTF">2001-04-07T18:04:42Z</dcterms:created>
  <dcterms:modified xsi:type="dcterms:W3CDTF">2019-12-17T20:26:02Z</dcterms:modified>
</cp:coreProperties>
</file>