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95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96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4" r:id="rId3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64" units="cm"/>
          <inkml:channel name="Y" type="integer" max="900" units="cm"/>
        </inkml:traceFormat>
        <inkml:channelProperties>
          <inkml:channelProperty channel="X" name="resolution" value="68.25484" units="1/cm"/>
          <inkml:channelProperty channel="Y" name="resolution" value="33.21033" units="1/cm"/>
        </inkml:channelProperties>
      </inkml:inkSource>
      <inkml:timestamp xml:id="ts0" timeString="2013-12-24T18:35:38.71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AE776-33D5-4BA2-A75E-1E00F5B45507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96E8E2-CCE1-4CBA-A772-8259DFE21CB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9919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EC518F0-68DC-410E-9DEA-9655A22E43C7}" type="slidenum">
              <a:rPr lang="en-US" altLang="tr-TR" smtClean="0"/>
              <a:pPr/>
              <a:t>16</a:t>
            </a:fld>
            <a:endParaRPr lang="en-US" altLang="tr-TR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332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9746AAB-BCC5-4B01-B5F3-E9431A723178}" type="slidenum">
              <a:rPr lang="en-US" altLang="tr-TR" smtClean="0"/>
              <a:pPr/>
              <a:t>19</a:t>
            </a:fld>
            <a:endParaRPr lang="en-US" altLang="tr-TR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494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FDB0EF3-B194-4DA9-934F-E900F8C163B6}" type="slidenum">
              <a:rPr lang="en-US" altLang="tr-TR" smtClean="0"/>
              <a:pPr/>
              <a:t>23</a:t>
            </a:fld>
            <a:endParaRPr lang="en-US" altLang="tr-TR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133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2EF7416-77EB-457C-A6B1-0F3F465C6D09}" type="slidenum">
              <a:rPr lang="en-US" altLang="tr-TR" smtClean="0"/>
              <a:pPr/>
              <a:t>30</a:t>
            </a:fld>
            <a:endParaRPr lang="en-US" altLang="tr-TR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35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BACDDCE-D3A2-4717-A11E-8B7808925E76}" type="slidenum">
              <a:rPr lang="en-US" altLang="tr-TR" smtClean="0"/>
              <a:pPr/>
              <a:t>31</a:t>
            </a:fld>
            <a:endParaRPr lang="en-US" altLang="tr-TR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394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A9436A1-A94A-466F-BBCA-F6BA61BE3938}" type="slidenum">
              <a:rPr lang="en-US" altLang="tr-TR" smtClean="0"/>
              <a:pPr/>
              <a:t>32</a:t>
            </a:fld>
            <a:endParaRPr lang="en-US" altLang="tr-TR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763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B65F-AB42-4A0D-994E-8040C62CFA6E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7D6D-1953-4BAC-B6CF-8BBF8880CA7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470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B65F-AB42-4A0D-994E-8040C62CFA6E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7D6D-1953-4BAC-B6CF-8BBF8880CA7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6591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B65F-AB42-4A0D-994E-8040C62CFA6E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7D6D-1953-4BAC-B6CF-8BBF8880CA7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68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B65F-AB42-4A0D-994E-8040C62CFA6E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7D6D-1953-4BAC-B6CF-8BBF8880CA7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7932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B65F-AB42-4A0D-994E-8040C62CFA6E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7D6D-1953-4BAC-B6CF-8BBF8880CA7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664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B65F-AB42-4A0D-994E-8040C62CFA6E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7D6D-1953-4BAC-B6CF-8BBF8880CA7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626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B65F-AB42-4A0D-994E-8040C62CFA6E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7D6D-1953-4BAC-B6CF-8BBF8880CA7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201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B65F-AB42-4A0D-994E-8040C62CFA6E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7D6D-1953-4BAC-B6CF-8BBF8880CA7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5270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B65F-AB42-4A0D-994E-8040C62CFA6E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7D6D-1953-4BAC-B6CF-8BBF8880CA7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4742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B65F-AB42-4A0D-994E-8040C62CFA6E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7D6D-1953-4BAC-B6CF-8BBF8880CA7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555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B65F-AB42-4A0D-994E-8040C62CFA6E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D7D6D-1953-4BAC-B6CF-8BBF8880CA7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089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6B65F-AB42-4A0D-994E-8040C62CFA6E}" type="datetimeFigureOut">
              <a:rPr lang="tr-TR" smtClean="0"/>
              <a:t>25.12.2019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D7D6D-1953-4BAC-B6CF-8BBF8880CA7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5699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Dosya Yönetimi</a:t>
            </a:r>
            <a:endParaRPr lang="tr-TR" dirty="0"/>
          </a:p>
        </p:txBody>
      </p:sp>
      <p:sp>
        <p:nvSpPr>
          <p:cNvPr id="5" name="Alt Başlık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090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Konu Kapsamı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Dosya </a:t>
            </a:r>
            <a:r>
              <a:rPr lang="tr-TR" dirty="0"/>
              <a:t>yönetiminin temelleri ve dosya yönetim sisteminin yapısı</a:t>
            </a:r>
          </a:p>
          <a:p>
            <a:r>
              <a:rPr lang="tr-TR" dirty="0" smtClean="0"/>
              <a:t>Uzantıların </a:t>
            </a:r>
            <a:r>
              <a:rPr lang="tr-TR" dirty="0"/>
              <a:t>rolü de dahil olmak üzere dosya adlandırma kuralları</a:t>
            </a:r>
          </a:p>
          <a:p>
            <a:r>
              <a:rPr lang="tr-TR" dirty="0" smtClean="0"/>
              <a:t>Sabit </a:t>
            </a:r>
            <a:r>
              <a:rPr lang="tr-TR" dirty="0"/>
              <a:t>uzunlukta ve değişken uzunlukta kayıt formatı arasındaki fark</a:t>
            </a:r>
          </a:p>
          <a:p>
            <a:r>
              <a:rPr lang="tr-TR" dirty="0" smtClean="0"/>
              <a:t>Bitişik</a:t>
            </a:r>
            <a:r>
              <a:rPr lang="tr-TR" dirty="0"/>
              <a:t>, bitişik olmayan ve </a:t>
            </a:r>
            <a:r>
              <a:rPr lang="tr-TR" dirty="0" smtClean="0"/>
              <a:t>indeksli </a:t>
            </a:r>
            <a:r>
              <a:rPr lang="tr-TR" dirty="0"/>
              <a:t>dosya depolama tekniklerinin avantajları ve dezavantajları</a:t>
            </a:r>
          </a:p>
          <a:p>
            <a:r>
              <a:rPr lang="tr-TR" dirty="0" smtClean="0"/>
              <a:t>Sıralı </a:t>
            </a:r>
            <a:r>
              <a:rPr lang="tr-TR" dirty="0"/>
              <a:t>ve doğrudan dosya erişiminin karşılaştırılması</a:t>
            </a:r>
          </a:p>
          <a:p>
            <a:r>
              <a:rPr lang="tr-TR" dirty="0" smtClean="0"/>
              <a:t>Erişim </a:t>
            </a:r>
            <a:r>
              <a:rPr lang="tr-TR" dirty="0"/>
              <a:t>kontrol teknikleri ve bunların karşılaştırılması</a:t>
            </a:r>
          </a:p>
          <a:p>
            <a:r>
              <a:rPr lang="tr-TR" dirty="0" smtClean="0"/>
              <a:t>Dosya </a:t>
            </a:r>
            <a:r>
              <a:rPr lang="tr-TR" dirty="0"/>
              <a:t>depolamada veri sıkıştırmanın rolü</a:t>
            </a:r>
          </a:p>
        </p:txBody>
      </p:sp>
    </p:spTree>
    <p:extLst>
      <p:ext uri="{BB962C8B-B14F-4D97-AF65-F5344CB8AC3E}">
        <p14:creationId xmlns:p14="http://schemas.microsoft.com/office/powerpoint/2010/main" val="403439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Dosya Yönetimi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Dosyalar, işletim sisteminin görünen yönüdür.</a:t>
            </a:r>
          </a:p>
          <a:p>
            <a:r>
              <a:rPr lang="tr-TR" dirty="0" smtClean="0"/>
              <a:t>Dosya Yönetimi, sistemdeki her dosyayı denetler.</a:t>
            </a:r>
          </a:p>
          <a:p>
            <a:r>
              <a:rPr lang="tr-TR" dirty="0" smtClean="0"/>
              <a:t>İşletim sistemleri dosyaların saklanması için mekanizmalar sağlamaktadır.</a:t>
            </a:r>
            <a:endParaRPr lang="tr-TR" dirty="0"/>
          </a:p>
          <a:p>
            <a:r>
              <a:rPr lang="tr-TR" dirty="0"/>
              <a:t>Dosya Yöneticisi (dosya yönetim sistemi olarak da bilinir), </a:t>
            </a:r>
            <a:r>
              <a:rPr lang="tr-TR" dirty="0" smtClean="0"/>
              <a:t>dosyalara;</a:t>
            </a:r>
          </a:p>
          <a:p>
            <a:pPr lvl="1"/>
            <a:r>
              <a:rPr lang="tr-TR" dirty="0" smtClean="0"/>
              <a:t> </a:t>
            </a:r>
            <a:r>
              <a:rPr lang="tr-TR" dirty="0"/>
              <a:t>erişimi oluşturmak, </a:t>
            </a:r>
            <a:endParaRPr lang="tr-TR" dirty="0" smtClean="0"/>
          </a:p>
          <a:p>
            <a:pPr lvl="1"/>
            <a:r>
              <a:rPr lang="tr-TR" dirty="0" smtClean="0"/>
              <a:t>silmek</a:t>
            </a:r>
            <a:r>
              <a:rPr lang="tr-TR" dirty="0"/>
              <a:t>, </a:t>
            </a:r>
            <a:endParaRPr lang="tr-TR" dirty="0" smtClean="0"/>
          </a:p>
          <a:p>
            <a:pPr lvl="1"/>
            <a:r>
              <a:rPr lang="tr-TR" dirty="0" smtClean="0"/>
              <a:t>değiştirmek </a:t>
            </a:r>
            <a:r>
              <a:rPr lang="tr-TR" dirty="0"/>
              <a:t>ve </a:t>
            </a:r>
            <a:r>
              <a:rPr lang="tr-TR" dirty="0" smtClean="0"/>
              <a:t>kontrol </a:t>
            </a:r>
            <a:r>
              <a:rPr lang="tr-TR" dirty="0"/>
              <a:t>etmekle ve </a:t>
            </a:r>
            <a:endParaRPr lang="tr-TR" dirty="0" smtClean="0"/>
          </a:p>
          <a:p>
            <a:pPr lvl="1"/>
            <a:r>
              <a:rPr lang="tr-TR" dirty="0" smtClean="0"/>
              <a:t>ayrıca </a:t>
            </a:r>
            <a:r>
              <a:rPr lang="tr-TR" dirty="0"/>
              <a:t>dosyalar tarafından kullanılan kaynakları yönetmekle sorumlu yazılımdır. </a:t>
            </a:r>
            <a:endParaRPr lang="tr-TR" dirty="0" smtClean="0"/>
          </a:p>
          <a:p>
            <a:r>
              <a:rPr lang="tr-TR" dirty="0" smtClean="0"/>
              <a:t>Dosya </a:t>
            </a:r>
            <a:r>
              <a:rPr lang="tr-TR" dirty="0"/>
              <a:t>Yöneticisi çevrimiçi kullanıcılara program ve veri kitaplıkları, bekletme işlemleri ve etkileşimli bilgi işlem için destek sağlar. </a:t>
            </a:r>
            <a:endParaRPr lang="tr-TR" dirty="0" smtClean="0"/>
          </a:p>
          <a:p>
            <a:r>
              <a:rPr lang="tr-TR" dirty="0" smtClean="0"/>
              <a:t>Bu </a:t>
            </a:r>
            <a:r>
              <a:rPr lang="tr-TR" dirty="0"/>
              <a:t>işlevler Aygıt Yöneticisi ile işbirliği içinde gerçekleştirilir.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95208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Dosya Özellikleri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İsim</a:t>
            </a:r>
          </a:p>
          <a:p>
            <a:r>
              <a:rPr lang="tr-TR" dirty="0" smtClean="0"/>
              <a:t>Kimlik Bilgisi (Benzersiz Etiket) (genellikle kullanıcıya gösterilmez)</a:t>
            </a:r>
          </a:p>
          <a:p>
            <a:r>
              <a:rPr lang="tr-TR" dirty="0" smtClean="0"/>
              <a:t>Türü</a:t>
            </a:r>
          </a:p>
          <a:p>
            <a:r>
              <a:rPr lang="tr-TR" dirty="0" smtClean="0"/>
              <a:t>Konumu</a:t>
            </a:r>
          </a:p>
          <a:p>
            <a:r>
              <a:rPr lang="tr-TR" dirty="0" smtClean="0"/>
              <a:t>Boyutu</a:t>
            </a:r>
          </a:p>
          <a:p>
            <a:r>
              <a:rPr lang="tr-TR" dirty="0" smtClean="0"/>
              <a:t>Erişim Kontrol Bilgileri (Koruma)</a:t>
            </a:r>
          </a:p>
          <a:p>
            <a:r>
              <a:rPr lang="tr-TR" dirty="0" smtClean="0"/>
              <a:t>Saat, Tarih,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9889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Dosya Türleri</a:t>
            </a:r>
            <a:endParaRPr lang="tr-TR" dirty="0"/>
          </a:p>
        </p:txBody>
      </p:sp>
      <p:graphicFrame>
        <p:nvGraphicFramePr>
          <p:cNvPr id="5" name="Tablo 4"/>
          <p:cNvGraphicFramePr>
            <a:graphicFrameLocks noGrp="1"/>
          </p:cNvGraphicFramePr>
          <p:nvPr>
            <p:extLst/>
          </p:nvPr>
        </p:nvGraphicFramePr>
        <p:xfrm>
          <a:off x="1775520" y="1417638"/>
          <a:ext cx="8435280" cy="540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678">
                  <a:extLst>
                    <a:ext uri="{9D8B030D-6E8A-4147-A177-3AD203B41FA5}">
                      <a16:colId xmlns:a16="http://schemas.microsoft.com/office/drawing/2014/main" val="1688373427"/>
                    </a:ext>
                  </a:extLst>
                </a:gridCol>
                <a:gridCol w="2303678">
                  <a:extLst>
                    <a:ext uri="{9D8B030D-6E8A-4147-A177-3AD203B41FA5}">
                      <a16:colId xmlns:a16="http://schemas.microsoft.com/office/drawing/2014/main" val="196333157"/>
                    </a:ext>
                  </a:extLst>
                </a:gridCol>
                <a:gridCol w="3827924">
                  <a:extLst>
                    <a:ext uri="{9D8B030D-6E8A-4147-A177-3AD203B41FA5}">
                      <a16:colId xmlns:a16="http://schemas.microsoft.com/office/drawing/2014/main" val="34702248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Dosya Türü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Kullanılan Uzantılar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Fonksiyonlar</a:t>
                      </a:r>
                      <a:endParaRPr lang="tr-T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402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Çalıştırılabilir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err="1" smtClean="0"/>
                        <a:t>Exe</a:t>
                      </a:r>
                      <a:r>
                        <a:rPr lang="tr-TR" sz="1600" dirty="0" smtClean="0"/>
                        <a:t>,</a:t>
                      </a:r>
                      <a:r>
                        <a:rPr lang="tr-TR" sz="1600" baseline="0" dirty="0" smtClean="0"/>
                        <a:t> com, bin, </a:t>
                      </a:r>
                      <a:r>
                        <a:rPr lang="tr-TR" sz="1600" baseline="0" dirty="0" err="1" smtClean="0"/>
                        <a:t>none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Makine dilindeki</a:t>
                      </a:r>
                      <a:r>
                        <a:rPr lang="tr-TR" sz="1600" baseline="0" dirty="0" smtClean="0"/>
                        <a:t> çalıştırmaya hazır dosyalar</a:t>
                      </a:r>
                      <a:endParaRPr lang="tr-T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65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Nesne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err="1" smtClean="0"/>
                        <a:t>Obj</a:t>
                      </a:r>
                      <a:r>
                        <a:rPr lang="tr-TR" sz="1600" dirty="0" smtClean="0"/>
                        <a:t>, o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Derlenmiş, makine dili, bağlantılı</a:t>
                      </a:r>
                      <a:r>
                        <a:rPr lang="tr-TR" sz="1600" baseline="0" dirty="0" smtClean="0"/>
                        <a:t> olamayan</a:t>
                      </a:r>
                      <a:endParaRPr lang="tr-T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388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Kaynak kod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C, cc, </a:t>
                      </a:r>
                      <a:r>
                        <a:rPr lang="tr-TR" sz="1600" dirty="0" err="1" smtClean="0"/>
                        <a:t>java</a:t>
                      </a:r>
                      <a:r>
                        <a:rPr lang="tr-TR" sz="1600" dirty="0" smtClean="0"/>
                        <a:t>, </a:t>
                      </a:r>
                      <a:r>
                        <a:rPr lang="tr-TR" sz="1600" dirty="0" err="1" smtClean="0"/>
                        <a:t>perl,asm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Çeşitli dillerde komutlar</a:t>
                      </a:r>
                      <a:endParaRPr lang="tr-T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22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Toplu İş (</a:t>
                      </a:r>
                      <a:r>
                        <a:rPr lang="tr-TR" sz="1600" dirty="0" err="1" smtClean="0"/>
                        <a:t>Batch</a:t>
                      </a:r>
                      <a:r>
                        <a:rPr lang="tr-TR" sz="1600" dirty="0" smtClean="0"/>
                        <a:t>)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Bat,</a:t>
                      </a:r>
                      <a:r>
                        <a:rPr lang="tr-TR" sz="1600" baseline="0" dirty="0" smtClean="0"/>
                        <a:t> </a:t>
                      </a:r>
                      <a:r>
                        <a:rPr lang="tr-TR" sz="1600" baseline="0" dirty="0" err="1" smtClean="0"/>
                        <a:t>sh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Komut yorumlayıcı kodlarını içeren</a:t>
                      </a:r>
                      <a:endParaRPr lang="tr-T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600" dirty="0" err="1" smtClean="0"/>
                        <a:t>Markup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err="1" smtClean="0"/>
                        <a:t>Xml</a:t>
                      </a:r>
                      <a:r>
                        <a:rPr lang="tr-TR" sz="1600" dirty="0" smtClean="0"/>
                        <a:t>, html, </a:t>
                      </a:r>
                      <a:r>
                        <a:rPr lang="tr-TR" sz="1600" dirty="0" err="1" smtClean="0"/>
                        <a:t>tex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Yazılı veriler, dokümanlar</a:t>
                      </a:r>
                      <a:endParaRPr lang="tr-T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77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Kelime işlemci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err="1" smtClean="0"/>
                        <a:t>Xml</a:t>
                      </a:r>
                      <a:r>
                        <a:rPr lang="tr-TR" sz="1600" dirty="0" smtClean="0"/>
                        <a:t>, </a:t>
                      </a:r>
                      <a:r>
                        <a:rPr lang="tr-TR" sz="1600" dirty="0" err="1" smtClean="0"/>
                        <a:t>rtf</a:t>
                      </a:r>
                      <a:r>
                        <a:rPr lang="tr-TR" sz="1600" dirty="0" smtClean="0"/>
                        <a:t>, </a:t>
                      </a:r>
                      <a:r>
                        <a:rPr lang="tr-TR" sz="1600" dirty="0" err="1" smtClean="0"/>
                        <a:t>dll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Çeşitli</a:t>
                      </a:r>
                      <a:r>
                        <a:rPr lang="tr-TR" sz="1600" baseline="0" dirty="0" smtClean="0"/>
                        <a:t> kelime işlemci programında</a:t>
                      </a:r>
                      <a:endParaRPr lang="tr-T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664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Kütüphane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err="1" smtClean="0"/>
                        <a:t>Lib</a:t>
                      </a:r>
                      <a:r>
                        <a:rPr lang="tr-TR" sz="1600" dirty="0" smtClean="0"/>
                        <a:t>, a, </a:t>
                      </a:r>
                      <a:r>
                        <a:rPr lang="tr-TR" sz="1600" dirty="0" err="1" smtClean="0"/>
                        <a:t>so</a:t>
                      </a:r>
                      <a:r>
                        <a:rPr lang="tr-TR" sz="1600" dirty="0" smtClean="0"/>
                        <a:t>, </a:t>
                      </a:r>
                      <a:r>
                        <a:rPr lang="tr-TR" sz="1600" dirty="0" err="1" smtClean="0"/>
                        <a:t>dll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err="1" smtClean="0"/>
                        <a:t>Programramcılar</a:t>
                      </a:r>
                      <a:r>
                        <a:rPr lang="tr-TR" sz="1600" baseline="0" dirty="0" smtClean="0"/>
                        <a:t> için yordam kütüphanesi sağlar</a:t>
                      </a:r>
                      <a:endParaRPr lang="tr-T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928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Yazdırma,</a:t>
                      </a:r>
                      <a:r>
                        <a:rPr lang="tr-TR" sz="1600" baseline="0" dirty="0" smtClean="0"/>
                        <a:t> resim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err="1" smtClean="0"/>
                        <a:t>Gif</a:t>
                      </a:r>
                      <a:r>
                        <a:rPr lang="tr-TR" sz="1600" dirty="0" smtClean="0"/>
                        <a:t>, </a:t>
                      </a:r>
                      <a:r>
                        <a:rPr lang="tr-TR" sz="1600" dirty="0" err="1" smtClean="0"/>
                        <a:t>pdf</a:t>
                      </a:r>
                      <a:r>
                        <a:rPr lang="tr-TR" sz="1600" dirty="0" smtClean="0"/>
                        <a:t>, </a:t>
                      </a:r>
                      <a:r>
                        <a:rPr lang="tr-TR" sz="1600" dirty="0" err="1" smtClean="0"/>
                        <a:t>jpg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Belli bir formattaki yazdırmak için veya görüntülemek için ASCII</a:t>
                      </a:r>
                      <a:r>
                        <a:rPr lang="tr-TR" sz="1600" baseline="0" dirty="0" smtClean="0"/>
                        <a:t> veya </a:t>
                      </a:r>
                      <a:r>
                        <a:rPr lang="tr-TR" sz="1600" baseline="0" dirty="0" err="1" smtClean="0"/>
                        <a:t>binary</a:t>
                      </a:r>
                      <a:r>
                        <a:rPr lang="tr-TR" sz="1600" baseline="0" dirty="0" smtClean="0"/>
                        <a:t> dosyalar</a:t>
                      </a:r>
                      <a:endParaRPr lang="tr-T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487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arşiv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err="1" smtClean="0"/>
                        <a:t>Rar</a:t>
                      </a:r>
                      <a:r>
                        <a:rPr lang="tr-TR" sz="1600" dirty="0" smtClean="0"/>
                        <a:t>, </a:t>
                      </a:r>
                      <a:r>
                        <a:rPr lang="tr-TR" sz="1600" dirty="0" err="1" smtClean="0"/>
                        <a:t>zip</a:t>
                      </a:r>
                      <a:r>
                        <a:rPr lang="tr-TR" sz="1600" dirty="0" smtClean="0"/>
                        <a:t>, tar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Bir dosya</a:t>
                      </a:r>
                      <a:r>
                        <a:rPr lang="tr-TR" sz="1600" baseline="0" dirty="0" smtClean="0"/>
                        <a:t> içinde gruplandırılmış, bazen sıkıştırılmış, saklamak veya arşivlemek için kullanılır</a:t>
                      </a:r>
                      <a:endParaRPr lang="tr-T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205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Çoklu</a:t>
                      </a:r>
                      <a:r>
                        <a:rPr lang="tr-TR" sz="1600" baseline="0" dirty="0" smtClean="0"/>
                        <a:t> Ortam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err="1" smtClean="0"/>
                        <a:t>Mpeg</a:t>
                      </a:r>
                      <a:r>
                        <a:rPr lang="tr-TR" sz="1600" dirty="0" smtClean="0"/>
                        <a:t>, </a:t>
                      </a:r>
                      <a:r>
                        <a:rPr lang="tr-TR" sz="1600" dirty="0" err="1" smtClean="0"/>
                        <a:t>mov</a:t>
                      </a:r>
                      <a:r>
                        <a:rPr lang="tr-TR" sz="1600" dirty="0" smtClean="0"/>
                        <a:t>, mp3, mp4, </a:t>
                      </a:r>
                      <a:r>
                        <a:rPr lang="tr-TR" sz="1600" dirty="0" err="1" smtClean="0"/>
                        <a:t>avi</a:t>
                      </a:r>
                      <a:endParaRPr lang="tr-T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 smtClean="0"/>
                        <a:t>Ses</a:t>
                      </a:r>
                      <a:r>
                        <a:rPr lang="tr-TR" sz="1600" baseline="0" dirty="0" smtClean="0"/>
                        <a:t> ve A/V bilgileri taşıyan ikili dosyalar</a:t>
                      </a:r>
                      <a:endParaRPr lang="tr-T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334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55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Dosya İşlemleri</a:t>
            </a:r>
            <a:endParaRPr lang="en-US" altLang="tr-TR" smtClean="0"/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tr-TR" dirty="0" smtClean="0"/>
              <a:t>Bir bütün olarak dosya</a:t>
            </a:r>
            <a:endParaRPr lang="en-US" dirty="0" smtClean="0"/>
          </a:p>
          <a:p>
            <a:pPr lvl="1">
              <a:buFont typeface="Arial" pitchFamily="34" charset="0"/>
              <a:buChar char="–"/>
              <a:defRPr/>
            </a:pPr>
            <a:r>
              <a:rPr lang="tr-TR" dirty="0" smtClean="0"/>
              <a:t>Oluşturma / Silme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tr-TR" dirty="0" smtClean="0"/>
              <a:t>Listeleme / yazdırma</a:t>
            </a:r>
            <a:endParaRPr lang="en-US" dirty="0" smtClean="0"/>
          </a:p>
          <a:p>
            <a:pPr lvl="1">
              <a:buFont typeface="Arial" pitchFamily="34" charset="0"/>
              <a:buChar char="–"/>
              <a:defRPr/>
            </a:pPr>
            <a:r>
              <a:rPr lang="tr-TR" dirty="0" smtClean="0"/>
              <a:t>Açma / Kapama</a:t>
            </a:r>
            <a:endParaRPr lang="en-US" dirty="0" smtClean="0"/>
          </a:p>
          <a:p>
            <a:pPr lvl="1">
              <a:buFont typeface="Arial" pitchFamily="34" charset="0"/>
              <a:buChar char="–"/>
              <a:defRPr/>
            </a:pPr>
            <a:r>
              <a:rPr lang="tr-TR" dirty="0" smtClean="0"/>
              <a:t>İsim değiştirme</a:t>
            </a:r>
            <a:endParaRPr lang="en-US" dirty="0" smtClean="0"/>
          </a:p>
          <a:p>
            <a:pPr lvl="1">
              <a:buFont typeface="Arial" pitchFamily="34" charset="0"/>
              <a:buChar char="–"/>
              <a:defRPr/>
            </a:pPr>
            <a:r>
              <a:rPr lang="tr-TR" dirty="0" smtClean="0"/>
              <a:t>Dosya işaretçisini konumlandırma</a:t>
            </a:r>
            <a:endParaRPr lang="en-US" dirty="0" smtClean="0"/>
          </a:p>
          <a:p>
            <a:pPr lvl="1">
              <a:buFont typeface="Arial" pitchFamily="34" charset="0"/>
              <a:buChar char="–"/>
              <a:defRPr/>
            </a:pPr>
            <a:r>
              <a:rPr lang="tr-TR" dirty="0" smtClean="0"/>
              <a:t>Özellik sorgulama/ değiştirme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tr-TR" dirty="0" smtClean="0"/>
              <a:t>Karşılaştırma </a:t>
            </a:r>
          </a:p>
          <a:p>
            <a:pPr lvl="1">
              <a:buFont typeface="Arial" pitchFamily="34" charset="0"/>
              <a:buChar char="–"/>
              <a:defRPr/>
            </a:pPr>
            <a:r>
              <a:rPr lang="tr-TR" dirty="0" smtClean="0"/>
              <a:t>Yedekleme</a:t>
            </a:r>
          </a:p>
          <a:p>
            <a:pPr marL="457200" lvl="1" indent="0">
              <a:buNone/>
              <a:defRPr/>
            </a:pPr>
            <a:r>
              <a:rPr lang="tr-TR" dirty="0" smtClean="0"/>
              <a:t>	vb.</a:t>
            </a:r>
            <a:endParaRPr lang="en-US" dirty="0" smtClean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811" y="1690687"/>
            <a:ext cx="2820378" cy="453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8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Dosya Yönetim Sistemi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dirty="0"/>
              <a:t>Sorumluluklarını yerine getirmek için bu dört görevi yerine getirmesi gerekir:</a:t>
            </a:r>
          </a:p>
          <a:p>
            <a:pPr marL="0" indent="0">
              <a:buNone/>
            </a:pPr>
            <a:r>
              <a:rPr lang="tr-TR" sz="2400" dirty="0"/>
              <a:t>1. Her dosyanın nerede saklandığını takip </a:t>
            </a:r>
            <a:r>
              <a:rPr lang="tr-TR" sz="2400" dirty="0" smtClean="0"/>
              <a:t>etmeli.</a:t>
            </a:r>
            <a:endParaRPr lang="tr-TR" sz="2400" dirty="0"/>
          </a:p>
          <a:p>
            <a:pPr marL="0" indent="0">
              <a:buNone/>
            </a:pPr>
            <a:r>
              <a:rPr lang="tr-TR" sz="2400" dirty="0"/>
              <a:t>2. Mevcut depolama alanını verimli bir şekilde </a:t>
            </a:r>
            <a:r>
              <a:rPr lang="tr-TR" sz="2400" dirty="0" smtClean="0"/>
              <a:t>kullanmalı </a:t>
            </a:r>
            <a:r>
              <a:rPr lang="tr-TR" sz="2400" dirty="0"/>
              <a:t>ve dosyalara verimli bir şekilde erişildiğinden emin </a:t>
            </a:r>
            <a:r>
              <a:rPr lang="tr-TR" sz="2400" dirty="0" smtClean="0"/>
              <a:t>olmalı, </a:t>
            </a:r>
            <a:r>
              <a:rPr lang="tr-TR" sz="2400" dirty="0"/>
              <a:t>dosyaların nerede ve nasıl depolanacağını belirleyen bir politika </a:t>
            </a:r>
            <a:r>
              <a:rPr lang="tr-TR" sz="2400" dirty="0" smtClean="0"/>
              <a:t>kullanmalıdır.</a:t>
            </a:r>
            <a:endParaRPr lang="tr-TR" sz="2400" dirty="0"/>
          </a:p>
          <a:p>
            <a:pPr marL="0" indent="0">
              <a:buNone/>
            </a:pPr>
            <a:r>
              <a:rPr lang="tr-TR" sz="2400" dirty="0"/>
              <a:t>3. Bir kullanıcı erişim </a:t>
            </a:r>
            <a:r>
              <a:rPr lang="tr-TR" sz="2400" dirty="0" smtClean="0"/>
              <a:t>için talep ettiğinde </a:t>
            </a:r>
            <a:r>
              <a:rPr lang="tr-TR" sz="2400" dirty="0"/>
              <a:t>her dosyayı tahsis </a:t>
            </a:r>
            <a:r>
              <a:rPr lang="tr-TR" sz="2400" dirty="0" smtClean="0"/>
              <a:t>etmeli, </a:t>
            </a:r>
            <a:r>
              <a:rPr lang="tr-TR" sz="2400" dirty="0"/>
              <a:t>sonra </a:t>
            </a:r>
            <a:r>
              <a:rPr lang="tr-TR" sz="2400"/>
              <a:t>kullanımını </a:t>
            </a:r>
            <a:r>
              <a:rPr lang="tr-TR" sz="2400" smtClean="0"/>
              <a:t>kaydetmeli</a:t>
            </a:r>
            <a:endParaRPr lang="tr-TR" sz="2400" dirty="0"/>
          </a:p>
          <a:p>
            <a:pPr marL="0" indent="0">
              <a:buNone/>
            </a:pPr>
            <a:r>
              <a:rPr lang="tr-TR" sz="2400" dirty="0"/>
              <a:t>4. Dosya </a:t>
            </a:r>
            <a:r>
              <a:rPr lang="tr-TR" sz="2400" dirty="0" smtClean="0"/>
              <a:t>saklama birimine döndüğünde yeniden yer tahsisi ve kullanılabilirliğini diğer kişilere iletmektir.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41889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Dosya Yönetim Sistemi</a:t>
            </a:r>
          </a:p>
        </p:txBody>
      </p:sp>
      <p:sp>
        <p:nvSpPr>
          <p:cNvPr id="41987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dirty="0" smtClean="0"/>
              <a:t>Dizin (Directory),</a:t>
            </a:r>
          </a:p>
          <a:p>
            <a:pPr lvl="1"/>
            <a:r>
              <a:rPr lang="tr-TR" altLang="tr-TR" dirty="0"/>
              <a:t>Bir bilgisayar sisteminde Dosya Yöneticisi, dosya adını, ikincil depolamadaki fiziksel konumunu ve her dosya hakkında önemli bilgileri içeren dizinlerle dosyalarını izler.</a:t>
            </a:r>
          </a:p>
          <a:p>
            <a:r>
              <a:rPr lang="tr-TR" altLang="tr-TR" dirty="0" smtClean="0"/>
              <a:t>Diskin değişik yüzey ve izlerine serpiştirilmiş dosya öğeleri nasıl yerleştirilecek.</a:t>
            </a:r>
          </a:p>
          <a:p>
            <a:r>
              <a:rPr lang="tr-TR" altLang="tr-TR" dirty="0" smtClean="0"/>
              <a:t>İşletim sistemlerinin kullandıkları yaklaşımlar nelerdir?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Mürekkep 2"/>
              <p14:cNvContentPartPr/>
              <p14:nvPr/>
            </p14:nvContentPartPr>
            <p14:xfrm>
              <a:off x="6486113" y="3092887"/>
              <a:ext cx="360" cy="360"/>
            </p14:xfrm>
          </p:contentPart>
        </mc:Choice>
        <mc:Fallback xmlns="">
          <p:pic>
            <p:nvPicPr>
              <p:cNvPr id="3" name="Mürekkep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4233" y="3081007"/>
                <a:ext cx="2412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971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Dizin Yapısı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Dosyanın adını ve benzersiz tanımlayıcısını içerir.</a:t>
            </a:r>
          </a:p>
          <a:p>
            <a:pPr eaLnBrk="1" hangingPunct="1"/>
            <a:r>
              <a:rPr lang="tr-TR" altLang="tr-TR" b="1" dirty="0"/>
              <a:t>Dizin</a:t>
            </a:r>
            <a:r>
              <a:rPr lang="tr-TR" altLang="tr-TR" dirty="0"/>
              <a:t>, kullanıcılar tarafından verilen simgesel dosya kimlikleri ile bu dosyaların fiziksel </a:t>
            </a:r>
            <a:r>
              <a:rPr lang="tr-TR" altLang="tr-TR" dirty="0" smtClean="0"/>
              <a:t>kayıtlarını (</a:t>
            </a:r>
            <a:r>
              <a:rPr lang="tr-TR" altLang="tr-TR" dirty="0" err="1" smtClean="0"/>
              <a:t>record</a:t>
            </a:r>
            <a:r>
              <a:rPr lang="tr-TR" altLang="tr-TR" dirty="0" smtClean="0"/>
              <a:t>) </a:t>
            </a:r>
            <a:r>
              <a:rPr lang="tr-TR" altLang="tr-TR" dirty="0"/>
              <a:t>ilişkilendirmeye yarayan yapılardır. Dizinler, bu bağlamda dosya adları ve bunlarla ilgili </a:t>
            </a:r>
            <a:r>
              <a:rPr lang="tr-TR" altLang="tr-TR" dirty="0" smtClean="0"/>
              <a:t>fiziksel (</a:t>
            </a:r>
            <a:r>
              <a:rPr lang="tr-TR" altLang="tr-TR" dirty="0" err="1" smtClean="0"/>
              <a:t>record</a:t>
            </a:r>
            <a:r>
              <a:rPr lang="tr-TR" altLang="tr-TR" dirty="0" smtClean="0"/>
              <a:t>) kayıt </a:t>
            </a:r>
            <a:r>
              <a:rPr lang="tr-TR" altLang="tr-TR" dirty="0"/>
              <a:t>adresleri listesi olarak düşünülebilir</a:t>
            </a:r>
            <a:r>
              <a:rPr lang="tr-TR" altLang="tr-TR" dirty="0" smtClean="0"/>
              <a:t>.</a:t>
            </a:r>
          </a:p>
          <a:p>
            <a:r>
              <a:rPr lang="tr-TR" altLang="tr-TR" dirty="0"/>
              <a:t>Ana dosya dizini </a:t>
            </a:r>
            <a:r>
              <a:rPr lang="tr-TR" altLang="tr-TR" dirty="0" smtClean="0"/>
              <a:t>(Master File Directory - MFD</a:t>
            </a:r>
            <a:r>
              <a:rPr lang="tr-TR" altLang="tr-TR" dirty="0"/>
              <a:t>), birim tanımlayıcısından hemen sonra depolanır ve bu birimde bulunan her dosyanın adlarını ve özelliklerini listeler.</a:t>
            </a:r>
          </a:p>
          <a:p>
            <a:pPr eaLnBrk="1" hangingPunct="1"/>
            <a:endParaRPr lang="tr-TR" altLang="tr-TR" dirty="0"/>
          </a:p>
          <a:p>
            <a:endParaRPr lang="tr-TR" dirty="0" smtClean="0"/>
          </a:p>
          <a:p>
            <a:endParaRPr lang="tr-TR" dirty="0"/>
          </a:p>
        </p:txBody>
      </p:sp>
      <p:graphicFrame>
        <p:nvGraphicFramePr>
          <p:cNvPr id="4" name="Tablo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532167"/>
              </p:ext>
            </p:extLst>
          </p:nvPr>
        </p:nvGraphicFramePr>
        <p:xfrm>
          <a:off x="1502228" y="5321159"/>
          <a:ext cx="8456415" cy="8558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7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6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429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55804">
                <a:tc>
                  <a:txBody>
                    <a:bodyPr/>
                    <a:lstStyle/>
                    <a:p>
                      <a:pPr algn="ctr"/>
                      <a:r>
                        <a:rPr lang="tr-TR" sz="1800" b="1" dirty="0" smtClean="0"/>
                        <a:t>Dosya Ad</a:t>
                      </a:r>
                      <a:r>
                        <a:rPr lang="tr-TR" sz="1800" dirty="0" smtClean="0"/>
                        <a:t>ı</a:t>
                      </a:r>
                      <a:endParaRPr lang="tr-TR" sz="1800" dirty="0"/>
                    </a:p>
                  </a:txBody>
                  <a:tcPr marL="45719" marR="45719" marT="45589" marB="455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dirty="0" smtClean="0"/>
                        <a:t>Dosya Türü </a:t>
                      </a:r>
                      <a:endParaRPr lang="tr-TR" sz="1800" dirty="0"/>
                    </a:p>
                  </a:txBody>
                  <a:tcPr marL="45719" marR="45719" marT="45589" marB="455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dirty="0" smtClean="0"/>
                        <a:t>Öznitelik </a:t>
                      </a:r>
                    </a:p>
                    <a:p>
                      <a:pPr algn="ctr"/>
                      <a:r>
                        <a:rPr lang="tr-TR" sz="1800" dirty="0" smtClean="0"/>
                        <a:t>Bilgisi</a:t>
                      </a:r>
                      <a:endParaRPr lang="tr-TR" sz="1800" dirty="0"/>
                    </a:p>
                  </a:txBody>
                  <a:tcPr marL="45719" marR="45719" marT="45589" marB="455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dirty="0" smtClean="0"/>
                        <a:t>Oluşturulma </a:t>
                      </a:r>
                    </a:p>
                    <a:p>
                      <a:pPr algn="ctr"/>
                      <a:r>
                        <a:rPr lang="tr-TR" sz="1800" dirty="0" smtClean="0"/>
                        <a:t>Tarihi</a:t>
                      </a:r>
                      <a:endParaRPr lang="tr-TR" sz="1800" dirty="0"/>
                    </a:p>
                  </a:txBody>
                  <a:tcPr marL="45719" marR="45719" marT="45589" marB="455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dirty="0" smtClean="0"/>
                        <a:t>Güncelleme </a:t>
                      </a:r>
                    </a:p>
                    <a:p>
                      <a:pPr algn="ctr"/>
                      <a:r>
                        <a:rPr lang="tr-TR" sz="1800" dirty="0" smtClean="0"/>
                        <a:t>Tarihi</a:t>
                      </a:r>
                      <a:endParaRPr lang="tr-TR" sz="1800" dirty="0"/>
                    </a:p>
                  </a:txBody>
                  <a:tcPr marL="45719" marR="45719" marT="45589" marB="455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800" b="1" dirty="0" smtClean="0"/>
                        <a:t>Fiziksel kayıt Adresleri</a:t>
                      </a:r>
                      <a:r>
                        <a:rPr lang="tr-TR" sz="1800" b="1" baseline="0" dirty="0" smtClean="0"/>
                        <a:t> </a:t>
                      </a:r>
                    </a:p>
                    <a:p>
                      <a:pPr algn="ctr"/>
                      <a:r>
                        <a:rPr lang="tr-TR" sz="1800" b="1" baseline="0" dirty="0" smtClean="0"/>
                        <a:t>ya da İlk kayıt Adresi</a:t>
                      </a:r>
                      <a:endParaRPr lang="tr-TR" sz="1800" b="1" dirty="0"/>
                    </a:p>
                  </a:txBody>
                  <a:tcPr marL="45719" marR="45719" marT="45589" marB="4558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54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MFD – ROOT – KÖK DİZİN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3163" y="1789611"/>
            <a:ext cx="6855453" cy="496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44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Dosya Yönetim Sistemi</a:t>
            </a:r>
            <a:endParaRPr lang="en-US" altLang="tr-TR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tr-TR" altLang="tr-TR"/>
              <a:t>Kullanıcı için mantıksal bir yapı çerçevesinde görünüm ve kullanma olanağı sağlar.</a:t>
            </a:r>
          </a:p>
          <a:p>
            <a:pPr algn="just" eaLnBrk="1" hangingPunct="1"/>
            <a:r>
              <a:rPr lang="tr-TR" altLang="tr-TR"/>
              <a:t>Fiziksel uygulama gizlilik sağlar.</a:t>
            </a:r>
            <a:endParaRPr lang="en-US" altLang="tr-TR"/>
          </a:p>
          <a:p>
            <a:pPr algn="just" eaLnBrk="1" hangingPunct="1"/>
            <a:r>
              <a:rPr lang="tr-TR" altLang="tr-TR"/>
              <a:t>Her bir G/Ç aygıtları için dizin yapılarını ve yer tahsisi işlemlerini yönetir.</a:t>
            </a:r>
            <a:endParaRPr lang="en-US" altLang="tr-TR"/>
          </a:p>
          <a:p>
            <a:pPr algn="just" eaLnBrk="1" hangingPunct="1"/>
            <a:r>
              <a:rPr lang="tr-TR" altLang="tr-TR"/>
              <a:t>Dosya güvenliği ve bütünlüğünü koruma</a:t>
            </a:r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9962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tr-TR" b="1" dirty="0" smtClean="0"/>
              <a:t>Dosya Yönetim Sisteminin Temel İşlevi</a:t>
            </a:r>
          </a:p>
        </p:txBody>
      </p:sp>
      <p:sp>
        <p:nvSpPr>
          <p:cNvPr id="19459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tr-TR" altLang="tr-TR" smtClean="0"/>
              <a:t>Mantıksal dosya yapılarından fiziksel yapılara geçişin sağlanması</a:t>
            </a:r>
          </a:p>
          <a:p>
            <a:pPr algn="just" eaLnBrk="1" hangingPunct="1"/>
            <a:r>
              <a:rPr lang="tr-TR" altLang="tr-TR" smtClean="0"/>
              <a:t>İkincil belleklerin verimli kullanımlarının sağlanması</a:t>
            </a:r>
          </a:p>
          <a:p>
            <a:pPr algn="just" eaLnBrk="1" hangingPunct="1"/>
            <a:r>
              <a:rPr lang="tr-TR" altLang="tr-TR" smtClean="0"/>
              <a:t>Dosyaların paylaşılması, korunması ve kurtarılması ile ilgili araçların sağlanması</a:t>
            </a:r>
          </a:p>
        </p:txBody>
      </p:sp>
    </p:spTree>
    <p:extLst>
      <p:ext uri="{BB962C8B-B14F-4D97-AF65-F5344CB8AC3E}">
        <p14:creationId xmlns:p14="http://schemas.microsoft.com/office/powerpoint/2010/main" val="195037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Dosya Erişim Yöntemleri</a:t>
            </a:r>
            <a:endParaRPr lang="en-US" altLang="tr-TR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sz="2400" dirty="0"/>
              <a:t>Sıralı Erişim</a:t>
            </a:r>
            <a:endParaRPr lang="en-US" altLang="tr-TR" sz="2400" dirty="0"/>
          </a:p>
          <a:p>
            <a:pPr lvl="1" eaLnBrk="1" hangingPunct="1"/>
            <a:r>
              <a:rPr lang="tr-TR" altLang="tr-TR" sz="2000" dirty="0"/>
              <a:t>Dosya, başlangıç noktasından bitişe sıralı bir şekilde okunur.</a:t>
            </a:r>
          </a:p>
          <a:p>
            <a:pPr lvl="1" eaLnBrk="1" hangingPunct="1"/>
            <a:r>
              <a:rPr lang="tr-TR" altLang="tr-TR" sz="2000" dirty="0"/>
              <a:t>Dosyaların çoğu</a:t>
            </a:r>
            <a:endParaRPr lang="en-US" altLang="tr-TR" sz="2000" dirty="0"/>
          </a:p>
          <a:p>
            <a:pPr lvl="1" eaLnBrk="1" hangingPunct="1"/>
            <a:r>
              <a:rPr lang="tr-TR" altLang="tr-TR" sz="2000" dirty="0"/>
              <a:t>Program kaynak dosyalar ve ikili dosyalar</a:t>
            </a:r>
            <a:endParaRPr lang="en-US" altLang="tr-TR" sz="2000" dirty="0"/>
          </a:p>
          <a:p>
            <a:pPr eaLnBrk="1" hangingPunct="1"/>
            <a:r>
              <a:rPr lang="tr-TR" altLang="tr-TR" sz="2400" dirty="0"/>
              <a:t>Rastgele Erişim</a:t>
            </a:r>
            <a:endParaRPr lang="en-US" altLang="tr-TR" sz="2400" dirty="0"/>
          </a:p>
          <a:p>
            <a:pPr lvl="1" eaLnBrk="1" hangingPunct="1"/>
            <a:r>
              <a:rPr lang="tr-TR" altLang="tr-TR" sz="2000" dirty="0"/>
              <a:t>Dosyanın mantıksal uzunluğunun sabit olduğunu varsayar.</a:t>
            </a:r>
            <a:endParaRPr lang="en-US" altLang="tr-TR" sz="2000" dirty="0"/>
          </a:p>
          <a:p>
            <a:pPr lvl="1" eaLnBrk="1" hangingPunct="1"/>
            <a:r>
              <a:rPr lang="tr-TR" altLang="tr-TR" sz="2000" dirty="0"/>
              <a:t>Dahili mantıksal kaydın yerini hesaplamak için karma kullanılan bir </a:t>
            </a:r>
            <a:r>
              <a:rPr lang="tr-TR" altLang="tr-TR" sz="2000" dirty="0" err="1"/>
              <a:t>metotdur</a:t>
            </a:r>
            <a:r>
              <a:rPr lang="tr-TR" altLang="tr-TR" sz="2000" dirty="0"/>
              <a:t>.</a:t>
            </a:r>
            <a:endParaRPr lang="en-US" altLang="tr-TR" sz="2000" dirty="0"/>
          </a:p>
          <a:p>
            <a:r>
              <a:rPr lang="tr-TR" altLang="tr-TR" sz="2400" dirty="0"/>
              <a:t>İndeksli </a:t>
            </a:r>
            <a:r>
              <a:rPr lang="tr-TR" altLang="tr-TR" sz="2400" dirty="0" smtClean="0"/>
              <a:t>Erişim (</a:t>
            </a:r>
            <a:r>
              <a:rPr lang="tr-TR" dirty="0" err="1" smtClean="0"/>
              <a:t>Indexed</a:t>
            </a:r>
            <a:r>
              <a:rPr lang="tr-TR" dirty="0" smtClean="0"/>
              <a:t> </a:t>
            </a:r>
            <a:r>
              <a:rPr lang="tr-TR" dirty="0" err="1"/>
              <a:t>Sequential</a:t>
            </a:r>
            <a:r>
              <a:rPr lang="tr-TR" dirty="0"/>
              <a:t> Access </a:t>
            </a:r>
            <a:r>
              <a:rPr lang="tr-TR" dirty="0" err="1" smtClean="0"/>
              <a:t>Method</a:t>
            </a:r>
            <a:r>
              <a:rPr lang="tr-TR" dirty="0" smtClean="0"/>
              <a:t> (ISAM))</a:t>
            </a:r>
            <a:endParaRPr lang="en-US" altLang="tr-TR" sz="2400" dirty="0"/>
          </a:p>
          <a:p>
            <a:pPr lvl="1" eaLnBrk="1" hangingPunct="1"/>
            <a:r>
              <a:rPr lang="tr-TR" altLang="tr-TR" sz="2000" dirty="0"/>
              <a:t>Bir dosya kayıtları erişmek ve görüntüleme için araçlar eklenir</a:t>
            </a:r>
          </a:p>
          <a:p>
            <a:pPr lvl="1" eaLnBrk="1" hangingPunct="1"/>
            <a:r>
              <a:rPr lang="tr-TR" altLang="tr-TR" sz="2000" dirty="0"/>
              <a:t>Anahtar indeksler</a:t>
            </a:r>
            <a:endParaRPr lang="en-US" altLang="tr-TR" sz="2000" dirty="0"/>
          </a:p>
        </p:txBody>
      </p:sp>
    </p:spTree>
    <p:extLst>
      <p:ext uri="{BB962C8B-B14F-4D97-AF65-F5344CB8AC3E}">
        <p14:creationId xmlns:p14="http://schemas.microsoft.com/office/powerpoint/2010/main" val="40859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Fiziksel Dosya Depolama</a:t>
            </a:r>
            <a:endParaRPr lang="en-US" altLang="tr-TR" smtClean="0"/>
          </a:p>
        </p:txBody>
      </p:sp>
      <p:sp>
        <p:nvSpPr>
          <p:cNvPr id="10243" name="Rectangle 1027"/>
          <p:cNvSpPr>
            <a:spLocks noGrp="1" noChangeArrowheads="1"/>
          </p:cNvSpPr>
          <p:nvPr>
            <p:ph idx="1"/>
          </p:nvPr>
        </p:nvSpPr>
        <p:spPr>
          <a:xfrm>
            <a:off x="2438400" y="1524001"/>
            <a:ext cx="60198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altLang="tr-TR" smtClean="0"/>
              <a:t>Bitişik</a:t>
            </a:r>
            <a:endParaRPr lang="en-US" altLang="tr-TR" smtClean="0"/>
          </a:p>
          <a:p>
            <a:pPr eaLnBrk="1" hangingPunct="1">
              <a:lnSpc>
                <a:spcPct val="90000"/>
              </a:lnSpc>
            </a:pPr>
            <a:r>
              <a:rPr lang="tr-TR" altLang="tr-TR" smtClean="0"/>
              <a:t>Ayrık</a:t>
            </a:r>
            <a:endParaRPr lang="en-US" altLang="tr-TR" smtClean="0"/>
          </a:p>
          <a:p>
            <a:pPr lvl="1" eaLnBrk="1" hangingPunct="1">
              <a:lnSpc>
                <a:spcPct val="90000"/>
              </a:lnSpc>
            </a:pPr>
            <a:r>
              <a:rPr lang="tr-TR" altLang="tr-TR" smtClean="0"/>
              <a:t>Bağlı </a:t>
            </a:r>
            <a:endParaRPr lang="en-US" altLang="tr-TR" smtClean="0"/>
          </a:p>
          <a:p>
            <a:pPr lvl="1" eaLnBrk="1" hangingPunct="1">
              <a:lnSpc>
                <a:spcPct val="90000"/>
              </a:lnSpc>
            </a:pPr>
            <a:r>
              <a:rPr lang="tr-TR" altLang="tr-TR" smtClean="0"/>
              <a:t>İndexli</a:t>
            </a:r>
            <a:endParaRPr lang="en-US" altLang="tr-TR" smtClean="0"/>
          </a:p>
          <a:p>
            <a:pPr eaLnBrk="1" hangingPunct="1">
              <a:lnSpc>
                <a:spcPct val="90000"/>
              </a:lnSpc>
            </a:pPr>
            <a:r>
              <a:rPr lang="tr-TR" altLang="tr-TR" smtClean="0"/>
              <a:t>Örnekler</a:t>
            </a:r>
            <a:endParaRPr lang="en-US" altLang="tr-TR" smtClean="0"/>
          </a:p>
          <a:p>
            <a:pPr lvl="1" eaLnBrk="1" hangingPunct="1">
              <a:lnSpc>
                <a:spcPct val="90000"/>
              </a:lnSpc>
            </a:pPr>
            <a:r>
              <a:rPr lang="en-US" altLang="tr-TR" smtClean="0"/>
              <a:t>DOS/Windows FAT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mtClean="0"/>
              <a:t>UNIX i-nodes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tr-TR" smtClean="0"/>
              <a:t>Windows NTFS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tr-TR" smtClean="0"/>
              <a:t>Serbest boşluk yönetimi</a:t>
            </a:r>
            <a:endParaRPr lang="en-US" altLang="tr-TR" smtClean="0"/>
          </a:p>
        </p:txBody>
      </p:sp>
    </p:spTree>
    <p:extLst>
      <p:ext uri="{BB962C8B-B14F-4D97-AF65-F5344CB8AC3E}">
        <p14:creationId xmlns:p14="http://schemas.microsoft.com/office/powerpoint/2010/main" val="29030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z="4000"/>
              <a:t>Bitişik</a:t>
            </a:r>
            <a:r>
              <a:rPr lang="en-US" altLang="tr-TR" sz="4000"/>
              <a:t> </a:t>
            </a:r>
            <a:r>
              <a:rPr lang="tr-TR" altLang="tr-TR" sz="4000"/>
              <a:t>Depolama Alanı</a:t>
            </a:r>
            <a:endParaRPr lang="en-US" altLang="tr-TR" sz="400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r-TR" altLang="tr-TR"/>
              <a:t>Hem sıralı hem de rastgele erişim yapılabilir.</a:t>
            </a:r>
            <a:endParaRPr lang="en-US" altLang="tr-TR"/>
          </a:p>
          <a:p>
            <a:pPr eaLnBrk="1" hangingPunct="1">
              <a:lnSpc>
                <a:spcPct val="90000"/>
              </a:lnSpc>
            </a:pPr>
            <a:r>
              <a:rPr lang="tr-TR" altLang="tr-TR"/>
              <a:t>Dezavantajlar</a:t>
            </a:r>
            <a:endParaRPr lang="en-US" altLang="tr-TR"/>
          </a:p>
          <a:p>
            <a:pPr lvl="1" eaLnBrk="1" hangingPunct="1">
              <a:lnSpc>
                <a:spcPct val="90000"/>
              </a:lnSpc>
            </a:pPr>
            <a:r>
              <a:rPr lang="tr-TR" altLang="tr-TR"/>
              <a:t>Alan yeterince büyük olmalıdır.</a:t>
            </a:r>
            <a:endParaRPr lang="en-US" altLang="tr-TR"/>
          </a:p>
          <a:p>
            <a:pPr lvl="1" eaLnBrk="1" hangingPunct="1">
              <a:lnSpc>
                <a:spcPct val="90000"/>
              </a:lnSpc>
            </a:pPr>
            <a:r>
              <a:rPr lang="tr-TR" altLang="tr-TR"/>
              <a:t>Dosyanın büyümesi göz önüne alınmalıdır.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tr-TR"/>
              <a:t>Taşıma işlemi zordur.</a:t>
            </a:r>
            <a:endParaRPr lang="en-US" altLang="tr-TR"/>
          </a:p>
          <a:p>
            <a:pPr lvl="1" eaLnBrk="1" hangingPunct="1">
              <a:lnSpc>
                <a:spcPct val="90000"/>
              </a:lnSpc>
            </a:pPr>
            <a:r>
              <a:rPr lang="tr-TR" altLang="tr-TR"/>
              <a:t>Diskin parçalanmasına neden olur.</a:t>
            </a:r>
            <a:endParaRPr lang="en-US" altLang="tr-TR"/>
          </a:p>
          <a:p>
            <a:pPr eaLnBrk="1" hangingPunct="1">
              <a:lnSpc>
                <a:spcPct val="90000"/>
              </a:lnSpc>
            </a:pPr>
            <a:r>
              <a:rPr lang="tr-TR" altLang="tr-TR" sz="2600"/>
              <a:t>Parçalanmayı azaltmak için;</a:t>
            </a:r>
            <a:endParaRPr lang="en-US" altLang="tr-TR" sz="2600"/>
          </a:p>
          <a:p>
            <a:pPr lvl="1" eaLnBrk="1" hangingPunct="1">
              <a:lnSpc>
                <a:spcPct val="90000"/>
              </a:lnSpc>
            </a:pPr>
            <a:r>
              <a:rPr lang="en-US" altLang="tr-TR" sz="2200"/>
              <a:t>First-fit, best-fit</a:t>
            </a:r>
          </a:p>
          <a:p>
            <a:pPr eaLnBrk="1" hangingPunct="1">
              <a:lnSpc>
                <a:spcPct val="90000"/>
              </a:lnSpc>
            </a:pPr>
            <a:r>
              <a:rPr lang="tr-TR" altLang="tr-TR" sz="2600"/>
              <a:t>Diskin parçalanması kaçınılmaz.</a:t>
            </a:r>
            <a:endParaRPr lang="en-US" altLang="tr-TR" sz="2600"/>
          </a:p>
          <a:p>
            <a:pPr eaLnBrk="1" hangingPunct="1">
              <a:lnSpc>
                <a:spcPct val="90000"/>
              </a:lnSpc>
            </a:pPr>
            <a:endParaRPr lang="en-US" altLang="tr-TR" sz="2600"/>
          </a:p>
        </p:txBody>
      </p:sp>
    </p:spTree>
    <p:extLst>
      <p:ext uri="{BB962C8B-B14F-4D97-AF65-F5344CB8AC3E}">
        <p14:creationId xmlns:p14="http://schemas.microsoft.com/office/powerpoint/2010/main" val="299047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ChangeArrowheads="1"/>
          </p:cNvSpPr>
          <p:nvPr/>
        </p:nvSpPr>
        <p:spPr bwMode="auto">
          <a:xfrm>
            <a:off x="2514600" y="457200"/>
            <a:ext cx="498886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tr-TR" altLang="tr-TR" sz="4000" b="1">
                <a:solidFill>
                  <a:srgbClr val="000080"/>
                </a:solidFill>
              </a:rPr>
              <a:t>Bitişik Depolama Alanı</a:t>
            </a:r>
            <a:endParaRPr lang="en-US" altLang="tr-TR" sz="4000" b="1">
              <a:solidFill>
                <a:srgbClr val="000080"/>
              </a:solidFill>
            </a:endParaRPr>
          </a:p>
        </p:txBody>
      </p:sp>
      <p:pic>
        <p:nvPicPr>
          <p:cNvPr id="12291" name="Picture 6" descr="C:\Documents and Settings\All Users\Documents\Home\Bentley\cs220\IrvTextbookV3\Images\Ch16\c16f0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676400"/>
            <a:ext cx="4572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6747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Yer Atama Methodları</a:t>
            </a:r>
          </a:p>
        </p:txBody>
      </p:sp>
      <p:sp>
        <p:nvSpPr>
          <p:cNvPr id="45059" name="İçerik Yer Tutucusu 2"/>
          <p:cNvSpPr>
            <a:spLocks noGrp="1"/>
          </p:cNvSpPr>
          <p:nvPr>
            <p:ph idx="1"/>
          </p:nvPr>
        </p:nvSpPr>
        <p:spPr>
          <a:xfrm>
            <a:off x="1992313" y="1268413"/>
            <a:ext cx="8229600" cy="4525962"/>
          </a:xfrm>
        </p:spPr>
        <p:txBody>
          <a:bodyPr/>
          <a:lstStyle/>
          <a:p>
            <a:r>
              <a:rPr lang="tr-TR" smtClean="0"/>
              <a:t>Bitişik Yer Atama</a:t>
            </a:r>
          </a:p>
        </p:txBody>
      </p:sp>
      <p:pic>
        <p:nvPicPr>
          <p:cNvPr id="450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1" y="1795464"/>
            <a:ext cx="5400675" cy="506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695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Bağlı Alan (Bağlantılı)</a:t>
            </a:r>
            <a:endParaRPr lang="en-US" altLang="tr-TR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tr-TR" sz="2400" dirty="0"/>
              <a:t>Avantajlar</a:t>
            </a:r>
            <a:endParaRPr lang="en-US" altLang="tr-TR" sz="2400" dirty="0"/>
          </a:p>
          <a:p>
            <a:pPr lvl="1" eaLnBrk="1" hangingPunct="1"/>
            <a:r>
              <a:rPr lang="tr-TR" altLang="tr-TR" sz="2000" dirty="0"/>
              <a:t>Parçalanma yoktur.</a:t>
            </a:r>
            <a:endParaRPr lang="en-US" altLang="tr-TR" sz="2000" dirty="0"/>
          </a:p>
          <a:p>
            <a:pPr lvl="1" eaLnBrk="1" hangingPunct="1"/>
            <a:r>
              <a:rPr lang="tr-TR" altLang="tr-TR" sz="2000" dirty="0"/>
              <a:t>Dosya eklemek basittir.</a:t>
            </a:r>
            <a:endParaRPr lang="en-US" altLang="tr-TR" sz="2000" dirty="0"/>
          </a:p>
          <a:p>
            <a:pPr eaLnBrk="1" hangingPunct="1"/>
            <a:r>
              <a:rPr lang="tr-TR" altLang="tr-TR" sz="2400" dirty="0"/>
              <a:t>Dezavantajlar</a:t>
            </a:r>
            <a:endParaRPr lang="en-US" altLang="tr-TR" sz="2400" dirty="0"/>
          </a:p>
          <a:p>
            <a:pPr lvl="1" eaLnBrk="1" hangingPunct="1"/>
            <a:r>
              <a:rPr lang="tr-TR" altLang="tr-TR" sz="2000"/>
              <a:t>.</a:t>
            </a:r>
            <a:r>
              <a:rPr lang="tr-TR" altLang="tr-TR" sz="2000" dirty="0"/>
              <a:t>kusurlu bloğun kazanılması zordur.</a:t>
            </a:r>
          </a:p>
          <a:p>
            <a:pPr lvl="1" eaLnBrk="1" hangingPunct="1"/>
            <a:r>
              <a:rPr lang="tr-TR" altLang="tr-TR" sz="2000" dirty="0"/>
              <a:t>İşaretçiler depolanmasına dayanır.</a:t>
            </a:r>
          </a:p>
          <a:p>
            <a:pPr lvl="1" eaLnBrk="1" hangingPunct="1"/>
            <a:r>
              <a:rPr lang="tr-TR" altLang="tr-TR" sz="2000" dirty="0"/>
              <a:t>Ek olarak disk araması gerekebilir.</a:t>
            </a:r>
            <a:endParaRPr lang="en-US" altLang="tr-TR" sz="2000" dirty="0"/>
          </a:p>
        </p:txBody>
      </p:sp>
    </p:spTree>
    <p:extLst>
      <p:ext uri="{BB962C8B-B14F-4D97-AF65-F5344CB8AC3E}">
        <p14:creationId xmlns:p14="http://schemas.microsoft.com/office/powerpoint/2010/main" val="108590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title"/>
          </p:nvPr>
        </p:nvSpPr>
        <p:spPr>
          <a:xfrm>
            <a:off x="2362200" y="228600"/>
            <a:ext cx="7924800" cy="1143000"/>
          </a:xfrm>
        </p:spPr>
        <p:txBody>
          <a:bodyPr/>
          <a:lstStyle/>
          <a:p>
            <a:pPr eaLnBrk="1" hangingPunct="1"/>
            <a:r>
              <a:rPr lang="tr-TR" altLang="tr-TR" smtClean="0"/>
              <a:t>Bağlantılı Alan</a:t>
            </a:r>
            <a:endParaRPr lang="en-US" altLang="tr-TR" smtClean="0"/>
          </a:p>
        </p:txBody>
      </p:sp>
      <p:pic>
        <p:nvPicPr>
          <p:cNvPr id="1433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600201"/>
            <a:ext cx="4438650" cy="446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182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Bağlı Yer Atama</a:t>
            </a:r>
          </a:p>
        </p:txBody>
      </p:sp>
      <p:pic>
        <p:nvPicPr>
          <p:cNvPr id="4608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92538" y="1484313"/>
            <a:ext cx="4691062" cy="46402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757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FAT </a:t>
            </a:r>
          </a:p>
        </p:txBody>
      </p:sp>
      <p:pic>
        <p:nvPicPr>
          <p:cNvPr id="481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36" t="24985" r="14426" b="8328"/>
          <a:stretch>
            <a:fillRect/>
          </a:stretch>
        </p:blipFill>
        <p:spPr bwMode="auto">
          <a:xfrm>
            <a:off x="1847850" y="1557339"/>
            <a:ext cx="8318500" cy="508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340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Başlık 1"/>
          <p:cNvSpPr>
            <a:spLocks noGrp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tr-TR" smtClean="0"/>
              <a:t>MS DOS Kılavuz Dosya Yapısı </a:t>
            </a:r>
          </a:p>
        </p:txBody>
      </p:sp>
      <p:pic>
        <p:nvPicPr>
          <p:cNvPr id="4710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6" t="63541" r="14426" b="10001"/>
          <a:stretch>
            <a:fillRect/>
          </a:stretch>
        </p:blipFill>
        <p:spPr bwMode="auto">
          <a:xfrm>
            <a:off x="1801813" y="2825751"/>
            <a:ext cx="8424862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095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mtClean="0"/>
              <a:t>MS-DOS FAT</a:t>
            </a:r>
          </a:p>
        </p:txBody>
      </p:sp>
      <p:pic>
        <p:nvPicPr>
          <p:cNvPr id="50179" name="Picture 5" descr="C:\Documents and Settings\All Users\Documents\Home\Bentley\cs220\IrvTextbookV3\Images\Ch16\c16f0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524001"/>
            <a:ext cx="5562600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Text Box 6"/>
          <p:cNvSpPr txBox="1">
            <a:spLocks noChangeArrowheads="1"/>
          </p:cNvSpPr>
          <p:nvPr/>
        </p:nvSpPr>
        <p:spPr bwMode="auto">
          <a:xfrm>
            <a:off x="7620000" y="3657600"/>
            <a:ext cx="25146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tr-TR" sz="2200">
                <a:latin typeface="Arial" charset="0"/>
              </a:rPr>
              <a:t>Linked Allocation and File Allocation Table</a:t>
            </a:r>
          </a:p>
        </p:txBody>
      </p:sp>
    </p:spTree>
    <p:extLst>
      <p:ext uri="{BB962C8B-B14F-4D97-AF65-F5344CB8AC3E}">
        <p14:creationId xmlns:p14="http://schemas.microsoft.com/office/powerpoint/2010/main" val="39451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Windows Dosya Sistemi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dirty="0"/>
              <a:t>Yerel dosya Sistemi FAT’ </a:t>
            </a:r>
            <a:r>
              <a:rPr lang="tr-TR" sz="2400" dirty="0" err="1"/>
              <a:t>dir</a:t>
            </a:r>
            <a:r>
              <a:rPr lang="tr-TR" sz="2400" dirty="0"/>
              <a:t>.</a:t>
            </a:r>
          </a:p>
          <a:p>
            <a:r>
              <a:rPr lang="tr-TR" sz="2400" dirty="0"/>
              <a:t>Taşınabilirlik için 32 bit FAT dosya sistemi ile biçimlendirmeler yapılmaktadır.</a:t>
            </a:r>
          </a:p>
          <a:p>
            <a:r>
              <a:rPr lang="tr-TR" sz="2400" dirty="0"/>
              <a:t>FAT dosya sisteminde dosya erişimini yetkili kullanıcılarla sınırlandıramazsınız.</a:t>
            </a:r>
          </a:p>
          <a:p>
            <a:r>
              <a:rPr lang="tr-TR" sz="2400" dirty="0"/>
              <a:t>Buna karşılık NTFS (NT (New </a:t>
            </a:r>
            <a:r>
              <a:rPr lang="tr-TR" sz="2400" dirty="0" err="1"/>
              <a:t>Tecnology</a:t>
            </a:r>
            <a:r>
              <a:rPr lang="tr-TR" sz="2400" dirty="0"/>
              <a:t> (Kaynak: </a:t>
            </a:r>
            <a:r>
              <a:rPr lang="tr-TR" sz="2400" dirty="0" err="1"/>
              <a:t>wikipedia</a:t>
            </a:r>
            <a:r>
              <a:rPr lang="tr-TR" sz="2400" dirty="0"/>
              <a:t>)) File </a:t>
            </a:r>
            <a:r>
              <a:rPr lang="tr-TR" sz="2400" dirty="0" err="1"/>
              <a:t>System</a:t>
            </a:r>
            <a:r>
              <a:rPr lang="tr-TR" sz="2400" dirty="0"/>
              <a:t>)</a:t>
            </a:r>
          </a:p>
          <a:p>
            <a:r>
              <a:rPr lang="tr-TR" sz="2400" dirty="0"/>
              <a:t>NTFS dosya erişimlerini denetlemek için Erişim Listelerini kullanmaktadır ve tek tek dosyaların veya tüm birimleri şifrelenmesini destekler.</a:t>
            </a:r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8497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686800" cy="1143000"/>
          </a:xfrm>
        </p:spPr>
        <p:txBody>
          <a:bodyPr/>
          <a:lstStyle/>
          <a:p>
            <a:r>
              <a:rPr lang="tr-TR" sz="3600" dirty="0"/>
              <a:t>Windows NT Filet </a:t>
            </a:r>
            <a:r>
              <a:rPr lang="tr-TR" sz="3600" dirty="0" err="1"/>
              <a:t>System</a:t>
            </a:r>
            <a:r>
              <a:rPr lang="tr-TR" sz="3600" dirty="0"/>
              <a:t> </a:t>
            </a:r>
            <a:r>
              <a:rPr lang="tr-TR" sz="2800" dirty="0"/>
              <a:t/>
            </a:r>
            <a:br>
              <a:rPr lang="tr-TR" sz="2800" dirty="0"/>
            </a:br>
            <a:r>
              <a:rPr lang="tr-TR" sz="2800" dirty="0"/>
              <a:t> (Kaynak: http://ntfs.com/ntfs-partition-boot-sector.htm)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dirty="0"/>
              <a:t>Windows NT dosya sistemi (NTFS), FAT dosya sisteminde bulunmayan performans, güvenilirlik ve uyumluluk birleşimini sağlar.</a:t>
            </a:r>
          </a:p>
          <a:p>
            <a:r>
              <a:rPr lang="tr-TR" sz="2400" dirty="0"/>
              <a:t>NTFS biçimlendirmelerinde, NTFS dosya sistemi ile birlikte bir çok sistem dosyası (meta data) oluşur.</a:t>
            </a:r>
          </a:p>
          <a:p>
            <a:pPr lvl="1"/>
            <a:r>
              <a:rPr lang="tr-TR" sz="2000" dirty="0"/>
              <a:t>MFT (Master File </a:t>
            </a:r>
            <a:r>
              <a:rPr lang="tr-TR" sz="2000" dirty="0" err="1"/>
              <a:t>Table</a:t>
            </a:r>
            <a:r>
              <a:rPr lang="tr-TR" sz="2000" dirty="0"/>
              <a:t>)</a:t>
            </a:r>
          </a:p>
          <a:p>
            <a:pPr lvl="1"/>
            <a:r>
              <a:rPr lang="tr-TR" sz="2000" dirty="0"/>
              <a:t>Bitmap</a:t>
            </a:r>
          </a:p>
          <a:p>
            <a:pPr lvl="1"/>
            <a:r>
              <a:rPr lang="tr-TR" sz="2000" dirty="0" err="1"/>
              <a:t>Log</a:t>
            </a:r>
            <a:r>
              <a:rPr lang="tr-TR" sz="2000" dirty="0"/>
              <a:t> File …</a:t>
            </a:r>
          </a:p>
          <a:p>
            <a:r>
              <a:rPr lang="tr-TR" sz="2400" dirty="0"/>
              <a:t>NTFS birimi hakkındaki ilk bilgi, sektör 0'da başlayan ve en çok 16 sektör uzunluğunda olabilen Bölüm Önyükleme Sektörü 'dür. </a:t>
            </a:r>
          </a:p>
          <a:p>
            <a:endParaRPr lang="tr-TR" sz="2400" dirty="0"/>
          </a:p>
        </p:txBody>
      </p:sp>
      <p:pic>
        <p:nvPicPr>
          <p:cNvPr id="1026" name="Picture 2" descr="Formatted NTFS Volu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704" y="5949838"/>
            <a:ext cx="5534822" cy="71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618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Indeksli Atama</a:t>
            </a:r>
          </a:p>
        </p:txBody>
      </p:sp>
      <p:pic>
        <p:nvPicPr>
          <p:cNvPr id="5120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0" y="1376363"/>
            <a:ext cx="6313488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255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mtClean="0"/>
              <a:t>i-node</a:t>
            </a:r>
          </a:p>
        </p:txBody>
      </p:sp>
      <p:pic>
        <p:nvPicPr>
          <p:cNvPr id="522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2" t="26498" r="14687" b="7001"/>
          <a:stretch>
            <a:fillRect/>
          </a:stretch>
        </p:blipFill>
        <p:spPr bwMode="auto">
          <a:xfrm>
            <a:off x="1847850" y="1412875"/>
            <a:ext cx="8382000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760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1" t="14250" r="26093" b="7001"/>
          <a:stretch>
            <a:fillRect/>
          </a:stretch>
        </p:blipFill>
        <p:spPr bwMode="auto">
          <a:xfrm>
            <a:off x="3359150" y="549275"/>
            <a:ext cx="5562600" cy="600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47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3" t="34749" r="23595" b="11542"/>
          <a:stretch>
            <a:fillRect/>
          </a:stretch>
        </p:blipFill>
        <p:spPr bwMode="auto">
          <a:xfrm>
            <a:off x="2424114" y="981075"/>
            <a:ext cx="7272337" cy="489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573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Database File – Table Image</a:t>
            </a:r>
          </a:p>
        </p:txBody>
      </p:sp>
      <p:pic>
        <p:nvPicPr>
          <p:cNvPr id="15363" name="Picture 9" descr="C:\Documents and Settings\All Users\Documents\Home\Bentley\cs220\IrvTextbookV3\Images\Ch16\c16f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828801"/>
            <a:ext cx="76962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198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>
          <a:xfrm>
            <a:off x="2362200" y="228600"/>
            <a:ext cx="79248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Database File – Form Image</a:t>
            </a:r>
            <a:endParaRPr lang="en-US" altLang="tr-TR" smtClean="0"/>
          </a:p>
        </p:txBody>
      </p:sp>
      <p:pic>
        <p:nvPicPr>
          <p:cNvPr id="16387" name="Picture 6" descr="C:\Documents and Settings\All Users\Documents\Home\Bentley\cs220\IrvTextbookV3\Images\Ch16\c16f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76400"/>
            <a:ext cx="6477000" cy="443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684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title"/>
          </p:nvPr>
        </p:nvSpPr>
        <p:spPr>
          <a:xfrm>
            <a:off x="2362200" y="228600"/>
            <a:ext cx="7924800" cy="1143000"/>
          </a:xfrm>
        </p:spPr>
        <p:txBody>
          <a:bodyPr/>
          <a:lstStyle/>
          <a:p>
            <a:pPr eaLnBrk="1" hangingPunct="1"/>
            <a:r>
              <a:rPr lang="en-US" altLang="tr-TR" sz="4000"/>
              <a:t>Database File – Stream Image</a:t>
            </a:r>
          </a:p>
        </p:txBody>
      </p:sp>
      <p:pic>
        <p:nvPicPr>
          <p:cNvPr id="17411" name="Picture 6" descr="C:\Documents and Settings\All Users\Documents\Home\Bentley\cs220\IrvTextbookV3\Images\Ch16\c16f0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752600"/>
            <a:ext cx="7543800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Rectangle 8"/>
          <p:cNvSpPr>
            <a:spLocks noChangeArrowheads="1"/>
          </p:cNvSpPr>
          <p:nvPr/>
        </p:nvSpPr>
        <p:spPr bwMode="auto">
          <a:xfrm>
            <a:off x="2438400" y="32766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80"/>
              </a:buClr>
              <a:buFont typeface="Wingdings" pitchFamily="2" charset="2"/>
              <a:buChar char="§"/>
            </a:pPr>
            <a:r>
              <a:rPr lang="en-US" altLang="tr-TR" sz="3200"/>
              <a:t>Closer to physical representation of file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80"/>
              </a:buClr>
              <a:buFont typeface="Wingdings" pitchFamily="2" charset="2"/>
              <a:buChar char="§"/>
            </a:pPr>
            <a:endParaRPr lang="en-US" altLang="tr-TR" sz="3200"/>
          </a:p>
        </p:txBody>
      </p:sp>
    </p:spTree>
    <p:extLst>
      <p:ext uri="{BB962C8B-B14F-4D97-AF65-F5344CB8AC3E}">
        <p14:creationId xmlns:p14="http://schemas.microsoft.com/office/powerpoint/2010/main" val="65335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2" t="47501" r="16093" b="17500"/>
          <a:stretch>
            <a:fillRect/>
          </a:stretch>
        </p:blipFill>
        <p:spPr bwMode="auto">
          <a:xfrm>
            <a:off x="1558926" y="1916113"/>
            <a:ext cx="9045575" cy="301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1023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5" t="19250" r="14999" b="10001"/>
          <a:stretch>
            <a:fillRect/>
          </a:stretch>
        </p:blipFill>
        <p:spPr bwMode="auto">
          <a:xfrm>
            <a:off x="1703388" y="981075"/>
            <a:ext cx="8305800" cy="539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670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5" t="45599" r="19231" b="27200"/>
          <a:stretch>
            <a:fillRect/>
          </a:stretch>
        </p:blipFill>
        <p:spPr bwMode="auto">
          <a:xfrm>
            <a:off x="2208213" y="2205039"/>
            <a:ext cx="7670800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765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sz="3600"/>
              <a:t>Dosya Yönetimi ve G/Ç Fonksiyonları</a:t>
            </a:r>
            <a:endParaRPr lang="en-US" altLang="tr-TR" sz="360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tr-TR" altLang="tr-TR" smtClean="0"/>
              <a:t>Giriş Çıkış Fonksiyonları ile Dosya Yönetimi arasındaki ayrım</a:t>
            </a:r>
            <a:endParaRPr lang="en-US" altLang="tr-TR" smtClean="0"/>
          </a:p>
          <a:p>
            <a:pPr marL="609600" indent="-609600">
              <a:buFont typeface="Wingdings" pitchFamily="2" charset="2"/>
              <a:buAutoNum type="arabicPeriod"/>
            </a:pPr>
            <a:r>
              <a:rPr lang="tr-TR" altLang="tr-TR" smtClean="0"/>
              <a:t>I/O aygıtları aynı dosya sistemini tutarken değiştirebilir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tr-TR" altLang="tr-TR" smtClean="0"/>
              <a:t>Veri yönlendirme basittir.</a:t>
            </a:r>
            <a:endParaRPr lang="en-US" altLang="tr-TR" smtClean="0"/>
          </a:p>
        </p:txBody>
      </p:sp>
    </p:spTree>
    <p:extLst>
      <p:ext uri="{BB962C8B-B14F-4D97-AF65-F5344CB8AC3E}">
        <p14:creationId xmlns:p14="http://schemas.microsoft.com/office/powerpoint/2010/main" val="249861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Başlık 1"/>
          <p:cNvSpPr>
            <a:spLocks noGrp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r>
              <a:rPr lang="tr-TR" altLang="tr-TR" smtClean="0"/>
              <a:t>CP/M Kılavuz Dosya Satırı</a:t>
            </a:r>
          </a:p>
        </p:txBody>
      </p:sp>
      <p:pic>
        <p:nvPicPr>
          <p:cNvPr id="4403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8" t="51541" r="14427" b="28000"/>
          <a:stretch>
            <a:fillRect/>
          </a:stretch>
        </p:blipFill>
        <p:spPr bwMode="auto">
          <a:xfrm>
            <a:off x="1919288" y="2781301"/>
            <a:ext cx="8350250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9745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1012</Words>
  <Application>Microsoft Office PowerPoint</Application>
  <PresentationFormat>Geniş ekran</PresentationFormat>
  <Paragraphs>188</Paragraphs>
  <Slides>37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Wingdings</vt:lpstr>
      <vt:lpstr>Office Teması</vt:lpstr>
      <vt:lpstr>Dosya Yönetimi</vt:lpstr>
      <vt:lpstr>Konu Kapsamı</vt:lpstr>
      <vt:lpstr>Dosya Yönetimi</vt:lpstr>
      <vt:lpstr>Dosya Özellikleri</vt:lpstr>
      <vt:lpstr>Dosya Türleri</vt:lpstr>
      <vt:lpstr>Dosya İşlemleri</vt:lpstr>
      <vt:lpstr>Dosya Yönetim Sistemi</vt:lpstr>
      <vt:lpstr>Dosya Yönetim Sistemi</vt:lpstr>
      <vt:lpstr>Dizin Yapısı</vt:lpstr>
      <vt:lpstr>MFD – ROOT – KÖK DİZİN</vt:lpstr>
      <vt:lpstr>Dosya Yönetim Sistemi</vt:lpstr>
      <vt:lpstr>Dosya Yönetim Sisteminin Temel İşlevi</vt:lpstr>
      <vt:lpstr>Dosya Erişim Yöntemleri</vt:lpstr>
      <vt:lpstr>Fiziksel Dosya Depolama</vt:lpstr>
      <vt:lpstr>Bitişik Depolama Alanı</vt:lpstr>
      <vt:lpstr>PowerPoint Sunusu</vt:lpstr>
      <vt:lpstr>Yer Atama Methodları</vt:lpstr>
      <vt:lpstr>Bağlı Alan (Bağlantılı)</vt:lpstr>
      <vt:lpstr>Bağlantılı Alan</vt:lpstr>
      <vt:lpstr>Bağlı Yer Atama</vt:lpstr>
      <vt:lpstr>FAT </vt:lpstr>
      <vt:lpstr>MS DOS Kılavuz Dosya Yapısı </vt:lpstr>
      <vt:lpstr>MS-DOS FAT</vt:lpstr>
      <vt:lpstr>Windows Dosya Sistemi</vt:lpstr>
      <vt:lpstr>Windows NT Filet System   (Kaynak: http://ntfs.com/ntfs-partition-boot-sector.htm)</vt:lpstr>
      <vt:lpstr>Indeksli Atama</vt:lpstr>
      <vt:lpstr>i-node</vt:lpstr>
      <vt:lpstr>PowerPoint Sunusu</vt:lpstr>
      <vt:lpstr>PowerPoint Sunusu</vt:lpstr>
      <vt:lpstr>Database File – Table Image</vt:lpstr>
      <vt:lpstr>Database File – Form Image</vt:lpstr>
      <vt:lpstr>Database File – Stream Image</vt:lpstr>
      <vt:lpstr>PowerPoint Sunusu</vt:lpstr>
      <vt:lpstr>PowerPoint Sunusu</vt:lpstr>
      <vt:lpstr>PowerPoint Sunusu</vt:lpstr>
      <vt:lpstr>Dosya Yönetimi ve G/Ç Fonksiyonları</vt:lpstr>
      <vt:lpstr>CP/M Kılavuz Dosya Satırı</vt:lpstr>
    </vt:vector>
  </TitlesOfParts>
  <Company>Silentall Unattended Installer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mevlut ersoy</dc:creator>
  <cp:lastModifiedBy>mevlut ersoy</cp:lastModifiedBy>
  <cp:revision>10</cp:revision>
  <dcterms:created xsi:type="dcterms:W3CDTF">2019-12-17T20:25:28Z</dcterms:created>
  <dcterms:modified xsi:type="dcterms:W3CDTF">2019-12-25T06:25:41Z</dcterms:modified>
</cp:coreProperties>
</file>