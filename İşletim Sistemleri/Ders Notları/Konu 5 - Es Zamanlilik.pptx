
<file path=[Content_Types].xml><?xml version="1.0" encoding="utf-8"?>
<Types xmlns="http://schemas.openxmlformats.org/package/2006/content-types">
  <Default Extension="png" ContentType="image/png"/>
  <Default Extension="tmp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306" r:id="rId6"/>
    <p:sldId id="307" r:id="rId7"/>
    <p:sldId id="305" r:id="rId8"/>
    <p:sldId id="335" r:id="rId9"/>
    <p:sldId id="263" r:id="rId10"/>
    <p:sldId id="337" r:id="rId11"/>
    <p:sldId id="338" r:id="rId12"/>
    <p:sldId id="302" r:id="rId13"/>
    <p:sldId id="308" r:id="rId14"/>
    <p:sldId id="265" r:id="rId15"/>
    <p:sldId id="266" r:id="rId16"/>
    <p:sldId id="267" r:id="rId17"/>
    <p:sldId id="269" r:id="rId18"/>
    <p:sldId id="270" r:id="rId19"/>
    <p:sldId id="336" r:id="rId20"/>
    <p:sldId id="271" r:id="rId21"/>
    <p:sldId id="273" r:id="rId22"/>
    <p:sldId id="272" r:id="rId23"/>
    <p:sldId id="274" r:id="rId24"/>
    <p:sldId id="275" r:id="rId25"/>
    <p:sldId id="276" r:id="rId26"/>
    <p:sldId id="278" r:id="rId27"/>
    <p:sldId id="279" r:id="rId28"/>
    <p:sldId id="280" r:id="rId29"/>
    <p:sldId id="281" r:id="rId30"/>
    <p:sldId id="303" r:id="rId31"/>
    <p:sldId id="282" r:id="rId32"/>
    <p:sldId id="283" r:id="rId33"/>
    <p:sldId id="284" r:id="rId34"/>
    <p:sldId id="285" r:id="rId35"/>
    <p:sldId id="286" r:id="rId36"/>
    <p:sldId id="287" r:id="rId37"/>
    <p:sldId id="304" r:id="rId38"/>
    <p:sldId id="288" r:id="rId39"/>
    <p:sldId id="292" r:id="rId40"/>
    <p:sldId id="293" r:id="rId41"/>
    <p:sldId id="295" r:id="rId42"/>
    <p:sldId id="296" r:id="rId43"/>
    <p:sldId id="297" r:id="rId44"/>
    <p:sldId id="298" r:id="rId45"/>
    <p:sldId id="299" r:id="rId46"/>
    <p:sldId id="300" r:id="rId47"/>
    <p:sldId id="301" r:id="rId4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64" units="cm"/>
          <inkml:channel name="Y" type="integer" max="900" units="cm"/>
        </inkml:traceFormat>
        <inkml:channelProperties>
          <inkml:channelProperty channel="X" name="resolution" value="68.25484" units="1/cm"/>
          <inkml:channelProperty channel="Y" name="resolution" value="33.21033" units="1/cm"/>
        </inkml:channelProperties>
      </inkml:inkSource>
      <inkml:timestamp xml:id="ts0" timeString="2012-07-26T13:06:27.38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64" units="cm"/>
          <inkml:channel name="Y" type="integer" max="900" units="cm"/>
        </inkml:traceFormat>
        <inkml:channelProperties>
          <inkml:channelProperty channel="X" name="resolution" value="68.25484" units="1/cm"/>
          <inkml:channelProperty channel="Y" name="resolution" value="33.21033" units="1/cm"/>
        </inkml:channelProperties>
      </inkml:inkSource>
      <inkml:timestamp xml:id="ts0" timeString="2012-07-26T13:09:49.82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10T18:30:42.90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37 512,'0'0'0,"0"0"0,0 0 0,0 0 0,0 0 0,0 0 0,0-37 0,0 37 0,0 0 0,0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10T18:30:53.75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35 512,'0'0'0,"0"-35"0,0 35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10T18:32:05.35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141-1 512,'0'0'0,"-35"0"0,35 0 0,-35 0 0,-1 0 0,36 0 0,-35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10T18:32:29.2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34 0 512,'0'0'0,"0"0"0,0 0 0,0 0 0,0 0 0,0 0 0,0 0 0,0 0 0,0 0 0,0 0 0,0 0 0,0 0 0,-34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10T19:06:52.68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0 512,'0'0'0,"0"0"0,36 0 0,-1 0 0,-35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10T19:08:47.97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0-1 512,'36'0'0,"36"0"0,-1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10T19:09:10.57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142 0 512,'0'0'0,"0"0"0,0 0 0,0 0 0,0 0 0,0 0 0,0 0 0,0 0 0,0 0 0,-35 0 0,-72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10T19:09:18.11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-1 0 512,'0'37'0,"0"-37"0,0 70 0,0 3 0,0-37 0,0 35 0,0-36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440" max="1024" units="cm"/>
          <inkml:channel name="Y" type="integer" max="900" units="cm"/>
        </inkml:traceFormat>
        <inkml:channelProperties>
          <inkml:channelProperty channel="X" name="resolution" value="68.25484" units="1/cm"/>
          <inkml:channelProperty channel="Y" name="resolution" value="33.21033" units="1/cm"/>
        </inkml:channelProperties>
      </inkml:inkSource>
      <inkml:timestamp xml:id="ts0" timeString="2014-11-10T19:18:45.4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1023" units="in"/>
        </inkml:traceFormat>
        <inkml:channelProperties>
          <inkml:channelProperty channel="X" name="resolution" value="2109.91626" units="1/in"/>
          <inkml:channelProperty channel="Y" name="resolution" value="1336.88293" units="1/in"/>
          <inkml:channelProperty channel="F" name="resolution" value="41.73807" units="1/in"/>
        </inkml:channelProperties>
      </inkml:inkSource>
      <inkml:timestamp xml:id="ts0" timeString="2014-11-10T19:11:18.65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0 512,'0'0'0,"0"0"0,36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440" max="1024" units="cm"/>
          <inkml:channel name="Y" type="integer" max="900" units="cm"/>
        </inkml:traceFormat>
        <inkml:channelProperties>
          <inkml:channelProperty channel="X" name="resolution" value="68.25484" units="1/cm"/>
          <inkml:channelProperty channel="Y" name="resolution" value="33.21033" units="1/cm"/>
        </inkml:channelProperties>
      </inkml:inkSource>
      <inkml:timestamp xml:id="ts0" timeString="2014-11-10T19:21:37.45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572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508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017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132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407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415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06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847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180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062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4467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7F1F6-1EF1-4C26-BFE7-97F105A369D8}" type="datetimeFigureOut">
              <a:rPr lang="tr-TR" smtClean="0"/>
              <a:t>19.11.2019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A5CF4-DBEE-41A4-AC7D-6C02B09BE27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521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emf"/><Relationship Id="rId5" Type="http://schemas.openxmlformats.org/officeDocument/2006/relationships/customXml" Target="../ink/ink4.xml"/><Relationship Id="rId10" Type="http://schemas.openxmlformats.org/officeDocument/2006/relationships/image" Target="../media/image35.emf"/><Relationship Id="rId4" Type="http://schemas.openxmlformats.org/officeDocument/2006/relationships/image" Target="../media/image32.emf"/><Relationship Id="rId9" Type="http://schemas.openxmlformats.org/officeDocument/2006/relationships/customXml" Target="../ink/ink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7" Type="http://schemas.openxmlformats.org/officeDocument/2006/relationships/customXml" Target="../ink/ink9.xm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customXml" Target="../ink/ink8.xml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customXml" Target="../ink/ink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customXml" Target="../ink/ink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emf"/><Relationship Id="rId4" Type="http://schemas.openxmlformats.org/officeDocument/2006/relationships/customXml" Target="../ink/ink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Görevler Arası İletişim(Eş Zamanlılık)</a:t>
            </a:r>
            <a:br>
              <a:rPr lang="tr-TR" dirty="0" smtClean="0"/>
            </a:br>
            <a:r>
              <a:rPr lang="tr-TR" dirty="0" smtClean="0"/>
              <a:t>IPC</a:t>
            </a:r>
            <a:endParaRPr lang="tr-TR" dirty="0"/>
          </a:p>
        </p:txBody>
      </p:sp>
      <p:sp>
        <p:nvSpPr>
          <p:cNvPr id="5" name="Alt Başlık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2988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Konular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Eşzamanlılık Prensipler</a:t>
            </a:r>
          </a:p>
          <a:p>
            <a:r>
              <a:rPr lang="tr-TR" dirty="0" smtClean="0"/>
              <a:t>Karşılıklı Dışlama</a:t>
            </a:r>
          </a:p>
          <a:p>
            <a:r>
              <a:rPr lang="tr-TR" dirty="0" smtClean="0"/>
              <a:t>Semaforlar</a:t>
            </a:r>
          </a:p>
          <a:p>
            <a:r>
              <a:rPr lang="tr-TR" dirty="0" smtClean="0"/>
              <a:t>Monitörler</a:t>
            </a:r>
          </a:p>
          <a:p>
            <a:r>
              <a:rPr lang="tr-TR" dirty="0" smtClean="0"/>
              <a:t>Mesaj geçişi</a:t>
            </a:r>
          </a:p>
          <a:p>
            <a:r>
              <a:rPr lang="tr-TR" dirty="0" smtClean="0"/>
              <a:t>Üretici  Tüketici Problemi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136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OS Tasarımları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İşletim Sistemi tasarımının ana konusu </a:t>
            </a:r>
            <a:r>
              <a:rPr lang="tr-TR" dirty="0" err="1" smtClean="0"/>
              <a:t>threadler</a:t>
            </a:r>
            <a:r>
              <a:rPr lang="tr-TR" dirty="0" smtClean="0"/>
              <a:t> ve görevlerin yönetimi ile ilgilidir.</a:t>
            </a:r>
          </a:p>
          <a:p>
            <a:pPr lvl="1"/>
            <a:r>
              <a:rPr lang="tr-TR" b="1" dirty="0" err="1" smtClean="0"/>
              <a:t>Multiprogramming</a:t>
            </a:r>
            <a:r>
              <a:rPr lang="tr-TR" dirty="0" smtClean="0"/>
              <a:t>: </a:t>
            </a:r>
          </a:p>
          <a:p>
            <a:pPr lvl="1"/>
            <a:r>
              <a:rPr lang="tr-TR" b="1" dirty="0" err="1" smtClean="0"/>
              <a:t>Multiprocessing</a:t>
            </a:r>
            <a:r>
              <a:rPr lang="tr-TR" b="1" dirty="0" smtClean="0"/>
              <a:t>:</a:t>
            </a:r>
            <a:endParaRPr lang="tr-TR" dirty="0" smtClean="0"/>
          </a:p>
          <a:p>
            <a:pPr lvl="1"/>
            <a:r>
              <a:rPr lang="tr-TR" b="1" dirty="0" smtClean="0"/>
              <a:t>Distributed </a:t>
            </a:r>
            <a:r>
              <a:rPr lang="tr-TR" b="1" dirty="0" err="1" smtClean="0"/>
              <a:t>Processing</a:t>
            </a:r>
            <a:r>
              <a:rPr lang="tr-TR" b="1" dirty="0" smtClean="0"/>
              <a:t>:</a:t>
            </a:r>
          </a:p>
          <a:p>
            <a:r>
              <a:rPr lang="tr-TR" b="1" dirty="0" smtClean="0"/>
              <a:t>Bu Tasarımlarda </a:t>
            </a:r>
            <a:r>
              <a:rPr lang="tr-TR" b="1" dirty="0" smtClean="0"/>
              <a:t>eş zamanlılık esastır.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1204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Eş zamanlı Görevler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Eş zamanlı Görevler olması </a:t>
            </a:r>
            <a:r>
              <a:rPr lang="tr-TR" b="0" dirty="0"/>
              <a:t>durumunda bazı </a:t>
            </a:r>
            <a:r>
              <a:rPr lang="tr-TR" b="0" dirty="0" smtClean="0"/>
              <a:t>tasarım konuları </a:t>
            </a:r>
            <a:r>
              <a:rPr lang="tr-TR" b="0" dirty="0"/>
              <a:t>önem kazanır:</a:t>
            </a:r>
          </a:p>
          <a:p>
            <a:pPr lvl="1"/>
            <a:r>
              <a:rPr lang="tr-TR" dirty="0"/>
              <a:t>Kaynak paylaşımı (bellek, dosyalar, I/O erişimi)</a:t>
            </a:r>
          </a:p>
          <a:p>
            <a:pPr lvl="1"/>
            <a:r>
              <a:rPr lang="tr-TR" b="0" dirty="0" smtClean="0"/>
              <a:t>Görevler </a:t>
            </a:r>
            <a:r>
              <a:rPr lang="tr-TR" b="0" dirty="0"/>
              <a:t>arası </a:t>
            </a:r>
            <a:r>
              <a:rPr lang="tr-TR" b="0" dirty="0" smtClean="0"/>
              <a:t>iletişim</a:t>
            </a:r>
            <a:endParaRPr lang="tr-TR" b="0" dirty="0"/>
          </a:p>
          <a:p>
            <a:pPr lvl="1"/>
            <a:r>
              <a:rPr lang="tr-TR" b="0" dirty="0" smtClean="0"/>
              <a:t>Çoklu </a:t>
            </a:r>
            <a:r>
              <a:rPr lang="tr-TR" b="0" dirty="0" smtClean="0"/>
              <a:t>Görevlerin </a:t>
            </a:r>
            <a:r>
              <a:rPr lang="tr-TR" b="0" dirty="0" err="1" smtClean="0"/>
              <a:t>aktivitlerinin</a:t>
            </a:r>
            <a:r>
              <a:rPr lang="tr-TR" b="0" dirty="0" smtClean="0"/>
              <a:t> senkronizasyonu</a:t>
            </a:r>
          </a:p>
          <a:p>
            <a:pPr lvl="1"/>
            <a:r>
              <a:rPr lang="tr-TR" b="0" dirty="0" smtClean="0"/>
              <a:t>İşlemci </a:t>
            </a:r>
            <a:r>
              <a:rPr lang="tr-TR" b="0" dirty="0"/>
              <a:t>zamanı ataması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0548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Kaynak Paylaşımı </a:t>
            </a:r>
            <a:br>
              <a:rPr lang="tr-TR" dirty="0" smtClean="0"/>
            </a:br>
            <a:r>
              <a:rPr lang="tr-TR" dirty="0" smtClean="0"/>
              <a:t>(Bellek Sistemi)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84" y="2204864"/>
            <a:ext cx="7632816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5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Kaynak Paylaşımı </a:t>
            </a:r>
            <a:br>
              <a:rPr lang="tr-TR" dirty="0"/>
            </a:br>
            <a:r>
              <a:rPr lang="tr-TR" dirty="0" smtClean="0"/>
              <a:t>(Gerçek Donanım Örneği)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0341" y="1700808"/>
            <a:ext cx="5310293" cy="460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93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Thread</a:t>
            </a:r>
            <a:r>
              <a:rPr lang="tr-TR" dirty="0" smtClean="0"/>
              <a:t> Paylaşımlı Bellek Kullanımı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063" y="1844824"/>
            <a:ext cx="7221513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16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İletişim Ne için Yapılır?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0" dirty="0" smtClean="0"/>
              <a:t>Kaynak </a:t>
            </a:r>
            <a:r>
              <a:rPr lang="tr-TR" b="0" dirty="0"/>
              <a:t>paylaşımı (dosya, I/O aygıtı</a:t>
            </a:r>
            <a:r>
              <a:rPr lang="tr-TR" b="0" dirty="0" smtClean="0"/>
              <a:t>,...)</a:t>
            </a:r>
          </a:p>
          <a:p>
            <a:endParaRPr lang="tr-TR" b="0" dirty="0"/>
          </a:p>
          <a:p>
            <a:r>
              <a:rPr lang="tr-TR" b="0" dirty="0" smtClean="0"/>
              <a:t>Karşılıklı </a:t>
            </a:r>
            <a:r>
              <a:rPr lang="tr-TR" b="0" dirty="0"/>
              <a:t>haberleşme (iki </a:t>
            </a:r>
            <a:r>
              <a:rPr lang="tr-TR" b="0" dirty="0" smtClean="0"/>
              <a:t>görev </a:t>
            </a:r>
            <a:r>
              <a:rPr lang="tr-TR" b="0" dirty="0"/>
              <a:t>birbirine haber gönderir</a:t>
            </a:r>
            <a:r>
              <a:rPr lang="tr-TR" b="0" dirty="0" smtClean="0"/>
              <a:t>)</a:t>
            </a:r>
          </a:p>
          <a:p>
            <a:endParaRPr lang="tr-TR" b="0" dirty="0"/>
          </a:p>
          <a:p>
            <a:r>
              <a:rPr lang="tr-TR" b="0" dirty="0" err="1" smtClean="0"/>
              <a:t>Senkronizayon</a:t>
            </a:r>
            <a:r>
              <a:rPr lang="tr-TR" b="0" dirty="0" smtClean="0"/>
              <a:t> </a:t>
            </a:r>
            <a:r>
              <a:rPr lang="tr-TR" b="0" dirty="0"/>
              <a:t>(Bir </a:t>
            </a:r>
            <a:r>
              <a:rPr lang="tr-TR" b="0" dirty="0" smtClean="0"/>
              <a:t>görevin </a:t>
            </a:r>
            <a:r>
              <a:rPr lang="tr-TR" b="0" dirty="0"/>
              <a:t>çalışması başka bir </a:t>
            </a:r>
            <a:r>
              <a:rPr lang="tr-TR" b="0" dirty="0" smtClean="0"/>
              <a:t>görevin belirli </a:t>
            </a:r>
            <a:r>
              <a:rPr lang="tr-TR" b="0" dirty="0"/>
              <a:t>işlemleri tamamlamış olmasına bağlı olabilir)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18339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Görevler Arası İletişim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Görevler birbirleri ile nasıl iletişime geçerler?</a:t>
            </a:r>
          </a:p>
          <a:p>
            <a:pPr lvl="1"/>
            <a:r>
              <a:rPr lang="tr-TR" dirty="0" smtClean="0"/>
              <a:t>Mesajlaşma yoluyla</a:t>
            </a:r>
          </a:p>
          <a:p>
            <a:pPr lvl="1"/>
            <a:r>
              <a:rPr lang="tr-TR" dirty="0" smtClean="0"/>
              <a:t>Paylaşma yoluyla</a:t>
            </a:r>
            <a:endParaRPr lang="tr-TR" dirty="0" smtClean="0"/>
          </a:p>
          <a:p>
            <a:r>
              <a:rPr lang="tr-TR" dirty="0" smtClean="0"/>
              <a:t>İletişimdeki </a:t>
            </a:r>
            <a:r>
              <a:rPr lang="tr-TR" dirty="0"/>
              <a:t>uygun sıra nasıl olmalıdır? </a:t>
            </a:r>
            <a:endParaRPr lang="tr-TR" dirty="0" smtClean="0"/>
          </a:p>
          <a:p>
            <a:pPr lvl="1"/>
            <a:r>
              <a:rPr lang="tr-TR" b="0" dirty="0" smtClean="0"/>
              <a:t>Bir görev veri gönderiyor </a:t>
            </a:r>
            <a:r>
              <a:rPr lang="tr-TR" b="0" dirty="0"/>
              <a:t>diğeri bu veriyi yazdırıyorsa, ilk </a:t>
            </a:r>
            <a:r>
              <a:rPr lang="tr-TR" b="0" dirty="0" smtClean="0"/>
              <a:t>görev veri göndermediğinde </a:t>
            </a:r>
            <a:r>
              <a:rPr lang="tr-TR" b="0" dirty="0"/>
              <a:t>ikincinin beklemesi ya da </a:t>
            </a:r>
            <a:r>
              <a:rPr lang="tr-TR" b="0" dirty="0" smtClean="0"/>
              <a:t>ikinci yazdırırken </a:t>
            </a:r>
            <a:r>
              <a:rPr lang="tr-TR" b="0" dirty="0"/>
              <a:t>birincinin beklemesi gereklidir. </a:t>
            </a:r>
            <a:r>
              <a:rPr lang="tr-TR" b="0" dirty="0" smtClean="0"/>
              <a:t>İletişimde kullanılacak </a:t>
            </a:r>
            <a:r>
              <a:rPr lang="tr-TR" b="0" dirty="0"/>
              <a:t>sıra önemlidir.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2243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Üretici Tüketici Problemi</a:t>
            </a:r>
            <a:endParaRPr lang="tr-TR" dirty="0"/>
          </a:p>
        </p:txBody>
      </p:sp>
      <p:grpSp>
        <p:nvGrpSpPr>
          <p:cNvPr id="5" name="Grup 4"/>
          <p:cNvGrpSpPr/>
          <p:nvPr/>
        </p:nvGrpSpPr>
        <p:grpSpPr>
          <a:xfrm>
            <a:off x="1066800" y="1592263"/>
            <a:ext cx="7239000" cy="3665537"/>
            <a:chOff x="1066800" y="1592263"/>
            <a:chExt cx="7239000" cy="3665537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066800" y="1592263"/>
              <a:ext cx="2590800" cy="4572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tr-TR" sz="2400" i="1" dirty="0" smtClean="0">
                  <a:solidFill>
                    <a:schemeClr val="tx2"/>
                  </a:solidFill>
                  <a:latin typeface="Times New Roman" pitchFamily="18" charset="0"/>
                </a:rPr>
                <a:t>Üretici Görev</a:t>
              </a:r>
              <a:endParaRPr lang="en-AU" sz="2400" i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7" name="Text Box 7"/>
            <p:cNvSpPr txBox="1">
              <a:spLocks noChangeAspect="1" noChangeArrowheads="1"/>
            </p:cNvSpPr>
            <p:nvPr/>
          </p:nvSpPr>
          <p:spPr bwMode="auto">
            <a:xfrm>
              <a:off x="5638800" y="1600200"/>
              <a:ext cx="2667000" cy="4572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tr-TR" sz="2400" i="1" dirty="0" smtClean="0">
                  <a:solidFill>
                    <a:schemeClr val="tx2"/>
                  </a:solidFill>
                  <a:latin typeface="Times New Roman" pitchFamily="18" charset="0"/>
                </a:rPr>
                <a:t>Tüketici Görev</a:t>
              </a:r>
              <a:endParaRPr lang="en-AU" sz="2400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grpSp>
          <p:nvGrpSpPr>
            <p:cNvPr id="8" name="Group 15"/>
            <p:cNvGrpSpPr>
              <a:grpSpLocks/>
            </p:cNvGrpSpPr>
            <p:nvPr/>
          </p:nvGrpSpPr>
          <p:grpSpPr bwMode="auto">
            <a:xfrm>
              <a:off x="1143000" y="2286000"/>
              <a:ext cx="1828800" cy="1295400"/>
              <a:chOff x="720" y="1584"/>
              <a:chExt cx="1152" cy="816"/>
            </a:xfrm>
          </p:grpSpPr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720" y="1584"/>
                <a:ext cx="1152" cy="81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tr-TR"/>
              </a:p>
            </p:txBody>
          </p:sp>
          <p:grpSp>
            <p:nvGrpSpPr>
              <p:cNvPr id="18" name="Group 14"/>
              <p:cNvGrpSpPr>
                <a:grpSpLocks/>
              </p:cNvGrpSpPr>
              <p:nvPr/>
            </p:nvGrpSpPr>
            <p:grpSpPr bwMode="auto">
              <a:xfrm>
                <a:off x="720" y="1632"/>
                <a:ext cx="1044" cy="675"/>
                <a:chOff x="720" y="1632"/>
                <a:chExt cx="1044" cy="675"/>
              </a:xfrm>
            </p:grpSpPr>
            <p:sp>
              <p:nvSpPr>
                <p:cNvPr id="19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720" y="1632"/>
                  <a:ext cx="1026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tr-TR" sz="2400" dirty="0" smtClean="0">
                      <a:solidFill>
                        <a:schemeClr val="tx2"/>
                      </a:solidFill>
                      <a:latin typeface="Times New Roman" pitchFamily="18" charset="0"/>
                    </a:rPr>
                    <a:t>Üretim</a:t>
                  </a:r>
                  <a:r>
                    <a:rPr lang="en-AU" sz="2400" dirty="0">
                      <a:solidFill>
                        <a:schemeClr val="tx2"/>
                      </a:solidFill>
                      <a:latin typeface="Times New Roman" pitchFamily="18" charset="0"/>
                    </a:rPr>
                    <a:t>	</a:t>
                  </a:r>
                  <a:endParaRPr lang="en-AU" sz="3600" b="1" i="1" dirty="0">
                    <a:solidFill>
                      <a:schemeClr val="tx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2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720" y="2016"/>
                  <a:ext cx="1044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9pPr>
                </a:lstStyle>
                <a:p>
                  <a:r>
                    <a:rPr lang="tr-TR" sz="2400" dirty="0" err="1" smtClean="0">
                      <a:solidFill>
                        <a:schemeClr val="tx2"/>
                      </a:solidFill>
                      <a:latin typeface="Times New Roman" pitchFamily="18" charset="0"/>
                    </a:rPr>
                    <a:t>Buffera</a:t>
                  </a:r>
                  <a:r>
                    <a:rPr lang="tr-TR" sz="2400" dirty="0" smtClean="0">
                      <a:solidFill>
                        <a:schemeClr val="tx2"/>
                      </a:solidFill>
                      <a:latin typeface="Times New Roman" pitchFamily="18" charset="0"/>
                    </a:rPr>
                    <a:t> koy</a:t>
                  </a:r>
                  <a:endParaRPr lang="en-AU" sz="3600" b="1" i="1" dirty="0">
                    <a:solidFill>
                      <a:schemeClr val="tx2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grpSp>
          <p:nvGrpSpPr>
            <p:cNvPr id="9" name="Group 17"/>
            <p:cNvGrpSpPr>
              <a:grpSpLocks/>
            </p:cNvGrpSpPr>
            <p:nvPr/>
          </p:nvGrpSpPr>
          <p:grpSpPr bwMode="auto">
            <a:xfrm>
              <a:off x="5715000" y="2286001"/>
              <a:ext cx="2133600" cy="1516063"/>
              <a:chOff x="3600" y="1584"/>
              <a:chExt cx="1344" cy="955"/>
            </a:xfrm>
          </p:grpSpPr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3600" y="1584"/>
                <a:ext cx="1344" cy="816"/>
              </a:xfrm>
              <a:prstGeom prst="rect">
                <a:avLst/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tr-TR"/>
              </a:p>
            </p:txBody>
          </p:sp>
          <p:grpSp>
            <p:nvGrpSpPr>
              <p:cNvPr id="14" name="Group 16"/>
              <p:cNvGrpSpPr>
                <a:grpSpLocks/>
              </p:cNvGrpSpPr>
              <p:nvPr/>
            </p:nvGrpSpPr>
            <p:grpSpPr bwMode="auto">
              <a:xfrm>
                <a:off x="3696" y="1632"/>
                <a:ext cx="1134" cy="907"/>
                <a:chOff x="3696" y="1632"/>
                <a:chExt cx="1134" cy="907"/>
              </a:xfrm>
            </p:grpSpPr>
            <p:sp>
              <p:nvSpPr>
                <p:cNvPr id="15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696" y="2016"/>
                  <a:ext cx="1134" cy="52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tr-TR" sz="2400" dirty="0" smtClean="0">
                      <a:solidFill>
                        <a:schemeClr val="tx2"/>
                      </a:solidFill>
                      <a:latin typeface="Times New Roman" pitchFamily="18" charset="0"/>
                    </a:rPr>
                    <a:t>Tüketim</a:t>
                  </a:r>
                  <a:r>
                    <a:rPr lang="en-AU" sz="2400" dirty="0">
                      <a:solidFill>
                        <a:schemeClr val="tx2"/>
                      </a:solidFill>
                      <a:latin typeface="Times New Roman" pitchFamily="18" charset="0"/>
                    </a:rPr>
                    <a:t>	</a:t>
                  </a:r>
                  <a:endParaRPr lang="en-AU" sz="3600" b="1" i="1" dirty="0">
                    <a:solidFill>
                      <a:schemeClr val="tx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1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696" y="1632"/>
                  <a:ext cx="1134" cy="29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Garamond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tr-TR" sz="2400" dirty="0" err="1" smtClean="0">
                      <a:solidFill>
                        <a:schemeClr val="tx2"/>
                      </a:solidFill>
                      <a:latin typeface="Times New Roman" pitchFamily="18" charset="0"/>
                    </a:rPr>
                    <a:t>Bufferdan</a:t>
                  </a:r>
                  <a:r>
                    <a:rPr lang="tr-TR" sz="2400" dirty="0" smtClean="0">
                      <a:solidFill>
                        <a:schemeClr val="tx2"/>
                      </a:solidFill>
                      <a:latin typeface="Times New Roman" pitchFamily="18" charset="0"/>
                    </a:rPr>
                    <a:t> al</a:t>
                  </a:r>
                  <a:endParaRPr lang="en-AU" sz="3600" b="1" i="1" dirty="0">
                    <a:solidFill>
                      <a:schemeClr val="tx2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10" name="Oval 19"/>
            <p:cNvSpPr>
              <a:spLocks noChangeArrowheads="1"/>
            </p:cNvSpPr>
            <p:nvPr/>
          </p:nvSpPr>
          <p:spPr bwMode="auto">
            <a:xfrm>
              <a:off x="3276600" y="4343400"/>
              <a:ext cx="1981200" cy="914400"/>
            </a:xfrm>
            <a:prstGeom prst="ellipse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>
              <a:flatTx/>
            </a:bodyPr>
            <a:lstStyle/>
            <a:p>
              <a:pPr algn="ctr" eaLnBrk="0" hangingPunct="0"/>
              <a:r>
                <a:rPr lang="en-AU" sz="3200" b="1" i="1">
                  <a:solidFill>
                    <a:schemeClr val="tx2"/>
                  </a:solidFill>
                  <a:latin typeface="Times New Roman" pitchFamily="18" charset="0"/>
                </a:rPr>
                <a:t>BUFFER</a:t>
              </a:r>
              <a:endParaRPr lang="en-AU" sz="3600" b="1" i="1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11" name="Line 20"/>
            <p:cNvSpPr>
              <a:spLocks noChangeShapeType="1"/>
            </p:cNvSpPr>
            <p:nvPr/>
          </p:nvSpPr>
          <p:spPr bwMode="auto">
            <a:xfrm>
              <a:off x="2895600" y="3200400"/>
              <a:ext cx="1219200" cy="1066800"/>
            </a:xfrm>
            <a:prstGeom prst="line">
              <a:avLst/>
            </a:prstGeom>
            <a:ln>
              <a:headEnd type="none" w="sm" len="sm"/>
              <a:tailEnd type="triangl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tr-TR"/>
            </a:p>
          </p:txBody>
        </p:sp>
        <p:sp>
          <p:nvSpPr>
            <p:cNvPr id="12" name="Line 21"/>
            <p:cNvSpPr>
              <a:spLocks noChangeShapeType="1"/>
            </p:cNvSpPr>
            <p:nvPr/>
          </p:nvSpPr>
          <p:spPr bwMode="auto">
            <a:xfrm flipV="1">
              <a:off x="4343400" y="2590800"/>
              <a:ext cx="1371600" cy="1600200"/>
            </a:xfrm>
            <a:prstGeom prst="line">
              <a:avLst/>
            </a:prstGeom>
            <a:ln>
              <a:headEnd type="none" w="sm" len="sm"/>
              <a:tailEnd type="triangl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9002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7" t="18749" r="65501" b="45163"/>
          <a:stretch/>
        </p:blipFill>
        <p:spPr bwMode="auto">
          <a:xfrm>
            <a:off x="899592" y="1412776"/>
            <a:ext cx="7545607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893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Görevler Arası </a:t>
            </a:r>
            <a:r>
              <a:rPr lang="tr-TR" dirty="0" smtClean="0"/>
              <a:t>İletişim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Üretici Tüketici Problemi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tr-TR" sz="1400" dirty="0" err="1"/>
              <a:t>while</a:t>
            </a:r>
            <a:r>
              <a:rPr lang="tr-TR" sz="1400" dirty="0"/>
              <a:t> (</a:t>
            </a:r>
            <a:r>
              <a:rPr lang="tr-TR" sz="1400" dirty="0" err="1"/>
              <a:t>true</a:t>
            </a:r>
            <a:r>
              <a:rPr lang="tr-TR" sz="1400" dirty="0"/>
              <a:t>) </a:t>
            </a:r>
            <a:r>
              <a:rPr lang="tr-TR" sz="1400" i="1" dirty="0"/>
              <a:t>{</a:t>
            </a:r>
          </a:p>
          <a:p>
            <a:pPr marL="0" indent="0">
              <a:buNone/>
            </a:pPr>
            <a:r>
              <a:rPr lang="tr-TR" sz="1400" dirty="0" smtClean="0"/>
              <a:t>	</a:t>
            </a:r>
            <a:r>
              <a:rPr lang="en-US" sz="1400" dirty="0" smtClean="0"/>
              <a:t>/* </a:t>
            </a:r>
            <a:r>
              <a:rPr lang="tr-TR" sz="1400" dirty="0" smtClean="0"/>
              <a:t>Bir sonraki üretilen ürün </a:t>
            </a:r>
            <a:r>
              <a:rPr lang="tr-TR" sz="1400" dirty="0" smtClean="0"/>
              <a:t>için</a:t>
            </a:r>
            <a:r>
              <a:rPr lang="en-US" sz="1400" dirty="0" smtClean="0"/>
              <a:t>*/</a:t>
            </a:r>
            <a:endParaRPr lang="en-US" sz="1400" dirty="0"/>
          </a:p>
          <a:p>
            <a:pPr marL="0" indent="0">
              <a:buNone/>
            </a:pPr>
            <a:r>
              <a:rPr lang="tr-TR" sz="1400" dirty="0" smtClean="0"/>
              <a:t>	</a:t>
            </a:r>
            <a:r>
              <a:rPr lang="tr-TR" sz="1400" dirty="0" err="1" smtClean="0"/>
              <a:t>while</a:t>
            </a:r>
            <a:r>
              <a:rPr lang="tr-TR" sz="1400" dirty="0" smtClean="0"/>
              <a:t> </a:t>
            </a:r>
            <a:r>
              <a:rPr lang="tr-TR" sz="1400" dirty="0"/>
              <a:t>(</a:t>
            </a:r>
            <a:r>
              <a:rPr lang="tr-TR" sz="1400" dirty="0" err="1"/>
              <a:t>counter</a:t>
            </a:r>
            <a:r>
              <a:rPr lang="tr-TR" sz="1400" dirty="0"/>
              <a:t> == BUFFER SIZE</a:t>
            </a:r>
            <a:r>
              <a:rPr lang="tr-TR" sz="1400" dirty="0" smtClean="0"/>
              <a:t>); </a:t>
            </a:r>
            <a:r>
              <a:rPr lang="tr-TR" sz="1400" dirty="0"/>
              <a:t>/* </a:t>
            </a:r>
            <a:r>
              <a:rPr lang="tr-TR" sz="1400" dirty="0" smtClean="0"/>
              <a:t>hiçbir şey yapma*/</a:t>
            </a:r>
            <a:endParaRPr lang="tr-TR" sz="1400" dirty="0"/>
          </a:p>
          <a:p>
            <a:pPr marL="0" indent="0">
              <a:buNone/>
            </a:pPr>
            <a:r>
              <a:rPr lang="tr-TR" sz="1400" dirty="0" smtClean="0"/>
              <a:t>	</a:t>
            </a:r>
            <a:r>
              <a:rPr lang="tr-TR" sz="1400" dirty="0" err="1" smtClean="0"/>
              <a:t>buffer</a:t>
            </a:r>
            <a:r>
              <a:rPr lang="tr-TR" sz="1400" dirty="0" smtClean="0"/>
              <a:t>[in</a:t>
            </a:r>
            <a:r>
              <a:rPr lang="tr-TR" sz="1400" dirty="0"/>
              <a:t>] = </a:t>
            </a:r>
            <a:r>
              <a:rPr lang="tr-TR" sz="1400" dirty="0" err="1" smtClean="0"/>
              <a:t>next</a:t>
            </a:r>
            <a:r>
              <a:rPr lang="tr-TR" sz="1400" dirty="0" err="1"/>
              <a:t>_</a:t>
            </a:r>
            <a:r>
              <a:rPr lang="tr-TR" sz="1400" dirty="0" err="1" smtClean="0"/>
              <a:t>produced</a:t>
            </a:r>
            <a:r>
              <a:rPr lang="tr-TR" sz="1400" dirty="0"/>
              <a:t>;</a:t>
            </a:r>
          </a:p>
          <a:p>
            <a:pPr marL="0" indent="0">
              <a:buNone/>
            </a:pPr>
            <a:r>
              <a:rPr lang="tr-TR" sz="1400" dirty="0" smtClean="0"/>
              <a:t>	in </a:t>
            </a:r>
            <a:r>
              <a:rPr lang="tr-TR" sz="1400" dirty="0"/>
              <a:t>= (in + 1) % BUFFER SIZE;</a:t>
            </a:r>
          </a:p>
          <a:p>
            <a:pPr marL="0" indent="0">
              <a:buNone/>
            </a:pPr>
            <a:r>
              <a:rPr lang="tr-TR" sz="1400" dirty="0" smtClean="0"/>
              <a:t>	</a:t>
            </a:r>
            <a:r>
              <a:rPr lang="tr-TR" sz="1400" dirty="0" err="1" smtClean="0"/>
              <a:t>counter</a:t>
            </a:r>
            <a:r>
              <a:rPr lang="tr-TR" sz="1400" dirty="0"/>
              <a:t>++;</a:t>
            </a:r>
          </a:p>
          <a:p>
            <a:pPr marL="0" indent="0">
              <a:buNone/>
            </a:pPr>
            <a:r>
              <a:rPr lang="tr-TR" sz="1400" i="1" dirty="0" smtClean="0"/>
              <a:t>}</a:t>
            </a:r>
          </a:p>
          <a:p>
            <a:pPr marL="0" indent="0">
              <a:buNone/>
            </a:pPr>
            <a:r>
              <a:rPr lang="tr-TR" sz="1400" i="1" dirty="0" smtClean="0"/>
              <a:t>//----------------------------------------------------------------</a:t>
            </a:r>
          </a:p>
          <a:p>
            <a:pPr marL="0" indent="0">
              <a:buNone/>
            </a:pPr>
            <a:endParaRPr lang="tr-TR" sz="1400" i="1" dirty="0"/>
          </a:p>
          <a:p>
            <a:pPr marL="0" indent="0">
              <a:buNone/>
            </a:pPr>
            <a:r>
              <a:rPr lang="tr-TR" sz="1400" dirty="0" err="1"/>
              <a:t>while</a:t>
            </a:r>
            <a:r>
              <a:rPr lang="tr-TR" sz="1400" dirty="0"/>
              <a:t> (</a:t>
            </a:r>
            <a:r>
              <a:rPr lang="tr-TR" sz="1400" dirty="0" err="1"/>
              <a:t>true</a:t>
            </a:r>
            <a:r>
              <a:rPr lang="tr-TR" sz="1400" dirty="0"/>
              <a:t>) </a:t>
            </a:r>
            <a:r>
              <a:rPr lang="tr-TR" sz="1400" i="1" dirty="0"/>
              <a:t>{</a:t>
            </a:r>
          </a:p>
          <a:p>
            <a:pPr marL="0" indent="0">
              <a:buNone/>
            </a:pPr>
            <a:r>
              <a:rPr lang="tr-TR" sz="1400" dirty="0" smtClean="0"/>
              <a:t>	</a:t>
            </a:r>
            <a:r>
              <a:rPr lang="tr-TR" sz="1400" dirty="0" err="1" smtClean="0"/>
              <a:t>while</a:t>
            </a:r>
            <a:r>
              <a:rPr lang="tr-TR" sz="1400" dirty="0" smtClean="0"/>
              <a:t> </a:t>
            </a:r>
            <a:r>
              <a:rPr lang="tr-TR" sz="1400" dirty="0"/>
              <a:t>(</a:t>
            </a:r>
            <a:r>
              <a:rPr lang="tr-TR" sz="1400" dirty="0" err="1"/>
              <a:t>counter</a:t>
            </a:r>
            <a:r>
              <a:rPr lang="tr-TR" sz="1400" dirty="0"/>
              <a:t> == 0</a:t>
            </a:r>
            <a:r>
              <a:rPr lang="tr-TR" sz="1400" dirty="0" smtClean="0"/>
              <a:t>); </a:t>
            </a:r>
            <a:r>
              <a:rPr lang="tr-TR" sz="1400" dirty="0"/>
              <a:t>/* </a:t>
            </a:r>
            <a:r>
              <a:rPr lang="tr-TR" sz="1400" dirty="0" smtClean="0"/>
              <a:t>hiçbir şey yapma*/</a:t>
            </a:r>
            <a:endParaRPr lang="tr-TR" sz="1400" dirty="0"/>
          </a:p>
          <a:p>
            <a:pPr marL="0" indent="0">
              <a:buNone/>
            </a:pPr>
            <a:r>
              <a:rPr lang="tr-TR" sz="1400" dirty="0" smtClean="0"/>
              <a:t>	</a:t>
            </a:r>
            <a:r>
              <a:rPr lang="tr-TR" sz="1400" dirty="0" err="1" smtClean="0"/>
              <a:t>next</a:t>
            </a:r>
            <a:r>
              <a:rPr lang="tr-TR" sz="1400" dirty="0" err="1"/>
              <a:t>_</a:t>
            </a:r>
            <a:r>
              <a:rPr lang="tr-TR" sz="1400" dirty="0" err="1" smtClean="0"/>
              <a:t>consumed</a:t>
            </a:r>
            <a:r>
              <a:rPr lang="tr-TR" sz="1400" dirty="0" smtClean="0"/>
              <a:t> </a:t>
            </a:r>
            <a:r>
              <a:rPr lang="tr-TR" sz="1400" dirty="0"/>
              <a:t>= </a:t>
            </a:r>
            <a:r>
              <a:rPr lang="tr-TR" sz="1400" dirty="0" err="1"/>
              <a:t>buffer</a:t>
            </a:r>
            <a:r>
              <a:rPr lang="tr-TR" sz="1400" dirty="0"/>
              <a:t>[</a:t>
            </a:r>
            <a:r>
              <a:rPr lang="tr-TR" sz="1400" dirty="0" err="1"/>
              <a:t>out</a:t>
            </a:r>
            <a:r>
              <a:rPr lang="tr-TR" sz="1400" dirty="0"/>
              <a:t>];</a:t>
            </a:r>
          </a:p>
          <a:p>
            <a:pPr marL="0" indent="0">
              <a:buNone/>
            </a:pPr>
            <a:r>
              <a:rPr lang="tr-TR" sz="1400" dirty="0" smtClean="0"/>
              <a:t>	</a:t>
            </a:r>
            <a:r>
              <a:rPr lang="en-US" sz="1400" dirty="0" smtClean="0"/>
              <a:t>out </a:t>
            </a:r>
            <a:r>
              <a:rPr lang="en-US" sz="1400" dirty="0"/>
              <a:t>= (out + 1) % BUFFER SIZE;</a:t>
            </a:r>
          </a:p>
          <a:p>
            <a:pPr marL="0" indent="0">
              <a:buNone/>
            </a:pPr>
            <a:r>
              <a:rPr lang="tr-TR" sz="1400" dirty="0" smtClean="0"/>
              <a:t>	</a:t>
            </a:r>
            <a:r>
              <a:rPr lang="tr-TR" sz="1400" dirty="0" err="1" smtClean="0"/>
              <a:t>counter</a:t>
            </a:r>
            <a:r>
              <a:rPr lang="tr-TR" sz="1400" dirty="0" smtClean="0"/>
              <a:t>-</a:t>
            </a:r>
            <a:r>
              <a:rPr lang="tr-TR" sz="1400" dirty="0"/>
              <a:t>-;</a:t>
            </a:r>
          </a:p>
          <a:p>
            <a:pPr marL="0" indent="0">
              <a:buNone/>
            </a:pPr>
            <a:r>
              <a:rPr lang="tr-TR" sz="1400" dirty="0" smtClean="0"/>
              <a:t>	</a:t>
            </a:r>
            <a:r>
              <a:rPr lang="en-US" sz="1400" dirty="0" smtClean="0"/>
              <a:t>/* </a:t>
            </a:r>
            <a:r>
              <a:rPr lang="tr-TR" sz="1400" dirty="0" smtClean="0"/>
              <a:t>tüketilen bir sonraki ürünü tüketmek için</a:t>
            </a:r>
            <a:r>
              <a:rPr lang="en-US" sz="1400" dirty="0" smtClean="0"/>
              <a:t>*/</a:t>
            </a:r>
            <a:endParaRPr lang="en-US" sz="1400" dirty="0"/>
          </a:p>
          <a:p>
            <a:pPr marL="0" indent="0">
              <a:buNone/>
            </a:pPr>
            <a:r>
              <a:rPr lang="tr-TR" sz="1400" i="1" dirty="0" smtClean="0"/>
              <a:t>}</a:t>
            </a:r>
          </a:p>
          <a:p>
            <a:pPr marL="0" indent="0">
              <a:buNone/>
            </a:pPr>
            <a:endParaRPr lang="tr-TR" sz="1400" i="1" dirty="0"/>
          </a:p>
          <a:p>
            <a:pPr marL="0" indent="0">
              <a:buNone/>
            </a:pPr>
            <a:r>
              <a:rPr lang="tr-TR" sz="1400" i="1" dirty="0" smtClean="0"/>
              <a:t>Problem nerede?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42761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 smtClean="0"/>
              <a:t>Thread</a:t>
            </a:r>
            <a:r>
              <a:rPr lang="tr-TR" dirty="0" smtClean="0"/>
              <a:t> İletişimi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0020" y="1700808"/>
            <a:ext cx="7200048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10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Görevlerin Etkileşimi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0" dirty="0" smtClean="0"/>
              <a:t>Görevler </a:t>
            </a:r>
            <a:r>
              <a:rPr lang="tr-TR" b="0" dirty="0"/>
              <a:t>birbirinden habersizdir.</a:t>
            </a:r>
          </a:p>
          <a:p>
            <a:pPr lvl="1"/>
            <a:r>
              <a:rPr lang="tr-TR" b="1" dirty="0" smtClean="0"/>
              <a:t>Rekabet ilişkisi</a:t>
            </a:r>
          </a:p>
          <a:p>
            <a:pPr lvl="1"/>
            <a:endParaRPr lang="tr-TR" b="0" dirty="0"/>
          </a:p>
          <a:p>
            <a:r>
              <a:rPr lang="tr-TR" b="0" dirty="0" smtClean="0"/>
              <a:t>Görevlerin </a:t>
            </a:r>
            <a:r>
              <a:rPr lang="tr-TR" b="0" dirty="0"/>
              <a:t>dolaylı olarak birbirlerinden haberleri vardır.</a:t>
            </a:r>
          </a:p>
          <a:p>
            <a:pPr lvl="1"/>
            <a:r>
              <a:rPr lang="tr-TR" b="1" dirty="0" smtClean="0"/>
              <a:t>Paylaşma </a:t>
            </a:r>
            <a:r>
              <a:rPr lang="tr-TR" b="1" dirty="0"/>
              <a:t>yoluyla </a:t>
            </a:r>
            <a:r>
              <a:rPr lang="tr-TR" b="1" dirty="0" smtClean="0"/>
              <a:t>işbirliği</a:t>
            </a:r>
          </a:p>
          <a:p>
            <a:pPr lvl="1"/>
            <a:endParaRPr lang="tr-TR" b="0" dirty="0"/>
          </a:p>
          <a:p>
            <a:r>
              <a:rPr lang="tr-TR" b="0" dirty="0" smtClean="0"/>
              <a:t>Görevlerin </a:t>
            </a:r>
            <a:r>
              <a:rPr lang="tr-TR" b="0" dirty="0"/>
              <a:t>doğrudan birbirlerinden haberi vardır.</a:t>
            </a:r>
          </a:p>
          <a:p>
            <a:pPr lvl="1"/>
            <a:r>
              <a:rPr lang="tr-TR" b="1" dirty="0" smtClean="0"/>
              <a:t>Haberleşme </a:t>
            </a:r>
            <a:r>
              <a:rPr lang="tr-TR" b="1" dirty="0"/>
              <a:t>yoluyla işbirliği</a:t>
            </a:r>
          </a:p>
        </p:txBody>
      </p:sp>
    </p:spTree>
    <p:extLst>
      <p:ext uri="{BB962C8B-B14F-4D97-AF65-F5344CB8AC3E}">
        <p14:creationId xmlns:p14="http://schemas.microsoft.com/office/powerpoint/2010/main" val="3940416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Görevler Arası Rekabet İlişkisi</a:t>
            </a:r>
            <a:br>
              <a:rPr lang="tr-TR" dirty="0" smtClean="0"/>
            </a:br>
            <a:r>
              <a:rPr lang="tr-TR" dirty="0" smtClean="0"/>
              <a:t>(Yarış Durumları)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0" dirty="0" smtClean="0"/>
              <a:t>Birbirinden </a:t>
            </a:r>
            <a:r>
              <a:rPr lang="tr-TR" b="0" dirty="0"/>
              <a:t>habersiz </a:t>
            </a:r>
            <a:r>
              <a:rPr lang="tr-TR" b="0" dirty="0" smtClean="0"/>
              <a:t>Görevlerin </a:t>
            </a:r>
            <a:r>
              <a:rPr lang="tr-TR" b="0" dirty="0"/>
              <a:t>aynı kaynağı (</a:t>
            </a:r>
            <a:r>
              <a:rPr lang="tr-TR" b="0" dirty="0" smtClean="0"/>
              <a:t>örneğin bellek</a:t>
            </a:r>
            <a:r>
              <a:rPr lang="tr-TR" b="0" dirty="0"/>
              <a:t>, işlemci zamanı) kullanma istekleri</a:t>
            </a:r>
          </a:p>
          <a:p>
            <a:pPr lvl="1"/>
            <a:r>
              <a:rPr lang="tr-TR" b="0" dirty="0" smtClean="0"/>
              <a:t>işletim </a:t>
            </a:r>
            <a:r>
              <a:rPr lang="tr-TR" b="0" dirty="0"/>
              <a:t>sistemi kullanımı </a:t>
            </a:r>
            <a:r>
              <a:rPr lang="tr-TR" b="0" dirty="0" smtClean="0"/>
              <a:t>düzenlemeli</a:t>
            </a:r>
          </a:p>
          <a:p>
            <a:pPr lvl="1"/>
            <a:endParaRPr lang="tr-TR" b="0" dirty="0"/>
          </a:p>
          <a:p>
            <a:r>
              <a:rPr lang="nn-NO" b="0" dirty="0" smtClean="0"/>
              <a:t>Bir Görevin </a:t>
            </a:r>
            <a:r>
              <a:rPr lang="nn-NO" b="0" dirty="0"/>
              <a:t>sonuçları diğerlerinden bağımsız </a:t>
            </a:r>
            <a:r>
              <a:rPr lang="nn-NO" b="0" dirty="0" smtClean="0"/>
              <a:t>olmalı</a:t>
            </a:r>
            <a:endParaRPr lang="tr-TR" b="0" dirty="0" smtClean="0"/>
          </a:p>
          <a:p>
            <a:endParaRPr lang="nn-NO" b="0" dirty="0"/>
          </a:p>
          <a:p>
            <a:r>
              <a:rPr lang="tr-TR" b="0" dirty="0" smtClean="0"/>
              <a:t>Görevin </a:t>
            </a:r>
            <a:r>
              <a:rPr lang="tr-TR" b="0" dirty="0"/>
              <a:t>çalışma süresi etkilenebilir.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4811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 smtClean="0"/>
              <a:t>Görevler Arasında Paylaşma Yoluyla İşbirliği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Paylaşılan değişken /dosya/</a:t>
            </a:r>
            <a:r>
              <a:rPr lang="tr-TR" dirty="0" err="1" smtClean="0"/>
              <a:t>veritabanı</a:t>
            </a:r>
            <a:endParaRPr lang="tr-TR" dirty="0" smtClean="0"/>
          </a:p>
          <a:p>
            <a:pPr lvl="1"/>
            <a:r>
              <a:rPr lang="tr-TR" dirty="0" smtClean="0"/>
              <a:t>Görevler birbirlerinin ürettiği verileri kullanabilir.</a:t>
            </a:r>
          </a:p>
          <a:p>
            <a:r>
              <a:rPr lang="tr-TR" dirty="0" smtClean="0"/>
              <a:t>Karşılıklı dışlama gerekir (</a:t>
            </a:r>
            <a:r>
              <a:rPr lang="tr-TR" dirty="0" err="1" smtClean="0"/>
              <a:t>mutual</a:t>
            </a:r>
            <a:r>
              <a:rPr lang="tr-TR" dirty="0" smtClean="0"/>
              <a:t> </a:t>
            </a:r>
            <a:r>
              <a:rPr lang="tr-TR" dirty="0" err="1" smtClean="0"/>
              <a:t>exclution</a:t>
            </a:r>
            <a:r>
              <a:rPr lang="tr-TR" dirty="0" smtClean="0"/>
              <a:t>)</a:t>
            </a:r>
          </a:p>
          <a:p>
            <a:r>
              <a:rPr lang="tr-TR" dirty="0" smtClean="0"/>
              <a:t>Senkronizasyon gerekebilir.</a:t>
            </a:r>
          </a:p>
          <a:p>
            <a:endParaRPr lang="tr-TR" dirty="0"/>
          </a:p>
          <a:p>
            <a:pPr lvl="1"/>
            <a:r>
              <a:rPr lang="tr-TR" b="1" dirty="0" smtClean="0"/>
              <a:t>Sorunlar</a:t>
            </a:r>
          </a:p>
          <a:p>
            <a:pPr lvl="2"/>
            <a:r>
              <a:rPr lang="tr-TR" dirty="0"/>
              <a:t>Ölümcül kilitlenme</a:t>
            </a:r>
          </a:p>
          <a:p>
            <a:pPr lvl="2"/>
            <a:r>
              <a:rPr lang="tr-TR" dirty="0"/>
              <a:t>Yarış</a:t>
            </a:r>
          </a:p>
          <a:p>
            <a:pPr lvl="2"/>
            <a:r>
              <a:rPr lang="tr-TR" dirty="0"/>
              <a:t>açlık</a:t>
            </a:r>
          </a:p>
          <a:p>
            <a:pPr lvl="2"/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33949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 smtClean="0"/>
              <a:t>Görevler Arasında Paylaşma Yoluyla İşbirliği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7544" y="1844824"/>
            <a:ext cx="8229600" cy="4525962"/>
          </a:xfrm>
        </p:spPr>
        <p:txBody>
          <a:bodyPr/>
          <a:lstStyle/>
          <a:p>
            <a:r>
              <a:rPr lang="tr-TR" dirty="0" smtClean="0"/>
              <a:t>Örnek: a=b korunacak başta a=1, b=1</a:t>
            </a:r>
          </a:p>
          <a:p>
            <a:endParaRPr lang="tr-TR" dirty="0"/>
          </a:p>
        </p:txBody>
      </p:sp>
      <p:graphicFrame>
        <p:nvGraphicFramePr>
          <p:cNvPr id="5" name="Tablo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736364"/>
              </p:ext>
            </p:extLst>
          </p:nvPr>
        </p:nvGraphicFramePr>
        <p:xfrm>
          <a:off x="1043608" y="3068960"/>
          <a:ext cx="6624736" cy="2376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530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dirty="0" smtClean="0"/>
                        <a:t>P1: 	a=a+1;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tr-TR" dirty="0" smtClean="0"/>
                        <a:t>	b=b+1;</a:t>
                      </a:r>
                    </a:p>
                    <a:p>
                      <a:pPr marL="0" lvl="1" indent="0">
                        <a:buNone/>
                      </a:pPr>
                      <a:r>
                        <a:rPr lang="tr-TR" dirty="0" smtClean="0"/>
                        <a:t>P2:	b=2*b;</a:t>
                      </a:r>
                    </a:p>
                    <a:p>
                      <a:pPr marL="0" lvl="1" indent="0">
                        <a:buNone/>
                      </a:pPr>
                      <a:r>
                        <a:rPr lang="tr-TR" dirty="0" smtClean="0"/>
                        <a:t>	a=2*a;</a:t>
                      </a:r>
                    </a:p>
                    <a:p>
                      <a:endParaRPr lang="tr-T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a=a+1;</a:t>
                      </a:r>
                    </a:p>
                    <a:p>
                      <a:r>
                        <a:rPr lang="tr-TR" dirty="0" smtClean="0"/>
                        <a:t>b=2*b;</a:t>
                      </a:r>
                    </a:p>
                    <a:p>
                      <a:r>
                        <a:rPr lang="tr-TR" dirty="0" smtClean="0"/>
                        <a:t>b=b+1;</a:t>
                      </a:r>
                    </a:p>
                    <a:p>
                      <a:r>
                        <a:rPr lang="tr-TR" dirty="0" smtClean="0"/>
                        <a:t>a=2*a;</a:t>
                      </a:r>
                      <a:endParaRPr lang="tr-T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211">
                <a:tc>
                  <a:txBody>
                    <a:bodyPr/>
                    <a:lstStyle/>
                    <a:p>
                      <a:r>
                        <a:rPr lang="tr-TR" dirty="0" smtClean="0"/>
                        <a:t>Sıralı çalışırsa sonuçta</a:t>
                      </a:r>
                    </a:p>
                    <a:p>
                      <a:r>
                        <a:rPr lang="tr-TR" dirty="0" smtClean="0"/>
                        <a:t>a=4 ve b=4</a:t>
                      </a:r>
                      <a:endParaRPr lang="tr-T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Bu sırayla çalışırsa sonuçta</a:t>
                      </a:r>
                    </a:p>
                    <a:p>
                      <a:r>
                        <a:rPr lang="tr-TR" dirty="0" smtClean="0"/>
                        <a:t>a=4 ve b=3X</a:t>
                      </a:r>
                      <a:endParaRPr lang="tr-T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Mürekkep 6"/>
              <p14:cNvContentPartPr/>
              <p14:nvPr/>
            </p14:nvContentPartPr>
            <p14:xfrm>
              <a:off x="3225940" y="1701880"/>
              <a:ext cx="360" cy="360"/>
            </p14:xfrm>
          </p:contentPart>
        </mc:Choice>
        <mc:Fallback xmlns="">
          <p:pic>
            <p:nvPicPr>
              <p:cNvPr id="7" name="Mürekkep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4060" y="1690000"/>
                <a:ext cx="241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Mürekkep 15"/>
              <p14:cNvContentPartPr/>
              <p14:nvPr/>
            </p14:nvContentPartPr>
            <p14:xfrm>
              <a:off x="6388180" y="3606640"/>
              <a:ext cx="360" cy="360"/>
            </p14:xfrm>
          </p:contentPart>
        </mc:Choice>
        <mc:Fallback xmlns="">
          <p:pic>
            <p:nvPicPr>
              <p:cNvPr id="16" name="Mürekkep 1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6300" y="3594760"/>
                <a:ext cx="2412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6414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dirty="0" smtClean="0"/>
              <a:t>Görevler Arasında Haberleşme Yoluyla İşbirliği</a:t>
            </a:r>
            <a:endParaRPr lang="tr-TR" sz="28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0" dirty="0" smtClean="0"/>
              <a:t>Mesaj </a:t>
            </a:r>
            <a:r>
              <a:rPr lang="tr-TR" b="0" dirty="0"/>
              <a:t>aktarımı yoluyla haberleşme</a:t>
            </a:r>
          </a:p>
          <a:p>
            <a:pPr marL="0" indent="0">
              <a:buNone/>
            </a:pPr>
            <a:r>
              <a:rPr lang="tr-TR" b="0" dirty="0" smtClean="0"/>
              <a:t>	– </a:t>
            </a:r>
            <a:r>
              <a:rPr lang="tr-TR" b="0" dirty="0"/>
              <a:t>Karşılıklı dışlama gerekli değil</a:t>
            </a:r>
          </a:p>
          <a:p>
            <a:pPr lvl="1"/>
            <a:r>
              <a:rPr lang="tr-TR" b="0" dirty="0" smtClean="0"/>
              <a:t>Ölümcül </a:t>
            </a:r>
            <a:r>
              <a:rPr lang="tr-TR" b="0" dirty="0"/>
              <a:t>kilitlenme </a:t>
            </a:r>
            <a:r>
              <a:rPr lang="tr-TR" b="0" dirty="0" smtClean="0"/>
              <a:t>olabilir</a:t>
            </a:r>
          </a:p>
          <a:p>
            <a:pPr lvl="2"/>
            <a:r>
              <a:rPr lang="tr-TR" b="0" dirty="0" smtClean="0"/>
              <a:t> Birbirinden </a:t>
            </a:r>
            <a:r>
              <a:rPr lang="tr-TR" b="0" dirty="0"/>
              <a:t>mesaj bekleyen </a:t>
            </a:r>
            <a:r>
              <a:rPr lang="tr-TR" b="0" dirty="0" smtClean="0"/>
              <a:t>Görevler</a:t>
            </a:r>
            <a:endParaRPr lang="tr-TR" b="0" dirty="0"/>
          </a:p>
          <a:p>
            <a:pPr lvl="1"/>
            <a:r>
              <a:rPr lang="tr-TR" b="0" dirty="0" smtClean="0"/>
              <a:t>Açlık </a:t>
            </a:r>
            <a:r>
              <a:rPr lang="tr-TR" b="0" dirty="0" smtClean="0"/>
              <a:t>olabilir	</a:t>
            </a:r>
          </a:p>
          <a:p>
            <a:pPr lvl="2"/>
            <a:r>
              <a:rPr lang="tr-TR" b="0" dirty="0" smtClean="0"/>
              <a:t>İki </a:t>
            </a:r>
            <a:r>
              <a:rPr lang="tr-TR" b="0" dirty="0" smtClean="0"/>
              <a:t>Görev </a:t>
            </a:r>
            <a:r>
              <a:rPr lang="tr-TR" b="0" dirty="0"/>
              <a:t>arasında mesajlaşır, üçüncü bir </a:t>
            </a:r>
            <a:r>
              <a:rPr lang="tr-TR" b="0" dirty="0" smtClean="0"/>
              <a:t>Görev </a:t>
            </a:r>
            <a:r>
              <a:rPr lang="tr-TR" b="0" dirty="0"/>
              <a:t>bu </a:t>
            </a:r>
            <a:r>
              <a:rPr lang="tr-TR" b="0" dirty="0" smtClean="0"/>
              <a:t>iki Görevden </a:t>
            </a:r>
            <a:r>
              <a:rPr lang="tr-TR" b="0" dirty="0"/>
              <a:t>birinden mesaj bekler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93939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Senkronizasyon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0" dirty="0" smtClean="0"/>
              <a:t>Görevlerin yürütülme sıraları önceden kestirilmez</a:t>
            </a:r>
          </a:p>
          <a:p>
            <a:r>
              <a:rPr lang="tr-TR" b="0" dirty="0" smtClean="0"/>
              <a:t>Görevlerin üretecekleri sonuçlar çalışma sıralarına bağlı olmamalıdır</a:t>
            </a:r>
          </a:p>
          <a:p>
            <a:r>
              <a:rPr lang="tr-TR" b="0" dirty="0" smtClean="0"/>
              <a:t>ÖRNEK: Bir P1 görevi bir P2 görevinin ürettiği bir sonucu kullanıp işlem yapacaksa, P2’ </a:t>
            </a:r>
            <a:r>
              <a:rPr lang="tr-TR" b="0" dirty="0" err="1" smtClean="0"/>
              <a:t>nin</a:t>
            </a:r>
            <a:r>
              <a:rPr lang="tr-TR" b="0" dirty="0" smtClean="0"/>
              <a:t> işini bitirip sonucu üretmesini beklemeli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127936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Karşılıklı dışlama(</a:t>
            </a:r>
            <a:r>
              <a:rPr lang="tr-TR" dirty="0" err="1"/>
              <a:t>Mutual</a:t>
            </a:r>
            <a:r>
              <a:rPr lang="tr-TR" dirty="0"/>
              <a:t> </a:t>
            </a:r>
            <a:r>
              <a:rPr lang="tr-TR" dirty="0" err="1"/>
              <a:t>Execution</a:t>
            </a:r>
            <a:r>
              <a:rPr lang="tr-TR" dirty="0"/>
              <a:t>)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0" dirty="0" smtClean="0"/>
              <a:t>Kritik </a:t>
            </a:r>
            <a:r>
              <a:rPr lang="tr-TR" b="0" dirty="0"/>
              <a:t>bölge</a:t>
            </a:r>
          </a:p>
          <a:p>
            <a:pPr lvl="1"/>
            <a:r>
              <a:rPr lang="tr-TR" b="0" dirty="0" smtClean="0"/>
              <a:t>Program </a:t>
            </a:r>
            <a:r>
              <a:rPr lang="tr-TR" b="0" dirty="0"/>
              <a:t>kodunun, paylaşılan kaynaklar </a:t>
            </a:r>
            <a:r>
              <a:rPr lang="tr-TR" b="0" dirty="0" smtClean="0"/>
              <a:t>üzerinde işlem </a:t>
            </a:r>
            <a:r>
              <a:rPr lang="tr-TR" b="0" dirty="0"/>
              <a:t>yapılan </a:t>
            </a:r>
            <a:r>
              <a:rPr lang="tr-TR" b="0" dirty="0" smtClean="0"/>
              <a:t>kısmı.</a:t>
            </a:r>
          </a:p>
          <a:p>
            <a:pPr lvl="1"/>
            <a:r>
              <a:rPr lang="tr-TR" b="0" dirty="0"/>
              <a:t>Bir program içerisinde ortak olarak paylaşılan </a:t>
            </a:r>
            <a:r>
              <a:rPr lang="tr-TR" b="0" dirty="0" smtClean="0"/>
              <a:t>alanlara erişim </a:t>
            </a:r>
            <a:r>
              <a:rPr lang="tr-TR" b="0" dirty="0"/>
              <a:t>yapılan kod </a:t>
            </a:r>
            <a:r>
              <a:rPr lang="tr-TR" b="0" dirty="0" smtClean="0"/>
              <a:t>bölümlerine verilen isim.</a:t>
            </a:r>
          </a:p>
          <a:p>
            <a:pPr lvl="1"/>
            <a:r>
              <a:rPr lang="tr-TR" b="0" dirty="0" smtClean="0"/>
              <a:t>Belirli </a:t>
            </a:r>
            <a:r>
              <a:rPr lang="tr-TR" b="0" dirty="0"/>
              <a:t>bir anda sadece tek bir </a:t>
            </a:r>
            <a:r>
              <a:rPr lang="tr-TR" b="0" dirty="0" smtClean="0"/>
              <a:t>Görev kritik bölgesindeki </a:t>
            </a:r>
            <a:r>
              <a:rPr lang="tr-TR" b="0" dirty="0"/>
              <a:t>kodu yürütebilir</a:t>
            </a:r>
            <a:r>
              <a:rPr lang="tr-TR" b="0" dirty="0" smtClean="0"/>
              <a:t>.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382172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Karşılıklı Dışlama</a:t>
            </a:r>
            <a:endParaRPr lang="tr-TR" b="1" dirty="0"/>
          </a:p>
        </p:txBody>
      </p:sp>
      <p:graphicFrame>
        <p:nvGraphicFramePr>
          <p:cNvPr id="6" name="İçerik Yer Tutucus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4757550"/>
              </p:ext>
            </p:extLst>
          </p:nvPr>
        </p:nvGraphicFramePr>
        <p:xfrm>
          <a:off x="457200" y="1600200"/>
          <a:ext cx="8229600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P1()</a:t>
                      </a:r>
                    </a:p>
                    <a:p>
                      <a:r>
                        <a:rPr lang="tr-T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begin</a:t>
                      </a:r>
                      <a:endParaRPr lang="tr-TR" sz="18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&lt;</a:t>
                      </a:r>
                      <a:r>
                        <a:rPr lang="tr-TR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KB olmayan kod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tr-TR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tr-TR" sz="1800" b="1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gir_KB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&lt;</a:t>
                      </a:r>
                      <a:r>
                        <a:rPr lang="tr-TR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KB işlemleri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tr-TR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tr-TR" sz="1800" b="1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cik_KB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&lt;</a:t>
                      </a:r>
                      <a:r>
                        <a:rPr lang="tr-TR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KB olmayan kod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tr-T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tr-TR" sz="18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P2()</a:t>
                      </a:r>
                    </a:p>
                    <a:p>
                      <a:r>
                        <a:rPr lang="tr-T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begin</a:t>
                      </a:r>
                      <a:endParaRPr lang="tr-TR" sz="18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&lt;</a:t>
                      </a:r>
                      <a:r>
                        <a:rPr lang="tr-TR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KB olmayan kod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tr-TR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lang="tr-TR" sz="1800" b="1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gir_KB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&lt;</a:t>
                      </a:r>
                      <a:r>
                        <a:rPr lang="tr-TR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KB işlemleri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tr-TR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tr-TR" sz="1800" b="1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cik_KB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&lt;</a:t>
                      </a:r>
                      <a:r>
                        <a:rPr lang="tr-TR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KB olmayan kod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tr-T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tr-TR" sz="18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P3()</a:t>
                      </a:r>
                    </a:p>
                    <a:p>
                      <a:r>
                        <a:rPr lang="tr-T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begin</a:t>
                      </a:r>
                      <a:endParaRPr lang="tr-TR" sz="18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&lt;</a:t>
                      </a:r>
                      <a:r>
                        <a:rPr lang="tr-TR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KB olmayan kod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tr-TR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  <a:r>
                        <a:rPr lang="tr-TR" sz="1800" b="1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gir_KB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&lt;</a:t>
                      </a:r>
                      <a:r>
                        <a:rPr lang="tr-TR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KB işlemleri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tr-TR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tr-TR" sz="1800" b="1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cik_KB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&lt;</a:t>
                      </a:r>
                      <a:r>
                        <a:rPr lang="tr-TR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KB olmayan kod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tr-T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tr-TR" sz="18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KB: </a:t>
                      </a:r>
                      <a:r>
                        <a:rPr lang="tr-TR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ritik </a:t>
                      </a:r>
                      <a:r>
                        <a:rPr lang="tr-TR" sz="1800" b="1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ölge</a:t>
                      </a:r>
                    </a:p>
                    <a:p>
                      <a:r>
                        <a:rPr lang="tr-T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İkiden fazla Görev de aynı kaynaklar üzerinde çalışıyor olabilir.</a:t>
                      </a:r>
                      <a:endParaRPr lang="tr-TR" dirty="0" smtClean="0"/>
                    </a:p>
                    <a:p>
                      <a:endParaRPr lang="tr-TR" sz="18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 sz="18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98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b="1" dirty="0"/>
              <a:t>Karşılıklı Dışlamada </a:t>
            </a:r>
            <a:r>
              <a:rPr lang="tr-TR" sz="2800" b="1" dirty="0" smtClean="0"/>
              <a:t>Dikkat Edilmesi Gerekenler</a:t>
            </a:r>
            <a:endParaRPr lang="tr-TR" sz="28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2"/>
          </a:xfrm>
        </p:spPr>
        <p:txBody>
          <a:bodyPr>
            <a:normAutofit fontScale="77500" lnSpcReduction="20000"/>
          </a:bodyPr>
          <a:lstStyle/>
          <a:p>
            <a:r>
              <a:rPr lang="tr-TR" b="0" dirty="0"/>
              <a:t>İki </a:t>
            </a:r>
            <a:r>
              <a:rPr lang="tr-TR" b="0" dirty="0" smtClean="0"/>
              <a:t>görev </a:t>
            </a:r>
            <a:r>
              <a:rPr lang="tr-TR" b="0" dirty="0"/>
              <a:t>aynı anda kritik bölge içerisine girmemelidir</a:t>
            </a:r>
            <a:r>
              <a:rPr lang="tr-TR" b="0" dirty="0" smtClean="0"/>
              <a:t>.</a:t>
            </a:r>
          </a:p>
          <a:p>
            <a:endParaRPr lang="tr-TR" b="0" dirty="0"/>
          </a:p>
          <a:p>
            <a:r>
              <a:rPr lang="tr-TR" b="0" dirty="0" smtClean="0"/>
              <a:t>Kritik </a:t>
            </a:r>
            <a:r>
              <a:rPr lang="tr-TR" b="0" dirty="0"/>
              <a:t>bölüme girmek isteyen </a:t>
            </a:r>
            <a:r>
              <a:rPr lang="tr-TR" b="0" dirty="0" smtClean="0"/>
              <a:t>görevler </a:t>
            </a:r>
            <a:r>
              <a:rPr lang="tr-TR" b="0" dirty="0"/>
              <a:t>eğer başka </a:t>
            </a:r>
            <a:r>
              <a:rPr lang="tr-TR" b="0" dirty="0" smtClean="0"/>
              <a:t>bir görev </a:t>
            </a:r>
            <a:r>
              <a:rPr lang="tr-TR" b="0" dirty="0"/>
              <a:t>kritik bölgede değilse </a:t>
            </a:r>
            <a:r>
              <a:rPr lang="tr-TR" b="0" dirty="0" smtClean="0"/>
              <a:t>engellenmemelidir.</a:t>
            </a:r>
          </a:p>
          <a:p>
            <a:endParaRPr lang="tr-TR" b="0" dirty="0" smtClean="0"/>
          </a:p>
          <a:p>
            <a:r>
              <a:rPr lang="tr-TR" b="0" dirty="0" smtClean="0"/>
              <a:t>Bir görev </a:t>
            </a:r>
            <a:r>
              <a:rPr lang="tr-TR" b="0" dirty="0"/>
              <a:t>kritik bölge içinde sonsuza </a:t>
            </a:r>
            <a:r>
              <a:rPr lang="tr-TR" b="0" dirty="0" smtClean="0"/>
              <a:t>kadar beklememelidir.</a:t>
            </a:r>
          </a:p>
          <a:p>
            <a:endParaRPr lang="tr-TR" b="0" dirty="0"/>
          </a:p>
          <a:p>
            <a:r>
              <a:rPr lang="tr-TR" b="0" dirty="0" smtClean="0"/>
              <a:t>Kritik </a:t>
            </a:r>
            <a:r>
              <a:rPr lang="tr-TR" b="0" dirty="0"/>
              <a:t>bölge dışında çalışan bir </a:t>
            </a:r>
            <a:r>
              <a:rPr lang="tr-TR" b="0" dirty="0" smtClean="0"/>
              <a:t>görev, </a:t>
            </a:r>
            <a:r>
              <a:rPr lang="tr-TR" b="0" dirty="0"/>
              <a:t>başka </a:t>
            </a:r>
            <a:r>
              <a:rPr lang="tr-TR" b="0" dirty="0" smtClean="0"/>
              <a:t>görevleri </a:t>
            </a:r>
            <a:r>
              <a:rPr lang="tr-TR" b="0" dirty="0" err="1" smtClean="0"/>
              <a:t>bloklayamaz</a:t>
            </a:r>
            <a:r>
              <a:rPr lang="tr-TR" b="0" dirty="0" smtClean="0"/>
              <a:t>.</a:t>
            </a:r>
          </a:p>
          <a:p>
            <a:endParaRPr lang="tr-TR" b="0" dirty="0"/>
          </a:p>
          <a:p>
            <a:r>
              <a:rPr lang="tr-TR" b="0" dirty="0" smtClean="0"/>
              <a:t>Sistemdeki </a:t>
            </a:r>
            <a:r>
              <a:rPr lang="tr-TR" b="0" dirty="0"/>
              <a:t>işlemci sayısı ve hızı ile ilgili </a:t>
            </a:r>
            <a:r>
              <a:rPr lang="tr-TR" b="0" dirty="0" smtClean="0"/>
              <a:t>kabuller yapılmamalıdır</a:t>
            </a:r>
            <a:r>
              <a:rPr lang="tr-TR" b="0" dirty="0"/>
              <a:t>, bu değerlerden bağımsız olmalıdır.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0584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79376"/>
          </a:xfrm>
        </p:spPr>
        <p:txBody>
          <a:bodyPr>
            <a:normAutofit/>
          </a:bodyPr>
          <a:lstStyle/>
          <a:p>
            <a:r>
              <a:rPr lang="tr-TR" sz="3600" b="1" dirty="0" smtClean="0"/>
              <a:t>Senkronizasyon  Yöntemleri</a:t>
            </a:r>
            <a:endParaRPr lang="tr-TR" sz="36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smtClean="0"/>
              <a:t>Özel Donanım Desteği Gerektirmeyen Yöntemler</a:t>
            </a:r>
          </a:p>
          <a:p>
            <a:pPr lvl="1"/>
            <a:r>
              <a:rPr lang="tr-TR" dirty="0" smtClean="0"/>
              <a:t>Kesme Yapısının Kullanımı</a:t>
            </a:r>
          </a:p>
          <a:p>
            <a:pPr lvl="1"/>
            <a:r>
              <a:rPr lang="tr-TR" dirty="0" smtClean="0"/>
              <a:t>Değişkenleri Kilitleme(</a:t>
            </a:r>
            <a:r>
              <a:rPr lang="tr-TR" dirty="0" err="1" smtClean="0"/>
              <a:t>Lock</a:t>
            </a:r>
            <a:r>
              <a:rPr lang="tr-TR" dirty="0" smtClean="0"/>
              <a:t> </a:t>
            </a:r>
            <a:r>
              <a:rPr lang="tr-TR" dirty="0" err="1" smtClean="0"/>
              <a:t>Variables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Dikkatli Değiştirme(</a:t>
            </a:r>
            <a:r>
              <a:rPr lang="tr-TR" dirty="0" err="1" smtClean="0"/>
              <a:t>Strict</a:t>
            </a:r>
            <a:r>
              <a:rPr lang="tr-TR" dirty="0" smtClean="0"/>
              <a:t> </a:t>
            </a:r>
            <a:r>
              <a:rPr lang="tr-TR" dirty="0" err="1" smtClean="0"/>
              <a:t>Alternation</a:t>
            </a:r>
            <a:r>
              <a:rPr lang="tr-TR" dirty="0" smtClean="0"/>
              <a:t>)</a:t>
            </a:r>
          </a:p>
          <a:p>
            <a:pPr lvl="1"/>
            <a:r>
              <a:rPr lang="tr-TR" dirty="0" err="1" smtClean="0"/>
              <a:t>Dekker</a:t>
            </a:r>
            <a:r>
              <a:rPr lang="tr-TR" dirty="0" smtClean="0"/>
              <a:t> Algoritması</a:t>
            </a:r>
          </a:p>
          <a:p>
            <a:r>
              <a:rPr lang="tr-TR" b="1" dirty="0" smtClean="0"/>
              <a:t>Donanım Desteği Gerektiren Yöntemler</a:t>
            </a:r>
          </a:p>
          <a:p>
            <a:r>
              <a:rPr lang="tr-TR" b="1" dirty="0" smtClean="0"/>
              <a:t>Üst Düzey Zaman Uyumlama Araçları</a:t>
            </a:r>
          </a:p>
          <a:p>
            <a:pPr lvl="1"/>
            <a:r>
              <a:rPr lang="tr-TR" dirty="0" smtClean="0"/>
              <a:t>Semafor</a:t>
            </a:r>
          </a:p>
          <a:p>
            <a:pPr lvl="1"/>
            <a:r>
              <a:rPr lang="tr-TR" dirty="0" smtClean="0"/>
              <a:t>Monitör</a:t>
            </a:r>
          </a:p>
          <a:p>
            <a:pPr lvl="1"/>
            <a:r>
              <a:rPr lang="tr-TR" dirty="0" smtClean="0"/>
              <a:t>Mesaj Geçirme (Message </a:t>
            </a:r>
            <a:r>
              <a:rPr lang="tr-TR" dirty="0" err="1" smtClean="0"/>
              <a:t>Passing</a:t>
            </a:r>
            <a:r>
              <a:rPr lang="tr-TR" dirty="0" smtClean="0"/>
              <a:t>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2071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 smtClean="0"/>
              <a:t>Özel Donanım Desteği Gerektirmeyen Karşılıklı Dışlama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Kesmeleri Devre Dışı Bırakma (Dezavantajları)</a:t>
            </a:r>
          </a:p>
          <a:p>
            <a:pPr lvl="1"/>
            <a:r>
              <a:rPr lang="tr-TR" b="0" dirty="0" smtClean="0"/>
              <a:t>görevler </a:t>
            </a:r>
            <a:r>
              <a:rPr lang="tr-TR" b="0" dirty="0"/>
              <a:t>kritik bölgeye girdiklerinde tüm kesmeleri </a:t>
            </a:r>
            <a:r>
              <a:rPr lang="tr-TR" b="0" dirty="0" smtClean="0"/>
              <a:t>devre	dışı </a:t>
            </a:r>
            <a:r>
              <a:rPr lang="tr-TR" b="0" dirty="0"/>
              <a:t>bırakabilirler. Kritik bölge dışına çıktıklarında </a:t>
            </a:r>
            <a:r>
              <a:rPr lang="tr-TR" b="0" dirty="0" smtClean="0"/>
              <a:t>eski durumuna getirebilirler. Bu </a:t>
            </a:r>
            <a:r>
              <a:rPr lang="tr-TR" b="0" dirty="0"/>
              <a:t>durumda eğer bir </a:t>
            </a:r>
            <a:r>
              <a:rPr lang="tr-TR" b="0" dirty="0" smtClean="0"/>
              <a:t>görev </a:t>
            </a:r>
            <a:r>
              <a:rPr lang="tr-TR" b="0" dirty="0"/>
              <a:t>bu işlemi uygulasa </a:t>
            </a:r>
            <a:r>
              <a:rPr lang="tr-TR" b="0" dirty="0" smtClean="0"/>
              <a:t>ve çıktığında </a:t>
            </a:r>
            <a:r>
              <a:rPr lang="tr-TR" b="0" dirty="0"/>
              <a:t>eski durumuna getirmez ise sistem </a:t>
            </a:r>
            <a:r>
              <a:rPr lang="tr-TR" b="0" dirty="0" smtClean="0"/>
              <a:t>çalışmaz duruma </a:t>
            </a:r>
            <a:r>
              <a:rPr lang="tr-TR" b="0" dirty="0"/>
              <a:t>gelir</a:t>
            </a:r>
            <a:r>
              <a:rPr lang="tr-TR" b="0" dirty="0" smtClean="0"/>
              <a:t>.</a:t>
            </a:r>
          </a:p>
          <a:p>
            <a:pPr marL="457200" lvl="1" indent="0">
              <a:buNone/>
            </a:pPr>
            <a:endParaRPr lang="tr-TR" b="0" dirty="0"/>
          </a:p>
          <a:p>
            <a:pPr lvl="1"/>
            <a:r>
              <a:rPr lang="tr-TR" b="0" dirty="0"/>
              <a:t>Sistemde birden fazla işlemci varsa bu işlem sadece </a:t>
            </a:r>
            <a:r>
              <a:rPr lang="tr-TR" b="0" dirty="0" smtClean="0"/>
              <a:t>tek bir </a:t>
            </a:r>
            <a:r>
              <a:rPr lang="tr-TR" b="0" dirty="0"/>
              <a:t>işlemciyi etkiler. Kullanıcı </a:t>
            </a:r>
            <a:r>
              <a:rPr lang="tr-TR" b="0" dirty="0" smtClean="0"/>
              <a:t>görevlerine </a:t>
            </a:r>
            <a:r>
              <a:rPr lang="tr-TR" b="0" dirty="0"/>
              <a:t>bu hakkı </a:t>
            </a:r>
            <a:r>
              <a:rPr lang="tr-TR" b="0" dirty="0" smtClean="0"/>
              <a:t>vermek oldukça </a:t>
            </a:r>
            <a:r>
              <a:rPr lang="tr-TR" b="0" dirty="0"/>
              <a:t>tehlikelidir. Çekirdek bazen bu yöntemi kullanır.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817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Kesmenin Kontrolü</a:t>
            </a:r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6" t="23619" r="8267" b="14479"/>
          <a:stretch/>
        </p:blipFill>
        <p:spPr bwMode="auto">
          <a:xfrm>
            <a:off x="611560" y="1052736"/>
            <a:ext cx="7865514" cy="435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5" t="61395" r="48034" b="22488"/>
          <a:stretch/>
        </p:blipFill>
        <p:spPr bwMode="auto">
          <a:xfrm>
            <a:off x="2168053" y="5341558"/>
            <a:ext cx="4752528" cy="1510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589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 smtClean="0"/>
              <a:t>Özel Donanım Desteği Gerektirmeyen Karşılıklı Dışlama</a:t>
            </a:r>
            <a:endParaRPr lang="tr-TR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Dikkatli Değiştirme (</a:t>
            </a:r>
            <a:r>
              <a:rPr lang="tr-TR" b="1" dirty="0" err="1"/>
              <a:t>Strict</a:t>
            </a:r>
            <a:r>
              <a:rPr lang="tr-TR" b="1" dirty="0"/>
              <a:t> </a:t>
            </a:r>
            <a:r>
              <a:rPr lang="tr-TR" b="1" dirty="0" err="1"/>
              <a:t>Alternation</a:t>
            </a:r>
            <a:r>
              <a:rPr lang="tr-TR" b="1" dirty="0" smtClean="0"/>
              <a:t>)</a:t>
            </a:r>
            <a:endParaRPr lang="tr-TR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5" t="34892" r="15308" b="37231"/>
          <a:stretch/>
        </p:blipFill>
        <p:spPr bwMode="auto">
          <a:xfrm>
            <a:off x="409662" y="2670953"/>
            <a:ext cx="8482818" cy="2124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924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2800" dirty="0"/>
              <a:t>Dikkatli Değiştirme (</a:t>
            </a:r>
            <a:r>
              <a:rPr lang="tr-TR" sz="2800" dirty="0" err="1"/>
              <a:t>Strict</a:t>
            </a:r>
            <a:r>
              <a:rPr lang="tr-TR" sz="2800" dirty="0"/>
              <a:t> </a:t>
            </a:r>
            <a:r>
              <a:rPr lang="tr-TR" sz="2800" dirty="0" err="1"/>
              <a:t>Alternation</a:t>
            </a:r>
            <a:r>
              <a:rPr lang="tr-TR" sz="2800" dirty="0"/>
              <a:t>)</a:t>
            </a:r>
            <a:br>
              <a:rPr lang="tr-TR" sz="2800" dirty="0"/>
            </a:br>
            <a:r>
              <a:rPr lang="tr-TR" sz="2800" dirty="0" smtClean="0"/>
              <a:t>Çoklu Görev İçin –Çalışmayan Algoritma</a:t>
            </a:r>
            <a:br>
              <a:rPr lang="tr-TR" sz="2800" dirty="0" smtClean="0"/>
            </a:br>
            <a:r>
              <a:rPr lang="tr-TR" sz="2800" dirty="0" smtClean="0"/>
              <a:t>Kaynağın durumunu belirleyen algoritma</a:t>
            </a:r>
            <a:endParaRPr lang="tr-TR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9" t="42277" r="14154" b="32430"/>
          <a:stretch/>
        </p:blipFill>
        <p:spPr bwMode="auto">
          <a:xfrm>
            <a:off x="855011" y="2924944"/>
            <a:ext cx="8299939" cy="192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724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 t="36000" r="17269" b="21538"/>
          <a:stretch/>
        </p:blipFill>
        <p:spPr bwMode="auto">
          <a:xfrm>
            <a:off x="755576" y="2456911"/>
            <a:ext cx="7906043" cy="3235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Neden Çalışmaz</a:t>
            </a:r>
            <a:endParaRPr lang="tr-T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Mürekkep 7"/>
              <p14:cNvContentPartPr/>
              <p14:nvPr/>
            </p14:nvContentPartPr>
            <p14:xfrm>
              <a:off x="2176514" y="3888938"/>
              <a:ext cx="0" cy="13680"/>
            </p14:xfrm>
          </p:contentPart>
        </mc:Choice>
        <mc:Fallback xmlns="">
          <p:pic>
            <p:nvPicPr>
              <p:cNvPr id="8" name="Mürekkep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Mürekkep 16"/>
              <p14:cNvContentPartPr/>
              <p14:nvPr/>
            </p14:nvContentPartPr>
            <p14:xfrm>
              <a:off x="3503114" y="3799658"/>
              <a:ext cx="0" cy="12960"/>
            </p14:xfrm>
          </p:contentPart>
        </mc:Choice>
        <mc:Fallback xmlns="">
          <p:pic>
            <p:nvPicPr>
              <p:cNvPr id="17" name="Mürekkep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0" cy="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51" name="Mürekkep 2050"/>
              <p14:cNvContentPartPr/>
              <p14:nvPr/>
            </p14:nvContentPartPr>
            <p14:xfrm>
              <a:off x="1803554" y="4095938"/>
              <a:ext cx="51120" cy="0"/>
            </p14:xfrm>
          </p:contentPart>
        </mc:Choice>
        <mc:Fallback xmlns="">
          <p:pic>
            <p:nvPicPr>
              <p:cNvPr id="2051" name="Mürekkep 205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5112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68" name="Mürekkep 2067"/>
              <p14:cNvContentPartPr/>
              <p14:nvPr/>
            </p14:nvContentPartPr>
            <p14:xfrm>
              <a:off x="5770034" y="3940418"/>
              <a:ext cx="12600" cy="0"/>
            </p14:xfrm>
          </p:contentPart>
        </mc:Choice>
        <mc:Fallback xmlns="">
          <p:pic>
            <p:nvPicPr>
              <p:cNvPr id="2068" name="Mürekkep 2067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1260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1914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tr-TR" sz="2400" dirty="0" smtClean="0"/>
              <a:t>Özel Donanım Desteği Gerektirmeyen Karşılıklı Dışlama</a:t>
            </a:r>
            <a:endParaRPr lang="tr-TR" sz="24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83568" y="836712"/>
            <a:ext cx="8229600" cy="5688632"/>
          </a:xfrm>
        </p:spPr>
        <p:txBody>
          <a:bodyPr>
            <a:normAutofit fontScale="92500" lnSpcReduction="20000"/>
          </a:bodyPr>
          <a:lstStyle/>
          <a:p>
            <a:r>
              <a:rPr lang="tr-TR" dirty="0" err="1" smtClean="0"/>
              <a:t>Dekker</a:t>
            </a:r>
            <a:r>
              <a:rPr lang="tr-TR" dirty="0" smtClean="0"/>
              <a:t> Algoritması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r>
              <a:rPr lang="tr-TR" dirty="0" smtClean="0"/>
              <a:t>Karşılıklı dışlama sağlar</a:t>
            </a:r>
            <a:endParaRPr lang="tr-TR" dirty="0"/>
          </a:p>
          <a:p>
            <a:r>
              <a:rPr lang="tr-TR" dirty="0" err="1" smtClean="0"/>
              <a:t>Deadlock</a:t>
            </a:r>
            <a:r>
              <a:rPr lang="tr-TR" dirty="0" smtClean="0"/>
              <a:t> olasılığı vardır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92" t="17723" r="17731" b="4001"/>
          <a:stretch/>
        </p:blipFill>
        <p:spPr bwMode="auto">
          <a:xfrm>
            <a:off x="1691680" y="1402562"/>
            <a:ext cx="5760640" cy="3898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45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Peterson</a:t>
            </a:r>
            <a:r>
              <a:rPr lang="tr-TR" dirty="0" smtClean="0"/>
              <a:t>’ un Çözümü</a:t>
            </a:r>
            <a:endParaRPr lang="tr-TR" dirty="0"/>
          </a:p>
        </p:txBody>
      </p:sp>
      <p:pic>
        <p:nvPicPr>
          <p:cNvPr id="4" name="Resim 3" descr="Ekran Kırpm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9" y="1523734"/>
            <a:ext cx="7344801" cy="3810532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1259632" y="5589240"/>
            <a:ext cx="3299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Çalışan bir </a:t>
            </a:r>
            <a:r>
              <a:rPr lang="tr-TR" dirty="0" err="1" smtClean="0"/>
              <a:t>algoritmik</a:t>
            </a:r>
            <a:r>
              <a:rPr lang="tr-TR" dirty="0" smtClean="0"/>
              <a:t> yaklaşımdır.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77235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79376"/>
          </a:xfrm>
        </p:spPr>
        <p:txBody>
          <a:bodyPr/>
          <a:lstStyle/>
          <a:p>
            <a:r>
              <a:rPr lang="tr-TR" sz="3600" dirty="0" smtClean="0"/>
              <a:t>Özel Donanım Gerektiren Yöntemler</a:t>
            </a:r>
            <a:endParaRPr lang="tr-TR" sz="36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556792"/>
            <a:ext cx="8686800" cy="4828133"/>
          </a:xfrm>
        </p:spPr>
        <p:txBody>
          <a:bodyPr/>
          <a:lstStyle/>
          <a:p>
            <a:r>
              <a:rPr lang="tr-TR" dirty="0" smtClean="0"/>
              <a:t>Test </a:t>
            </a:r>
            <a:r>
              <a:rPr lang="tr-TR" dirty="0" err="1" smtClean="0"/>
              <a:t>and</a:t>
            </a:r>
            <a:r>
              <a:rPr lang="tr-TR" dirty="0" smtClean="0"/>
              <a:t> Set türü komutlar</a:t>
            </a:r>
          </a:p>
          <a:p>
            <a:pPr marL="457200" lvl="1" indent="0">
              <a:buNone/>
            </a:pPr>
            <a:r>
              <a:rPr lang="tr-TR" dirty="0" smtClean="0"/>
              <a:t>		</a:t>
            </a:r>
            <a:r>
              <a:rPr lang="tr-TR" dirty="0" err="1" smtClean="0"/>
              <a:t>ts</a:t>
            </a:r>
            <a:r>
              <a:rPr lang="tr-TR" dirty="0" smtClean="0"/>
              <a:t>    </a:t>
            </a:r>
            <a:r>
              <a:rPr lang="tr-TR" dirty="0" err="1" smtClean="0"/>
              <a:t>reg</a:t>
            </a:r>
            <a:r>
              <a:rPr lang="tr-TR" dirty="0" smtClean="0"/>
              <a:t>,  durum</a:t>
            </a:r>
          </a:p>
          <a:p>
            <a:pPr marL="457200" lvl="1" indent="0">
              <a:buNone/>
            </a:pPr>
            <a:endParaRPr lang="tr-TR" dirty="0"/>
          </a:p>
          <a:p>
            <a:pPr marL="457200" lvl="1" indent="0">
              <a:buNone/>
            </a:pPr>
            <a:r>
              <a:rPr lang="tr-TR" dirty="0" smtClean="0"/>
              <a:t>						Motorola </a:t>
            </a:r>
            <a:r>
              <a:rPr lang="tr-TR" dirty="0" smtClean="0">
                <a:sym typeface="Wingdings" pitchFamily="2" charset="2"/>
              </a:rPr>
              <a:t> tas</a:t>
            </a:r>
          </a:p>
          <a:p>
            <a:pPr marL="457200" lvl="1" indent="0">
              <a:buNone/>
            </a:pPr>
            <a:r>
              <a:rPr lang="tr-TR" dirty="0">
                <a:sym typeface="Wingdings" pitchFamily="2" charset="2"/>
              </a:rPr>
              <a:t>	</a:t>
            </a:r>
            <a:r>
              <a:rPr lang="tr-TR" dirty="0" smtClean="0">
                <a:sym typeface="Wingdings" pitchFamily="2" charset="2"/>
              </a:rPr>
              <a:t>					Intel 80x86  </a:t>
            </a:r>
            <a:r>
              <a:rPr lang="tr-TR" dirty="0" err="1" smtClean="0">
                <a:sym typeface="Wingdings" pitchFamily="2" charset="2"/>
              </a:rPr>
              <a:t>xchg</a:t>
            </a:r>
            <a:endParaRPr lang="tr-TR" dirty="0" smtClean="0"/>
          </a:p>
          <a:p>
            <a:pPr marL="457200" lvl="1" indent="0">
              <a:buNone/>
            </a:pPr>
            <a:endParaRPr lang="tr-TR" dirty="0"/>
          </a:p>
          <a:p>
            <a:pPr marL="457200" lvl="1" indent="0">
              <a:buNone/>
            </a:pPr>
            <a:endParaRPr lang="tr-TR" dirty="0" smtClean="0"/>
          </a:p>
          <a:p>
            <a:pPr marL="457200" lvl="1" indent="0">
              <a:buNone/>
            </a:pPr>
            <a:endParaRPr lang="tr-TR" dirty="0"/>
          </a:p>
          <a:p>
            <a:pPr marL="457200" lvl="1" indent="0">
              <a:buNone/>
            </a:pPr>
            <a:endParaRPr lang="tr-TR" dirty="0" smtClean="0"/>
          </a:p>
          <a:p>
            <a:pPr marL="457200" lvl="1" indent="0">
              <a:buNone/>
            </a:pPr>
            <a:endParaRPr lang="tr-TR" dirty="0"/>
          </a:p>
          <a:p>
            <a:pPr marL="457200" lvl="1" indent="0">
              <a:buNone/>
            </a:pPr>
            <a:endParaRPr lang="tr-TR" dirty="0" smtClean="0"/>
          </a:p>
          <a:p>
            <a:pPr marL="457200" lvl="1" indent="0">
              <a:buNone/>
            </a:pPr>
            <a:endParaRPr lang="tr-TR" dirty="0"/>
          </a:p>
          <a:p>
            <a:pPr marL="457200" lvl="1" indent="0">
              <a:buNone/>
            </a:pPr>
            <a:endParaRPr lang="tr-TR" dirty="0" smtClean="0"/>
          </a:p>
          <a:p>
            <a:pPr marL="457200" lvl="1" indent="0">
              <a:buNone/>
            </a:pPr>
            <a:endParaRPr lang="tr-TR" dirty="0"/>
          </a:p>
          <a:p>
            <a:pPr marL="457200" lvl="1" indent="0">
              <a:buNone/>
            </a:pPr>
            <a:endParaRPr lang="tr-T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15" t="37477" r="30192" b="20246"/>
          <a:stretch/>
        </p:blipFill>
        <p:spPr bwMode="auto">
          <a:xfrm>
            <a:off x="755576" y="2924944"/>
            <a:ext cx="5022166" cy="322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4" t="52246" r="43577" b="37231"/>
          <a:stretch/>
        </p:blipFill>
        <p:spPr bwMode="auto">
          <a:xfrm>
            <a:off x="6020207" y="4293096"/>
            <a:ext cx="2886671" cy="1082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724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x</a:t>
            </a:r>
            <a:r>
              <a:rPr lang="tr-TR" dirty="0" err="1" smtClean="0"/>
              <a:t>chg</a:t>
            </a:r>
            <a:r>
              <a:rPr lang="tr-TR" dirty="0" smtClean="0"/>
              <a:t> komutunun kullanımı</a:t>
            </a:r>
            <a:endParaRPr lang="tr-TR" dirty="0"/>
          </a:p>
        </p:txBody>
      </p:sp>
      <p:pic>
        <p:nvPicPr>
          <p:cNvPr id="4" name="İçerik Yer Tutucusu 3" descr="Ekran Kırpma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075" y="2096047"/>
            <a:ext cx="5191850" cy="3534269"/>
          </a:xfrm>
        </p:spPr>
      </p:pic>
    </p:spTree>
    <p:extLst>
      <p:ext uri="{BB962C8B-B14F-4D97-AF65-F5344CB8AC3E}">
        <p14:creationId xmlns:p14="http://schemas.microsoft.com/office/powerpoint/2010/main" val="71848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Semaforlar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 fontScale="77500" lnSpcReduction="20000"/>
          </a:bodyPr>
          <a:lstStyle/>
          <a:p>
            <a:r>
              <a:rPr lang="tr-TR" b="0" dirty="0" smtClean="0"/>
              <a:t>1965 </a:t>
            </a:r>
            <a:r>
              <a:rPr lang="tr-TR" b="0" dirty="0" err="1" smtClean="0"/>
              <a:t>Dijkstra</a:t>
            </a:r>
            <a:r>
              <a:rPr lang="tr-TR" b="0" dirty="0" smtClean="0"/>
              <a:t> </a:t>
            </a:r>
          </a:p>
          <a:p>
            <a:r>
              <a:rPr lang="tr-TR" b="0" dirty="0" smtClean="0"/>
              <a:t>Etkili bir işbirliği sağlamak amacıyla geliştirdi.</a:t>
            </a:r>
          </a:p>
          <a:p>
            <a:r>
              <a:rPr lang="tr-TR" b="0" dirty="0" smtClean="0"/>
              <a:t>İki veya daha fazla </a:t>
            </a:r>
            <a:r>
              <a:rPr lang="tr-TR" b="0" dirty="0"/>
              <a:t>görev </a:t>
            </a:r>
            <a:r>
              <a:rPr lang="tr-TR" b="0" dirty="0" smtClean="0"/>
              <a:t>özel bir sinyal alana kadar özel bir yerde bekletilmeye zorlayan basit bir sinyal aracığıyla işbirliği yapabilir.  Bu sinyal için, </a:t>
            </a:r>
            <a:r>
              <a:rPr lang="tr-TR" dirty="0" smtClean="0"/>
              <a:t>semafor </a:t>
            </a:r>
            <a:r>
              <a:rPr lang="tr-TR" b="0" dirty="0" smtClean="0"/>
              <a:t>olarak adlandırılan özel değişkenler kullanılır.</a:t>
            </a:r>
          </a:p>
          <a:p>
            <a:endParaRPr lang="tr-TR" dirty="0" smtClean="0"/>
          </a:p>
          <a:p>
            <a:r>
              <a:rPr lang="tr-TR" b="1" dirty="0" smtClean="0"/>
              <a:t>Semafor, görevler arası </a:t>
            </a:r>
            <a:r>
              <a:rPr lang="tr-TR" b="1" dirty="0" err="1" smtClean="0"/>
              <a:t>sinyalleme</a:t>
            </a:r>
            <a:r>
              <a:rPr lang="tr-TR" b="1" dirty="0" smtClean="0"/>
              <a:t> için </a:t>
            </a:r>
            <a:r>
              <a:rPr lang="tr-TR" b="1" dirty="0" err="1" smtClean="0"/>
              <a:t>integer</a:t>
            </a:r>
            <a:r>
              <a:rPr lang="tr-TR" b="1" dirty="0" smtClean="0"/>
              <a:t> bir değer kullanır.</a:t>
            </a:r>
          </a:p>
          <a:p>
            <a:r>
              <a:rPr lang="tr-TR" b="1" dirty="0" smtClean="0"/>
              <a:t>Atomik bir işlemdir.</a:t>
            </a:r>
          </a:p>
          <a:p>
            <a:endParaRPr lang="tr-TR" b="0" dirty="0"/>
          </a:p>
          <a:p>
            <a:r>
              <a:rPr lang="tr-TR" b="0" dirty="0" smtClean="0"/>
              <a:t>Semafor s ise;</a:t>
            </a:r>
          </a:p>
          <a:p>
            <a:r>
              <a:rPr lang="tr-TR" b="0" dirty="0" smtClean="0"/>
              <a:t>Sinyali İletmek için, </a:t>
            </a:r>
            <a:r>
              <a:rPr lang="tr-TR" b="0" dirty="0" err="1" smtClean="0"/>
              <a:t>semSignal</a:t>
            </a:r>
            <a:r>
              <a:rPr lang="tr-TR" b="0" dirty="0" smtClean="0"/>
              <a:t>(s)</a:t>
            </a:r>
          </a:p>
          <a:p>
            <a:r>
              <a:rPr lang="tr-TR" b="0" dirty="0" smtClean="0"/>
              <a:t>Sinyali almak için </a:t>
            </a:r>
            <a:r>
              <a:rPr lang="tr-TR" b="0" dirty="0" err="1" smtClean="0"/>
              <a:t>semWait</a:t>
            </a:r>
            <a:r>
              <a:rPr lang="tr-TR" b="0" dirty="0" smtClean="0"/>
              <a:t>(s) çalıştırılır.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420481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tr-TR" sz="3600" dirty="0" smtClean="0"/>
              <a:t>İkili Semafor</a:t>
            </a:r>
            <a:endParaRPr lang="tr-TR" sz="3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Mürekkep 11"/>
              <p14:cNvContentPartPr/>
              <p14:nvPr/>
            </p14:nvContentPartPr>
            <p14:xfrm>
              <a:off x="3747914" y="2394938"/>
              <a:ext cx="25920" cy="0"/>
            </p14:xfrm>
          </p:contentPart>
        </mc:Choice>
        <mc:Fallback xmlns="">
          <p:pic>
            <p:nvPicPr>
              <p:cNvPr id="12" name="Mürekkep 1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592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1" name="Mürekkep 80"/>
              <p14:cNvContentPartPr/>
              <p14:nvPr/>
            </p14:nvContentPartPr>
            <p14:xfrm>
              <a:off x="4700834" y="3980018"/>
              <a:ext cx="64800" cy="0"/>
            </p14:xfrm>
          </p:contentPart>
        </mc:Choice>
        <mc:Fallback xmlns="">
          <p:pic>
            <p:nvPicPr>
              <p:cNvPr id="81" name="Mürekkep 8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6480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1" name="Mürekkep 100"/>
              <p14:cNvContentPartPr/>
              <p14:nvPr/>
            </p14:nvContentPartPr>
            <p14:xfrm>
              <a:off x="1494314" y="4507058"/>
              <a:ext cx="51480" cy="0"/>
            </p14:xfrm>
          </p:contentPart>
        </mc:Choice>
        <mc:Fallback xmlns="">
          <p:pic>
            <p:nvPicPr>
              <p:cNvPr id="101" name="Mürekkep 10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5148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9" name="Mürekkep 108"/>
              <p14:cNvContentPartPr/>
              <p14:nvPr/>
            </p14:nvContentPartPr>
            <p14:xfrm>
              <a:off x="8011394" y="2614178"/>
              <a:ext cx="0" cy="116280"/>
            </p14:xfrm>
          </p:contentPart>
        </mc:Choice>
        <mc:Fallback xmlns="">
          <p:pic>
            <p:nvPicPr>
              <p:cNvPr id="109" name="Mürekkep 10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0" cy="116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ikdörtgen 2"/>
          <p:cNvSpPr/>
          <p:nvPr/>
        </p:nvSpPr>
        <p:spPr>
          <a:xfrm>
            <a:off x="395536" y="1164134"/>
            <a:ext cx="820891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b="1" dirty="0" err="1"/>
              <a:t>struct</a:t>
            </a:r>
            <a:r>
              <a:rPr lang="tr-TR" sz="1600" b="1" dirty="0"/>
              <a:t> </a:t>
            </a:r>
            <a:r>
              <a:rPr lang="tr-TR" sz="1600" dirty="0" err="1"/>
              <a:t>binary_semaphore</a:t>
            </a:r>
            <a:r>
              <a:rPr lang="tr-TR" sz="1600" dirty="0"/>
              <a:t> {</a:t>
            </a:r>
          </a:p>
          <a:p>
            <a:r>
              <a:rPr lang="tr-TR" sz="1600" b="1" dirty="0" smtClean="0"/>
              <a:t>	</a:t>
            </a:r>
            <a:r>
              <a:rPr lang="tr-TR" sz="1600" b="1" dirty="0" err="1" smtClean="0"/>
              <a:t>enum</a:t>
            </a:r>
            <a:r>
              <a:rPr lang="tr-TR" sz="1600" b="1" dirty="0" smtClean="0"/>
              <a:t> </a:t>
            </a:r>
            <a:r>
              <a:rPr lang="tr-TR" sz="1600" dirty="0"/>
              <a:t>{</a:t>
            </a:r>
            <a:r>
              <a:rPr lang="tr-TR" sz="1600" dirty="0" err="1"/>
              <a:t>zero</a:t>
            </a:r>
            <a:r>
              <a:rPr lang="tr-TR" sz="1600" dirty="0"/>
              <a:t>, </a:t>
            </a:r>
            <a:r>
              <a:rPr lang="tr-TR" sz="1600" dirty="0" err="1"/>
              <a:t>one</a:t>
            </a:r>
            <a:r>
              <a:rPr lang="tr-TR" sz="1600" dirty="0"/>
              <a:t>} </a:t>
            </a:r>
            <a:r>
              <a:rPr lang="tr-TR" sz="1600" dirty="0" err="1"/>
              <a:t>value</a:t>
            </a:r>
            <a:r>
              <a:rPr lang="tr-TR" sz="1600" dirty="0"/>
              <a:t>;</a:t>
            </a:r>
          </a:p>
          <a:p>
            <a:r>
              <a:rPr lang="tr-TR" sz="1600" b="1" dirty="0" smtClean="0"/>
              <a:t>	</a:t>
            </a:r>
            <a:r>
              <a:rPr lang="tr-TR" sz="1600" b="1" dirty="0" err="1" smtClean="0"/>
              <a:t>queueType</a:t>
            </a:r>
            <a:r>
              <a:rPr lang="tr-TR" sz="1600" b="1" dirty="0" smtClean="0"/>
              <a:t> </a:t>
            </a:r>
            <a:r>
              <a:rPr lang="tr-TR" sz="1600" dirty="0" err="1"/>
              <a:t>queue</a:t>
            </a:r>
            <a:r>
              <a:rPr lang="tr-TR" sz="1600" dirty="0"/>
              <a:t>;</a:t>
            </a:r>
          </a:p>
          <a:p>
            <a:r>
              <a:rPr lang="tr-TR" sz="1600" dirty="0"/>
              <a:t>};</a:t>
            </a:r>
          </a:p>
          <a:p>
            <a:r>
              <a:rPr lang="tr-TR" sz="1600" b="1" dirty="0" err="1"/>
              <a:t>void</a:t>
            </a:r>
            <a:r>
              <a:rPr lang="tr-TR" sz="1600" b="1" dirty="0"/>
              <a:t> </a:t>
            </a:r>
            <a:r>
              <a:rPr lang="tr-TR" sz="1600" dirty="0" err="1"/>
              <a:t>semWaitB</a:t>
            </a:r>
            <a:r>
              <a:rPr lang="tr-TR" sz="1600" dirty="0"/>
              <a:t>(</a:t>
            </a:r>
            <a:r>
              <a:rPr lang="tr-TR" sz="1600" dirty="0" err="1"/>
              <a:t>binary_semaphore</a:t>
            </a:r>
            <a:r>
              <a:rPr lang="tr-TR" sz="1600" dirty="0"/>
              <a:t> s)</a:t>
            </a:r>
          </a:p>
          <a:p>
            <a:r>
              <a:rPr lang="tr-TR" sz="1600" dirty="0"/>
              <a:t>{</a:t>
            </a:r>
          </a:p>
          <a:p>
            <a:r>
              <a:rPr lang="tr-TR" sz="1600" b="1" dirty="0" smtClean="0"/>
              <a:t>	</a:t>
            </a:r>
            <a:r>
              <a:rPr lang="tr-TR" sz="1600" b="1" dirty="0" err="1" smtClean="0"/>
              <a:t>if</a:t>
            </a:r>
            <a:r>
              <a:rPr lang="tr-TR" sz="1600" b="1" dirty="0" smtClean="0"/>
              <a:t> </a:t>
            </a:r>
            <a:r>
              <a:rPr lang="tr-TR" sz="1600" dirty="0"/>
              <a:t>(</a:t>
            </a:r>
            <a:r>
              <a:rPr lang="tr-TR" sz="1600" dirty="0" err="1"/>
              <a:t>s.value</a:t>
            </a:r>
            <a:r>
              <a:rPr lang="tr-TR" sz="1600" dirty="0"/>
              <a:t> == </a:t>
            </a:r>
            <a:r>
              <a:rPr lang="tr-TR" sz="1600" dirty="0" err="1"/>
              <a:t>one</a:t>
            </a:r>
            <a:r>
              <a:rPr lang="tr-TR" sz="1600" dirty="0"/>
              <a:t>)</a:t>
            </a:r>
          </a:p>
          <a:p>
            <a:r>
              <a:rPr lang="tr-TR" sz="1600" dirty="0" smtClean="0"/>
              <a:t>		</a:t>
            </a:r>
            <a:r>
              <a:rPr lang="tr-TR" sz="1600" dirty="0" err="1" smtClean="0"/>
              <a:t>s.value</a:t>
            </a:r>
            <a:r>
              <a:rPr lang="tr-TR" sz="1600" dirty="0" smtClean="0"/>
              <a:t> </a:t>
            </a:r>
            <a:r>
              <a:rPr lang="tr-TR" sz="1600" dirty="0"/>
              <a:t>= </a:t>
            </a:r>
            <a:r>
              <a:rPr lang="tr-TR" sz="1600" dirty="0" err="1"/>
              <a:t>zero</a:t>
            </a:r>
            <a:r>
              <a:rPr lang="tr-TR" sz="1600" dirty="0"/>
              <a:t>;</a:t>
            </a:r>
          </a:p>
          <a:p>
            <a:r>
              <a:rPr lang="tr-TR" sz="1600" b="1" dirty="0" smtClean="0"/>
              <a:t>	else </a:t>
            </a:r>
            <a:r>
              <a:rPr lang="tr-TR" sz="1600" dirty="0"/>
              <a:t>{</a:t>
            </a:r>
          </a:p>
          <a:p>
            <a:r>
              <a:rPr lang="tr-TR" sz="1600" dirty="0" smtClean="0"/>
              <a:t>		</a:t>
            </a:r>
            <a:r>
              <a:rPr lang="en-US" sz="1600" dirty="0" smtClean="0"/>
              <a:t>/* </a:t>
            </a:r>
            <a:r>
              <a:rPr lang="tr-TR" sz="1600" dirty="0" smtClean="0"/>
              <a:t>ilgili görev </a:t>
            </a:r>
            <a:r>
              <a:rPr lang="tr-TR" sz="1600" dirty="0" err="1"/>
              <a:t>s.queue</a:t>
            </a:r>
            <a:r>
              <a:rPr lang="tr-TR" sz="1600" dirty="0"/>
              <a:t> </a:t>
            </a:r>
            <a:r>
              <a:rPr lang="tr-TR" sz="1600" dirty="0" smtClean="0"/>
              <a:t>içine yerleşir</a:t>
            </a:r>
            <a:r>
              <a:rPr lang="en-US" sz="1600" dirty="0" smtClean="0"/>
              <a:t> </a:t>
            </a:r>
            <a:r>
              <a:rPr lang="en-US" sz="1600" dirty="0"/>
              <a:t>*/;</a:t>
            </a:r>
          </a:p>
          <a:p>
            <a:r>
              <a:rPr lang="tr-TR" sz="1600" dirty="0" smtClean="0"/>
              <a:t>		/* görev bloke edilir*/;</a:t>
            </a:r>
            <a:endParaRPr lang="tr-TR" sz="1600" dirty="0"/>
          </a:p>
          <a:p>
            <a:r>
              <a:rPr lang="tr-TR" sz="1600" dirty="0" smtClean="0"/>
              <a:t>	}</a:t>
            </a:r>
            <a:endParaRPr lang="tr-TR" sz="1600" dirty="0"/>
          </a:p>
          <a:p>
            <a:r>
              <a:rPr lang="tr-TR" sz="1600" dirty="0"/>
              <a:t>}</a:t>
            </a:r>
          </a:p>
          <a:p>
            <a:r>
              <a:rPr lang="tr-TR" sz="1600" b="1" dirty="0" err="1"/>
              <a:t>void</a:t>
            </a:r>
            <a:r>
              <a:rPr lang="tr-TR" sz="1600" b="1" dirty="0"/>
              <a:t> </a:t>
            </a:r>
            <a:r>
              <a:rPr lang="tr-TR" sz="1600" dirty="0" err="1"/>
              <a:t>semSignalB</a:t>
            </a:r>
            <a:r>
              <a:rPr lang="tr-TR" sz="1600" dirty="0"/>
              <a:t>(</a:t>
            </a:r>
            <a:r>
              <a:rPr lang="tr-TR" sz="1600" dirty="0" err="1"/>
              <a:t>semaphore</a:t>
            </a:r>
            <a:r>
              <a:rPr lang="tr-TR" sz="1600" dirty="0"/>
              <a:t> s)</a:t>
            </a:r>
          </a:p>
          <a:p>
            <a:r>
              <a:rPr lang="tr-TR" sz="1600" dirty="0"/>
              <a:t>{</a:t>
            </a:r>
          </a:p>
          <a:p>
            <a:r>
              <a:rPr lang="tr-TR" sz="1600" b="1" dirty="0" smtClean="0"/>
              <a:t>	</a:t>
            </a:r>
            <a:r>
              <a:rPr lang="tr-TR" sz="1600" b="1" dirty="0" err="1" smtClean="0"/>
              <a:t>if</a:t>
            </a:r>
            <a:r>
              <a:rPr lang="tr-TR" sz="1600" b="1" dirty="0" smtClean="0"/>
              <a:t> </a:t>
            </a:r>
            <a:r>
              <a:rPr lang="tr-TR" sz="1600" dirty="0"/>
              <a:t>(</a:t>
            </a:r>
            <a:r>
              <a:rPr lang="tr-TR" sz="1600" dirty="0" err="1"/>
              <a:t>s.queue</a:t>
            </a:r>
            <a:r>
              <a:rPr lang="tr-TR" sz="1600" dirty="0"/>
              <a:t> </a:t>
            </a:r>
            <a:r>
              <a:rPr lang="tr-TR" sz="1600" dirty="0" smtClean="0"/>
              <a:t>is </a:t>
            </a:r>
            <a:r>
              <a:rPr lang="tr-TR" sz="1600" dirty="0" err="1" smtClean="0"/>
              <a:t>empty</a:t>
            </a:r>
            <a:r>
              <a:rPr lang="tr-TR" sz="1600" dirty="0" smtClean="0"/>
              <a:t>())</a:t>
            </a:r>
            <a:endParaRPr lang="tr-TR" sz="1600" dirty="0"/>
          </a:p>
          <a:p>
            <a:r>
              <a:rPr lang="tr-TR" sz="1600" dirty="0" smtClean="0"/>
              <a:t>		</a:t>
            </a:r>
            <a:r>
              <a:rPr lang="tr-TR" sz="1600" dirty="0" err="1" smtClean="0"/>
              <a:t>s.value</a:t>
            </a:r>
            <a:r>
              <a:rPr lang="tr-TR" sz="1600" dirty="0" smtClean="0"/>
              <a:t> </a:t>
            </a:r>
            <a:r>
              <a:rPr lang="tr-TR" sz="1600" dirty="0"/>
              <a:t>= </a:t>
            </a:r>
            <a:r>
              <a:rPr lang="tr-TR" sz="1600" dirty="0" err="1"/>
              <a:t>one</a:t>
            </a:r>
            <a:r>
              <a:rPr lang="tr-TR" sz="1600" dirty="0"/>
              <a:t>;</a:t>
            </a:r>
          </a:p>
          <a:p>
            <a:r>
              <a:rPr lang="tr-TR" sz="1600" b="1" dirty="0" smtClean="0"/>
              <a:t>	else </a:t>
            </a:r>
            <a:r>
              <a:rPr lang="tr-TR" sz="1600" dirty="0"/>
              <a:t>{</a:t>
            </a:r>
          </a:p>
          <a:p>
            <a:r>
              <a:rPr lang="tr-TR" sz="1600" dirty="0" smtClean="0"/>
              <a:t>		</a:t>
            </a:r>
            <a:r>
              <a:rPr lang="en-US" sz="1600" dirty="0" smtClean="0"/>
              <a:t>/* </a:t>
            </a:r>
            <a:r>
              <a:rPr lang="en-US" sz="1600" dirty="0" err="1" smtClean="0"/>
              <a:t>s.queue</a:t>
            </a:r>
            <a:r>
              <a:rPr lang="en-US" sz="1600" dirty="0" smtClean="0"/>
              <a:t> </a:t>
            </a:r>
            <a:r>
              <a:rPr lang="tr-TR" sz="1600" dirty="0" smtClean="0"/>
              <a:t>dan bir P görevi silinir</a:t>
            </a:r>
            <a:r>
              <a:rPr lang="en-US" sz="1600" dirty="0" smtClean="0"/>
              <a:t>*/;</a:t>
            </a:r>
            <a:endParaRPr lang="en-US" sz="1600" dirty="0"/>
          </a:p>
          <a:p>
            <a:r>
              <a:rPr lang="tr-TR" sz="1600" dirty="0" smtClean="0"/>
              <a:t>		</a:t>
            </a:r>
            <a:r>
              <a:rPr lang="en-US" sz="1600" dirty="0" smtClean="0"/>
              <a:t>/* </a:t>
            </a:r>
            <a:r>
              <a:rPr lang="tr-TR" sz="1600" dirty="0" smtClean="0"/>
              <a:t>hazır görevler kuyruğuna yerleştirilir</a:t>
            </a:r>
            <a:r>
              <a:rPr lang="en-US" sz="1600" dirty="0" smtClean="0"/>
              <a:t>*/;</a:t>
            </a:r>
            <a:endParaRPr lang="en-US" sz="1600" dirty="0"/>
          </a:p>
          <a:p>
            <a:r>
              <a:rPr lang="tr-TR" sz="1600" dirty="0" smtClean="0"/>
              <a:t>	}</a:t>
            </a:r>
            <a:endParaRPr lang="tr-TR" sz="1600" dirty="0"/>
          </a:p>
          <a:p>
            <a:r>
              <a:rPr lang="tr-T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382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Mürekkep 14"/>
              <p14:cNvContentPartPr/>
              <p14:nvPr/>
            </p14:nvContentPartPr>
            <p14:xfrm>
              <a:off x="8293994" y="1674218"/>
              <a:ext cx="360" cy="360"/>
            </p14:xfrm>
          </p:contentPart>
        </mc:Choice>
        <mc:Fallback xmlns="">
          <p:pic>
            <p:nvPicPr>
              <p:cNvPr id="15" name="Mürekkep 1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2114" y="1662338"/>
                <a:ext cx="24120" cy="241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Dikdörtgen 1"/>
          <p:cNvSpPr/>
          <p:nvPr/>
        </p:nvSpPr>
        <p:spPr>
          <a:xfrm>
            <a:off x="1403648" y="1166843"/>
            <a:ext cx="619268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tr-TR" dirty="0" smtClean="0"/>
          </a:p>
          <a:p>
            <a:r>
              <a:rPr lang="tr-TR" dirty="0" smtClean="0"/>
              <a:t>/* </a:t>
            </a:r>
            <a:r>
              <a:rPr lang="tr-TR" b="1" dirty="0"/>
              <a:t>program </a:t>
            </a:r>
            <a:r>
              <a:rPr lang="tr-TR" dirty="0" err="1"/>
              <a:t>mutualexclusion</a:t>
            </a:r>
            <a:r>
              <a:rPr lang="tr-TR" dirty="0"/>
              <a:t> */</a:t>
            </a:r>
          </a:p>
          <a:p>
            <a:r>
              <a:rPr lang="en-US" b="1" dirty="0" err="1"/>
              <a:t>const</a:t>
            </a:r>
            <a:r>
              <a:rPr lang="en-US" b="1" dirty="0"/>
              <a:t>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dirty="0"/>
              <a:t>n = /* </a:t>
            </a:r>
            <a:r>
              <a:rPr lang="tr-TR" dirty="0" smtClean="0"/>
              <a:t>görev sayısı</a:t>
            </a:r>
            <a:r>
              <a:rPr lang="en-US" dirty="0" smtClean="0"/>
              <a:t>*/;</a:t>
            </a:r>
            <a:endParaRPr lang="en-US" dirty="0"/>
          </a:p>
          <a:p>
            <a:r>
              <a:rPr lang="tr-TR" b="1" dirty="0" err="1"/>
              <a:t>semaphore</a:t>
            </a:r>
            <a:r>
              <a:rPr lang="tr-TR" b="1" dirty="0"/>
              <a:t> </a:t>
            </a:r>
            <a:r>
              <a:rPr lang="tr-TR" dirty="0"/>
              <a:t>s = 1;</a:t>
            </a:r>
          </a:p>
          <a:p>
            <a:r>
              <a:rPr lang="tr-TR" dirty="0" err="1"/>
              <a:t>void</a:t>
            </a:r>
            <a:r>
              <a:rPr lang="tr-TR" dirty="0"/>
              <a:t> P( </a:t>
            </a:r>
            <a:r>
              <a:rPr lang="tr-TR" b="1" dirty="0" err="1"/>
              <a:t>int</a:t>
            </a:r>
            <a:r>
              <a:rPr lang="tr-TR" b="1" dirty="0"/>
              <a:t> </a:t>
            </a:r>
            <a:r>
              <a:rPr lang="tr-TR" dirty="0"/>
              <a:t>i)</a:t>
            </a:r>
          </a:p>
          <a:p>
            <a:r>
              <a:rPr lang="tr-TR" dirty="0"/>
              <a:t>{</a:t>
            </a:r>
          </a:p>
          <a:p>
            <a:r>
              <a:rPr lang="tr-TR" b="1" dirty="0" smtClean="0"/>
              <a:t>	</a:t>
            </a:r>
            <a:r>
              <a:rPr lang="tr-TR" b="1" dirty="0" err="1" smtClean="0"/>
              <a:t>while</a:t>
            </a:r>
            <a:r>
              <a:rPr lang="tr-TR" b="1" dirty="0" smtClean="0"/>
              <a:t> </a:t>
            </a:r>
            <a:r>
              <a:rPr lang="tr-TR" dirty="0"/>
              <a:t>(</a:t>
            </a:r>
            <a:r>
              <a:rPr lang="tr-TR" dirty="0" err="1"/>
              <a:t>true</a:t>
            </a:r>
            <a:r>
              <a:rPr lang="tr-TR" dirty="0"/>
              <a:t>) {</a:t>
            </a:r>
          </a:p>
          <a:p>
            <a:r>
              <a:rPr lang="tr-TR" dirty="0" smtClean="0"/>
              <a:t>		</a:t>
            </a:r>
            <a:r>
              <a:rPr lang="tr-TR" dirty="0" err="1" smtClean="0"/>
              <a:t>semWait</a:t>
            </a:r>
            <a:r>
              <a:rPr lang="tr-TR" dirty="0" smtClean="0"/>
              <a:t>(s</a:t>
            </a:r>
            <a:r>
              <a:rPr lang="tr-TR" dirty="0"/>
              <a:t>);</a:t>
            </a:r>
          </a:p>
          <a:p>
            <a:r>
              <a:rPr lang="tr-TR" dirty="0" smtClean="0"/>
              <a:t>		/* kritik bölge*/;</a:t>
            </a:r>
            <a:endParaRPr lang="tr-TR" dirty="0"/>
          </a:p>
          <a:p>
            <a:r>
              <a:rPr lang="tr-TR" dirty="0" smtClean="0"/>
              <a:t>		</a:t>
            </a:r>
            <a:r>
              <a:rPr lang="tr-TR" dirty="0" err="1" smtClean="0"/>
              <a:t>semSignal</a:t>
            </a:r>
            <a:r>
              <a:rPr lang="tr-TR" dirty="0" smtClean="0"/>
              <a:t>(s</a:t>
            </a:r>
            <a:r>
              <a:rPr lang="tr-TR" dirty="0"/>
              <a:t>);</a:t>
            </a:r>
          </a:p>
          <a:p>
            <a:r>
              <a:rPr lang="tr-TR" dirty="0" smtClean="0"/>
              <a:t>		/* diğer komutlar </a:t>
            </a:r>
            <a:r>
              <a:rPr lang="tr-TR" dirty="0"/>
              <a:t>*/;</a:t>
            </a:r>
          </a:p>
          <a:p>
            <a:r>
              <a:rPr lang="tr-TR" dirty="0" smtClean="0"/>
              <a:t>	}</a:t>
            </a:r>
            <a:endParaRPr lang="tr-TR" dirty="0"/>
          </a:p>
          <a:p>
            <a:r>
              <a:rPr lang="tr-TR" dirty="0"/>
              <a:t>}</a:t>
            </a:r>
          </a:p>
          <a:p>
            <a:r>
              <a:rPr lang="tr-TR" dirty="0" err="1"/>
              <a:t>void</a:t>
            </a:r>
            <a:r>
              <a:rPr lang="tr-TR" dirty="0"/>
              <a:t> main()</a:t>
            </a:r>
          </a:p>
          <a:p>
            <a:r>
              <a:rPr lang="tr-TR" dirty="0"/>
              <a:t>{</a:t>
            </a:r>
          </a:p>
          <a:p>
            <a:r>
              <a:rPr lang="tr-TR" b="1" dirty="0" smtClean="0"/>
              <a:t>	</a:t>
            </a:r>
            <a:r>
              <a:rPr lang="tr-TR" b="1" dirty="0" err="1" smtClean="0"/>
              <a:t>parbegin</a:t>
            </a:r>
            <a:r>
              <a:rPr lang="tr-TR" b="1" dirty="0" smtClean="0"/>
              <a:t> </a:t>
            </a:r>
            <a:r>
              <a:rPr lang="tr-TR" dirty="0"/>
              <a:t>(P(1), P(2),…, P(n));</a:t>
            </a:r>
          </a:p>
          <a:p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91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SEMAFORLAR</a:t>
            </a:r>
            <a:endParaRPr lang="tr-T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4" t="29353" r="36986" b="53177"/>
          <a:stretch/>
        </p:blipFill>
        <p:spPr bwMode="auto">
          <a:xfrm>
            <a:off x="3160403" y="2060848"/>
            <a:ext cx="4006264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" t="6982" r="44861" b="3324"/>
          <a:stretch/>
        </p:blipFill>
        <p:spPr bwMode="auto">
          <a:xfrm>
            <a:off x="323528" y="216676"/>
            <a:ext cx="6984776" cy="6350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Mürekkep 10"/>
              <p14:cNvContentPartPr/>
              <p14:nvPr/>
            </p14:nvContentPartPr>
            <p14:xfrm>
              <a:off x="8203994" y="1004258"/>
              <a:ext cx="13320" cy="0"/>
            </p14:xfrm>
          </p:contentPart>
        </mc:Choice>
        <mc:Fallback xmlns="">
          <p:pic>
            <p:nvPicPr>
              <p:cNvPr id="11" name="Mürekkep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1332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945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46064"/>
            <a:ext cx="3816424" cy="6640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534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052736"/>
            <a:ext cx="6148908" cy="5084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488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914" y="908720"/>
            <a:ext cx="6252640" cy="2169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793" y="3717032"/>
            <a:ext cx="4536504" cy="225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Mürekkep 8"/>
              <p14:cNvContentPartPr/>
              <p14:nvPr/>
            </p14:nvContentPartPr>
            <p14:xfrm>
              <a:off x="7959194" y="3812258"/>
              <a:ext cx="360" cy="360"/>
            </p14:xfrm>
          </p:contentPart>
        </mc:Choice>
        <mc:Fallback xmlns="">
          <p:pic>
            <p:nvPicPr>
              <p:cNvPr id="9" name="Mürekkep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47314" y="3800378"/>
                <a:ext cx="24120" cy="241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Metin kutusu 1"/>
          <p:cNvSpPr txBox="1"/>
          <p:nvPr/>
        </p:nvSpPr>
        <p:spPr>
          <a:xfrm>
            <a:off x="3335436" y="3006244"/>
            <a:ext cx="2149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Üretici Tüketici yapısı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2703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/>
          <p:cNvSpPr>
            <a:spLocks noGrp="1"/>
          </p:cNvSpPr>
          <p:nvPr>
            <p:ph type="title"/>
          </p:nvPr>
        </p:nvSpPr>
        <p:spPr>
          <a:xfrm>
            <a:off x="502808" y="116632"/>
            <a:ext cx="8229600" cy="576064"/>
          </a:xfrm>
        </p:spPr>
        <p:txBody>
          <a:bodyPr>
            <a:noAutofit/>
          </a:bodyPr>
          <a:lstStyle/>
          <a:p>
            <a:r>
              <a:rPr lang="tr-TR" sz="2800" dirty="0" smtClean="0"/>
              <a:t>İkili Semafor ile Üretici Tüketici Problemi Çözümü</a:t>
            </a:r>
            <a:endParaRPr lang="tr-TR" sz="2800" dirty="0"/>
          </a:p>
        </p:txBody>
      </p:sp>
      <p:sp>
        <p:nvSpPr>
          <p:cNvPr id="2" name="Dikdörtgen 1"/>
          <p:cNvSpPr/>
          <p:nvPr/>
        </p:nvSpPr>
        <p:spPr>
          <a:xfrm>
            <a:off x="179760" y="476672"/>
            <a:ext cx="5256336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dirty="0"/>
              <a:t>/* </a:t>
            </a:r>
            <a:r>
              <a:rPr lang="tr-TR" sz="1400" b="1" dirty="0"/>
              <a:t>program </a:t>
            </a:r>
            <a:r>
              <a:rPr lang="tr-TR" sz="1400" dirty="0" err="1"/>
              <a:t>producerconsumer</a:t>
            </a:r>
            <a:r>
              <a:rPr lang="tr-TR" sz="1400" dirty="0"/>
              <a:t> */</a:t>
            </a:r>
          </a:p>
          <a:p>
            <a:r>
              <a:rPr lang="tr-TR" sz="1400" b="1" dirty="0" smtClean="0"/>
              <a:t>	</a:t>
            </a:r>
            <a:r>
              <a:rPr lang="tr-TR" sz="1400" b="1" dirty="0" err="1" smtClean="0"/>
              <a:t>int</a:t>
            </a:r>
            <a:r>
              <a:rPr lang="tr-TR" sz="1400" b="1" dirty="0" smtClean="0"/>
              <a:t> </a:t>
            </a:r>
            <a:r>
              <a:rPr lang="tr-TR" sz="1400" dirty="0"/>
              <a:t>n;</a:t>
            </a:r>
          </a:p>
          <a:p>
            <a:r>
              <a:rPr lang="tr-TR" sz="1400" dirty="0" smtClean="0"/>
              <a:t>	</a:t>
            </a:r>
            <a:r>
              <a:rPr lang="en-US" sz="1400" dirty="0" err="1" smtClean="0"/>
              <a:t>binary_semaphore</a:t>
            </a:r>
            <a:r>
              <a:rPr lang="en-US" sz="1400" dirty="0" smtClean="0"/>
              <a:t> </a:t>
            </a:r>
            <a:r>
              <a:rPr lang="en-US" sz="1400" dirty="0"/>
              <a:t>s = 1, delay = 0;</a:t>
            </a:r>
          </a:p>
          <a:p>
            <a:r>
              <a:rPr lang="tr-TR" sz="1400" b="1" dirty="0" smtClean="0"/>
              <a:t>	</a:t>
            </a:r>
            <a:r>
              <a:rPr lang="tr-TR" sz="1400" b="1" dirty="0" err="1" smtClean="0"/>
              <a:t>void</a:t>
            </a:r>
            <a:r>
              <a:rPr lang="tr-TR" sz="1400" b="1" dirty="0" smtClean="0"/>
              <a:t> </a:t>
            </a:r>
            <a:r>
              <a:rPr lang="tr-TR" sz="1400" dirty="0" err="1"/>
              <a:t>producer</a:t>
            </a:r>
            <a:r>
              <a:rPr lang="tr-TR" sz="1400" dirty="0"/>
              <a:t>()</a:t>
            </a:r>
          </a:p>
          <a:p>
            <a:r>
              <a:rPr lang="tr-TR" sz="1400" dirty="0" smtClean="0"/>
              <a:t>	{</a:t>
            </a:r>
            <a:endParaRPr lang="tr-TR" sz="1400" dirty="0"/>
          </a:p>
          <a:p>
            <a:r>
              <a:rPr lang="tr-TR" sz="1400" b="1" dirty="0" smtClean="0"/>
              <a:t>		</a:t>
            </a:r>
            <a:r>
              <a:rPr lang="tr-TR" sz="1400" b="1" dirty="0" err="1" smtClean="0"/>
              <a:t>while</a:t>
            </a:r>
            <a:r>
              <a:rPr lang="tr-TR" sz="1400" b="1" dirty="0" smtClean="0"/>
              <a:t> </a:t>
            </a:r>
            <a:r>
              <a:rPr lang="tr-TR" sz="1400" dirty="0"/>
              <a:t>(</a:t>
            </a:r>
            <a:r>
              <a:rPr lang="tr-TR" sz="1400" dirty="0" err="1"/>
              <a:t>true</a:t>
            </a:r>
            <a:r>
              <a:rPr lang="tr-TR" sz="1400" dirty="0"/>
              <a:t>) {</a:t>
            </a:r>
          </a:p>
          <a:p>
            <a:r>
              <a:rPr lang="tr-TR" sz="1400" dirty="0" smtClean="0"/>
              <a:t>			</a:t>
            </a:r>
            <a:r>
              <a:rPr lang="tr-TR" sz="1400" dirty="0" err="1" smtClean="0"/>
              <a:t>produce</a:t>
            </a:r>
            <a:r>
              <a:rPr lang="tr-TR" sz="1400" dirty="0"/>
              <a:t>();</a:t>
            </a:r>
          </a:p>
          <a:p>
            <a:r>
              <a:rPr lang="tr-TR" sz="1400" dirty="0" smtClean="0"/>
              <a:t>			</a:t>
            </a:r>
            <a:r>
              <a:rPr lang="tr-TR" sz="1400" dirty="0" err="1" smtClean="0"/>
              <a:t>semWaitB</a:t>
            </a:r>
            <a:r>
              <a:rPr lang="tr-TR" sz="1400" dirty="0" smtClean="0"/>
              <a:t>(s</a:t>
            </a:r>
            <a:r>
              <a:rPr lang="tr-TR" sz="1400" dirty="0"/>
              <a:t>);</a:t>
            </a:r>
          </a:p>
          <a:p>
            <a:r>
              <a:rPr lang="tr-TR" sz="1400" dirty="0" smtClean="0"/>
              <a:t>			</a:t>
            </a:r>
            <a:r>
              <a:rPr lang="tr-TR" sz="1400" dirty="0" err="1" smtClean="0"/>
              <a:t>append</a:t>
            </a:r>
            <a:r>
              <a:rPr lang="tr-TR" sz="1400" dirty="0"/>
              <a:t>();</a:t>
            </a:r>
          </a:p>
          <a:p>
            <a:r>
              <a:rPr lang="tr-TR" sz="1400" dirty="0" smtClean="0"/>
              <a:t>			n</a:t>
            </a:r>
            <a:r>
              <a:rPr lang="tr-TR" sz="1400" dirty="0"/>
              <a:t>++;</a:t>
            </a:r>
          </a:p>
          <a:p>
            <a:r>
              <a:rPr lang="tr-TR" sz="1400" dirty="0" smtClean="0"/>
              <a:t>			</a:t>
            </a:r>
            <a:r>
              <a:rPr lang="tr-TR" sz="1400" dirty="0" err="1" smtClean="0"/>
              <a:t>if</a:t>
            </a:r>
            <a:r>
              <a:rPr lang="tr-TR" sz="1400" dirty="0" smtClean="0"/>
              <a:t> </a:t>
            </a:r>
            <a:r>
              <a:rPr lang="tr-TR" sz="1400" dirty="0"/>
              <a:t>(n==1) </a:t>
            </a:r>
            <a:r>
              <a:rPr lang="tr-TR" sz="1400" dirty="0" err="1"/>
              <a:t>semSignalB</a:t>
            </a:r>
            <a:r>
              <a:rPr lang="tr-TR" sz="1400" dirty="0"/>
              <a:t>(</a:t>
            </a:r>
            <a:r>
              <a:rPr lang="tr-TR" sz="1400" dirty="0" err="1"/>
              <a:t>delay</a:t>
            </a:r>
            <a:r>
              <a:rPr lang="tr-TR" sz="1400" dirty="0"/>
              <a:t>);</a:t>
            </a:r>
          </a:p>
          <a:p>
            <a:r>
              <a:rPr lang="tr-TR" sz="1400" dirty="0" smtClean="0"/>
              <a:t>			</a:t>
            </a:r>
            <a:r>
              <a:rPr lang="tr-TR" sz="1400" dirty="0" err="1" smtClean="0"/>
              <a:t>semSignalB</a:t>
            </a:r>
            <a:r>
              <a:rPr lang="tr-TR" sz="1400" dirty="0" smtClean="0"/>
              <a:t>(s</a:t>
            </a:r>
            <a:r>
              <a:rPr lang="tr-TR" sz="1400" dirty="0"/>
              <a:t>);</a:t>
            </a:r>
          </a:p>
          <a:p>
            <a:r>
              <a:rPr lang="tr-TR" sz="1400" dirty="0" smtClean="0"/>
              <a:t>		}</a:t>
            </a:r>
            <a:endParaRPr lang="tr-TR" sz="1400" dirty="0"/>
          </a:p>
          <a:p>
            <a:r>
              <a:rPr lang="tr-TR" sz="1400" dirty="0" smtClean="0"/>
              <a:t>	}</a:t>
            </a:r>
            <a:endParaRPr lang="tr-TR" sz="1400" dirty="0"/>
          </a:p>
          <a:p>
            <a:r>
              <a:rPr lang="tr-TR" sz="1400" b="1" dirty="0" smtClean="0"/>
              <a:t>	</a:t>
            </a:r>
            <a:r>
              <a:rPr lang="tr-TR" sz="1400" b="1" dirty="0" err="1" smtClean="0"/>
              <a:t>void</a:t>
            </a:r>
            <a:r>
              <a:rPr lang="tr-TR" sz="1400" b="1" dirty="0" smtClean="0"/>
              <a:t> </a:t>
            </a:r>
            <a:r>
              <a:rPr lang="tr-TR" sz="1400" dirty="0" err="1"/>
              <a:t>consumer</a:t>
            </a:r>
            <a:r>
              <a:rPr lang="tr-TR" sz="1400" dirty="0"/>
              <a:t>()</a:t>
            </a:r>
          </a:p>
          <a:p>
            <a:r>
              <a:rPr lang="tr-TR" sz="1400" dirty="0" smtClean="0"/>
              <a:t>	{</a:t>
            </a:r>
            <a:endParaRPr lang="tr-TR" sz="1400" dirty="0"/>
          </a:p>
          <a:p>
            <a:r>
              <a:rPr lang="tr-TR" sz="1400" b="1" dirty="0" smtClean="0"/>
              <a:t>		</a:t>
            </a:r>
            <a:r>
              <a:rPr lang="tr-TR" sz="1400" b="1" dirty="0" err="1" smtClean="0"/>
              <a:t>int</a:t>
            </a:r>
            <a:r>
              <a:rPr lang="tr-TR" sz="1400" b="1" dirty="0" smtClean="0"/>
              <a:t> </a:t>
            </a:r>
            <a:r>
              <a:rPr lang="tr-TR" sz="1400" dirty="0"/>
              <a:t>m; /* a </a:t>
            </a:r>
            <a:r>
              <a:rPr lang="tr-TR" sz="1400" dirty="0" err="1"/>
              <a:t>local</a:t>
            </a:r>
            <a:r>
              <a:rPr lang="tr-TR" sz="1400" dirty="0"/>
              <a:t> </a:t>
            </a:r>
            <a:r>
              <a:rPr lang="tr-TR" sz="1400" dirty="0" err="1"/>
              <a:t>variable</a:t>
            </a:r>
            <a:r>
              <a:rPr lang="tr-TR" sz="1400" dirty="0"/>
              <a:t> */</a:t>
            </a:r>
          </a:p>
          <a:p>
            <a:r>
              <a:rPr lang="tr-TR" sz="1400" dirty="0" smtClean="0"/>
              <a:t>		</a:t>
            </a:r>
            <a:r>
              <a:rPr lang="tr-TR" sz="1400" dirty="0" err="1" smtClean="0"/>
              <a:t>semWaitB</a:t>
            </a:r>
            <a:r>
              <a:rPr lang="tr-TR" sz="1400" dirty="0" smtClean="0"/>
              <a:t>(</a:t>
            </a:r>
            <a:r>
              <a:rPr lang="tr-TR" sz="1400" dirty="0" err="1" smtClean="0"/>
              <a:t>delay</a:t>
            </a:r>
            <a:r>
              <a:rPr lang="tr-TR" sz="1400" dirty="0"/>
              <a:t>);</a:t>
            </a:r>
          </a:p>
          <a:p>
            <a:r>
              <a:rPr lang="tr-TR" sz="1400" b="1" dirty="0" smtClean="0"/>
              <a:t>		</a:t>
            </a:r>
            <a:r>
              <a:rPr lang="tr-TR" sz="1400" b="1" dirty="0" err="1" smtClean="0"/>
              <a:t>while</a:t>
            </a:r>
            <a:r>
              <a:rPr lang="tr-TR" sz="1400" b="1" dirty="0" smtClean="0"/>
              <a:t> </a:t>
            </a:r>
            <a:r>
              <a:rPr lang="tr-TR" sz="1400" dirty="0"/>
              <a:t>(</a:t>
            </a:r>
            <a:r>
              <a:rPr lang="tr-TR" sz="1400" dirty="0" err="1"/>
              <a:t>true</a:t>
            </a:r>
            <a:r>
              <a:rPr lang="tr-TR" sz="1400" dirty="0"/>
              <a:t>) {</a:t>
            </a:r>
          </a:p>
          <a:p>
            <a:r>
              <a:rPr lang="tr-TR" sz="1400" dirty="0" smtClean="0"/>
              <a:t>			</a:t>
            </a:r>
            <a:r>
              <a:rPr lang="tr-TR" sz="1400" dirty="0" err="1" smtClean="0"/>
              <a:t>semWaitB</a:t>
            </a:r>
            <a:r>
              <a:rPr lang="tr-TR" sz="1400" dirty="0" smtClean="0"/>
              <a:t>(s</a:t>
            </a:r>
            <a:r>
              <a:rPr lang="tr-TR" sz="1400" dirty="0"/>
              <a:t>);</a:t>
            </a:r>
          </a:p>
          <a:p>
            <a:r>
              <a:rPr lang="tr-TR" sz="1400" dirty="0" smtClean="0"/>
              <a:t>			</a:t>
            </a:r>
            <a:r>
              <a:rPr lang="tr-TR" sz="1400" dirty="0" err="1" smtClean="0"/>
              <a:t>take</a:t>
            </a:r>
            <a:r>
              <a:rPr lang="tr-TR" sz="1400" dirty="0"/>
              <a:t>();</a:t>
            </a:r>
          </a:p>
          <a:p>
            <a:r>
              <a:rPr lang="tr-TR" sz="1400" dirty="0" smtClean="0"/>
              <a:t>			n-</a:t>
            </a:r>
            <a:r>
              <a:rPr lang="tr-TR" sz="1400" dirty="0"/>
              <a:t>-;</a:t>
            </a:r>
          </a:p>
          <a:p>
            <a:r>
              <a:rPr lang="tr-TR" sz="1400" dirty="0" smtClean="0"/>
              <a:t>			m </a:t>
            </a:r>
            <a:r>
              <a:rPr lang="tr-TR" sz="1400" dirty="0"/>
              <a:t>= n;</a:t>
            </a:r>
          </a:p>
          <a:p>
            <a:r>
              <a:rPr lang="tr-TR" sz="1400" dirty="0" smtClean="0"/>
              <a:t>			</a:t>
            </a:r>
            <a:r>
              <a:rPr lang="tr-TR" sz="1400" dirty="0" err="1" smtClean="0"/>
              <a:t>semSignalB</a:t>
            </a:r>
            <a:r>
              <a:rPr lang="tr-TR" sz="1400" dirty="0" smtClean="0"/>
              <a:t>(s</a:t>
            </a:r>
            <a:r>
              <a:rPr lang="tr-TR" sz="1400" dirty="0"/>
              <a:t>);</a:t>
            </a:r>
          </a:p>
          <a:p>
            <a:r>
              <a:rPr lang="tr-TR" sz="1400" dirty="0" smtClean="0"/>
              <a:t>			</a:t>
            </a:r>
            <a:r>
              <a:rPr lang="tr-TR" sz="1400" dirty="0" err="1" smtClean="0"/>
              <a:t>consume</a:t>
            </a:r>
            <a:r>
              <a:rPr lang="tr-TR" sz="1400" dirty="0"/>
              <a:t>();</a:t>
            </a:r>
          </a:p>
          <a:p>
            <a:r>
              <a:rPr lang="tr-TR" sz="1400" b="1" dirty="0" smtClean="0"/>
              <a:t>			</a:t>
            </a:r>
            <a:r>
              <a:rPr lang="tr-TR" sz="1400" b="1" dirty="0" err="1" smtClean="0"/>
              <a:t>if</a:t>
            </a:r>
            <a:r>
              <a:rPr lang="tr-TR" sz="1400" b="1" dirty="0" smtClean="0"/>
              <a:t> </a:t>
            </a:r>
            <a:r>
              <a:rPr lang="tr-TR" sz="1400" dirty="0"/>
              <a:t>(m==0) </a:t>
            </a:r>
            <a:r>
              <a:rPr lang="tr-TR" sz="1400" dirty="0" err="1"/>
              <a:t>semWaitB</a:t>
            </a:r>
            <a:r>
              <a:rPr lang="tr-TR" sz="1400" dirty="0"/>
              <a:t>(</a:t>
            </a:r>
            <a:r>
              <a:rPr lang="tr-TR" sz="1400" dirty="0" err="1"/>
              <a:t>delay</a:t>
            </a:r>
            <a:r>
              <a:rPr lang="tr-TR" sz="1400" dirty="0"/>
              <a:t>);</a:t>
            </a:r>
          </a:p>
          <a:p>
            <a:r>
              <a:rPr lang="tr-TR" sz="1400" dirty="0" smtClean="0"/>
              <a:t>		}</a:t>
            </a:r>
            <a:endParaRPr lang="tr-TR" sz="1400" dirty="0"/>
          </a:p>
          <a:p>
            <a:r>
              <a:rPr lang="tr-TR" sz="1400" dirty="0" smtClean="0"/>
              <a:t>	}</a:t>
            </a:r>
            <a:endParaRPr lang="tr-TR" sz="1400" dirty="0"/>
          </a:p>
          <a:p>
            <a:r>
              <a:rPr lang="tr-TR" sz="1400" b="1" dirty="0" err="1"/>
              <a:t>void</a:t>
            </a:r>
            <a:r>
              <a:rPr lang="tr-TR" sz="1400" b="1" dirty="0"/>
              <a:t> </a:t>
            </a:r>
            <a:r>
              <a:rPr lang="tr-TR" sz="1400" dirty="0"/>
              <a:t>main()</a:t>
            </a:r>
          </a:p>
          <a:p>
            <a:r>
              <a:rPr lang="tr-TR" sz="1400" dirty="0"/>
              <a:t>{</a:t>
            </a:r>
          </a:p>
          <a:p>
            <a:r>
              <a:rPr lang="tr-TR" sz="1400" dirty="0" smtClean="0"/>
              <a:t>	n </a:t>
            </a:r>
            <a:r>
              <a:rPr lang="tr-TR" sz="1400" dirty="0"/>
              <a:t>= 0;</a:t>
            </a:r>
          </a:p>
          <a:p>
            <a:r>
              <a:rPr lang="tr-TR" sz="1400" b="1" dirty="0" smtClean="0"/>
              <a:t>	</a:t>
            </a:r>
            <a:r>
              <a:rPr lang="tr-TR" sz="1400" b="1" dirty="0" err="1" smtClean="0"/>
              <a:t>parbegin</a:t>
            </a:r>
            <a:r>
              <a:rPr lang="tr-TR" sz="1400" b="1" dirty="0" smtClean="0"/>
              <a:t> </a:t>
            </a:r>
            <a:r>
              <a:rPr lang="tr-TR" sz="1400" dirty="0"/>
              <a:t>(</a:t>
            </a:r>
            <a:r>
              <a:rPr lang="tr-TR" sz="1400" dirty="0" err="1"/>
              <a:t>producer</a:t>
            </a:r>
            <a:r>
              <a:rPr lang="tr-TR" sz="1400" dirty="0"/>
              <a:t>, </a:t>
            </a:r>
            <a:r>
              <a:rPr lang="tr-TR" sz="1400" dirty="0" err="1"/>
              <a:t>consumer</a:t>
            </a:r>
            <a:r>
              <a:rPr lang="tr-TR" sz="1400" dirty="0"/>
              <a:t>);</a:t>
            </a:r>
          </a:p>
          <a:p>
            <a:r>
              <a:rPr lang="tr-TR" sz="1400" dirty="0"/>
              <a:t>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620688"/>
            <a:ext cx="8242300" cy="571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4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50" y="1371600"/>
            <a:ext cx="6088212" cy="5009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499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MONITORLER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Semaforlar karşılıklı </a:t>
            </a:r>
            <a:r>
              <a:rPr lang="tr-TR" dirty="0" smtClean="0"/>
              <a:t>dışlama </a:t>
            </a:r>
            <a:r>
              <a:rPr lang="tr-TR" dirty="0"/>
              <a:t>uygulamak </a:t>
            </a:r>
            <a:r>
              <a:rPr lang="tr-TR" dirty="0" smtClean="0"/>
              <a:t>ve </a:t>
            </a:r>
            <a:r>
              <a:rPr lang="tr-TR" dirty="0"/>
              <a:t>koordine </a:t>
            </a:r>
            <a:r>
              <a:rPr lang="tr-TR" dirty="0" smtClean="0"/>
              <a:t>işlemleri </a:t>
            </a:r>
            <a:r>
              <a:rPr lang="tr-TR" dirty="0"/>
              <a:t>için ilkel ama güçlü ve esnek bir araç sağlar</a:t>
            </a:r>
            <a:r>
              <a:rPr lang="tr-TR" dirty="0" smtClean="0"/>
              <a:t>.,</a:t>
            </a:r>
          </a:p>
          <a:p>
            <a:r>
              <a:rPr lang="tr-TR" dirty="0" smtClean="0"/>
              <a:t>Monitör, semafor ile eşdeğer işlevsellik sağlayan ve kontrolü daha kolay bir programlama dili yapısıdır.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132584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Message </a:t>
            </a:r>
            <a:r>
              <a:rPr lang="tr-TR" dirty="0" err="1" smtClean="0"/>
              <a:t>Passing</a:t>
            </a:r>
            <a:r>
              <a:rPr lang="tr-TR" dirty="0" smtClean="0"/>
              <a:t> – Mesaj Gönderme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n-NO" dirty="0"/>
              <a:t>Süreçler arasında mesaj gönderip, almak için </a:t>
            </a:r>
            <a:r>
              <a:rPr lang="nn-NO" b="1" i="1" dirty="0"/>
              <a:t>send ve </a:t>
            </a:r>
            <a:r>
              <a:rPr lang="nn-NO" b="1" i="1" dirty="0" smtClean="0"/>
              <a:t>receive</a:t>
            </a:r>
            <a:r>
              <a:rPr lang="tr-TR" b="1" i="1" dirty="0" smtClean="0"/>
              <a:t> </a:t>
            </a:r>
            <a:r>
              <a:rPr lang="tr-TR" dirty="0" smtClean="0"/>
              <a:t>şeklinde </a:t>
            </a:r>
            <a:r>
              <a:rPr lang="tr-TR" dirty="0"/>
              <a:t>iki sistem çağrısı bulunur. Bu çağrılar aşağıdaki </a:t>
            </a:r>
            <a:r>
              <a:rPr lang="tr-TR" dirty="0" smtClean="0"/>
              <a:t>gibi kütüphane </a:t>
            </a:r>
            <a:r>
              <a:rPr lang="tr-TR" dirty="0"/>
              <a:t>fonksiyonu olarak tanımlansınlar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b="1" i="1" dirty="0" err="1"/>
              <a:t>send</a:t>
            </a:r>
            <a:r>
              <a:rPr lang="tr-TR" b="1" i="1" dirty="0"/>
              <a:t> (</a:t>
            </a:r>
            <a:r>
              <a:rPr lang="tr-TR" b="1" i="1" dirty="0" err="1"/>
              <a:t>varış,&amp;mesaj</a:t>
            </a:r>
            <a:r>
              <a:rPr lang="tr-TR" b="1" i="1" dirty="0"/>
              <a:t>); </a:t>
            </a:r>
            <a:r>
              <a:rPr lang="tr-TR" dirty="0"/>
              <a:t>//varış ile verilmiş olan sürece </a:t>
            </a:r>
            <a:r>
              <a:rPr lang="tr-TR" dirty="0" smtClean="0"/>
              <a:t>mesajı gönderir</a:t>
            </a:r>
            <a:endParaRPr lang="tr-TR" dirty="0"/>
          </a:p>
          <a:p>
            <a:r>
              <a:rPr lang="tr-TR" b="1" i="1" dirty="0" err="1"/>
              <a:t>receive</a:t>
            </a:r>
            <a:r>
              <a:rPr lang="tr-TR" b="1" i="1" dirty="0"/>
              <a:t>(</a:t>
            </a:r>
            <a:r>
              <a:rPr lang="tr-TR" b="1" i="1" dirty="0" err="1"/>
              <a:t>kaynak,&amp;mesaj</a:t>
            </a:r>
            <a:r>
              <a:rPr lang="tr-TR" b="1" i="1" dirty="0"/>
              <a:t>);</a:t>
            </a:r>
            <a:r>
              <a:rPr lang="tr-TR" dirty="0"/>
              <a:t>//</a:t>
            </a:r>
            <a:r>
              <a:rPr lang="tr-TR" dirty="0" err="1"/>
              <a:t>kaynakdan</a:t>
            </a:r>
            <a:r>
              <a:rPr lang="tr-TR" dirty="0"/>
              <a:t> gelen mesajı alır. </a:t>
            </a:r>
            <a:r>
              <a:rPr lang="tr-TR" dirty="0" smtClean="0"/>
              <a:t>Eğer mesaj </a:t>
            </a:r>
            <a:r>
              <a:rPr lang="tr-TR" dirty="0"/>
              <a:t>yoksa gelene kadar </a:t>
            </a:r>
            <a:r>
              <a:rPr lang="tr-TR" dirty="0" err="1"/>
              <a:t>bloklanır</a:t>
            </a:r>
            <a:r>
              <a:rPr lang="tr-TR" dirty="0"/>
              <a:t> ya da bir hata kodu </a:t>
            </a:r>
            <a:r>
              <a:rPr lang="tr-TR" dirty="0" smtClean="0"/>
              <a:t>geriye çevirir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66428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Bu işlemlerde çeşitli problemler </a:t>
            </a:r>
            <a:r>
              <a:rPr lang="tr-TR" dirty="0" smtClean="0"/>
              <a:t>çıkabilir. </a:t>
            </a:r>
          </a:p>
          <a:p>
            <a:pPr marL="0" indent="0">
              <a:buNone/>
            </a:pPr>
            <a:r>
              <a:rPr lang="tr-TR" dirty="0" smtClean="0"/>
              <a:t>Örneğin</a:t>
            </a:r>
            <a:r>
              <a:rPr lang="tr-TR" dirty="0"/>
              <a:t>, mesaj gidecek olan bilgisayar ağ üzerinde başka </a:t>
            </a:r>
            <a:r>
              <a:rPr lang="tr-TR" dirty="0" smtClean="0"/>
              <a:t>bir bilgisayarda </a:t>
            </a:r>
            <a:r>
              <a:rPr lang="tr-TR" dirty="0"/>
              <a:t>ise mesaj ağda kaybolabilir. Bu yüzden </a:t>
            </a:r>
            <a:r>
              <a:rPr lang="tr-TR" dirty="0" smtClean="0"/>
              <a:t>gönderici mesaj </a:t>
            </a:r>
            <a:r>
              <a:rPr lang="tr-TR" dirty="0"/>
              <a:t>göndermeli, alıcı mesajı aldığını belirten kabul (</a:t>
            </a:r>
            <a:r>
              <a:rPr lang="tr-TR" dirty="0" err="1" smtClean="0"/>
              <a:t>ackowledge</a:t>
            </a:r>
            <a:r>
              <a:rPr lang="tr-TR" dirty="0" smtClean="0"/>
              <a:t>) mesajı </a:t>
            </a:r>
            <a:r>
              <a:rPr lang="tr-TR" dirty="0"/>
              <a:t>geriye göndermelidir. Eğer gönderici kabul mesajını belirli </a:t>
            </a:r>
            <a:r>
              <a:rPr lang="tr-TR" dirty="0" smtClean="0"/>
              <a:t>bir süre </a:t>
            </a:r>
            <a:r>
              <a:rPr lang="tr-TR" dirty="0"/>
              <a:t>alamazsa mesajı tekrar gönderir.</a:t>
            </a:r>
          </a:p>
          <a:p>
            <a:pPr marL="0" indent="0">
              <a:buNone/>
            </a:pPr>
            <a:r>
              <a:rPr lang="tr-TR" dirty="0"/>
              <a:t>Mesaj ulaşmış fakat kabul mesajı ağda kaybolmuş </a:t>
            </a:r>
            <a:r>
              <a:rPr lang="tr-TR" dirty="0" smtClean="0"/>
              <a:t>olabilir. Gönderici </a:t>
            </a:r>
            <a:r>
              <a:rPr lang="tr-TR" dirty="0"/>
              <a:t>mesajı iki kez göndermiş, alıcıda mesajı iki kez </a:t>
            </a:r>
            <a:r>
              <a:rPr lang="tr-TR" dirty="0" smtClean="0"/>
              <a:t>almış olur</a:t>
            </a:r>
            <a:r>
              <a:rPr lang="tr-TR" dirty="0"/>
              <a:t>. Bu problem mesaja sıra numarası verilerek çözülür, </a:t>
            </a:r>
            <a:r>
              <a:rPr lang="tr-TR" dirty="0" smtClean="0"/>
              <a:t>aynı numaralı </a:t>
            </a:r>
            <a:r>
              <a:rPr lang="tr-TR" dirty="0"/>
              <a:t>iki mesaj gelirse sadece biri kabul edilir.</a:t>
            </a:r>
          </a:p>
          <a:p>
            <a:pPr marL="0" indent="0">
              <a:buNone/>
            </a:pPr>
            <a:r>
              <a:rPr lang="tr-TR" dirty="0"/>
              <a:t>Bu işlemler aynı makine üzerinde olsa dahi semaforlara </a:t>
            </a:r>
            <a:r>
              <a:rPr lang="tr-TR" dirty="0" smtClean="0"/>
              <a:t>göre oldukça </a:t>
            </a:r>
            <a:r>
              <a:rPr lang="tr-TR" dirty="0"/>
              <a:t>yavaştırlar.</a:t>
            </a:r>
          </a:p>
        </p:txBody>
      </p:sp>
    </p:spTree>
    <p:extLst>
      <p:ext uri="{BB962C8B-B14F-4D97-AF65-F5344CB8AC3E}">
        <p14:creationId xmlns:p14="http://schemas.microsoft.com/office/powerpoint/2010/main" val="13622457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dirty="0"/>
              <a:t>Mesajlar alıcı tarafından alınmadığında </a:t>
            </a:r>
            <a:r>
              <a:rPr lang="tr-TR" dirty="0" err="1"/>
              <a:t>postakutusu</a:t>
            </a:r>
            <a:r>
              <a:rPr lang="tr-TR" dirty="0"/>
              <a:t> (</a:t>
            </a:r>
            <a:r>
              <a:rPr lang="tr-TR" dirty="0" err="1"/>
              <a:t>mailbox</a:t>
            </a:r>
            <a:r>
              <a:rPr lang="tr-TR" dirty="0"/>
              <a:t>) </a:t>
            </a:r>
            <a:r>
              <a:rPr lang="tr-TR" dirty="0" smtClean="0"/>
              <a:t>adı verilen </a:t>
            </a:r>
            <a:r>
              <a:rPr lang="tr-TR" dirty="0"/>
              <a:t>yapılarda depolanır. Depolanan mesajlar, alıcı </a:t>
            </a:r>
            <a:r>
              <a:rPr lang="tr-TR" dirty="0" smtClean="0"/>
              <a:t>tarafından alınır.</a:t>
            </a:r>
          </a:p>
          <a:p>
            <a:r>
              <a:rPr lang="tr-TR" dirty="0"/>
              <a:t>Mesajlaşmada, ilk önce gönderici mesajı göndermek için </a:t>
            </a:r>
            <a:r>
              <a:rPr lang="tr-TR" dirty="0" err="1"/>
              <a:t>send</a:t>
            </a:r>
            <a:r>
              <a:rPr lang="tr-TR" dirty="0" smtClean="0"/>
              <a:t>() metodunu </a:t>
            </a:r>
            <a:r>
              <a:rPr lang="tr-TR" dirty="0"/>
              <a:t>çalıştırır ve süreç </a:t>
            </a:r>
            <a:r>
              <a:rPr lang="tr-TR" dirty="0" err="1"/>
              <a:t>bloklanır</a:t>
            </a:r>
            <a:r>
              <a:rPr lang="tr-TR" dirty="0"/>
              <a:t>. </a:t>
            </a:r>
            <a:r>
              <a:rPr lang="tr-TR" dirty="0" err="1"/>
              <a:t>receive</a:t>
            </a:r>
            <a:r>
              <a:rPr lang="tr-TR" dirty="0"/>
              <a:t>() metodu bir </a:t>
            </a:r>
            <a:r>
              <a:rPr lang="tr-TR" dirty="0" smtClean="0"/>
              <a:t>alıcı tarafından </a:t>
            </a:r>
            <a:r>
              <a:rPr lang="tr-TR" dirty="0"/>
              <a:t>çalıştırıldığı anda, mesaj </a:t>
            </a:r>
            <a:r>
              <a:rPr lang="tr-TR" dirty="0" err="1"/>
              <a:t>tamponlama</a:t>
            </a:r>
            <a:r>
              <a:rPr lang="tr-TR" dirty="0"/>
              <a:t> yapılmadan </a:t>
            </a:r>
            <a:r>
              <a:rPr lang="tr-TR" dirty="0" smtClean="0"/>
              <a:t>alıcıya geçirilir</a:t>
            </a:r>
            <a:r>
              <a:rPr lang="tr-TR" dirty="0"/>
              <a:t>. Aynı şekilde, </a:t>
            </a:r>
            <a:r>
              <a:rPr lang="tr-TR" dirty="0" err="1"/>
              <a:t>receive</a:t>
            </a:r>
            <a:r>
              <a:rPr lang="tr-TR" dirty="0"/>
              <a:t>() </a:t>
            </a:r>
            <a:r>
              <a:rPr lang="tr-TR" dirty="0" err="1"/>
              <a:t>metoduda</a:t>
            </a:r>
            <a:r>
              <a:rPr lang="tr-TR" dirty="0"/>
              <a:t> mesaj yoksa </a:t>
            </a:r>
            <a:r>
              <a:rPr lang="tr-TR" dirty="0" smtClean="0"/>
              <a:t>gelene kadar </a:t>
            </a:r>
            <a:r>
              <a:rPr lang="tr-TR" dirty="0" err="1"/>
              <a:t>bloklanır</a:t>
            </a:r>
            <a:r>
              <a:rPr lang="tr-TR" dirty="0"/>
              <a:t>. Bu yönteme </a:t>
            </a:r>
            <a:r>
              <a:rPr lang="tr-TR" b="1" i="1" dirty="0"/>
              <a:t>randevu(</a:t>
            </a:r>
            <a:r>
              <a:rPr lang="tr-TR" b="1" i="1" dirty="0" err="1"/>
              <a:t>rendezvous</a:t>
            </a:r>
            <a:r>
              <a:rPr lang="tr-TR" b="1" i="1" dirty="0"/>
              <a:t>) </a:t>
            </a:r>
            <a:r>
              <a:rPr lang="tr-TR" dirty="0"/>
              <a:t>denilir.</a:t>
            </a:r>
          </a:p>
        </p:txBody>
      </p:sp>
    </p:spTree>
    <p:extLst>
      <p:ext uri="{BB962C8B-B14F-4D97-AF65-F5344CB8AC3E}">
        <p14:creationId xmlns:p14="http://schemas.microsoft.com/office/powerpoint/2010/main" val="953845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Linux Senkronizasyon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Kernel</a:t>
            </a:r>
            <a:r>
              <a:rPr lang="tr-TR" dirty="0" smtClean="0"/>
              <a:t> ver. 2.6 öncesi kısa kritik bölge uygulamalarında kesme engelleme</a:t>
            </a:r>
          </a:p>
          <a:p>
            <a:r>
              <a:rPr lang="tr-TR" dirty="0" smtClean="0"/>
              <a:t>Ver. 2.6 ve Sonra, başkasına engel olma</a:t>
            </a:r>
          </a:p>
          <a:p>
            <a:r>
              <a:rPr lang="tr-TR" dirty="0" smtClean="0"/>
              <a:t>Linux sağlar</a:t>
            </a:r>
          </a:p>
          <a:p>
            <a:pPr lvl="1"/>
            <a:r>
              <a:rPr lang="tr-TR" dirty="0" smtClean="0"/>
              <a:t>Semafor</a:t>
            </a:r>
          </a:p>
          <a:p>
            <a:pPr lvl="1"/>
            <a:r>
              <a:rPr lang="tr-TR" dirty="0" smtClean="0"/>
              <a:t>Atomik sayısal değer</a:t>
            </a:r>
          </a:p>
          <a:p>
            <a:pPr lvl="1"/>
            <a:r>
              <a:rPr lang="tr-TR" dirty="0" smtClean="0"/>
              <a:t>Okuyucu ve yazıcı versiyonları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524532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Windows Senkronizasyon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Tek işlemcili sistemlerde genel kaynaklara erişimi korumak için kesme maskeleme kullanır.</a:t>
            </a:r>
          </a:p>
          <a:p>
            <a:r>
              <a:rPr lang="tr-TR" dirty="0" smtClean="0"/>
              <a:t>Çok işlemcili sistemlerde döndürme kilidi kullanılır.</a:t>
            </a:r>
          </a:p>
          <a:p>
            <a:r>
              <a:rPr lang="tr-TR" dirty="0" smtClean="0"/>
              <a:t>Aynı zamanda </a:t>
            </a:r>
            <a:r>
              <a:rPr lang="tr-TR" dirty="0" err="1" smtClean="0"/>
              <a:t>dispatcher</a:t>
            </a:r>
            <a:r>
              <a:rPr lang="tr-TR" dirty="0" smtClean="0"/>
              <a:t>, semafor, </a:t>
            </a:r>
            <a:r>
              <a:rPr lang="tr-TR" dirty="0" err="1" smtClean="0"/>
              <a:t>timer</a:t>
            </a:r>
            <a:r>
              <a:rPr lang="tr-TR" dirty="0" smtClean="0"/>
              <a:t>, olaylar (değişken) ve </a:t>
            </a:r>
            <a:r>
              <a:rPr lang="tr-TR" dirty="0" err="1" smtClean="0"/>
              <a:t>mutex</a:t>
            </a:r>
            <a:r>
              <a:rPr lang="tr-TR" dirty="0" smtClean="0"/>
              <a:t> kullanır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0600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1145</Words>
  <Application>Microsoft Office PowerPoint</Application>
  <PresentationFormat>Ekran Gösterisi (4:3)</PresentationFormat>
  <Paragraphs>319</Paragraphs>
  <Slides>47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47</vt:i4>
      </vt:variant>
    </vt:vector>
  </HeadingPairs>
  <TitlesOfParts>
    <vt:vector size="52" baseType="lpstr">
      <vt:lpstr>Arial</vt:lpstr>
      <vt:lpstr>Calibri</vt:lpstr>
      <vt:lpstr>Times New Roman</vt:lpstr>
      <vt:lpstr>Wingdings</vt:lpstr>
      <vt:lpstr>Ofis Teması</vt:lpstr>
      <vt:lpstr>Görevler Arası İletişim(Eş Zamanlılık) IPC</vt:lpstr>
      <vt:lpstr>Konular</vt:lpstr>
      <vt:lpstr>OS Tasarımları</vt:lpstr>
      <vt:lpstr>Eş zamanlı Görevler</vt:lpstr>
      <vt:lpstr>Kaynak Paylaşımı  (Bellek Sistemi)</vt:lpstr>
      <vt:lpstr>Kaynak Paylaşımı  (Gerçek Donanım Örneği)</vt:lpstr>
      <vt:lpstr>Thread Paylaşımlı Bellek Kullanımı</vt:lpstr>
      <vt:lpstr>İletişim Ne için Yapılır?</vt:lpstr>
      <vt:lpstr>Görevler Arası İletişim</vt:lpstr>
      <vt:lpstr>Üretici Tüketici Problemi</vt:lpstr>
      <vt:lpstr>PowerPoint Sunusu</vt:lpstr>
      <vt:lpstr>Görevler Arası İletişim Üretici Tüketici Problemi</vt:lpstr>
      <vt:lpstr>Thread İletişimi</vt:lpstr>
      <vt:lpstr>Görevlerin Etkileşimi</vt:lpstr>
      <vt:lpstr>Görevler Arası Rekabet İlişkisi (Yarış Durumları)</vt:lpstr>
      <vt:lpstr>Görevler Arasında Paylaşma Yoluyla İşbirliği</vt:lpstr>
      <vt:lpstr>Görevler Arasında Paylaşma Yoluyla İşbirliği</vt:lpstr>
      <vt:lpstr>Görevler Arasında Haberleşme Yoluyla İşbirliği</vt:lpstr>
      <vt:lpstr>Senkronizasyon </vt:lpstr>
      <vt:lpstr>Karşılıklı dışlama(Mutual Execution)</vt:lpstr>
      <vt:lpstr>Karşılıklı Dışlama</vt:lpstr>
      <vt:lpstr>Karşılıklı Dışlamada Dikkat Edilmesi Gerekenler</vt:lpstr>
      <vt:lpstr>Senkronizasyon  Yöntemleri</vt:lpstr>
      <vt:lpstr>Özel Donanım Desteği Gerektirmeyen Karşılıklı Dışlama</vt:lpstr>
      <vt:lpstr>Kesmenin Kontrolü</vt:lpstr>
      <vt:lpstr>Özel Donanım Desteği Gerektirmeyen Karşılıklı Dışlama</vt:lpstr>
      <vt:lpstr>Dikkatli Değiştirme (Strict Alternation) Çoklu Görev İçin –Çalışmayan Algoritma Kaynağın durumunu belirleyen algoritma</vt:lpstr>
      <vt:lpstr>Neden Çalışmaz</vt:lpstr>
      <vt:lpstr>Özel Donanım Desteği Gerektirmeyen Karşılıklı Dışlama</vt:lpstr>
      <vt:lpstr>Peterson’ un Çözümü</vt:lpstr>
      <vt:lpstr>Özel Donanım Gerektiren Yöntemler</vt:lpstr>
      <vt:lpstr>xchg komutunun kullanımı</vt:lpstr>
      <vt:lpstr>Semaforlar </vt:lpstr>
      <vt:lpstr>İkili Semafor</vt:lpstr>
      <vt:lpstr>PowerPoint Sunusu</vt:lpstr>
      <vt:lpstr>SEMAFORLAR</vt:lpstr>
      <vt:lpstr>PowerPoint Sunusu</vt:lpstr>
      <vt:lpstr>PowerPoint Sunusu</vt:lpstr>
      <vt:lpstr>PowerPoint Sunusu</vt:lpstr>
      <vt:lpstr>İkili Semafor ile Üretici Tüketici Problemi Çözümü</vt:lpstr>
      <vt:lpstr>PowerPoint Sunusu</vt:lpstr>
      <vt:lpstr>MONITORLER</vt:lpstr>
      <vt:lpstr>Message Passing – Mesaj Gönderme</vt:lpstr>
      <vt:lpstr>PowerPoint Sunusu</vt:lpstr>
      <vt:lpstr>PowerPoint Sunusu</vt:lpstr>
      <vt:lpstr>Linux Senkronizasyon</vt:lpstr>
      <vt:lpstr>Windows Senkronizasyon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Görevler Arası İletişim(Eş Zamanlılık) IPC</dc:title>
  <dc:creator>mevlut</dc:creator>
  <cp:lastModifiedBy>mevlut ersoy</cp:lastModifiedBy>
  <cp:revision>35</cp:revision>
  <dcterms:created xsi:type="dcterms:W3CDTF">2015-11-07T12:26:57Z</dcterms:created>
  <dcterms:modified xsi:type="dcterms:W3CDTF">2019-11-19T20:34:58Z</dcterms:modified>
</cp:coreProperties>
</file>