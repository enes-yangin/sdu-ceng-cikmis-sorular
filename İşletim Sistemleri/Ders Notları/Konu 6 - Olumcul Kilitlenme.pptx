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2" r:id="rId7"/>
    <p:sldId id="263" r:id="rId8"/>
    <p:sldId id="264" r:id="rId9"/>
    <p:sldId id="265" r:id="rId10"/>
    <p:sldId id="279" r:id="rId11"/>
    <p:sldId id="280" r:id="rId12"/>
    <p:sldId id="281" r:id="rId13"/>
    <p:sldId id="287" r:id="rId14"/>
    <p:sldId id="282" r:id="rId15"/>
    <p:sldId id="283" r:id="rId16"/>
    <p:sldId id="284" r:id="rId17"/>
    <p:sldId id="285" r:id="rId18"/>
    <p:sldId id="286" r:id="rId19"/>
    <p:sldId id="288"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744" autoAdjust="0"/>
  </p:normalViewPr>
  <p:slideViewPr>
    <p:cSldViewPr>
      <p:cViewPr varScale="1">
        <p:scale>
          <a:sx n="60" d="100"/>
          <a:sy n="60" d="100"/>
        </p:scale>
        <p:origin x="1686"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122CB6-CAD2-417D-BABD-0071125CEAAE}" type="doc">
      <dgm:prSet loTypeId="urn:microsoft.com/office/officeart/2005/8/layout/hierarchy2" loCatId="hierarchy" qsTypeId="urn:microsoft.com/office/officeart/2005/8/quickstyle/simple3" qsCatId="simple" csTypeId="urn:microsoft.com/office/officeart/2005/8/colors/colorful2" csCatId="colorful" phldr="1"/>
      <dgm:spPr/>
      <dgm:t>
        <a:bodyPr/>
        <a:lstStyle/>
        <a:p>
          <a:endParaRPr lang="tr-TR"/>
        </a:p>
      </dgm:t>
    </dgm:pt>
    <dgm:pt modelId="{0214EC68-E23D-4127-A84B-50F54368FA71}">
      <dgm:prSet phldrT="[Metin]" custT="1"/>
      <dgm:spPr/>
      <dgm:t>
        <a:bodyPr/>
        <a:lstStyle/>
        <a:p>
          <a:r>
            <a:rPr lang="tr-TR" sz="1800" dirty="0" smtClean="0"/>
            <a:t>Bilgisayar Kaynakları</a:t>
          </a:r>
          <a:endParaRPr lang="tr-TR" sz="1800" dirty="0"/>
        </a:p>
      </dgm:t>
    </dgm:pt>
    <dgm:pt modelId="{6CA62178-2F97-4741-868B-B9F6136B3AB3}" type="parTrans" cxnId="{BBAF5CC2-E130-47DF-A994-0B2F477D33DA}">
      <dgm:prSet/>
      <dgm:spPr/>
      <dgm:t>
        <a:bodyPr/>
        <a:lstStyle/>
        <a:p>
          <a:endParaRPr lang="tr-TR" sz="1100"/>
        </a:p>
      </dgm:t>
    </dgm:pt>
    <dgm:pt modelId="{E96A6932-1696-423B-A463-7F55D4C6FA4E}" type="sibTrans" cxnId="{BBAF5CC2-E130-47DF-A994-0B2F477D33DA}">
      <dgm:prSet/>
      <dgm:spPr/>
      <dgm:t>
        <a:bodyPr/>
        <a:lstStyle/>
        <a:p>
          <a:endParaRPr lang="tr-TR" sz="1100"/>
        </a:p>
      </dgm:t>
    </dgm:pt>
    <dgm:pt modelId="{49A4ED5B-C062-4122-B801-67E751DD0D05}">
      <dgm:prSet phldrT="[Metin]" custT="1"/>
      <dgm:spPr/>
      <dgm:t>
        <a:bodyPr/>
        <a:lstStyle/>
        <a:p>
          <a:r>
            <a:rPr lang="tr-TR" sz="1400" dirty="0" smtClean="0"/>
            <a:t>Ele Geçirilebilir</a:t>
          </a:r>
        </a:p>
        <a:p>
          <a:r>
            <a:rPr lang="tr-TR" sz="1400" dirty="0" smtClean="0"/>
            <a:t>(</a:t>
          </a:r>
          <a:r>
            <a:rPr lang="tr-TR" sz="1400" dirty="0" err="1" smtClean="0"/>
            <a:t>Pre-emptable</a:t>
          </a:r>
          <a:r>
            <a:rPr lang="tr-TR" sz="1400" dirty="0" smtClean="0"/>
            <a:t>)</a:t>
          </a:r>
          <a:endParaRPr lang="tr-TR" sz="1400" dirty="0"/>
        </a:p>
      </dgm:t>
    </dgm:pt>
    <dgm:pt modelId="{449CEF19-6932-4577-8F8A-DC3BD8F5FDE1}" type="parTrans" cxnId="{092A0D89-82CA-451D-AACC-2456F3A6DF47}">
      <dgm:prSet/>
      <dgm:spPr/>
      <dgm:t>
        <a:bodyPr/>
        <a:lstStyle/>
        <a:p>
          <a:endParaRPr lang="tr-TR" sz="1100"/>
        </a:p>
      </dgm:t>
    </dgm:pt>
    <dgm:pt modelId="{C721EBE7-19E4-4ACF-B17A-45A91476E750}" type="sibTrans" cxnId="{092A0D89-82CA-451D-AACC-2456F3A6DF47}">
      <dgm:prSet/>
      <dgm:spPr/>
      <dgm:t>
        <a:bodyPr/>
        <a:lstStyle/>
        <a:p>
          <a:endParaRPr lang="tr-TR" sz="1100"/>
        </a:p>
      </dgm:t>
    </dgm:pt>
    <dgm:pt modelId="{BB57A286-EB9F-4E4A-8582-CEDF90D91AA4}">
      <dgm:prSet phldrT="[Metin]" custT="1"/>
      <dgm:spPr/>
      <dgm:t>
        <a:bodyPr/>
        <a:lstStyle/>
        <a:p>
          <a:r>
            <a:rPr lang="tr-TR" sz="1200" dirty="0" smtClean="0"/>
            <a:t>Ele Geçirilemez</a:t>
          </a:r>
        </a:p>
        <a:p>
          <a:r>
            <a:rPr lang="tr-TR" sz="1200" dirty="0" smtClean="0"/>
            <a:t>(</a:t>
          </a:r>
          <a:r>
            <a:rPr lang="tr-TR" sz="1200" dirty="0" err="1" smtClean="0"/>
            <a:t>Non</a:t>
          </a:r>
          <a:r>
            <a:rPr lang="tr-TR" sz="1200" dirty="0" smtClean="0"/>
            <a:t> </a:t>
          </a:r>
          <a:r>
            <a:rPr lang="tr-TR" sz="1200" dirty="0" err="1" smtClean="0"/>
            <a:t>Pre-emptable</a:t>
          </a:r>
          <a:r>
            <a:rPr lang="tr-TR" sz="1200" dirty="0" smtClean="0"/>
            <a:t>)</a:t>
          </a:r>
          <a:endParaRPr lang="tr-TR" sz="1200" dirty="0"/>
        </a:p>
      </dgm:t>
    </dgm:pt>
    <dgm:pt modelId="{827E90D8-C623-43E8-868E-AD3C609CB28F}" type="parTrans" cxnId="{5B47FC4A-911A-4737-90FF-93EB87FEB4CD}">
      <dgm:prSet/>
      <dgm:spPr/>
      <dgm:t>
        <a:bodyPr/>
        <a:lstStyle/>
        <a:p>
          <a:endParaRPr lang="tr-TR" sz="1100"/>
        </a:p>
      </dgm:t>
    </dgm:pt>
    <dgm:pt modelId="{B980A031-E510-46AE-AC46-F09754E690FA}" type="sibTrans" cxnId="{5B47FC4A-911A-4737-90FF-93EB87FEB4CD}">
      <dgm:prSet/>
      <dgm:spPr/>
      <dgm:t>
        <a:bodyPr/>
        <a:lstStyle/>
        <a:p>
          <a:endParaRPr lang="tr-TR" sz="1100"/>
        </a:p>
      </dgm:t>
    </dgm:pt>
    <dgm:pt modelId="{3C9A311B-7CB7-4224-9267-35CBB2E5FD9C}">
      <dgm:prSet phldrT="[Metin]" custT="1"/>
      <dgm:spPr/>
      <dgm:t>
        <a:bodyPr/>
        <a:lstStyle/>
        <a:p>
          <a:r>
            <a:rPr lang="tr-TR" sz="1400" dirty="0" smtClean="0"/>
            <a:t>İşlemci</a:t>
          </a:r>
        </a:p>
        <a:p>
          <a:r>
            <a:rPr lang="tr-TR" sz="1400" dirty="0" smtClean="0"/>
            <a:t>I/O Kanalları</a:t>
          </a:r>
        </a:p>
        <a:p>
          <a:r>
            <a:rPr lang="tr-TR" sz="1400" dirty="0" smtClean="0"/>
            <a:t>Ana bellek</a:t>
          </a:r>
        </a:p>
        <a:p>
          <a:r>
            <a:rPr lang="tr-TR" sz="1400" dirty="0" smtClean="0"/>
            <a:t>İkincil bellek</a:t>
          </a:r>
        </a:p>
        <a:p>
          <a:r>
            <a:rPr lang="tr-TR" sz="1400" dirty="0" smtClean="0"/>
            <a:t>Aygıtlar</a:t>
          </a:r>
        </a:p>
        <a:p>
          <a:r>
            <a:rPr lang="tr-TR" sz="1400" dirty="0" err="1" smtClean="0"/>
            <a:t>Veritabanı</a:t>
          </a:r>
          <a:endParaRPr lang="tr-TR" sz="1400" dirty="0" smtClean="0"/>
        </a:p>
        <a:p>
          <a:r>
            <a:rPr lang="tr-TR" sz="1400" dirty="0" smtClean="0"/>
            <a:t>Semaforlar</a:t>
          </a:r>
          <a:endParaRPr lang="tr-TR" sz="1400" dirty="0"/>
        </a:p>
      </dgm:t>
    </dgm:pt>
    <dgm:pt modelId="{DB79C1BA-8447-4557-AC5F-D9F06C044686}" type="parTrans" cxnId="{6E5BC606-1814-4DAA-B843-2CD496B4F1B2}">
      <dgm:prSet/>
      <dgm:spPr/>
      <dgm:t>
        <a:bodyPr/>
        <a:lstStyle/>
        <a:p>
          <a:endParaRPr lang="tr-TR"/>
        </a:p>
      </dgm:t>
    </dgm:pt>
    <dgm:pt modelId="{BCEA7251-0C02-4A1D-B431-A6F0B41DBEBA}" type="sibTrans" cxnId="{6E5BC606-1814-4DAA-B843-2CD496B4F1B2}">
      <dgm:prSet/>
      <dgm:spPr/>
      <dgm:t>
        <a:bodyPr/>
        <a:lstStyle/>
        <a:p>
          <a:endParaRPr lang="tr-TR"/>
        </a:p>
      </dgm:t>
    </dgm:pt>
    <dgm:pt modelId="{CE1C5A87-E87E-45F8-B225-D23BCA90D566}">
      <dgm:prSet phldrT="[Metin]" custT="1"/>
      <dgm:spPr/>
      <dgm:t>
        <a:bodyPr/>
        <a:lstStyle/>
        <a:p>
          <a:r>
            <a:rPr lang="tr-TR" sz="1200" dirty="0" smtClean="0"/>
            <a:t>Kesmeler</a:t>
          </a:r>
        </a:p>
        <a:p>
          <a:r>
            <a:rPr lang="tr-TR" sz="1200" dirty="0" smtClean="0"/>
            <a:t>Sinyaller</a:t>
          </a:r>
        </a:p>
        <a:p>
          <a:r>
            <a:rPr lang="tr-TR" sz="1200" dirty="0" smtClean="0"/>
            <a:t>Mesajlar</a:t>
          </a:r>
        </a:p>
        <a:p>
          <a:r>
            <a:rPr lang="tr-TR" sz="1200" dirty="0" smtClean="0"/>
            <a:t>Dosyalar</a:t>
          </a:r>
        </a:p>
        <a:p>
          <a:r>
            <a:rPr lang="tr-TR" sz="1200" dirty="0" smtClean="0"/>
            <a:t>Yazıcılar, Tarayıcılar</a:t>
          </a:r>
        </a:p>
        <a:p>
          <a:r>
            <a:rPr lang="tr-TR" sz="1200" dirty="0" smtClean="0"/>
            <a:t>I/O tampondaki bilgiler</a:t>
          </a:r>
        </a:p>
        <a:p>
          <a:r>
            <a:rPr lang="tr-TR" sz="1200" dirty="0" smtClean="0"/>
            <a:t>CDROM Yazma</a:t>
          </a:r>
          <a:endParaRPr lang="tr-TR" sz="1200" dirty="0"/>
        </a:p>
      </dgm:t>
    </dgm:pt>
    <dgm:pt modelId="{0C2603B6-5129-4EBA-AAD0-197FB5A34B8D}" type="parTrans" cxnId="{4416D33B-9ACB-45A1-9CF2-33B444386DDB}">
      <dgm:prSet/>
      <dgm:spPr/>
      <dgm:t>
        <a:bodyPr/>
        <a:lstStyle/>
        <a:p>
          <a:endParaRPr lang="tr-TR"/>
        </a:p>
      </dgm:t>
    </dgm:pt>
    <dgm:pt modelId="{EC2D17C2-33D1-4FE4-8EA7-665461A0A893}" type="sibTrans" cxnId="{4416D33B-9ACB-45A1-9CF2-33B444386DDB}">
      <dgm:prSet/>
      <dgm:spPr/>
      <dgm:t>
        <a:bodyPr/>
        <a:lstStyle/>
        <a:p>
          <a:endParaRPr lang="tr-TR"/>
        </a:p>
      </dgm:t>
    </dgm:pt>
    <dgm:pt modelId="{2ED484F3-06A5-4065-A687-D620CF1890BF}" type="pres">
      <dgm:prSet presAssocID="{96122CB6-CAD2-417D-BABD-0071125CEAAE}" presName="diagram" presStyleCnt="0">
        <dgm:presLayoutVars>
          <dgm:chPref val="1"/>
          <dgm:dir/>
          <dgm:animOne val="branch"/>
          <dgm:animLvl val="lvl"/>
          <dgm:resizeHandles val="exact"/>
        </dgm:presLayoutVars>
      </dgm:prSet>
      <dgm:spPr/>
      <dgm:t>
        <a:bodyPr/>
        <a:lstStyle/>
        <a:p>
          <a:endParaRPr lang="tr-TR"/>
        </a:p>
      </dgm:t>
    </dgm:pt>
    <dgm:pt modelId="{8F6811BA-2468-48C6-A9DE-ABA81E482097}" type="pres">
      <dgm:prSet presAssocID="{0214EC68-E23D-4127-A84B-50F54368FA71}" presName="root1" presStyleCnt="0"/>
      <dgm:spPr/>
      <dgm:t>
        <a:bodyPr/>
        <a:lstStyle/>
        <a:p>
          <a:endParaRPr lang="tr-TR"/>
        </a:p>
      </dgm:t>
    </dgm:pt>
    <dgm:pt modelId="{E175D588-B191-448B-AB61-80546B2291D0}" type="pres">
      <dgm:prSet presAssocID="{0214EC68-E23D-4127-A84B-50F54368FA71}" presName="LevelOneTextNode" presStyleLbl="node0" presStyleIdx="0" presStyleCnt="1">
        <dgm:presLayoutVars>
          <dgm:chPref val="3"/>
        </dgm:presLayoutVars>
      </dgm:prSet>
      <dgm:spPr/>
      <dgm:t>
        <a:bodyPr/>
        <a:lstStyle/>
        <a:p>
          <a:endParaRPr lang="tr-TR"/>
        </a:p>
      </dgm:t>
    </dgm:pt>
    <dgm:pt modelId="{287DB361-400B-4D4A-BE7D-02653570318C}" type="pres">
      <dgm:prSet presAssocID="{0214EC68-E23D-4127-A84B-50F54368FA71}" presName="level2hierChild" presStyleCnt="0"/>
      <dgm:spPr/>
      <dgm:t>
        <a:bodyPr/>
        <a:lstStyle/>
        <a:p>
          <a:endParaRPr lang="tr-TR"/>
        </a:p>
      </dgm:t>
    </dgm:pt>
    <dgm:pt modelId="{A995683A-2BBD-4B04-8125-C4EFEB62A351}" type="pres">
      <dgm:prSet presAssocID="{449CEF19-6932-4577-8F8A-DC3BD8F5FDE1}" presName="conn2-1" presStyleLbl="parChTrans1D2" presStyleIdx="0" presStyleCnt="2"/>
      <dgm:spPr/>
      <dgm:t>
        <a:bodyPr/>
        <a:lstStyle/>
        <a:p>
          <a:endParaRPr lang="tr-TR"/>
        </a:p>
      </dgm:t>
    </dgm:pt>
    <dgm:pt modelId="{759CFE1F-C583-443F-B2A9-ACA45C05D84C}" type="pres">
      <dgm:prSet presAssocID="{449CEF19-6932-4577-8F8A-DC3BD8F5FDE1}" presName="connTx" presStyleLbl="parChTrans1D2" presStyleIdx="0" presStyleCnt="2"/>
      <dgm:spPr/>
      <dgm:t>
        <a:bodyPr/>
        <a:lstStyle/>
        <a:p>
          <a:endParaRPr lang="tr-TR"/>
        </a:p>
      </dgm:t>
    </dgm:pt>
    <dgm:pt modelId="{04284152-F0E8-41F6-B595-8E5946AEDA71}" type="pres">
      <dgm:prSet presAssocID="{49A4ED5B-C062-4122-B801-67E751DD0D05}" presName="root2" presStyleCnt="0"/>
      <dgm:spPr/>
      <dgm:t>
        <a:bodyPr/>
        <a:lstStyle/>
        <a:p>
          <a:endParaRPr lang="tr-TR"/>
        </a:p>
      </dgm:t>
    </dgm:pt>
    <dgm:pt modelId="{888955AD-CE57-40A6-9BAC-2AAD32E22A16}" type="pres">
      <dgm:prSet presAssocID="{49A4ED5B-C062-4122-B801-67E751DD0D05}" presName="LevelTwoTextNode" presStyleLbl="node2" presStyleIdx="0" presStyleCnt="2">
        <dgm:presLayoutVars>
          <dgm:chPref val="3"/>
        </dgm:presLayoutVars>
      </dgm:prSet>
      <dgm:spPr/>
      <dgm:t>
        <a:bodyPr/>
        <a:lstStyle/>
        <a:p>
          <a:endParaRPr lang="tr-TR"/>
        </a:p>
      </dgm:t>
    </dgm:pt>
    <dgm:pt modelId="{751BF9F0-8A67-42FA-8E06-C4589E7B9829}" type="pres">
      <dgm:prSet presAssocID="{49A4ED5B-C062-4122-B801-67E751DD0D05}" presName="level3hierChild" presStyleCnt="0"/>
      <dgm:spPr/>
      <dgm:t>
        <a:bodyPr/>
        <a:lstStyle/>
        <a:p>
          <a:endParaRPr lang="tr-TR"/>
        </a:p>
      </dgm:t>
    </dgm:pt>
    <dgm:pt modelId="{1658FAF3-B30D-4AD2-A658-12A7C50C328E}" type="pres">
      <dgm:prSet presAssocID="{DB79C1BA-8447-4557-AC5F-D9F06C044686}" presName="conn2-1" presStyleLbl="parChTrans1D3" presStyleIdx="0" presStyleCnt="2"/>
      <dgm:spPr/>
      <dgm:t>
        <a:bodyPr/>
        <a:lstStyle/>
        <a:p>
          <a:endParaRPr lang="tr-TR"/>
        </a:p>
      </dgm:t>
    </dgm:pt>
    <dgm:pt modelId="{FD907BE6-59F9-4CD8-ABCC-C0A5A261CEAC}" type="pres">
      <dgm:prSet presAssocID="{DB79C1BA-8447-4557-AC5F-D9F06C044686}" presName="connTx" presStyleLbl="parChTrans1D3" presStyleIdx="0" presStyleCnt="2"/>
      <dgm:spPr/>
      <dgm:t>
        <a:bodyPr/>
        <a:lstStyle/>
        <a:p>
          <a:endParaRPr lang="tr-TR"/>
        </a:p>
      </dgm:t>
    </dgm:pt>
    <dgm:pt modelId="{895C2234-5D6B-49B3-995B-0296810C5393}" type="pres">
      <dgm:prSet presAssocID="{3C9A311B-7CB7-4224-9267-35CBB2E5FD9C}" presName="root2" presStyleCnt="0"/>
      <dgm:spPr/>
    </dgm:pt>
    <dgm:pt modelId="{F6C55CAC-F563-4B18-9ABD-5C28D84D99BF}" type="pres">
      <dgm:prSet presAssocID="{3C9A311B-7CB7-4224-9267-35CBB2E5FD9C}" presName="LevelTwoTextNode" presStyleLbl="node3" presStyleIdx="0" presStyleCnt="2" custScaleY="243949">
        <dgm:presLayoutVars>
          <dgm:chPref val="3"/>
        </dgm:presLayoutVars>
      </dgm:prSet>
      <dgm:spPr/>
      <dgm:t>
        <a:bodyPr/>
        <a:lstStyle/>
        <a:p>
          <a:endParaRPr lang="tr-TR"/>
        </a:p>
      </dgm:t>
    </dgm:pt>
    <dgm:pt modelId="{BFC44BC5-4FBA-42EB-BB67-B557B9D2EAF1}" type="pres">
      <dgm:prSet presAssocID="{3C9A311B-7CB7-4224-9267-35CBB2E5FD9C}" presName="level3hierChild" presStyleCnt="0"/>
      <dgm:spPr/>
    </dgm:pt>
    <dgm:pt modelId="{DE1034E3-F7C3-4296-9409-57C333F2E7B3}" type="pres">
      <dgm:prSet presAssocID="{827E90D8-C623-43E8-868E-AD3C609CB28F}" presName="conn2-1" presStyleLbl="parChTrans1D2" presStyleIdx="1" presStyleCnt="2"/>
      <dgm:spPr/>
      <dgm:t>
        <a:bodyPr/>
        <a:lstStyle/>
        <a:p>
          <a:endParaRPr lang="tr-TR"/>
        </a:p>
      </dgm:t>
    </dgm:pt>
    <dgm:pt modelId="{685DD74D-B6FC-4BB3-85C8-1F6BB7A6EB89}" type="pres">
      <dgm:prSet presAssocID="{827E90D8-C623-43E8-868E-AD3C609CB28F}" presName="connTx" presStyleLbl="parChTrans1D2" presStyleIdx="1" presStyleCnt="2"/>
      <dgm:spPr/>
      <dgm:t>
        <a:bodyPr/>
        <a:lstStyle/>
        <a:p>
          <a:endParaRPr lang="tr-TR"/>
        </a:p>
      </dgm:t>
    </dgm:pt>
    <dgm:pt modelId="{D49E43A7-77E6-4A03-A73D-13C4CB26A848}" type="pres">
      <dgm:prSet presAssocID="{BB57A286-EB9F-4E4A-8582-CEDF90D91AA4}" presName="root2" presStyleCnt="0"/>
      <dgm:spPr/>
      <dgm:t>
        <a:bodyPr/>
        <a:lstStyle/>
        <a:p>
          <a:endParaRPr lang="tr-TR"/>
        </a:p>
      </dgm:t>
    </dgm:pt>
    <dgm:pt modelId="{84F6CA07-A7E7-4735-B5A2-88134FC31311}" type="pres">
      <dgm:prSet presAssocID="{BB57A286-EB9F-4E4A-8582-CEDF90D91AA4}" presName="LevelTwoTextNode" presStyleLbl="node2" presStyleIdx="1" presStyleCnt="2">
        <dgm:presLayoutVars>
          <dgm:chPref val="3"/>
        </dgm:presLayoutVars>
      </dgm:prSet>
      <dgm:spPr/>
      <dgm:t>
        <a:bodyPr/>
        <a:lstStyle/>
        <a:p>
          <a:endParaRPr lang="tr-TR"/>
        </a:p>
      </dgm:t>
    </dgm:pt>
    <dgm:pt modelId="{722DC014-BE63-4BF1-978D-D9F8EEAAF589}" type="pres">
      <dgm:prSet presAssocID="{BB57A286-EB9F-4E4A-8582-CEDF90D91AA4}" presName="level3hierChild" presStyleCnt="0"/>
      <dgm:spPr/>
      <dgm:t>
        <a:bodyPr/>
        <a:lstStyle/>
        <a:p>
          <a:endParaRPr lang="tr-TR"/>
        </a:p>
      </dgm:t>
    </dgm:pt>
    <dgm:pt modelId="{E5E45DFC-28D5-4F00-9B6A-F18074DC0EEE}" type="pres">
      <dgm:prSet presAssocID="{0C2603B6-5129-4EBA-AAD0-197FB5A34B8D}" presName="conn2-1" presStyleLbl="parChTrans1D3" presStyleIdx="1" presStyleCnt="2"/>
      <dgm:spPr/>
      <dgm:t>
        <a:bodyPr/>
        <a:lstStyle/>
        <a:p>
          <a:endParaRPr lang="tr-TR"/>
        </a:p>
      </dgm:t>
    </dgm:pt>
    <dgm:pt modelId="{26F2477A-43FF-4A7D-B801-A946FBCED0CC}" type="pres">
      <dgm:prSet presAssocID="{0C2603B6-5129-4EBA-AAD0-197FB5A34B8D}" presName="connTx" presStyleLbl="parChTrans1D3" presStyleIdx="1" presStyleCnt="2"/>
      <dgm:spPr/>
      <dgm:t>
        <a:bodyPr/>
        <a:lstStyle/>
        <a:p>
          <a:endParaRPr lang="tr-TR"/>
        </a:p>
      </dgm:t>
    </dgm:pt>
    <dgm:pt modelId="{2BCBB9F3-8CAE-4D0D-BB6F-0303E7693460}" type="pres">
      <dgm:prSet presAssocID="{CE1C5A87-E87E-45F8-B225-D23BCA90D566}" presName="root2" presStyleCnt="0"/>
      <dgm:spPr/>
    </dgm:pt>
    <dgm:pt modelId="{18C3FC88-1E2A-496C-86D9-610472AFA6BA}" type="pres">
      <dgm:prSet presAssocID="{CE1C5A87-E87E-45F8-B225-D23BCA90D566}" presName="LevelTwoTextNode" presStyleLbl="node3" presStyleIdx="1" presStyleCnt="2" custScaleY="191755">
        <dgm:presLayoutVars>
          <dgm:chPref val="3"/>
        </dgm:presLayoutVars>
      </dgm:prSet>
      <dgm:spPr/>
      <dgm:t>
        <a:bodyPr/>
        <a:lstStyle/>
        <a:p>
          <a:endParaRPr lang="tr-TR"/>
        </a:p>
      </dgm:t>
    </dgm:pt>
    <dgm:pt modelId="{08180FFB-9C7A-4B72-A3C8-A71C88D5EB88}" type="pres">
      <dgm:prSet presAssocID="{CE1C5A87-E87E-45F8-B225-D23BCA90D566}" presName="level3hierChild" presStyleCnt="0"/>
      <dgm:spPr/>
    </dgm:pt>
  </dgm:ptLst>
  <dgm:cxnLst>
    <dgm:cxn modelId="{9F43A67C-5EAC-4D32-9CEB-C1258F6A01CC}" type="presOf" srcId="{0214EC68-E23D-4127-A84B-50F54368FA71}" destId="{E175D588-B191-448B-AB61-80546B2291D0}" srcOrd="0" destOrd="0" presId="urn:microsoft.com/office/officeart/2005/8/layout/hierarchy2"/>
    <dgm:cxn modelId="{5B47FC4A-911A-4737-90FF-93EB87FEB4CD}" srcId="{0214EC68-E23D-4127-A84B-50F54368FA71}" destId="{BB57A286-EB9F-4E4A-8582-CEDF90D91AA4}" srcOrd="1" destOrd="0" parTransId="{827E90D8-C623-43E8-868E-AD3C609CB28F}" sibTransId="{B980A031-E510-46AE-AC46-F09754E690FA}"/>
    <dgm:cxn modelId="{E1E8CC85-3312-4D74-91BF-64324480001E}" type="presOf" srcId="{0C2603B6-5129-4EBA-AAD0-197FB5A34B8D}" destId="{E5E45DFC-28D5-4F00-9B6A-F18074DC0EEE}" srcOrd="0" destOrd="0" presId="urn:microsoft.com/office/officeart/2005/8/layout/hierarchy2"/>
    <dgm:cxn modelId="{BE9B5AC6-D3DA-4C54-852F-C30BC5F2D78F}" type="presOf" srcId="{49A4ED5B-C062-4122-B801-67E751DD0D05}" destId="{888955AD-CE57-40A6-9BAC-2AAD32E22A16}" srcOrd="0" destOrd="0" presId="urn:microsoft.com/office/officeart/2005/8/layout/hierarchy2"/>
    <dgm:cxn modelId="{77B33B71-4A70-43B7-8705-EA564A0F5519}" type="presOf" srcId="{DB79C1BA-8447-4557-AC5F-D9F06C044686}" destId="{1658FAF3-B30D-4AD2-A658-12A7C50C328E}" srcOrd="0" destOrd="0" presId="urn:microsoft.com/office/officeart/2005/8/layout/hierarchy2"/>
    <dgm:cxn modelId="{4416D33B-9ACB-45A1-9CF2-33B444386DDB}" srcId="{BB57A286-EB9F-4E4A-8582-CEDF90D91AA4}" destId="{CE1C5A87-E87E-45F8-B225-D23BCA90D566}" srcOrd="0" destOrd="0" parTransId="{0C2603B6-5129-4EBA-AAD0-197FB5A34B8D}" sibTransId="{EC2D17C2-33D1-4FE4-8EA7-665461A0A893}"/>
    <dgm:cxn modelId="{6FB0672B-D8A5-45DC-B693-97577525425C}" type="presOf" srcId="{0C2603B6-5129-4EBA-AAD0-197FB5A34B8D}" destId="{26F2477A-43FF-4A7D-B801-A946FBCED0CC}" srcOrd="1" destOrd="0" presId="urn:microsoft.com/office/officeart/2005/8/layout/hierarchy2"/>
    <dgm:cxn modelId="{EA90F528-795E-45D9-8C16-87DBE33A15DF}" type="presOf" srcId="{3C9A311B-7CB7-4224-9267-35CBB2E5FD9C}" destId="{F6C55CAC-F563-4B18-9ABD-5C28D84D99BF}" srcOrd="0" destOrd="0" presId="urn:microsoft.com/office/officeart/2005/8/layout/hierarchy2"/>
    <dgm:cxn modelId="{49649B81-9E10-4597-9F00-40EEC4F84E51}" type="presOf" srcId="{BB57A286-EB9F-4E4A-8582-CEDF90D91AA4}" destId="{84F6CA07-A7E7-4735-B5A2-88134FC31311}" srcOrd="0" destOrd="0" presId="urn:microsoft.com/office/officeart/2005/8/layout/hierarchy2"/>
    <dgm:cxn modelId="{375BFF61-E748-46C8-839E-B0A273A4DF79}" type="presOf" srcId="{CE1C5A87-E87E-45F8-B225-D23BCA90D566}" destId="{18C3FC88-1E2A-496C-86D9-610472AFA6BA}" srcOrd="0" destOrd="0" presId="urn:microsoft.com/office/officeart/2005/8/layout/hierarchy2"/>
    <dgm:cxn modelId="{BBAF5CC2-E130-47DF-A994-0B2F477D33DA}" srcId="{96122CB6-CAD2-417D-BABD-0071125CEAAE}" destId="{0214EC68-E23D-4127-A84B-50F54368FA71}" srcOrd="0" destOrd="0" parTransId="{6CA62178-2F97-4741-868B-B9F6136B3AB3}" sibTransId="{E96A6932-1696-423B-A463-7F55D4C6FA4E}"/>
    <dgm:cxn modelId="{A5F9E83D-CD7D-4323-B19B-9058DE1DD2DC}" type="presOf" srcId="{827E90D8-C623-43E8-868E-AD3C609CB28F}" destId="{DE1034E3-F7C3-4296-9409-57C333F2E7B3}" srcOrd="0" destOrd="0" presId="urn:microsoft.com/office/officeart/2005/8/layout/hierarchy2"/>
    <dgm:cxn modelId="{17C4776D-3C26-4203-93D3-19E5FB53701D}" type="presOf" srcId="{DB79C1BA-8447-4557-AC5F-D9F06C044686}" destId="{FD907BE6-59F9-4CD8-ABCC-C0A5A261CEAC}" srcOrd="1" destOrd="0" presId="urn:microsoft.com/office/officeart/2005/8/layout/hierarchy2"/>
    <dgm:cxn modelId="{6E5BC606-1814-4DAA-B843-2CD496B4F1B2}" srcId="{49A4ED5B-C062-4122-B801-67E751DD0D05}" destId="{3C9A311B-7CB7-4224-9267-35CBB2E5FD9C}" srcOrd="0" destOrd="0" parTransId="{DB79C1BA-8447-4557-AC5F-D9F06C044686}" sibTransId="{BCEA7251-0C02-4A1D-B431-A6F0B41DBEBA}"/>
    <dgm:cxn modelId="{DB4CC86D-8C93-4978-9CFA-D42BD2D75CBC}" type="presOf" srcId="{96122CB6-CAD2-417D-BABD-0071125CEAAE}" destId="{2ED484F3-06A5-4065-A687-D620CF1890BF}" srcOrd="0" destOrd="0" presId="urn:microsoft.com/office/officeart/2005/8/layout/hierarchy2"/>
    <dgm:cxn modelId="{0B2F4782-C557-4538-8AC6-46403D783473}" type="presOf" srcId="{827E90D8-C623-43E8-868E-AD3C609CB28F}" destId="{685DD74D-B6FC-4BB3-85C8-1F6BB7A6EB89}" srcOrd="1" destOrd="0" presId="urn:microsoft.com/office/officeart/2005/8/layout/hierarchy2"/>
    <dgm:cxn modelId="{AE531494-B734-4824-8959-38C3E6A21D61}" type="presOf" srcId="{449CEF19-6932-4577-8F8A-DC3BD8F5FDE1}" destId="{A995683A-2BBD-4B04-8125-C4EFEB62A351}" srcOrd="0" destOrd="0" presId="urn:microsoft.com/office/officeart/2005/8/layout/hierarchy2"/>
    <dgm:cxn modelId="{9173A0C0-6383-4E4E-93BF-E9C80E6C2E4E}" type="presOf" srcId="{449CEF19-6932-4577-8F8A-DC3BD8F5FDE1}" destId="{759CFE1F-C583-443F-B2A9-ACA45C05D84C}" srcOrd="1" destOrd="0" presId="urn:microsoft.com/office/officeart/2005/8/layout/hierarchy2"/>
    <dgm:cxn modelId="{092A0D89-82CA-451D-AACC-2456F3A6DF47}" srcId="{0214EC68-E23D-4127-A84B-50F54368FA71}" destId="{49A4ED5B-C062-4122-B801-67E751DD0D05}" srcOrd="0" destOrd="0" parTransId="{449CEF19-6932-4577-8F8A-DC3BD8F5FDE1}" sibTransId="{C721EBE7-19E4-4ACF-B17A-45A91476E750}"/>
    <dgm:cxn modelId="{B1CA0799-6FA6-4764-812C-B92E5EA1DA12}" type="presParOf" srcId="{2ED484F3-06A5-4065-A687-D620CF1890BF}" destId="{8F6811BA-2468-48C6-A9DE-ABA81E482097}" srcOrd="0" destOrd="0" presId="urn:microsoft.com/office/officeart/2005/8/layout/hierarchy2"/>
    <dgm:cxn modelId="{2F5C067D-4E1A-48A1-81AB-5B233BE37D28}" type="presParOf" srcId="{8F6811BA-2468-48C6-A9DE-ABA81E482097}" destId="{E175D588-B191-448B-AB61-80546B2291D0}" srcOrd="0" destOrd="0" presId="urn:microsoft.com/office/officeart/2005/8/layout/hierarchy2"/>
    <dgm:cxn modelId="{FFF57578-44EB-4E51-B045-BD7D22E9B44A}" type="presParOf" srcId="{8F6811BA-2468-48C6-A9DE-ABA81E482097}" destId="{287DB361-400B-4D4A-BE7D-02653570318C}" srcOrd="1" destOrd="0" presId="urn:microsoft.com/office/officeart/2005/8/layout/hierarchy2"/>
    <dgm:cxn modelId="{6834D8C4-FB6A-4596-938B-821E10BA1CD2}" type="presParOf" srcId="{287DB361-400B-4D4A-BE7D-02653570318C}" destId="{A995683A-2BBD-4B04-8125-C4EFEB62A351}" srcOrd="0" destOrd="0" presId="urn:microsoft.com/office/officeart/2005/8/layout/hierarchy2"/>
    <dgm:cxn modelId="{9A618205-2986-42CE-B380-0C9497D41011}" type="presParOf" srcId="{A995683A-2BBD-4B04-8125-C4EFEB62A351}" destId="{759CFE1F-C583-443F-B2A9-ACA45C05D84C}" srcOrd="0" destOrd="0" presId="urn:microsoft.com/office/officeart/2005/8/layout/hierarchy2"/>
    <dgm:cxn modelId="{3958BCA1-A56F-4EE8-9D49-C7140850D86B}" type="presParOf" srcId="{287DB361-400B-4D4A-BE7D-02653570318C}" destId="{04284152-F0E8-41F6-B595-8E5946AEDA71}" srcOrd="1" destOrd="0" presId="urn:microsoft.com/office/officeart/2005/8/layout/hierarchy2"/>
    <dgm:cxn modelId="{31BCBE70-395E-4284-92F7-9BF24FF2A983}" type="presParOf" srcId="{04284152-F0E8-41F6-B595-8E5946AEDA71}" destId="{888955AD-CE57-40A6-9BAC-2AAD32E22A16}" srcOrd="0" destOrd="0" presId="urn:microsoft.com/office/officeart/2005/8/layout/hierarchy2"/>
    <dgm:cxn modelId="{E9BC4C16-0871-495C-B51E-41FC3AF1FA5F}" type="presParOf" srcId="{04284152-F0E8-41F6-B595-8E5946AEDA71}" destId="{751BF9F0-8A67-42FA-8E06-C4589E7B9829}" srcOrd="1" destOrd="0" presId="urn:microsoft.com/office/officeart/2005/8/layout/hierarchy2"/>
    <dgm:cxn modelId="{55383FD8-D311-4DBC-9A63-A9B9032A5490}" type="presParOf" srcId="{751BF9F0-8A67-42FA-8E06-C4589E7B9829}" destId="{1658FAF3-B30D-4AD2-A658-12A7C50C328E}" srcOrd="0" destOrd="0" presId="urn:microsoft.com/office/officeart/2005/8/layout/hierarchy2"/>
    <dgm:cxn modelId="{A686F13B-82E0-445A-A67E-B4160EE18135}" type="presParOf" srcId="{1658FAF3-B30D-4AD2-A658-12A7C50C328E}" destId="{FD907BE6-59F9-4CD8-ABCC-C0A5A261CEAC}" srcOrd="0" destOrd="0" presId="urn:microsoft.com/office/officeart/2005/8/layout/hierarchy2"/>
    <dgm:cxn modelId="{E6E7C890-E6CA-419F-8E61-A235EB68FE1A}" type="presParOf" srcId="{751BF9F0-8A67-42FA-8E06-C4589E7B9829}" destId="{895C2234-5D6B-49B3-995B-0296810C5393}" srcOrd="1" destOrd="0" presId="urn:microsoft.com/office/officeart/2005/8/layout/hierarchy2"/>
    <dgm:cxn modelId="{DA689FA4-BBE2-443F-87BC-86736305AADF}" type="presParOf" srcId="{895C2234-5D6B-49B3-995B-0296810C5393}" destId="{F6C55CAC-F563-4B18-9ABD-5C28D84D99BF}" srcOrd="0" destOrd="0" presId="urn:microsoft.com/office/officeart/2005/8/layout/hierarchy2"/>
    <dgm:cxn modelId="{B730B111-C7C0-418F-ABDF-20F5E9528194}" type="presParOf" srcId="{895C2234-5D6B-49B3-995B-0296810C5393}" destId="{BFC44BC5-4FBA-42EB-BB67-B557B9D2EAF1}" srcOrd="1" destOrd="0" presId="urn:microsoft.com/office/officeart/2005/8/layout/hierarchy2"/>
    <dgm:cxn modelId="{06A154EC-FA0E-4EBD-856E-D728435C9CEF}" type="presParOf" srcId="{287DB361-400B-4D4A-BE7D-02653570318C}" destId="{DE1034E3-F7C3-4296-9409-57C333F2E7B3}" srcOrd="2" destOrd="0" presId="urn:microsoft.com/office/officeart/2005/8/layout/hierarchy2"/>
    <dgm:cxn modelId="{E94DCEA7-4E1D-421E-914E-8A6739861007}" type="presParOf" srcId="{DE1034E3-F7C3-4296-9409-57C333F2E7B3}" destId="{685DD74D-B6FC-4BB3-85C8-1F6BB7A6EB89}" srcOrd="0" destOrd="0" presId="urn:microsoft.com/office/officeart/2005/8/layout/hierarchy2"/>
    <dgm:cxn modelId="{9BCFF29A-C520-4C30-BC84-4287E0D0ECD6}" type="presParOf" srcId="{287DB361-400B-4D4A-BE7D-02653570318C}" destId="{D49E43A7-77E6-4A03-A73D-13C4CB26A848}" srcOrd="3" destOrd="0" presId="urn:microsoft.com/office/officeart/2005/8/layout/hierarchy2"/>
    <dgm:cxn modelId="{6F743036-10AD-4181-86E5-1958EBC3DEAE}" type="presParOf" srcId="{D49E43A7-77E6-4A03-A73D-13C4CB26A848}" destId="{84F6CA07-A7E7-4735-B5A2-88134FC31311}" srcOrd="0" destOrd="0" presId="urn:microsoft.com/office/officeart/2005/8/layout/hierarchy2"/>
    <dgm:cxn modelId="{7663E540-38F6-4502-A673-95BD44DA6E59}" type="presParOf" srcId="{D49E43A7-77E6-4A03-A73D-13C4CB26A848}" destId="{722DC014-BE63-4BF1-978D-D9F8EEAAF589}" srcOrd="1" destOrd="0" presId="urn:microsoft.com/office/officeart/2005/8/layout/hierarchy2"/>
    <dgm:cxn modelId="{6706DF47-DCCC-4F0E-86C3-F212EDDA882D}" type="presParOf" srcId="{722DC014-BE63-4BF1-978D-D9F8EEAAF589}" destId="{E5E45DFC-28D5-4F00-9B6A-F18074DC0EEE}" srcOrd="0" destOrd="0" presId="urn:microsoft.com/office/officeart/2005/8/layout/hierarchy2"/>
    <dgm:cxn modelId="{EE95AA94-E0DB-428E-AC8E-3AABB8B3DA8B}" type="presParOf" srcId="{E5E45DFC-28D5-4F00-9B6A-F18074DC0EEE}" destId="{26F2477A-43FF-4A7D-B801-A946FBCED0CC}" srcOrd="0" destOrd="0" presId="urn:microsoft.com/office/officeart/2005/8/layout/hierarchy2"/>
    <dgm:cxn modelId="{4690CE25-6A85-4952-9237-EAADB1E72B77}" type="presParOf" srcId="{722DC014-BE63-4BF1-978D-D9F8EEAAF589}" destId="{2BCBB9F3-8CAE-4D0D-BB6F-0303E7693460}" srcOrd="1" destOrd="0" presId="urn:microsoft.com/office/officeart/2005/8/layout/hierarchy2"/>
    <dgm:cxn modelId="{B464AD8A-EB2A-482A-9055-71473F965CCC}" type="presParOf" srcId="{2BCBB9F3-8CAE-4D0D-BB6F-0303E7693460}" destId="{18C3FC88-1E2A-496C-86D9-610472AFA6BA}" srcOrd="0" destOrd="0" presId="urn:microsoft.com/office/officeart/2005/8/layout/hierarchy2"/>
    <dgm:cxn modelId="{27A8DE53-58CC-4F64-9518-F1594F38D321}" type="presParOf" srcId="{2BCBB9F3-8CAE-4D0D-BB6F-0303E7693460}" destId="{08180FFB-9C7A-4B72-A3C8-A71C88D5EB88}"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1BE08D-E8F9-46DE-AB0A-C21232F647D9}"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tr-TR"/>
        </a:p>
      </dgm:t>
    </dgm:pt>
    <dgm:pt modelId="{BD8F46A7-87AC-429A-B5AF-87D1A92C538D}">
      <dgm:prSet phldrT="[Metin]"/>
      <dgm:spPr/>
      <dgm:t>
        <a:bodyPr/>
        <a:lstStyle/>
        <a:p>
          <a:r>
            <a:rPr lang="tr-TR" dirty="0" smtClean="0"/>
            <a:t>Stok Dosyası (F1)</a:t>
          </a:r>
          <a:endParaRPr lang="tr-TR" dirty="0"/>
        </a:p>
      </dgm:t>
    </dgm:pt>
    <dgm:pt modelId="{518079B4-22C4-445F-8415-2DF6D8D84CCB}" type="parTrans" cxnId="{8F8DEB4C-CEFD-408B-B0DE-A19F047BF094}">
      <dgm:prSet/>
      <dgm:spPr/>
      <dgm:t>
        <a:bodyPr/>
        <a:lstStyle/>
        <a:p>
          <a:endParaRPr lang="tr-TR"/>
        </a:p>
      </dgm:t>
    </dgm:pt>
    <dgm:pt modelId="{3E7D1630-8AEB-4942-983E-F0510113CDAE}" type="sibTrans" cxnId="{8F8DEB4C-CEFD-408B-B0DE-A19F047BF094}">
      <dgm:prSet/>
      <dgm:spPr/>
      <dgm:t>
        <a:bodyPr/>
        <a:lstStyle/>
        <a:p>
          <a:endParaRPr lang="tr-TR"/>
        </a:p>
      </dgm:t>
    </dgm:pt>
    <dgm:pt modelId="{CC786EBF-E8F1-4AA7-ACD1-B4DDC16C39FF}">
      <dgm:prSet phldrT="[Metin]"/>
      <dgm:spPr/>
      <dgm:t>
        <a:bodyPr/>
        <a:lstStyle/>
        <a:p>
          <a:r>
            <a:rPr lang="tr-TR" dirty="0" err="1" smtClean="0"/>
            <a:t>Satınalma</a:t>
          </a:r>
          <a:r>
            <a:rPr lang="tr-TR" dirty="0" smtClean="0"/>
            <a:t> (P1)</a:t>
          </a:r>
          <a:endParaRPr lang="tr-TR" dirty="0"/>
        </a:p>
      </dgm:t>
    </dgm:pt>
    <dgm:pt modelId="{1ACE67C0-F768-409E-8F6C-D1DFE3968F2A}" type="parTrans" cxnId="{94054A61-83BC-4986-AD49-17FABE2382DD}">
      <dgm:prSet/>
      <dgm:spPr/>
      <dgm:t>
        <a:bodyPr/>
        <a:lstStyle/>
        <a:p>
          <a:endParaRPr lang="tr-TR"/>
        </a:p>
      </dgm:t>
    </dgm:pt>
    <dgm:pt modelId="{7570555B-9179-44AC-91AA-333F2EC1B932}" type="sibTrans" cxnId="{94054A61-83BC-4986-AD49-17FABE2382DD}">
      <dgm:prSet/>
      <dgm:spPr>
        <a:ln>
          <a:solidFill>
            <a:schemeClr val="accent1"/>
          </a:solidFill>
          <a:prstDash val="dash"/>
        </a:ln>
      </dgm:spPr>
      <dgm:t>
        <a:bodyPr/>
        <a:lstStyle/>
        <a:p>
          <a:endParaRPr lang="tr-TR"/>
        </a:p>
      </dgm:t>
    </dgm:pt>
    <dgm:pt modelId="{8C4FA623-2589-4E8E-BBDA-380CD013C013}">
      <dgm:prSet/>
      <dgm:spPr/>
      <dgm:t>
        <a:bodyPr/>
        <a:lstStyle/>
        <a:p>
          <a:r>
            <a:rPr lang="tr-TR" dirty="0" smtClean="0"/>
            <a:t>Satış (P2)</a:t>
          </a:r>
          <a:endParaRPr lang="tr-TR" dirty="0"/>
        </a:p>
      </dgm:t>
    </dgm:pt>
    <dgm:pt modelId="{EDBD7549-D622-4AFD-B18E-442C9D81B65F}" type="parTrans" cxnId="{8CC4ECC2-5119-4A07-8964-E43A73353A4F}">
      <dgm:prSet/>
      <dgm:spPr/>
      <dgm:t>
        <a:bodyPr/>
        <a:lstStyle/>
        <a:p>
          <a:endParaRPr lang="tr-TR"/>
        </a:p>
      </dgm:t>
    </dgm:pt>
    <dgm:pt modelId="{4EA2C1F1-18D1-479F-960A-6EE4663C1A98}" type="sibTrans" cxnId="{8CC4ECC2-5119-4A07-8964-E43A73353A4F}">
      <dgm:prSet/>
      <dgm:spPr>
        <a:ln>
          <a:solidFill>
            <a:schemeClr val="accent1"/>
          </a:solidFill>
          <a:prstDash val="dash"/>
        </a:ln>
      </dgm:spPr>
      <dgm:t>
        <a:bodyPr/>
        <a:lstStyle/>
        <a:p>
          <a:endParaRPr lang="tr-TR"/>
        </a:p>
      </dgm:t>
    </dgm:pt>
    <dgm:pt modelId="{785C1C4A-2FC2-451C-900B-A67859A364F6}">
      <dgm:prSet phldrT="[Metin]"/>
      <dgm:spPr/>
      <dgm:t>
        <a:bodyPr/>
        <a:lstStyle/>
        <a:p>
          <a:r>
            <a:rPr lang="tr-TR" dirty="0" smtClean="0"/>
            <a:t>Tedarikçi Dosyası (F2)</a:t>
          </a:r>
          <a:endParaRPr lang="tr-TR" dirty="0"/>
        </a:p>
      </dgm:t>
    </dgm:pt>
    <dgm:pt modelId="{3A03CBCD-8FB0-4A3B-AB52-2FF0AE0698CD}" type="sibTrans" cxnId="{61893E5C-489A-42E7-B48D-D4DB76D6FBF9}">
      <dgm:prSet/>
      <dgm:spPr/>
      <dgm:t>
        <a:bodyPr/>
        <a:lstStyle/>
        <a:p>
          <a:endParaRPr lang="tr-TR"/>
        </a:p>
      </dgm:t>
    </dgm:pt>
    <dgm:pt modelId="{71531CF3-D393-45BB-B04C-6F4CCD20F7B6}" type="parTrans" cxnId="{61893E5C-489A-42E7-B48D-D4DB76D6FBF9}">
      <dgm:prSet/>
      <dgm:spPr/>
      <dgm:t>
        <a:bodyPr/>
        <a:lstStyle/>
        <a:p>
          <a:endParaRPr lang="tr-TR"/>
        </a:p>
      </dgm:t>
    </dgm:pt>
    <dgm:pt modelId="{C9EC76B8-7940-4563-98E7-E166BB5C9278}" type="pres">
      <dgm:prSet presAssocID="{221BE08D-E8F9-46DE-AB0A-C21232F647D9}" presName="cycle" presStyleCnt="0">
        <dgm:presLayoutVars>
          <dgm:dir/>
          <dgm:resizeHandles val="exact"/>
        </dgm:presLayoutVars>
      </dgm:prSet>
      <dgm:spPr/>
      <dgm:t>
        <a:bodyPr/>
        <a:lstStyle/>
        <a:p>
          <a:endParaRPr lang="tr-TR"/>
        </a:p>
      </dgm:t>
    </dgm:pt>
    <dgm:pt modelId="{5D39B8E2-5C64-40B0-96FB-61FA7EE14EE3}" type="pres">
      <dgm:prSet presAssocID="{BD8F46A7-87AC-429A-B5AF-87D1A92C538D}" presName="node" presStyleLbl="node1" presStyleIdx="0" presStyleCnt="4" custScaleX="189738" custScaleY="33738">
        <dgm:presLayoutVars>
          <dgm:bulletEnabled val="1"/>
        </dgm:presLayoutVars>
      </dgm:prSet>
      <dgm:spPr>
        <a:prstGeom prst="rect">
          <a:avLst/>
        </a:prstGeom>
      </dgm:spPr>
      <dgm:t>
        <a:bodyPr/>
        <a:lstStyle/>
        <a:p>
          <a:endParaRPr lang="tr-TR"/>
        </a:p>
      </dgm:t>
    </dgm:pt>
    <dgm:pt modelId="{0C780E3C-69F8-45D4-905C-1B1CDAA63298}" type="pres">
      <dgm:prSet presAssocID="{3E7D1630-8AEB-4942-983E-F0510113CDAE}" presName="sibTrans" presStyleLbl="sibTrans2D1" presStyleIdx="0" presStyleCnt="4" custLinFactNeighborX="65470" custLinFactNeighborY="-21035"/>
      <dgm:spPr/>
      <dgm:t>
        <a:bodyPr/>
        <a:lstStyle/>
        <a:p>
          <a:endParaRPr lang="tr-TR"/>
        </a:p>
      </dgm:t>
    </dgm:pt>
    <dgm:pt modelId="{86641EC3-4A11-4A31-980D-AA2A848D4DEA}" type="pres">
      <dgm:prSet presAssocID="{3E7D1630-8AEB-4942-983E-F0510113CDAE}" presName="connectorText" presStyleLbl="sibTrans2D1" presStyleIdx="0" presStyleCnt="4"/>
      <dgm:spPr/>
      <dgm:t>
        <a:bodyPr/>
        <a:lstStyle/>
        <a:p>
          <a:endParaRPr lang="tr-TR"/>
        </a:p>
      </dgm:t>
    </dgm:pt>
    <dgm:pt modelId="{5585AE3A-1153-4D16-99F0-F182127F84DA}" type="pres">
      <dgm:prSet presAssocID="{8C4FA623-2589-4E8E-BBDA-380CD013C013}" presName="node" presStyleLbl="node1" presStyleIdx="1" presStyleCnt="4" custRadScaleRad="183849" custRadScaleInc="-128">
        <dgm:presLayoutVars>
          <dgm:bulletEnabled val="1"/>
        </dgm:presLayoutVars>
      </dgm:prSet>
      <dgm:spPr/>
      <dgm:t>
        <a:bodyPr/>
        <a:lstStyle/>
        <a:p>
          <a:endParaRPr lang="tr-TR"/>
        </a:p>
      </dgm:t>
    </dgm:pt>
    <dgm:pt modelId="{187E3463-36EC-4A66-ADBC-B23B3AE93DEE}" type="pres">
      <dgm:prSet presAssocID="{4EA2C1F1-18D1-479F-960A-6EE4663C1A98}" presName="sibTrans" presStyleLbl="sibTrans2D1" presStyleIdx="1" presStyleCnt="4" custLinFactNeighborX="45419" custLinFactNeighborY="39190"/>
      <dgm:spPr/>
      <dgm:t>
        <a:bodyPr/>
        <a:lstStyle/>
        <a:p>
          <a:endParaRPr lang="tr-TR"/>
        </a:p>
      </dgm:t>
    </dgm:pt>
    <dgm:pt modelId="{DD412F33-A7CD-4CE7-BCAE-F13A3F9A8DEF}" type="pres">
      <dgm:prSet presAssocID="{4EA2C1F1-18D1-479F-960A-6EE4663C1A98}" presName="connectorText" presStyleLbl="sibTrans2D1" presStyleIdx="1" presStyleCnt="4"/>
      <dgm:spPr/>
      <dgm:t>
        <a:bodyPr/>
        <a:lstStyle/>
        <a:p>
          <a:endParaRPr lang="tr-TR"/>
        </a:p>
      </dgm:t>
    </dgm:pt>
    <dgm:pt modelId="{5214DAFA-76B8-4457-A831-9240AAE35F11}" type="pres">
      <dgm:prSet presAssocID="{785C1C4A-2FC2-451C-900B-A67859A364F6}" presName="node" presStyleLbl="node1" presStyleIdx="2" presStyleCnt="4" custScaleX="171509" custScaleY="30073">
        <dgm:presLayoutVars>
          <dgm:bulletEnabled val="1"/>
        </dgm:presLayoutVars>
      </dgm:prSet>
      <dgm:spPr>
        <a:prstGeom prst="rect">
          <a:avLst/>
        </a:prstGeom>
      </dgm:spPr>
      <dgm:t>
        <a:bodyPr/>
        <a:lstStyle/>
        <a:p>
          <a:endParaRPr lang="tr-TR"/>
        </a:p>
      </dgm:t>
    </dgm:pt>
    <dgm:pt modelId="{3ED7A403-D392-4917-974A-5BF3F0DF7DB4}" type="pres">
      <dgm:prSet presAssocID="{3A03CBCD-8FB0-4A3B-AB52-2FF0AE0698CD}" presName="sibTrans" presStyleLbl="sibTrans2D1" presStyleIdx="2" presStyleCnt="4" custLinFactNeighborX="-74635" custLinFactNeighborY="25563"/>
      <dgm:spPr/>
      <dgm:t>
        <a:bodyPr/>
        <a:lstStyle/>
        <a:p>
          <a:endParaRPr lang="tr-TR"/>
        </a:p>
      </dgm:t>
    </dgm:pt>
    <dgm:pt modelId="{EDD5BD54-33C2-4020-97A8-C0AE5C12DC21}" type="pres">
      <dgm:prSet presAssocID="{3A03CBCD-8FB0-4A3B-AB52-2FF0AE0698CD}" presName="connectorText" presStyleLbl="sibTrans2D1" presStyleIdx="2" presStyleCnt="4"/>
      <dgm:spPr/>
      <dgm:t>
        <a:bodyPr/>
        <a:lstStyle/>
        <a:p>
          <a:endParaRPr lang="tr-TR"/>
        </a:p>
      </dgm:t>
    </dgm:pt>
    <dgm:pt modelId="{2E8B08A9-A2A2-4B81-BDE9-C66EB6B2385C}" type="pres">
      <dgm:prSet presAssocID="{CC786EBF-E8F1-4AA7-ACD1-B4DDC16C39FF}" presName="node" presStyleLbl="node1" presStyleIdx="3" presStyleCnt="4" custRadScaleRad="152767" custRadScaleInc="4537">
        <dgm:presLayoutVars>
          <dgm:bulletEnabled val="1"/>
        </dgm:presLayoutVars>
      </dgm:prSet>
      <dgm:spPr/>
      <dgm:t>
        <a:bodyPr/>
        <a:lstStyle/>
        <a:p>
          <a:endParaRPr lang="tr-TR"/>
        </a:p>
      </dgm:t>
    </dgm:pt>
    <dgm:pt modelId="{F83844FF-BEB4-4011-9825-F25715AC2AA3}" type="pres">
      <dgm:prSet presAssocID="{7570555B-9179-44AC-91AA-333F2EC1B932}" presName="sibTrans" presStyleLbl="sibTrans2D1" presStyleIdx="3" presStyleCnt="4" custLinFactNeighborX="-78400" custLinFactNeighborY="-47923"/>
      <dgm:spPr/>
      <dgm:t>
        <a:bodyPr/>
        <a:lstStyle/>
        <a:p>
          <a:endParaRPr lang="tr-TR"/>
        </a:p>
      </dgm:t>
    </dgm:pt>
    <dgm:pt modelId="{64DD905B-7197-49E6-B231-332B6C822A01}" type="pres">
      <dgm:prSet presAssocID="{7570555B-9179-44AC-91AA-333F2EC1B932}" presName="connectorText" presStyleLbl="sibTrans2D1" presStyleIdx="3" presStyleCnt="4"/>
      <dgm:spPr/>
      <dgm:t>
        <a:bodyPr/>
        <a:lstStyle/>
        <a:p>
          <a:endParaRPr lang="tr-TR"/>
        </a:p>
      </dgm:t>
    </dgm:pt>
  </dgm:ptLst>
  <dgm:cxnLst>
    <dgm:cxn modelId="{6E2D0748-416C-4CAC-B0D1-72BC4FD0FED9}" type="presOf" srcId="{8C4FA623-2589-4E8E-BBDA-380CD013C013}" destId="{5585AE3A-1153-4D16-99F0-F182127F84DA}" srcOrd="0" destOrd="0" presId="urn:microsoft.com/office/officeart/2005/8/layout/cycle2"/>
    <dgm:cxn modelId="{EE7CB93E-B7A6-4989-8FEE-571807B5A215}" type="presOf" srcId="{7570555B-9179-44AC-91AA-333F2EC1B932}" destId="{F83844FF-BEB4-4011-9825-F25715AC2AA3}" srcOrd="0" destOrd="0" presId="urn:microsoft.com/office/officeart/2005/8/layout/cycle2"/>
    <dgm:cxn modelId="{075DDF38-24AB-41D4-90C7-E26332CEA51E}" type="presOf" srcId="{3A03CBCD-8FB0-4A3B-AB52-2FF0AE0698CD}" destId="{EDD5BD54-33C2-4020-97A8-C0AE5C12DC21}" srcOrd="1" destOrd="0" presId="urn:microsoft.com/office/officeart/2005/8/layout/cycle2"/>
    <dgm:cxn modelId="{8F8DEB4C-CEFD-408B-B0DE-A19F047BF094}" srcId="{221BE08D-E8F9-46DE-AB0A-C21232F647D9}" destId="{BD8F46A7-87AC-429A-B5AF-87D1A92C538D}" srcOrd="0" destOrd="0" parTransId="{518079B4-22C4-445F-8415-2DF6D8D84CCB}" sibTransId="{3E7D1630-8AEB-4942-983E-F0510113CDAE}"/>
    <dgm:cxn modelId="{44E381D3-5685-4F6C-B300-B85D07445C7E}" type="presOf" srcId="{785C1C4A-2FC2-451C-900B-A67859A364F6}" destId="{5214DAFA-76B8-4457-A831-9240AAE35F11}" srcOrd="0" destOrd="0" presId="urn:microsoft.com/office/officeart/2005/8/layout/cycle2"/>
    <dgm:cxn modelId="{DA1E764B-C2C6-4DBD-A31F-6646610A521B}" type="presOf" srcId="{3E7D1630-8AEB-4942-983E-F0510113CDAE}" destId="{86641EC3-4A11-4A31-980D-AA2A848D4DEA}" srcOrd="1" destOrd="0" presId="urn:microsoft.com/office/officeart/2005/8/layout/cycle2"/>
    <dgm:cxn modelId="{FBD99B37-8DEB-4ECD-8847-932D4CA3153E}" type="presOf" srcId="{CC786EBF-E8F1-4AA7-ACD1-B4DDC16C39FF}" destId="{2E8B08A9-A2A2-4B81-BDE9-C66EB6B2385C}" srcOrd="0" destOrd="0" presId="urn:microsoft.com/office/officeart/2005/8/layout/cycle2"/>
    <dgm:cxn modelId="{07CC5782-C1D9-4686-AE40-117B986CD430}" type="presOf" srcId="{3E7D1630-8AEB-4942-983E-F0510113CDAE}" destId="{0C780E3C-69F8-45D4-905C-1B1CDAA63298}" srcOrd="0" destOrd="0" presId="urn:microsoft.com/office/officeart/2005/8/layout/cycle2"/>
    <dgm:cxn modelId="{8CC4ECC2-5119-4A07-8964-E43A73353A4F}" srcId="{221BE08D-E8F9-46DE-AB0A-C21232F647D9}" destId="{8C4FA623-2589-4E8E-BBDA-380CD013C013}" srcOrd="1" destOrd="0" parTransId="{EDBD7549-D622-4AFD-B18E-442C9D81B65F}" sibTransId="{4EA2C1F1-18D1-479F-960A-6EE4663C1A98}"/>
    <dgm:cxn modelId="{4600A30E-47E6-4460-BDC7-7515A6F6E8E1}" type="presOf" srcId="{221BE08D-E8F9-46DE-AB0A-C21232F647D9}" destId="{C9EC76B8-7940-4563-98E7-E166BB5C9278}" srcOrd="0" destOrd="0" presId="urn:microsoft.com/office/officeart/2005/8/layout/cycle2"/>
    <dgm:cxn modelId="{ADFC5798-FF07-4BEF-8633-E88BC4E58583}" type="presOf" srcId="{4EA2C1F1-18D1-479F-960A-6EE4663C1A98}" destId="{187E3463-36EC-4A66-ADBC-B23B3AE93DEE}" srcOrd="0" destOrd="0" presId="urn:microsoft.com/office/officeart/2005/8/layout/cycle2"/>
    <dgm:cxn modelId="{94054A61-83BC-4986-AD49-17FABE2382DD}" srcId="{221BE08D-E8F9-46DE-AB0A-C21232F647D9}" destId="{CC786EBF-E8F1-4AA7-ACD1-B4DDC16C39FF}" srcOrd="3" destOrd="0" parTransId="{1ACE67C0-F768-409E-8F6C-D1DFE3968F2A}" sibTransId="{7570555B-9179-44AC-91AA-333F2EC1B932}"/>
    <dgm:cxn modelId="{571436C7-799A-44D2-A822-E01C0B1DFC65}" type="presOf" srcId="{4EA2C1F1-18D1-479F-960A-6EE4663C1A98}" destId="{DD412F33-A7CD-4CE7-BCAE-F13A3F9A8DEF}" srcOrd="1" destOrd="0" presId="urn:microsoft.com/office/officeart/2005/8/layout/cycle2"/>
    <dgm:cxn modelId="{5A1EDB29-4D7F-44BB-BB46-01DCDDC765DC}" type="presOf" srcId="{7570555B-9179-44AC-91AA-333F2EC1B932}" destId="{64DD905B-7197-49E6-B231-332B6C822A01}" srcOrd="1" destOrd="0" presId="urn:microsoft.com/office/officeart/2005/8/layout/cycle2"/>
    <dgm:cxn modelId="{2CC3D982-4B31-41FF-9C47-1D70130F9756}" type="presOf" srcId="{3A03CBCD-8FB0-4A3B-AB52-2FF0AE0698CD}" destId="{3ED7A403-D392-4917-974A-5BF3F0DF7DB4}" srcOrd="0" destOrd="0" presId="urn:microsoft.com/office/officeart/2005/8/layout/cycle2"/>
    <dgm:cxn modelId="{61893E5C-489A-42E7-B48D-D4DB76D6FBF9}" srcId="{221BE08D-E8F9-46DE-AB0A-C21232F647D9}" destId="{785C1C4A-2FC2-451C-900B-A67859A364F6}" srcOrd="2" destOrd="0" parTransId="{71531CF3-D393-45BB-B04C-6F4CCD20F7B6}" sibTransId="{3A03CBCD-8FB0-4A3B-AB52-2FF0AE0698CD}"/>
    <dgm:cxn modelId="{C6EAD804-A9DD-44D9-8AD7-F9EF76570856}" type="presOf" srcId="{BD8F46A7-87AC-429A-B5AF-87D1A92C538D}" destId="{5D39B8E2-5C64-40B0-96FB-61FA7EE14EE3}" srcOrd="0" destOrd="0" presId="urn:microsoft.com/office/officeart/2005/8/layout/cycle2"/>
    <dgm:cxn modelId="{2EDAAD42-CFF3-41FE-ABE7-7082D0F173BF}" type="presParOf" srcId="{C9EC76B8-7940-4563-98E7-E166BB5C9278}" destId="{5D39B8E2-5C64-40B0-96FB-61FA7EE14EE3}" srcOrd="0" destOrd="0" presId="urn:microsoft.com/office/officeart/2005/8/layout/cycle2"/>
    <dgm:cxn modelId="{C75196EF-5340-4C37-9BBF-08722FA8BA5B}" type="presParOf" srcId="{C9EC76B8-7940-4563-98E7-E166BB5C9278}" destId="{0C780E3C-69F8-45D4-905C-1B1CDAA63298}" srcOrd="1" destOrd="0" presId="urn:microsoft.com/office/officeart/2005/8/layout/cycle2"/>
    <dgm:cxn modelId="{C5B4AD17-6AF8-4CA4-8C78-BBE763A56EEB}" type="presParOf" srcId="{0C780E3C-69F8-45D4-905C-1B1CDAA63298}" destId="{86641EC3-4A11-4A31-980D-AA2A848D4DEA}" srcOrd="0" destOrd="0" presId="urn:microsoft.com/office/officeart/2005/8/layout/cycle2"/>
    <dgm:cxn modelId="{01DC48F0-C11A-4B33-B653-FA8E37162E2C}" type="presParOf" srcId="{C9EC76B8-7940-4563-98E7-E166BB5C9278}" destId="{5585AE3A-1153-4D16-99F0-F182127F84DA}" srcOrd="2" destOrd="0" presId="urn:microsoft.com/office/officeart/2005/8/layout/cycle2"/>
    <dgm:cxn modelId="{7C3FD7BA-1F93-46B7-A22C-034B683E6694}" type="presParOf" srcId="{C9EC76B8-7940-4563-98E7-E166BB5C9278}" destId="{187E3463-36EC-4A66-ADBC-B23B3AE93DEE}" srcOrd="3" destOrd="0" presId="urn:microsoft.com/office/officeart/2005/8/layout/cycle2"/>
    <dgm:cxn modelId="{27EB7C42-00EB-4D4F-8CBA-2EE64EB44F9F}" type="presParOf" srcId="{187E3463-36EC-4A66-ADBC-B23B3AE93DEE}" destId="{DD412F33-A7CD-4CE7-BCAE-F13A3F9A8DEF}" srcOrd="0" destOrd="0" presId="urn:microsoft.com/office/officeart/2005/8/layout/cycle2"/>
    <dgm:cxn modelId="{AADF56E6-1167-4FCF-9886-BD92EFE6F91E}" type="presParOf" srcId="{C9EC76B8-7940-4563-98E7-E166BB5C9278}" destId="{5214DAFA-76B8-4457-A831-9240AAE35F11}" srcOrd="4" destOrd="0" presId="urn:microsoft.com/office/officeart/2005/8/layout/cycle2"/>
    <dgm:cxn modelId="{B0DB773F-6F81-4ABA-9DAE-7E924C5BF2E5}" type="presParOf" srcId="{C9EC76B8-7940-4563-98E7-E166BB5C9278}" destId="{3ED7A403-D392-4917-974A-5BF3F0DF7DB4}" srcOrd="5" destOrd="0" presId="urn:microsoft.com/office/officeart/2005/8/layout/cycle2"/>
    <dgm:cxn modelId="{B33D7A1D-4BCF-41AB-B8B2-7062485C176D}" type="presParOf" srcId="{3ED7A403-D392-4917-974A-5BF3F0DF7DB4}" destId="{EDD5BD54-33C2-4020-97A8-C0AE5C12DC21}" srcOrd="0" destOrd="0" presId="urn:microsoft.com/office/officeart/2005/8/layout/cycle2"/>
    <dgm:cxn modelId="{AAEBE8E1-916B-4E46-B8DD-5ECE5D6FBE8A}" type="presParOf" srcId="{C9EC76B8-7940-4563-98E7-E166BB5C9278}" destId="{2E8B08A9-A2A2-4B81-BDE9-C66EB6B2385C}" srcOrd="6" destOrd="0" presId="urn:microsoft.com/office/officeart/2005/8/layout/cycle2"/>
    <dgm:cxn modelId="{C2990067-8F70-4D27-B924-EC2C86EFE2A4}" type="presParOf" srcId="{C9EC76B8-7940-4563-98E7-E166BB5C9278}" destId="{F83844FF-BEB4-4011-9825-F25715AC2AA3}" srcOrd="7" destOrd="0" presId="urn:microsoft.com/office/officeart/2005/8/layout/cycle2"/>
    <dgm:cxn modelId="{C9F6A921-FB3A-40D4-AAA2-8D45DD73E76D}" type="presParOf" srcId="{F83844FF-BEB4-4011-9825-F25715AC2AA3}" destId="{64DD905B-7197-49E6-B231-332B6C822A01}"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75D588-B191-448B-AB61-80546B2291D0}">
      <dsp:nvSpPr>
        <dsp:cNvPr id="0" name=""/>
        <dsp:cNvSpPr/>
      </dsp:nvSpPr>
      <dsp:spPr>
        <a:xfrm>
          <a:off x="7105" y="1889835"/>
          <a:ext cx="1853308" cy="926654"/>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tr-TR" sz="1800" kern="1200" dirty="0" smtClean="0"/>
            <a:t>Bilgisayar Kaynakları</a:t>
          </a:r>
          <a:endParaRPr lang="tr-TR" sz="1800" kern="1200" dirty="0"/>
        </a:p>
      </dsp:txBody>
      <dsp:txXfrm>
        <a:off x="34246" y="1916976"/>
        <a:ext cx="1799026" cy="872372"/>
      </dsp:txXfrm>
    </dsp:sp>
    <dsp:sp modelId="{A995683A-2BBD-4B04-8125-C4EFEB62A351}">
      <dsp:nvSpPr>
        <dsp:cNvPr id="0" name=""/>
        <dsp:cNvSpPr/>
      </dsp:nvSpPr>
      <dsp:spPr>
        <a:xfrm rot="18269652">
          <a:off x="1576569" y="1795048"/>
          <a:ext cx="1309012" cy="37360"/>
        </a:xfrm>
        <a:custGeom>
          <a:avLst/>
          <a:gdLst/>
          <a:ahLst/>
          <a:cxnLst/>
          <a:rect l="0" t="0" r="0" b="0"/>
          <a:pathLst>
            <a:path>
              <a:moveTo>
                <a:pt x="0" y="18680"/>
              </a:moveTo>
              <a:lnTo>
                <a:pt x="1309012" y="1868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tr-TR" sz="500" kern="1200"/>
        </a:p>
      </dsp:txBody>
      <dsp:txXfrm>
        <a:off x="2198350" y="1781003"/>
        <a:ext cx="65450" cy="65450"/>
      </dsp:txXfrm>
    </dsp:sp>
    <dsp:sp modelId="{888955AD-CE57-40A6-9BAC-2AAD32E22A16}">
      <dsp:nvSpPr>
        <dsp:cNvPr id="0" name=""/>
        <dsp:cNvSpPr/>
      </dsp:nvSpPr>
      <dsp:spPr>
        <a:xfrm>
          <a:off x="2601737" y="810968"/>
          <a:ext cx="1853308" cy="926654"/>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tr-TR" sz="1400" kern="1200" dirty="0" smtClean="0"/>
            <a:t>Ele Geçirilebilir</a:t>
          </a:r>
        </a:p>
        <a:p>
          <a:pPr lvl="0" algn="ctr" defTabSz="622300">
            <a:lnSpc>
              <a:spcPct val="90000"/>
            </a:lnSpc>
            <a:spcBef>
              <a:spcPct val="0"/>
            </a:spcBef>
            <a:spcAft>
              <a:spcPct val="35000"/>
            </a:spcAft>
          </a:pPr>
          <a:r>
            <a:rPr lang="tr-TR" sz="1400" kern="1200" dirty="0" smtClean="0"/>
            <a:t>(</a:t>
          </a:r>
          <a:r>
            <a:rPr lang="tr-TR" sz="1400" kern="1200" dirty="0" err="1" smtClean="0"/>
            <a:t>Pre-emptable</a:t>
          </a:r>
          <a:r>
            <a:rPr lang="tr-TR" sz="1400" kern="1200" dirty="0" smtClean="0"/>
            <a:t>)</a:t>
          </a:r>
          <a:endParaRPr lang="tr-TR" sz="1400" kern="1200" dirty="0"/>
        </a:p>
      </dsp:txBody>
      <dsp:txXfrm>
        <a:off x="2628878" y="838109"/>
        <a:ext cx="1799026" cy="872372"/>
      </dsp:txXfrm>
    </dsp:sp>
    <dsp:sp modelId="{1658FAF3-B30D-4AD2-A658-12A7C50C328E}">
      <dsp:nvSpPr>
        <dsp:cNvPr id="0" name=""/>
        <dsp:cNvSpPr/>
      </dsp:nvSpPr>
      <dsp:spPr>
        <a:xfrm>
          <a:off x="4455046" y="1255615"/>
          <a:ext cx="741323" cy="37360"/>
        </a:xfrm>
        <a:custGeom>
          <a:avLst/>
          <a:gdLst/>
          <a:ahLst/>
          <a:cxnLst/>
          <a:rect l="0" t="0" r="0" b="0"/>
          <a:pathLst>
            <a:path>
              <a:moveTo>
                <a:pt x="0" y="18680"/>
              </a:moveTo>
              <a:lnTo>
                <a:pt x="741323" y="1868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tr-TR" sz="500" kern="1200"/>
        </a:p>
      </dsp:txBody>
      <dsp:txXfrm>
        <a:off x="4807174" y="1255762"/>
        <a:ext cx="37066" cy="37066"/>
      </dsp:txXfrm>
    </dsp:sp>
    <dsp:sp modelId="{F6C55CAC-F563-4B18-9ABD-5C28D84D99BF}">
      <dsp:nvSpPr>
        <dsp:cNvPr id="0" name=""/>
        <dsp:cNvSpPr/>
      </dsp:nvSpPr>
      <dsp:spPr>
        <a:xfrm>
          <a:off x="5196369" y="144014"/>
          <a:ext cx="1853308" cy="2260563"/>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tr-TR" sz="1400" kern="1200" dirty="0" smtClean="0"/>
            <a:t>İşlemci</a:t>
          </a:r>
        </a:p>
        <a:p>
          <a:pPr lvl="0" algn="ctr" defTabSz="622300">
            <a:lnSpc>
              <a:spcPct val="90000"/>
            </a:lnSpc>
            <a:spcBef>
              <a:spcPct val="0"/>
            </a:spcBef>
            <a:spcAft>
              <a:spcPct val="35000"/>
            </a:spcAft>
          </a:pPr>
          <a:r>
            <a:rPr lang="tr-TR" sz="1400" kern="1200" dirty="0" smtClean="0"/>
            <a:t>I/O Kanalları</a:t>
          </a:r>
        </a:p>
        <a:p>
          <a:pPr lvl="0" algn="ctr" defTabSz="622300">
            <a:lnSpc>
              <a:spcPct val="90000"/>
            </a:lnSpc>
            <a:spcBef>
              <a:spcPct val="0"/>
            </a:spcBef>
            <a:spcAft>
              <a:spcPct val="35000"/>
            </a:spcAft>
          </a:pPr>
          <a:r>
            <a:rPr lang="tr-TR" sz="1400" kern="1200" dirty="0" smtClean="0"/>
            <a:t>Ana bellek</a:t>
          </a:r>
        </a:p>
        <a:p>
          <a:pPr lvl="0" algn="ctr" defTabSz="622300">
            <a:lnSpc>
              <a:spcPct val="90000"/>
            </a:lnSpc>
            <a:spcBef>
              <a:spcPct val="0"/>
            </a:spcBef>
            <a:spcAft>
              <a:spcPct val="35000"/>
            </a:spcAft>
          </a:pPr>
          <a:r>
            <a:rPr lang="tr-TR" sz="1400" kern="1200" dirty="0" smtClean="0"/>
            <a:t>İkincil bellek</a:t>
          </a:r>
        </a:p>
        <a:p>
          <a:pPr lvl="0" algn="ctr" defTabSz="622300">
            <a:lnSpc>
              <a:spcPct val="90000"/>
            </a:lnSpc>
            <a:spcBef>
              <a:spcPct val="0"/>
            </a:spcBef>
            <a:spcAft>
              <a:spcPct val="35000"/>
            </a:spcAft>
          </a:pPr>
          <a:r>
            <a:rPr lang="tr-TR" sz="1400" kern="1200" dirty="0" smtClean="0"/>
            <a:t>Aygıtlar</a:t>
          </a:r>
        </a:p>
        <a:p>
          <a:pPr lvl="0" algn="ctr" defTabSz="622300">
            <a:lnSpc>
              <a:spcPct val="90000"/>
            </a:lnSpc>
            <a:spcBef>
              <a:spcPct val="0"/>
            </a:spcBef>
            <a:spcAft>
              <a:spcPct val="35000"/>
            </a:spcAft>
          </a:pPr>
          <a:r>
            <a:rPr lang="tr-TR" sz="1400" kern="1200" dirty="0" err="1" smtClean="0"/>
            <a:t>Veritabanı</a:t>
          </a:r>
          <a:endParaRPr lang="tr-TR" sz="1400" kern="1200" dirty="0" smtClean="0"/>
        </a:p>
        <a:p>
          <a:pPr lvl="0" algn="ctr" defTabSz="622300">
            <a:lnSpc>
              <a:spcPct val="90000"/>
            </a:lnSpc>
            <a:spcBef>
              <a:spcPct val="0"/>
            </a:spcBef>
            <a:spcAft>
              <a:spcPct val="35000"/>
            </a:spcAft>
          </a:pPr>
          <a:r>
            <a:rPr lang="tr-TR" sz="1400" kern="1200" dirty="0" smtClean="0"/>
            <a:t>Semaforlar</a:t>
          </a:r>
          <a:endParaRPr lang="tr-TR" sz="1400" kern="1200" dirty="0"/>
        </a:p>
      </dsp:txBody>
      <dsp:txXfrm>
        <a:off x="5250651" y="198296"/>
        <a:ext cx="1744744" cy="2151999"/>
      </dsp:txXfrm>
    </dsp:sp>
    <dsp:sp modelId="{DE1034E3-F7C3-4296-9409-57C333F2E7B3}">
      <dsp:nvSpPr>
        <dsp:cNvPr id="0" name=""/>
        <dsp:cNvSpPr/>
      </dsp:nvSpPr>
      <dsp:spPr>
        <a:xfrm rot="3330348">
          <a:off x="1576569" y="2873915"/>
          <a:ext cx="1309012" cy="37360"/>
        </a:xfrm>
        <a:custGeom>
          <a:avLst/>
          <a:gdLst/>
          <a:ahLst/>
          <a:cxnLst/>
          <a:rect l="0" t="0" r="0" b="0"/>
          <a:pathLst>
            <a:path>
              <a:moveTo>
                <a:pt x="0" y="18680"/>
              </a:moveTo>
              <a:lnTo>
                <a:pt x="1309012" y="1868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tr-TR" sz="500" kern="1200"/>
        </a:p>
      </dsp:txBody>
      <dsp:txXfrm>
        <a:off x="2198350" y="2859870"/>
        <a:ext cx="65450" cy="65450"/>
      </dsp:txXfrm>
    </dsp:sp>
    <dsp:sp modelId="{84F6CA07-A7E7-4735-B5A2-88134FC31311}">
      <dsp:nvSpPr>
        <dsp:cNvPr id="0" name=""/>
        <dsp:cNvSpPr/>
      </dsp:nvSpPr>
      <dsp:spPr>
        <a:xfrm>
          <a:off x="2601737" y="2968701"/>
          <a:ext cx="1853308" cy="926654"/>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tr-TR" sz="1200" kern="1200" dirty="0" smtClean="0"/>
            <a:t>Ele Geçirilemez</a:t>
          </a:r>
        </a:p>
        <a:p>
          <a:pPr lvl="0" algn="ctr" defTabSz="533400">
            <a:lnSpc>
              <a:spcPct val="90000"/>
            </a:lnSpc>
            <a:spcBef>
              <a:spcPct val="0"/>
            </a:spcBef>
            <a:spcAft>
              <a:spcPct val="35000"/>
            </a:spcAft>
          </a:pPr>
          <a:r>
            <a:rPr lang="tr-TR" sz="1200" kern="1200" dirty="0" smtClean="0"/>
            <a:t>(</a:t>
          </a:r>
          <a:r>
            <a:rPr lang="tr-TR" sz="1200" kern="1200" dirty="0" err="1" smtClean="0"/>
            <a:t>Non</a:t>
          </a:r>
          <a:r>
            <a:rPr lang="tr-TR" sz="1200" kern="1200" dirty="0" smtClean="0"/>
            <a:t> </a:t>
          </a:r>
          <a:r>
            <a:rPr lang="tr-TR" sz="1200" kern="1200" dirty="0" err="1" smtClean="0"/>
            <a:t>Pre-emptable</a:t>
          </a:r>
          <a:r>
            <a:rPr lang="tr-TR" sz="1200" kern="1200" dirty="0" smtClean="0"/>
            <a:t>)</a:t>
          </a:r>
          <a:endParaRPr lang="tr-TR" sz="1200" kern="1200" dirty="0"/>
        </a:p>
      </dsp:txBody>
      <dsp:txXfrm>
        <a:off x="2628878" y="2995842"/>
        <a:ext cx="1799026" cy="872372"/>
      </dsp:txXfrm>
    </dsp:sp>
    <dsp:sp modelId="{E5E45DFC-28D5-4F00-9B6A-F18074DC0EEE}">
      <dsp:nvSpPr>
        <dsp:cNvPr id="0" name=""/>
        <dsp:cNvSpPr/>
      </dsp:nvSpPr>
      <dsp:spPr>
        <a:xfrm>
          <a:off x="4455046" y="3413348"/>
          <a:ext cx="741323" cy="37360"/>
        </a:xfrm>
        <a:custGeom>
          <a:avLst/>
          <a:gdLst/>
          <a:ahLst/>
          <a:cxnLst/>
          <a:rect l="0" t="0" r="0" b="0"/>
          <a:pathLst>
            <a:path>
              <a:moveTo>
                <a:pt x="0" y="18680"/>
              </a:moveTo>
              <a:lnTo>
                <a:pt x="741323" y="1868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tr-TR" sz="500" kern="1200"/>
        </a:p>
      </dsp:txBody>
      <dsp:txXfrm>
        <a:off x="4807174" y="3413495"/>
        <a:ext cx="37066" cy="37066"/>
      </dsp:txXfrm>
    </dsp:sp>
    <dsp:sp modelId="{18C3FC88-1E2A-496C-86D9-610472AFA6BA}">
      <dsp:nvSpPr>
        <dsp:cNvPr id="0" name=""/>
        <dsp:cNvSpPr/>
      </dsp:nvSpPr>
      <dsp:spPr>
        <a:xfrm>
          <a:off x="5196369" y="2543576"/>
          <a:ext cx="1853308" cy="1776905"/>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tr-TR" sz="1200" kern="1200" dirty="0" smtClean="0"/>
            <a:t>Kesmeler</a:t>
          </a:r>
        </a:p>
        <a:p>
          <a:pPr lvl="0" algn="ctr" defTabSz="533400">
            <a:lnSpc>
              <a:spcPct val="90000"/>
            </a:lnSpc>
            <a:spcBef>
              <a:spcPct val="0"/>
            </a:spcBef>
            <a:spcAft>
              <a:spcPct val="35000"/>
            </a:spcAft>
          </a:pPr>
          <a:r>
            <a:rPr lang="tr-TR" sz="1200" kern="1200" dirty="0" smtClean="0"/>
            <a:t>Sinyaller</a:t>
          </a:r>
        </a:p>
        <a:p>
          <a:pPr lvl="0" algn="ctr" defTabSz="533400">
            <a:lnSpc>
              <a:spcPct val="90000"/>
            </a:lnSpc>
            <a:spcBef>
              <a:spcPct val="0"/>
            </a:spcBef>
            <a:spcAft>
              <a:spcPct val="35000"/>
            </a:spcAft>
          </a:pPr>
          <a:r>
            <a:rPr lang="tr-TR" sz="1200" kern="1200" dirty="0" smtClean="0"/>
            <a:t>Mesajlar</a:t>
          </a:r>
        </a:p>
        <a:p>
          <a:pPr lvl="0" algn="ctr" defTabSz="533400">
            <a:lnSpc>
              <a:spcPct val="90000"/>
            </a:lnSpc>
            <a:spcBef>
              <a:spcPct val="0"/>
            </a:spcBef>
            <a:spcAft>
              <a:spcPct val="35000"/>
            </a:spcAft>
          </a:pPr>
          <a:r>
            <a:rPr lang="tr-TR" sz="1200" kern="1200" dirty="0" smtClean="0"/>
            <a:t>Dosyalar</a:t>
          </a:r>
        </a:p>
        <a:p>
          <a:pPr lvl="0" algn="ctr" defTabSz="533400">
            <a:lnSpc>
              <a:spcPct val="90000"/>
            </a:lnSpc>
            <a:spcBef>
              <a:spcPct val="0"/>
            </a:spcBef>
            <a:spcAft>
              <a:spcPct val="35000"/>
            </a:spcAft>
          </a:pPr>
          <a:r>
            <a:rPr lang="tr-TR" sz="1200" kern="1200" dirty="0" smtClean="0"/>
            <a:t>Yazıcılar, Tarayıcılar</a:t>
          </a:r>
        </a:p>
        <a:p>
          <a:pPr lvl="0" algn="ctr" defTabSz="533400">
            <a:lnSpc>
              <a:spcPct val="90000"/>
            </a:lnSpc>
            <a:spcBef>
              <a:spcPct val="0"/>
            </a:spcBef>
            <a:spcAft>
              <a:spcPct val="35000"/>
            </a:spcAft>
          </a:pPr>
          <a:r>
            <a:rPr lang="tr-TR" sz="1200" kern="1200" dirty="0" smtClean="0"/>
            <a:t>I/O tampondaki bilgiler</a:t>
          </a:r>
        </a:p>
        <a:p>
          <a:pPr lvl="0" algn="ctr" defTabSz="533400">
            <a:lnSpc>
              <a:spcPct val="90000"/>
            </a:lnSpc>
            <a:spcBef>
              <a:spcPct val="0"/>
            </a:spcBef>
            <a:spcAft>
              <a:spcPct val="35000"/>
            </a:spcAft>
          </a:pPr>
          <a:r>
            <a:rPr lang="tr-TR" sz="1200" kern="1200" dirty="0" smtClean="0"/>
            <a:t>CDROM Yazma</a:t>
          </a:r>
          <a:endParaRPr lang="tr-TR" sz="1200" kern="1200" dirty="0"/>
        </a:p>
      </dsp:txBody>
      <dsp:txXfrm>
        <a:off x="5248413" y="2595620"/>
        <a:ext cx="1749220" cy="16728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39B8E2-5C64-40B0-96FB-61FA7EE14EE3}">
      <dsp:nvSpPr>
        <dsp:cNvPr id="0" name=""/>
        <dsp:cNvSpPr/>
      </dsp:nvSpPr>
      <dsp:spPr>
        <a:xfrm>
          <a:off x="2685749" y="700576"/>
          <a:ext cx="2621388" cy="46611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tr-TR" sz="1800" kern="1200" dirty="0" smtClean="0"/>
            <a:t>Stok Dosyası (F1)</a:t>
          </a:r>
          <a:endParaRPr lang="tr-TR" sz="1800" kern="1200" dirty="0"/>
        </a:p>
      </dsp:txBody>
      <dsp:txXfrm>
        <a:off x="2685749" y="700576"/>
        <a:ext cx="2621388" cy="466118"/>
      </dsp:txXfrm>
    </dsp:sp>
    <dsp:sp modelId="{0C780E3C-69F8-45D4-905C-1B1CDAA63298}">
      <dsp:nvSpPr>
        <dsp:cNvPr id="0" name=""/>
        <dsp:cNvSpPr/>
      </dsp:nvSpPr>
      <dsp:spPr>
        <a:xfrm rot="1709904">
          <a:off x="5378300" y="1267345"/>
          <a:ext cx="1015638" cy="4662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tr-TR" sz="1400" kern="1200"/>
        </a:p>
      </dsp:txBody>
      <dsp:txXfrm>
        <a:off x="5386775" y="1327230"/>
        <a:ext cx="875753" cy="279770"/>
      </dsp:txXfrm>
    </dsp:sp>
    <dsp:sp modelId="{5585AE3A-1153-4D16-99F0-F182127F84DA}">
      <dsp:nvSpPr>
        <dsp:cNvPr id="0" name=""/>
        <dsp:cNvSpPr/>
      </dsp:nvSpPr>
      <dsp:spPr>
        <a:xfrm>
          <a:off x="6004790" y="1708259"/>
          <a:ext cx="1381583" cy="138158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tr-TR" sz="1800" kern="1200" dirty="0" smtClean="0"/>
            <a:t>Satış (P2)</a:t>
          </a:r>
          <a:endParaRPr lang="tr-TR" sz="1800" kern="1200" dirty="0"/>
        </a:p>
      </dsp:txBody>
      <dsp:txXfrm>
        <a:off x="6207118" y="1910587"/>
        <a:ext cx="976927" cy="976927"/>
      </dsp:txXfrm>
    </dsp:sp>
    <dsp:sp modelId="{187E3463-36EC-4A66-ADBC-B23B3AE93DEE}">
      <dsp:nvSpPr>
        <dsp:cNvPr id="0" name=""/>
        <dsp:cNvSpPr/>
      </dsp:nvSpPr>
      <dsp:spPr>
        <a:xfrm rot="9084762">
          <a:off x="5202295" y="3136321"/>
          <a:ext cx="1043994" cy="466284"/>
        </a:xfrm>
        <a:prstGeom prst="rightArrow">
          <a:avLst>
            <a:gd name="adj1" fmla="val 60000"/>
            <a:gd name="adj2" fmla="val 50000"/>
          </a:avLst>
        </a:prstGeom>
        <a:solidFill>
          <a:schemeClr val="accent1">
            <a:tint val="60000"/>
            <a:hueOff val="0"/>
            <a:satOff val="0"/>
            <a:lumOff val="0"/>
            <a:alphaOff val="0"/>
          </a:schemeClr>
        </a:solidFill>
        <a:ln>
          <a:solidFill>
            <a:schemeClr val="accent1"/>
          </a:solidFill>
          <a:prstDash val="dash"/>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tr-TR" sz="1400" kern="1200"/>
        </a:p>
      </dsp:txBody>
      <dsp:txXfrm rot="10800000">
        <a:off x="5333653" y="3196111"/>
        <a:ext cx="904109" cy="279770"/>
      </dsp:txXfrm>
    </dsp:sp>
    <dsp:sp modelId="{5214DAFA-76B8-4457-A831-9240AAE35F11}">
      <dsp:nvSpPr>
        <dsp:cNvPr id="0" name=""/>
        <dsp:cNvSpPr/>
      </dsp:nvSpPr>
      <dsp:spPr>
        <a:xfrm>
          <a:off x="2811674" y="3662151"/>
          <a:ext cx="2369539" cy="4154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tr-TR" sz="1800" kern="1200" dirty="0" smtClean="0"/>
            <a:t>Tedarikçi Dosyası (F2)</a:t>
          </a:r>
          <a:endParaRPr lang="tr-TR" sz="1800" kern="1200" dirty="0"/>
        </a:p>
      </dsp:txBody>
      <dsp:txXfrm>
        <a:off x="2811674" y="3662151"/>
        <a:ext cx="2369539" cy="415483"/>
      </dsp:txXfrm>
    </dsp:sp>
    <dsp:sp modelId="{3ED7A403-D392-4917-974A-5BF3F0DF7DB4}">
      <dsp:nvSpPr>
        <dsp:cNvPr id="0" name=""/>
        <dsp:cNvSpPr/>
      </dsp:nvSpPr>
      <dsp:spPr>
        <a:xfrm rot="12877868">
          <a:off x="1925873" y="3091852"/>
          <a:ext cx="889819" cy="46628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tr-TR" sz="1400" kern="1200"/>
        </a:p>
      </dsp:txBody>
      <dsp:txXfrm rot="10800000">
        <a:off x="2053366" y="3224857"/>
        <a:ext cx="749934" cy="279770"/>
      </dsp:txXfrm>
    </dsp:sp>
    <dsp:sp modelId="{2E8B08A9-A2A2-4B81-BDE9-C66EB6B2385C}">
      <dsp:nvSpPr>
        <dsp:cNvPr id="0" name=""/>
        <dsp:cNvSpPr/>
      </dsp:nvSpPr>
      <dsp:spPr>
        <a:xfrm>
          <a:off x="1064260" y="1631070"/>
          <a:ext cx="1381583" cy="138158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tr-TR" sz="1800" kern="1200" dirty="0" err="1" smtClean="0"/>
            <a:t>Satınalma</a:t>
          </a:r>
          <a:r>
            <a:rPr lang="tr-TR" sz="1800" kern="1200" dirty="0" smtClean="0"/>
            <a:t> (P1)</a:t>
          </a:r>
          <a:endParaRPr lang="tr-TR" sz="1800" kern="1200" dirty="0"/>
        </a:p>
      </dsp:txBody>
      <dsp:txXfrm>
        <a:off x="1266588" y="1833398"/>
        <a:ext cx="976927" cy="976927"/>
      </dsp:txXfrm>
    </dsp:sp>
    <dsp:sp modelId="{F83844FF-BEB4-4011-9825-F25715AC2AA3}">
      <dsp:nvSpPr>
        <dsp:cNvPr id="0" name=""/>
        <dsp:cNvSpPr/>
      </dsp:nvSpPr>
      <dsp:spPr>
        <a:xfrm rot="19693658">
          <a:off x="1934596" y="1113295"/>
          <a:ext cx="805733" cy="466284"/>
        </a:xfrm>
        <a:prstGeom prst="rightArrow">
          <a:avLst>
            <a:gd name="adj1" fmla="val 60000"/>
            <a:gd name="adj2" fmla="val 50000"/>
          </a:avLst>
        </a:prstGeom>
        <a:solidFill>
          <a:schemeClr val="accent1">
            <a:tint val="60000"/>
            <a:hueOff val="0"/>
            <a:satOff val="0"/>
            <a:lumOff val="0"/>
            <a:alphaOff val="0"/>
          </a:schemeClr>
        </a:solidFill>
        <a:ln>
          <a:solidFill>
            <a:schemeClr val="accent1"/>
          </a:solidFill>
          <a:prstDash val="dash"/>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tr-TR" sz="1400" kern="1200"/>
        </a:p>
      </dsp:txBody>
      <dsp:txXfrm>
        <a:off x="1945077" y="1243380"/>
        <a:ext cx="665848" cy="27977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51EF13-AC71-4E39-AE77-82ED8B56CF26}" type="datetimeFigureOut">
              <a:rPr lang="tr-TR" smtClean="0"/>
              <a:t>26.11.2019</a:t>
            </a:fld>
            <a:endParaRPr lang="tr-TR"/>
          </a:p>
        </p:txBody>
      </p:sp>
      <p:sp>
        <p:nvSpPr>
          <p:cNvPr id="4" name="Slayt Görüntüsü Yer Tutucusu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895A8-275F-4B09-A9A5-5D0ACA5445E6}" type="slidenum">
              <a:rPr lang="tr-TR" smtClean="0"/>
              <a:t>‹#›</a:t>
            </a:fld>
            <a:endParaRPr lang="tr-TR"/>
          </a:p>
        </p:txBody>
      </p:sp>
    </p:spTree>
    <p:extLst>
      <p:ext uri="{BB962C8B-B14F-4D97-AF65-F5344CB8AC3E}">
        <p14:creationId xmlns:p14="http://schemas.microsoft.com/office/powerpoint/2010/main" val="420299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Kilitlenmeye Örnek: bir binadaki dar bir merdiven.</a:t>
            </a:r>
            <a:r>
              <a:rPr lang="tr-TR" baseline="0" dirty="0" smtClean="0"/>
              <a:t> Varsayalım ki, </a:t>
            </a:r>
            <a:r>
              <a:rPr lang="tr-TR" dirty="0" smtClean="0"/>
              <a:t>Merdivenler yangın merdivenleri olarak inşa edilmiş</a:t>
            </a:r>
            <a:r>
              <a:rPr lang="tr-TR" baseline="0" dirty="0" smtClean="0"/>
              <a:t> olsun.  A</a:t>
            </a:r>
            <a:r>
              <a:rPr lang="tr-TR" dirty="0" smtClean="0"/>
              <a:t>ncak binada çalışan insanlar, yavaş asansörleri beklemek yerine genellikle merdivenleri kullanıyorlar.</a:t>
            </a:r>
          </a:p>
          <a:p>
            <a:r>
              <a:rPr lang="tr-TR" dirty="0" smtClean="0"/>
              <a:t>Merdivenlerde trafik, ters yönde seyahat eden iki kişinin merdivenlerden geçmesi gerekmediği sürece iyi hareket eder - her adımda yalnızca bir kişi için yer vardır. Bu örnekte, merdivenler sistemdir ve adımlar ve iniş bu sistemi kullanan kaynaklarıdır. Her kat arasında bir iniş var ve insanların paylaşması için yeterince geniş, ancak merdivenler aynı anda sadece bir kişiye tahsis</a:t>
            </a:r>
            <a:r>
              <a:rPr lang="tr-TR" baseline="0" dirty="0" smtClean="0"/>
              <a:t> edilebiliyor ve merdivenler kullanılamıyor</a:t>
            </a:r>
            <a:r>
              <a:rPr lang="tr-TR" dirty="0" smtClean="0"/>
              <a:t>.</a:t>
            </a:r>
          </a:p>
          <a:p>
            <a:r>
              <a:rPr lang="tr-TR" dirty="0" smtClean="0"/>
              <a:t>Merdivenlerden yukarı çıkan biri aşağı inen birisiyle karşılaştığında sorunlar ortaya çıkar ve her biri daha geniş bir yere çekilmeyi reddeder. Bu görev senkronizasyonu konusunda değindiğimiz  kilitlenmelere yol açmaktadır.</a:t>
            </a:r>
            <a:endParaRPr lang="tr-TR" dirty="0"/>
          </a:p>
        </p:txBody>
      </p:sp>
      <p:sp>
        <p:nvSpPr>
          <p:cNvPr id="4" name="Slayt Numarası Yer Tutucusu 3"/>
          <p:cNvSpPr>
            <a:spLocks noGrp="1"/>
          </p:cNvSpPr>
          <p:nvPr>
            <p:ph type="sldNum" sz="quarter" idx="10"/>
          </p:nvPr>
        </p:nvSpPr>
        <p:spPr/>
        <p:txBody>
          <a:bodyPr/>
          <a:lstStyle/>
          <a:p>
            <a:fld id="{1CA895A8-275F-4B09-A9A5-5D0ACA5445E6}" type="slidenum">
              <a:rPr lang="tr-TR" smtClean="0"/>
              <a:t>3</a:t>
            </a:fld>
            <a:endParaRPr lang="tr-TR"/>
          </a:p>
        </p:txBody>
      </p:sp>
    </p:spTree>
    <p:extLst>
      <p:ext uri="{BB962C8B-B14F-4D97-AF65-F5344CB8AC3E}">
        <p14:creationId xmlns:p14="http://schemas.microsoft.com/office/powerpoint/2010/main" val="1447667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1. </a:t>
            </a:r>
            <a:r>
              <a:rPr lang="tr-TR" dirty="0" err="1" smtClean="0"/>
              <a:t>Satınalma</a:t>
            </a:r>
            <a:r>
              <a:rPr lang="tr-TR" dirty="0" smtClean="0"/>
              <a:t> (P1), daha fazla ürün siparişi vermek için tedarikçi dosyasına (F2) erişir.</a:t>
            </a:r>
          </a:p>
          <a:p>
            <a:r>
              <a:rPr lang="tr-TR" dirty="0" smtClean="0"/>
              <a:t>2. Satış (P2), o gün sipariş edilen ürünü kullanmak için gerekli parçaları rezerve için envanter dosyasına (F1) erişir.</a:t>
            </a:r>
          </a:p>
          <a:p>
            <a:r>
              <a:rPr lang="tr-TR" dirty="0" smtClean="0"/>
              <a:t>3. </a:t>
            </a:r>
            <a:r>
              <a:rPr lang="tr-TR" dirty="0" err="1" smtClean="0"/>
              <a:t>Satınalma</a:t>
            </a:r>
            <a:r>
              <a:rPr lang="tr-TR" dirty="0" smtClean="0"/>
              <a:t> (P1), tedarikçi dosyasını (F2) serbest bırakmaz ancak stok dosyasından (F1) daha fazla sipariş vermeden önce eldeki kereste miktarını doğrulamasını ister ancak F1, P2 tarafından tutulduğu için bloke edilir. .</a:t>
            </a:r>
          </a:p>
          <a:p>
            <a:r>
              <a:rPr lang="tr-TR" dirty="0" smtClean="0"/>
              <a:t>4. Bu arada, satışlar (P2) stok dosyasını (F1) serbest bırakmaz, ancak tedarikçi dosyasından (F2) bir taşeronun programını kontrol etmesini ister. Bu noktada, F2’ de  P1 tarafından tutulduğu için P2’ de bloke edilir.</a:t>
            </a:r>
            <a:endParaRPr lang="tr-TR" dirty="0"/>
          </a:p>
        </p:txBody>
      </p:sp>
      <p:sp>
        <p:nvSpPr>
          <p:cNvPr id="4" name="Slayt Numarası Yer Tutucusu 3"/>
          <p:cNvSpPr>
            <a:spLocks noGrp="1"/>
          </p:cNvSpPr>
          <p:nvPr>
            <p:ph type="sldNum" sz="quarter" idx="10"/>
          </p:nvPr>
        </p:nvSpPr>
        <p:spPr/>
        <p:txBody>
          <a:bodyPr/>
          <a:lstStyle/>
          <a:p>
            <a:fld id="{1CA895A8-275F-4B09-A9A5-5D0ACA5445E6}" type="slidenum">
              <a:rPr lang="tr-TR" smtClean="0"/>
              <a:t>11</a:t>
            </a:fld>
            <a:endParaRPr lang="tr-TR"/>
          </a:p>
        </p:txBody>
      </p:sp>
    </p:spTree>
    <p:extLst>
      <p:ext uri="{BB962C8B-B14F-4D97-AF65-F5344CB8AC3E}">
        <p14:creationId xmlns:p14="http://schemas.microsoft.com/office/powerpoint/2010/main" val="3130694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Kilitleme, </a:t>
            </a:r>
            <a:r>
              <a:rPr lang="tr-TR" dirty="0" err="1" smtClean="0"/>
              <a:t>veritabanı</a:t>
            </a:r>
            <a:r>
              <a:rPr lang="tr-TR" dirty="0" smtClean="0"/>
              <a:t> ile çalışırken kullanıcının diğer tüm kullanıcıları kilitlediği verilerin bütünlüğünü garanti altına almak için kullanılan bir tekniktir. Kilitleme üç farklı seviyede yapılabilir: </a:t>
            </a:r>
            <a:r>
              <a:rPr lang="tr-TR" dirty="0" err="1" smtClean="0"/>
              <a:t>veritabanının</a:t>
            </a:r>
            <a:r>
              <a:rPr lang="tr-TR" dirty="0" smtClean="0"/>
              <a:t> tamamı istek süresince kilitlenebilir; </a:t>
            </a:r>
            <a:r>
              <a:rPr lang="tr-TR" dirty="0" err="1" smtClean="0"/>
              <a:t>veritabanının</a:t>
            </a:r>
            <a:r>
              <a:rPr lang="tr-TR" dirty="0" smtClean="0"/>
              <a:t> bir alt bölümü kilitlenebilir; veya sadece bireysel kayıt işlem tamamlanana kadar kilitlenebilir.</a:t>
            </a:r>
          </a:p>
          <a:p>
            <a:endParaRPr lang="tr-TR" dirty="0" smtClean="0"/>
          </a:p>
          <a:p>
            <a:r>
              <a:rPr lang="tr-TR" dirty="0" smtClean="0"/>
              <a:t>Tüm </a:t>
            </a:r>
            <a:r>
              <a:rPr lang="tr-TR" dirty="0" err="1" smtClean="0"/>
              <a:t>veritabanını</a:t>
            </a:r>
            <a:r>
              <a:rPr lang="tr-TR" dirty="0" smtClean="0"/>
              <a:t> kilitlemek (en uç ve en başarılı çözüm) çıkmazın oluşmasını engeller ancak erişimi kısıtlar.</a:t>
            </a:r>
          </a:p>
          <a:p>
            <a:r>
              <a:rPr lang="tr-TR" dirty="0" smtClean="0"/>
              <a:t>bir kerede bir kullanıcıya veri tabanı ve çok kullanıcılı bir ortamda yanıt süreleri önemli ölçüde yavaşlar; bu normalde kabul edilemez bir çözümdür. </a:t>
            </a:r>
          </a:p>
          <a:p>
            <a:r>
              <a:rPr lang="tr-TR" dirty="0" smtClean="0"/>
              <a:t>Kilitleme, </a:t>
            </a:r>
            <a:r>
              <a:rPr lang="tr-TR" dirty="0" err="1" smtClean="0"/>
              <a:t>veritabanının</a:t>
            </a:r>
            <a:r>
              <a:rPr lang="tr-TR" dirty="0" smtClean="0"/>
              <a:t> sadece bir kısmında gerçekleştirildiğinde, erişim süresi iyileştirilir, ancak bir kilitlenme olasılığı artar, çünkü farklı işlemlerin bazen </a:t>
            </a:r>
            <a:r>
              <a:rPr lang="tr-TR" dirty="0" err="1" smtClean="0"/>
              <a:t>veritabanının</a:t>
            </a:r>
            <a:r>
              <a:rPr lang="tr-TR" dirty="0" smtClean="0"/>
              <a:t> birkaç bölümüyle aynı anda çalışması gerekir.</a:t>
            </a:r>
          </a:p>
          <a:p>
            <a:endParaRPr lang="tr-TR" dirty="0" smtClean="0"/>
          </a:p>
          <a:p>
            <a:r>
              <a:rPr lang="tr-TR" dirty="0" smtClean="0"/>
              <a:t>İşlem bitene kadar erişilen her bir kaydı kilitleyen bir sistem. Her birinin iki kaydı güncellemesi gereken (R1 ve R2) iki işlem (P1 ve P2) vardır ve aşağıdaki sıra bir kilitlenmeye yol açar:</a:t>
            </a:r>
          </a:p>
          <a:p>
            <a:r>
              <a:rPr lang="tr-TR" dirty="0" smtClean="0"/>
              <a:t>1. P1, R1'e erişir ve kilitler.</a:t>
            </a:r>
          </a:p>
          <a:p>
            <a:r>
              <a:rPr lang="tr-TR" dirty="0" smtClean="0"/>
              <a:t>2. P2, R2'ye erişir ve kilitler.</a:t>
            </a:r>
          </a:p>
          <a:p>
            <a:r>
              <a:rPr lang="tr-TR" dirty="0" smtClean="0"/>
              <a:t>3. P1, P2 tarafından kilitlenen R2'yi ister.</a:t>
            </a:r>
          </a:p>
          <a:p>
            <a:r>
              <a:rPr lang="tr-TR" dirty="0" smtClean="0"/>
              <a:t>4. P2, P1 ile kilitlenmiş olan R1'i ister.</a:t>
            </a:r>
          </a:p>
          <a:p>
            <a:endParaRPr lang="tr-TR" dirty="0"/>
          </a:p>
        </p:txBody>
      </p:sp>
      <p:sp>
        <p:nvSpPr>
          <p:cNvPr id="4" name="Slayt Numarası Yer Tutucusu 3"/>
          <p:cNvSpPr>
            <a:spLocks noGrp="1"/>
          </p:cNvSpPr>
          <p:nvPr>
            <p:ph type="sldNum" sz="quarter" idx="10"/>
          </p:nvPr>
        </p:nvSpPr>
        <p:spPr/>
        <p:txBody>
          <a:bodyPr/>
          <a:lstStyle/>
          <a:p>
            <a:fld id="{1CA895A8-275F-4B09-A9A5-5D0ACA5445E6}" type="slidenum">
              <a:rPr lang="tr-TR" smtClean="0"/>
              <a:t>12</a:t>
            </a:fld>
            <a:endParaRPr lang="tr-TR"/>
          </a:p>
        </p:txBody>
      </p:sp>
    </p:spTree>
    <p:extLst>
      <p:ext uri="{BB962C8B-B14F-4D97-AF65-F5344CB8AC3E}">
        <p14:creationId xmlns:p14="http://schemas.microsoft.com/office/powerpoint/2010/main" val="851039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1CA895A8-275F-4B09-A9A5-5D0ACA5445E6}" type="slidenum">
              <a:rPr lang="tr-TR" smtClean="0"/>
              <a:t>13</a:t>
            </a:fld>
            <a:endParaRPr lang="tr-TR"/>
          </a:p>
        </p:txBody>
      </p:sp>
    </p:spTree>
    <p:extLst>
      <p:ext uri="{BB962C8B-B14F-4D97-AF65-F5344CB8AC3E}">
        <p14:creationId xmlns:p14="http://schemas.microsoft.com/office/powerpoint/2010/main" val="893998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smtClean="0"/>
          </a:p>
        </p:txBody>
      </p:sp>
      <p:sp>
        <p:nvSpPr>
          <p:cNvPr id="4" name="Slayt Numarası Yer Tutucusu 3"/>
          <p:cNvSpPr>
            <a:spLocks noGrp="1"/>
          </p:cNvSpPr>
          <p:nvPr>
            <p:ph type="sldNum" sz="quarter" idx="10"/>
          </p:nvPr>
        </p:nvSpPr>
        <p:spPr/>
        <p:txBody>
          <a:bodyPr/>
          <a:lstStyle/>
          <a:p>
            <a:fld id="{1CA895A8-275F-4B09-A9A5-5D0ACA5445E6}" type="slidenum">
              <a:rPr lang="tr-TR" smtClean="0"/>
              <a:t>14</a:t>
            </a:fld>
            <a:endParaRPr lang="tr-TR"/>
          </a:p>
        </p:txBody>
      </p:sp>
    </p:spTree>
    <p:extLst>
      <p:ext uri="{BB962C8B-B14F-4D97-AF65-F5344CB8AC3E}">
        <p14:creationId xmlns:p14="http://schemas.microsoft.com/office/powerpoint/2010/main" val="3001569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Kilitlenmeler, aynı tür aygıt için rekabet eden işlemlerle sınırlı değildir; diğer işlemler benzer şekilde hareket ederken, birkaç işlem birkaç özel cihaz istediğinde ve bunlara bağlı kaldığında ortaya çıkabilir.</a:t>
            </a:r>
          </a:p>
          <a:p>
            <a:endParaRPr lang="tr-TR" dirty="0"/>
          </a:p>
        </p:txBody>
      </p:sp>
      <p:sp>
        <p:nvSpPr>
          <p:cNvPr id="4" name="Slayt Numarası Yer Tutucusu 3"/>
          <p:cNvSpPr>
            <a:spLocks noGrp="1"/>
          </p:cNvSpPr>
          <p:nvPr>
            <p:ph type="sldNum" sz="quarter" idx="10"/>
          </p:nvPr>
        </p:nvSpPr>
        <p:spPr/>
        <p:txBody>
          <a:bodyPr/>
          <a:lstStyle/>
          <a:p>
            <a:fld id="{1CA895A8-275F-4B09-A9A5-5D0ACA5445E6}" type="slidenum">
              <a:rPr lang="tr-TR" smtClean="0"/>
              <a:t>15</a:t>
            </a:fld>
            <a:endParaRPr lang="tr-TR"/>
          </a:p>
        </p:txBody>
      </p:sp>
    </p:spTree>
    <p:extLst>
      <p:ext uri="{BB962C8B-B14F-4D97-AF65-F5344CB8AC3E}">
        <p14:creationId xmlns:p14="http://schemas.microsoft.com/office/powerpoint/2010/main" val="1519178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Büyük projenin bir bilgisayar sınıfı için gelmesinden bir saat önce olduğunu varsayalım.</a:t>
            </a:r>
          </a:p>
          <a:p>
            <a:endParaRPr lang="tr-TR" dirty="0" smtClean="0"/>
          </a:p>
          <a:p>
            <a:r>
              <a:rPr lang="tr-TR" dirty="0" smtClean="0"/>
              <a:t>Yirmi altı </a:t>
            </a:r>
            <a:r>
              <a:rPr lang="tr-TR" dirty="0" smtClean="0"/>
              <a:t>programcı </a:t>
            </a:r>
            <a:r>
              <a:rPr lang="tr-TR" dirty="0" smtClean="0"/>
              <a:t>son değişikliklerini ve yalnızca birkaç dakika içinde tüm baskı komutlarını </a:t>
            </a:r>
            <a:r>
              <a:rPr lang="tr-TR" dirty="0" smtClean="0"/>
              <a:t>vermeleri</a:t>
            </a:r>
            <a:r>
              <a:rPr lang="tr-TR" baseline="0" dirty="0" smtClean="0"/>
              <a:t> söz konusu olduysa,</a:t>
            </a:r>
            <a:r>
              <a:rPr lang="tr-TR" dirty="0" smtClean="0"/>
              <a:t> </a:t>
            </a:r>
            <a:r>
              <a:rPr lang="tr-TR" dirty="0" smtClean="0"/>
              <a:t>Biriktirici, sayfaları her öğrenciden birer birer alır ancak sayfalar ayrı ayrı alınır, </a:t>
            </a:r>
            <a:r>
              <a:rPr lang="tr-TR" dirty="0" smtClean="0"/>
              <a:t>bir </a:t>
            </a:r>
            <a:r>
              <a:rPr lang="tr-TR" dirty="0" smtClean="0"/>
              <a:t>sayfa, iki sayfa, vb</a:t>
            </a:r>
            <a:r>
              <a:rPr lang="tr-TR" dirty="0" smtClean="0"/>
              <a:t>.</a:t>
            </a:r>
            <a:endParaRPr lang="tr-TR" dirty="0" smtClean="0"/>
          </a:p>
          <a:p>
            <a:endParaRPr lang="tr-TR" dirty="0" smtClean="0"/>
          </a:p>
          <a:p>
            <a:r>
              <a:rPr lang="tr-TR" dirty="0" smtClean="0"/>
              <a:t>Yazıcı aldığı ilk tamamlanan dokümanı yazdırmaya hazırdır, ancak biriktirici dosyaları </a:t>
            </a:r>
            <a:r>
              <a:rPr lang="tr-TR" dirty="0" smtClean="0"/>
              <a:t>aldıkça, </a:t>
            </a:r>
            <a:r>
              <a:rPr lang="tr-TR" dirty="0" smtClean="0"/>
              <a:t>birçok program için ilk sayfaya, hiçbiri için son sayfaya sahip değildir</a:t>
            </a:r>
            <a:r>
              <a:rPr lang="tr-TR" dirty="0" smtClean="0"/>
              <a:t>. </a:t>
            </a:r>
            <a:endParaRPr lang="tr-TR" dirty="0"/>
          </a:p>
        </p:txBody>
      </p:sp>
      <p:sp>
        <p:nvSpPr>
          <p:cNvPr id="4" name="Slayt Numarası Yer Tutucusu 3"/>
          <p:cNvSpPr>
            <a:spLocks noGrp="1"/>
          </p:cNvSpPr>
          <p:nvPr>
            <p:ph type="sldNum" sz="quarter" idx="10"/>
          </p:nvPr>
        </p:nvSpPr>
        <p:spPr/>
        <p:txBody>
          <a:bodyPr/>
          <a:lstStyle/>
          <a:p>
            <a:fld id="{1CA895A8-275F-4B09-A9A5-5D0ACA5445E6}" type="slidenum">
              <a:rPr lang="tr-TR" smtClean="0"/>
              <a:t>16</a:t>
            </a:fld>
            <a:endParaRPr lang="tr-TR"/>
          </a:p>
        </p:txBody>
      </p:sp>
    </p:spTree>
    <p:extLst>
      <p:ext uri="{BB962C8B-B14F-4D97-AF65-F5344CB8AC3E}">
        <p14:creationId xmlns:p14="http://schemas.microsoft.com/office/powerpoint/2010/main" val="265960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7B178E52-3D56-4CF9-9418-99F6D6E00A35}" type="datetimeFigureOut">
              <a:rPr lang="tr-TR" smtClean="0"/>
              <a:t>26.11.2019</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53FB19E5-1759-4568-BC99-F0A2D91A9393}" type="slidenum">
              <a:rPr lang="tr-TR" smtClean="0"/>
              <a:t>‹#›</a:t>
            </a:fld>
            <a:endParaRPr lang="tr-TR"/>
          </a:p>
        </p:txBody>
      </p:sp>
    </p:spTree>
    <p:extLst>
      <p:ext uri="{BB962C8B-B14F-4D97-AF65-F5344CB8AC3E}">
        <p14:creationId xmlns:p14="http://schemas.microsoft.com/office/powerpoint/2010/main" val="1007436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7B178E52-3D56-4CF9-9418-99F6D6E00A35}" type="datetimeFigureOut">
              <a:rPr lang="tr-TR" smtClean="0"/>
              <a:t>26.11.2019</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53FB19E5-1759-4568-BC99-F0A2D91A9393}" type="slidenum">
              <a:rPr lang="tr-TR" smtClean="0"/>
              <a:t>‹#›</a:t>
            </a:fld>
            <a:endParaRPr lang="tr-TR"/>
          </a:p>
        </p:txBody>
      </p:sp>
    </p:spTree>
    <p:extLst>
      <p:ext uri="{BB962C8B-B14F-4D97-AF65-F5344CB8AC3E}">
        <p14:creationId xmlns:p14="http://schemas.microsoft.com/office/powerpoint/2010/main" val="2922653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7B178E52-3D56-4CF9-9418-99F6D6E00A35}" type="datetimeFigureOut">
              <a:rPr lang="tr-TR" smtClean="0"/>
              <a:t>26.11.2019</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53FB19E5-1759-4568-BC99-F0A2D91A9393}" type="slidenum">
              <a:rPr lang="tr-TR" smtClean="0"/>
              <a:t>‹#›</a:t>
            </a:fld>
            <a:endParaRPr lang="tr-TR"/>
          </a:p>
        </p:txBody>
      </p:sp>
    </p:spTree>
    <p:extLst>
      <p:ext uri="{BB962C8B-B14F-4D97-AF65-F5344CB8AC3E}">
        <p14:creationId xmlns:p14="http://schemas.microsoft.com/office/powerpoint/2010/main" val="2316483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7B178E52-3D56-4CF9-9418-99F6D6E00A35}" type="datetimeFigureOut">
              <a:rPr lang="tr-TR" smtClean="0"/>
              <a:t>26.11.2019</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53FB19E5-1759-4568-BC99-F0A2D91A9393}" type="slidenum">
              <a:rPr lang="tr-TR" smtClean="0"/>
              <a:t>‹#›</a:t>
            </a:fld>
            <a:endParaRPr lang="tr-TR"/>
          </a:p>
        </p:txBody>
      </p:sp>
    </p:spTree>
    <p:extLst>
      <p:ext uri="{BB962C8B-B14F-4D97-AF65-F5344CB8AC3E}">
        <p14:creationId xmlns:p14="http://schemas.microsoft.com/office/powerpoint/2010/main" val="3349573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7B178E52-3D56-4CF9-9418-99F6D6E00A35}" type="datetimeFigureOut">
              <a:rPr lang="tr-TR" smtClean="0"/>
              <a:t>26.11.2019</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53FB19E5-1759-4568-BC99-F0A2D91A9393}" type="slidenum">
              <a:rPr lang="tr-TR" smtClean="0"/>
              <a:t>‹#›</a:t>
            </a:fld>
            <a:endParaRPr lang="tr-TR"/>
          </a:p>
        </p:txBody>
      </p:sp>
    </p:spTree>
    <p:extLst>
      <p:ext uri="{BB962C8B-B14F-4D97-AF65-F5344CB8AC3E}">
        <p14:creationId xmlns:p14="http://schemas.microsoft.com/office/powerpoint/2010/main" val="1180732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7B178E52-3D56-4CF9-9418-99F6D6E00A35}" type="datetimeFigureOut">
              <a:rPr lang="tr-TR" smtClean="0"/>
              <a:t>26.11.2019</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53FB19E5-1759-4568-BC99-F0A2D91A9393}" type="slidenum">
              <a:rPr lang="tr-TR" smtClean="0"/>
              <a:t>‹#›</a:t>
            </a:fld>
            <a:endParaRPr lang="tr-TR"/>
          </a:p>
        </p:txBody>
      </p:sp>
    </p:spTree>
    <p:extLst>
      <p:ext uri="{BB962C8B-B14F-4D97-AF65-F5344CB8AC3E}">
        <p14:creationId xmlns:p14="http://schemas.microsoft.com/office/powerpoint/2010/main" val="1197526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B178E52-3D56-4CF9-9418-99F6D6E00A35}" type="datetimeFigureOut">
              <a:rPr lang="tr-TR" smtClean="0"/>
              <a:t>26.11.2019</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53FB19E5-1759-4568-BC99-F0A2D91A9393}" type="slidenum">
              <a:rPr lang="tr-TR" smtClean="0"/>
              <a:t>‹#›</a:t>
            </a:fld>
            <a:endParaRPr lang="tr-TR"/>
          </a:p>
        </p:txBody>
      </p:sp>
    </p:spTree>
    <p:extLst>
      <p:ext uri="{BB962C8B-B14F-4D97-AF65-F5344CB8AC3E}">
        <p14:creationId xmlns:p14="http://schemas.microsoft.com/office/powerpoint/2010/main" val="2760859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B178E52-3D56-4CF9-9418-99F6D6E00A35}" type="datetimeFigureOut">
              <a:rPr lang="tr-TR" smtClean="0"/>
              <a:t>26.11.2019</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53FB19E5-1759-4568-BC99-F0A2D91A9393}" type="slidenum">
              <a:rPr lang="tr-TR" smtClean="0"/>
              <a:t>‹#›</a:t>
            </a:fld>
            <a:endParaRPr lang="tr-TR"/>
          </a:p>
        </p:txBody>
      </p:sp>
    </p:spTree>
    <p:extLst>
      <p:ext uri="{BB962C8B-B14F-4D97-AF65-F5344CB8AC3E}">
        <p14:creationId xmlns:p14="http://schemas.microsoft.com/office/powerpoint/2010/main" val="3736925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B178E52-3D56-4CF9-9418-99F6D6E00A35}" type="datetimeFigureOut">
              <a:rPr lang="tr-TR" smtClean="0"/>
              <a:t>26.11.2019</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53FB19E5-1759-4568-BC99-F0A2D91A9393}" type="slidenum">
              <a:rPr lang="tr-TR" smtClean="0"/>
              <a:t>‹#›</a:t>
            </a:fld>
            <a:endParaRPr lang="tr-TR"/>
          </a:p>
        </p:txBody>
      </p:sp>
    </p:spTree>
    <p:extLst>
      <p:ext uri="{BB962C8B-B14F-4D97-AF65-F5344CB8AC3E}">
        <p14:creationId xmlns:p14="http://schemas.microsoft.com/office/powerpoint/2010/main" val="2477095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7B178E52-3D56-4CF9-9418-99F6D6E00A35}" type="datetimeFigureOut">
              <a:rPr lang="tr-TR" smtClean="0"/>
              <a:t>26.11.2019</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53FB19E5-1759-4568-BC99-F0A2D91A9393}" type="slidenum">
              <a:rPr lang="tr-TR" smtClean="0"/>
              <a:t>‹#›</a:t>
            </a:fld>
            <a:endParaRPr lang="tr-TR"/>
          </a:p>
        </p:txBody>
      </p:sp>
    </p:spTree>
    <p:extLst>
      <p:ext uri="{BB962C8B-B14F-4D97-AF65-F5344CB8AC3E}">
        <p14:creationId xmlns:p14="http://schemas.microsoft.com/office/powerpoint/2010/main" val="1366217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7B178E52-3D56-4CF9-9418-99F6D6E00A35}" type="datetimeFigureOut">
              <a:rPr lang="tr-TR" smtClean="0"/>
              <a:t>26.11.2019</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53FB19E5-1759-4568-BC99-F0A2D91A9393}" type="slidenum">
              <a:rPr lang="tr-TR" smtClean="0"/>
              <a:t>‹#›</a:t>
            </a:fld>
            <a:endParaRPr lang="tr-TR"/>
          </a:p>
        </p:txBody>
      </p:sp>
    </p:spTree>
    <p:extLst>
      <p:ext uri="{BB962C8B-B14F-4D97-AF65-F5344CB8AC3E}">
        <p14:creationId xmlns:p14="http://schemas.microsoft.com/office/powerpoint/2010/main" val="1396577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178E52-3D56-4CF9-9418-99F6D6E00A35}" type="datetimeFigureOut">
              <a:rPr lang="tr-TR" smtClean="0"/>
              <a:t>26.11.2019</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FB19E5-1759-4568-BC99-F0A2D91A9393}" type="slidenum">
              <a:rPr lang="tr-TR" smtClean="0"/>
              <a:t>‹#›</a:t>
            </a:fld>
            <a:endParaRPr lang="tr-TR"/>
          </a:p>
        </p:txBody>
      </p:sp>
    </p:spTree>
    <p:extLst>
      <p:ext uri="{BB962C8B-B14F-4D97-AF65-F5344CB8AC3E}">
        <p14:creationId xmlns:p14="http://schemas.microsoft.com/office/powerpoint/2010/main" val="2939076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lstStyle/>
          <a:p>
            <a:r>
              <a:rPr lang="tr-TR" dirty="0" smtClean="0"/>
              <a:t>Ölümcül Kilitlenme (</a:t>
            </a:r>
            <a:r>
              <a:rPr lang="tr-TR" dirty="0" err="1" smtClean="0"/>
              <a:t>Deadlock</a:t>
            </a:r>
            <a:r>
              <a:rPr lang="tr-TR" dirty="0" smtClean="0"/>
              <a:t>)</a:t>
            </a:r>
            <a:endParaRPr lang="tr-TR" dirty="0"/>
          </a:p>
        </p:txBody>
      </p:sp>
      <p:sp>
        <p:nvSpPr>
          <p:cNvPr id="3" name="Alt Başlık 2"/>
          <p:cNvSpPr>
            <a:spLocks noGrp="1"/>
          </p:cNvSpPr>
          <p:nvPr>
            <p:ph type="subTitle" idx="1"/>
          </p:nvPr>
        </p:nvSpPr>
        <p:spPr/>
        <p:txBody>
          <a:bodyPr/>
          <a:lstStyle/>
          <a:p>
            <a:r>
              <a:rPr lang="tr-TR" dirty="0" smtClean="0"/>
              <a:t>Dr. </a:t>
            </a:r>
            <a:r>
              <a:rPr lang="tr-TR" dirty="0" err="1" smtClean="0"/>
              <a:t>Öğr</a:t>
            </a:r>
            <a:r>
              <a:rPr lang="tr-TR" dirty="0" smtClean="0"/>
              <a:t>. Üyesi </a:t>
            </a:r>
            <a:r>
              <a:rPr lang="tr-TR" dirty="0" err="1" smtClean="0"/>
              <a:t>Mevlüt</a:t>
            </a:r>
            <a:r>
              <a:rPr lang="tr-TR" dirty="0" smtClean="0"/>
              <a:t> ERSOY</a:t>
            </a:r>
            <a:endParaRPr lang="tr-TR" dirty="0"/>
          </a:p>
        </p:txBody>
      </p:sp>
    </p:spTree>
    <p:extLst>
      <p:ext uri="{BB962C8B-B14F-4D97-AF65-F5344CB8AC3E}">
        <p14:creationId xmlns:p14="http://schemas.microsoft.com/office/powerpoint/2010/main" val="22671196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Ölümcül Kilitlenme</a:t>
            </a:r>
            <a:endParaRPr lang="tr-TR" dirty="0"/>
          </a:p>
        </p:txBody>
      </p:sp>
      <p:sp>
        <p:nvSpPr>
          <p:cNvPr id="3" name="İçerik Yer Tutucusu 2"/>
          <p:cNvSpPr>
            <a:spLocks noGrp="1"/>
          </p:cNvSpPr>
          <p:nvPr>
            <p:ph idx="1"/>
          </p:nvPr>
        </p:nvSpPr>
        <p:spPr/>
        <p:txBody>
          <a:bodyPr/>
          <a:lstStyle/>
          <a:p>
            <a:r>
              <a:rPr lang="tr-TR" b="0" dirty="0"/>
              <a:t>Aynı kaynakları kullanan </a:t>
            </a:r>
            <a:r>
              <a:rPr lang="tr-TR" b="0" dirty="0" smtClean="0"/>
              <a:t>Görevler</a:t>
            </a:r>
          </a:p>
          <a:p>
            <a:r>
              <a:rPr lang="tr-TR" b="0" dirty="0" smtClean="0"/>
              <a:t>Birinin </a:t>
            </a:r>
            <a:r>
              <a:rPr lang="tr-TR" b="0" dirty="0"/>
              <a:t>istediği kaynağı bir diğeri tutuyor </a:t>
            </a:r>
            <a:r>
              <a:rPr lang="tr-TR" b="0" dirty="0" smtClean="0"/>
              <a:t>ve bırakmıyor</a:t>
            </a:r>
            <a:endParaRPr lang="tr-TR" b="0" dirty="0"/>
          </a:p>
          <a:p>
            <a:r>
              <a:rPr lang="tr-TR" b="0" dirty="0" smtClean="0"/>
              <a:t>Görevlerin </a:t>
            </a:r>
            <a:r>
              <a:rPr lang="tr-TR" b="0" dirty="0"/>
              <a:t>hiç biri ilerleyemez</a:t>
            </a:r>
          </a:p>
          <a:p>
            <a:pPr marL="0" indent="0">
              <a:buNone/>
            </a:pPr>
            <a:r>
              <a:rPr lang="tr-TR" b="0" dirty="0" smtClean="0"/>
              <a:t>	⇒ </a:t>
            </a:r>
            <a:r>
              <a:rPr lang="tr-TR" b="0" dirty="0"/>
              <a:t>ölümcül </a:t>
            </a:r>
            <a:r>
              <a:rPr lang="tr-TR" b="0" dirty="0" smtClean="0"/>
              <a:t>kilitlenme</a:t>
            </a:r>
          </a:p>
          <a:p>
            <a:pPr marL="0" indent="0">
              <a:buNone/>
            </a:pPr>
            <a:endParaRPr lang="tr-TR" b="0" dirty="0"/>
          </a:p>
          <a:p>
            <a:pPr marL="0" indent="0">
              <a:buNone/>
            </a:pPr>
            <a:endParaRPr lang="tr-T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4941168"/>
            <a:ext cx="5862727"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61373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Ölümcül Kilitlenme</a:t>
            </a:r>
            <a:endParaRPr lang="tr-TR" dirty="0"/>
          </a:p>
        </p:txBody>
      </p:sp>
      <p:sp>
        <p:nvSpPr>
          <p:cNvPr id="3" name="İçerik Yer Tutucusu 2"/>
          <p:cNvSpPr>
            <a:spLocks noGrp="1"/>
          </p:cNvSpPr>
          <p:nvPr>
            <p:ph idx="1"/>
          </p:nvPr>
        </p:nvSpPr>
        <p:spPr/>
        <p:txBody>
          <a:bodyPr/>
          <a:lstStyle/>
          <a:p>
            <a:r>
              <a:rPr lang="tr-TR" b="0" dirty="0"/>
              <a:t>Sistem kaynaklarını ortak olarak kullanan veya birbiri </a:t>
            </a:r>
            <a:r>
              <a:rPr lang="tr-TR" b="0" dirty="0" smtClean="0"/>
              <a:t>ile haberleşen </a:t>
            </a:r>
            <a:r>
              <a:rPr lang="tr-TR" b="0" dirty="0"/>
              <a:t>bir grup </a:t>
            </a:r>
            <a:r>
              <a:rPr lang="tr-TR" b="0" dirty="0" smtClean="0"/>
              <a:t>görevin </a:t>
            </a:r>
            <a:r>
              <a:rPr lang="tr-TR" b="0" dirty="0"/>
              <a:t>kalıcı olarak bloke </a:t>
            </a:r>
            <a:r>
              <a:rPr lang="tr-TR" b="0" dirty="0" smtClean="0"/>
              <a:t>olması durumuna </a:t>
            </a:r>
            <a:r>
              <a:rPr lang="tr-TR" b="0" i="1" dirty="0" smtClean="0"/>
              <a:t>ölümcül kilitlenme denir.</a:t>
            </a:r>
            <a:endParaRPr lang="tr-TR" dirty="0"/>
          </a:p>
        </p:txBody>
      </p:sp>
    </p:spTree>
    <p:extLst>
      <p:ext uri="{BB962C8B-B14F-4D97-AF65-F5344CB8AC3E}">
        <p14:creationId xmlns:p14="http://schemas.microsoft.com/office/powerpoint/2010/main" val="39171979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772816"/>
            <a:ext cx="7539321" cy="4550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5909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a:spLocks noGrp="1"/>
          </p:cNvSpPr>
          <p:nvPr>
            <p:ph type="title"/>
          </p:nvPr>
        </p:nvSpPr>
        <p:spPr>
          <a:xfrm>
            <a:off x="457200" y="274638"/>
            <a:ext cx="8229600" cy="850106"/>
          </a:xfrm>
        </p:spPr>
        <p:txBody>
          <a:bodyPr/>
          <a:lstStyle/>
          <a:p>
            <a:r>
              <a:rPr lang="tr-TR" dirty="0" smtClean="0"/>
              <a:t>Ölümcül Kilitlenme</a:t>
            </a:r>
            <a:endParaRPr lang="tr-TR" dirty="0"/>
          </a:p>
        </p:txBody>
      </p:sp>
      <p:graphicFrame>
        <p:nvGraphicFramePr>
          <p:cNvPr id="5" name="İçerik Yer Tutucusu 4"/>
          <p:cNvGraphicFramePr>
            <a:graphicFrameLocks noGrp="1"/>
          </p:cNvGraphicFramePr>
          <p:nvPr>
            <p:ph idx="1"/>
            <p:extLst>
              <p:ext uri="{D42A27DB-BD31-4B8C-83A1-F6EECF244321}">
                <p14:modId xmlns:p14="http://schemas.microsoft.com/office/powerpoint/2010/main" val="412456549"/>
              </p:ext>
            </p:extLst>
          </p:nvPr>
        </p:nvGraphicFramePr>
        <p:xfrm>
          <a:off x="1403648" y="1052736"/>
          <a:ext cx="7056784" cy="44644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Dikdörtgen 5"/>
          <p:cNvSpPr/>
          <p:nvPr/>
        </p:nvSpPr>
        <p:spPr>
          <a:xfrm>
            <a:off x="323528" y="5762873"/>
            <a:ext cx="4032448"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tr-TR" dirty="0"/>
              <a:t>Ele geçirilebilir kaynak, bir </a:t>
            </a:r>
            <a:r>
              <a:rPr lang="tr-TR" dirty="0" smtClean="0"/>
              <a:t>görev </a:t>
            </a:r>
            <a:r>
              <a:rPr lang="tr-TR" dirty="0"/>
              <a:t>bu kaynağa sahip </a:t>
            </a:r>
            <a:r>
              <a:rPr lang="tr-TR" dirty="0" smtClean="0"/>
              <a:t>ise elinden </a:t>
            </a:r>
            <a:r>
              <a:rPr lang="tr-TR" dirty="0"/>
              <a:t>alındığında problemler </a:t>
            </a:r>
            <a:r>
              <a:rPr lang="tr-TR" dirty="0" smtClean="0"/>
              <a:t>oluşturmayan kaynaktır. </a:t>
            </a:r>
            <a:endParaRPr lang="tr-TR" dirty="0"/>
          </a:p>
        </p:txBody>
      </p:sp>
      <p:sp>
        <p:nvSpPr>
          <p:cNvPr id="7" name="Dikdörtgen 6"/>
          <p:cNvSpPr/>
          <p:nvPr/>
        </p:nvSpPr>
        <p:spPr>
          <a:xfrm>
            <a:off x="4494225" y="6021288"/>
            <a:ext cx="4436864"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tr-TR" dirty="0"/>
              <a:t>Ele geçirilemeyen kaynak, </a:t>
            </a:r>
            <a:r>
              <a:rPr lang="tr-TR" dirty="0" smtClean="0"/>
              <a:t>görev </a:t>
            </a:r>
            <a:r>
              <a:rPr lang="tr-TR" dirty="0"/>
              <a:t>bu kaynağa sahiptir </a:t>
            </a:r>
            <a:r>
              <a:rPr lang="tr-TR" dirty="0" smtClean="0"/>
              <a:t>ve elinden </a:t>
            </a:r>
            <a:r>
              <a:rPr lang="tr-TR" dirty="0"/>
              <a:t>alınamaz. </a:t>
            </a:r>
          </a:p>
        </p:txBody>
      </p:sp>
    </p:spTree>
    <p:extLst>
      <p:ext uri="{BB962C8B-B14F-4D97-AF65-F5344CB8AC3E}">
        <p14:creationId xmlns:p14="http://schemas.microsoft.com/office/powerpoint/2010/main" val="38443750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lstStyle/>
          <a:p>
            <a:r>
              <a:rPr lang="tr-TR" dirty="0" smtClean="0"/>
              <a:t>200 KB bir sistemde;</a:t>
            </a:r>
            <a:endParaRPr lang="tr-TR"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721480"/>
            <a:ext cx="7305644" cy="217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24609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7231" t="26031" r="27769" b="32984"/>
          <a:stretch/>
        </p:blipFill>
        <p:spPr bwMode="auto">
          <a:xfrm>
            <a:off x="755576" y="1700808"/>
            <a:ext cx="7042687" cy="4008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18687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980728"/>
            <a:ext cx="3312368" cy="4528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928965"/>
            <a:ext cx="3600400" cy="4580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ikdörtgen 1"/>
          <p:cNvSpPr/>
          <p:nvPr/>
        </p:nvSpPr>
        <p:spPr>
          <a:xfrm>
            <a:off x="971600" y="5840307"/>
            <a:ext cx="7992888" cy="646331"/>
          </a:xfrm>
          <a:prstGeom prst="rect">
            <a:avLst/>
          </a:prstGeom>
        </p:spPr>
        <p:txBody>
          <a:bodyPr wrap="square">
            <a:spAutoFit/>
          </a:bodyPr>
          <a:lstStyle/>
          <a:p>
            <a:r>
              <a:rPr lang="tr-TR" b="1" dirty="0"/>
              <a:t>Aynı kaynakların farklı sıralarda istenilmesinde ölümcül kilitlenme olma</a:t>
            </a:r>
          </a:p>
          <a:p>
            <a:r>
              <a:rPr lang="tr-TR" b="1" dirty="0"/>
              <a:t>olasılığı yüksektir.</a:t>
            </a:r>
            <a:endParaRPr lang="tr-TR" dirty="0"/>
          </a:p>
        </p:txBody>
      </p:sp>
    </p:spTree>
    <p:extLst>
      <p:ext uri="{BB962C8B-B14F-4D97-AF65-F5344CB8AC3E}">
        <p14:creationId xmlns:p14="http://schemas.microsoft.com/office/powerpoint/2010/main" val="6176389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z="3200" dirty="0" smtClean="0"/>
              <a:t>Ölümcül Kilitlenmeye Neden Olan Durumlar</a:t>
            </a:r>
            <a:endParaRPr lang="tr-TR" sz="3200" dirty="0"/>
          </a:p>
        </p:txBody>
      </p:sp>
      <p:sp>
        <p:nvSpPr>
          <p:cNvPr id="3" name="İçerik Yer Tutucusu 2"/>
          <p:cNvSpPr>
            <a:spLocks noGrp="1"/>
          </p:cNvSpPr>
          <p:nvPr>
            <p:ph idx="1"/>
          </p:nvPr>
        </p:nvSpPr>
        <p:spPr>
          <a:xfrm>
            <a:off x="457200" y="1772816"/>
            <a:ext cx="8229600" cy="3816424"/>
          </a:xfrm>
        </p:spPr>
        <p:txBody>
          <a:bodyPr>
            <a:normAutofit lnSpcReduction="10000"/>
          </a:bodyPr>
          <a:lstStyle/>
          <a:p>
            <a:r>
              <a:rPr lang="tr-TR" sz="2000" dirty="0"/>
              <a:t>Karşılıklı Dışlama(</a:t>
            </a:r>
            <a:r>
              <a:rPr lang="tr-TR" sz="2000" dirty="0" err="1"/>
              <a:t>Mutual</a:t>
            </a:r>
            <a:r>
              <a:rPr lang="tr-TR" sz="2000" dirty="0"/>
              <a:t> </a:t>
            </a:r>
            <a:r>
              <a:rPr lang="tr-TR" sz="2000" dirty="0" err="1"/>
              <a:t>Exclusion</a:t>
            </a:r>
            <a:r>
              <a:rPr lang="tr-TR" sz="2000" dirty="0"/>
              <a:t>)</a:t>
            </a:r>
          </a:p>
          <a:p>
            <a:pPr marL="0" indent="0">
              <a:buNone/>
            </a:pPr>
            <a:r>
              <a:rPr lang="tr-TR" sz="2000" b="0" dirty="0"/>
              <a:t>Her kaynağı aynı anda bir </a:t>
            </a:r>
            <a:r>
              <a:rPr lang="tr-TR" sz="2000" b="0" dirty="0" smtClean="0"/>
              <a:t>görev </a:t>
            </a:r>
            <a:r>
              <a:rPr lang="tr-TR" sz="2000" b="0" dirty="0"/>
              <a:t>ya kullanıyordur ya </a:t>
            </a:r>
            <a:r>
              <a:rPr lang="tr-TR" sz="2000" b="0" dirty="0" smtClean="0"/>
              <a:t>da atanmıştır</a:t>
            </a:r>
            <a:r>
              <a:rPr lang="tr-TR" sz="2000" b="0" dirty="0"/>
              <a:t>.</a:t>
            </a:r>
          </a:p>
          <a:p>
            <a:r>
              <a:rPr lang="tr-TR" sz="2000" dirty="0" smtClean="0"/>
              <a:t>Tut ve </a:t>
            </a:r>
            <a:r>
              <a:rPr lang="tr-TR" sz="2000" dirty="0"/>
              <a:t>Bekleme </a:t>
            </a:r>
            <a:r>
              <a:rPr lang="tr-TR" sz="2000" dirty="0" smtClean="0"/>
              <a:t>Koşulu</a:t>
            </a:r>
          </a:p>
          <a:p>
            <a:pPr marL="0" indent="0">
              <a:buNone/>
            </a:pPr>
            <a:r>
              <a:rPr lang="tr-TR" sz="2000" b="0" dirty="0" smtClean="0"/>
              <a:t>Elindeki </a:t>
            </a:r>
            <a:r>
              <a:rPr lang="tr-TR" sz="2000" b="0" dirty="0"/>
              <a:t>kaynağı bırakmadan başka kaynak ister ve bu </a:t>
            </a:r>
            <a:r>
              <a:rPr lang="tr-TR" sz="2000" b="0" dirty="0" smtClean="0"/>
              <a:t>kaynağı elde </a:t>
            </a:r>
            <a:r>
              <a:rPr lang="tr-TR" sz="2000" b="0" dirty="0"/>
              <a:t>edemediğinde beklemeye geçen </a:t>
            </a:r>
            <a:r>
              <a:rPr lang="tr-TR" sz="2000" b="0" dirty="0" smtClean="0"/>
              <a:t>görevler</a:t>
            </a:r>
            <a:endParaRPr lang="tr-TR" sz="2000" b="0" dirty="0"/>
          </a:p>
          <a:p>
            <a:r>
              <a:rPr lang="tr-TR" sz="2000" dirty="0" smtClean="0"/>
              <a:t>Geri </a:t>
            </a:r>
            <a:r>
              <a:rPr lang="tr-TR" sz="2000" dirty="0"/>
              <a:t>Alınamaz Koşulu</a:t>
            </a:r>
          </a:p>
          <a:p>
            <a:pPr marL="0" indent="0">
              <a:buNone/>
            </a:pPr>
            <a:r>
              <a:rPr lang="tr-TR" sz="2000" b="0" dirty="0"/>
              <a:t>Bir </a:t>
            </a:r>
            <a:r>
              <a:rPr lang="tr-TR" sz="2000" b="0" dirty="0" smtClean="0"/>
              <a:t>göreve </a:t>
            </a:r>
            <a:r>
              <a:rPr lang="tr-TR" sz="2000" b="0" dirty="0"/>
              <a:t>daha önceden verilen kaynaklar zorla </a:t>
            </a:r>
            <a:r>
              <a:rPr lang="tr-TR" sz="2000" b="0" dirty="0" smtClean="0"/>
              <a:t>elinden alınamaması durumu.</a:t>
            </a:r>
            <a:endParaRPr lang="tr-TR" sz="2000" b="0" dirty="0"/>
          </a:p>
          <a:p>
            <a:r>
              <a:rPr lang="tr-TR" sz="2000" dirty="0" smtClean="0"/>
              <a:t>Dairesel Bekleme </a:t>
            </a:r>
            <a:r>
              <a:rPr lang="tr-TR" sz="2000" dirty="0"/>
              <a:t>Koşulu</a:t>
            </a:r>
          </a:p>
          <a:p>
            <a:pPr marL="0" indent="0">
              <a:buNone/>
            </a:pPr>
            <a:r>
              <a:rPr lang="tr-TR" sz="2000" b="0" dirty="0"/>
              <a:t>İki veya daha fazla </a:t>
            </a:r>
            <a:r>
              <a:rPr lang="tr-TR" sz="2000" b="0" dirty="0" smtClean="0"/>
              <a:t>görev </a:t>
            </a:r>
            <a:r>
              <a:rPr lang="tr-TR" sz="2000" b="0" dirty="0"/>
              <a:t>zincir şeklinde kendinden </a:t>
            </a:r>
            <a:r>
              <a:rPr lang="tr-TR" sz="2000" b="0" dirty="0" smtClean="0"/>
              <a:t>önceki göreve ait </a:t>
            </a:r>
            <a:r>
              <a:rPr lang="tr-TR" sz="2000" b="0" dirty="0"/>
              <a:t>olan kaynağı bekler.</a:t>
            </a:r>
            <a:endParaRPr lang="tr-TR" sz="2000" dirty="0"/>
          </a:p>
        </p:txBody>
      </p:sp>
    </p:spTree>
    <p:extLst>
      <p:ext uri="{BB962C8B-B14F-4D97-AF65-F5344CB8AC3E}">
        <p14:creationId xmlns:p14="http://schemas.microsoft.com/office/powerpoint/2010/main" val="40890055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dirty="0" smtClean="0"/>
              <a:t>Ölümcül Kilitlenme Nasıl Oluşur?</a:t>
            </a:r>
            <a:endParaRPr lang="tr-TR" dirty="0"/>
          </a:p>
        </p:txBody>
      </p:sp>
      <p:sp>
        <p:nvSpPr>
          <p:cNvPr id="3" name="İçerik Yer Tutucusu 2"/>
          <p:cNvSpPr>
            <a:spLocks noGrp="1"/>
          </p:cNvSpPr>
          <p:nvPr>
            <p:ph idx="1"/>
          </p:nvPr>
        </p:nvSpPr>
        <p:spPr/>
        <p:txBody>
          <a:bodyPr>
            <a:normAutofit lnSpcReduction="10000"/>
          </a:bodyPr>
          <a:lstStyle/>
          <a:p>
            <a:r>
              <a:rPr lang="tr-TR" dirty="0" smtClean="0"/>
              <a:t>Dosya İsteklerinde Ölümcül Kilitlenmeler</a:t>
            </a:r>
          </a:p>
          <a:p>
            <a:r>
              <a:rPr lang="tr-TR" dirty="0" err="1" smtClean="0"/>
              <a:t>Veritabanlarında</a:t>
            </a:r>
            <a:r>
              <a:rPr lang="tr-TR" dirty="0" smtClean="0"/>
              <a:t> Ölümcül Kilitlenmeler</a:t>
            </a:r>
          </a:p>
          <a:p>
            <a:r>
              <a:rPr lang="tr-TR" dirty="0" smtClean="0"/>
              <a:t>Aygıt Tahsislerinde Ölümcül Kilitlenmeler</a:t>
            </a:r>
          </a:p>
          <a:p>
            <a:r>
              <a:rPr lang="tr-TR" dirty="0" smtClean="0"/>
              <a:t>Çoklu Aygıt Tahsislerinde Ölümcül Kilitlenmeler</a:t>
            </a:r>
          </a:p>
          <a:p>
            <a:r>
              <a:rPr lang="tr-TR" dirty="0" err="1" smtClean="0"/>
              <a:t>Biriktermeden</a:t>
            </a:r>
            <a:r>
              <a:rPr lang="tr-TR" dirty="0" smtClean="0"/>
              <a:t> dolayı Ölümcül Kilitlenme</a:t>
            </a:r>
          </a:p>
          <a:p>
            <a:r>
              <a:rPr lang="tr-TR" dirty="0" smtClean="0"/>
              <a:t>Bir Ağda Ölümcül Kilitlenme</a:t>
            </a:r>
          </a:p>
          <a:p>
            <a:r>
              <a:rPr lang="tr-TR" dirty="0" smtClean="0"/>
              <a:t>Disk Paylaşımında Ölümcül Kilitlenme</a:t>
            </a:r>
            <a:endParaRPr lang="tr-TR" dirty="0"/>
          </a:p>
        </p:txBody>
      </p:sp>
    </p:spTree>
    <p:extLst>
      <p:ext uri="{BB962C8B-B14F-4D97-AF65-F5344CB8AC3E}">
        <p14:creationId xmlns:p14="http://schemas.microsoft.com/office/powerpoint/2010/main" val="3620833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fontScale="90000"/>
          </a:bodyPr>
          <a:lstStyle/>
          <a:p>
            <a:r>
              <a:rPr lang="tr-TR" dirty="0"/>
              <a:t>Dosya İsteklerinde Ölümcül </a:t>
            </a:r>
            <a:r>
              <a:rPr lang="tr-TR" dirty="0" smtClean="0"/>
              <a:t>Kilitlenmeler</a:t>
            </a:r>
            <a:endParaRPr lang="tr-TR" dirty="0"/>
          </a:p>
        </p:txBody>
      </p:sp>
      <p:graphicFrame>
        <p:nvGraphicFramePr>
          <p:cNvPr id="4" name="İçerik Yer Tutucusu 3"/>
          <p:cNvGraphicFramePr>
            <a:graphicFrameLocks noGrp="1"/>
          </p:cNvGraphicFramePr>
          <p:nvPr>
            <p:ph idx="1"/>
            <p:extLst>
              <p:ext uri="{D42A27DB-BD31-4B8C-83A1-F6EECF244321}">
                <p14:modId xmlns:p14="http://schemas.microsoft.com/office/powerpoint/2010/main" val="1789996078"/>
              </p:ext>
            </p:extLst>
          </p:nvPr>
        </p:nvGraphicFramePr>
        <p:xfrm>
          <a:off x="575556" y="1268760"/>
          <a:ext cx="7992888" cy="4320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40455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57199" y="188640"/>
            <a:ext cx="8229600" cy="778098"/>
          </a:xfrm>
        </p:spPr>
        <p:txBody>
          <a:bodyPr>
            <a:normAutofit fontScale="90000"/>
          </a:bodyPr>
          <a:lstStyle/>
          <a:p>
            <a:r>
              <a:rPr lang="tr-TR" dirty="0" err="1"/>
              <a:t>Veritabanlarında</a:t>
            </a:r>
            <a:r>
              <a:rPr lang="tr-TR" dirty="0"/>
              <a:t> Ölümcül </a:t>
            </a:r>
            <a:r>
              <a:rPr lang="tr-TR" dirty="0" smtClean="0"/>
              <a:t>Kilitlenmeler</a:t>
            </a:r>
            <a:endParaRPr lang="tr-TR" dirty="0"/>
          </a:p>
        </p:txBody>
      </p:sp>
      <p:sp>
        <p:nvSpPr>
          <p:cNvPr id="6" name="İçerik Yer Tutucusu 5"/>
          <p:cNvSpPr>
            <a:spLocks noGrp="1"/>
          </p:cNvSpPr>
          <p:nvPr>
            <p:ph idx="1"/>
          </p:nvPr>
        </p:nvSpPr>
        <p:spPr>
          <a:xfrm>
            <a:off x="323528" y="1124744"/>
            <a:ext cx="8363272" cy="5256584"/>
          </a:xfrm>
        </p:spPr>
        <p:txBody>
          <a:bodyPr>
            <a:normAutofit fontScale="55000" lnSpcReduction="20000"/>
          </a:bodyPr>
          <a:lstStyle/>
          <a:p>
            <a:r>
              <a:rPr lang="tr-TR" dirty="0"/>
              <a:t>Kilitleme, </a:t>
            </a:r>
            <a:r>
              <a:rPr lang="tr-TR" dirty="0" err="1"/>
              <a:t>veritabanı</a:t>
            </a:r>
            <a:r>
              <a:rPr lang="tr-TR" dirty="0"/>
              <a:t> ile çalışırken kullanıcının diğer tüm kullanıcıları kilitlediği verilerin bütünlüğünü garanti altına almak için kullanılan bir tekniktir. Kilitleme üç farklı seviyede yapılabilir: </a:t>
            </a:r>
            <a:r>
              <a:rPr lang="tr-TR" dirty="0" err="1"/>
              <a:t>veritabanının</a:t>
            </a:r>
            <a:r>
              <a:rPr lang="tr-TR" dirty="0"/>
              <a:t> tamamı istek süresince kilitlenebilir; </a:t>
            </a:r>
            <a:r>
              <a:rPr lang="tr-TR" dirty="0" err="1"/>
              <a:t>veritabanının</a:t>
            </a:r>
            <a:r>
              <a:rPr lang="tr-TR" dirty="0"/>
              <a:t> bir alt bölümü kilitlenebilir; veya sadece bireysel kayıt işlem tamamlanana kadar kilitlenebilir.</a:t>
            </a:r>
          </a:p>
          <a:p>
            <a:endParaRPr lang="tr-TR" dirty="0"/>
          </a:p>
          <a:p>
            <a:r>
              <a:rPr lang="tr-TR" dirty="0"/>
              <a:t>Tüm </a:t>
            </a:r>
            <a:r>
              <a:rPr lang="tr-TR" dirty="0" err="1"/>
              <a:t>veritabanını</a:t>
            </a:r>
            <a:r>
              <a:rPr lang="tr-TR" dirty="0"/>
              <a:t> kilitlemek (en uç ve en başarılı çözüm) çıkmazın oluşmasını engeller ancak erişimi kısıtlar.</a:t>
            </a:r>
          </a:p>
          <a:p>
            <a:r>
              <a:rPr lang="tr-TR" dirty="0" smtClean="0"/>
              <a:t>Bir </a:t>
            </a:r>
            <a:r>
              <a:rPr lang="tr-TR" dirty="0"/>
              <a:t>kerede bir kullanıcıya veri tabanı ve çok kullanıcılı bir ortamda yanıt süreleri önemli ölçüde yavaşlar; bu normalde kabul edilemez bir çözümdür. </a:t>
            </a:r>
          </a:p>
          <a:p>
            <a:r>
              <a:rPr lang="tr-TR" dirty="0"/>
              <a:t>Kilitleme, </a:t>
            </a:r>
            <a:r>
              <a:rPr lang="tr-TR" dirty="0" err="1"/>
              <a:t>veritabanının</a:t>
            </a:r>
            <a:r>
              <a:rPr lang="tr-TR" dirty="0"/>
              <a:t> sadece bir kısmında gerçekleştirildiğinde, erişim süresi iyileştirilir, ancak bir kilitlenme olasılığı artar, çünkü farklı işlemlerin bazen </a:t>
            </a:r>
            <a:r>
              <a:rPr lang="tr-TR" dirty="0" err="1"/>
              <a:t>veritabanının</a:t>
            </a:r>
            <a:r>
              <a:rPr lang="tr-TR" dirty="0"/>
              <a:t> birkaç bölümüyle aynı anda çalışması gerekir.</a:t>
            </a:r>
          </a:p>
          <a:p>
            <a:endParaRPr lang="tr-TR" dirty="0"/>
          </a:p>
          <a:p>
            <a:r>
              <a:rPr lang="tr-TR" dirty="0"/>
              <a:t>İşlem bitene kadar erişilen her bir kaydı kilitleyen bir sistem. Her birinin iki kaydı güncellemesi gereken (R1 ve R2) iki işlem (P1 ve P2) vardır ve aşağıdaki sıra bir kilitlenmeye yol açar:</a:t>
            </a:r>
          </a:p>
          <a:p>
            <a:pPr marL="0" indent="0">
              <a:buNone/>
            </a:pPr>
            <a:r>
              <a:rPr lang="tr-TR" dirty="0" smtClean="0"/>
              <a:t>	1</a:t>
            </a:r>
            <a:r>
              <a:rPr lang="tr-TR" dirty="0"/>
              <a:t>. P1, R1'e erişir ve kilitler.</a:t>
            </a:r>
          </a:p>
          <a:p>
            <a:pPr marL="0" indent="0">
              <a:buNone/>
            </a:pPr>
            <a:r>
              <a:rPr lang="tr-TR" dirty="0" smtClean="0"/>
              <a:t>	2</a:t>
            </a:r>
            <a:r>
              <a:rPr lang="tr-TR" dirty="0"/>
              <a:t>. P2, R2'ye erişir ve kilitler.</a:t>
            </a:r>
          </a:p>
          <a:p>
            <a:pPr marL="0" indent="0">
              <a:buNone/>
            </a:pPr>
            <a:r>
              <a:rPr lang="tr-TR" dirty="0" smtClean="0"/>
              <a:t>	3</a:t>
            </a:r>
            <a:r>
              <a:rPr lang="tr-TR" dirty="0"/>
              <a:t>. P1, P2 tarafından kilitlenen R2'yi ister.</a:t>
            </a:r>
          </a:p>
          <a:p>
            <a:pPr marL="0" indent="0">
              <a:buNone/>
            </a:pPr>
            <a:r>
              <a:rPr lang="tr-TR" dirty="0" smtClean="0"/>
              <a:t>	4</a:t>
            </a:r>
            <a:r>
              <a:rPr lang="tr-TR" dirty="0"/>
              <a:t>. P2, P1 ile kilitlenmiş olan R1'i ister.</a:t>
            </a:r>
          </a:p>
          <a:p>
            <a:endParaRPr lang="tr-TR" dirty="0"/>
          </a:p>
          <a:p>
            <a:endParaRPr lang="tr-TR" dirty="0"/>
          </a:p>
        </p:txBody>
      </p:sp>
    </p:spTree>
    <p:extLst>
      <p:ext uri="{BB962C8B-B14F-4D97-AF65-F5344CB8AC3E}">
        <p14:creationId xmlns:p14="http://schemas.microsoft.com/office/powerpoint/2010/main" val="2207215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457199" y="188640"/>
            <a:ext cx="8229600" cy="778098"/>
          </a:xfrm>
        </p:spPr>
        <p:txBody>
          <a:bodyPr>
            <a:normAutofit fontScale="90000"/>
          </a:bodyPr>
          <a:lstStyle/>
          <a:p>
            <a:r>
              <a:rPr lang="tr-TR" dirty="0" err="1"/>
              <a:t>Veritabanlarında</a:t>
            </a:r>
            <a:r>
              <a:rPr lang="tr-TR" dirty="0"/>
              <a:t> Ölümcül </a:t>
            </a:r>
            <a:r>
              <a:rPr lang="tr-TR" dirty="0" smtClean="0"/>
              <a:t>Kilitlenmeler</a:t>
            </a:r>
            <a:endParaRPr lang="tr-TR" dirty="0"/>
          </a:p>
        </p:txBody>
      </p:sp>
      <p:pic>
        <p:nvPicPr>
          <p:cNvPr id="5" name="İçerik Yer Tutucusu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59632" y="1081463"/>
            <a:ext cx="6768751" cy="5684381"/>
          </a:xfrm>
        </p:spPr>
      </p:pic>
    </p:spTree>
    <p:extLst>
      <p:ext uri="{BB962C8B-B14F-4D97-AF65-F5344CB8AC3E}">
        <p14:creationId xmlns:p14="http://schemas.microsoft.com/office/powerpoint/2010/main" val="2083054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7504" y="274638"/>
            <a:ext cx="9145016" cy="778098"/>
          </a:xfrm>
        </p:spPr>
        <p:txBody>
          <a:bodyPr>
            <a:normAutofit fontScale="90000"/>
          </a:bodyPr>
          <a:lstStyle/>
          <a:p>
            <a:r>
              <a:rPr lang="tr-TR" dirty="0"/>
              <a:t>Aygıt Tahsislerinde Ölümcül </a:t>
            </a:r>
            <a:r>
              <a:rPr lang="tr-TR" dirty="0" smtClean="0"/>
              <a:t>Kilitlenmeler</a:t>
            </a:r>
            <a:endParaRPr lang="tr-TR" dirty="0"/>
          </a:p>
        </p:txBody>
      </p:sp>
      <p:sp>
        <p:nvSpPr>
          <p:cNvPr id="3" name="İçerik Yer Tutucusu 2"/>
          <p:cNvSpPr>
            <a:spLocks noGrp="1"/>
          </p:cNvSpPr>
          <p:nvPr>
            <p:ph idx="1"/>
          </p:nvPr>
        </p:nvSpPr>
        <p:spPr>
          <a:xfrm>
            <a:off x="457200" y="1268760"/>
            <a:ext cx="8229600" cy="4857403"/>
          </a:xfrm>
        </p:spPr>
        <p:txBody>
          <a:bodyPr>
            <a:normAutofit fontScale="70000" lnSpcReduction="20000"/>
          </a:bodyPr>
          <a:lstStyle/>
          <a:p>
            <a:r>
              <a:rPr lang="tr-TR" dirty="0" smtClean="0"/>
              <a:t>DVD okuma/yazma sürücülerinin kümeleri gibi adanmış aygıt gruplarını kullanan sistemlerde ölümcül kilitlenme meydana gelebilir. </a:t>
            </a:r>
            <a:endParaRPr lang="tr-TR" dirty="0" smtClean="0"/>
          </a:p>
          <a:p>
            <a:r>
              <a:rPr lang="tr-TR" dirty="0"/>
              <a:t>Bir kurumda iki kullanıcının her birinin bir program çalıştırdığını (P1 ve P2) ve her iki programın da sonunda dosyaları bir diskten diğerine kopyalamak için iki DVD sürücüsüne ihtiyacı olduğunu varsayalım. Bununla birlikte, sistem küçüktür ve iki program başlatıldığında, yalnızca iki DVD-R sürücüsü kullanılabilir ve bunlar “istendiği şekilde” tahsis edilir. Yakında aşağıdaki dizi gerçekleşir:</a:t>
            </a:r>
          </a:p>
          <a:p>
            <a:pPr marL="0" indent="0">
              <a:buNone/>
            </a:pPr>
            <a:r>
              <a:rPr lang="tr-TR" dirty="0" smtClean="0"/>
              <a:t>	1</a:t>
            </a:r>
            <a:r>
              <a:rPr lang="tr-TR" dirty="0"/>
              <a:t>. P1, sürücü 1'i ister ve alır.</a:t>
            </a:r>
          </a:p>
          <a:p>
            <a:pPr marL="0" indent="0">
              <a:buNone/>
            </a:pPr>
            <a:r>
              <a:rPr lang="tr-TR" dirty="0" smtClean="0"/>
              <a:t>	2</a:t>
            </a:r>
            <a:r>
              <a:rPr lang="tr-TR" dirty="0"/>
              <a:t>. P2, sürücü 2'yi ister ve alır.</a:t>
            </a:r>
          </a:p>
          <a:p>
            <a:pPr marL="0" indent="0">
              <a:buNone/>
            </a:pPr>
            <a:r>
              <a:rPr lang="tr-TR" dirty="0" smtClean="0"/>
              <a:t>	3</a:t>
            </a:r>
            <a:r>
              <a:rPr lang="tr-TR" dirty="0"/>
              <a:t>. P1, sürücü 2'yi istiyor ancak engelleniyor.</a:t>
            </a:r>
          </a:p>
          <a:p>
            <a:pPr marL="0" indent="0">
              <a:buNone/>
            </a:pPr>
            <a:r>
              <a:rPr lang="tr-TR" dirty="0" smtClean="0"/>
              <a:t>	4</a:t>
            </a:r>
            <a:r>
              <a:rPr lang="tr-TR" dirty="0"/>
              <a:t>. P2, sürücü 1'i ister ancak engellenir.</a:t>
            </a:r>
          </a:p>
          <a:p>
            <a:r>
              <a:rPr lang="tr-TR" dirty="0"/>
              <a:t>Her iki iş de devam edemez, çünkü her biri diğerinin sürücüsünü bitirmesini ve serbest bırakmasını bekler; Benzer bir olay dizisi, herhangi bir özel cihaz grubunu kilitleyebilir.</a:t>
            </a:r>
          </a:p>
          <a:p>
            <a:endParaRPr lang="tr-TR" dirty="0" smtClean="0"/>
          </a:p>
          <a:p>
            <a:endParaRPr lang="tr-TR" dirty="0"/>
          </a:p>
        </p:txBody>
      </p:sp>
    </p:spTree>
    <p:extLst>
      <p:ext uri="{BB962C8B-B14F-4D97-AF65-F5344CB8AC3E}">
        <p14:creationId xmlns:p14="http://schemas.microsoft.com/office/powerpoint/2010/main" val="1247854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0" y="274638"/>
            <a:ext cx="9144000" cy="634082"/>
          </a:xfrm>
        </p:spPr>
        <p:txBody>
          <a:bodyPr>
            <a:normAutofit fontScale="90000"/>
          </a:bodyPr>
          <a:lstStyle/>
          <a:p>
            <a:r>
              <a:rPr lang="tr-TR" sz="3600" dirty="0"/>
              <a:t>Çoklu Aygıt Tahsislerinde Ölümcül </a:t>
            </a:r>
            <a:r>
              <a:rPr lang="tr-TR" sz="3600" dirty="0" smtClean="0"/>
              <a:t>Kilitlenmeler</a:t>
            </a:r>
            <a:endParaRPr lang="tr-TR" sz="3600" dirty="0"/>
          </a:p>
        </p:txBody>
      </p:sp>
      <p:pic>
        <p:nvPicPr>
          <p:cNvPr id="4" name="Resim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1417638"/>
            <a:ext cx="5698153" cy="5179136"/>
          </a:xfrm>
          <a:prstGeom prst="rect">
            <a:avLst/>
          </a:prstGeom>
        </p:spPr>
      </p:pic>
    </p:spTree>
    <p:extLst>
      <p:ext uri="{BB962C8B-B14F-4D97-AF65-F5344CB8AC3E}">
        <p14:creationId xmlns:p14="http://schemas.microsoft.com/office/powerpoint/2010/main" val="2360546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0" y="274638"/>
            <a:ext cx="8686800" cy="778098"/>
          </a:xfrm>
        </p:spPr>
        <p:txBody>
          <a:bodyPr>
            <a:normAutofit/>
          </a:bodyPr>
          <a:lstStyle/>
          <a:p>
            <a:r>
              <a:rPr lang="tr-TR" sz="3600" dirty="0" smtClean="0"/>
              <a:t>Biriktiricilerin (</a:t>
            </a:r>
            <a:r>
              <a:rPr lang="tr-TR" sz="3600" dirty="0" err="1" smtClean="0"/>
              <a:t>Spooling</a:t>
            </a:r>
            <a:r>
              <a:rPr lang="tr-TR" sz="3600" dirty="0" smtClean="0"/>
              <a:t>) Ölümcül </a:t>
            </a:r>
            <a:r>
              <a:rPr lang="tr-TR" sz="3600" dirty="0" smtClean="0"/>
              <a:t>Kilitlenme</a:t>
            </a:r>
            <a:endParaRPr lang="tr-TR" sz="3600" dirty="0"/>
          </a:p>
        </p:txBody>
      </p:sp>
      <p:sp>
        <p:nvSpPr>
          <p:cNvPr id="3" name="İçerik Yer Tutucusu 2"/>
          <p:cNvSpPr>
            <a:spLocks noGrp="1"/>
          </p:cNvSpPr>
          <p:nvPr>
            <p:ph idx="1"/>
          </p:nvPr>
        </p:nvSpPr>
        <p:spPr>
          <a:xfrm>
            <a:off x="457200" y="1340768"/>
            <a:ext cx="8229600" cy="4785395"/>
          </a:xfrm>
        </p:spPr>
        <p:txBody>
          <a:bodyPr>
            <a:normAutofit fontScale="77500" lnSpcReduction="20000"/>
          </a:bodyPr>
          <a:lstStyle/>
          <a:p>
            <a:r>
              <a:rPr lang="tr-TR" dirty="0"/>
              <a:t>Önceki örnekte, yazıcı özel bir cihaz olmasına rağmen, yazıcılar genellikle kendisiyle CPU arasında veri aktarmak için yüksek hızlı depolama kullanan </a:t>
            </a:r>
            <a:r>
              <a:rPr lang="tr-TR" dirty="0" smtClean="0"/>
              <a:t>paylaşılabilir </a:t>
            </a:r>
            <a:r>
              <a:rPr lang="tr-TR" dirty="0"/>
              <a:t>cihazlardır.</a:t>
            </a:r>
          </a:p>
          <a:p>
            <a:endParaRPr lang="tr-TR" dirty="0"/>
          </a:p>
          <a:p>
            <a:r>
              <a:rPr lang="tr-TR" dirty="0"/>
              <a:t>Biriktirici, birkaç kullanıcıdan gelen çıktıları kabul eder ve yazıcı kabul etmeye hazır olana kadar tüm çıktılar için geçici bir depolama alanı görevi görür</a:t>
            </a:r>
            <a:r>
              <a:rPr lang="tr-TR" dirty="0" smtClean="0"/>
              <a:t>. Bu göreve biriktirici </a:t>
            </a:r>
            <a:r>
              <a:rPr lang="tr-TR" dirty="0"/>
              <a:t>denir. </a:t>
            </a:r>
            <a:endParaRPr lang="tr-TR" dirty="0" smtClean="0"/>
          </a:p>
          <a:p>
            <a:r>
              <a:rPr lang="tr-TR" dirty="0" smtClean="0"/>
              <a:t>Yazıcı </a:t>
            </a:r>
            <a:r>
              <a:rPr lang="tr-TR" dirty="0"/>
              <a:t>yazdırmaya başlamadan önce bir işin tüm çıktısına ihtiyaç duyuyorsa, ancak biriktirme </a:t>
            </a:r>
            <a:r>
              <a:rPr lang="tr-TR" dirty="0" smtClean="0"/>
              <a:t>sisteminin </a:t>
            </a:r>
            <a:r>
              <a:rPr lang="tr-TR" dirty="0"/>
              <a:t>kullanılabilir </a:t>
            </a:r>
            <a:r>
              <a:rPr lang="tr-TR" dirty="0" smtClean="0"/>
              <a:t>alanı, </a:t>
            </a:r>
            <a:r>
              <a:rPr lang="tr-TR" dirty="0"/>
              <a:t>yalnızca kısmen tamamlanmış bir çıktıyla </a:t>
            </a:r>
            <a:r>
              <a:rPr lang="tr-TR" dirty="0" smtClean="0"/>
              <a:t>doldurulabiliyorsa, </a:t>
            </a:r>
            <a:r>
              <a:rPr lang="tr-TR" dirty="0"/>
              <a:t>bir kilitlenme meydana gelebilir. </a:t>
            </a:r>
          </a:p>
        </p:txBody>
      </p:sp>
    </p:spTree>
    <p:extLst>
      <p:ext uri="{BB962C8B-B14F-4D97-AF65-F5344CB8AC3E}">
        <p14:creationId xmlns:p14="http://schemas.microsoft.com/office/powerpoint/2010/main" val="459908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dirty="0"/>
              <a:t>Bir Ağda Ölümcül </a:t>
            </a:r>
            <a:r>
              <a:rPr lang="tr-TR" dirty="0" smtClean="0"/>
              <a:t>Kilitlenme</a:t>
            </a:r>
            <a:endParaRPr lang="tr-TR" dirty="0"/>
          </a:p>
        </p:txBody>
      </p:sp>
      <p:sp>
        <p:nvSpPr>
          <p:cNvPr id="3" name="İçerik Yer Tutucusu 2"/>
          <p:cNvSpPr>
            <a:spLocks noGrp="1"/>
          </p:cNvSpPr>
          <p:nvPr>
            <p:ph idx="1"/>
          </p:nvPr>
        </p:nvSpPr>
        <p:spPr/>
        <p:txBody>
          <a:bodyPr/>
          <a:lstStyle/>
          <a:p>
            <a:r>
              <a:rPr lang="tr-TR" dirty="0"/>
              <a:t>Sıkışık olan veya </a:t>
            </a:r>
            <a:r>
              <a:rPr lang="tr-TR" dirty="0" smtClean="0"/>
              <a:t>G/Ç </a:t>
            </a:r>
            <a:r>
              <a:rPr lang="tr-TR" dirty="0"/>
              <a:t>arabellek alanının büyük bir yüzdesini dolduran bir ağ, </a:t>
            </a:r>
            <a:r>
              <a:rPr lang="tr-TR" dirty="0" smtClean="0"/>
              <a:t>ağ </a:t>
            </a:r>
            <a:r>
              <a:rPr lang="tr-TR" dirty="0"/>
              <a:t>üzerinden mesajların akışını kontrol etmek için protokollere sahip değilse, kilitlenebilir.</a:t>
            </a:r>
          </a:p>
        </p:txBody>
      </p:sp>
      <p:pic>
        <p:nvPicPr>
          <p:cNvPr id="4" name="Resim 3"/>
          <p:cNvPicPr>
            <a:picLocks noChangeAspect="1"/>
          </p:cNvPicPr>
          <p:nvPr/>
        </p:nvPicPr>
        <p:blipFill>
          <a:blip r:embed="rId2"/>
          <a:stretch>
            <a:fillRect/>
          </a:stretch>
        </p:blipFill>
        <p:spPr>
          <a:xfrm>
            <a:off x="1691680" y="3580322"/>
            <a:ext cx="5991521" cy="3277678"/>
          </a:xfrm>
          <a:prstGeom prst="rect">
            <a:avLst/>
          </a:prstGeom>
        </p:spPr>
      </p:pic>
    </p:spTree>
    <p:extLst>
      <p:ext uri="{BB962C8B-B14F-4D97-AF65-F5344CB8AC3E}">
        <p14:creationId xmlns:p14="http://schemas.microsoft.com/office/powerpoint/2010/main" val="2796812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fontScale="90000"/>
          </a:bodyPr>
          <a:lstStyle/>
          <a:p>
            <a:r>
              <a:rPr lang="tr-TR" dirty="0"/>
              <a:t>Disk Paylaşımında Ölümcül </a:t>
            </a:r>
            <a:r>
              <a:rPr lang="tr-TR" dirty="0" smtClean="0"/>
              <a:t>Kilitlenme</a:t>
            </a:r>
            <a:endParaRPr lang="tr-TR" dirty="0"/>
          </a:p>
        </p:txBody>
      </p:sp>
      <p:sp>
        <p:nvSpPr>
          <p:cNvPr id="3" name="İçerik Yer Tutucusu 2"/>
          <p:cNvSpPr>
            <a:spLocks noGrp="1"/>
          </p:cNvSpPr>
          <p:nvPr>
            <p:ph idx="1"/>
          </p:nvPr>
        </p:nvSpPr>
        <p:spPr/>
        <p:txBody>
          <a:bodyPr>
            <a:normAutofit/>
          </a:bodyPr>
          <a:lstStyle/>
          <a:p>
            <a:r>
              <a:rPr lang="tr-TR" sz="1800" dirty="0"/>
              <a:t>Diskler paylaşılmak üzere tasarlanmıştır, bu nedenle iki işlemin aynı diskin farklı alanlarına erişmesi </a:t>
            </a:r>
            <a:r>
              <a:rPr lang="tr-TR" sz="1800" dirty="0" smtClean="0"/>
              <a:t>çok sık rastlanan bir durumdur. </a:t>
            </a:r>
            <a:r>
              <a:rPr lang="tr-TR" sz="1800" dirty="0"/>
              <a:t>Bu paylaşım yeteneği, </a:t>
            </a:r>
            <a:r>
              <a:rPr lang="tr-TR" sz="1800" dirty="0" err="1"/>
              <a:t>livelock</a:t>
            </a:r>
            <a:r>
              <a:rPr lang="tr-TR" sz="1800" dirty="0"/>
              <a:t> olarak bilinen aktif bir kilitlenme </a:t>
            </a:r>
            <a:r>
              <a:rPr lang="tr-TR" sz="1800" dirty="0" smtClean="0"/>
              <a:t>türüdür.</a:t>
            </a:r>
            <a:endParaRPr lang="tr-TR" sz="1800" dirty="0"/>
          </a:p>
          <a:p>
            <a:r>
              <a:rPr lang="tr-TR" sz="1800" dirty="0"/>
              <a:t>İşlemler, doğal bir beklemeden farklı bir </a:t>
            </a:r>
            <a:r>
              <a:rPr lang="tr-TR" sz="1800" dirty="0" smtClean="0"/>
              <a:t>meşgul - </a:t>
            </a:r>
            <a:r>
              <a:rPr lang="tr-TR" sz="1800" dirty="0"/>
              <a:t>bekletme </a:t>
            </a:r>
            <a:r>
              <a:rPr lang="tr-TR" sz="1800" dirty="0" smtClean="0"/>
              <a:t>(</a:t>
            </a:r>
            <a:r>
              <a:rPr lang="tr-TR" sz="1800" dirty="0" err="1" smtClean="0"/>
              <a:t>busy</a:t>
            </a:r>
            <a:r>
              <a:rPr lang="tr-TR" sz="1800" dirty="0" smtClean="0"/>
              <a:t> - </a:t>
            </a:r>
            <a:r>
              <a:rPr lang="tr-TR" sz="1800" dirty="0" err="1" smtClean="0"/>
              <a:t>waiting</a:t>
            </a:r>
            <a:r>
              <a:rPr lang="tr-TR" sz="1800" dirty="0" smtClean="0"/>
              <a:t>) biçimi </a:t>
            </a:r>
            <a:r>
              <a:rPr lang="tr-TR" sz="1800" dirty="0"/>
              <a:t>kullanır. Bu durumda, bir kaynağı paylaşmayı bekler, ancak </a:t>
            </a:r>
            <a:r>
              <a:rPr lang="tr-TR" sz="1800" dirty="0" smtClean="0"/>
              <a:t>kontrolü hiçbir zaman alamaz.</a:t>
            </a:r>
          </a:p>
        </p:txBody>
      </p:sp>
    </p:spTree>
    <p:extLst>
      <p:ext uri="{BB962C8B-B14F-4D97-AF65-F5344CB8AC3E}">
        <p14:creationId xmlns:p14="http://schemas.microsoft.com/office/powerpoint/2010/main" val="2759740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fontScale="90000"/>
          </a:bodyPr>
          <a:lstStyle/>
          <a:p>
            <a:r>
              <a:rPr lang="tr-TR" dirty="0"/>
              <a:t>Disk Paylaşımında Ölümcül </a:t>
            </a:r>
            <a:r>
              <a:rPr lang="tr-TR" dirty="0" smtClean="0"/>
              <a:t>Kilitlenme</a:t>
            </a:r>
            <a:endParaRPr lang="tr-TR" dirty="0"/>
          </a:p>
        </p:txBody>
      </p:sp>
      <p:pic>
        <p:nvPicPr>
          <p:cNvPr id="4" name="Resim 3"/>
          <p:cNvPicPr>
            <a:picLocks noChangeAspect="1"/>
          </p:cNvPicPr>
          <p:nvPr/>
        </p:nvPicPr>
        <p:blipFill>
          <a:blip r:embed="rId2"/>
          <a:stretch>
            <a:fillRect/>
          </a:stretch>
        </p:blipFill>
        <p:spPr>
          <a:xfrm>
            <a:off x="457200" y="1396802"/>
            <a:ext cx="7978604" cy="3401095"/>
          </a:xfrm>
          <a:prstGeom prst="rect">
            <a:avLst/>
          </a:prstGeom>
        </p:spPr>
      </p:pic>
    </p:spTree>
    <p:extLst>
      <p:ext uri="{BB962C8B-B14F-4D97-AF65-F5344CB8AC3E}">
        <p14:creationId xmlns:p14="http://schemas.microsoft.com/office/powerpoint/2010/main" val="255044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smtClean="0"/>
              <a:t>Ölümcül Kilitlenme </a:t>
            </a:r>
            <a:r>
              <a:rPr lang="tr-TR" dirty="0"/>
              <a:t>Tespiti</a:t>
            </a:r>
            <a:br>
              <a:rPr lang="tr-TR" dirty="0"/>
            </a:br>
            <a:r>
              <a:rPr lang="tr-TR" dirty="0"/>
              <a:t>(</a:t>
            </a:r>
            <a:r>
              <a:rPr lang="tr-TR" dirty="0" err="1"/>
              <a:t>Deadlock</a:t>
            </a:r>
            <a:r>
              <a:rPr lang="tr-TR" dirty="0"/>
              <a:t> </a:t>
            </a:r>
            <a:r>
              <a:rPr lang="tr-TR" dirty="0" err="1" smtClean="0"/>
              <a:t>Detection</a:t>
            </a:r>
            <a:r>
              <a:rPr lang="tr-TR" dirty="0" smtClean="0"/>
              <a:t>)</a:t>
            </a:r>
            <a:endParaRPr lang="tr-TR" dirty="0"/>
          </a:p>
        </p:txBody>
      </p:sp>
      <p:sp>
        <p:nvSpPr>
          <p:cNvPr id="3" name="İçerik Yer Tutucusu 2"/>
          <p:cNvSpPr>
            <a:spLocks noGrp="1"/>
          </p:cNvSpPr>
          <p:nvPr>
            <p:ph idx="1"/>
          </p:nvPr>
        </p:nvSpPr>
        <p:spPr/>
        <p:txBody>
          <a:bodyPr/>
          <a:lstStyle/>
          <a:p>
            <a:pPr marL="0" indent="0">
              <a:buNone/>
            </a:pPr>
            <a:r>
              <a:rPr lang="tr-TR" b="0" dirty="0"/>
              <a:t>1</a:t>
            </a:r>
            <a:r>
              <a:rPr lang="tr-TR" b="0" dirty="0" smtClean="0"/>
              <a:t>. Her </a:t>
            </a:r>
            <a:r>
              <a:rPr lang="tr-TR" b="0" dirty="0"/>
              <a:t>tip kaynaktan sistemde bir adet olduğu </a:t>
            </a:r>
            <a:r>
              <a:rPr lang="tr-TR" b="0" dirty="0" smtClean="0"/>
              <a:t>durumda ölümcül </a:t>
            </a:r>
            <a:r>
              <a:rPr lang="tr-TR" b="0" dirty="0"/>
              <a:t>kilitlenme </a:t>
            </a:r>
            <a:r>
              <a:rPr lang="tr-TR" b="0" dirty="0" smtClean="0"/>
              <a:t>tespiti</a:t>
            </a:r>
          </a:p>
          <a:p>
            <a:pPr marL="0" indent="0">
              <a:buNone/>
            </a:pPr>
            <a:endParaRPr lang="tr-TR" b="0" dirty="0" smtClean="0"/>
          </a:p>
          <a:p>
            <a:pPr marL="0" indent="0">
              <a:buNone/>
            </a:pPr>
            <a:r>
              <a:rPr lang="tr-TR" b="0" dirty="0" smtClean="0"/>
              <a:t>2. Her </a:t>
            </a:r>
            <a:r>
              <a:rPr lang="tr-TR" b="0" dirty="0"/>
              <a:t>tipten birden fazla kaynak için </a:t>
            </a:r>
            <a:r>
              <a:rPr lang="tr-TR" b="0" dirty="0" smtClean="0"/>
              <a:t>ölümcül kilitlenme </a:t>
            </a:r>
            <a:r>
              <a:rPr lang="tr-TR" b="0" dirty="0"/>
              <a:t>tespiti</a:t>
            </a:r>
          </a:p>
        </p:txBody>
      </p:sp>
    </p:spTree>
    <p:extLst>
      <p:ext uri="{BB962C8B-B14F-4D97-AF65-F5344CB8AC3E}">
        <p14:creationId xmlns:p14="http://schemas.microsoft.com/office/powerpoint/2010/main" val="13115352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smtClean="0"/>
              <a:t>Kaynak Atama Grafikleri</a:t>
            </a:r>
            <a:br>
              <a:rPr lang="tr-TR" dirty="0" smtClean="0"/>
            </a:br>
            <a:endParaRPr lang="tr-TR"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3933056"/>
            <a:ext cx="46958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1916832"/>
            <a:ext cx="4695825"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95856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533400"/>
            <a:ext cx="8229600" cy="735360"/>
          </a:xfrm>
        </p:spPr>
        <p:txBody>
          <a:bodyPr/>
          <a:lstStyle/>
          <a:p>
            <a:pPr marL="0" indent="0" algn="l"/>
            <a:r>
              <a:rPr lang="tr-TR" sz="1800" dirty="0"/>
              <a:t>Her tip kaynaktan sistemde bir adet olduğu </a:t>
            </a:r>
            <a:r>
              <a:rPr lang="tr-TR" sz="1800" dirty="0" smtClean="0"/>
              <a:t>durumda ölümcül </a:t>
            </a:r>
            <a:r>
              <a:rPr lang="tr-TR" sz="1800" dirty="0"/>
              <a:t>kilitlenme </a:t>
            </a:r>
            <a:r>
              <a:rPr lang="tr-TR" sz="1800" dirty="0" smtClean="0"/>
              <a:t>tespiti</a:t>
            </a:r>
            <a:endParaRPr lang="tr-TR" sz="1800" dirty="0"/>
          </a:p>
        </p:txBody>
      </p:sp>
      <p:sp>
        <p:nvSpPr>
          <p:cNvPr id="3" name="İçerik Yer Tutucusu 2"/>
          <p:cNvSpPr>
            <a:spLocks noGrp="1"/>
          </p:cNvSpPr>
          <p:nvPr>
            <p:ph idx="1"/>
          </p:nvPr>
        </p:nvSpPr>
        <p:spPr>
          <a:xfrm>
            <a:off x="457200" y="1268760"/>
            <a:ext cx="8229600" cy="5116165"/>
          </a:xfrm>
        </p:spPr>
        <p:txBody>
          <a:bodyPr>
            <a:normAutofit fontScale="85000" lnSpcReduction="20000"/>
          </a:bodyPr>
          <a:lstStyle/>
          <a:p>
            <a:r>
              <a:rPr lang="tr-TR" b="0" dirty="0"/>
              <a:t>Örneğin; 7 </a:t>
            </a:r>
            <a:r>
              <a:rPr lang="tr-TR" b="0" dirty="0" smtClean="0"/>
              <a:t>görev </a:t>
            </a:r>
            <a:r>
              <a:rPr lang="tr-TR" b="0" dirty="0"/>
              <a:t>ve 6 adet kaynak olsun. </a:t>
            </a:r>
            <a:r>
              <a:rPr lang="tr-TR" b="0" dirty="0" smtClean="0"/>
              <a:t>A,B,C,D,E,F,G görevler; </a:t>
            </a:r>
            <a:r>
              <a:rPr lang="tr-TR" b="0" dirty="0"/>
              <a:t>R,S,T,U,V,W kaynakları göstersin. </a:t>
            </a:r>
            <a:r>
              <a:rPr lang="tr-TR" b="0" dirty="0" smtClean="0"/>
              <a:t>Mevcut sistemdeki </a:t>
            </a:r>
            <a:r>
              <a:rPr lang="tr-TR" b="0" dirty="0"/>
              <a:t>sahip olunan kaynak durumu ve istenilen </a:t>
            </a:r>
            <a:r>
              <a:rPr lang="tr-TR" b="0" dirty="0" smtClean="0"/>
              <a:t>kaynak durumu </a:t>
            </a:r>
            <a:r>
              <a:rPr lang="tr-TR" b="0" dirty="0"/>
              <a:t>şu şekilde olsun:</a:t>
            </a:r>
          </a:p>
          <a:p>
            <a:pPr marL="0" indent="0">
              <a:buNone/>
            </a:pPr>
            <a:r>
              <a:rPr lang="pt-BR" b="0" dirty="0"/>
              <a:t>1. A </a:t>
            </a:r>
            <a:r>
              <a:rPr lang="pt-BR" b="0" dirty="0" smtClean="0"/>
              <a:t>görevi </a:t>
            </a:r>
            <a:r>
              <a:rPr lang="pt-BR" b="0" dirty="0"/>
              <a:t>R yi tutar ve S i ister.</a:t>
            </a:r>
          </a:p>
          <a:p>
            <a:pPr marL="0" indent="0">
              <a:buNone/>
            </a:pPr>
            <a:r>
              <a:rPr lang="de-DE" b="0" dirty="0"/>
              <a:t>2. B </a:t>
            </a:r>
            <a:r>
              <a:rPr lang="de-DE" b="0" dirty="0" err="1" smtClean="0"/>
              <a:t>görevi</a:t>
            </a:r>
            <a:r>
              <a:rPr lang="de-DE" b="0" dirty="0" smtClean="0"/>
              <a:t> </a:t>
            </a:r>
            <a:r>
              <a:rPr lang="de-DE" b="0" dirty="0"/>
              <a:t>T </a:t>
            </a:r>
            <a:r>
              <a:rPr lang="de-DE" b="0" dirty="0" err="1"/>
              <a:t>yi</a:t>
            </a:r>
            <a:r>
              <a:rPr lang="de-DE" b="0" dirty="0"/>
              <a:t> </a:t>
            </a:r>
            <a:r>
              <a:rPr lang="de-DE" b="0" dirty="0" err="1"/>
              <a:t>ister</a:t>
            </a:r>
            <a:r>
              <a:rPr lang="de-DE" b="0" dirty="0"/>
              <a:t>.</a:t>
            </a:r>
          </a:p>
          <a:p>
            <a:pPr marL="0" indent="0">
              <a:buNone/>
            </a:pPr>
            <a:r>
              <a:rPr lang="pl-PL" b="0" dirty="0"/>
              <a:t>3. C </a:t>
            </a:r>
            <a:r>
              <a:rPr lang="pl-PL" b="0" dirty="0" smtClean="0"/>
              <a:t>görevi </a:t>
            </a:r>
            <a:r>
              <a:rPr lang="pl-PL" b="0" dirty="0"/>
              <a:t>S i ister.</a:t>
            </a:r>
          </a:p>
          <a:p>
            <a:pPr marL="0" indent="0">
              <a:buNone/>
            </a:pPr>
            <a:r>
              <a:rPr lang="pl-PL" b="0" dirty="0"/>
              <a:t>4. D </a:t>
            </a:r>
            <a:r>
              <a:rPr lang="pl-PL" b="0" dirty="0" smtClean="0"/>
              <a:t>görevi </a:t>
            </a:r>
            <a:r>
              <a:rPr lang="pl-PL" b="0" dirty="0"/>
              <a:t>U yu tutar ve S ile T yi ister.</a:t>
            </a:r>
          </a:p>
          <a:p>
            <a:pPr marL="0" indent="0">
              <a:buNone/>
            </a:pPr>
            <a:r>
              <a:rPr lang="it-IT" b="0" dirty="0"/>
              <a:t>5. E </a:t>
            </a:r>
            <a:r>
              <a:rPr lang="it-IT" b="0" dirty="0" smtClean="0"/>
              <a:t>görevi </a:t>
            </a:r>
            <a:r>
              <a:rPr lang="it-IT" b="0" dirty="0"/>
              <a:t>T yi tutar ve V yi ister.</a:t>
            </a:r>
          </a:p>
          <a:p>
            <a:pPr marL="0" indent="0">
              <a:buNone/>
            </a:pPr>
            <a:r>
              <a:rPr lang="pl-PL" b="0" dirty="0"/>
              <a:t>6. F </a:t>
            </a:r>
            <a:r>
              <a:rPr lang="pl-PL" b="0" dirty="0" smtClean="0"/>
              <a:t>görevi </a:t>
            </a:r>
            <a:r>
              <a:rPr lang="pl-PL" b="0" dirty="0"/>
              <a:t>W yi tutar ve S i ister.</a:t>
            </a:r>
          </a:p>
          <a:p>
            <a:pPr marL="0" indent="0">
              <a:buNone/>
            </a:pPr>
            <a:r>
              <a:rPr lang="es-ES" b="0" dirty="0"/>
              <a:t>7. G </a:t>
            </a:r>
            <a:r>
              <a:rPr lang="es-ES" b="0" dirty="0" smtClean="0"/>
              <a:t>görevi </a:t>
            </a:r>
            <a:r>
              <a:rPr lang="es-ES" b="0" dirty="0"/>
              <a:t>V yi tutar ve U yu ister.</a:t>
            </a:r>
          </a:p>
          <a:p>
            <a:pPr marL="0" indent="0">
              <a:buNone/>
            </a:pPr>
            <a:r>
              <a:rPr lang="tr-TR" b="0" dirty="0" err="1"/>
              <a:t>SORU:Sistem</a:t>
            </a:r>
            <a:r>
              <a:rPr lang="tr-TR" b="0" dirty="0"/>
              <a:t> ölümcül kilitli midir ? Öyleyse hangi süreçler ?</a:t>
            </a:r>
            <a:endParaRPr lang="tr-TR" dirty="0" smtClean="0"/>
          </a:p>
        </p:txBody>
      </p:sp>
    </p:spTree>
    <p:extLst>
      <p:ext uri="{BB962C8B-B14F-4D97-AF65-F5344CB8AC3E}">
        <p14:creationId xmlns:p14="http://schemas.microsoft.com/office/powerpoint/2010/main" val="28342062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sz="3600" dirty="0"/>
              <a:t>Her tipten birden fazla kaynak için ölümcül kilitlenme tespiti</a:t>
            </a:r>
          </a:p>
        </p:txBody>
      </p:sp>
      <p:sp>
        <p:nvSpPr>
          <p:cNvPr id="3" name="İçerik Yer Tutucusu 2"/>
          <p:cNvSpPr>
            <a:spLocks noGrp="1"/>
          </p:cNvSpPr>
          <p:nvPr>
            <p:ph idx="1"/>
          </p:nvPr>
        </p:nvSpPr>
        <p:spPr/>
        <p:txBody>
          <a:bodyPr>
            <a:normAutofit fontScale="77500" lnSpcReduction="20000"/>
          </a:bodyPr>
          <a:lstStyle/>
          <a:p>
            <a:r>
              <a:rPr lang="sv-SE" b="0" dirty="0"/>
              <a:t>Matris temelli </a:t>
            </a:r>
            <a:r>
              <a:rPr lang="sv-SE" b="0" dirty="0" smtClean="0"/>
              <a:t>bir </a:t>
            </a:r>
            <a:r>
              <a:rPr lang="sv-SE" b="0" dirty="0"/>
              <a:t>algoritma kullanılır</a:t>
            </a:r>
            <a:r>
              <a:rPr lang="sv-SE" b="0" dirty="0" smtClean="0"/>
              <a:t>.</a:t>
            </a:r>
            <a:endParaRPr lang="tr-TR" b="0" dirty="0" smtClean="0"/>
          </a:p>
          <a:p>
            <a:r>
              <a:rPr lang="tr-TR" b="0" dirty="0"/>
              <a:t>Elimizdeki kaynakların sınıflarını </a:t>
            </a:r>
            <a:r>
              <a:rPr lang="tr-TR" b="0" dirty="0" err="1"/>
              <a:t>Ei</a:t>
            </a:r>
            <a:r>
              <a:rPr lang="tr-TR" b="0" dirty="0"/>
              <a:t> (1&lt;=i</a:t>
            </a:r>
            <a:r>
              <a:rPr lang="tr-TR" b="0" dirty="0" smtClean="0"/>
              <a:t>&lt;=n) şeklinde isimlendirelim</a:t>
            </a:r>
            <a:r>
              <a:rPr lang="tr-TR" b="0" dirty="0"/>
              <a:t>.</a:t>
            </a:r>
          </a:p>
          <a:p>
            <a:r>
              <a:rPr lang="nn-NO" i="1" dirty="0"/>
              <a:t>E </a:t>
            </a:r>
            <a:r>
              <a:rPr lang="nn-NO" b="0" dirty="0"/>
              <a:t>var olan kaynak vektörüdür. Her kaynaktan var </a:t>
            </a:r>
            <a:r>
              <a:rPr lang="nn-NO" b="0" dirty="0" smtClean="0"/>
              <a:t>olan</a:t>
            </a:r>
            <a:r>
              <a:rPr lang="tr-TR" b="0" dirty="0" smtClean="0"/>
              <a:t> örnek </a:t>
            </a:r>
            <a:r>
              <a:rPr lang="tr-TR" b="0" dirty="0"/>
              <a:t>sayısını verir. </a:t>
            </a:r>
            <a:r>
              <a:rPr lang="tr-TR" b="0" dirty="0" smtClean="0"/>
              <a:t> Örneğin </a:t>
            </a:r>
            <a:r>
              <a:rPr lang="tr-TR" b="0" dirty="0"/>
              <a:t>E1 disket sınıfı olsun.</a:t>
            </a:r>
          </a:p>
          <a:p>
            <a:r>
              <a:rPr lang="tr-TR" b="0" dirty="0"/>
              <a:t>E1=2 elimizde 2 adet disket sürücüsü </a:t>
            </a:r>
            <a:r>
              <a:rPr lang="tr-TR" b="0" dirty="0" smtClean="0"/>
              <a:t>olduğunu göstersin.</a:t>
            </a:r>
          </a:p>
          <a:p>
            <a:r>
              <a:rPr lang="tr-TR" b="0" dirty="0"/>
              <a:t>A vektörü kullanılabilir olan kaynakları göstersin. </a:t>
            </a:r>
            <a:r>
              <a:rPr lang="tr-TR" b="0" dirty="0" err="1"/>
              <a:t>Ai</a:t>
            </a:r>
            <a:r>
              <a:rPr lang="tr-TR" b="0" dirty="0"/>
              <a:t> i. Sınıf kaynaktan kullanılabilir kaç tane örnek olduğunu göstersin.</a:t>
            </a:r>
          </a:p>
          <a:p>
            <a:r>
              <a:rPr lang="tr-TR" b="0" dirty="0"/>
              <a:t>Eğer A1=0 ise, disket sürücüsünden kullanılabilir yok demektir.</a:t>
            </a:r>
          </a:p>
          <a:p>
            <a:r>
              <a:rPr lang="tr-TR" b="0" dirty="0"/>
              <a:t>Tüm disket sürücüleri şu anda kullanılıyordur.</a:t>
            </a:r>
            <a:endParaRPr lang="tr-TR" dirty="0"/>
          </a:p>
          <a:p>
            <a:endParaRPr lang="tr-TR" dirty="0"/>
          </a:p>
        </p:txBody>
      </p:sp>
    </p:spTree>
    <p:extLst>
      <p:ext uri="{BB962C8B-B14F-4D97-AF65-F5344CB8AC3E}">
        <p14:creationId xmlns:p14="http://schemas.microsoft.com/office/powerpoint/2010/main" val="37288157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p:cNvSpPr>
            <a:spLocks noGrp="1"/>
          </p:cNvSpPr>
          <p:nvPr>
            <p:ph type="title"/>
          </p:nvPr>
        </p:nvSpPr>
        <p:spPr/>
        <p:txBody>
          <a:bodyPr>
            <a:normAutofit fontScale="90000"/>
          </a:bodyPr>
          <a:lstStyle/>
          <a:p>
            <a:r>
              <a:rPr lang="tr-TR" sz="3600" b="0" dirty="0"/>
              <a:t>Her tipten birden fazla kaynak için ölümcül kilitlenme tespiti</a:t>
            </a:r>
            <a:endParaRPr lang="tr-TR" sz="3600" dirty="0"/>
          </a:p>
        </p:txBody>
      </p:sp>
      <p:sp>
        <p:nvSpPr>
          <p:cNvPr id="3" name="İçerik Yer Tutucusu 2"/>
          <p:cNvSpPr>
            <a:spLocks noGrp="1"/>
          </p:cNvSpPr>
          <p:nvPr>
            <p:ph idx="1"/>
          </p:nvPr>
        </p:nvSpPr>
        <p:spPr/>
        <p:txBody>
          <a:bodyPr>
            <a:normAutofit fontScale="85000" lnSpcReduction="10000"/>
          </a:bodyPr>
          <a:lstStyle/>
          <a:p>
            <a:r>
              <a:rPr lang="tr-TR" b="0" dirty="0"/>
              <a:t>Algoritmada </a:t>
            </a:r>
            <a:r>
              <a:rPr lang="tr-TR" dirty="0"/>
              <a:t>iki adet matris </a:t>
            </a:r>
            <a:r>
              <a:rPr lang="tr-TR" b="0" dirty="0"/>
              <a:t>kullanılır.</a:t>
            </a:r>
          </a:p>
          <a:p>
            <a:pPr marL="0" indent="0">
              <a:buNone/>
            </a:pPr>
            <a:r>
              <a:rPr lang="tr-TR" dirty="0"/>
              <a:t>C </a:t>
            </a:r>
            <a:r>
              <a:rPr lang="tr-TR" b="0" dirty="0"/>
              <a:t>= mevcut anda </a:t>
            </a:r>
            <a:r>
              <a:rPr lang="tr-TR" b="0" dirty="0" smtClean="0"/>
              <a:t>görevlere </a:t>
            </a:r>
            <a:r>
              <a:rPr lang="tr-TR" b="0" dirty="0"/>
              <a:t>tahsis edilmiş </a:t>
            </a:r>
            <a:r>
              <a:rPr lang="tr-TR" b="0" dirty="0" smtClean="0"/>
              <a:t>kaynaklar matrisidir.</a:t>
            </a:r>
          </a:p>
          <a:p>
            <a:pPr marL="0" indent="0">
              <a:buNone/>
            </a:pPr>
            <a:r>
              <a:rPr lang="tr-TR" dirty="0" smtClean="0"/>
              <a:t>R </a:t>
            </a:r>
            <a:r>
              <a:rPr lang="tr-TR" b="0" dirty="0"/>
              <a:t>= </a:t>
            </a:r>
            <a:r>
              <a:rPr lang="tr-TR" b="0" dirty="0" smtClean="0"/>
              <a:t>görevlerin </a:t>
            </a:r>
            <a:r>
              <a:rPr lang="tr-TR" b="0" dirty="0"/>
              <a:t>istedikleri kaynakları ve sayılarını </a:t>
            </a:r>
            <a:r>
              <a:rPr lang="tr-TR" b="0" dirty="0" smtClean="0"/>
              <a:t>gösteren matristir</a:t>
            </a:r>
            <a:r>
              <a:rPr lang="tr-TR" b="0" dirty="0"/>
              <a:t>.</a:t>
            </a:r>
          </a:p>
          <a:p>
            <a:pPr marL="0" indent="0">
              <a:buNone/>
            </a:pPr>
            <a:r>
              <a:rPr lang="tr-TR" b="0" dirty="0" smtClean="0"/>
              <a:t> C </a:t>
            </a:r>
            <a:r>
              <a:rPr lang="tr-TR" b="0" dirty="0" err="1" smtClean="0"/>
              <a:t>nin</a:t>
            </a:r>
            <a:r>
              <a:rPr lang="tr-TR" b="0" dirty="0" smtClean="0"/>
              <a:t> </a:t>
            </a:r>
            <a:r>
              <a:rPr lang="tr-TR" b="0" dirty="0"/>
              <a:t>her satırı bir </a:t>
            </a:r>
            <a:r>
              <a:rPr lang="tr-TR" b="0" dirty="0" smtClean="0"/>
              <a:t>göreve </a:t>
            </a:r>
            <a:r>
              <a:rPr lang="tr-TR" b="0" dirty="0"/>
              <a:t>karşılık gelir. Bu </a:t>
            </a:r>
            <a:r>
              <a:rPr lang="tr-TR" b="0" dirty="0" smtClean="0"/>
              <a:t>satırın sütunları</a:t>
            </a:r>
            <a:r>
              <a:rPr lang="tr-TR" b="0" dirty="0"/>
              <a:t>, </a:t>
            </a:r>
            <a:r>
              <a:rPr lang="tr-TR" b="0" dirty="0" smtClean="0"/>
              <a:t>görevin </a:t>
            </a:r>
            <a:r>
              <a:rPr lang="tr-TR" b="0" dirty="0"/>
              <a:t>sahip olduğu kaynakları </a:t>
            </a:r>
            <a:r>
              <a:rPr lang="tr-TR" b="0" dirty="0" smtClean="0"/>
              <a:t>göstermektedir.</a:t>
            </a:r>
          </a:p>
          <a:p>
            <a:pPr marL="0" indent="0">
              <a:buNone/>
            </a:pPr>
            <a:endParaRPr lang="tr-TR" b="0" dirty="0"/>
          </a:p>
          <a:p>
            <a:pPr marL="0" indent="0">
              <a:buNone/>
            </a:pPr>
            <a:r>
              <a:rPr lang="tr-TR" dirty="0" err="1" smtClean="0"/>
              <a:t>Cij</a:t>
            </a:r>
            <a:r>
              <a:rPr lang="tr-TR" dirty="0" smtClean="0"/>
              <a:t> </a:t>
            </a:r>
            <a:r>
              <a:rPr lang="tr-TR" b="0" dirty="0"/>
              <a:t>= j kaynağından i </a:t>
            </a:r>
            <a:r>
              <a:rPr lang="tr-TR" b="0" dirty="0" smtClean="0"/>
              <a:t>görevinde </a:t>
            </a:r>
            <a:r>
              <a:rPr lang="tr-TR" b="0" dirty="0"/>
              <a:t>kaç adet var.</a:t>
            </a:r>
          </a:p>
          <a:p>
            <a:pPr marL="0" indent="0">
              <a:buNone/>
            </a:pPr>
            <a:r>
              <a:rPr lang="tr-TR" dirty="0" err="1"/>
              <a:t>Rij</a:t>
            </a:r>
            <a:r>
              <a:rPr lang="tr-TR" b="0" dirty="0"/>
              <a:t> = i </a:t>
            </a:r>
            <a:r>
              <a:rPr lang="tr-TR" b="0" dirty="0" smtClean="0"/>
              <a:t>görevinin </a:t>
            </a:r>
            <a:r>
              <a:rPr lang="tr-TR" b="0" dirty="0"/>
              <a:t>j kaynağından kaç adet istediğini gösterir.</a:t>
            </a:r>
            <a:endParaRPr lang="tr-TR" dirty="0"/>
          </a:p>
        </p:txBody>
      </p:sp>
    </p:spTree>
    <p:extLst>
      <p:ext uri="{BB962C8B-B14F-4D97-AF65-F5344CB8AC3E}">
        <p14:creationId xmlns:p14="http://schemas.microsoft.com/office/powerpoint/2010/main" val="21705122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844824"/>
            <a:ext cx="8676455" cy="4064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Başlık 1"/>
          <p:cNvSpPr txBox="1">
            <a:spLocks/>
          </p:cNvSpPr>
          <p:nvPr/>
        </p:nvSpPr>
        <p:spPr>
          <a:xfrm>
            <a:off x="457200" y="548680"/>
            <a:ext cx="8229600" cy="1143000"/>
          </a:xfrm>
          <a:prstGeom prst="rect">
            <a:avLst/>
          </a:prstGeom>
        </p:spPr>
        <p:txBody>
          <a:bodyPr/>
          <a:lstStyle>
            <a:lvl1pPr algn="ctr" rtl="0" eaLnBrk="1" fontAlgn="base" hangingPunct="1">
              <a:spcBef>
                <a:spcPct val="0"/>
              </a:spcBef>
              <a:spcAft>
                <a:spcPct val="0"/>
              </a:spcAft>
              <a:defRPr sz="4400" b="1" kern="1200">
                <a:solidFill>
                  <a:schemeClr val="tx1"/>
                </a:solidFill>
                <a:latin typeface="Myriad Pro" pitchFamily="34" charset="0"/>
                <a:ea typeface="+mj-ea"/>
                <a:cs typeface="+mj-cs"/>
              </a:defRPr>
            </a:lvl1pPr>
            <a:lvl2pPr algn="ctr" rtl="0" eaLnBrk="1" fontAlgn="base" hangingPunct="1">
              <a:spcBef>
                <a:spcPct val="0"/>
              </a:spcBef>
              <a:spcAft>
                <a:spcPct val="0"/>
              </a:spcAft>
              <a:defRPr sz="4400" b="1">
                <a:solidFill>
                  <a:schemeClr val="tx1"/>
                </a:solidFill>
                <a:latin typeface="Myriad Pro" pitchFamily="34" charset="0"/>
              </a:defRPr>
            </a:lvl2pPr>
            <a:lvl3pPr algn="ctr" rtl="0" eaLnBrk="1" fontAlgn="base" hangingPunct="1">
              <a:spcBef>
                <a:spcPct val="0"/>
              </a:spcBef>
              <a:spcAft>
                <a:spcPct val="0"/>
              </a:spcAft>
              <a:defRPr sz="4400" b="1">
                <a:solidFill>
                  <a:schemeClr val="tx1"/>
                </a:solidFill>
                <a:latin typeface="Myriad Pro" pitchFamily="34" charset="0"/>
              </a:defRPr>
            </a:lvl3pPr>
            <a:lvl4pPr algn="ctr" rtl="0" eaLnBrk="1" fontAlgn="base" hangingPunct="1">
              <a:spcBef>
                <a:spcPct val="0"/>
              </a:spcBef>
              <a:spcAft>
                <a:spcPct val="0"/>
              </a:spcAft>
              <a:defRPr sz="4400" b="1">
                <a:solidFill>
                  <a:schemeClr val="tx1"/>
                </a:solidFill>
                <a:latin typeface="Myriad Pro" pitchFamily="34" charset="0"/>
              </a:defRPr>
            </a:lvl4pPr>
            <a:lvl5pPr algn="ctr" rtl="0" eaLnBrk="1" fontAlgn="base" hangingPunct="1">
              <a:spcBef>
                <a:spcPct val="0"/>
              </a:spcBef>
              <a:spcAft>
                <a:spcPct val="0"/>
              </a:spcAft>
              <a:defRPr sz="4400" b="1">
                <a:solidFill>
                  <a:schemeClr val="tx1"/>
                </a:solidFill>
                <a:latin typeface="Myriad Pro"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tr-TR" sz="3600" b="0" dirty="0" smtClean="0"/>
              <a:t>Her tipten birden fazla kaynak için ölümcül kilitlenme tespiti</a:t>
            </a:r>
            <a:endParaRPr lang="tr-TR" sz="3600" dirty="0"/>
          </a:p>
        </p:txBody>
      </p:sp>
    </p:spTree>
    <p:extLst>
      <p:ext uri="{BB962C8B-B14F-4D97-AF65-F5344CB8AC3E}">
        <p14:creationId xmlns:p14="http://schemas.microsoft.com/office/powerpoint/2010/main" val="24373094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24" y="1772816"/>
            <a:ext cx="8764188" cy="4070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Metin kutusu 1"/>
          <p:cNvSpPr txBox="1"/>
          <p:nvPr/>
        </p:nvSpPr>
        <p:spPr>
          <a:xfrm>
            <a:off x="682235" y="5658351"/>
            <a:ext cx="3799245" cy="369332"/>
          </a:xfrm>
          <a:prstGeom prst="rect">
            <a:avLst/>
          </a:prstGeom>
          <a:noFill/>
        </p:spPr>
        <p:txBody>
          <a:bodyPr wrap="none" rtlCol="0">
            <a:spAutoFit/>
          </a:bodyPr>
          <a:lstStyle/>
          <a:p>
            <a:r>
              <a:rPr lang="tr-TR" b="1" dirty="0" smtClean="0"/>
              <a:t>Ölümcül Kilitlenme olasılığı var mıdır?</a:t>
            </a:r>
            <a:endParaRPr lang="tr-TR" b="1" dirty="0"/>
          </a:p>
        </p:txBody>
      </p:sp>
    </p:spTree>
    <p:extLst>
      <p:ext uri="{BB962C8B-B14F-4D97-AF65-F5344CB8AC3E}">
        <p14:creationId xmlns:p14="http://schemas.microsoft.com/office/powerpoint/2010/main" val="41299849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95536" y="1582341"/>
            <a:ext cx="8352928" cy="3539430"/>
          </a:xfrm>
          <a:prstGeom prst="rect">
            <a:avLst/>
          </a:prstGeom>
        </p:spPr>
        <p:txBody>
          <a:bodyPr wrap="square">
            <a:spAutoFit/>
          </a:bodyPr>
          <a:lstStyle/>
          <a:p>
            <a:r>
              <a:rPr lang="tr-TR" sz="2800" dirty="0"/>
              <a:t>Algoritma:</a:t>
            </a:r>
          </a:p>
          <a:p>
            <a:r>
              <a:rPr lang="tr-TR" sz="2800" b="1" dirty="0"/>
              <a:t>1-</a:t>
            </a:r>
            <a:r>
              <a:rPr lang="tr-TR" sz="2800" dirty="0"/>
              <a:t>İşaretli olmayan </a:t>
            </a:r>
            <a:r>
              <a:rPr lang="tr-TR" sz="2800" dirty="0" smtClean="0"/>
              <a:t>görev </a:t>
            </a:r>
            <a:r>
              <a:rPr lang="tr-TR" sz="2800" dirty="0"/>
              <a:t>ara. Bu </a:t>
            </a:r>
            <a:r>
              <a:rPr lang="tr-TR" sz="2800" dirty="0" smtClean="0"/>
              <a:t>görevin </a:t>
            </a:r>
            <a:r>
              <a:rPr lang="tr-TR" sz="2800" dirty="0"/>
              <a:t>R </a:t>
            </a:r>
            <a:r>
              <a:rPr lang="tr-TR" sz="2800" dirty="0" smtClean="0"/>
              <a:t>matrisindeki </a:t>
            </a:r>
            <a:r>
              <a:rPr lang="tr-TR" sz="2800" b="1" u="sng" dirty="0" smtClean="0"/>
              <a:t>tüm </a:t>
            </a:r>
            <a:r>
              <a:rPr lang="tr-TR" sz="2800" b="1" u="sng" dirty="0"/>
              <a:t>istekleri </a:t>
            </a:r>
            <a:r>
              <a:rPr lang="tr-TR" sz="2800" dirty="0"/>
              <a:t>A dan küçük veya eşit olmalıdır.</a:t>
            </a:r>
          </a:p>
          <a:p>
            <a:r>
              <a:rPr lang="tr-TR" sz="2800" b="1" dirty="0"/>
              <a:t>2-</a:t>
            </a:r>
            <a:r>
              <a:rPr lang="tr-TR" sz="2800" dirty="0"/>
              <a:t> Bu şekilde bir </a:t>
            </a:r>
            <a:r>
              <a:rPr lang="tr-TR" sz="2800" dirty="0" smtClean="0"/>
              <a:t>görev var </a:t>
            </a:r>
            <a:r>
              <a:rPr lang="tr-TR" sz="2800" dirty="0"/>
              <a:t>ise C deki bu sürece </a:t>
            </a:r>
            <a:r>
              <a:rPr lang="tr-TR" sz="2800" dirty="0" smtClean="0"/>
              <a:t>karşılık gelen </a:t>
            </a:r>
            <a:r>
              <a:rPr lang="tr-TR" sz="2800" dirty="0"/>
              <a:t>satırın değerlerini A ya ekle. Bu süreci işaretle ve </a:t>
            </a:r>
            <a:r>
              <a:rPr lang="tr-TR" sz="2800" dirty="0" smtClean="0"/>
              <a:t>1. adıma </a:t>
            </a:r>
            <a:r>
              <a:rPr lang="tr-TR" sz="2800" dirty="0"/>
              <a:t>git.</a:t>
            </a:r>
          </a:p>
          <a:p>
            <a:r>
              <a:rPr lang="tr-TR" sz="2800" b="1" dirty="0"/>
              <a:t>3-</a:t>
            </a:r>
            <a:r>
              <a:rPr lang="tr-TR" sz="2800" dirty="0"/>
              <a:t>Böyle bir süreç yoksa algoritma </a:t>
            </a:r>
            <a:r>
              <a:rPr lang="tr-TR" sz="2800" dirty="0" smtClean="0"/>
              <a:t>sonlandırılır. Algoritma </a:t>
            </a:r>
            <a:r>
              <a:rPr lang="tr-TR" sz="2800" dirty="0"/>
              <a:t>bittiğinde işaretli olmayan süreçler </a:t>
            </a:r>
            <a:r>
              <a:rPr lang="tr-TR" sz="2800" dirty="0" smtClean="0"/>
              <a:t>ölümcül kilitlidir</a:t>
            </a:r>
            <a:r>
              <a:rPr lang="tr-TR" sz="2800" dirty="0"/>
              <a:t>.</a:t>
            </a:r>
          </a:p>
        </p:txBody>
      </p:sp>
      <p:sp>
        <p:nvSpPr>
          <p:cNvPr id="3" name="Başlık 1"/>
          <p:cNvSpPr txBox="1">
            <a:spLocks/>
          </p:cNvSpPr>
          <p:nvPr/>
        </p:nvSpPr>
        <p:spPr>
          <a:xfrm>
            <a:off x="457200" y="548680"/>
            <a:ext cx="8229600" cy="720080"/>
          </a:xfrm>
          <a:prstGeom prst="rect">
            <a:avLst/>
          </a:prstGeom>
        </p:spPr>
        <p:txBody>
          <a:bodyPr/>
          <a:lstStyle>
            <a:lvl1pPr algn="ctr" rtl="0" eaLnBrk="1" fontAlgn="base" hangingPunct="1">
              <a:spcBef>
                <a:spcPct val="0"/>
              </a:spcBef>
              <a:spcAft>
                <a:spcPct val="0"/>
              </a:spcAft>
              <a:defRPr sz="4400" b="1" kern="1200">
                <a:solidFill>
                  <a:schemeClr val="tx1"/>
                </a:solidFill>
                <a:latin typeface="Myriad Pro" pitchFamily="34" charset="0"/>
                <a:ea typeface="+mj-ea"/>
                <a:cs typeface="+mj-cs"/>
              </a:defRPr>
            </a:lvl1pPr>
            <a:lvl2pPr algn="ctr" rtl="0" eaLnBrk="1" fontAlgn="base" hangingPunct="1">
              <a:spcBef>
                <a:spcPct val="0"/>
              </a:spcBef>
              <a:spcAft>
                <a:spcPct val="0"/>
              </a:spcAft>
              <a:defRPr sz="4400" b="1">
                <a:solidFill>
                  <a:schemeClr val="tx1"/>
                </a:solidFill>
                <a:latin typeface="Myriad Pro" pitchFamily="34" charset="0"/>
              </a:defRPr>
            </a:lvl2pPr>
            <a:lvl3pPr algn="ctr" rtl="0" eaLnBrk="1" fontAlgn="base" hangingPunct="1">
              <a:spcBef>
                <a:spcPct val="0"/>
              </a:spcBef>
              <a:spcAft>
                <a:spcPct val="0"/>
              </a:spcAft>
              <a:defRPr sz="4400" b="1">
                <a:solidFill>
                  <a:schemeClr val="tx1"/>
                </a:solidFill>
                <a:latin typeface="Myriad Pro" pitchFamily="34" charset="0"/>
              </a:defRPr>
            </a:lvl3pPr>
            <a:lvl4pPr algn="ctr" rtl="0" eaLnBrk="1" fontAlgn="base" hangingPunct="1">
              <a:spcBef>
                <a:spcPct val="0"/>
              </a:spcBef>
              <a:spcAft>
                <a:spcPct val="0"/>
              </a:spcAft>
              <a:defRPr sz="4400" b="1">
                <a:solidFill>
                  <a:schemeClr val="tx1"/>
                </a:solidFill>
                <a:latin typeface="Myriad Pro" pitchFamily="34" charset="0"/>
              </a:defRPr>
            </a:lvl4pPr>
            <a:lvl5pPr algn="ctr" rtl="0" eaLnBrk="1" fontAlgn="base" hangingPunct="1">
              <a:spcBef>
                <a:spcPct val="0"/>
              </a:spcBef>
              <a:spcAft>
                <a:spcPct val="0"/>
              </a:spcAft>
              <a:defRPr sz="4400" b="1">
                <a:solidFill>
                  <a:schemeClr val="tx1"/>
                </a:solidFill>
                <a:latin typeface="Myriad Pro"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tr-TR" sz="3600" dirty="0" smtClean="0"/>
              <a:t>Ölümcül kilitlenme tespiti</a:t>
            </a:r>
            <a:endParaRPr lang="tr-TR" sz="3600" dirty="0"/>
          </a:p>
        </p:txBody>
      </p:sp>
    </p:spTree>
    <p:extLst>
      <p:ext uri="{BB962C8B-B14F-4D97-AF65-F5344CB8AC3E}">
        <p14:creationId xmlns:p14="http://schemas.microsoft.com/office/powerpoint/2010/main" val="24132462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Ölümcül Kilitlenme Onarımı</a:t>
            </a:r>
            <a:endParaRPr lang="tr-TR" dirty="0"/>
          </a:p>
        </p:txBody>
      </p:sp>
      <p:sp>
        <p:nvSpPr>
          <p:cNvPr id="3" name="İçerik Yer Tutucusu 2"/>
          <p:cNvSpPr>
            <a:spLocks noGrp="1"/>
          </p:cNvSpPr>
          <p:nvPr>
            <p:ph idx="1"/>
          </p:nvPr>
        </p:nvSpPr>
        <p:spPr/>
        <p:txBody>
          <a:bodyPr/>
          <a:lstStyle/>
          <a:p>
            <a:pPr marL="0" indent="0">
              <a:buNone/>
            </a:pPr>
            <a:r>
              <a:rPr lang="tr-TR" b="0" dirty="0" smtClean="0"/>
              <a:t>1. </a:t>
            </a:r>
            <a:r>
              <a:rPr lang="en-US" b="0" dirty="0" err="1" smtClean="0"/>
              <a:t>Keserek</a:t>
            </a:r>
            <a:r>
              <a:rPr lang="en-US" b="0" dirty="0" smtClean="0"/>
              <a:t> </a:t>
            </a:r>
            <a:r>
              <a:rPr lang="en-US" b="0" dirty="0" err="1"/>
              <a:t>onarma</a:t>
            </a:r>
            <a:r>
              <a:rPr lang="en-US" b="0" dirty="0"/>
              <a:t> (Recovery through preemption</a:t>
            </a:r>
            <a:r>
              <a:rPr lang="en-US" b="0" dirty="0" smtClean="0"/>
              <a:t>)</a:t>
            </a:r>
            <a:endParaRPr lang="tr-TR" b="0" dirty="0" smtClean="0"/>
          </a:p>
          <a:p>
            <a:pPr marL="0" indent="0">
              <a:buNone/>
            </a:pPr>
            <a:endParaRPr lang="tr-TR" b="0" dirty="0" smtClean="0"/>
          </a:p>
          <a:p>
            <a:pPr marL="0" indent="0">
              <a:buNone/>
            </a:pPr>
            <a:r>
              <a:rPr lang="en-US" b="0" dirty="0"/>
              <a:t>2. Geri </a:t>
            </a:r>
            <a:r>
              <a:rPr lang="en-US" b="0" dirty="0" err="1"/>
              <a:t>alarak</a:t>
            </a:r>
            <a:r>
              <a:rPr lang="en-US" b="0" dirty="0"/>
              <a:t> </a:t>
            </a:r>
            <a:r>
              <a:rPr lang="en-US" b="0" dirty="0" err="1"/>
              <a:t>onarma</a:t>
            </a:r>
            <a:r>
              <a:rPr lang="en-US" b="0" dirty="0"/>
              <a:t> (Recovery through rollback</a:t>
            </a:r>
            <a:r>
              <a:rPr lang="en-US" b="0" dirty="0" smtClean="0"/>
              <a:t>)</a:t>
            </a:r>
            <a:endParaRPr lang="tr-TR" b="0" dirty="0" smtClean="0"/>
          </a:p>
          <a:p>
            <a:pPr marL="0" indent="0">
              <a:buNone/>
            </a:pPr>
            <a:endParaRPr lang="tr-TR" b="0" dirty="0" smtClean="0"/>
          </a:p>
          <a:p>
            <a:pPr marL="0" indent="0">
              <a:buNone/>
            </a:pPr>
            <a:r>
              <a:rPr lang="tr-TR" b="0" dirty="0"/>
              <a:t>3</a:t>
            </a:r>
            <a:r>
              <a:rPr lang="en-US" b="0" dirty="0" smtClean="0"/>
              <a:t>. </a:t>
            </a:r>
            <a:r>
              <a:rPr lang="en-US" b="0" dirty="0" err="1"/>
              <a:t>Öldürerek</a:t>
            </a:r>
            <a:r>
              <a:rPr lang="en-US" b="0" dirty="0"/>
              <a:t> </a:t>
            </a:r>
            <a:r>
              <a:rPr lang="en-US" b="0" dirty="0" err="1"/>
              <a:t>onarma</a:t>
            </a:r>
            <a:r>
              <a:rPr lang="en-US" b="0" dirty="0"/>
              <a:t> (Recovery through </a:t>
            </a:r>
            <a:r>
              <a:rPr lang="en-US" b="0" dirty="0" smtClean="0"/>
              <a:t>killing</a:t>
            </a:r>
            <a:r>
              <a:rPr lang="tr-TR" b="0" dirty="0" smtClean="0"/>
              <a:t> </a:t>
            </a:r>
            <a:r>
              <a:rPr lang="tr-TR" b="0" dirty="0" err="1" smtClean="0"/>
              <a:t>process</a:t>
            </a:r>
            <a:r>
              <a:rPr lang="tr-TR" b="0" dirty="0"/>
              <a:t>)</a:t>
            </a:r>
          </a:p>
        </p:txBody>
      </p:sp>
    </p:spTree>
    <p:extLst>
      <p:ext uri="{BB962C8B-B14F-4D97-AF65-F5344CB8AC3E}">
        <p14:creationId xmlns:p14="http://schemas.microsoft.com/office/powerpoint/2010/main" val="23871480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smtClean="0"/>
              <a:t>Ölümcül Kilitlenmeden Kaçınma</a:t>
            </a:r>
            <a:br>
              <a:rPr lang="tr-TR" dirty="0" smtClean="0"/>
            </a:br>
            <a:r>
              <a:rPr lang="tr-TR" dirty="0" err="1" smtClean="0"/>
              <a:t>Deadlock</a:t>
            </a:r>
            <a:r>
              <a:rPr lang="tr-TR" dirty="0" smtClean="0"/>
              <a:t> </a:t>
            </a:r>
            <a:r>
              <a:rPr lang="tr-TR" dirty="0" err="1" smtClean="0"/>
              <a:t>Avoidance</a:t>
            </a:r>
            <a:endParaRPr lang="tr-TR" dirty="0"/>
          </a:p>
        </p:txBody>
      </p:sp>
      <p:sp>
        <p:nvSpPr>
          <p:cNvPr id="3" name="İçerik Yer Tutucusu 2"/>
          <p:cNvSpPr>
            <a:spLocks noGrp="1"/>
          </p:cNvSpPr>
          <p:nvPr>
            <p:ph idx="1"/>
          </p:nvPr>
        </p:nvSpPr>
        <p:spPr/>
        <p:txBody>
          <a:bodyPr/>
          <a:lstStyle/>
          <a:p>
            <a:r>
              <a:rPr lang="fi-FI" b="0" dirty="0"/>
              <a:t>Sistem istenilen kaynağın verilmesinin güvenli </a:t>
            </a:r>
            <a:r>
              <a:rPr lang="fi-FI" b="0" dirty="0" smtClean="0"/>
              <a:t>olup</a:t>
            </a:r>
            <a:r>
              <a:rPr lang="tr-TR" b="0" smtClean="0"/>
              <a:t> olmadığına </a:t>
            </a:r>
            <a:r>
              <a:rPr lang="tr-TR" b="0" dirty="0"/>
              <a:t>karar vermelidir.</a:t>
            </a:r>
            <a:endParaRPr lang="tr-TR" dirty="0"/>
          </a:p>
        </p:txBody>
      </p:sp>
    </p:spTree>
    <p:extLst>
      <p:ext uri="{BB962C8B-B14F-4D97-AF65-F5344CB8AC3E}">
        <p14:creationId xmlns:p14="http://schemas.microsoft.com/office/powerpoint/2010/main" val="3625944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Güvenli ve Güvensiz Durum</a:t>
            </a:r>
          </a:p>
        </p:txBody>
      </p:sp>
      <p:sp>
        <p:nvSpPr>
          <p:cNvPr id="3" name="İçerik Yer Tutucusu 2"/>
          <p:cNvSpPr>
            <a:spLocks noGrp="1"/>
          </p:cNvSpPr>
          <p:nvPr>
            <p:ph idx="1"/>
          </p:nvPr>
        </p:nvSpPr>
        <p:spPr>
          <a:xfrm>
            <a:off x="457200" y="1858963"/>
            <a:ext cx="8229600" cy="2434133"/>
          </a:xfrm>
        </p:spPr>
        <p:txBody>
          <a:bodyPr>
            <a:normAutofit fontScale="92500" lnSpcReduction="20000"/>
          </a:bodyPr>
          <a:lstStyle/>
          <a:p>
            <a:r>
              <a:rPr lang="tr-TR" b="0" dirty="0"/>
              <a:t>Herhangi bir zaman anında sistemin </a:t>
            </a:r>
            <a:r>
              <a:rPr lang="tr-TR" b="0" dirty="0" smtClean="0"/>
              <a:t>durumu E,A  vektörleri </a:t>
            </a:r>
            <a:r>
              <a:rPr lang="tr-TR" b="0" dirty="0"/>
              <a:t>ve C,R matrisleri ile gösterilir. Eğer </a:t>
            </a:r>
            <a:r>
              <a:rPr lang="tr-TR" b="0" dirty="0" smtClean="0"/>
              <a:t>A durumu </a:t>
            </a:r>
            <a:r>
              <a:rPr lang="tr-TR" b="0" dirty="0"/>
              <a:t>ölümcül kilitli değilse sistem güvenlidir.</a:t>
            </a:r>
          </a:p>
          <a:p>
            <a:r>
              <a:rPr lang="tr-TR" b="0" dirty="0"/>
              <a:t>Örneğin tek bir kaynak için durumu inceleyelim. </a:t>
            </a:r>
            <a:r>
              <a:rPr lang="tr-TR" b="0" dirty="0" smtClean="0"/>
              <a:t>Elimizde bu </a:t>
            </a:r>
            <a:r>
              <a:rPr lang="tr-TR" b="0" dirty="0"/>
              <a:t>kaynaktan 10 adet olsun. Aşağıda A,B,C </a:t>
            </a:r>
            <a:r>
              <a:rPr lang="tr-TR" b="0" dirty="0" smtClean="0"/>
              <a:t>süreçlerinin durumları </a:t>
            </a:r>
            <a:r>
              <a:rPr lang="tr-TR" b="0" dirty="0"/>
              <a:t>gösterilmektedir.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4437112"/>
            <a:ext cx="8460432" cy="1638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82077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420888"/>
            <a:ext cx="7539665" cy="2492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Başlık 1"/>
          <p:cNvSpPr txBox="1">
            <a:spLocks/>
          </p:cNvSpPr>
          <p:nvPr/>
        </p:nvSpPr>
        <p:spPr>
          <a:xfrm>
            <a:off x="457200" y="533400"/>
            <a:ext cx="8229600" cy="1143000"/>
          </a:xfrm>
          <a:prstGeom prst="rect">
            <a:avLst/>
          </a:prstGeom>
        </p:spPr>
        <p:txBody>
          <a:bodyPr/>
          <a:lstStyle>
            <a:lvl1pPr algn="ctr" rtl="0" eaLnBrk="1" fontAlgn="base" hangingPunct="1">
              <a:spcBef>
                <a:spcPct val="0"/>
              </a:spcBef>
              <a:spcAft>
                <a:spcPct val="0"/>
              </a:spcAft>
              <a:defRPr sz="4400" b="1" kern="1200">
                <a:solidFill>
                  <a:schemeClr val="tx1"/>
                </a:solidFill>
                <a:latin typeface="Myriad Pro" pitchFamily="34" charset="0"/>
                <a:ea typeface="+mj-ea"/>
                <a:cs typeface="+mj-cs"/>
              </a:defRPr>
            </a:lvl1pPr>
            <a:lvl2pPr algn="ctr" rtl="0" eaLnBrk="1" fontAlgn="base" hangingPunct="1">
              <a:spcBef>
                <a:spcPct val="0"/>
              </a:spcBef>
              <a:spcAft>
                <a:spcPct val="0"/>
              </a:spcAft>
              <a:defRPr sz="4400" b="1">
                <a:solidFill>
                  <a:schemeClr val="tx1"/>
                </a:solidFill>
                <a:latin typeface="Myriad Pro" pitchFamily="34" charset="0"/>
              </a:defRPr>
            </a:lvl2pPr>
            <a:lvl3pPr algn="ctr" rtl="0" eaLnBrk="1" fontAlgn="base" hangingPunct="1">
              <a:spcBef>
                <a:spcPct val="0"/>
              </a:spcBef>
              <a:spcAft>
                <a:spcPct val="0"/>
              </a:spcAft>
              <a:defRPr sz="4400" b="1">
                <a:solidFill>
                  <a:schemeClr val="tx1"/>
                </a:solidFill>
                <a:latin typeface="Myriad Pro" pitchFamily="34" charset="0"/>
              </a:defRPr>
            </a:lvl3pPr>
            <a:lvl4pPr algn="ctr" rtl="0" eaLnBrk="1" fontAlgn="base" hangingPunct="1">
              <a:spcBef>
                <a:spcPct val="0"/>
              </a:spcBef>
              <a:spcAft>
                <a:spcPct val="0"/>
              </a:spcAft>
              <a:defRPr sz="4400" b="1">
                <a:solidFill>
                  <a:schemeClr val="tx1"/>
                </a:solidFill>
                <a:latin typeface="Myriad Pro" pitchFamily="34" charset="0"/>
              </a:defRPr>
            </a:lvl4pPr>
            <a:lvl5pPr algn="ctr" rtl="0" eaLnBrk="1" fontAlgn="base" hangingPunct="1">
              <a:spcBef>
                <a:spcPct val="0"/>
              </a:spcBef>
              <a:spcAft>
                <a:spcPct val="0"/>
              </a:spcAft>
              <a:defRPr sz="4400" b="1">
                <a:solidFill>
                  <a:schemeClr val="tx1"/>
                </a:solidFill>
                <a:latin typeface="Myriad Pro"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r>
              <a:rPr lang="tr-TR" b="0" smtClean="0"/>
              <a:t>Güvenli ve Güvensiz Durum</a:t>
            </a:r>
            <a:endParaRPr lang="tr-TR" dirty="0"/>
          </a:p>
        </p:txBody>
      </p:sp>
    </p:spTree>
    <p:extLst>
      <p:ext uri="{BB962C8B-B14F-4D97-AF65-F5344CB8AC3E}">
        <p14:creationId xmlns:p14="http://schemas.microsoft.com/office/powerpoint/2010/main" val="2452083819"/>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TotalTime>
  <Words>1780</Words>
  <Application>Microsoft Office PowerPoint</Application>
  <PresentationFormat>Ekran Gösterisi (4:3)</PresentationFormat>
  <Paragraphs>170</Paragraphs>
  <Slides>31</Slides>
  <Notes>7</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31</vt:i4>
      </vt:variant>
    </vt:vector>
  </HeadingPairs>
  <TitlesOfParts>
    <vt:vector size="35" baseType="lpstr">
      <vt:lpstr>Arial</vt:lpstr>
      <vt:lpstr>Calibri</vt:lpstr>
      <vt:lpstr>Myriad Pro</vt:lpstr>
      <vt:lpstr>Ofis Teması</vt:lpstr>
      <vt:lpstr>Ölümcül Kilitlenme (Deadlock)</vt:lpstr>
      <vt:lpstr>Ölümcül Kilitlenme</vt:lpstr>
      <vt:lpstr>Ölümcül Kilitlenme</vt:lpstr>
      <vt:lpstr>PowerPoint Sunusu</vt:lpstr>
      <vt:lpstr>Ölümcül Kilitlenme</vt:lpstr>
      <vt:lpstr>PowerPoint Sunusu</vt:lpstr>
      <vt:lpstr>PowerPoint Sunusu</vt:lpstr>
      <vt:lpstr>PowerPoint Sunusu</vt:lpstr>
      <vt:lpstr>Ölümcül Kilitlenmeye Neden Olan Durumlar</vt:lpstr>
      <vt:lpstr>Ölümcül Kilitlenme Nasıl Oluşur?</vt:lpstr>
      <vt:lpstr>Dosya İsteklerinde Ölümcül Kilitlenmeler</vt:lpstr>
      <vt:lpstr>Veritabanlarında Ölümcül Kilitlenmeler</vt:lpstr>
      <vt:lpstr>Veritabanlarında Ölümcül Kilitlenmeler</vt:lpstr>
      <vt:lpstr>Aygıt Tahsislerinde Ölümcül Kilitlenmeler</vt:lpstr>
      <vt:lpstr>Çoklu Aygıt Tahsislerinde Ölümcül Kilitlenmeler</vt:lpstr>
      <vt:lpstr>Biriktiricilerin (Spooling) Ölümcül Kilitlenme</vt:lpstr>
      <vt:lpstr>Bir Ağda Ölümcül Kilitlenme</vt:lpstr>
      <vt:lpstr>Disk Paylaşımında Ölümcül Kilitlenme</vt:lpstr>
      <vt:lpstr>Disk Paylaşımında Ölümcül Kilitlenme</vt:lpstr>
      <vt:lpstr>Ölümcül Kilitlenme Tespiti (Deadlock Detection)</vt:lpstr>
      <vt:lpstr>Kaynak Atama Grafikleri </vt:lpstr>
      <vt:lpstr>Her tip kaynaktan sistemde bir adet olduğu durumda ölümcül kilitlenme tespiti</vt:lpstr>
      <vt:lpstr>Her tipten birden fazla kaynak için ölümcül kilitlenme tespiti</vt:lpstr>
      <vt:lpstr>Her tipten birden fazla kaynak için ölümcül kilitlenme tespiti</vt:lpstr>
      <vt:lpstr>PowerPoint Sunusu</vt:lpstr>
      <vt:lpstr>PowerPoint Sunusu</vt:lpstr>
      <vt:lpstr>PowerPoint Sunusu</vt:lpstr>
      <vt:lpstr>Ölümcül Kilitlenme Onarımı</vt:lpstr>
      <vt:lpstr>Ölümcül Kilitlenmeden Kaçınma Deadlock Avoidance</vt:lpstr>
      <vt:lpstr>Güvenli ve Güvensiz Durum</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Ölümcül Kilitlenme (Deadlock)</dc:title>
  <dc:creator>mevlut</dc:creator>
  <cp:lastModifiedBy>mevlut ersoy</cp:lastModifiedBy>
  <cp:revision>21</cp:revision>
  <dcterms:created xsi:type="dcterms:W3CDTF">2015-11-07T14:14:18Z</dcterms:created>
  <dcterms:modified xsi:type="dcterms:W3CDTF">2019-11-26T19:44:15Z</dcterms:modified>
</cp:coreProperties>
</file>