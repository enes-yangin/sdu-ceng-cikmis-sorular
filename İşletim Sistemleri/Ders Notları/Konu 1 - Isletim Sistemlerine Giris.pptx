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3" r:id="rId2"/>
  </p:sldMasterIdLst>
  <p:notesMasterIdLst>
    <p:notesMasterId r:id="rId46"/>
  </p:notesMasterIdLst>
  <p:sldIdLst>
    <p:sldId id="414" r:id="rId3"/>
    <p:sldId id="257" r:id="rId4"/>
    <p:sldId id="258" r:id="rId5"/>
    <p:sldId id="282" r:id="rId6"/>
    <p:sldId id="259" r:id="rId7"/>
    <p:sldId id="263" r:id="rId8"/>
    <p:sldId id="284" r:id="rId9"/>
    <p:sldId id="283" r:id="rId10"/>
    <p:sldId id="285" r:id="rId11"/>
    <p:sldId id="319" r:id="rId12"/>
    <p:sldId id="394" r:id="rId13"/>
    <p:sldId id="395" r:id="rId14"/>
    <p:sldId id="396" r:id="rId15"/>
    <p:sldId id="397" r:id="rId16"/>
    <p:sldId id="338" r:id="rId17"/>
    <p:sldId id="398" r:id="rId18"/>
    <p:sldId id="315" r:id="rId19"/>
    <p:sldId id="316" r:id="rId20"/>
    <p:sldId id="317" r:id="rId21"/>
    <p:sldId id="318" r:id="rId22"/>
    <p:sldId id="288" r:id="rId23"/>
    <p:sldId id="297" r:id="rId24"/>
    <p:sldId id="302" r:id="rId25"/>
    <p:sldId id="298" r:id="rId26"/>
    <p:sldId id="299" r:id="rId27"/>
    <p:sldId id="370" r:id="rId28"/>
    <p:sldId id="385" r:id="rId29"/>
    <p:sldId id="371" r:id="rId30"/>
    <p:sldId id="372" r:id="rId31"/>
    <p:sldId id="373" r:id="rId32"/>
    <p:sldId id="374" r:id="rId33"/>
    <p:sldId id="375" r:id="rId34"/>
    <p:sldId id="376" r:id="rId35"/>
    <p:sldId id="389" r:id="rId36"/>
    <p:sldId id="377" r:id="rId37"/>
    <p:sldId id="386" r:id="rId38"/>
    <p:sldId id="378" r:id="rId39"/>
    <p:sldId id="387" r:id="rId40"/>
    <p:sldId id="379" r:id="rId41"/>
    <p:sldId id="380" r:id="rId42"/>
    <p:sldId id="381" r:id="rId43"/>
    <p:sldId id="382" r:id="rId44"/>
    <p:sldId id="388" r:id="rId4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74" autoAdjust="0"/>
  </p:normalViewPr>
  <p:slideViewPr>
    <p:cSldViewPr>
      <p:cViewPr varScale="1">
        <p:scale>
          <a:sx n="78" d="100"/>
          <a:sy n="78" d="100"/>
        </p:scale>
        <p:origin x="1594"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B308EB-1B0E-4851-9189-CB108C565F0F}" type="datetimeFigureOut">
              <a:rPr lang="tr-TR" smtClean="0"/>
              <a:t>21.10.2020</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21AAB2-B4F0-46EB-B9C2-F52563FAD145}" type="slidenum">
              <a:rPr lang="tr-TR" smtClean="0"/>
              <a:t>‹#›</a:t>
            </a:fld>
            <a:endParaRPr lang="tr-TR"/>
          </a:p>
        </p:txBody>
      </p:sp>
    </p:spTree>
    <p:extLst>
      <p:ext uri="{BB962C8B-B14F-4D97-AF65-F5344CB8AC3E}">
        <p14:creationId xmlns:p14="http://schemas.microsoft.com/office/powerpoint/2010/main" val="2974264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İşletim</a:t>
            </a:r>
            <a:r>
              <a:rPr lang="tr-TR" baseline="0" dirty="0"/>
              <a:t> sistemi olmasaydı ne olurdu?</a:t>
            </a:r>
            <a:endParaRPr lang="tr-TR" dirty="0"/>
          </a:p>
        </p:txBody>
      </p:sp>
      <p:sp>
        <p:nvSpPr>
          <p:cNvPr id="4" name="Slayt Numarası Yer Tutucusu 3"/>
          <p:cNvSpPr>
            <a:spLocks noGrp="1"/>
          </p:cNvSpPr>
          <p:nvPr>
            <p:ph type="sldNum" sz="quarter" idx="10"/>
          </p:nvPr>
        </p:nvSpPr>
        <p:spPr/>
        <p:txBody>
          <a:bodyPr/>
          <a:lstStyle/>
          <a:p>
            <a:fld id="{8821AAB2-B4F0-46EB-B9C2-F52563FAD145}" type="slidenum">
              <a:rPr lang="tr-TR" smtClean="0"/>
              <a:t>8</a:t>
            </a:fld>
            <a:endParaRPr lang="tr-TR"/>
          </a:p>
        </p:txBody>
      </p:sp>
    </p:spTree>
    <p:extLst>
      <p:ext uri="{BB962C8B-B14F-4D97-AF65-F5344CB8AC3E}">
        <p14:creationId xmlns:p14="http://schemas.microsoft.com/office/powerpoint/2010/main" val="2269644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İşletim</a:t>
            </a:r>
            <a:r>
              <a:rPr lang="tr-TR" baseline="0" dirty="0"/>
              <a:t> sistemi, bir sistemin performansını etkiler.</a:t>
            </a:r>
          </a:p>
          <a:p>
            <a:r>
              <a:rPr lang="tr-TR" baseline="0" dirty="0"/>
              <a:t>İşletim Sistemi, bir sistemin iç yapısındaki donanımın verimliliğini etkiler.</a:t>
            </a:r>
            <a:endParaRPr lang="tr-TR" dirty="0"/>
          </a:p>
        </p:txBody>
      </p:sp>
      <p:sp>
        <p:nvSpPr>
          <p:cNvPr id="4" name="Slayt Numarası Yer Tutucusu 3"/>
          <p:cNvSpPr>
            <a:spLocks noGrp="1"/>
          </p:cNvSpPr>
          <p:nvPr>
            <p:ph type="sldNum" sz="quarter" idx="10"/>
          </p:nvPr>
        </p:nvSpPr>
        <p:spPr/>
        <p:txBody>
          <a:bodyPr/>
          <a:lstStyle/>
          <a:p>
            <a:fld id="{8821AAB2-B4F0-46EB-B9C2-F52563FAD145}" type="slidenum">
              <a:rPr lang="tr-TR" smtClean="0"/>
              <a:t>9</a:t>
            </a:fld>
            <a:endParaRPr lang="tr-TR"/>
          </a:p>
        </p:txBody>
      </p:sp>
    </p:spTree>
    <p:extLst>
      <p:ext uri="{BB962C8B-B14F-4D97-AF65-F5344CB8AC3E}">
        <p14:creationId xmlns:p14="http://schemas.microsoft.com/office/powerpoint/2010/main" val="2002315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D39D106-589A-4FBD-BE0F-2F0743982B5A}" type="slidenum">
              <a:rPr lang="en-US" altLang="tr-TR">
                <a:solidFill>
                  <a:prstClr val="black"/>
                </a:solidFill>
                <a:latin typeface="Times New Roman" pitchFamily="18" charset="0"/>
              </a:rPr>
              <a:pPr/>
              <a:t>12</a:t>
            </a:fld>
            <a:endParaRPr lang="en-US" altLang="tr-TR">
              <a:solidFill>
                <a:prstClr val="black"/>
              </a:solidFill>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DBD3433-73CC-462C-A168-44D016887AEC}" type="slidenum">
              <a:rPr lang="en-US" altLang="tr-TR">
                <a:solidFill>
                  <a:prstClr val="black"/>
                </a:solidFill>
                <a:latin typeface="Times New Roman" pitchFamily="18" charset="0"/>
              </a:rPr>
              <a:pPr/>
              <a:t>13</a:t>
            </a:fld>
            <a:endParaRPr lang="en-US" altLang="tr-TR">
              <a:solidFill>
                <a:prstClr val="black"/>
              </a:solidFill>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F516D6C-C651-4C09-81B9-C763F8BD5F02}" type="slidenum">
              <a:rPr lang="en-US" altLang="tr-TR">
                <a:solidFill>
                  <a:prstClr val="black"/>
                </a:solidFill>
                <a:latin typeface="Times New Roman" pitchFamily="18" charset="0"/>
              </a:rPr>
              <a:pPr/>
              <a:t>16</a:t>
            </a:fld>
            <a:endParaRPr lang="en-US" altLang="tr-TR">
              <a:solidFill>
                <a:prstClr val="black"/>
              </a:solidFill>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 GPU,DSP</a:t>
            </a:r>
          </a:p>
        </p:txBody>
      </p:sp>
      <p:sp>
        <p:nvSpPr>
          <p:cNvPr id="4" name="Slayt Numarası Yer Tutucusu 3"/>
          <p:cNvSpPr>
            <a:spLocks noGrp="1"/>
          </p:cNvSpPr>
          <p:nvPr>
            <p:ph type="sldNum" sz="quarter" idx="10"/>
          </p:nvPr>
        </p:nvSpPr>
        <p:spPr/>
        <p:txBody>
          <a:bodyPr/>
          <a:lstStyle/>
          <a:p>
            <a:fld id="{8821AAB2-B4F0-46EB-B9C2-F52563FAD145}" type="slidenum">
              <a:rPr lang="tr-TR" smtClean="0"/>
              <a:t>28</a:t>
            </a:fld>
            <a:endParaRPr lang="tr-TR"/>
          </a:p>
        </p:txBody>
      </p:sp>
    </p:spTree>
    <p:extLst>
      <p:ext uri="{BB962C8B-B14F-4D97-AF65-F5344CB8AC3E}">
        <p14:creationId xmlns:p14="http://schemas.microsoft.com/office/powerpoint/2010/main" val="3023146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lvl1pPr>
              <a:defRPr b="0"/>
            </a:lvl1pPr>
            <a:lvl2pPr>
              <a:defRPr b="0"/>
            </a:lvl2pPr>
            <a:lvl3pPr>
              <a:defRPr b="0"/>
            </a:lvl3pPr>
            <a:lvl4pPr>
              <a:defRPr b="0"/>
            </a:lvl4pPr>
            <a:lvl5pPr>
              <a:defRPr b="0"/>
            </a:lvl5pPr>
          </a:lstStyle>
          <a:p>
            <a:pPr lvl="0"/>
            <a:r>
              <a:rPr lang="tr-TR" dirty="0"/>
              <a:t>Asıl metin stillerini düzenlemek için tıklatın</a:t>
            </a:r>
          </a:p>
          <a:p>
            <a:pPr lvl="1"/>
            <a:r>
              <a:rPr lang="tr-TR" dirty="0"/>
              <a:t>İkinci düzey</a:t>
            </a:r>
          </a:p>
          <a:p>
            <a:pPr lvl="2"/>
            <a:r>
              <a:rPr lang="tr-TR" dirty="0"/>
              <a:t>Üçüncü düzey</a:t>
            </a:r>
          </a:p>
          <a:p>
            <a:pPr lvl="3"/>
            <a:r>
              <a:rPr lang="tr-TR" dirty="0"/>
              <a:t>Dördüncü düzey</a:t>
            </a:r>
          </a:p>
          <a:p>
            <a:pPr lvl="4"/>
            <a:r>
              <a:rPr lang="tr-TR" dirty="0"/>
              <a:t>Beşinci düzey0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tr-TR" noProof="0"/>
              <a:t>Resim eklemek için simgeyi tıklatın</a:t>
            </a: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Başlık, Metin ve İçerik">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tr-TR"/>
              <a:t>Asıl başlık stili için tıklatın</a:t>
            </a:r>
          </a:p>
        </p:txBody>
      </p:sp>
      <p:sp>
        <p:nvSpPr>
          <p:cNvPr id="3" name="Text Placeholder 2"/>
          <p:cNvSpPr>
            <a:spLocks noGrp="1"/>
          </p:cNvSpPr>
          <p:nvPr>
            <p:ph type="body" sz="half" idx="1"/>
          </p:nvPr>
        </p:nvSpPr>
        <p:spPr>
          <a:xfrm>
            <a:off x="457200" y="1858963"/>
            <a:ext cx="4038600" cy="4525962"/>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Content Placeholder 3"/>
          <p:cNvSpPr>
            <a:spLocks noGrp="1"/>
          </p:cNvSpPr>
          <p:nvPr>
            <p:ph sz="half" idx="2"/>
          </p:nvPr>
        </p:nvSpPr>
        <p:spPr>
          <a:xfrm>
            <a:off x="4648200" y="1858963"/>
            <a:ext cx="4038600" cy="4525962"/>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1C727FB8-8ACB-4418-BE11-4395345AD2C4}" type="datetimeFigureOut">
              <a:rPr lang="tr-TR" smtClean="0"/>
              <a:t>21.10.2020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99274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1C727FB8-8ACB-4418-BE11-4395345AD2C4}" type="datetimeFigureOut">
              <a:rPr lang="tr-TR" smtClean="0"/>
              <a:t>21.10.2020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61101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1C727FB8-8ACB-4418-BE11-4395345AD2C4}" type="datetimeFigureOut">
              <a:rPr lang="tr-TR" smtClean="0"/>
              <a:t>21.10.2020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3122669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1C727FB8-8ACB-4418-BE11-4395345AD2C4}" type="datetimeFigureOut">
              <a:rPr lang="tr-TR" smtClean="0"/>
              <a:t>21.10.2020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325488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1C727FB8-8ACB-4418-BE11-4395345AD2C4}" type="datetimeFigureOut">
              <a:rPr lang="tr-TR" smtClean="0"/>
              <a:t>21.10.2020</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11859576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1C727FB8-8ACB-4418-BE11-4395345AD2C4}" type="datetimeFigureOut">
              <a:rPr lang="tr-TR" smtClean="0"/>
              <a:t>21.10.2020</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34938188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1C727FB8-8ACB-4418-BE11-4395345AD2C4}" type="datetimeFigureOut">
              <a:rPr lang="tr-TR" smtClean="0"/>
              <a:t>21.10.2020</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4253134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1C727FB8-8ACB-4418-BE11-4395345AD2C4}" type="datetimeFigureOut">
              <a:rPr lang="tr-TR" smtClean="0"/>
              <a:t>21.10.2020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36389479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1C727FB8-8ACB-4418-BE11-4395345AD2C4}" type="datetimeFigureOut">
              <a:rPr lang="tr-TR" smtClean="0"/>
              <a:t>21.10.2020</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686801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1C727FB8-8ACB-4418-BE11-4395345AD2C4}" type="datetimeFigureOut">
              <a:rPr lang="tr-TR" smtClean="0"/>
              <a:t>21.10.2020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39975551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1C727FB8-8ACB-4418-BE11-4395345AD2C4}" type="datetimeFigureOut">
              <a:rPr lang="tr-TR" smtClean="0"/>
              <a:t>21.10.2020</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38B5A00-0BBF-4A06-B3A4-52CB483A57BF}" type="slidenum">
              <a:rPr lang="tr-TR" smtClean="0"/>
              <a:t>‹#›</a:t>
            </a:fld>
            <a:endParaRPr lang="tr-TR"/>
          </a:p>
        </p:txBody>
      </p:sp>
    </p:spTree>
    <p:extLst>
      <p:ext uri="{BB962C8B-B14F-4D97-AF65-F5344CB8AC3E}">
        <p14:creationId xmlns:p14="http://schemas.microsoft.com/office/powerpoint/2010/main" val="259565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050" name="Picture 2" descr="C:\Documents and Settings\systemx\Desktop\UE_SUNUM\Slayt_resim\ust_icerik.png"/>
          <p:cNvPicPr>
            <a:picLocks noChangeAspect="1" noChangeArrowheads="1"/>
          </p:cNvPicPr>
          <p:nvPr/>
        </p:nvPicPr>
        <p:blipFill>
          <a:blip r:embed="rId14"/>
          <a:srcRect/>
          <a:stretch>
            <a:fillRect/>
          </a:stretch>
        </p:blipFill>
        <p:spPr bwMode="auto">
          <a:xfrm>
            <a:off x="0" y="0"/>
            <a:ext cx="9144000" cy="1143000"/>
          </a:xfrm>
          <a:prstGeom prst="rect">
            <a:avLst/>
          </a:prstGeom>
          <a:noFill/>
          <a:ln w="9525">
            <a:noFill/>
            <a:miter lim="800000"/>
            <a:headEnd/>
            <a:tailEnd/>
          </a:ln>
        </p:spPr>
      </p:pic>
      <p:pic>
        <p:nvPicPr>
          <p:cNvPr id="2051" name="Picture 3" descr="C:\Documents and Settings\systemx\Desktop\UE_SUNUM\Slayt_resim\alt_icerik.png"/>
          <p:cNvPicPr>
            <a:picLocks noChangeAspect="1" noChangeArrowheads="1"/>
          </p:cNvPicPr>
          <p:nvPr/>
        </p:nvPicPr>
        <p:blipFill>
          <a:blip r:embed="rId15"/>
          <a:srcRect/>
          <a:stretch>
            <a:fillRect/>
          </a:stretch>
        </p:blipFill>
        <p:spPr bwMode="auto">
          <a:xfrm>
            <a:off x="0" y="6191250"/>
            <a:ext cx="9144000" cy="742950"/>
          </a:xfrm>
          <a:prstGeom prst="rect">
            <a:avLst/>
          </a:prstGeom>
          <a:noFill/>
          <a:ln w="9525">
            <a:noFill/>
            <a:miter lim="800000"/>
            <a:headEnd/>
            <a:tailEnd/>
          </a:ln>
        </p:spPr>
      </p:pic>
      <p:pic>
        <p:nvPicPr>
          <p:cNvPr id="1030" name="Picture 6" descr="sdu_logo_icerik"/>
          <p:cNvPicPr>
            <a:picLocks noChangeAspect="1" noChangeArrowheads="1"/>
          </p:cNvPicPr>
          <p:nvPr/>
        </p:nvPicPr>
        <p:blipFill>
          <a:blip r:embed="rId16"/>
          <a:srcRect/>
          <a:stretch>
            <a:fillRect/>
          </a:stretch>
        </p:blipFill>
        <p:spPr bwMode="auto">
          <a:xfrm>
            <a:off x="0" y="0"/>
            <a:ext cx="762000" cy="681038"/>
          </a:xfrm>
          <a:prstGeom prst="rect">
            <a:avLst/>
          </a:prstGeom>
          <a:noFill/>
          <a:ln w="9525">
            <a:noFill/>
            <a:miter lim="800000"/>
            <a:headEnd/>
            <a:tailEnd/>
          </a:ln>
        </p:spPr>
      </p:pic>
      <p:sp>
        <p:nvSpPr>
          <p:cNvPr id="2" name="Rectangle 6"/>
          <p:cNvSpPr>
            <a:spLocks noGrp="1" noChangeArrowheads="1"/>
          </p:cNvSpPr>
          <p:nvPr>
            <p:ph type="title"/>
          </p:nvPr>
        </p:nvSpPr>
        <p:spPr bwMode="auto">
          <a:xfrm>
            <a:off x="457200" y="5334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tr-TR"/>
              <a:t>Asıl başlık stili için tıklatın</a:t>
            </a:r>
          </a:p>
        </p:txBody>
      </p:sp>
      <p:sp>
        <p:nvSpPr>
          <p:cNvPr id="1031" name="Rectangle 7"/>
          <p:cNvSpPr>
            <a:spLocks noGrp="1" noChangeArrowheads="1"/>
          </p:cNvSpPr>
          <p:nvPr>
            <p:ph type="body" idx="1"/>
          </p:nvPr>
        </p:nvSpPr>
        <p:spPr bwMode="auto">
          <a:xfrm>
            <a:off x="457200" y="1858963"/>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strips(downLeft)">
                                      <p:cBhvr>
                                        <p:cTn id="7" dur="500"/>
                                        <p:tgtEl>
                                          <p:spTgt spid="205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051"/>
                                        </p:tgtEl>
                                        <p:attrNameLst>
                                          <p:attrName>style.visibility</p:attrName>
                                        </p:attrNameLst>
                                      </p:cBhvr>
                                      <p:to>
                                        <p:strVal val="visible"/>
                                      </p:to>
                                    </p:set>
                                    <p:animEffect transition="in" filter="wipe(down)">
                                      <p:cBhvr>
                                        <p:cTn id="11" dur="500"/>
                                        <p:tgtEl>
                                          <p:spTgt spid="2051"/>
                                        </p:tgtEl>
                                      </p:cBhvr>
                                    </p:animEffect>
                                  </p:childTnLst>
                                </p:cTn>
                              </p:par>
                              <p:par>
                                <p:cTn id="12" presetID="10" presetClass="entr" presetSubtype="0" fill="hold" nodeType="withEffect">
                                  <p:stCondLst>
                                    <p:cond delay="0"/>
                                  </p:stCondLst>
                                  <p:childTnLst>
                                    <p:set>
                                      <p:cBhvr>
                                        <p:cTn id="13" dur="1" fill="hold">
                                          <p:stCondLst>
                                            <p:cond delay="0"/>
                                          </p:stCondLst>
                                        </p:cTn>
                                        <p:tgtEl>
                                          <p:spTgt spid="1030"/>
                                        </p:tgtEl>
                                        <p:attrNameLst>
                                          <p:attrName>style.visibility</p:attrName>
                                        </p:attrNameLst>
                                      </p:cBhvr>
                                      <p:to>
                                        <p:strVal val="visible"/>
                                      </p:to>
                                    </p:set>
                                    <p:animEffect transition="in" filter="fade">
                                      <p:cBhvr>
                                        <p:cTn id="14" dur="1000"/>
                                        <p:tgtEl>
                                          <p:spTgt spid="1030"/>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par>
                          <p:cTn id="19" fill="hold">
                            <p:stCondLst>
                              <p:cond delay="2000"/>
                            </p:stCondLst>
                            <p:childTnLst>
                              <p:par>
                                <p:cTn id="20" presetID="10" presetClass="entr" presetSubtype="0" fill="hold" grpId="0" nodeType="afterEffect">
                                  <p:stCondLst>
                                    <p:cond delay="0"/>
                                  </p:stCondLst>
                                  <p:childTnLst>
                                    <p:set>
                                      <p:cBhvr>
                                        <p:cTn id="21" dur="1" fill="hold">
                                          <p:stCondLst>
                                            <p:cond delay="0"/>
                                          </p:stCondLst>
                                        </p:cTn>
                                        <p:tgtEl>
                                          <p:spTgt spid="1031">
                                            <p:txEl>
                                              <p:pRg st="0" end="0"/>
                                            </p:txEl>
                                          </p:spTgt>
                                        </p:tgtEl>
                                        <p:attrNameLst>
                                          <p:attrName>style.visibility</p:attrName>
                                        </p:attrNameLst>
                                      </p:cBhvr>
                                      <p:to>
                                        <p:strVal val="visible"/>
                                      </p:to>
                                    </p:set>
                                    <p:animEffect transition="in" filter="fade">
                                      <p:cBhvr>
                                        <p:cTn id="22" dur="500"/>
                                        <p:tgtEl>
                                          <p:spTgt spid="1031">
                                            <p:txEl>
                                              <p:pRg st="0" end="0"/>
                                            </p:txEl>
                                          </p:spTgt>
                                        </p:tgtEl>
                                      </p:cBhvr>
                                    </p:animEffect>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1031">
                                            <p:txEl>
                                              <p:pRg st="1" end="1"/>
                                            </p:txEl>
                                          </p:spTgt>
                                        </p:tgtEl>
                                        <p:attrNameLst>
                                          <p:attrName>style.visibility</p:attrName>
                                        </p:attrNameLst>
                                      </p:cBhvr>
                                      <p:to>
                                        <p:strVal val="visible"/>
                                      </p:to>
                                    </p:set>
                                    <p:animEffect transition="in" filter="fade">
                                      <p:cBhvr>
                                        <p:cTn id="26" dur="500"/>
                                        <p:tgtEl>
                                          <p:spTgt spid="1031">
                                            <p:txEl>
                                              <p:pRg st="1" end="1"/>
                                            </p:txEl>
                                          </p:spTgt>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1031">
                                            <p:txEl>
                                              <p:pRg st="2" end="2"/>
                                            </p:txEl>
                                          </p:spTgt>
                                        </p:tgtEl>
                                        <p:attrNameLst>
                                          <p:attrName>style.visibility</p:attrName>
                                        </p:attrNameLst>
                                      </p:cBhvr>
                                      <p:to>
                                        <p:strVal val="visible"/>
                                      </p:to>
                                    </p:set>
                                    <p:animEffect transition="in" filter="fade">
                                      <p:cBhvr>
                                        <p:cTn id="30" dur="500"/>
                                        <p:tgtEl>
                                          <p:spTgt spid="1031">
                                            <p:txEl>
                                              <p:pRg st="2" end="2"/>
                                            </p:txEl>
                                          </p:spTgt>
                                        </p:tgtEl>
                                      </p:cBhvr>
                                    </p:animEffect>
                                  </p:childTnLst>
                                </p:cTn>
                              </p:par>
                            </p:childTnLst>
                          </p:cTn>
                        </p:par>
                        <p:par>
                          <p:cTn id="31" fill="hold">
                            <p:stCondLst>
                              <p:cond delay="3500"/>
                            </p:stCondLst>
                            <p:childTnLst>
                              <p:par>
                                <p:cTn id="32" presetID="10" presetClass="entr" presetSubtype="0" fill="hold" grpId="0" nodeType="afterEffect">
                                  <p:stCondLst>
                                    <p:cond delay="0"/>
                                  </p:stCondLst>
                                  <p:childTnLst>
                                    <p:set>
                                      <p:cBhvr>
                                        <p:cTn id="33" dur="1" fill="hold">
                                          <p:stCondLst>
                                            <p:cond delay="0"/>
                                          </p:stCondLst>
                                        </p:cTn>
                                        <p:tgtEl>
                                          <p:spTgt spid="1031">
                                            <p:txEl>
                                              <p:pRg st="3" end="3"/>
                                            </p:txEl>
                                          </p:spTgt>
                                        </p:tgtEl>
                                        <p:attrNameLst>
                                          <p:attrName>style.visibility</p:attrName>
                                        </p:attrNameLst>
                                      </p:cBhvr>
                                      <p:to>
                                        <p:strVal val="visible"/>
                                      </p:to>
                                    </p:set>
                                    <p:animEffect transition="in" filter="fade">
                                      <p:cBhvr>
                                        <p:cTn id="34" dur="500"/>
                                        <p:tgtEl>
                                          <p:spTgt spid="1031">
                                            <p:txEl>
                                              <p:pRg st="3" end="3"/>
                                            </p:txEl>
                                          </p:spTgt>
                                        </p:tgtEl>
                                      </p:cBhvr>
                                    </p:animEffect>
                                  </p:childTnLst>
                                </p:cTn>
                              </p:par>
                            </p:childTnLst>
                          </p:cTn>
                        </p:par>
                        <p:par>
                          <p:cTn id="35" fill="hold">
                            <p:stCondLst>
                              <p:cond delay="4000"/>
                            </p:stCondLst>
                            <p:childTnLst>
                              <p:par>
                                <p:cTn id="36" presetID="10" presetClass="entr" presetSubtype="0" fill="hold" grpId="0" nodeType="afterEffect">
                                  <p:stCondLst>
                                    <p:cond delay="0"/>
                                  </p:stCondLst>
                                  <p:childTnLst>
                                    <p:set>
                                      <p:cBhvr>
                                        <p:cTn id="37" dur="1" fill="hold">
                                          <p:stCondLst>
                                            <p:cond delay="0"/>
                                          </p:stCondLst>
                                        </p:cTn>
                                        <p:tgtEl>
                                          <p:spTgt spid="1031">
                                            <p:txEl>
                                              <p:pRg st="4" end="4"/>
                                            </p:txEl>
                                          </p:spTgt>
                                        </p:tgtEl>
                                        <p:attrNameLst>
                                          <p:attrName>style.visibility</p:attrName>
                                        </p:attrNameLst>
                                      </p:cBhvr>
                                      <p:to>
                                        <p:strVal val="visible"/>
                                      </p:to>
                                    </p:set>
                                    <p:animEffect transition="in" filter="fade">
                                      <p:cBhvr>
                                        <p:cTn id="38" dur="500"/>
                                        <p:tgtEl>
                                          <p:spTgt spid="10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31" grpId="0" build="p">
        <p:tmplLst>
          <p:tmpl lvl="1">
            <p:tnLst>
              <p:par>
                <p:cTn presetID="10" presetClass="entr" presetSubtype="0" fill="hold" nodeType="afterEffect">
                  <p:stCondLst>
                    <p:cond delay="0"/>
                  </p:stCondLst>
                  <p:childTnLst>
                    <p:set>
                      <p:cBhvr>
                        <p:cTn dur="1" fill="hold">
                          <p:stCondLst>
                            <p:cond delay="0"/>
                          </p:stCondLst>
                        </p:cTn>
                        <p:tgtEl>
                          <p:spTgt spid="1031"/>
                        </p:tgtEl>
                        <p:attrNameLst>
                          <p:attrName>style.visibility</p:attrName>
                        </p:attrNameLst>
                      </p:cBhvr>
                      <p:to>
                        <p:strVal val="visible"/>
                      </p:to>
                    </p:set>
                    <p:animEffect transition="in" filter="fade">
                      <p:cBhvr>
                        <p:cTn dur="500"/>
                        <p:tgtEl>
                          <p:spTgt spid="1031"/>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31"/>
                        </p:tgtEl>
                        <p:attrNameLst>
                          <p:attrName>style.visibility</p:attrName>
                        </p:attrNameLst>
                      </p:cBhvr>
                      <p:to>
                        <p:strVal val="visible"/>
                      </p:to>
                    </p:set>
                    <p:animEffect transition="in" filter="fade">
                      <p:cBhvr>
                        <p:cTn dur="500"/>
                        <p:tgtEl>
                          <p:spTgt spid="1031"/>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31"/>
                        </p:tgtEl>
                        <p:attrNameLst>
                          <p:attrName>style.visibility</p:attrName>
                        </p:attrNameLst>
                      </p:cBhvr>
                      <p:to>
                        <p:strVal val="visible"/>
                      </p:to>
                    </p:set>
                    <p:animEffect transition="in" filter="fade">
                      <p:cBhvr>
                        <p:cTn dur="500"/>
                        <p:tgtEl>
                          <p:spTgt spid="1031"/>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31"/>
                        </p:tgtEl>
                        <p:attrNameLst>
                          <p:attrName>style.visibility</p:attrName>
                        </p:attrNameLst>
                      </p:cBhvr>
                      <p:to>
                        <p:strVal val="visible"/>
                      </p:to>
                    </p:set>
                    <p:animEffect transition="in" filter="fade">
                      <p:cBhvr>
                        <p:cTn dur="500"/>
                        <p:tgtEl>
                          <p:spTgt spid="1031"/>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31"/>
                        </p:tgtEl>
                        <p:attrNameLst>
                          <p:attrName>style.visibility</p:attrName>
                        </p:attrNameLst>
                      </p:cBhvr>
                      <p:to>
                        <p:strVal val="visible"/>
                      </p:to>
                    </p:set>
                    <p:animEffect transition="in" filter="fade">
                      <p:cBhvr>
                        <p:cTn dur="500"/>
                        <p:tgtEl>
                          <p:spTgt spid="1031"/>
                        </p:tgtEl>
                      </p:cBhvr>
                    </p:animEffect>
                  </p:childTnLst>
                </p:cTn>
              </p:par>
            </p:tnLst>
          </p:tmpl>
        </p:tmplLst>
      </p:bldP>
    </p:bldLst>
  </p:timing>
  <p:txStyles>
    <p:titleStyle>
      <a:lvl1pPr algn="ctr" rtl="0" eaLnBrk="1" fontAlgn="base" hangingPunct="1">
        <a:spcBef>
          <a:spcPct val="0"/>
        </a:spcBef>
        <a:spcAft>
          <a:spcPct val="0"/>
        </a:spcAft>
        <a:defRPr sz="4400" b="1" kern="1200">
          <a:solidFill>
            <a:schemeClr val="tx1"/>
          </a:solidFill>
          <a:latin typeface="Myriad Pro" pitchFamily="34" charset="0"/>
          <a:ea typeface="+mj-ea"/>
          <a:cs typeface="+mj-cs"/>
        </a:defRPr>
      </a:lvl1pPr>
      <a:lvl2pPr algn="ctr" rtl="0" eaLnBrk="1" fontAlgn="base" hangingPunct="1">
        <a:spcBef>
          <a:spcPct val="0"/>
        </a:spcBef>
        <a:spcAft>
          <a:spcPct val="0"/>
        </a:spcAft>
        <a:defRPr sz="4400" b="1">
          <a:solidFill>
            <a:schemeClr val="tx1"/>
          </a:solidFill>
          <a:latin typeface="Myriad Pro" pitchFamily="34" charset="0"/>
        </a:defRPr>
      </a:lvl2pPr>
      <a:lvl3pPr algn="ctr" rtl="0" eaLnBrk="1" fontAlgn="base" hangingPunct="1">
        <a:spcBef>
          <a:spcPct val="0"/>
        </a:spcBef>
        <a:spcAft>
          <a:spcPct val="0"/>
        </a:spcAft>
        <a:defRPr sz="4400" b="1">
          <a:solidFill>
            <a:schemeClr val="tx1"/>
          </a:solidFill>
          <a:latin typeface="Myriad Pro" pitchFamily="34" charset="0"/>
        </a:defRPr>
      </a:lvl3pPr>
      <a:lvl4pPr algn="ctr" rtl="0" eaLnBrk="1" fontAlgn="base" hangingPunct="1">
        <a:spcBef>
          <a:spcPct val="0"/>
        </a:spcBef>
        <a:spcAft>
          <a:spcPct val="0"/>
        </a:spcAft>
        <a:defRPr sz="4400" b="1">
          <a:solidFill>
            <a:schemeClr val="tx1"/>
          </a:solidFill>
          <a:latin typeface="Myriad Pro" pitchFamily="34" charset="0"/>
        </a:defRPr>
      </a:lvl4pPr>
      <a:lvl5pPr algn="ctr" rtl="0" eaLnBrk="1" fontAlgn="base" hangingPunct="1">
        <a:spcBef>
          <a:spcPct val="0"/>
        </a:spcBef>
        <a:spcAft>
          <a:spcPct val="0"/>
        </a:spcAft>
        <a:defRPr sz="4400" b="1">
          <a:solidFill>
            <a:schemeClr val="tx1"/>
          </a:solidFill>
          <a:latin typeface="Myriad Pro"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2400" b="1" kern="1200">
          <a:solidFill>
            <a:schemeClr val="tx1"/>
          </a:solidFill>
          <a:latin typeface="Myriad Pro" pitchFamily="34" charset="0"/>
          <a:ea typeface="+mn-ea"/>
          <a:cs typeface="+mn-cs"/>
        </a:defRPr>
      </a:lvl1pPr>
      <a:lvl2pPr marL="742950" indent="-285750" algn="l" rtl="0" eaLnBrk="1" fontAlgn="base" hangingPunct="1">
        <a:spcBef>
          <a:spcPct val="20000"/>
        </a:spcBef>
        <a:spcAft>
          <a:spcPct val="0"/>
        </a:spcAft>
        <a:buFont typeface="Arial" charset="0"/>
        <a:buChar char="–"/>
        <a:defRPr sz="2400" kern="1200">
          <a:solidFill>
            <a:schemeClr val="tx1"/>
          </a:solidFill>
          <a:latin typeface="Myriad Pro" pitchFamily="34" charset="0"/>
          <a:ea typeface="+mn-ea"/>
          <a:cs typeface="+mn-cs"/>
        </a:defRPr>
      </a:lvl2pPr>
      <a:lvl3pPr marL="1143000" indent="-228600" algn="l" rtl="0" eaLnBrk="1" fontAlgn="base" hangingPunct="1">
        <a:spcBef>
          <a:spcPct val="20000"/>
        </a:spcBef>
        <a:spcAft>
          <a:spcPct val="0"/>
        </a:spcAft>
        <a:buFont typeface="Arial" charset="0"/>
        <a:buChar char="•"/>
        <a:defRPr sz="2000" kern="1200">
          <a:solidFill>
            <a:schemeClr val="tx1"/>
          </a:solidFill>
          <a:latin typeface="Myriad Pro"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yriad Pro" pitchFamily="34" charset="0"/>
          <a:ea typeface="+mn-ea"/>
          <a:cs typeface="+mn-cs"/>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Myriad Pro"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727FB8-8ACB-4418-BE11-4395345AD2C4}" type="datetimeFigureOut">
              <a:rPr lang="tr-TR" smtClean="0"/>
              <a:t>21.10.2020</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B5A00-0BBF-4A06-B3A4-52CB483A57BF}" type="slidenum">
              <a:rPr lang="tr-TR" smtClean="0"/>
              <a:t>‹#›</a:t>
            </a:fld>
            <a:endParaRPr lang="tr-TR"/>
          </a:p>
        </p:txBody>
      </p:sp>
    </p:spTree>
    <p:extLst>
      <p:ext uri="{BB962C8B-B14F-4D97-AF65-F5344CB8AC3E}">
        <p14:creationId xmlns:p14="http://schemas.microsoft.com/office/powerpoint/2010/main" val="381796319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r>
              <a:rPr lang="tr-TR" dirty="0"/>
              <a:t>Bilgisayar Sistemlerine Giriş</a:t>
            </a:r>
          </a:p>
        </p:txBody>
      </p:sp>
      <p:sp>
        <p:nvSpPr>
          <p:cNvPr id="5" name="Alt Başlık 4"/>
          <p:cNvSpPr>
            <a:spLocks noGrp="1"/>
          </p:cNvSpPr>
          <p:nvPr>
            <p:ph type="subTitle" idx="1"/>
          </p:nvPr>
        </p:nvSpPr>
        <p:spPr/>
        <p:txBody>
          <a:bodyPr/>
          <a:lstStyle/>
          <a:p>
            <a:endParaRPr lang="tr-TR"/>
          </a:p>
        </p:txBody>
      </p:sp>
    </p:spTree>
    <p:extLst>
      <p:ext uri="{BB962C8B-B14F-4D97-AF65-F5344CB8AC3E}">
        <p14:creationId xmlns:p14="http://schemas.microsoft.com/office/powerpoint/2010/main" val="3782601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GİRİŞ</a:t>
            </a:r>
          </a:p>
        </p:txBody>
      </p:sp>
      <p:sp>
        <p:nvSpPr>
          <p:cNvPr id="3" name="İçerik Yer Tutucusu 2"/>
          <p:cNvSpPr>
            <a:spLocks noGrp="1"/>
          </p:cNvSpPr>
          <p:nvPr>
            <p:ph idx="1"/>
          </p:nvPr>
        </p:nvSpPr>
        <p:spPr/>
        <p:txBody>
          <a:bodyPr/>
          <a:lstStyle/>
          <a:p>
            <a:r>
              <a:rPr lang="tr-TR" dirty="0"/>
              <a:t>Donanım nedir?</a:t>
            </a:r>
          </a:p>
          <a:p>
            <a:pPr marL="0" indent="0">
              <a:buNone/>
            </a:pPr>
            <a:endParaRPr lang="tr-TR" dirty="0"/>
          </a:p>
          <a:p>
            <a:r>
              <a:rPr lang="tr-TR" dirty="0"/>
              <a:t>Yazılım Nedir?</a:t>
            </a:r>
          </a:p>
          <a:p>
            <a:endParaRPr lang="tr-TR" dirty="0"/>
          </a:p>
          <a:p>
            <a:pPr marL="457200" lvl="1" indent="0">
              <a:buNone/>
            </a:pPr>
            <a:endParaRPr lang="tr-TR" dirty="0"/>
          </a:p>
        </p:txBody>
      </p:sp>
    </p:spTree>
    <p:extLst>
      <p:ext uri="{BB962C8B-B14F-4D97-AF65-F5344CB8AC3E}">
        <p14:creationId xmlns:p14="http://schemas.microsoft.com/office/powerpoint/2010/main" val="1162432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Yazılım </a:t>
            </a:r>
          </a:p>
        </p:txBody>
      </p:sp>
      <p:sp>
        <p:nvSpPr>
          <p:cNvPr id="3" name="İçerik Yer Tutucusu 2"/>
          <p:cNvSpPr>
            <a:spLocks noGrp="1"/>
          </p:cNvSpPr>
          <p:nvPr>
            <p:ph idx="1"/>
          </p:nvPr>
        </p:nvSpPr>
        <p:spPr/>
        <p:txBody>
          <a:bodyPr>
            <a:normAutofit fontScale="85000" lnSpcReduction="20000"/>
          </a:bodyPr>
          <a:lstStyle/>
          <a:p>
            <a:r>
              <a:rPr lang="tr-TR" dirty="0"/>
              <a:t>Sorun çözümü özgü(Uygulama Yazılımları)</a:t>
            </a:r>
          </a:p>
          <a:p>
            <a:pPr lvl="1"/>
            <a:r>
              <a:rPr lang="tr-TR" dirty="0"/>
              <a:t>Hesaplamalar, aramalar, sıralamalar</a:t>
            </a:r>
          </a:p>
          <a:p>
            <a:pPr lvl="2"/>
            <a:r>
              <a:rPr lang="tr-TR" dirty="0"/>
              <a:t>Farklılık gösteren uygulamalar</a:t>
            </a:r>
          </a:p>
          <a:p>
            <a:endParaRPr lang="tr-TR" dirty="0"/>
          </a:p>
          <a:p>
            <a:r>
              <a:rPr lang="tr-TR" dirty="0"/>
              <a:t>Verilerin giriş çıkış sistemine(Sistem Yazılımları)</a:t>
            </a:r>
          </a:p>
          <a:p>
            <a:pPr lvl="1"/>
            <a:r>
              <a:rPr lang="tr-TR" dirty="0"/>
              <a:t>Donanıma bağımlı, bir bilgisayar sistemi için hep aynı (bir uygulama programının hard diskten veri okuması gibi)</a:t>
            </a:r>
          </a:p>
          <a:p>
            <a:pPr lvl="1"/>
            <a:r>
              <a:rPr lang="tr-TR" dirty="0"/>
              <a:t>Tüm donanımlar tarafından kullanılabilir </a:t>
            </a:r>
          </a:p>
          <a:p>
            <a:pPr lvl="1"/>
            <a:r>
              <a:rPr lang="tr-TR" dirty="0"/>
              <a:t>Kullanıcı donanıma özgü karmaşık ayrıntıları bilme zorunluluğu yok</a:t>
            </a:r>
          </a:p>
          <a:p>
            <a:pPr lvl="1"/>
            <a:r>
              <a:rPr lang="tr-TR" dirty="0"/>
              <a:t>Kullanımı kolay olmalı,</a:t>
            </a:r>
          </a:p>
          <a:p>
            <a:pPr marL="457200" lvl="1" indent="0">
              <a:buNone/>
            </a:pPr>
            <a:r>
              <a:rPr lang="tr-TR" dirty="0" err="1"/>
              <a:t>Örn</a:t>
            </a:r>
            <a:r>
              <a:rPr lang="tr-TR" dirty="0"/>
              <a:t>: Hard Diskten veri okuma</a:t>
            </a:r>
          </a:p>
        </p:txBody>
      </p:sp>
    </p:spTree>
    <p:extLst>
      <p:ext uri="{BB962C8B-B14F-4D97-AF65-F5344CB8AC3E}">
        <p14:creationId xmlns:p14="http://schemas.microsoft.com/office/powerpoint/2010/main" val="11823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r>
              <a:rPr lang="tr-TR" dirty="0"/>
              <a:t>Buna göre İşletim Sistemi Nedir?</a:t>
            </a:r>
          </a:p>
        </p:txBody>
      </p:sp>
    </p:spTree>
    <p:extLst>
      <p:ext uri="{BB962C8B-B14F-4D97-AF65-F5344CB8AC3E}">
        <p14:creationId xmlns:p14="http://schemas.microsoft.com/office/powerpoint/2010/main" val="2615656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Sistemi Nedir?</a:t>
            </a:r>
          </a:p>
        </p:txBody>
      </p:sp>
      <p:sp>
        <p:nvSpPr>
          <p:cNvPr id="3" name="İçerik Yer Tutucusu 2"/>
          <p:cNvSpPr>
            <a:spLocks noGrp="1"/>
          </p:cNvSpPr>
          <p:nvPr>
            <p:ph idx="1"/>
          </p:nvPr>
        </p:nvSpPr>
        <p:spPr>
          <a:xfrm>
            <a:off x="457200" y="1858963"/>
            <a:ext cx="8229600" cy="1498029"/>
          </a:xfrm>
        </p:spPr>
        <p:txBody>
          <a:bodyPr>
            <a:normAutofit fontScale="85000" lnSpcReduction="20000"/>
          </a:bodyPr>
          <a:lstStyle/>
          <a:p>
            <a:pPr marL="0" indent="0" algn="just">
              <a:buNone/>
            </a:pPr>
            <a:r>
              <a:rPr lang="tr-TR" b="0" dirty="0">
                <a:solidFill>
                  <a:srgbClr val="FF0000"/>
                </a:solidFill>
              </a:rPr>
              <a:t>İşletim sistemi, bilgisayar donanımı ile kullanıcı programları arasında yer alarak kullanıcıların bilgisayar sisteminden kolayca yararlanabilmelerini sağlayan hizmet yazılımıdır.</a:t>
            </a:r>
          </a:p>
        </p:txBody>
      </p:sp>
      <p:pic>
        <p:nvPicPr>
          <p:cNvPr id="5" name="Picture 2" descr="http://images.google.com.tr/url?q=http://www.teknoist.com/wp-content/vista.jpg&amp;usg=AFQjCNGg2-GKWp7-7ibHmPFhPgKoBNWq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808" y="4077072"/>
            <a:ext cx="2293937"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http://keakaj.com/media/visageloginshots/loginscree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1558" y="4077072"/>
            <a:ext cx="2357437"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http://burkinafasafiso.com/wp-content/uploads/2006/07/pardus.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63308" y="4077072"/>
            <a:ext cx="2357437"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391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457200" y="1858963"/>
            <a:ext cx="8229600" cy="2794173"/>
          </a:xfrm>
        </p:spPr>
        <p:txBody>
          <a:bodyPr>
            <a:normAutofit fontScale="92500" lnSpcReduction="10000"/>
          </a:bodyPr>
          <a:lstStyle/>
          <a:p>
            <a:r>
              <a:rPr lang="tr-TR" dirty="0"/>
              <a:t>Kullanıcılar bir bilgisayar sisteminden hizmet alırken donanımsal kaynakların yanı sıra yazılım nitelikli kaynaklardan da yararlanırlar. </a:t>
            </a:r>
          </a:p>
          <a:p>
            <a:pPr lvl="1"/>
            <a:r>
              <a:rPr lang="tr-TR" dirty="0"/>
              <a:t>Metin Düzenleyici</a:t>
            </a:r>
          </a:p>
          <a:p>
            <a:pPr lvl="1"/>
            <a:r>
              <a:rPr lang="tr-TR" dirty="0"/>
              <a:t>Derleyici</a:t>
            </a:r>
          </a:p>
          <a:p>
            <a:pPr lvl="1"/>
            <a:r>
              <a:rPr lang="tr-TR" dirty="0"/>
              <a:t>Yorumlayıcı</a:t>
            </a:r>
          </a:p>
        </p:txBody>
      </p:sp>
    </p:spTree>
    <p:extLst>
      <p:ext uri="{BB962C8B-B14F-4D97-AF65-F5344CB8AC3E}">
        <p14:creationId xmlns:p14="http://schemas.microsoft.com/office/powerpoint/2010/main" val="149548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r>
              <a:rPr lang="tr-TR" dirty="0"/>
              <a:t>Buna göre İşletim Sistemi Nedir?</a:t>
            </a:r>
          </a:p>
        </p:txBody>
      </p:sp>
    </p:spTree>
    <p:extLst>
      <p:ext uri="{BB962C8B-B14F-4D97-AF65-F5344CB8AC3E}">
        <p14:creationId xmlns:p14="http://schemas.microsoft.com/office/powerpoint/2010/main" val="1841104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p:txBody>
          <a:bodyPr/>
          <a:lstStyle/>
          <a:p>
            <a:r>
              <a:rPr lang="tr-TR" dirty="0"/>
              <a:t>İşletim Sistemi Nedir?</a:t>
            </a:r>
          </a:p>
        </p:txBody>
      </p:sp>
      <p:sp>
        <p:nvSpPr>
          <p:cNvPr id="3" name="İçerik Yer Tutucusu 2"/>
          <p:cNvSpPr>
            <a:spLocks noGrp="1"/>
          </p:cNvSpPr>
          <p:nvPr>
            <p:ph idx="1"/>
          </p:nvPr>
        </p:nvSpPr>
        <p:spPr>
          <a:xfrm>
            <a:off x="457200" y="1858963"/>
            <a:ext cx="8229600" cy="2218109"/>
          </a:xfrm>
        </p:spPr>
        <p:txBody>
          <a:bodyPr>
            <a:normAutofit fontScale="85000" lnSpcReduction="20000"/>
          </a:bodyPr>
          <a:lstStyle/>
          <a:p>
            <a:pPr marL="0" indent="0" algn="just">
              <a:buNone/>
            </a:pPr>
            <a:r>
              <a:rPr lang="tr-TR" b="0" dirty="0">
                <a:solidFill>
                  <a:srgbClr val="FF0000"/>
                </a:solidFill>
              </a:rPr>
              <a:t>İşletim sistemi, bilgisayar sistemini oluşturan donanım ve yazılım nitelikli kaynakları, kullanıcılar (programlar) arasında kolay, hızlı ve nitelikli bir işletim hizmetine olanak verecek biçimde paylaştırırken bu kaynakların kullanım verimliliğini en üst düzeyde tutmayı amaçlayan bir yazılım sistemidir.</a:t>
            </a:r>
          </a:p>
        </p:txBody>
      </p:sp>
    </p:spTree>
    <p:extLst>
      <p:ext uri="{BB962C8B-B14F-4D97-AF65-F5344CB8AC3E}">
        <p14:creationId xmlns:p14="http://schemas.microsoft.com/office/powerpoint/2010/main" val="17481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1"/>
          <p:cNvSpPr>
            <a:spLocks noGrp="1"/>
          </p:cNvSpPr>
          <p:nvPr>
            <p:ph type="title"/>
          </p:nvPr>
        </p:nvSpPr>
        <p:spPr/>
        <p:txBody>
          <a:bodyPr/>
          <a:lstStyle/>
          <a:p>
            <a:r>
              <a:rPr lang="tr-TR" dirty="0"/>
              <a:t>İşletim Sistemi Nedir?</a:t>
            </a:r>
          </a:p>
        </p:txBody>
      </p:sp>
      <p:sp>
        <p:nvSpPr>
          <p:cNvPr id="3" name="İçerik Yer Tutucusu 2"/>
          <p:cNvSpPr>
            <a:spLocks noGrp="1"/>
          </p:cNvSpPr>
          <p:nvPr>
            <p:ph idx="1"/>
          </p:nvPr>
        </p:nvSpPr>
        <p:spPr>
          <a:xfrm>
            <a:off x="457200" y="1858963"/>
            <a:ext cx="8229600" cy="2290117"/>
          </a:xfrm>
        </p:spPr>
        <p:txBody>
          <a:bodyPr>
            <a:normAutofit fontScale="85000" lnSpcReduction="20000"/>
          </a:bodyPr>
          <a:lstStyle/>
          <a:p>
            <a:pPr algn="just"/>
            <a:r>
              <a:rPr lang="tr-TR" b="0" dirty="0">
                <a:solidFill>
                  <a:srgbClr val="FF0000"/>
                </a:solidFill>
              </a:rPr>
              <a:t>İşletim sistemi, bilgisayar sistemini oluşturan donanım ve yazılım nitelikli kaynakları kullanıcılar (programlar) arasında kolay, hızlı ve </a:t>
            </a:r>
            <a:r>
              <a:rPr lang="tr-TR" u="sng" dirty="0">
                <a:solidFill>
                  <a:srgbClr val="FF0000"/>
                </a:solidFill>
              </a:rPr>
              <a:t>güvenli</a:t>
            </a:r>
            <a:r>
              <a:rPr lang="tr-TR" b="0" dirty="0">
                <a:solidFill>
                  <a:srgbClr val="FF0000"/>
                </a:solidFill>
              </a:rPr>
              <a:t> bir işletim hizmetine olanak verecek biçimde paylaştırırken bu kaynakların kullanım verimliliğini en üst düzeyde tutmayı amaçlayan bir yazılım sistemidir</a:t>
            </a:r>
          </a:p>
        </p:txBody>
      </p:sp>
    </p:spTree>
    <p:extLst>
      <p:ext uri="{BB962C8B-B14F-4D97-AF65-F5344CB8AC3E}">
        <p14:creationId xmlns:p14="http://schemas.microsoft.com/office/powerpoint/2010/main" val="3485190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533400"/>
            <a:ext cx="8229600" cy="807368"/>
          </a:xfrm>
        </p:spPr>
        <p:txBody>
          <a:bodyPr/>
          <a:lstStyle/>
          <a:p>
            <a:r>
              <a:rPr lang="tr-TR" sz="3200" u="sng" dirty="0"/>
              <a:t>BİLGİSAYAR SİSTEMİNİN </a:t>
            </a:r>
            <a:r>
              <a:rPr lang="tr-TR" sz="3200" dirty="0"/>
              <a:t>BİLEŞENLERİ</a:t>
            </a:r>
          </a:p>
        </p:txBody>
      </p:sp>
      <p:sp>
        <p:nvSpPr>
          <p:cNvPr id="3" name="İçerik Yer Tutucusu 2"/>
          <p:cNvSpPr>
            <a:spLocks noGrp="1"/>
          </p:cNvSpPr>
          <p:nvPr>
            <p:ph idx="1"/>
          </p:nvPr>
        </p:nvSpPr>
        <p:spPr>
          <a:xfrm>
            <a:off x="457200" y="4797153"/>
            <a:ext cx="8229600" cy="1587772"/>
          </a:xfrm>
        </p:spPr>
        <p:txBody>
          <a:bodyPr/>
          <a:lstStyle/>
          <a:p>
            <a:r>
              <a:rPr lang="tr-TR" sz="2000" dirty="0"/>
              <a:t>Uygulama Programları; </a:t>
            </a:r>
            <a:r>
              <a:rPr lang="tr-TR" sz="2000" b="0" dirty="0"/>
              <a:t>Banka Otomasyon sistemleri,  Muhasebe Programları, Ofis Yazılımları</a:t>
            </a:r>
          </a:p>
          <a:p>
            <a:r>
              <a:rPr lang="tr-TR" sz="2000" dirty="0"/>
              <a:t>Sistem Programları; </a:t>
            </a:r>
            <a:r>
              <a:rPr lang="tr-TR" sz="2000" b="0" dirty="0"/>
              <a:t>İşletim Sistemleri, Derleyiciler, Komut Yorumlayıcıları</a:t>
            </a:r>
          </a:p>
        </p:txBody>
      </p:sp>
      <p:pic>
        <p:nvPicPr>
          <p:cNvPr id="6" name="Picture 11" descr="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412776"/>
            <a:ext cx="5505450" cy="307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82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u="sng" dirty="0"/>
              <a:t>BİLGİSAYAR SİSTEMİNİN </a:t>
            </a:r>
            <a:r>
              <a:rPr lang="tr-TR" dirty="0"/>
              <a:t>BİLEŞENLERİ</a:t>
            </a:r>
          </a:p>
        </p:txBody>
      </p:sp>
      <p:pic>
        <p:nvPicPr>
          <p:cNvPr id="4" name="Picture 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71370"/>
            <a:ext cx="9144000" cy="4564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43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36638" y="168275"/>
            <a:ext cx="6919738" cy="576263"/>
          </a:xfrm>
        </p:spPr>
        <p:txBody>
          <a:bodyPr vert="horz" lIns="91440" tIns="45720" rIns="91440" bIns="45720" rtlCol="0" anchor="ctr">
            <a:normAutofit fontScale="90000"/>
          </a:bodyPr>
          <a:lstStyle/>
          <a:p>
            <a:r>
              <a:rPr lang="tr-TR" altLang="tr-TR" dirty="0"/>
              <a:t>Kullanıcı </a:t>
            </a:r>
            <a:r>
              <a:rPr lang="tr-TR" altLang="tr-TR" dirty="0" err="1"/>
              <a:t>Arayüzleri</a:t>
            </a:r>
            <a:endParaRPr lang="en-US" altLang="tr-TR" dirty="0"/>
          </a:p>
        </p:txBody>
      </p:sp>
      <p:sp>
        <p:nvSpPr>
          <p:cNvPr id="12291" name="Rectangle 3"/>
          <p:cNvSpPr>
            <a:spLocks noGrp="1" noChangeArrowheads="1"/>
          </p:cNvSpPr>
          <p:nvPr>
            <p:ph idx="1"/>
          </p:nvPr>
        </p:nvSpPr>
        <p:spPr>
          <a:xfrm>
            <a:off x="838200" y="1154113"/>
            <a:ext cx="7327900" cy="4530725"/>
          </a:xfrm>
        </p:spPr>
        <p:txBody>
          <a:bodyPr>
            <a:normAutofit fontScale="92500" lnSpcReduction="20000"/>
          </a:bodyPr>
          <a:lstStyle/>
          <a:p>
            <a:r>
              <a:rPr lang="tr-TR" altLang="tr-TR" dirty="0"/>
              <a:t>Kullanıcı dostu masaüstü (GUI)</a:t>
            </a:r>
          </a:p>
          <a:p>
            <a:pPr lvl="1"/>
            <a:r>
              <a:rPr lang="tr-TR" altLang="tr-TR" dirty="0"/>
              <a:t>Microsoft Windows (Windows GUI)</a:t>
            </a:r>
          </a:p>
          <a:p>
            <a:pPr lvl="1"/>
            <a:r>
              <a:rPr lang="tr-TR" altLang="tr-TR" dirty="0"/>
              <a:t>MAC OS(</a:t>
            </a:r>
            <a:r>
              <a:rPr lang="tr-TR" altLang="tr-TR" dirty="0" err="1"/>
              <a:t>Aqua</a:t>
            </a:r>
            <a:r>
              <a:rPr lang="tr-TR" altLang="tr-TR" dirty="0"/>
              <a:t>)</a:t>
            </a:r>
          </a:p>
          <a:p>
            <a:pPr lvl="1"/>
            <a:r>
              <a:rPr lang="tr-TR" altLang="tr-TR" dirty="0"/>
              <a:t>Linux Tabanı</a:t>
            </a:r>
          </a:p>
          <a:p>
            <a:pPr lvl="2"/>
            <a:r>
              <a:rPr lang="tr-TR" altLang="tr-TR" dirty="0"/>
              <a:t>GNOME</a:t>
            </a:r>
          </a:p>
          <a:p>
            <a:pPr lvl="2"/>
            <a:r>
              <a:rPr lang="tr-TR" altLang="tr-TR" dirty="0"/>
              <a:t>KDE</a:t>
            </a:r>
          </a:p>
          <a:p>
            <a:pPr lvl="2"/>
            <a:r>
              <a:rPr lang="tr-TR" altLang="tr-TR" dirty="0" err="1"/>
              <a:t>Xorg</a:t>
            </a:r>
            <a:endParaRPr lang="en-US" altLang="tr-TR" dirty="0"/>
          </a:p>
          <a:p>
            <a:r>
              <a:rPr lang="tr-TR" altLang="tr-TR" dirty="0"/>
              <a:t>Komut İstemci</a:t>
            </a:r>
          </a:p>
          <a:p>
            <a:pPr lvl="1"/>
            <a:r>
              <a:rPr lang="tr-TR" altLang="tr-TR" dirty="0"/>
              <a:t>Windows (</a:t>
            </a:r>
            <a:r>
              <a:rPr lang="tr-TR" altLang="tr-TR" dirty="0" err="1"/>
              <a:t>Power</a:t>
            </a:r>
            <a:r>
              <a:rPr lang="tr-TR" altLang="tr-TR" dirty="0"/>
              <a:t> Shell, DOS Komut İstemci)</a:t>
            </a:r>
          </a:p>
          <a:p>
            <a:pPr lvl="1"/>
            <a:r>
              <a:rPr lang="tr-TR" altLang="tr-TR" dirty="0"/>
              <a:t>Linux (Terminal)</a:t>
            </a:r>
          </a:p>
          <a:p>
            <a:r>
              <a:rPr lang="tr-TR" altLang="tr-TR" dirty="0"/>
              <a:t>BAT Uzantılı Dosyalar (</a:t>
            </a:r>
            <a:r>
              <a:rPr lang="tr-TR" altLang="tr-TR" dirty="0" err="1"/>
              <a:t>Batch</a:t>
            </a:r>
            <a:r>
              <a:rPr lang="tr-TR" altLang="tr-TR" dirty="0"/>
              <a:t> File)</a:t>
            </a:r>
            <a:endParaRPr lang="en-US" altLang="tr-TR" dirty="0"/>
          </a:p>
          <a:p>
            <a:pPr lvl="1"/>
            <a:endParaRPr lang="en-US" altLang="tr-TR" dirty="0"/>
          </a:p>
        </p:txBody>
      </p:sp>
    </p:spTree>
    <p:extLst>
      <p:ext uri="{BB962C8B-B14F-4D97-AF65-F5344CB8AC3E}">
        <p14:creationId xmlns:p14="http://schemas.microsoft.com/office/powerpoint/2010/main" val="3092978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22325" y="182563"/>
            <a:ext cx="8229600" cy="576262"/>
          </a:xfrm>
        </p:spPr>
        <p:txBody>
          <a:bodyPr/>
          <a:lstStyle/>
          <a:p>
            <a:pPr eaLnBrk="1" hangingPunct="1"/>
            <a:r>
              <a:rPr lang="tr-TR" altLang="tr-TR" sz="3000" dirty="0"/>
              <a:t>Dokunmatik ekran </a:t>
            </a:r>
            <a:r>
              <a:rPr lang="tr-TR" altLang="tr-TR" sz="3000" dirty="0" err="1"/>
              <a:t>Arayüzü</a:t>
            </a:r>
            <a:endParaRPr lang="en-US" altLang="tr-TR" sz="3000" dirty="0"/>
          </a:p>
        </p:txBody>
      </p:sp>
      <p:sp>
        <p:nvSpPr>
          <p:cNvPr id="11267" name="Rectangle 3"/>
          <p:cNvSpPr>
            <a:spLocks noGrp="1" noChangeArrowheads="1"/>
          </p:cNvSpPr>
          <p:nvPr>
            <p:ph idx="1"/>
          </p:nvPr>
        </p:nvSpPr>
        <p:spPr>
          <a:xfrm>
            <a:off x="806450" y="1233488"/>
            <a:ext cx="4121150" cy="4530725"/>
          </a:xfrm>
        </p:spPr>
        <p:txBody>
          <a:bodyPr/>
          <a:lstStyle/>
          <a:p>
            <a:pPr marL="0" indent="0">
              <a:buFont typeface="Monotype Sorts" charset="0"/>
              <a:buNone/>
              <a:defRPr/>
            </a:pPr>
            <a:endParaRPr lang="en-US" dirty="0">
              <a:ea typeface="ＭＳ Ｐゴシック" charset="0"/>
            </a:endParaRPr>
          </a:p>
          <a:p>
            <a:pPr lvl="1">
              <a:buFont typeface="Monotype Sorts" charset="0"/>
              <a:buChar char="l"/>
              <a:defRPr/>
            </a:pPr>
            <a:endParaRPr lang="en-US" dirty="0">
              <a:ea typeface="ＭＳ Ｐゴシック" charset="0"/>
            </a:endParaRPr>
          </a:p>
        </p:txBody>
      </p:sp>
      <p:pic>
        <p:nvPicPr>
          <p:cNvPr id="13316" name="Picture 3" descr="ipad.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776" y="1157610"/>
            <a:ext cx="3441700"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4278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198438"/>
            <a:ext cx="8229600" cy="576262"/>
          </a:xfrm>
        </p:spPr>
        <p:txBody>
          <a:bodyPr>
            <a:normAutofit fontScale="90000"/>
          </a:bodyPr>
          <a:lstStyle/>
          <a:p>
            <a:pPr eaLnBrk="1" hangingPunct="1"/>
            <a:r>
              <a:rPr lang="en-US" altLang="tr-TR"/>
              <a:t>The Mac OS X GUI</a:t>
            </a:r>
          </a:p>
        </p:txBody>
      </p:sp>
      <p:pic>
        <p:nvPicPr>
          <p:cNvPr id="14339"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2388" y="1274763"/>
            <a:ext cx="6410325"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484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Sistemi</a:t>
            </a:r>
          </a:p>
        </p:txBody>
      </p:sp>
      <p:sp>
        <p:nvSpPr>
          <p:cNvPr id="3" name="İçerik Yer Tutucusu 2"/>
          <p:cNvSpPr>
            <a:spLocks noGrp="1"/>
          </p:cNvSpPr>
          <p:nvPr>
            <p:ph idx="1"/>
          </p:nvPr>
        </p:nvSpPr>
        <p:spPr/>
        <p:txBody>
          <a:bodyPr/>
          <a:lstStyle/>
          <a:p>
            <a:r>
              <a:rPr lang="tr-TR" dirty="0"/>
              <a:t>Güncel işletim sistemleri doğrudan donanıma erişmeyi engeller.(Koruma)</a:t>
            </a:r>
          </a:p>
          <a:p>
            <a:pPr lvl="1"/>
            <a:r>
              <a:rPr lang="tr-TR" dirty="0"/>
              <a:t>kullanıcı </a:t>
            </a:r>
            <a:r>
              <a:rPr lang="tr-TR" dirty="0" err="1"/>
              <a:t>modu</a:t>
            </a:r>
            <a:r>
              <a:rPr lang="tr-TR" dirty="0"/>
              <a:t> × çekirdek </a:t>
            </a:r>
            <a:r>
              <a:rPr lang="tr-TR" dirty="0" err="1"/>
              <a:t>modu</a:t>
            </a:r>
            <a:endParaRPr lang="tr-TR" dirty="0"/>
          </a:p>
          <a:p>
            <a:r>
              <a:rPr lang="tr-TR" dirty="0"/>
              <a:t>Donanımın doğrudan kullanımının zorluklarını gizler.</a:t>
            </a:r>
          </a:p>
          <a:p>
            <a:r>
              <a:rPr lang="tr-TR" dirty="0"/>
              <a:t>Kullanıcı ve donanım arasında </a:t>
            </a:r>
            <a:r>
              <a:rPr lang="tr-TR" dirty="0" err="1"/>
              <a:t>arayüz</a:t>
            </a:r>
            <a:endParaRPr lang="tr-TR" dirty="0"/>
          </a:p>
          <a:p>
            <a:pPr lvl="1"/>
            <a:r>
              <a:rPr lang="tr-TR" dirty="0"/>
              <a:t>sistem çağrıları</a:t>
            </a:r>
          </a:p>
        </p:txBody>
      </p:sp>
    </p:spTree>
    <p:extLst>
      <p:ext uri="{BB962C8B-B14F-4D97-AF65-F5344CB8AC3E}">
        <p14:creationId xmlns:p14="http://schemas.microsoft.com/office/powerpoint/2010/main" val="1687666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18070" y="332656"/>
            <a:ext cx="8229600" cy="576263"/>
          </a:xfrm>
        </p:spPr>
        <p:txBody>
          <a:bodyPr>
            <a:normAutofit fontScale="90000"/>
          </a:bodyPr>
          <a:lstStyle/>
          <a:p>
            <a:pPr eaLnBrk="1" hangingPunct="1"/>
            <a:r>
              <a:rPr lang="tr-TR" altLang="tr-TR" dirty="0"/>
              <a:t>Sistem Çağrıları</a:t>
            </a:r>
            <a:endParaRPr lang="en-US" altLang="tr-TR" dirty="0"/>
          </a:p>
        </p:txBody>
      </p:sp>
      <p:sp>
        <p:nvSpPr>
          <p:cNvPr id="15363" name="Rectangle 3"/>
          <p:cNvSpPr>
            <a:spLocks noGrp="1" noChangeArrowheads="1"/>
          </p:cNvSpPr>
          <p:nvPr>
            <p:ph idx="1"/>
          </p:nvPr>
        </p:nvSpPr>
        <p:spPr>
          <a:xfrm>
            <a:off x="949325" y="1106488"/>
            <a:ext cx="7367091" cy="2646362"/>
          </a:xfrm>
        </p:spPr>
        <p:txBody>
          <a:bodyPr>
            <a:noAutofit/>
          </a:bodyPr>
          <a:lstStyle/>
          <a:p>
            <a:pPr>
              <a:lnSpc>
                <a:spcPct val="90000"/>
              </a:lnSpc>
            </a:pPr>
            <a:r>
              <a:rPr lang="tr-TR" altLang="tr-TR" sz="2800" dirty="0"/>
              <a:t>Programlama </a:t>
            </a:r>
            <a:r>
              <a:rPr lang="tr-TR" altLang="tr-TR" sz="2800" dirty="0" err="1"/>
              <a:t>arayüzü</a:t>
            </a:r>
            <a:r>
              <a:rPr lang="tr-TR" altLang="tr-TR" sz="2800" dirty="0"/>
              <a:t> işletim sistemi tarafından sağlanan hizmetlerle erişimi gerçekleştirir.</a:t>
            </a:r>
            <a:endParaRPr lang="en-US" altLang="tr-TR" sz="700" dirty="0"/>
          </a:p>
          <a:p>
            <a:pPr>
              <a:lnSpc>
                <a:spcPct val="90000"/>
              </a:lnSpc>
            </a:pPr>
            <a:r>
              <a:rPr lang="tr-TR" sz="2800" dirty="0"/>
              <a:t>Tipik bir üst düzey dilde yazılmış</a:t>
            </a:r>
            <a:r>
              <a:rPr lang="en-US" altLang="tr-TR" sz="2800" dirty="0"/>
              <a:t> (C or C++)</a:t>
            </a:r>
            <a:endParaRPr lang="en-US" altLang="tr-TR" sz="700" dirty="0"/>
          </a:p>
          <a:p>
            <a:pPr>
              <a:lnSpc>
                <a:spcPct val="90000"/>
              </a:lnSpc>
            </a:pPr>
            <a:r>
              <a:rPr lang="tr-TR" altLang="tr-TR" sz="2800" dirty="0"/>
              <a:t>Çoğunlukla direkt olarak sistem çağrıları yüksek seviyeli </a:t>
            </a:r>
            <a:r>
              <a:rPr lang="en-US" altLang="tr-TR" sz="2800" b="1" dirty="0">
                <a:solidFill>
                  <a:srgbClr val="3366FF"/>
                </a:solidFill>
              </a:rPr>
              <a:t>Application Programming Interface </a:t>
            </a:r>
            <a:r>
              <a:rPr lang="en-US" altLang="tr-TR" sz="2800" b="1" dirty="0">
                <a:solidFill>
                  <a:srgbClr val="000000"/>
                </a:solidFill>
              </a:rPr>
              <a:t>(</a:t>
            </a:r>
            <a:r>
              <a:rPr lang="en-US" altLang="tr-TR" sz="2800" b="1" dirty="0">
                <a:solidFill>
                  <a:srgbClr val="3366FF"/>
                </a:solidFill>
              </a:rPr>
              <a:t>API</a:t>
            </a:r>
            <a:r>
              <a:rPr lang="en-US" altLang="tr-TR" sz="2800" b="1" dirty="0">
                <a:solidFill>
                  <a:srgbClr val="000000"/>
                </a:solidFill>
              </a:rPr>
              <a:t>)</a:t>
            </a:r>
            <a:r>
              <a:rPr lang="en-US" altLang="tr-TR" sz="2800" dirty="0">
                <a:solidFill>
                  <a:srgbClr val="3366FF"/>
                </a:solidFill>
              </a:rPr>
              <a:t> </a:t>
            </a:r>
            <a:r>
              <a:rPr lang="tr-TR" altLang="tr-TR" sz="2800" dirty="0" err="1"/>
              <a:t>ler</a:t>
            </a:r>
            <a:r>
              <a:rPr lang="tr-TR" altLang="tr-TR" sz="2800" dirty="0"/>
              <a:t> ile erişilir.</a:t>
            </a:r>
            <a:endParaRPr lang="en-US" altLang="tr-TR" sz="2800" dirty="0"/>
          </a:p>
          <a:p>
            <a:pPr>
              <a:lnSpc>
                <a:spcPct val="90000"/>
              </a:lnSpc>
            </a:pPr>
            <a:r>
              <a:rPr lang="tr-TR" altLang="tr-TR" sz="2800" dirty="0"/>
              <a:t>Üç önemli API vardır .</a:t>
            </a:r>
          </a:p>
          <a:p>
            <a:pPr lvl="1">
              <a:lnSpc>
                <a:spcPct val="90000"/>
              </a:lnSpc>
            </a:pPr>
            <a:r>
              <a:rPr lang="en-US" altLang="tr-TR" sz="2400" dirty="0"/>
              <a:t>Win32 API </a:t>
            </a:r>
            <a:r>
              <a:rPr lang="tr-TR" altLang="tr-TR" sz="2400" dirty="0"/>
              <a:t>-</a:t>
            </a:r>
            <a:r>
              <a:rPr lang="en-US" altLang="tr-TR" sz="2400" dirty="0"/>
              <a:t> Windows, </a:t>
            </a:r>
            <a:endParaRPr lang="tr-TR" altLang="tr-TR" sz="2400" dirty="0"/>
          </a:p>
          <a:p>
            <a:pPr lvl="1">
              <a:lnSpc>
                <a:spcPct val="90000"/>
              </a:lnSpc>
            </a:pPr>
            <a:r>
              <a:rPr lang="en-US" altLang="tr-TR" sz="2400" dirty="0"/>
              <a:t>POSIX </a:t>
            </a:r>
            <a:r>
              <a:rPr lang="tr-TR" altLang="tr-TR" sz="2400" dirty="0"/>
              <a:t>sistem çağrıları - </a:t>
            </a:r>
            <a:r>
              <a:rPr lang="en-US" altLang="tr-TR" sz="2400" dirty="0"/>
              <a:t>POSIX-</a:t>
            </a:r>
            <a:r>
              <a:rPr lang="tr-TR" altLang="tr-TR" sz="2400" dirty="0"/>
              <a:t>tabanlı sistemler için</a:t>
            </a:r>
            <a:r>
              <a:rPr lang="en-US" altLang="tr-TR" sz="2400" dirty="0"/>
              <a:t> </a:t>
            </a:r>
            <a:r>
              <a:rPr lang="tr-TR" altLang="tr-TR" sz="2400" dirty="0"/>
              <a:t>(</a:t>
            </a:r>
            <a:r>
              <a:rPr lang="en-US" altLang="tr-TR" sz="2400" dirty="0"/>
              <a:t>UNIX, Linux</a:t>
            </a:r>
            <a:r>
              <a:rPr lang="tr-TR" altLang="tr-TR" sz="2400" dirty="0"/>
              <a:t> ve</a:t>
            </a:r>
            <a:r>
              <a:rPr lang="en-US" altLang="tr-TR" sz="2400" dirty="0"/>
              <a:t> Mac OS X</a:t>
            </a:r>
            <a:r>
              <a:rPr lang="tr-TR" altLang="tr-TR" sz="2400" dirty="0"/>
              <a:t> tüm sistemleri için</a:t>
            </a:r>
            <a:r>
              <a:rPr lang="en-US" altLang="tr-TR" sz="2400" dirty="0"/>
              <a:t>)</a:t>
            </a:r>
            <a:r>
              <a:rPr lang="tr-TR" altLang="tr-TR" sz="2400" dirty="0"/>
              <a:t> </a:t>
            </a:r>
            <a:r>
              <a:rPr lang="en-US" altLang="tr-TR" sz="2400" dirty="0"/>
              <a:t> </a:t>
            </a:r>
            <a:endParaRPr lang="tr-TR" altLang="tr-TR" sz="2400" dirty="0"/>
          </a:p>
          <a:p>
            <a:pPr lvl="1">
              <a:lnSpc>
                <a:spcPct val="90000"/>
              </a:lnSpc>
            </a:pPr>
            <a:r>
              <a:rPr lang="en-US" altLang="tr-TR" sz="2400" dirty="0"/>
              <a:t>Java API for the Java virtual machine (JVM)</a:t>
            </a:r>
          </a:p>
        </p:txBody>
      </p:sp>
    </p:spTree>
    <p:extLst>
      <p:ext uri="{BB962C8B-B14F-4D97-AF65-F5344CB8AC3E}">
        <p14:creationId xmlns:p14="http://schemas.microsoft.com/office/powerpoint/2010/main" val="679904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Sisteminin Fonksiyonları</a:t>
            </a:r>
          </a:p>
        </p:txBody>
      </p:sp>
      <p:sp>
        <p:nvSpPr>
          <p:cNvPr id="3" name="İçerik Yer Tutucusu 2"/>
          <p:cNvSpPr>
            <a:spLocks noGrp="1"/>
          </p:cNvSpPr>
          <p:nvPr>
            <p:ph idx="1"/>
          </p:nvPr>
        </p:nvSpPr>
        <p:spPr/>
        <p:txBody>
          <a:bodyPr>
            <a:normAutofit fontScale="92500" lnSpcReduction="20000"/>
          </a:bodyPr>
          <a:lstStyle/>
          <a:p>
            <a:r>
              <a:rPr lang="tr-TR" b="0" dirty="0"/>
              <a:t>Sistem üzerindeki işleri sıra </a:t>
            </a:r>
            <a:r>
              <a:rPr lang="tr-TR" b="0" dirty="0" err="1"/>
              <a:t>düzensel</a:t>
            </a:r>
            <a:r>
              <a:rPr lang="tr-TR" b="0" dirty="0"/>
              <a:t> olarak yerine getirmelidir.</a:t>
            </a:r>
          </a:p>
          <a:p>
            <a:endParaRPr lang="tr-TR" b="0" dirty="0"/>
          </a:p>
          <a:p>
            <a:r>
              <a:rPr lang="tr-TR" b="0" dirty="0"/>
              <a:t>Veriler üzerinde hata denetimlerini gerçekleştirir. </a:t>
            </a:r>
          </a:p>
          <a:p>
            <a:endParaRPr lang="tr-TR" b="0" dirty="0"/>
          </a:p>
          <a:p>
            <a:r>
              <a:rPr lang="tr-TR" b="0" dirty="0"/>
              <a:t>Depolama aygıtları veya dış dünya ile olan Giriş/Çıkış işlemlerinde ilgili işi sonuçlandırmalıdır.</a:t>
            </a:r>
          </a:p>
          <a:p>
            <a:endParaRPr lang="tr-TR" b="0" dirty="0"/>
          </a:p>
          <a:p>
            <a:r>
              <a:rPr lang="tr-TR" b="0" dirty="0"/>
              <a:t>Programcı tarafından gerçekleştirilen kesmelerin gereklerini yerine getirebilmelidir.</a:t>
            </a:r>
            <a:endParaRPr lang="tr-TR" dirty="0"/>
          </a:p>
        </p:txBody>
      </p:sp>
    </p:spTree>
    <p:extLst>
      <p:ext uri="{BB962C8B-B14F-4D97-AF65-F5344CB8AC3E}">
        <p14:creationId xmlns:p14="http://schemas.microsoft.com/office/powerpoint/2010/main" val="83614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p:txBody>
          <a:bodyPr/>
          <a:lstStyle/>
          <a:p>
            <a:r>
              <a:rPr lang="tr-TR" dirty="0"/>
              <a:t>İşletim Sisteminin Fonksiyonları</a:t>
            </a:r>
          </a:p>
        </p:txBody>
      </p:sp>
      <p:sp>
        <p:nvSpPr>
          <p:cNvPr id="3" name="İçerik Yer Tutucusu 2"/>
          <p:cNvSpPr>
            <a:spLocks noGrp="1"/>
          </p:cNvSpPr>
          <p:nvPr>
            <p:ph idx="1"/>
          </p:nvPr>
        </p:nvSpPr>
        <p:spPr>
          <a:xfrm>
            <a:off x="457200" y="1556792"/>
            <a:ext cx="8229600" cy="4525962"/>
          </a:xfrm>
        </p:spPr>
        <p:txBody>
          <a:bodyPr>
            <a:normAutofit fontScale="77500" lnSpcReduction="20000"/>
          </a:bodyPr>
          <a:lstStyle/>
          <a:p>
            <a:endParaRPr lang="tr-TR" b="0" dirty="0"/>
          </a:p>
          <a:p>
            <a:r>
              <a:rPr lang="tr-TR" b="0" dirty="0"/>
              <a:t>Sistem üzerinde çalışan programları bir öncelik sıralamasına koymalıdır. </a:t>
            </a:r>
          </a:p>
          <a:p>
            <a:endParaRPr lang="tr-TR" b="0" dirty="0"/>
          </a:p>
          <a:p>
            <a:r>
              <a:rPr lang="tr-TR" b="0" dirty="0"/>
              <a:t>Donanımsal kaynakları devamlı olarak kontrol altında bulundurmalıdır.</a:t>
            </a:r>
          </a:p>
          <a:p>
            <a:endParaRPr lang="tr-TR" b="0" dirty="0"/>
          </a:p>
          <a:p>
            <a:r>
              <a:rPr lang="tr-TR" b="0" dirty="0"/>
              <a:t>Sistem üzerindeki kullanıcıların birbirlerine müdahale etmesine engel olmalıdır.</a:t>
            </a:r>
          </a:p>
          <a:p>
            <a:endParaRPr lang="tr-TR" b="0" dirty="0"/>
          </a:p>
          <a:p>
            <a:r>
              <a:rPr lang="tr-TR" b="0" dirty="0"/>
              <a:t>Kullanıcının kolaylıkla algılayabileceği bir </a:t>
            </a:r>
            <a:r>
              <a:rPr lang="tr-TR" b="0" dirty="0" err="1"/>
              <a:t>arayüzü</a:t>
            </a:r>
            <a:r>
              <a:rPr lang="tr-TR" b="0" dirty="0"/>
              <a:t> olmalıdır.</a:t>
            </a:r>
            <a:endParaRPr lang="tr-TR" dirty="0"/>
          </a:p>
        </p:txBody>
      </p:sp>
    </p:spTree>
    <p:extLst>
      <p:ext uri="{BB962C8B-B14F-4D97-AF65-F5344CB8AC3E}">
        <p14:creationId xmlns:p14="http://schemas.microsoft.com/office/powerpoint/2010/main" val="2723523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p:txBody>
          <a:bodyPr/>
          <a:lstStyle/>
          <a:p>
            <a:r>
              <a:rPr lang="tr-TR" dirty="0"/>
              <a:t>İşletim Sisteminin Fonksiyonları</a:t>
            </a:r>
          </a:p>
        </p:txBody>
      </p:sp>
      <p:sp>
        <p:nvSpPr>
          <p:cNvPr id="3" name="İçerik Yer Tutucusu 2"/>
          <p:cNvSpPr>
            <a:spLocks noGrp="1"/>
          </p:cNvSpPr>
          <p:nvPr>
            <p:ph idx="1"/>
          </p:nvPr>
        </p:nvSpPr>
        <p:spPr/>
        <p:txBody>
          <a:bodyPr>
            <a:normAutofit fontScale="85000" lnSpcReduction="20000"/>
          </a:bodyPr>
          <a:lstStyle/>
          <a:p>
            <a:r>
              <a:rPr lang="tr-TR" b="0" dirty="0"/>
              <a:t>Kullanıcılar arasında donanımın paylaşımlı olarak kullanılmasını sağlar.</a:t>
            </a:r>
          </a:p>
          <a:p>
            <a:endParaRPr lang="tr-TR" b="0" dirty="0"/>
          </a:p>
          <a:p>
            <a:r>
              <a:rPr lang="tr-TR" b="0" dirty="0"/>
              <a:t>Kullanıcıların programları ve veriyi paylaşmasını sağlar.</a:t>
            </a:r>
          </a:p>
          <a:p>
            <a:endParaRPr lang="tr-TR" b="0" dirty="0"/>
          </a:p>
          <a:p>
            <a:r>
              <a:rPr lang="tr-TR" b="0" dirty="0"/>
              <a:t>Kullanıcıların verilerini korumalarını sağlar.</a:t>
            </a:r>
          </a:p>
          <a:p>
            <a:endParaRPr lang="tr-TR" b="0" dirty="0"/>
          </a:p>
          <a:p>
            <a:r>
              <a:rPr lang="tr-TR" b="0" dirty="0"/>
              <a:t>Kaynakların kullanımını programlar.</a:t>
            </a:r>
          </a:p>
          <a:p>
            <a:endParaRPr lang="tr-TR" b="0" dirty="0"/>
          </a:p>
          <a:p>
            <a:r>
              <a:rPr lang="tr-TR" b="0" dirty="0"/>
              <a:t>Disk veya dış ortamla olan Giriş/ Çıkış işlemlerini düzenler.</a:t>
            </a:r>
            <a:endParaRPr lang="tr-TR" dirty="0"/>
          </a:p>
        </p:txBody>
      </p:sp>
    </p:spTree>
    <p:extLst>
      <p:ext uri="{BB962C8B-B14F-4D97-AF65-F5344CB8AC3E}">
        <p14:creationId xmlns:p14="http://schemas.microsoft.com/office/powerpoint/2010/main" val="1728580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z="3600" dirty="0"/>
              <a:t>Bir İşletim Sisteminden Beklenenler</a:t>
            </a:r>
          </a:p>
        </p:txBody>
      </p:sp>
      <p:sp>
        <p:nvSpPr>
          <p:cNvPr id="3" name="İçerik Yer Tutucusu 2"/>
          <p:cNvSpPr>
            <a:spLocks noGrp="1"/>
          </p:cNvSpPr>
          <p:nvPr>
            <p:ph idx="1"/>
          </p:nvPr>
        </p:nvSpPr>
        <p:spPr>
          <a:xfrm>
            <a:off x="457200" y="1556792"/>
            <a:ext cx="8229600" cy="4525962"/>
          </a:xfrm>
        </p:spPr>
        <p:txBody>
          <a:bodyPr>
            <a:normAutofit fontScale="85000" lnSpcReduction="20000"/>
          </a:bodyPr>
          <a:lstStyle/>
          <a:p>
            <a:r>
              <a:rPr lang="tr-TR" b="0" dirty="0"/>
              <a:t>Etkin olmalıdır.</a:t>
            </a:r>
          </a:p>
          <a:p>
            <a:pPr marL="0" indent="0">
              <a:buNone/>
            </a:pPr>
            <a:endParaRPr lang="tr-TR" sz="800" b="0" dirty="0"/>
          </a:p>
          <a:p>
            <a:r>
              <a:rPr lang="tr-TR" b="0" dirty="0"/>
              <a:t>Bir görevden diğer bir göreve geçiş süresi kısa olmalıdır.</a:t>
            </a:r>
          </a:p>
          <a:p>
            <a:pPr marL="0" indent="0">
              <a:buNone/>
            </a:pPr>
            <a:endParaRPr lang="tr-TR" sz="800" b="0" dirty="0"/>
          </a:p>
          <a:p>
            <a:r>
              <a:rPr lang="tr-TR" b="0" dirty="0"/>
              <a:t>Hızlı cevap verebilmelidir.</a:t>
            </a:r>
          </a:p>
          <a:p>
            <a:endParaRPr lang="tr-TR" sz="800" b="0" dirty="0"/>
          </a:p>
          <a:p>
            <a:r>
              <a:rPr lang="tr-TR" b="0" dirty="0"/>
              <a:t>Hatalara karşı güvenilir olmalıdır.</a:t>
            </a:r>
          </a:p>
          <a:p>
            <a:endParaRPr lang="tr-TR" sz="800" b="0" dirty="0"/>
          </a:p>
          <a:p>
            <a:r>
              <a:rPr lang="tr-TR" b="0" dirty="0"/>
              <a:t>Sistem daha sonra da kullanılabilmeye imkan verecek şekilde sürekli olmalıdır.</a:t>
            </a:r>
          </a:p>
          <a:p>
            <a:endParaRPr lang="tr-TR" sz="800" b="0" dirty="0"/>
          </a:p>
          <a:p>
            <a:r>
              <a:rPr lang="tr-TR" b="0" dirty="0"/>
              <a:t>Kolay bir şekilde yönetilebilir olmalıdır.</a:t>
            </a:r>
          </a:p>
          <a:p>
            <a:endParaRPr lang="tr-TR" sz="1050" b="0" dirty="0"/>
          </a:p>
          <a:p>
            <a:r>
              <a:rPr lang="tr-TR" b="0" dirty="0"/>
              <a:t>Dışarıdan yapılacak izinsiz müdahalelere karşı güvenilir olmalıdır.</a:t>
            </a:r>
          </a:p>
        </p:txBody>
      </p:sp>
    </p:spTree>
    <p:extLst>
      <p:ext uri="{BB962C8B-B14F-4D97-AF65-F5344CB8AC3E}">
        <p14:creationId xmlns:p14="http://schemas.microsoft.com/office/powerpoint/2010/main" val="3177121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529630" y="397098"/>
            <a:ext cx="8229600" cy="735360"/>
          </a:xfrm>
        </p:spPr>
        <p:txBody>
          <a:bodyPr/>
          <a:lstStyle/>
          <a:p>
            <a:r>
              <a:rPr lang="tr-TR" sz="3600" dirty="0"/>
              <a:t>Bilgisayar Sistemleri Tarihçesi</a:t>
            </a:r>
          </a:p>
        </p:txBody>
      </p:sp>
      <p:sp>
        <p:nvSpPr>
          <p:cNvPr id="3" name="İçerik Yer Tutucusu 2"/>
          <p:cNvSpPr>
            <a:spLocks noGrp="1"/>
          </p:cNvSpPr>
          <p:nvPr>
            <p:ph idx="1"/>
          </p:nvPr>
        </p:nvSpPr>
        <p:spPr>
          <a:xfrm>
            <a:off x="539552" y="1135286"/>
            <a:ext cx="8229600" cy="4525962"/>
          </a:xfrm>
        </p:spPr>
        <p:txBody>
          <a:bodyPr/>
          <a:lstStyle/>
          <a:p>
            <a:r>
              <a:rPr lang="tr-TR" sz="2000" dirty="0"/>
              <a:t>1. Nesil (1945 - 1955) (UNIVAC, ENIAC)</a:t>
            </a:r>
          </a:p>
          <a:p>
            <a:pPr lvl="1"/>
            <a:r>
              <a:rPr lang="en-US" sz="2000" dirty="0" err="1"/>
              <a:t>Va</a:t>
            </a:r>
            <a:r>
              <a:rPr lang="tr-TR" sz="2000" dirty="0"/>
              <a:t>k</a:t>
            </a:r>
            <a:r>
              <a:rPr lang="en-US" sz="2000" dirty="0"/>
              <a:t>u</a:t>
            </a:r>
            <a:r>
              <a:rPr lang="tr-TR" sz="2000" dirty="0"/>
              <a:t>m Tüpleri</a:t>
            </a:r>
            <a:endParaRPr lang="en-US" sz="2000" dirty="0"/>
          </a:p>
          <a:p>
            <a:pPr lvl="1"/>
            <a:r>
              <a:rPr lang="tr-TR" sz="2000" dirty="0"/>
              <a:t>İşletim Sistemi yoktur.</a:t>
            </a:r>
          </a:p>
          <a:p>
            <a:pPr lvl="1"/>
            <a:r>
              <a:rPr lang="tr-TR" sz="2000" dirty="0"/>
              <a:t>Programlama bir kablolu kart üzerinde yapılırdı.</a:t>
            </a:r>
          </a:p>
          <a:p>
            <a:pPr lvl="1"/>
            <a:r>
              <a:rPr lang="tr-TR" sz="2000" dirty="0"/>
              <a:t>Uygulamalar çoğunlukla sayısal hesaplama üzerinde yapılırdı. (yörünge hesaplamaları, sinüs hesaplamaları vs.)</a:t>
            </a:r>
            <a:endParaRPr lang="en-US" sz="2000" dirty="0"/>
          </a:p>
          <a:p>
            <a:pPr marL="457200" lvl="1" indent="0">
              <a:buNone/>
            </a:pPr>
            <a:endParaRPr lang="tr-TR" sz="2000" dirty="0"/>
          </a:p>
        </p:txBody>
      </p:sp>
      <p:pic>
        <p:nvPicPr>
          <p:cNvPr id="1026" name="Picture 2" descr="http://www-03.ibm.com/ibm/history/ibm100/images/icp/E470631I02857T92/us__en_us__ibm100__603calc__603_vacuum__620x3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344366"/>
            <a:ext cx="5905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137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sz="2000" dirty="0"/>
              <a:t>2. Nesil (</a:t>
            </a:r>
            <a:r>
              <a:rPr lang="en-US" sz="2000" dirty="0"/>
              <a:t>1955 – 1965)</a:t>
            </a:r>
          </a:p>
          <a:p>
            <a:pPr lvl="1"/>
            <a:r>
              <a:rPr lang="en-US" sz="2000" dirty="0"/>
              <a:t>Trans</a:t>
            </a:r>
            <a:r>
              <a:rPr lang="tr-TR" sz="2000" dirty="0" err="1"/>
              <a:t>istörler</a:t>
            </a:r>
            <a:endParaRPr lang="tr-TR" sz="2000" dirty="0"/>
          </a:p>
          <a:p>
            <a:pPr lvl="1"/>
            <a:r>
              <a:rPr lang="tr-TR" sz="2000" dirty="0"/>
              <a:t>Ticari olarak üretilen bilgisayarlar</a:t>
            </a:r>
          </a:p>
          <a:p>
            <a:pPr lvl="1"/>
            <a:r>
              <a:rPr lang="tr-TR" sz="2000" dirty="0"/>
              <a:t>PC </a:t>
            </a:r>
            <a:r>
              <a:rPr lang="tr-TR" sz="2000" dirty="0" err="1"/>
              <a:t>lerle</a:t>
            </a:r>
            <a:r>
              <a:rPr lang="tr-TR" sz="2000" dirty="0"/>
              <a:t> karşılaştırıldığında çok pahalı ve çok yavaş bilgisayarlar.</a:t>
            </a:r>
          </a:p>
          <a:p>
            <a:pPr lvl="1"/>
            <a:r>
              <a:rPr lang="tr-TR" sz="2000" dirty="0"/>
              <a:t>Toplu işlem (Tek seferde çalıştırma, iş toplama, çıkışta hepsini yazdırma) (</a:t>
            </a:r>
            <a:r>
              <a:rPr lang="tr-TR" sz="2000" dirty="0" err="1"/>
              <a:t>Batch</a:t>
            </a:r>
            <a:r>
              <a:rPr lang="tr-TR" sz="2000" dirty="0"/>
              <a:t> File- Toplu iş dosyası)</a:t>
            </a:r>
          </a:p>
          <a:p>
            <a:pPr lvl="1"/>
            <a:r>
              <a:rPr lang="tr-TR" sz="2000" dirty="0"/>
              <a:t>Kuyruk (Online çevre birimi işletimi)</a:t>
            </a:r>
          </a:p>
          <a:p>
            <a:pPr lvl="2"/>
            <a:r>
              <a:rPr lang="tr-TR" sz="1800" b="1" dirty="0"/>
              <a:t>Çevrimiçi kuyruk</a:t>
            </a:r>
          </a:p>
          <a:p>
            <a:pPr lvl="2"/>
            <a:r>
              <a:rPr lang="tr-TR" sz="1800" b="1" dirty="0"/>
              <a:t>Çevrimdışı kuyruk</a:t>
            </a:r>
            <a:r>
              <a:rPr lang="tr-TR" sz="1800" dirty="0"/>
              <a:t>: Ana sistem, Sunucu bilgisayarlarla, yavaş G/Ç aygıtlarının yerine koyar ki bu makineleri G/Ç aygıtı olarak görür.</a:t>
            </a:r>
          </a:p>
          <a:p>
            <a:pPr lvl="1"/>
            <a:r>
              <a:rPr lang="tr-TR" sz="2000" dirty="0"/>
              <a:t>Uygulamalar genellikle bilimsel ve mühendislik hesaplamalarına dayalıdır.</a:t>
            </a:r>
          </a:p>
          <a:p>
            <a:pPr lvl="1"/>
            <a:r>
              <a:rPr lang="tr-TR" sz="2000" dirty="0"/>
              <a:t>FORTRAN ve COBOL gibi yüksek seviyeli diller kullanılırdı.</a:t>
            </a:r>
          </a:p>
          <a:p>
            <a:pPr lvl="2"/>
            <a:endParaRPr lang="tr-TR" sz="1800" dirty="0"/>
          </a:p>
        </p:txBody>
      </p:sp>
      <p:sp>
        <p:nvSpPr>
          <p:cNvPr id="5" name="Başlık 1"/>
          <p:cNvSpPr txBox="1">
            <a:spLocks/>
          </p:cNvSpPr>
          <p:nvPr/>
        </p:nvSpPr>
        <p:spPr bwMode="auto">
          <a:xfrm>
            <a:off x="539552" y="188640"/>
            <a:ext cx="8229600" cy="1143000"/>
          </a:xfrm>
          <a:prstGeom prst="rect">
            <a:avLst/>
          </a:prstGeom>
        </p:spPr>
        <p:txBody>
          <a:bodyPr vert="horz" lIns="91440" tIns="45720" rIns="91440" bIns="45720" rtlCol="0" anchor="ctr">
            <a:normAutofit/>
          </a:bodyPr>
          <a:lstStyle>
            <a:lvl1pPr algn="ctr">
              <a:spcBef>
                <a:spcPct val="0"/>
              </a:spcBef>
              <a:buNone/>
              <a:defRPr sz="3600">
                <a:latin typeface="+mj-lt"/>
                <a:ea typeface="+mj-ea"/>
                <a:cs typeface="+mj-cs"/>
              </a:defRPr>
            </a:lvl1pPr>
          </a:lstStyle>
          <a:p>
            <a:r>
              <a:rPr lang="tr-TR" dirty="0"/>
              <a:t>Bilgisayar Sistemleri Tarihçesi</a:t>
            </a:r>
          </a:p>
        </p:txBody>
      </p:sp>
    </p:spTree>
    <p:extLst>
      <p:ext uri="{BB962C8B-B14F-4D97-AF65-F5344CB8AC3E}">
        <p14:creationId xmlns:p14="http://schemas.microsoft.com/office/powerpoint/2010/main" val="2787859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7" y="2000250"/>
            <a:ext cx="8137525"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9472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aşlık 1"/>
          <p:cNvSpPr>
            <a:spLocks noGrp="1"/>
          </p:cNvSpPr>
          <p:nvPr>
            <p:ph type="title"/>
          </p:nvPr>
        </p:nvSpPr>
        <p:spPr/>
        <p:txBody>
          <a:bodyPr vert="horz" lIns="91440" tIns="45720" rIns="91440" bIns="45720" rtlCol="0" anchor="ctr">
            <a:normAutofit/>
          </a:bodyPr>
          <a:lstStyle/>
          <a:p>
            <a:r>
              <a:rPr lang="tr-TR" sz="3600" dirty="0"/>
              <a:t>Bilgisayar Sistemleri Tarihçesi</a:t>
            </a:r>
          </a:p>
        </p:txBody>
      </p:sp>
      <p:sp>
        <p:nvSpPr>
          <p:cNvPr id="3" name="İçerik Yer Tutucusu 2"/>
          <p:cNvSpPr>
            <a:spLocks noGrp="1"/>
          </p:cNvSpPr>
          <p:nvPr>
            <p:ph idx="1"/>
          </p:nvPr>
        </p:nvSpPr>
        <p:spPr/>
        <p:txBody>
          <a:bodyPr/>
          <a:lstStyle/>
          <a:p>
            <a:r>
              <a:rPr lang="tr-TR" dirty="0"/>
              <a:t>3.Nesil</a:t>
            </a:r>
          </a:p>
          <a:p>
            <a:pPr lvl="1"/>
            <a:r>
              <a:rPr lang="tr-TR" dirty="0"/>
              <a:t>Entegre Devreler paketleri</a:t>
            </a:r>
          </a:p>
          <a:p>
            <a:pPr lvl="1"/>
            <a:r>
              <a:rPr lang="tr-TR" dirty="0"/>
              <a:t>G/Ç işlemleri işlemci ile paralel çalışabilmekte – Çoklu programlama</a:t>
            </a:r>
          </a:p>
          <a:p>
            <a:pPr lvl="1"/>
            <a:r>
              <a:rPr lang="tr-TR" dirty="0"/>
              <a:t>Çevrim içi kuyruk</a:t>
            </a:r>
          </a:p>
          <a:p>
            <a:pPr lvl="1"/>
            <a:r>
              <a:rPr lang="tr-TR" dirty="0"/>
              <a:t>Zaman Paylaşımı</a:t>
            </a:r>
          </a:p>
        </p:txBody>
      </p:sp>
      <p:pic>
        <p:nvPicPr>
          <p:cNvPr id="5" name="Picture 4" descr="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501008"/>
            <a:ext cx="3571775" cy="26428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310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1"/>
          <p:cNvSpPr>
            <a:spLocks noGrp="1"/>
          </p:cNvSpPr>
          <p:nvPr>
            <p:ph type="title"/>
          </p:nvPr>
        </p:nvSpPr>
        <p:spPr/>
        <p:txBody>
          <a:bodyPr vert="horz" lIns="91440" tIns="45720" rIns="91440" bIns="45720" rtlCol="0" anchor="ctr">
            <a:normAutofit/>
          </a:bodyPr>
          <a:lstStyle/>
          <a:p>
            <a:r>
              <a:rPr lang="tr-TR" sz="3600" dirty="0"/>
              <a:t>Bilgisayar Sistemleri Tarihçesi</a:t>
            </a:r>
          </a:p>
        </p:txBody>
      </p:sp>
      <p:sp>
        <p:nvSpPr>
          <p:cNvPr id="3" name="İçerik Yer Tutucusu 2"/>
          <p:cNvSpPr>
            <a:spLocks noGrp="1"/>
          </p:cNvSpPr>
          <p:nvPr>
            <p:ph idx="1"/>
          </p:nvPr>
        </p:nvSpPr>
        <p:spPr/>
        <p:txBody>
          <a:bodyPr>
            <a:normAutofit fontScale="92500" lnSpcReduction="20000"/>
          </a:bodyPr>
          <a:lstStyle/>
          <a:p>
            <a:r>
              <a:rPr lang="tr-TR" dirty="0"/>
              <a:t>4. Nesil(1980 - 1990)</a:t>
            </a:r>
          </a:p>
          <a:p>
            <a:pPr lvl="1"/>
            <a:r>
              <a:rPr lang="tr-TR" dirty="0"/>
              <a:t>Geniş çaplı uyum</a:t>
            </a:r>
          </a:p>
          <a:p>
            <a:pPr lvl="1"/>
            <a:r>
              <a:rPr lang="tr-TR" dirty="0"/>
              <a:t>Kişisel Bilgisayarlar</a:t>
            </a:r>
          </a:p>
          <a:p>
            <a:pPr lvl="1"/>
            <a:r>
              <a:rPr lang="tr-TR" dirty="0"/>
              <a:t>MS DOS, Unix gibi işletim sistemleri</a:t>
            </a:r>
          </a:p>
          <a:p>
            <a:pPr lvl="1"/>
            <a:r>
              <a:rPr lang="tr-TR" dirty="0"/>
              <a:t>Ağ</a:t>
            </a:r>
          </a:p>
          <a:p>
            <a:r>
              <a:rPr lang="tr-TR" dirty="0"/>
              <a:t>Şimdi</a:t>
            </a:r>
          </a:p>
          <a:p>
            <a:pPr lvl="1"/>
            <a:r>
              <a:rPr lang="en-US" dirty="0"/>
              <a:t>Client/Server </a:t>
            </a:r>
            <a:r>
              <a:rPr lang="tr-TR" dirty="0"/>
              <a:t>hesaplamaları</a:t>
            </a:r>
            <a:endParaRPr lang="en-US" dirty="0"/>
          </a:p>
          <a:p>
            <a:pPr lvl="1"/>
            <a:r>
              <a:rPr lang="en-US" dirty="0"/>
              <a:t>Clients : </a:t>
            </a:r>
            <a:r>
              <a:rPr lang="tr-TR" dirty="0"/>
              <a:t>Kişisel Bilgisayarlar, İş istasyonu altında çalışan Windows ve UNIX işletim sistemleri</a:t>
            </a:r>
          </a:p>
          <a:p>
            <a:pPr lvl="1"/>
            <a:r>
              <a:rPr lang="en-US" dirty="0"/>
              <a:t>Servers </a:t>
            </a:r>
            <a:r>
              <a:rPr lang="tr-TR" dirty="0"/>
              <a:t>Windows NT ve Unix tabanlı işletim sistemleri</a:t>
            </a:r>
            <a:endParaRPr lang="en-US" dirty="0"/>
          </a:p>
          <a:p>
            <a:pPr lvl="1"/>
            <a:r>
              <a:rPr lang="tr-TR" dirty="0"/>
              <a:t>İnternet ve İntranet ağları</a:t>
            </a:r>
            <a:r>
              <a:rPr lang="en-US" dirty="0"/>
              <a:t> (WWW) </a:t>
            </a:r>
          </a:p>
          <a:p>
            <a:pPr lvl="1"/>
            <a:endParaRPr lang="tr-TR" dirty="0"/>
          </a:p>
        </p:txBody>
      </p:sp>
    </p:spTree>
    <p:extLst>
      <p:ext uri="{BB962C8B-B14F-4D97-AF65-F5344CB8AC3E}">
        <p14:creationId xmlns:p14="http://schemas.microsoft.com/office/powerpoint/2010/main" val="2591325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Bilgisayarın Genel Yapısı</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700808"/>
            <a:ext cx="7406292"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3000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p:cNvSpPr>
            <a:spLocks noGrp="1"/>
          </p:cNvSpPr>
          <p:nvPr>
            <p:ph type="title"/>
          </p:nvPr>
        </p:nvSpPr>
        <p:spPr/>
        <p:txBody>
          <a:bodyPr/>
          <a:lstStyle/>
          <a:p>
            <a:r>
              <a:rPr lang="tr-TR" dirty="0"/>
              <a:t>Bilgisayarın Genel Yapısı (devam)</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060849"/>
            <a:ext cx="7887063" cy="389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97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Temel Bilgisayar Yapısı</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28800"/>
            <a:ext cx="9144000" cy="52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5058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Komutların Çalıştırılma Aşaması</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832527"/>
            <a:ext cx="8281210" cy="186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79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CPU Komut Örnekleri</a:t>
            </a:r>
          </a:p>
        </p:txBody>
      </p:sp>
      <p:sp>
        <p:nvSpPr>
          <p:cNvPr id="3" name="İçerik Yer Tutucusu 2"/>
          <p:cNvSpPr>
            <a:spLocks noGrp="1"/>
          </p:cNvSpPr>
          <p:nvPr>
            <p:ph idx="1"/>
          </p:nvPr>
        </p:nvSpPr>
        <p:spPr/>
        <p:txBody>
          <a:bodyPr/>
          <a:lstStyle/>
          <a:p>
            <a:r>
              <a:rPr lang="tr-TR" b="0" dirty="0"/>
              <a:t>MOV [</a:t>
            </a:r>
            <a:r>
              <a:rPr lang="tr-TR" b="0" dirty="0" err="1"/>
              <a:t>address</a:t>
            </a:r>
            <a:r>
              <a:rPr lang="tr-TR" b="0" dirty="0"/>
              <a:t>], </a:t>
            </a:r>
            <a:r>
              <a:rPr lang="tr-TR" b="0" dirty="0" err="1"/>
              <a:t>ax</a:t>
            </a:r>
            <a:endParaRPr lang="tr-TR" b="0" dirty="0"/>
          </a:p>
          <a:p>
            <a:r>
              <a:rPr lang="tr-TR" b="0" dirty="0"/>
              <a:t>ADD </a:t>
            </a:r>
            <a:r>
              <a:rPr lang="tr-TR" b="0" dirty="0" err="1"/>
              <a:t>ax</a:t>
            </a:r>
            <a:r>
              <a:rPr lang="tr-TR" b="0" dirty="0"/>
              <a:t>, </a:t>
            </a:r>
            <a:r>
              <a:rPr lang="tr-TR" b="0" dirty="0" err="1"/>
              <a:t>bx</a:t>
            </a:r>
            <a:endParaRPr lang="tr-TR" b="0" dirty="0"/>
          </a:p>
          <a:p>
            <a:r>
              <a:rPr lang="en-US" b="0" dirty="0"/>
              <a:t>MOV </a:t>
            </a:r>
            <a:r>
              <a:rPr lang="en-US" b="0" dirty="0" err="1"/>
              <a:t>CRn</a:t>
            </a:r>
            <a:r>
              <a:rPr lang="en-US" b="0" dirty="0"/>
              <a:t> (move control register)</a:t>
            </a:r>
          </a:p>
          <a:p>
            <a:r>
              <a:rPr lang="tr-TR" b="0" dirty="0"/>
              <a:t>IN, INS (</a:t>
            </a:r>
            <a:r>
              <a:rPr lang="tr-TR" b="0" dirty="0" err="1"/>
              <a:t>input</a:t>
            </a:r>
            <a:r>
              <a:rPr lang="tr-TR" b="0" dirty="0"/>
              <a:t> </a:t>
            </a:r>
            <a:r>
              <a:rPr lang="tr-TR" b="0" dirty="0" err="1"/>
              <a:t>string</a:t>
            </a:r>
            <a:r>
              <a:rPr lang="tr-TR" b="0" dirty="0"/>
              <a:t>)</a:t>
            </a:r>
          </a:p>
          <a:p>
            <a:r>
              <a:rPr lang="tr-TR" b="0" dirty="0"/>
              <a:t>HLT (halt)</a:t>
            </a:r>
          </a:p>
          <a:p>
            <a:r>
              <a:rPr lang="tr-TR" b="0" dirty="0"/>
              <a:t>LTR (</a:t>
            </a:r>
            <a:r>
              <a:rPr lang="tr-TR" b="0" dirty="0" err="1"/>
              <a:t>load</a:t>
            </a:r>
            <a:r>
              <a:rPr lang="tr-TR" b="0" dirty="0"/>
              <a:t> </a:t>
            </a:r>
            <a:r>
              <a:rPr lang="tr-TR" b="0" dirty="0" err="1"/>
              <a:t>task</a:t>
            </a:r>
            <a:r>
              <a:rPr lang="tr-TR" b="0" dirty="0"/>
              <a:t> </a:t>
            </a:r>
            <a:r>
              <a:rPr lang="tr-TR" b="0" dirty="0" err="1"/>
              <a:t>register</a:t>
            </a:r>
            <a:r>
              <a:rPr lang="tr-TR" b="0" dirty="0"/>
              <a:t>)</a:t>
            </a:r>
          </a:p>
          <a:p>
            <a:r>
              <a:rPr lang="tr-TR" b="0" dirty="0"/>
              <a:t>INT n (software </a:t>
            </a:r>
            <a:r>
              <a:rPr lang="tr-TR" b="0" dirty="0" err="1"/>
              <a:t>interrupt</a:t>
            </a:r>
            <a:r>
              <a:rPr lang="tr-TR" b="0" dirty="0"/>
              <a:t>)</a:t>
            </a:r>
            <a:endParaRPr lang="tr-TR" dirty="0"/>
          </a:p>
        </p:txBody>
      </p:sp>
    </p:spTree>
    <p:extLst>
      <p:ext uri="{BB962C8B-B14F-4D97-AF65-F5344CB8AC3E}">
        <p14:creationId xmlns:p14="http://schemas.microsoft.com/office/powerpoint/2010/main" val="3679756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24745"/>
            <a:ext cx="7571184" cy="5765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Başlık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a:t>Komutların Çalıştırılması</a:t>
            </a:r>
            <a:endParaRPr lang="tr-TR" dirty="0"/>
          </a:p>
        </p:txBody>
      </p:sp>
    </p:spTree>
    <p:extLst>
      <p:ext uri="{BB962C8B-B14F-4D97-AF65-F5344CB8AC3E}">
        <p14:creationId xmlns:p14="http://schemas.microsoft.com/office/powerpoint/2010/main" val="2471041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r>
              <a:rPr lang="tr-TR" dirty="0"/>
              <a:t>Kesmeler</a:t>
            </a:r>
          </a:p>
        </p:txBody>
      </p:sp>
      <p:sp>
        <p:nvSpPr>
          <p:cNvPr id="4" name="İçerik Yer Tutucusu 3"/>
          <p:cNvSpPr>
            <a:spLocks noGrp="1"/>
          </p:cNvSpPr>
          <p:nvPr>
            <p:ph idx="1"/>
          </p:nvPr>
        </p:nvSpPr>
        <p:spPr/>
        <p:txBody>
          <a:bodyPr>
            <a:normAutofit/>
          </a:bodyPr>
          <a:lstStyle/>
          <a:p>
            <a:r>
              <a:rPr lang="tr-TR" sz="2800" dirty="0"/>
              <a:t>Program Kesmeleri</a:t>
            </a:r>
          </a:p>
          <a:p>
            <a:r>
              <a:rPr lang="tr-TR" sz="2800" dirty="0" err="1"/>
              <a:t>Timer</a:t>
            </a:r>
            <a:endParaRPr lang="tr-TR" sz="2800" dirty="0"/>
          </a:p>
          <a:p>
            <a:r>
              <a:rPr lang="tr-TR" sz="2800" dirty="0"/>
              <a:t>Giriş / Çıkış (I/O)</a:t>
            </a:r>
          </a:p>
          <a:p>
            <a:r>
              <a:rPr lang="tr-TR" sz="2800" dirty="0"/>
              <a:t>Donanım Hataları</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775596"/>
            <a:ext cx="626427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6761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Bellek Hiyerarşisi</a:t>
            </a:r>
          </a:p>
        </p:txBody>
      </p:sp>
      <p:sp>
        <p:nvSpPr>
          <p:cNvPr id="4" name="Metin kutusu 3"/>
          <p:cNvSpPr txBox="1"/>
          <p:nvPr/>
        </p:nvSpPr>
        <p:spPr>
          <a:xfrm>
            <a:off x="6228184" y="2060848"/>
            <a:ext cx="1837811" cy="923330"/>
          </a:xfrm>
          <a:prstGeom prst="rect">
            <a:avLst/>
          </a:prstGeom>
          <a:noFill/>
        </p:spPr>
        <p:txBody>
          <a:bodyPr wrap="none" rtlCol="0">
            <a:spAutoFit/>
          </a:bodyPr>
          <a:lstStyle/>
          <a:p>
            <a:pPr marL="285750" indent="-285750">
              <a:buFontTx/>
              <a:buChar char="-"/>
            </a:pPr>
            <a:r>
              <a:rPr lang="tr-TR" dirty="0"/>
              <a:t>Maliyet</a:t>
            </a:r>
          </a:p>
          <a:p>
            <a:pPr marL="285750" indent="-285750">
              <a:buFontTx/>
              <a:buChar char="-"/>
            </a:pPr>
            <a:r>
              <a:rPr lang="tr-TR" dirty="0"/>
              <a:t>Erişim Zamanı </a:t>
            </a:r>
          </a:p>
          <a:p>
            <a:pPr marL="285750" indent="-285750">
              <a:buFontTx/>
              <a:buChar char="-"/>
            </a:pPr>
            <a:r>
              <a:rPr lang="tr-TR" dirty="0"/>
              <a:t>Kapasite</a:t>
            </a:r>
          </a:p>
        </p:txBody>
      </p:sp>
      <p:sp>
        <p:nvSpPr>
          <p:cNvPr id="5" name="Dikdörtgen 4"/>
          <p:cNvSpPr/>
          <p:nvPr/>
        </p:nvSpPr>
        <p:spPr>
          <a:xfrm>
            <a:off x="3546140" y="5934670"/>
            <a:ext cx="5364088" cy="923330"/>
          </a:xfrm>
          <a:prstGeom prst="rect">
            <a:avLst/>
          </a:prstGeom>
        </p:spPr>
        <p:txBody>
          <a:bodyPr wrap="square">
            <a:spAutoFit/>
          </a:bodyPr>
          <a:lstStyle/>
          <a:p>
            <a:r>
              <a:rPr lang="tr-TR" dirty="0"/>
              <a:t>• Daha hızlı erişim süresi, bit başına daha fazla maliyet</a:t>
            </a:r>
            <a:br>
              <a:rPr lang="tr-TR" dirty="0"/>
            </a:br>
            <a:r>
              <a:rPr lang="tr-TR" dirty="0"/>
              <a:t>• Daha fazla kapasite, bit başına daha küçük maliyet</a:t>
            </a:r>
            <a:br>
              <a:rPr lang="tr-TR" dirty="0"/>
            </a:br>
            <a:r>
              <a:rPr lang="tr-TR" dirty="0"/>
              <a:t>• Daha fazla kapasite, daha yavaş erişim hızı</a:t>
            </a:r>
          </a:p>
        </p:txBody>
      </p:sp>
      <p:pic>
        <p:nvPicPr>
          <p:cNvPr id="6" name="Picture 3" descr="C:\Users\as668\Desktop\1_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0" y="1124744"/>
            <a:ext cx="5322887"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0932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1_11.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401" y="2132856"/>
            <a:ext cx="9216802" cy="3846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1845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 Bellek</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988840"/>
            <a:ext cx="6151953" cy="4020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4072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 Bellek Bellek (devam)</a:t>
            </a:r>
          </a:p>
        </p:txBody>
      </p:sp>
      <p:sp>
        <p:nvSpPr>
          <p:cNvPr id="4" name="Rectangle 3"/>
          <p:cNvSpPr>
            <a:spLocks noGrp="1" noChangeArrowheads="1"/>
          </p:cNvSpPr>
          <p:nvPr>
            <p:ph idx="1"/>
          </p:nvPr>
        </p:nvSpPr>
        <p:spPr/>
        <p:txBody>
          <a:bodyPr>
            <a:normAutofit fontScale="92500" lnSpcReduction="10000"/>
          </a:bodyPr>
          <a:lstStyle/>
          <a:p>
            <a:r>
              <a:rPr lang="tr-TR" altLang="tr-TR" dirty="0" err="1"/>
              <a:t>Bilgisyarda</a:t>
            </a:r>
            <a:r>
              <a:rPr lang="tr-TR" altLang="tr-TR" dirty="0"/>
              <a:t> bir çok seviyede gerçekleştirilir. </a:t>
            </a:r>
          </a:p>
          <a:p>
            <a:pPr marL="0" indent="0">
              <a:buNone/>
            </a:pPr>
            <a:r>
              <a:rPr lang="tr-TR" altLang="tr-TR" dirty="0"/>
              <a:t>	</a:t>
            </a:r>
            <a:r>
              <a:rPr lang="en-US" altLang="tr-TR" dirty="0"/>
              <a:t>(</a:t>
            </a:r>
            <a:r>
              <a:rPr lang="tr-TR" altLang="tr-TR" dirty="0"/>
              <a:t>donanım</a:t>
            </a:r>
            <a:r>
              <a:rPr lang="en-US" altLang="tr-TR" dirty="0"/>
              <a:t>, </a:t>
            </a:r>
            <a:r>
              <a:rPr lang="tr-TR" altLang="tr-TR" dirty="0"/>
              <a:t>işletim sistemi</a:t>
            </a:r>
            <a:r>
              <a:rPr lang="en-US" altLang="tr-TR" dirty="0"/>
              <a:t>, </a:t>
            </a:r>
            <a:r>
              <a:rPr lang="tr-TR" altLang="tr-TR" dirty="0"/>
              <a:t>yazılım</a:t>
            </a:r>
            <a:r>
              <a:rPr lang="en-US" altLang="tr-TR" dirty="0"/>
              <a:t>)</a:t>
            </a:r>
            <a:endParaRPr lang="en-US" altLang="tr-TR" sz="800" dirty="0"/>
          </a:p>
          <a:p>
            <a:r>
              <a:rPr lang="tr-TR" dirty="0"/>
              <a:t>Eğer bir bilgi isteniyorsa, ilk kontrolde, hızlı depolama aygıtlarına bakılır</a:t>
            </a:r>
            <a:endParaRPr lang="en-US" altLang="tr-TR" dirty="0"/>
          </a:p>
          <a:p>
            <a:pPr lvl="1"/>
            <a:r>
              <a:rPr lang="tr-TR" altLang="tr-TR" dirty="0"/>
              <a:t>Bilgi Ön Bellek de ise veri hızlı bir şekilde getirilir.</a:t>
            </a:r>
            <a:endParaRPr lang="en-US" altLang="tr-TR" dirty="0"/>
          </a:p>
          <a:p>
            <a:pPr lvl="1"/>
            <a:r>
              <a:rPr lang="tr-TR" altLang="tr-TR" dirty="0"/>
              <a:t>Bilgi Ön Bellek değilse, buraya kopyalanır.</a:t>
            </a:r>
            <a:endParaRPr lang="en-US" altLang="tr-TR" sz="800" dirty="0"/>
          </a:p>
          <a:p>
            <a:r>
              <a:rPr lang="tr-TR" altLang="tr-TR" dirty="0"/>
              <a:t>Ön Bellek diğer depolama alanlarından küçüktür</a:t>
            </a:r>
          </a:p>
          <a:p>
            <a:pPr lvl="1"/>
            <a:r>
              <a:rPr lang="tr-TR" altLang="tr-TR" dirty="0"/>
              <a:t>Ön Bellek Yönetimi önemli bir tasarım problemidir.</a:t>
            </a:r>
          </a:p>
          <a:p>
            <a:pPr lvl="1"/>
            <a:r>
              <a:rPr lang="tr-TR" altLang="tr-TR" dirty="0"/>
              <a:t>Ön Bellek boyutu ve yer değişim politikalarını</a:t>
            </a:r>
            <a:endParaRPr lang="en-US" altLang="tr-TR" dirty="0"/>
          </a:p>
        </p:txBody>
      </p:sp>
    </p:spTree>
    <p:extLst>
      <p:ext uri="{BB962C8B-B14F-4D97-AF65-F5344CB8AC3E}">
        <p14:creationId xmlns:p14="http://schemas.microsoft.com/office/powerpoint/2010/main" val="952576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Direct Memory Access (DMA)</a:t>
            </a:r>
          </a:p>
        </p:txBody>
      </p:sp>
      <p:sp>
        <p:nvSpPr>
          <p:cNvPr id="3" name="İçerik Yer Tutucusu 2"/>
          <p:cNvSpPr>
            <a:spLocks noGrp="1"/>
          </p:cNvSpPr>
          <p:nvPr>
            <p:ph idx="1"/>
          </p:nvPr>
        </p:nvSpPr>
        <p:spPr/>
        <p:txBody>
          <a:bodyPr/>
          <a:lstStyle/>
          <a:p>
            <a:r>
              <a:rPr lang="tr-TR" dirty="0"/>
              <a:t>Giriş / Çıkış (I/O) işlemleri için 3 teknik;</a:t>
            </a:r>
          </a:p>
          <a:p>
            <a:pPr lvl="1"/>
            <a:r>
              <a:rPr lang="tr-TR" dirty="0"/>
              <a:t>I/O programlama</a:t>
            </a:r>
          </a:p>
          <a:p>
            <a:pPr lvl="1"/>
            <a:r>
              <a:rPr lang="tr-TR" dirty="0"/>
              <a:t>Kesme Odaklı I/O</a:t>
            </a:r>
          </a:p>
          <a:p>
            <a:pPr lvl="1"/>
            <a:r>
              <a:rPr lang="tr-TR" dirty="0"/>
              <a:t>Doğrudan Bellek Erişimi (DMA)</a:t>
            </a:r>
          </a:p>
          <a:p>
            <a:pPr lvl="2"/>
            <a:r>
              <a:rPr lang="tr-TR" b="1" dirty="0"/>
              <a:t>DMA modülünün gönderebileceği bilgileri(işlemciye)</a:t>
            </a:r>
          </a:p>
          <a:p>
            <a:pPr lvl="3"/>
            <a:r>
              <a:rPr lang="tr-TR" dirty="0"/>
              <a:t>Okuma Yazma talepleri</a:t>
            </a:r>
          </a:p>
          <a:p>
            <a:pPr lvl="3"/>
            <a:r>
              <a:rPr lang="tr-TR" dirty="0"/>
              <a:t>İlgili Cihazın adresi</a:t>
            </a:r>
          </a:p>
          <a:p>
            <a:pPr lvl="3"/>
            <a:r>
              <a:rPr lang="tr-TR" dirty="0"/>
              <a:t>Verileri yazmak ve okumak için bellekteki başlangıç adresleri</a:t>
            </a:r>
          </a:p>
          <a:p>
            <a:pPr lvl="3"/>
            <a:r>
              <a:rPr lang="tr-TR" dirty="0"/>
              <a:t>Okunacak ve yazılacak kelime sayısı</a:t>
            </a:r>
          </a:p>
        </p:txBody>
      </p:sp>
    </p:spTree>
    <p:extLst>
      <p:ext uri="{BB962C8B-B14F-4D97-AF65-F5344CB8AC3E}">
        <p14:creationId xmlns:p14="http://schemas.microsoft.com/office/powerpoint/2010/main" val="1173848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normAutofit fontScale="90000"/>
          </a:bodyPr>
          <a:lstStyle/>
          <a:p>
            <a:r>
              <a:rPr lang="tr-TR" dirty="0"/>
              <a:t>Modern bilgisayar sistemlerinin çalışması</a:t>
            </a:r>
          </a:p>
        </p:txBody>
      </p:sp>
      <p:pic>
        <p:nvPicPr>
          <p:cNvPr id="5" name="Picture 5"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988840"/>
            <a:ext cx="5132387" cy="408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9607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z="3600" dirty="0"/>
              <a:t>Çok işlemcili ve Çok Çekirdekli Sistemler</a:t>
            </a:r>
          </a:p>
        </p:txBody>
      </p:sp>
      <p:sp>
        <p:nvSpPr>
          <p:cNvPr id="3" name="İçerik Yer Tutucusu 2"/>
          <p:cNvSpPr>
            <a:spLocks noGrp="1"/>
          </p:cNvSpPr>
          <p:nvPr>
            <p:ph idx="1"/>
          </p:nvPr>
        </p:nvSpPr>
        <p:spPr/>
        <p:txBody>
          <a:bodyPr/>
          <a:lstStyle/>
          <a:p>
            <a:r>
              <a:rPr lang="tr-TR" dirty="0"/>
              <a:t>Üç yaklaşım,</a:t>
            </a:r>
          </a:p>
          <a:p>
            <a:pPr lvl="1"/>
            <a:r>
              <a:rPr lang="it-IT" b="0" dirty="0"/>
              <a:t>symmetric multiprocessors (SMPs), </a:t>
            </a:r>
            <a:endParaRPr lang="tr-TR" b="0" dirty="0"/>
          </a:p>
          <a:p>
            <a:pPr lvl="1"/>
            <a:r>
              <a:rPr lang="it-IT" b="0" dirty="0"/>
              <a:t>multicore computers,</a:t>
            </a:r>
            <a:endParaRPr lang="tr-TR" dirty="0"/>
          </a:p>
          <a:p>
            <a:pPr lvl="1"/>
            <a:r>
              <a:rPr lang="tr-TR" b="0" dirty="0" err="1"/>
              <a:t>clusters</a:t>
            </a:r>
            <a:r>
              <a:rPr lang="tr-TR" b="0" dirty="0"/>
              <a:t>.</a:t>
            </a:r>
            <a:endParaRPr lang="tr-TR" dirty="0"/>
          </a:p>
        </p:txBody>
      </p:sp>
    </p:spTree>
    <p:extLst>
      <p:ext uri="{BB962C8B-B14F-4D97-AF65-F5344CB8AC3E}">
        <p14:creationId xmlns:p14="http://schemas.microsoft.com/office/powerpoint/2010/main" val="1190668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Simetrik Çoklu İşlemciler</a:t>
            </a:r>
          </a:p>
        </p:txBody>
      </p:sp>
      <p:sp>
        <p:nvSpPr>
          <p:cNvPr id="3" name="İçerik Yer Tutucusu 2"/>
          <p:cNvSpPr>
            <a:spLocks noGrp="1"/>
          </p:cNvSpPr>
          <p:nvPr>
            <p:ph idx="1"/>
          </p:nvPr>
        </p:nvSpPr>
        <p:spPr>
          <a:xfrm>
            <a:off x="539552" y="1556792"/>
            <a:ext cx="8229600" cy="4810397"/>
          </a:xfrm>
        </p:spPr>
        <p:txBody>
          <a:bodyPr>
            <a:normAutofit fontScale="85000" lnSpcReduction="20000"/>
          </a:bodyPr>
          <a:lstStyle/>
          <a:p>
            <a:r>
              <a:rPr lang="tr-TR" b="0" dirty="0"/>
              <a:t>Benzer özelliği olan iki veya daha fazla işlemci bulunur.</a:t>
            </a:r>
          </a:p>
          <a:p>
            <a:r>
              <a:rPr lang="tr-TR" b="0" dirty="0"/>
              <a:t>Bu işlemciler aynı ana belleği paylaşır ve I / O birimleri bir yol ya da diğer iç bağlantı şeması ile birbirine bağlı, öyle ki bellek erişim süresi her işlemci için yaklaşık aynıdır.</a:t>
            </a:r>
          </a:p>
          <a:p>
            <a:r>
              <a:rPr lang="tr-TR" b="0" dirty="0"/>
              <a:t>I / O cihazları tüm işlemcileri paylaşırken erişimi, ya aynı kanallar aracılığıyla veya aynı cihaza farklı yollar sunan farklı kanallardan.</a:t>
            </a:r>
          </a:p>
          <a:p>
            <a:r>
              <a:rPr lang="tr-TR" b="0" dirty="0"/>
              <a:t>Tüm işlemcilerle aynı işlemleri yapabilirsiniz( simetrik özellik)</a:t>
            </a:r>
          </a:p>
          <a:p>
            <a:r>
              <a:rPr lang="tr-TR" b="0" dirty="0"/>
              <a:t>Sistem, iş, görev, dosya ve veri elemanı düzeyde işlemciler ve programlar arasında etkileşimi sağlayan entegre bir işletim sistemi tarafından kontrol edilir.</a:t>
            </a:r>
          </a:p>
          <a:p>
            <a:endParaRPr lang="tr-TR" dirty="0"/>
          </a:p>
        </p:txBody>
      </p:sp>
    </p:spTree>
    <p:extLst>
      <p:ext uri="{BB962C8B-B14F-4D97-AF65-F5344CB8AC3E}">
        <p14:creationId xmlns:p14="http://schemas.microsoft.com/office/powerpoint/2010/main" val="27955449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556792"/>
            <a:ext cx="6539086" cy="50390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Başlık 1"/>
          <p:cNvSpPr>
            <a:spLocks noGrp="1"/>
          </p:cNvSpPr>
          <p:nvPr>
            <p:ph type="title"/>
          </p:nvPr>
        </p:nvSpPr>
        <p:spPr/>
        <p:txBody>
          <a:bodyPr/>
          <a:lstStyle/>
          <a:p>
            <a:r>
              <a:rPr lang="tr-TR" dirty="0"/>
              <a:t>Simetrik Çoklu İşlemciler</a:t>
            </a:r>
          </a:p>
        </p:txBody>
      </p:sp>
    </p:spTree>
    <p:extLst>
      <p:ext uri="{BB962C8B-B14F-4D97-AF65-F5344CB8AC3E}">
        <p14:creationId xmlns:p14="http://schemas.microsoft.com/office/powerpoint/2010/main" val="38548094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Çok çekirdekli İşlemciler</a:t>
            </a:r>
          </a:p>
        </p:txBody>
      </p:sp>
      <p:sp>
        <p:nvSpPr>
          <p:cNvPr id="3" name="İçerik Yer Tutucusu 2"/>
          <p:cNvSpPr>
            <a:spLocks noGrp="1"/>
          </p:cNvSpPr>
          <p:nvPr>
            <p:ph idx="1"/>
          </p:nvPr>
        </p:nvSpPr>
        <p:spPr>
          <a:xfrm>
            <a:off x="457200" y="5646613"/>
            <a:ext cx="8229600" cy="738311"/>
          </a:xfrm>
        </p:spPr>
        <p:txBody>
          <a:bodyPr/>
          <a:lstStyle/>
          <a:p>
            <a:pPr marL="0" indent="0" algn="ctr">
              <a:buNone/>
            </a:pPr>
            <a:r>
              <a:rPr lang="tr-TR" dirty="0"/>
              <a:t>Intel </a:t>
            </a:r>
            <a:r>
              <a:rPr lang="tr-TR" dirty="0" err="1"/>
              <a:t>Core</a:t>
            </a:r>
            <a:r>
              <a:rPr lang="tr-TR" dirty="0"/>
              <a:t> i7 </a:t>
            </a:r>
            <a:r>
              <a:rPr lang="tr-TR" dirty="0" err="1"/>
              <a:t>Block</a:t>
            </a:r>
            <a:r>
              <a:rPr lang="tr-TR" dirty="0"/>
              <a:t> </a:t>
            </a:r>
            <a:r>
              <a:rPr lang="tr-TR" dirty="0" err="1"/>
              <a:t>Diagram</a:t>
            </a:r>
            <a:endParaRPr lang="tr-T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484784"/>
            <a:ext cx="5117926" cy="4161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5116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Kümeleme (Cluster) Sistemler</a:t>
            </a:r>
          </a:p>
        </p:txBody>
      </p:sp>
      <p:pic>
        <p:nvPicPr>
          <p:cNvPr id="4" name="Content Placeholder 3" descr="1.08.pdf"/>
          <p:cNvPicPr>
            <a:picLocks noGrp="1" noChangeAspect="1"/>
          </p:cNvPicPr>
          <p:nvPr>
            <p:ph idx="4294967295"/>
          </p:nvPr>
        </p:nvPicPr>
        <p:blipFill>
          <a:blip r:embed="rId2">
            <a:extLst>
              <a:ext uri="{28A0092B-C50C-407E-A947-70E740481C1C}">
                <a14:useLocalDpi xmlns:a14="http://schemas.microsoft.com/office/drawing/2010/main" val="0"/>
              </a:ext>
            </a:extLst>
          </a:blip>
          <a:srcRect t="-3476" b="-3476"/>
          <a:stretch>
            <a:fillRect/>
          </a:stretch>
        </p:blipFill>
        <p:spPr>
          <a:xfrm>
            <a:off x="1331640" y="2636912"/>
            <a:ext cx="6402387" cy="3524250"/>
          </a:xfrm>
        </p:spPr>
      </p:pic>
    </p:spTree>
    <p:extLst>
      <p:ext uri="{BB962C8B-B14F-4D97-AF65-F5344CB8AC3E}">
        <p14:creationId xmlns:p14="http://schemas.microsoft.com/office/powerpoint/2010/main" val="4027670737"/>
      </p:ext>
    </p:extLst>
  </p:cSld>
  <p:clrMapOvr>
    <a:masterClrMapping/>
  </p:clrMapOvr>
</p:sld>
</file>

<file path=ppt/theme/theme1.xml><?xml version="1.0" encoding="utf-8"?>
<a:theme xmlns:a="http://schemas.openxmlformats.org/drawingml/2006/main" name="temasdu">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Özel Tasarım">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temasdu</Template>
  <TotalTime>5035</TotalTime>
  <Words>1232</Words>
  <Application>Microsoft Office PowerPoint</Application>
  <PresentationFormat>Ekran Gösterisi (4:3)</PresentationFormat>
  <Paragraphs>204</Paragraphs>
  <Slides>43</Slides>
  <Notes>7</Notes>
  <HiddenSlides>0</HiddenSlides>
  <MMClips>0</MMClips>
  <ScaleCrop>false</ScaleCrop>
  <HeadingPairs>
    <vt:vector size="6" baseType="variant">
      <vt:variant>
        <vt:lpstr>Kullanılan Yazı Tipleri</vt:lpstr>
      </vt:variant>
      <vt:variant>
        <vt:i4>5</vt:i4>
      </vt:variant>
      <vt:variant>
        <vt:lpstr>Tema</vt:lpstr>
      </vt:variant>
      <vt:variant>
        <vt:i4>2</vt:i4>
      </vt:variant>
      <vt:variant>
        <vt:lpstr>Slayt Başlıkları</vt:lpstr>
      </vt:variant>
      <vt:variant>
        <vt:i4>43</vt:i4>
      </vt:variant>
    </vt:vector>
  </HeadingPairs>
  <TitlesOfParts>
    <vt:vector size="50" baseType="lpstr">
      <vt:lpstr>Arial</vt:lpstr>
      <vt:lpstr>Calibri</vt:lpstr>
      <vt:lpstr>Monotype Sorts</vt:lpstr>
      <vt:lpstr>Myriad Pro</vt:lpstr>
      <vt:lpstr>Times New Roman</vt:lpstr>
      <vt:lpstr>temasdu</vt:lpstr>
      <vt:lpstr>Özel Tasarım</vt:lpstr>
      <vt:lpstr>Bilgisayar Sistemlerine Giriş</vt:lpstr>
      <vt:lpstr>GİRİŞ</vt:lpstr>
      <vt:lpstr>Yazılım </vt:lpstr>
      <vt:lpstr>Buna göre İşletim Sistemi Nedir?</vt:lpstr>
      <vt:lpstr>İşletim Sistemi Nedir?</vt:lpstr>
      <vt:lpstr>PowerPoint Sunusu</vt:lpstr>
      <vt:lpstr>Buna göre İşletim Sistemi Nedir?</vt:lpstr>
      <vt:lpstr>İşletim Sistemi Nedir?</vt:lpstr>
      <vt:lpstr>İşletim Sistemi Nedir?</vt:lpstr>
      <vt:lpstr>BİLGİSAYAR SİSTEMİNİN BİLEŞENLERİ</vt:lpstr>
      <vt:lpstr>BİLGİSAYAR SİSTEMİNİN BİLEŞENLERİ</vt:lpstr>
      <vt:lpstr>Kullanıcı Arayüzleri</vt:lpstr>
      <vt:lpstr>Dokunmatik ekran Arayüzü</vt:lpstr>
      <vt:lpstr>The Mac OS X GUI</vt:lpstr>
      <vt:lpstr>İşletim Sistemi</vt:lpstr>
      <vt:lpstr>Sistem Çağrıları</vt:lpstr>
      <vt:lpstr>İşletim Sisteminin Fonksiyonları</vt:lpstr>
      <vt:lpstr>İşletim Sisteminin Fonksiyonları</vt:lpstr>
      <vt:lpstr>İşletim Sisteminin Fonksiyonları</vt:lpstr>
      <vt:lpstr>Bir İşletim Sisteminden Beklenenler</vt:lpstr>
      <vt:lpstr>Bilgisayar Sistemleri Tarihçesi</vt:lpstr>
      <vt:lpstr>PowerPoint Sunusu</vt:lpstr>
      <vt:lpstr>PowerPoint Sunusu</vt:lpstr>
      <vt:lpstr>Bilgisayar Sistemleri Tarihçesi</vt:lpstr>
      <vt:lpstr>Bilgisayar Sistemleri Tarihçesi</vt:lpstr>
      <vt:lpstr>Bilgisayarın Genel Yapısı</vt:lpstr>
      <vt:lpstr>Bilgisayarın Genel Yapısı (devam)</vt:lpstr>
      <vt:lpstr>Temel Bilgisayar Yapısı</vt:lpstr>
      <vt:lpstr>Komutların Çalıştırılma Aşaması</vt:lpstr>
      <vt:lpstr>CPU Komut Örnekleri</vt:lpstr>
      <vt:lpstr>PowerPoint Sunusu</vt:lpstr>
      <vt:lpstr>Kesmeler</vt:lpstr>
      <vt:lpstr>Bellek Hiyerarşisi</vt:lpstr>
      <vt:lpstr>PowerPoint Sunusu</vt:lpstr>
      <vt:lpstr>Ön Bellek</vt:lpstr>
      <vt:lpstr>Ön Bellek Bellek (devam)</vt:lpstr>
      <vt:lpstr>Direct Memory Access (DMA)</vt:lpstr>
      <vt:lpstr>Modern bilgisayar sistemlerinin çalışması</vt:lpstr>
      <vt:lpstr>Çok işlemcili ve Çok Çekirdekli Sistemler</vt:lpstr>
      <vt:lpstr>Simetrik Çoklu İşlemciler</vt:lpstr>
      <vt:lpstr>Simetrik Çoklu İşlemciler</vt:lpstr>
      <vt:lpstr>Çok çekirdekli İşlemciler</vt:lpstr>
      <vt:lpstr>Kümeleme (Cluster) Sistemler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HP Compaq</dc:creator>
  <cp:lastModifiedBy>Mevlüt Ersoy</cp:lastModifiedBy>
  <cp:revision>154</cp:revision>
  <dcterms:created xsi:type="dcterms:W3CDTF">2011-09-05T11:12:24Z</dcterms:created>
  <dcterms:modified xsi:type="dcterms:W3CDTF">2020-10-21T11:52:24Z</dcterms:modified>
</cp:coreProperties>
</file>