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1351" r:id="rId2"/>
    <p:sldId id="1352" r:id="rId3"/>
    <p:sldId id="1308" r:id="rId4"/>
    <p:sldId id="1337" r:id="rId5"/>
    <p:sldId id="1324" r:id="rId6"/>
    <p:sldId id="1243" r:id="rId7"/>
    <p:sldId id="1290" r:id="rId8"/>
    <p:sldId id="1291" r:id="rId9"/>
    <p:sldId id="1292" r:id="rId10"/>
    <p:sldId id="1293" r:id="rId11"/>
    <p:sldId id="1294" r:id="rId12"/>
    <p:sldId id="1300" r:id="rId13"/>
    <p:sldId id="1301" r:id="rId14"/>
    <p:sldId id="1302" r:id="rId15"/>
    <p:sldId id="1298" r:id="rId16"/>
    <p:sldId id="1257" r:id="rId17"/>
    <p:sldId id="1303" r:id="rId18"/>
    <p:sldId id="1305" r:id="rId19"/>
    <p:sldId id="1309" r:id="rId20"/>
    <p:sldId id="1323" r:id="rId21"/>
    <p:sldId id="1264" r:id="rId22"/>
    <p:sldId id="1336" r:id="rId23"/>
    <p:sldId id="1340" r:id="rId24"/>
    <p:sldId id="1350" r:id="rId25"/>
    <p:sldId id="1341" r:id="rId26"/>
    <p:sldId id="1342" r:id="rId27"/>
    <p:sldId id="1343" r:id="rId28"/>
    <p:sldId id="1344" r:id="rId29"/>
    <p:sldId id="1345" r:id="rId30"/>
    <p:sldId id="1346" r:id="rId31"/>
    <p:sldId id="1347" r:id="rId32"/>
    <p:sldId id="1348" r:id="rId33"/>
    <p:sldId id="1349" r:id="rId34"/>
    <p:sldId id="1353" r:id="rId35"/>
    <p:sldId id="1354" r:id="rId36"/>
  </p:sldIdLst>
  <p:sldSz cx="9144000" cy="6858000" type="screen4x3"/>
  <p:notesSz cx="7302500" cy="9586913"/>
  <p:custDataLst>
    <p:tags r:id="rId3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6F5BD"/>
    <a:srgbClr val="D5F1CF"/>
    <a:srgbClr val="F1C7C7"/>
    <a:srgbClr val="E2AC00"/>
    <a:srgbClr val="A9E39D"/>
    <a:srgbClr val="FF9999"/>
    <a:srgbClr val="8C4040"/>
    <a:srgbClr val="5C5C9A"/>
    <a:srgbClr val="676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7" autoAdjust="0"/>
    <p:restoredTop sz="96743" autoAdjust="0"/>
  </p:normalViewPr>
  <p:slideViewPr>
    <p:cSldViewPr snapToObjects="1">
      <p:cViewPr varScale="1">
        <p:scale>
          <a:sx n="85" d="100"/>
          <a:sy n="85" d="100"/>
        </p:scale>
        <p:origin x="1368" y="48"/>
      </p:cViewPr>
      <p:guideLst>
        <p:guide orient="horz" pos="283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40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43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97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43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088" tIns="47544" rIns="95088" bIns="47544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87447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63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4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52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62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71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3612" cy="35814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778" y="4551798"/>
            <a:ext cx="5354947" cy="43151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09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2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4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39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3612" cy="3581400"/>
          </a:xfrm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778" y="4551798"/>
            <a:ext cx="5354947" cy="43151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1276247" y="726094"/>
            <a:ext cx="4752421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51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308" tIns="47654" rIns="95308" bIns="47654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03762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278663" y="726094"/>
            <a:ext cx="4754835" cy="3582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55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3184" y="4554201"/>
            <a:ext cx="5356133" cy="4314943"/>
          </a:xfrm>
          <a:noFill/>
          <a:ln/>
        </p:spPr>
        <p:txBody>
          <a:bodyPr lIns="95683" tIns="47003" rIns="95683" bIns="47003"/>
          <a:lstStyle/>
          <a:p>
            <a:endParaRPr lang="en-US" smtClean="0"/>
          </a:p>
        </p:txBody>
      </p:sp>
      <p:sp>
        <p:nvSpPr>
          <p:cNvPr id="409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5963"/>
            <a:ext cx="4795838" cy="3598862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475798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5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573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95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83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902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30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498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877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9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4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4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7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:a16="http://schemas.microsoft.com/office/drawing/2014/main" xmlns="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:a16="http://schemas.microsoft.com/office/drawing/2014/main" xmlns="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:a16="http://schemas.microsoft.com/office/drawing/2014/main" xmlns="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:a16="http://schemas.microsoft.com/office/drawing/2014/main" xmlns="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947" y="4511620"/>
            <a:ext cx="8422108" cy="861580"/>
          </a:xfrm>
        </p:spPr>
        <p:txBody>
          <a:bodyPr>
            <a:noAutofit/>
          </a:bodyPr>
          <a:lstStyle>
            <a:lvl1pPr marL="0" indent="0" algn="ctr">
              <a:buNone/>
              <a:defRPr sz="2699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970" indent="0" algn="ctr">
              <a:buNone/>
              <a:defRPr sz="1999"/>
            </a:lvl2pPr>
            <a:lvl3pPr marL="913941" indent="0" algn="ctr">
              <a:buNone/>
              <a:defRPr sz="1800"/>
            </a:lvl3pPr>
            <a:lvl4pPr marL="1370911" indent="0" algn="ctr">
              <a:buNone/>
              <a:defRPr sz="1599"/>
            </a:lvl4pPr>
            <a:lvl5pPr marL="1827880" indent="0" algn="ctr">
              <a:buNone/>
              <a:defRPr sz="1599"/>
            </a:lvl5pPr>
            <a:lvl6pPr marL="2284851" indent="0" algn="ctr">
              <a:buNone/>
              <a:defRPr sz="1599"/>
            </a:lvl6pPr>
            <a:lvl7pPr marL="2741821" indent="0" algn="ctr">
              <a:buNone/>
              <a:defRPr sz="1599"/>
            </a:lvl7pPr>
            <a:lvl8pPr marL="3198791" indent="0" algn="ctr">
              <a:buNone/>
              <a:defRPr sz="1599"/>
            </a:lvl8pPr>
            <a:lvl9pPr marL="3655762" indent="0" algn="ctr">
              <a:buNone/>
              <a:defRPr sz="1599"/>
            </a:lvl9pPr>
          </a:lstStyle>
          <a:p>
            <a:r>
              <a:rPr lang="tr-TR" dirty="0"/>
              <a:t>DERS ADINI BURAYA YAZINIZ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13" hasCustomPrompt="1"/>
          </p:nvPr>
        </p:nvSpPr>
        <p:spPr>
          <a:xfrm>
            <a:off x="360946" y="5373201"/>
            <a:ext cx="8419760" cy="457200"/>
          </a:xfrm>
        </p:spPr>
        <p:txBody>
          <a:bodyPr>
            <a:normAutofit/>
          </a:bodyPr>
          <a:lstStyle>
            <a:lvl1pPr marL="0" indent="0" algn="ctr">
              <a:buNone/>
              <a:defRPr sz="1999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Öğretim Elemanı adını buraya yazınız</a:t>
            </a:r>
          </a:p>
        </p:txBody>
      </p:sp>
      <p:sp>
        <p:nvSpPr>
          <p:cNvPr id="10" name="Metin Yer Tutucusu 13">
            <a:extLst>
              <a:ext uri="{FF2B5EF4-FFF2-40B4-BE49-F238E27FC236}">
                <a16:creationId xmlns:a16="http://schemas.microsoft.com/office/drawing/2014/main" xmlns="" id="{84CE4D64-8539-4529-BCE1-681C75D8E2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946" y="5899412"/>
            <a:ext cx="8419760" cy="457200"/>
          </a:xfrm>
        </p:spPr>
        <p:txBody>
          <a:bodyPr>
            <a:normAutofit/>
          </a:bodyPr>
          <a:lstStyle>
            <a:lvl1pPr marL="0" indent="0" algn="ctr">
              <a:buNone/>
              <a:defRPr sz="1399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Kaçıncı bölüm/hafta dersi ise onu bu alana yazınız. (</a:t>
            </a:r>
            <a:r>
              <a:rPr lang="tr-TR" dirty="0" err="1"/>
              <a:t>Örn</a:t>
            </a:r>
            <a:r>
              <a:rPr lang="tr-TR" dirty="0"/>
              <a:t>: 1. Hafta ya da 1. Bölüm)</a:t>
            </a:r>
          </a:p>
        </p:txBody>
      </p:sp>
      <p:pic>
        <p:nvPicPr>
          <p:cNvPr id="11" name="Picture 12" descr="C:\Documents and Settings\systemx\Desktop\UE_SUNUM\Slayt_resim\sdu_logo.png">
            <a:extLst>
              <a:ext uri="{FF2B5EF4-FFF2-40B4-BE49-F238E27FC236}">
                <a16:creationId xmlns:a16="http://schemas.microsoft.com/office/drawing/2014/main" xmlns="" id="{54A5F748-F960-AE4B-A1A3-6201FEF1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267074" y="1895476"/>
            <a:ext cx="2514601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3" descr="C:\Documents and Settings\systemx\Desktop\UE_SUNUM\Slayt_resim\sdu_text.png">
            <a:extLst>
              <a:ext uri="{FF2B5EF4-FFF2-40B4-BE49-F238E27FC236}">
                <a16:creationId xmlns:a16="http://schemas.microsoft.com/office/drawing/2014/main" xmlns="" id="{93B7F04A-9970-B24A-8B74-E30EB3A35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95401" y="1066800"/>
            <a:ext cx="677227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7" descr="C:\Documents and Settings\systemx\Desktop\UE_SUNUM\Slayt_resim\ust.png">
            <a:extLst>
              <a:ext uri="{FF2B5EF4-FFF2-40B4-BE49-F238E27FC236}">
                <a16:creationId xmlns:a16="http://schemas.microsoft.com/office/drawing/2014/main" xmlns="" id="{2CFBFC92-D40E-5E41-9934-7BCC66B441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" y="0"/>
            <a:ext cx="9144001" cy="609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8309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  <p:sldLayoutId id="2147483662" r:id="rId14"/>
  </p:sldLayoutIdLst>
  <p:timing>
    <p:tnLst>
      <p:par>
        <p:cTn id="1" dur="indefinite" restart="never" nodeType="tmRoot"/>
      </p:par>
    </p:tnLst>
  </p:timing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:a16="http://schemas.microsoft.com/office/drawing/2014/main" xmlns="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BIL-304</a:t>
            </a:r>
            <a:br>
              <a:rPr lang="tr-TR" dirty="0" smtClean="0"/>
            </a:br>
            <a:r>
              <a:rPr lang="tr-TR" dirty="0" smtClean="0"/>
              <a:t>BİLGİSAYAR MİMARİSİ</a:t>
            </a:r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xmlns="" id="{0744FE32-494C-4944-B4D7-865039D7B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 smtClean="0"/>
              <a:t>Dr. Öğr. Üyesi Fatih GÖKÇE</a:t>
            </a:r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xmlns="" id="{F119D374-AC3C-034C-8AB9-F889A26B4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 smtClean="0"/>
              <a:t>14. Hafta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498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nvan 1">
            <a:extLst>
              <a:ext uri="{FF2B5EF4-FFF2-40B4-BE49-F238E27FC236}">
                <a16:creationId xmlns:a16="http://schemas.microsoft.com/office/drawing/2014/main" xmlns="" id="{6C8684D2-542F-224D-8719-6747131F98D1}"/>
              </a:ext>
            </a:extLst>
          </p:cNvPr>
          <p:cNvSpPr txBox="1">
            <a:spLocks/>
          </p:cNvSpPr>
          <p:nvPr/>
        </p:nvSpPr>
        <p:spPr bwMode="auto">
          <a:xfrm>
            <a:off x="313765" y="853415"/>
            <a:ext cx="8686800" cy="53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2pPr>
            <a:lvl3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3pPr>
            <a:lvl4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4pPr>
            <a:lvl5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5pPr>
            <a:lvl6pPr marL="4572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6pPr>
            <a:lvl7pPr marL="9144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7pPr>
            <a:lvl8pPr marL="13716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8pPr>
            <a:lvl9pPr marL="18288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9pPr>
          </a:lstStyle>
          <a:p>
            <a:pPr algn="ctr" eaLnBrk="1" hangingPunct="1"/>
            <a:r>
              <a:rPr lang="tr-TR" sz="3200" dirty="0">
                <a:solidFill>
                  <a:srgbClr val="002060"/>
                </a:solidFill>
                <a:latin typeface="Helvetica"/>
              </a:rPr>
              <a:t>Bölüm / Hafta Hedefleri</a:t>
            </a:r>
          </a:p>
        </p:txBody>
      </p:sp>
      <p:sp>
        <p:nvSpPr>
          <p:cNvPr id="10" name="İçerik Yer Tutucusu 2">
            <a:extLst>
              <a:ext uri="{FF2B5EF4-FFF2-40B4-BE49-F238E27FC236}">
                <a16:creationId xmlns:a16="http://schemas.microsoft.com/office/drawing/2014/main" xmlns="" id="{38A35BBB-8AFD-4941-AE2F-6BE7230124BA}"/>
              </a:ext>
            </a:extLst>
          </p:cNvPr>
          <p:cNvSpPr txBox="1">
            <a:spLocks/>
          </p:cNvSpPr>
          <p:nvPr/>
        </p:nvSpPr>
        <p:spPr bwMode="auto">
          <a:xfrm>
            <a:off x="313765" y="1515035"/>
            <a:ext cx="8686800" cy="297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>
            <a:lvl1pPr marL="385763" indent="-385763" algn="l" defTabSz="912813" rtl="0" fontAlgn="base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44475" algn="l" defTabSz="912813" rtl="0" fontAlgn="base">
              <a:spcBef>
                <a:spcPct val="2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2pPr>
            <a:lvl3pPr marL="1144588" indent="-238125" algn="l" defTabSz="912813" rtl="0" fontAlgn="base">
              <a:lnSpc>
                <a:spcPct val="107000"/>
              </a:lnSpc>
              <a:spcBef>
                <a:spcPct val="10000"/>
              </a:spcBef>
              <a:spcAft>
                <a:spcPct val="0"/>
              </a:spcAft>
              <a:buClr>
                <a:srgbClr val="005400"/>
              </a:buClr>
              <a:buSzPct val="90000"/>
              <a:buFont typeface="Wingdings" pitchFamily="2" charset="2"/>
              <a:buChar char="l"/>
              <a:defRPr b="1">
                <a:solidFill>
                  <a:schemeClr val="folHlink"/>
                </a:solidFill>
                <a:latin typeface="+mn-lt"/>
              </a:defRPr>
            </a:lvl3pPr>
            <a:lvl4pPr marL="1597025" indent="-227013" algn="l" defTabSz="912813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4pPr>
            <a:lvl5pPr marL="24479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9051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33623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8195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42767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0" eaLnBrk="1" hangingPunct="1">
              <a:buClr>
                <a:srgbClr val="660033"/>
              </a:buClr>
              <a:buFont typeface="Arial" panose="020B0604020202020204" pitchFamily="34" charset="0"/>
              <a:buChar char="•"/>
            </a:pPr>
            <a:r>
              <a:rPr lang="tr-TR" kern="0" dirty="0" smtClean="0">
                <a:solidFill>
                  <a:srgbClr val="003300"/>
                </a:solidFill>
                <a:effectLst/>
                <a:latin typeface="Helvetica"/>
              </a:rPr>
              <a:t>Önbellek</a:t>
            </a:r>
            <a:r>
              <a:rPr lang="en-US" kern="0" dirty="0" smtClean="0">
                <a:solidFill>
                  <a:srgbClr val="003300"/>
                </a:solidFill>
                <a:effectLst/>
                <a:latin typeface="Helvetica"/>
              </a:rPr>
              <a:t> </a:t>
            </a:r>
            <a:r>
              <a:rPr lang="en-US" kern="0" dirty="0" err="1" smtClean="0">
                <a:solidFill>
                  <a:srgbClr val="003300"/>
                </a:solidFill>
                <a:effectLst/>
                <a:latin typeface="Helvetica"/>
              </a:rPr>
              <a:t>konusunu</a:t>
            </a:r>
            <a:r>
              <a:rPr lang="en-US" kern="0" dirty="0" smtClean="0">
                <a:solidFill>
                  <a:srgbClr val="003300"/>
                </a:solidFill>
                <a:effectLst/>
                <a:latin typeface="Helvetica"/>
              </a:rPr>
              <a:t> </a:t>
            </a:r>
            <a:r>
              <a:rPr lang="en-US" kern="0" dirty="0" err="1" smtClean="0">
                <a:solidFill>
                  <a:srgbClr val="003300"/>
                </a:solidFill>
                <a:effectLst/>
                <a:latin typeface="Helvetica"/>
              </a:rPr>
              <a:t>anlataca</a:t>
            </a:r>
            <a:r>
              <a:rPr lang="tr-TR" kern="0" dirty="0" err="1" smtClean="0">
                <a:solidFill>
                  <a:srgbClr val="003300"/>
                </a:solidFill>
                <a:effectLst/>
                <a:latin typeface="Helvetica"/>
              </a:rPr>
              <a:t>ğımız</a:t>
            </a:r>
            <a:r>
              <a:rPr lang="tr-TR" kern="0" dirty="0" smtClean="0">
                <a:solidFill>
                  <a:srgbClr val="003300"/>
                </a:solidFill>
                <a:effectLst/>
                <a:latin typeface="Helvetica"/>
              </a:rPr>
              <a:t> bu derste</a:t>
            </a:r>
          </a:p>
          <a:p>
            <a:pPr lvl="1" eaLnBrk="1" hangingPunct="1">
              <a:buClr>
                <a:srgbClr val="660033"/>
              </a:buClr>
              <a:buFont typeface="Arial" panose="020B0604020202020204" pitchFamily="34" charset="0"/>
              <a:buChar char="•"/>
            </a:pPr>
            <a:r>
              <a:rPr lang="tr-TR" kern="0" dirty="0" smtClean="0">
                <a:solidFill>
                  <a:srgbClr val="000066"/>
                </a:solidFill>
                <a:latin typeface="Helvetica"/>
              </a:rPr>
              <a:t>Önbelleğin organizasyonunun, </a:t>
            </a:r>
          </a:p>
          <a:p>
            <a:pPr lvl="1" eaLnBrk="1" hangingPunct="1">
              <a:buClr>
                <a:srgbClr val="660033"/>
              </a:buClr>
              <a:buFont typeface="Arial" panose="020B0604020202020204" pitchFamily="34" charset="0"/>
              <a:buChar char="•"/>
            </a:pPr>
            <a:r>
              <a:rPr lang="tr-TR" kern="0" dirty="0" smtClean="0">
                <a:solidFill>
                  <a:srgbClr val="000066"/>
                </a:solidFill>
                <a:latin typeface="Helvetica"/>
              </a:rPr>
              <a:t>Çeşitlerinin,</a:t>
            </a:r>
          </a:p>
          <a:p>
            <a:pPr lvl="1" eaLnBrk="1" hangingPunct="1">
              <a:buClr>
                <a:srgbClr val="660033"/>
              </a:buClr>
              <a:buFont typeface="Arial" panose="020B0604020202020204" pitchFamily="34" charset="0"/>
              <a:buChar char="•"/>
            </a:pPr>
            <a:r>
              <a:rPr lang="tr-TR" kern="0" dirty="0" smtClean="0">
                <a:solidFill>
                  <a:srgbClr val="000066"/>
                </a:solidFill>
                <a:latin typeface="Helvetica"/>
              </a:rPr>
              <a:t>Performansa etkisinin öğrenilmesi hedeflenmektedir</a:t>
            </a:r>
            <a:r>
              <a:rPr kumimoji="0" lang="tr-T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/>
              </a:rPr>
              <a:t>.</a:t>
            </a:r>
            <a:endParaRPr kumimoji="0" lang="tr-TR" sz="2000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/>
            </a:endParaRPr>
          </a:p>
        </p:txBody>
      </p:sp>
      <p:sp>
        <p:nvSpPr>
          <p:cNvPr id="11" name="Subtitle 1"/>
          <p:cNvSpPr txBox="1">
            <a:spLocks/>
          </p:cNvSpPr>
          <p:nvPr/>
        </p:nvSpPr>
        <p:spPr>
          <a:xfrm>
            <a:off x="584063" y="5251450"/>
            <a:ext cx="8248787" cy="6858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1pPr>
            <a:lvl2pPr marL="457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2pPr>
            <a:lvl3pPr marL="914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3pPr>
            <a:lvl4pPr marL="1371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4pPr>
            <a:lvl5pPr marL="18288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5pPr>
            <a:lvl6pPr marL="22860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tr-TR" sz="1597" kern="0" dirty="0" smtClean="0">
                <a:solidFill>
                  <a:srgbClr val="000066"/>
                </a:solidFill>
                <a:latin typeface="Helvetica"/>
              </a:rPr>
              <a:t>Bu ders notundaki slaytlar ders </a:t>
            </a:r>
            <a:r>
              <a:rPr lang="tr-TR" sz="1597" kern="0" dirty="0">
                <a:solidFill>
                  <a:srgbClr val="000066"/>
                </a:solidFill>
                <a:latin typeface="Helvetica"/>
              </a:rPr>
              <a:t>kitabına ait sunum dosyalarından adapte edilmiştir</a:t>
            </a:r>
            <a:r>
              <a:rPr lang="en-US" sz="1597" kern="0" dirty="0">
                <a:solidFill>
                  <a:srgbClr val="000066"/>
                </a:solidFill>
                <a:latin typeface="Helvetica"/>
              </a:rPr>
              <a:t>: </a:t>
            </a:r>
            <a:r>
              <a:rPr lang="en-US" sz="1597" kern="0" dirty="0">
                <a:solidFill>
                  <a:srgbClr val="000066"/>
                </a:solidFill>
                <a:latin typeface="Helvetica"/>
                <a:hlinkClick r:id="rId2"/>
              </a:rPr>
              <a:t>http://csapp.cs.cmu.edu/</a:t>
            </a:r>
            <a:r>
              <a:rPr lang="en-US" sz="1597" kern="0" dirty="0">
                <a:solidFill>
                  <a:srgbClr val="000066"/>
                </a:solidFill>
                <a:latin typeface="Helvetica"/>
              </a:rPr>
              <a:t>  </a:t>
            </a:r>
            <a:endParaRPr lang="tr-TR" sz="1597" kern="0" dirty="0">
              <a:solidFill>
                <a:srgbClr val="000066"/>
              </a:solidFill>
              <a:latin typeface="Helvetica"/>
            </a:endParaRPr>
          </a:p>
          <a:p>
            <a:pPr>
              <a:lnSpc>
                <a:spcPct val="90000"/>
              </a:lnSpc>
              <a:defRPr/>
            </a:pPr>
            <a:r>
              <a:rPr lang="en-US" sz="1198" kern="0" dirty="0">
                <a:solidFill>
                  <a:srgbClr val="000066"/>
                </a:solidFill>
                <a:latin typeface="Helvetica"/>
              </a:rPr>
              <a:t>Adapted from slides of the textbook: </a:t>
            </a:r>
            <a:r>
              <a:rPr lang="en-US" sz="1198" kern="0" dirty="0">
                <a:solidFill>
                  <a:srgbClr val="000066"/>
                </a:solidFill>
                <a:latin typeface="Helvetica"/>
                <a:hlinkClick r:id="rId2"/>
              </a:rPr>
              <a:t>http://csapp.cs.cmu.edu/</a:t>
            </a:r>
            <a:r>
              <a:rPr lang="en-US" sz="1198" kern="0" dirty="0">
                <a:solidFill>
                  <a:srgbClr val="000066"/>
                </a:solidFill>
                <a:latin typeface="Helvetica"/>
              </a:rPr>
              <a:t>  </a:t>
            </a:r>
          </a:p>
          <a:p>
            <a:pPr>
              <a:lnSpc>
                <a:spcPct val="90000"/>
              </a:lnSpc>
            </a:pPr>
            <a:endParaRPr lang="en-US" sz="1996" kern="0" dirty="0">
              <a:solidFill>
                <a:srgbClr val="000066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7299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Bu slayt setinde anlatılanlar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Önbellek hafıza organizasyonu ve çalışması</a:t>
            </a:r>
            <a:endParaRPr lang="en-US" dirty="0" smtClean="0"/>
          </a:p>
          <a:p>
            <a:r>
              <a:rPr lang="tr-TR" dirty="0" smtClean="0">
                <a:solidFill>
                  <a:schemeClr val="bg1">
                    <a:lumMod val="75000"/>
                  </a:schemeClr>
                </a:solidFill>
              </a:rPr>
              <a:t>Önbelleğin performans üzerine etkisi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>
          <a:xfrm>
            <a:off x="61913" y="284162"/>
            <a:ext cx="8716962" cy="782638"/>
          </a:xfrm>
        </p:spPr>
        <p:txBody>
          <a:bodyPr>
            <a:no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800" dirty="0" smtClean="0">
                <a:latin typeface="Arial"/>
                <a:cs typeface="Arial"/>
              </a:rPr>
              <a:t> Örnek Hafıza</a:t>
            </a:r>
            <a:br>
              <a:rPr lang="tr-TR" sz="2800" dirty="0" smtClean="0">
                <a:latin typeface="Arial"/>
                <a:cs typeface="Arial"/>
              </a:rPr>
            </a:br>
            <a:r>
              <a:rPr lang="en-GB" sz="2800" dirty="0" smtClean="0">
                <a:latin typeface="Arial"/>
                <a:cs typeface="Arial"/>
              </a:rPr>
              <a:t>Hi</a:t>
            </a:r>
            <a:r>
              <a:rPr lang="tr-TR" sz="2800" dirty="0" err="1" smtClean="0">
                <a:latin typeface="Arial"/>
                <a:cs typeface="Arial"/>
              </a:rPr>
              <a:t>yerarşisi</a:t>
            </a:r>
            <a:endParaRPr lang="en-GB" sz="2800" dirty="0" smtClean="0">
              <a:latin typeface="Arial"/>
              <a:cs typeface="Arial"/>
            </a:endParaRPr>
          </a:p>
        </p:txBody>
      </p:sp>
      <p:sp>
        <p:nvSpPr>
          <p:cNvPr id="151" name="AutoShape 195"/>
          <p:cNvSpPr>
            <a:spLocks noChangeAspect="1" noChangeArrowheads="1"/>
          </p:cNvSpPr>
          <p:nvPr/>
        </p:nvSpPr>
        <p:spPr bwMode="auto">
          <a:xfrm>
            <a:off x="552450" y="342900"/>
            <a:ext cx="6902450" cy="6456363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140000" scaled="0"/>
            <a:tileRect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2" name="Text Box 196"/>
          <p:cNvSpPr txBox="1">
            <a:spLocks noChangeAspect="1" noChangeArrowheads="1"/>
          </p:cNvSpPr>
          <p:nvPr/>
        </p:nvSpPr>
        <p:spPr bwMode="auto">
          <a:xfrm>
            <a:off x="3507556" y="1037637"/>
            <a:ext cx="98616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Kaydediciler</a:t>
            </a:r>
            <a:endParaRPr kumimoji="0" lang="en-US" sz="105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3" name="Text Box 198"/>
          <p:cNvSpPr txBox="1">
            <a:spLocks noChangeAspect="1" noChangeArrowheads="1"/>
          </p:cNvSpPr>
          <p:nvPr/>
        </p:nvSpPr>
        <p:spPr bwMode="auto">
          <a:xfrm>
            <a:off x="3352800" y="1314163"/>
            <a:ext cx="12875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L1 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önbelleği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54" name="Text Box 199"/>
          <p:cNvSpPr txBox="1">
            <a:spLocks noChangeAspect="1" noChangeArrowheads="1"/>
          </p:cNvSpPr>
          <p:nvPr/>
        </p:nvSpPr>
        <p:spPr bwMode="auto">
          <a:xfrm>
            <a:off x="3393159" y="3821797"/>
            <a:ext cx="13260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Ana Hafıza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(DRAM)</a:t>
            </a:r>
          </a:p>
        </p:txBody>
      </p:sp>
      <p:sp>
        <p:nvSpPr>
          <p:cNvPr id="155" name="Text Box 200"/>
          <p:cNvSpPr txBox="1">
            <a:spLocks noChangeAspect="1" noChangeArrowheads="1"/>
          </p:cNvSpPr>
          <p:nvPr/>
        </p:nvSpPr>
        <p:spPr bwMode="auto">
          <a:xfrm>
            <a:off x="2841728" y="4847322"/>
            <a:ext cx="24288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Yerel ikincil depolama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lang="tr-TR" sz="18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yerel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disk</a:t>
            </a:r>
            <a:r>
              <a:rPr kumimoji="0" lang="tr-T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6" name="Line 203"/>
          <p:cNvSpPr>
            <a:spLocks noChangeAspect="1" noChangeShapeType="1"/>
          </p:cNvSpPr>
          <p:nvPr/>
        </p:nvSpPr>
        <p:spPr bwMode="auto">
          <a:xfrm>
            <a:off x="3513138" y="1265238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7" name="Line 204"/>
          <p:cNvSpPr>
            <a:spLocks noChangeAspect="1" noChangeShapeType="1"/>
          </p:cNvSpPr>
          <p:nvPr/>
        </p:nvSpPr>
        <p:spPr bwMode="auto">
          <a:xfrm>
            <a:off x="3162300" y="1903413"/>
            <a:ext cx="16716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8" name="Line 205"/>
          <p:cNvSpPr>
            <a:spLocks noChangeAspect="1" noChangeShapeType="1"/>
          </p:cNvSpPr>
          <p:nvPr/>
        </p:nvSpPr>
        <p:spPr bwMode="auto">
          <a:xfrm>
            <a:off x="2779713" y="2655888"/>
            <a:ext cx="2447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9" name="Line 222"/>
          <p:cNvSpPr>
            <a:spLocks noChangeAspect="1" noChangeShapeType="1"/>
          </p:cNvSpPr>
          <p:nvPr/>
        </p:nvSpPr>
        <p:spPr bwMode="auto">
          <a:xfrm>
            <a:off x="76200" y="3473450"/>
            <a:ext cx="0" cy="234473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0" name="Text Box 223"/>
          <p:cNvSpPr txBox="1">
            <a:spLocks noChangeAspect="1" noChangeArrowheads="1"/>
          </p:cNvSpPr>
          <p:nvPr/>
        </p:nvSpPr>
        <p:spPr bwMode="auto">
          <a:xfrm>
            <a:off x="123825" y="3581400"/>
            <a:ext cx="151836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Daha büyük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 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Daha yavaş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 err="1">
                <a:solidFill>
                  <a:sysClr val="windowText" lastClr="000000"/>
                </a:solidFill>
                <a:latin typeface="Arial"/>
                <a:cs typeface="Arial"/>
              </a:rPr>
              <a:t>Byte</a:t>
            </a:r>
            <a:r>
              <a:rPr lang="tr-TR" sz="1600" b="0" kern="0" dirty="0">
                <a:solidFill>
                  <a:sysClr val="windowText" lastClr="000000"/>
                </a:solidFill>
                <a:latin typeface="Arial"/>
                <a:cs typeface="Arial"/>
              </a:rPr>
              <a:t> başına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>
                <a:solidFill>
                  <a:sysClr val="windowText" lastClr="000000"/>
                </a:solidFill>
                <a:latin typeface="Arial"/>
                <a:cs typeface="Arial"/>
              </a:rPr>
              <a:t>daha </a:t>
            </a:r>
            <a:r>
              <a:rPr lang="tr-TR" sz="16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ucuz</a:t>
            </a:r>
            <a:endParaRPr lang="tr-TR" sz="1600" b="0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>
                <a:solidFill>
                  <a:sysClr val="windowText" lastClr="000000"/>
                </a:solidFill>
                <a:latin typeface="Arial"/>
                <a:cs typeface="Arial"/>
              </a:rPr>
              <a:t>hafıza birimleri</a:t>
            </a:r>
            <a:endParaRPr lang="en-US" sz="1600" b="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61" name="Line 224"/>
          <p:cNvSpPr>
            <a:spLocks noChangeAspect="1" noChangeShapeType="1"/>
          </p:cNvSpPr>
          <p:nvPr/>
        </p:nvSpPr>
        <p:spPr bwMode="auto">
          <a:xfrm>
            <a:off x="2255838" y="3586163"/>
            <a:ext cx="3475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2" name="Text Box 225"/>
          <p:cNvSpPr txBox="1">
            <a:spLocks noChangeAspect="1" noChangeArrowheads="1"/>
          </p:cNvSpPr>
          <p:nvPr/>
        </p:nvSpPr>
        <p:spPr bwMode="auto">
          <a:xfrm>
            <a:off x="2636542" y="5947460"/>
            <a:ext cx="28392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Uzak </a:t>
            </a:r>
            <a:r>
              <a:rPr lang="tr-TR" sz="1800" b="0" kern="0" dirty="0">
                <a:solidFill>
                  <a:sysClr val="windowText" lastClr="000000"/>
                </a:solidFill>
                <a:latin typeface="Arial"/>
                <a:cs typeface="Arial"/>
              </a:rPr>
              <a:t>ikincil depolama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lang="tr-TR" sz="18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örneğin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 Web s</a:t>
            </a:r>
            <a:r>
              <a:rPr kumimoji="0" lang="tr-T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unucuları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5" name="Text Box 227"/>
          <p:cNvSpPr txBox="1">
            <a:spLocks noChangeAspect="1" noChangeArrowheads="1"/>
          </p:cNvSpPr>
          <p:nvPr/>
        </p:nvSpPr>
        <p:spPr bwMode="auto">
          <a:xfrm>
            <a:off x="7073306" y="5267329"/>
            <a:ext cx="20627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Yerel </a:t>
            </a:r>
            <a:r>
              <a:rPr kumimoji="0" 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disk</a:t>
            </a:r>
            <a:r>
              <a:rPr kumimoji="0" lang="tr-TR" sz="140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ler</a:t>
            </a:r>
            <a:r>
              <a:rPr kumimoji="0" lang="tr-TR" sz="1400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uzak sunucularda bulunan disklerden alınan dosyaları tutar.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6" name="Line 235"/>
          <p:cNvSpPr>
            <a:spLocks noChangeAspect="1" noChangeShapeType="1"/>
          </p:cNvSpPr>
          <p:nvPr/>
        </p:nvSpPr>
        <p:spPr bwMode="auto">
          <a:xfrm>
            <a:off x="1708150" y="4632325"/>
            <a:ext cx="45767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7" name="Text Box 236"/>
          <p:cNvSpPr txBox="1">
            <a:spLocks noChangeAspect="1" noChangeArrowheads="1"/>
          </p:cNvSpPr>
          <p:nvPr/>
        </p:nvSpPr>
        <p:spPr bwMode="auto">
          <a:xfrm>
            <a:off x="3341864" y="1948547"/>
            <a:ext cx="14285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L2 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önbelleği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69" name="Text Box 243"/>
          <p:cNvSpPr txBox="1">
            <a:spLocks noChangeAspect="1" noChangeArrowheads="1"/>
          </p:cNvSpPr>
          <p:nvPr/>
        </p:nvSpPr>
        <p:spPr bwMode="auto">
          <a:xfrm>
            <a:off x="4962526" y="1641804"/>
            <a:ext cx="2838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L1 </a:t>
            </a:r>
            <a:r>
              <a:rPr kumimoji="0" lang="tr-T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önbelleği L2 önbelleğinden alınan önbellek satırlarını tutar.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1" name="Text Box 233"/>
          <p:cNvSpPr txBox="1">
            <a:spLocks noChangeAspect="1" noChangeArrowheads="1"/>
          </p:cNvSpPr>
          <p:nvPr/>
        </p:nvSpPr>
        <p:spPr bwMode="auto">
          <a:xfrm>
            <a:off x="4573588" y="973465"/>
            <a:ext cx="3214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CPU </a:t>
            </a:r>
            <a:r>
              <a:rPr kumimoji="0" lang="tr-T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kaydedicileri L1 önbelleğinden alınan sözcükleri tutar</a:t>
            </a:r>
            <a:r>
              <a:rPr kumimoji="0" 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4" name="Text Box 231"/>
          <p:cNvSpPr txBox="1">
            <a:spLocks noChangeAspect="1" noChangeArrowheads="1"/>
          </p:cNvSpPr>
          <p:nvPr/>
        </p:nvSpPr>
        <p:spPr bwMode="auto">
          <a:xfrm>
            <a:off x="5365750" y="2403801"/>
            <a:ext cx="28204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tr-TR" sz="1400" kern="0" dirty="0" smtClean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lang="en-US" sz="1400" kern="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tr-TR" sz="1400" kern="0" dirty="0">
                <a:solidFill>
                  <a:srgbClr val="FF0000"/>
                </a:solidFill>
                <a:latin typeface="Arial"/>
                <a:cs typeface="Arial"/>
              </a:rPr>
              <a:t>önbelleği </a:t>
            </a:r>
            <a:r>
              <a:rPr lang="tr-TR" sz="1400" kern="0" dirty="0" smtClean="0">
                <a:solidFill>
                  <a:srgbClr val="FF0000"/>
                </a:solidFill>
                <a:latin typeface="Arial"/>
                <a:cs typeface="Arial"/>
              </a:rPr>
              <a:t>L3 </a:t>
            </a:r>
            <a:r>
              <a:rPr lang="tr-TR" sz="1400" kern="0" dirty="0">
                <a:solidFill>
                  <a:srgbClr val="FF0000"/>
                </a:solidFill>
                <a:latin typeface="Arial"/>
                <a:cs typeface="Arial"/>
              </a:rPr>
              <a:t>önbelleğinden alınan önbellek satırlarını tutar.</a:t>
            </a:r>
            <a:endParaRPr lang="en-US" sz="1400" kern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76" name="Text Box 247"/>
          <p:cNvSpPr txBox="1">
            <a:spLocks noChangeAspect="1" noChangeArrowheads="1"/>
          </p:cNvSpPr>
          <p:nvPr/>
        </p:nvSpPr>
        <p:spPr bwMode="auto">
          <a:xfrm>
            <a:off x="3235325" y="644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L0:</a:t>
            </a:r>
          </a:p>
        </p:txBody>
      </p:sp>
      <p:sp>
        <p:nvSpPr>
          <p:cNvPr id="177" name="Text Box 248"/>
          <p:cNvSpPr txBox="1">
            <a:spLocks noChangeAspect="1" noChangeArrowheads="1"/>
          </p:cNvSpPr>
          <p:nvPr/>
        </p:nvSpPr>
        <p:spPr bwMode="auto">
          <a:xfrm>
            <a:off x="2867025" y="13536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L1:</a:t>
            </a:r>
          </a:p>
        </p:txBody>
      </p:sp>
      <p:sp>
        <p:nvSpPr>
          <p:cNvPr id="178" name="Text Box 249"/>
          <p:cNvSpPr txBox="1">
            <a:spLocks noChangeAspect="1" noChangeArrowheads="1"/>
          </p:cNvSpPr>
          <p:nvPr/>
        </p:nvSpPr>
        <p:spPr bwMode="auto">
          <a:xfrm>
            <a:off x="2486025" y="2041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L2:</a:t>
            </a:r>
          </a:p>
        </p:txBody>
      </p:sp>
      <p:sp>
        <p:nvSpPr>
          <p:cNvPr id="179" name="Text Box 250"/>
          <p:cNvSpPr txBox="1">
            <a:spLocks noChangeAspect="1" noChangeArrowheads="1"/>
          </p:cNvSpPr>
          <p:nvPr/>
        </p:nvSpPr>
        <p:spPr bwMode="auto">
          <a:xfrm>
            <a:off x="2079625" y="279665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L3:</a:t>
            </a:r>
          </a:p>
        </p:txBody>
      </p:sp>
      <p:sp>
        <p:nvSpPr>
          <p:cNvPr id="180" name="Text Box 251"/>
          <p:cNvSpPr txBox="1">
            <a:spLocks noChangeAspect="1" noChangeArrowheads="1"/>
          </p:cNvSpPr>
          <p:nvPr/>
        </p:nvSpPr>
        <p:spPr bwMode="auto">
          <a:xfrm>
            <a:off x="1554163" y="37951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L4:</a:t>
            </a:r>
          </a:p>
        </p:txBody>
      </p:sp>
      <p:sp>
        <p:nvSpPr>
          <p:cNvPr id="181" name="Text Box 252"/>
          <p:cNvSpPr txBox="1">
            <a:spLocks noChangeAspect="1" noChangeArrowheads="1"/>
          </p:cNvSpPr>
          <p:nvPr/>
        </p:nvSpPr>
        <p:spPr bwMode="auto">
          <a:xfrm>
            <a:off x="933450" y="49127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L5:</a:t>
            </a:r>
          </a:p>
        </p:txBody>
      </p:sp>
      <p:sp>
        <p:nvSpPr>
          <p:cNvPr id="182" name="Text Box 289"/>
          <p:cNvSpPr txBox="1">
            <a:spLocks noChangeAspect="1" noChangeArrowheads="1"/>
          </p:cNvSpPr>
          <p:nvPr/>
        </p:nvSpPr>
        <p:spPr bwMode="auto">
          <a:xfrm>
            <a:off x="130175" y="1383775"/>
            <a:ext cx="151836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Daha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k</a:t>
            </a:r>
            <a:r>
              <a:rPr kumimoji="0" lang="tr-TR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üçük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noProof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Daha hızlı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 err="1" smtClean="0">
                <a:solidFill>
                  <a:sysClr val="windowText" lastClr="000000"/>
                </a:solidFill>
                <a:latin typeface="Arial"/>
                <a:cs typeface="Arial"/>
              </a:rPr>
              <a:t>Byte</a:t>
            </a:r>
            <a:r>
              <a:rPr lang="tr-TR" sz="16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 başına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daha pahalı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b="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hafıza birimleri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3" name="Line 291"/>
          <p:cNvSpPr>
            <a:spLocks noChangeShapeType="1"/>
          </p:cNvSpPr>
          <p:nvPr/>
        </p:nvSpPr>
        <p:spPr bwMode="auto">
          <a:xfrm flipH="1" flipV="1">
            <a:off x="90488" y="954088"/>
            <a:ext cx="0" cy="215423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4" name="Line 292"/>
          <p:cNvSpPr>
            <a:spLocks noChangeAspect="1" noChangeShapeType="1"/>
          </p:cNvSpPr>
          <p:nvPr/>
        </p:nvSpPr>
        <p:spPr bwMode="auto">
          <a:xfrm>
            <a:off x="1117600" y="5743575"/>
            <a:ext cx="576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5" name="Text Box 293"/>
          <p:cNvSpPr txBox="1">
            <a:spLocks noChangeAspect="1" noChangeArrowheads="1"/>
          </p:cNvSpPr>
          <p:nvPr/>
        </p:nvSpPr>
        <p:spPr bwMode="auto">
          <a:xfrm>
            <a:off x="3341864" y="2780397"/>
            <a:ext cx="14285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L3 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önbelleği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87" name="Text Box 295"/>
          <p:cNvSpPr txBox="1">
            <a:spLocks noChangeAspect="1" noChangeArrowheads="1"/>
          </p:cNvSpPr>
          <p:nvPr/>
        </p:nvSpPr>
        <p:spPr bwMode="auto">
          <a:xfrm>
            <a:off x="5810250" y="3305501"/>
            <a:ext cx="2876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lang="tr-TR" sz="1400" kern="0" dirty="0" smtClean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lang="en-US" sz="1400" kern="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tr-TR" sz="1400" kern="0" dirty="0">
                <a:solidFill>
                  <a:srgbClr val="FF0000"/>
                </a:solidFill>
                <a:latin typeface="Arial"/>
                <a:cs typeface="Arial"/>
              </a:rPr>
              <a:t>önbelleği </a:t>
            </a:r>
            <a:r>
              <a:rPr lang="tr-TR" sz="1400" kern="0" dirty="0" smtClean="0">
                <a:solidFill>
                  <a:srgbClr val="FF0000"/>
                </a:solidFill>
                <a:latin typeface="Arial"/>
                <a:cs typeface="Arial"/>
              </a:rPr>
              <a:t>ana hafızadan </a:t>
            </a:r>
            <a:r>
              <a:rPr lang="tr-TR" sz="1400" kern="0" dirty="0">
                <a:solidFill>
                  <a:srgbClr val="FF0000"/>
                </a:solidFill>
                <a:latin typeface="Arial"/>
                <a:cs typeface="Arial"/>
              </a:rPr>
              <a:t>alınan önbellek satırlarını tutar.</a:t>
            </a:r>
            <a:endParaRPr lang="en-US" sz="1400" kern="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9" name="Text Box 297"/>
          <p:cNvSpPr txBox="1">
            <a:spLocks noChangeAspect="1" noChangeArrowheads="1"/>
          </p:cNvSpPr>
          <p:nvPr/>
        </p:nvSpPr>
        <p:spPr bwMode="auto">
          <a:xfrm>
            <a:off x="387350" y="59637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L6:</a:t>
            </a:r>
          </a:p>
        </p:txBody>
      </p:sp>
      <p:sp>
        <p:nvSpPr>
          <p:cNvPr id="234" name="Text Box 229"/>
          <p:cNvSpPr txBox="1">
            <a:spLocks noChangeAspect="1" noChangeArrowheads="1"/>
          </p:cNvSpPr>
          <p:nvPr/>
        </p:nvSpPr>
        <p:spPr bwMode="auto">
          <a:xfrm>
            <a:off x="6399690" y="4238399"/>
            <a:ext cx="218418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Ana hafıza yerel disklerden</a:t>
            </a:r>
            <a:r>
              <a:rPr kumimoji="0" lang="tr-TR" sz="1400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alınan blokları tutar</a:t>
            </a:r>
            <a:r>
              <a:rPr kumimoji="0" 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58092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 smtClean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Genel</a:t>
            </a:r>
            <a:r>
              <a:rPr lang="en-US" dirty="0" smtClean="0"/>
              <a:t> </a:t>
            </a:r>
            <a:r>
              <a:rPr lang="tr-TR" dirty="0" smtClean="0"/>
              <a:t>Önbellek Konsepti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rgbClr val="DEDFF5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234859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Calibri" pitchFamily="34" charset="0"/>
              </a:rPr>
              <a:t>Önbellek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0842" y="4343400"/>
            <a:ext cx="972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latin typeface="Calibri" pitchFamily="34" charset="0"/>
              </a:rPr>
              <a:t>Hafıza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635242" y="4026676"/>
            <a:ext cx="3406808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b="1" dirty="0" smtClean="0">
                <a:latin typeface="Calibri" pitchFamily="34" charset="0"/>
              </a:rPr>
              <a:t>Daha büyük, daha yavaş, daha ucuz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dirty="0" smtClean="0">
                <a:latin typeface="Calibri" pitchFamily="34" charset="0"/>
              </a:rPr>
              <a:t>ana hafıza birimi </a:t>
            </a:r>
            <a:r>
              <a:rPr lang="en-US" sz="1600" dirty="0" smtClean="0">
                <a:latin typeface="Calibri" pitchFamily="34" charset="0"/>
              </a:rPr>
              <a:t>“</a:t>
            </a:r>
            <a:r>
              <a:rPr lang="tr-TR" sz="1600" dirty="0" smtClean="0">
                <a:latin typeface="Calibri" pitchFamily="34" charset="0"/>
              </a:rPr>
              <a:t>blok</a:t>
            </a:r>
            <a:r>
              <a:rPr lang="en-US" sz="1600" dirty="0" smtClean="0">
                <a:latin typeface="Calibri" pitchFamily="34" charset="0"/>
              </a:rPr>
              <a:t>”</a:t>
            </a:r>
            <a:r>
              <a:rPr lang="tr-TR" sz="1600" dirty="0" err="1" smtClean="0">
                <a:latin typeface="Calibri" pitchFamily="34" charset="0"/>
              </a:rPr>
              <a:t>lara</a:t>
            </a:r>
            <a:r>
              <a:rPr lang="tr-TR" sz="1600" dirty="0" smtClean="0">
                <a:latin typeface="Calibri" pitchFamily="34" charset="0"/>
              </a:rPr>
              <a:t> bölünmüş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b="1" dirty="0" smtClean="0">
                <a:latin typeface="Calibri" pitchFamily="34" charset="0"/>
              </a:rPr>
              <a:t>olarak görünür.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3942800" y="3232919"/>
            <a:ext cx="283900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b="1" dirty="0" smtClean="0">
                <a:latin typeface="Calibri" pitchFamily="34" charset="0"/>
              </a:rPr>
              <a:t>Veri, blok-boyutlu transfer birimleri içerisinde kopyalanır.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562600" y="2166312"/>
            <a:ext cx="3497858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b="1" dirty="0" smtClean="0">
                <a:latin typeface="Calibri" pitchFamily="34" charset="0"/>
              </a:rPr>
              <a:t>Daha küçük, daha hızlı, daha pahalı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dirty="0" smtClean="0">
                <a:latin typeface="Calibri" pitchFamily="34" charset="0"/>
              </a:rPr>
              <a:t>hafıza birimi, blokların bir alt kümesini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dirty="0" smtClean="0">
                <a:latin typeface="Calibri" pitchFamily="34" charset="0"/>
              </a:rPr>
              <a:t>önbellekler.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latin typeface="Calibri" pitchFamily="34" charset="0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 animBg="1"/>
      <p:bldP spid="38" grpId="0" animBg="1"/>
      <p:bldP spid="38" grpId="1" animBg="1"/>
      <p:bldP spid="39" grpId="0" animBg="1"/>
      <p:bldP spid="40" grpId="0" animBg="1"/>
      <p:bldP spid="41" grpId="0" animBg="1"/>
      <p:bldP spid="41" grpId="1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23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Önbellek Hafızaları</a:t>
            </a:r>
            <a:endParaRPr lang="en-US" dirty="0"/>
          </a:p>
        </p:txBody>
      </p:sp>
      <p:sp>
        <p:nvSpPr>
          <p:cNvPr id="187424" name="Rectangle 3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Önbellek hafızaları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tr-TR" dirty="0" smtClean="0"/>
              <a:t>donanım tarafından otomatik şekilde yönetilen </a:t>
            </a:r>
            <a:r>
              <a:rPr lang="tr-TR" dirty="0"/>
              <a:t>küçük, hızlı SRAM-tabanlı </a:t>
            </a:r>
            <a:r>
              <a:rPr lang="tr-TR" dirty="0" smtClean="0"/>
              <a:t>hafızalardır</a:t>
            </a:r>
            <a:endParaRPr lang="en-US" dirty="0" smtClean="0"/>
          </a:p>
          <a:p>
            <a:pPr lvl="1"/>
            <a:r>
              <a:rPr lang="tr-TR" dirty="0" smtClean="0"/>
              <a:t>Sıkça erişilen ana hafıza bloklarını tutar</a:t>
            </a:r>
            <a:endParaRPr lang="en-US" dirty="0" smtClean="0"/>
          </a:p>
          <a:p>
            <a:r>
              <a:rPr lang="en-US" dirty="0" smtClean="0"/>
              <a:t>CPU </a:t>
            </a:r>
            <a:r>
              <a:rPr lang="tr-TR" dirty="0" smtClean="0"/>
              <a:t>bir veri için önce önbelleğe, sonra ana hafızaya bakar</a:t>
            </a:r>
            <a:endParaRPr lang="en-US" dirty="0" smtClean="0"/>
          </a:p>
          <a:p>
            <a:r>
              <a:rPr lang="en-US" dirty="0" smtClean="0"/>
              <a:t>T</a:t>
            </a:r>
            <a:r>
              <a:rPr lang="tr-TR" dirty="0" smtClean="0"/>
              <a:t>i</a:t>
            </a:r>
            <a:r>
              <a:rPr lang="en-US" dirty="0" smtClean="0"/>
              <a:t>pi</a:t>
            </a:r>
            <a:r>
              <a:rPr lang="tr-TR" dirty="0" smtClean="0"/>
              <a:t>k</a:t>
            </a:r>
            <a:r>
              <a:rPr lang="en-US" dirty="0" smtClean="0"/>
              <a:t> s</a:t>
            </a:r>
            <a:r>
              <a:rPr lang="tr-TR" dirty="0" smtClean="0"/>
              <a:t>i</a:t>
            </a:r>
            <a:r>
              <a:rPr lang="en-US" dirty="0" smtClean="0"/>
              <a:t>stem </a:t>
            </a:r>
            <a:r>
              <a:rPr lang="tr-TR" dirty="0" smtClean="0"/>
              <a:t>yapısı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3" name="Rectangle 146"/>
          <p:cNvSpPr>
            <a:spLocks noChangeAspect="1" noChangeArrowheads="1"/>
          </p:cNvSpPr>
          <p:nvPr/>
        </p:nvSpPr>
        <p:spPr bwMode="auto">
          <a:xfrm>
            <a:off x="7258050" y="5653087"/>
            <a:ext cx="819150" cy="823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tr-TR" sz="1600" dirty="0" smtClean="0"/>
              <a:t>Ana</a:t>
            </a:r>
          </a:p>
          <a:p>
            <a:pPr algn="ctr"/>
            <a:r>
              <a:rPr lang="tr-TR" sz="1600" dirty="0" smtClean="0"/>
              <a:t>Hafıza</a:t>
            </a:r>
            <a:endParaRPr lang="en-US" sz="1600" dirty="0"/>
          </a:p>
        </p:txBody>
      </p:sp>
      <p:sp>
        <p:nvSpPr>
          <p:cNvPr id="34" name="AutoShape 201"/>
          <p:cNvSpPr>
            <a:spLocks noChangeAspect="1" noChangeArrowheads="1"/>
          </p:cNvSpPr>
          <p:nvPr/>
        </p:nvSpPr>
        <p:spPr bwMode="auto">
          <a:xfrm>
            <a:off x="5884863" y="5789612"/>
            <a:ext cx="1344612" cy="481013"/>
          </a:xfrm>
          <a:prstGeom prst="leftRightArrow">
            <a:avLst>
              <a:gd name="adj1" fmla="val 50000"/>
              <a:gd name="adj2" fmla="val 5590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5" name="Rectangle 202"/>
          <p:cNvSpPr>
            <a:spLocks noChangeAspect="1" noChangeArrowheads="1"/>
          </p:cNvSpPr>
          <p:nvPr/>
        </p:nvSpPr>
        <p:spPr bwMode="auto">
          <a:xfrm>
            <a:off x="5060950" y="5818187"/>
            <a:ext cx="81915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/>
              <a:t>I/O</a:t>
            </a:r>
          </a:p>
          <a:p>
            <a:pPr algn="ctr"/>
            <a:r>
              <a:rPr lang="tr-TR" sz="1600" dirty="0" smtClean="0"/>
              <a:t>köprüsü</a:t>
            </a:r>
            <a:endParaRPr lang="en-US" sz="1600" dirty="0"/>
          </a:p>
        </p:txBody>
      </p:sp>
      <p:sp>
        <p:nvSpPr>
          <p:cNvPr id="36" name="AutoShape 205"/>
          <p:cNvSpPr>
            <a:spLocks noChangeAspect="1" noChangeArrowheads="1"/>
          </p:cNvSpPr>
          <p:nvPr/>
        </p:nvSpPr>
        <p:spPr bwMode="auto">
          <a:xfrm>
            <a:off x="3748088" y="5789612"/>
            <a:ext cx="1309687" cy="481013"/>
          </a:xfrm>
          <a:prstGeom prst="leftRightArrow">
            <a:avLst>
              <a:gd name="adj1" fmla="val 50000"/>
              <a:gd name="adj2" fmla="val 5445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7" name="Rectangle 206"/>
          <p:cNvSpPr>
            <a:spLocks noChangeAspect="1" noChangeArrowheads="1"/>
          </p:cNvSpPr>
          <p:nvPr/>
        </p:nvSpPr>
        <p:spPr bwMode="auto">
          <a:xfrm>
            <a:off x="1349375" y="5818187"/>
            <a:ext cx="23749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tr-TR" sz="1600" dirty="0" err="1" smtClean="0"/>
              <a:t>Veriyolu</a:t>
            </a:r>
            <a:r>
              <a:rPr lang="tr-TR" sz="1600" dirty="0" smtClean="0"/>
              <a:t> Arabirimi</a:t>
            </a:r>
            <a:endParaRPr lang="en-US" sz="1600" dirty="0"/>
          </a:p>
        </p:txBody>
      </p:sp>
      <p:sp>
        <p:nvSpPr>
          <p:cNvPr id="38" name="Rectangle 207"/>
          <p:cNvSpPr>
            <a:spLocks noChangeAspect="1" noChangeArrowheads="1"/>
          </p:cNvSpPr>
          <p:nvPr/>
        </p:nvSpPr>
        <p:spPr bwMode="auto">
          <a:xfrm>
            <a:off x="2862263" y="4622800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9" name="Rectangle 208"/>
          <p:cNvSpPr>
            <a:spLocks noChangeAspect="1" noChangeArrowheads="1"/>
          </p:cNvSpPr>
          <p:nvPr/>
        </p:nvSpPr>
        <p:spPr bwMode="auto">
          <a:xfrm>
            <a:off x="2862263" y="4760912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0" name="Rectangle 210"/>
          <p:cNvSpPr>
            <a:spLocks noChangeAspect="1" noChangeArrowheads="1"/>
          </p:cNvSpPr>
          <p:nvPr/>
        </p:nvSpPr>
        <p:spPr bwMode="auto">
          <a:xfrm>
            <a:off x="2862263" y="4897437"/>
            <a:ext cx="615950" cy="138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1" name="Rectangle 211"/>
          <p:cNvSpPr>
            <a:spLocks noChangeAspect="1" noChangeArrowheads="1"/>
          </p:cNvSpPr>
          <p:nvPr/>
        </p:nvSpPr>
        <p:spPr bwMode="auto">
          <a:xfrm>
            <a:off x="2862263" y="5035550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2" name="Rectangle 212"/>
          <p:cNvSpPr>
            <a:spLocks noChangeAspect="1" noChangeArrowheads="1"/>
          </p:cNvSpPr>
          <p:nvPr/>
        </p:nvSpPr>
        <p:spPr bwMode="auto">
          <a:xfrm>
            <a:off x="2862263" y="5172075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3" name="AutoShape 214"/>
          <p:cNvSpPr>
            <a:spLocks noChangeAspect="1" noChangeArrowheads="1"/>
          </p:cNvSpPr>
          <p:nvPr/>
        </p:nvSpPr>
        <p:spPr bwMode="auto">
          <a:xfrm>
            <a:off x="3559175" y="4622800"/>
            <a:ext cx="400050" cy="3429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4" name="AutoShape 215"/>
          <p:cNvSpPr>
            <a:spLocks noChangeAspect="1" noChangeArrowheads="1"/>
          </p:cNvSpPr>
          <p:nvPr/>
        </p:nvSpPr>
        <p:spPr bwMode="auto">
          <a:xfrm flipH="1">
            <a:off x="3478213" y="4965700"/>
            <a:ext cx="400050" cy="344487"/>
          </a:xfrm>
          <a:prstGeom prst="rightArrow">
            <a:avLst>
              <a:gd name="adj1" fmla="val 50000"/>
              <a:gd name="adj2" fmla="val 2903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5" name="Rectangle 220"/>
          <p:cNvSpPr>
            <a:spLocks noChangeAspect="1" noChangeArrowheads="1"/>
          </p:cNvSpPr>
          <p:nvPr/>
        </p:nvSpPr>
        <p:spPr bwMode="auto">
          <a:xfrm>
            <a:off x="3959225" y="4486275"/>
            <a:ext cx="479425" cy="960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/>
              <a:t>ALU</a:t>
            </a:r>
          </a:p>
        </p:txBody>
      </p:sp>
      <p:sp>
        <p:nvSpPr>
          <p:cNvPr id="46" name="Text Box 221"/>
          <p:cNvSpPr txBox="1">
            <a:spLocks noChangeAspect="1" noChangeArrowheads="1"/>
          </p:cNvSpPr>
          <p:nvPr/>
        </p:nvSpPr>
        <p:spPr bwMode="auto">
          <a:xfrm>
            <a:off x="2465396" y="4316998"/>
            <a:ext cx="14430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tr-TR" sz="1600" dirty="0" smtClean="0"/>
              <a:t>Kaydedici dizisi</a:t>
            </a:r>
            <a:endParaRPr lang="en-US" sz="1600" dirty="0"/>
          </a:p>
        </p:txBody>
      </p:sp>
      <p:sp>
        <p:nvSpPr>
          <p:cNvPr id="47" name="AutoShape 222"/>
          <p:cNvSpPr>
            <a:spLocks noChangeAspect="1" noChangeArrowheads="1"/>
          </p:cNvSpPr>
          <p:nvPr/>
        </p:nvSpPr>
        <p:spPr bwMode="auto">
          <a:xfrm>
            <a:off x="2928938" y="5378450"/>
            <a:ext cx="549275" cy="411162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8" name="Rectangle 223"/>
          <p:cNvSpPr>
            <a:spLocks noChangeAspect="1" noChangeArrowheads="1"/>
          </p:cNvSpPr>
          <p:nvPr/>
        </p:nvSpPr>
        <p:spPr bwMode="auto">
          <a:xfrm>
            <a:off x="1196975" y="4279900"/>
            <a:ext cx="3379788" cy="21971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9" name="Text Box 225"/>
          <p:cNvSpPr txBox="1">
            <a:spLocks noChangeAspect="1" noChangeArrowheads="1"/>
          </p:cNvSpPr>
          <p:nvPr/>
        </p:nvSpPr>
        <p:spPr bwMode="auto">
          <a:xfrm>
            <a:off x="1151605" y="3988385"/>
            <a:ext cx="97815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CPU </a:t>
            </a:r>
            <a:r>
              <a:rPr lang="en-US" sz="1600" dirty="0" smtClean="0"/>
              <a:t>chip</a:t>
            </a:r>
            <a:r>
              <a:rPr lang="tr-TR" sz="1600" dirty="0" smtClean="0"/>
              <a:t>i</a:t>
            </a:r>
            <a:endParaRPr lang="en-US" sz="1600" dirty="0"/>
          </a:p>
        </p:txBody>
      </p:sp>
      <p:sp>
        <p:nvSpPr>
          <p:cNvPr id="50" name="Text Box 229"/>
          <p:cNvSpPr txBox="1">
            <a:spLocks noChangeAspect="1" noChangeArrowheads="1"/>
          </p:cNvSpPr>
          <p:nvPr/>
        </p:nvSpPr>
        <p:spPr bwMode="auto">
          <a:xfrm>
            <a:off x="4509395" y="5155198"/>
            <a:ext cx="142378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smtClean="0"/>
              <a:t>S</a:t>
            </a:r>
            <a:r>
              <a:rPr lang="tr-TR" sz="1600" dirty="0" smtClean="0"/>
              <a:t>i</a:t>
            </a:r>
            <a:r>
              <a:rPr lang="en-US" sz="1600" dirty="0" smtClean="0"/>
              <a:t>stem </a:t>
            </a:r>
            <a:r>
              <a:rPr lang="tr-TR" sz="1600" dirty="0" err="1" smtClean="0"/>
              <a:t>veriyolu</a:t>
            </a:r>
            <a:endParaRPr lang="en-US" sz="1600" dirty="0"/>
          </a:p>
        </p:txBody>
      </p:sp>
      <p:sp>
        <p:nvSpPr>
          <p:cNvPr id="51" name="Line 230"/>
          <p:cNvSpPr>
            <a:spLocks noChangeAspect="1" noChangeShapeType="1"/>
          </p:cNvSpPr>
          <p:nvPr/>
        </p:nvSpPr>
        <p:spPr bwMode="auto">
          <a:xfrm flipH="1">
            <a:off x="4438650" y="5446712"/>
            <a:ext cx="619125" cy="412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2" name="Text Box 231"/>
          <p:cNvSpPr txBox="1">
            <a:spLocks noChangeAspect="1" noChangeArrowheads="1"/>
          </p:cNvSpPr>
          <p:nvPr/>
        </p:nvSpPr>
        <p:spPr bwMode="auto">
          <a:xfrm>
            <a:off x="5879670" y="5155198"/>
            <a:ext cx="13692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tr-TR" sz="1600" dirty="0" smtClean="0"/>
              <a:t>Hafıza </a:t>
            </a:r>
            <a:r>
              <a:rPr lang="tr-TR" sz="1600" dirty="0" err="1" smtClean="0"/>
              <a:t>veriyolu</a:t>
            </a:r>
            <a:endParaRPr lang="en-US" sz="1600" dirty="0"/>
          </a:p>
        </p:txBody>
      </p:sp>
      <p:sp>
        <p:nvSpPr>
          <p:cNvPr id="53" name="Line 232"/>
          <p:cNvSpPr>
            <a:spLocks noChangeAspect="1" noChangeShapeType="1"/>
          </p:cNvSpPr>
          <p:nvPr/>
        </p:nvSpPr>
        <p:spPr bwMode="auto">
          <a:xfrm>
            <a:off x="6530975" y="5446712"/>
            <a:ext cx="0" cy="412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4" name="Rectangle 233"/>
          <p:cNvSpPr>
            <a:spLocks noChangeAspect="1" noChangeArrowheads="1"/>
          </p:cNvSpPr>
          <p:nvPr/>
        </p:nvSpPr>
        <p:spPr bwMode="auto">
          <a:xfrm>
            <a:off x="1349375" y="4719637"/>
            <a:ext cx="1066800" cy="5207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tr-TR" sz="1600" dirty="0" smtClean="0"/>
              <a:t>Önbellek</a:t>
            </a:r>
          </a:p>
          <a:p>
            <a:pPr algn="ctr"/>
            <a:r>
              <a:rPr lang="tr-TR" sz="1600" dirty="0" smtClean="0"/>
              <a:t>Hafıza</a:t>
            </a:r>
            <a:endParaRPr lang="en-US" sz="1600" dirty="0"/>
          </a:p>
        </p:txBody>
      </p:sp>
      <p:sp>
        <p:nvSpPr>
          <p:cNvPr id="55" name="AutoShape 234"/>
          <p:cNvSpPr>
            <a:spLocks noChangeAspect="1" noChangeArrowheads="1"/>
          </p:cNvSpPr>
          <p:nvPr/>
        </p:nvSpPr>
        <p:spPr bwMode="auto">
          <a:xfrm>
            <a:off x="1577975" y="5240337"/>
            <a:ext cx="549275" cy="549275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6" name="AutoShape 236"/>
          <p:cNvSpPr>
            <a:spLocks noChangeAspect="1" noChangeArrowheads="1"/>
          </p:cNvSpPr>
          <p:nvPr/>
        </p:nvSpPr>
        <p:spPr bwMode="auto">
          <a:xfrm flipH="1">
            <a:off x="2441575" y="4767262"/>
            <a:ext cx="400050" cy="344488"/>
          </a:xfrm>
          <a:prstGeom prst="leftRightArrow">
            <a:avLst>
              <a:gd name="adj1" fmla="val 50000"/>
              <a:gd name="adj2" fmla="val 2322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Genel</a:t>
            </a:r>
            <a:r>
              <a:rPr lang="en-US" dirty="0" smtClean="0"/>
              <a:t> </a:t>
            </a:r>
            <a:r>
              <a:rPr lang="tr-TR" dirty="0" smtClean="0"/>
              <a:t>Önbellek</a:t>
            </a:r>
            <a:r>
              <a:rPr lang="en-US" dirty="0" smtClean="0"/>
              <a:t> </a:t>
            </a:r>
            <a:r>
              <a:rPr lang="en-US" dirty="0" err="1" smtClean="0"/>
              <a:t>Organiza</a:t>
            </a:r>
            <a:r>
              <a:rPr lang="tr-TR" dirty="0" err="1" smtClean="0"/>
              <a:t>syonu</a:t>
            </a:r>
            <a:r>
              <a:rPr lang="en-US" dirty="0" smtClean="0"/>
              <a:t> (</a:t>
            </a:r>
            <a:r>
              <a:rPr lang="en-US" dirty="0" smtClean="0">
                <a:solidFill>
                  <a:schemeClr val="accent2"/>
                </a:solidFill>
              </a:rPr>
              <a:t>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8" name="AutoShape 16"/>
          <p:cNvSpPr>
            <a:spLocks/>
          </p:cNvSpPr>
          <p:nvPr/>
        </p:nvSpPr>
        <p:spPr bwMode="auto">
          <a:xfrm rot="5400000">
            <a:off x="4114801" y="-495835"/>
            <a:ext cx="228600" cy="4648201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grpSp>
        <p:nvGrpSpPr>
          <p:cNvPr id="3" name="Group 79"/>
          <p:cNvGrpSpPr/>
          <p:nvPr/>
        </p:nvGrpSpPr>
        <p:grpSpPr>
          <a:xfrm>
            <a:off x="1905000" y="2078999"/>
            <a:ext cx="4648200" cy="492484"/>
            <a:chOff x="1637766" y="1995289"/>
            <a:chExt cx="4648200" cy="49248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Rectangle 3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</p:grpSp>
      <p:cxnSp>
        <p:nvCxnSpPr>
          <p:cNvPr id="45" name="Straight Connector 44"/>
          <p:cNvCxnSpPr/>
          <p:nvPr/>
        </p:nvCxnSpPr>
        <p:spPr bwMode="auto">
          <a:xfrm>
            <a:off x="2133600" y="4019283"/>
            <a:ext cx="4267200" cy="11116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AutoShape 16"/>
          <p:cNvSpPr>
            <a:spLocks/>
          </p:cNvSpPr>
          <p:nvPr/>
        </p:nvSpPr>
        <p:spPr bwMode="auto">
          <a:xfrm>
            <a:off x="1524000" y="2067735"/>
            <a:ext cx="228600" cy="27328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86200" y="1344634"/>
            <a:ext cx="410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Calibri" pitchFamily="34" charset="0"/>
              </a:rPr>
              <a:t>E</a:t>
            </a:r>
            <a:r>
              <a:rPr lang="en-US" sz="1800" dirty="0" smtClean="0">
                <a:latin typeface="Calibri" pitchFamily="34" charset="0"/>
              </a:rPr>
              <a:t> = 2</a:t>
            </a:r>
            <a:r>
              <a:rPr lang="en-US" sz="1800" baseline="30000" dirty="0" smtClean="0">
                <a:latin typeface="Calibri" pitchFamily="34" charset="0"/>
              </a:rPr>
              <a:t>e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smtClean="0">
                <a:latin typeface="Calibri" pitchFamily="34" charset="0"/>
                <a:sym typeface="Wingdings" panose="05000000000000000000" pitchFamily="2" charset="2"/>
              </a:rPr>
              <a:t> </a:t>
            </a:r>
            <a:r>
              <a:rPr lang="tr-TR" sz="1800" dirty="0" smtClean="0">
                <a:latin typeface="Calibri" pitchFamily="34" charset="0"/>
              </a:rPr>
              <a:t>Her küme başına yol (yön) sayısı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4800" y="324440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accent2"/>
                </a:solidFill>
                <a:latin typeface="Calibri" pitchFamily="34" charset="0"/>
              </a:rPr>
              <a:t>S</a:t>
            </a:r>
            <a:r>
              <a:rPr lang="en-US" sz="1800" dirty="0" smtClean="0">
                <a:latin typeface="Calibri" pitchFamily="34" charset="0"/>
              </a:rPr>
              <a:t> = 2</a:t>
            </a:r>
            <a:r>
              <a:rPr lang="en-US" sz="1800" baseline="30000" dirty="0" smtClean="0">
                <a:latin typeface="Calibri" pitchFamily="34" charset="0"/>
              </a:rPr>
              <a:t>s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küme</a:t>
            </a:r>
            <a:endParaRPr lang="en-US" sz="1800" dirty="0" smtClean="0">
              <a:latin typeface="Calibri" pitchFamily="34" charset="0"/>
            </a:endParaRPr>
          </a:p>
        </p:txBody>
      </p:sp>
      <p:cxnSp>
        <p:nvCxnSpPr>
          <p:cNvPr id="59" name="Straight Connector 58"/>
          <p:cNvCxnSpPr>
            <a:endCxn id="61" idx="1"/>
          </p:cNvCxnSpPr>
          <p:nvPr/>
        </p:nvCxnSpPr>
        <p:spPr bwMode="auto">
          <a:xfrm flipV="1">
            <a:off x="6553202" y="2070349"/>
            <a:ext cx="596798" cy="104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7150000" y="1885683"/>
            <a:ext cx="73520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tr-TR" sz="18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</a:rPr>
              <a:t>Küme</a:t>
            </a:r>
            <a:endParaRPr lang="en-US" sz="1800" dirty="0" smtClean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</a:endParaRPr>
          </a:p>
        </p:txBody>
      </p:sp>
      <p:cxnSp>
        <p:nvCxnSpPr>
          <p:cNvPr id="62" name="Straight Connector 61"/>
          <p:cNvCxnSpPr/>
          <p:nvPr/>
        </p:nvCxnSpPr>
        <p:spPr bwMode="auto">
          <a:xfrm>
            <a:off x="6471833" y="3881900"/>
            <a:ext cx="914400" cy="13845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7347599" y="3821668"/>
            <a:ext cx="465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</a:rPr>
              <a:t>Yol</a:t>
            </a:r>
            <a:endParaRPr lang="en-US" sz="1800" dirty="0" smtClean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</a:endParaRPr>
          </a:p>
        </p:txBody>
      </p:sp>
      <p:grpSp>
        <p:nvGrpSpPr>
          <p:cNvPr id="4" name="Group 80"/>
          <p:cNvGrpSpPr/>
          <p:nvPr/>
        </p:nvGrpSpPr>
        <p:grpSpPr>
          <a:xfrm>
            <a:off x="1905000" y="2647683"/>
            <a:ext cx="4648200" cy="492484"/>
            <a:chOff x="1637766" y="1995289"/>
            <a:chExt cx="4648200" cy="492484"/>
          </a:xfrm>
        </p:grpSpPr>
        <p:sp>
          <p:nvSpPr>
            <p:cNvPr id="82" name="Rectangle 81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Rectangle 84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</p:grpSp>
      <p:grpSp>
        <p:nvGrpSpPr>
          <p:cNvPr id="5" name="Group 86"/>
          <p:cNvGrpSpPr/>
          <p:nvPr/>
        </p:nvGrpSpPr>
        <p:grpSpPr>
          <a:xfrm>
            <a:off x="1905000" y="3221999"/>
            <a:ext cx="4648200" cy="492484"/>
            <a:chOff x="1637766" y="1995289"/>
            <a:chExt cx="4648200" cy="492484"/>
          </a:xfrm>
        </p:grpSpPr>
        <p:sp>
          <p:nvSpPr>
            <p:cNvPr id="88" name="Rectangle 87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Rectangle 90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</p:grpSp>
      <p:grpSp>
        <p:nvGrpSpPr>
          <p:cNvPr id="6" name="Group 92"/>
          <p:cNvGrpSpPr/>
          <p:nvPr/>
        </p:nvGrpSpPr>
        <p:grpSpPr>
          <a:xfrm>
            <a:off x="1905000" y="4288799"/>
            <a:ext cx="4648200" cy="492484"/>
            <a:chOff x="1637766" y="1995289"/>
            <a:chExt cx="4648200" cy="492484"/>
          </a:xfrm>
        </p:grpSpPr>
        <p:sp>
          <p:nvSpPr>
            <p:cNvPr id="94" name="Rectangle 9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Rectangle 9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</p:grpSp>
      <p:sp>
        <p:nvSpPr>
          <p:cNvPr id="99" name="Trapezoid 98"/>
          <p:cNvSpPr/>
          <p:nvPr/>
        </p:nvSpPr>
        <p:spPr bwMode="auto">
          <a:xfrm>
            <a:off x="2146824" y="4709564"/>
            <a:ext cx="3523449" cy="865914"/>
          </a:xfrm>
          <a:prstGeom prst="trapezoid">
            <a:avLst>
              <a:gd name="adj" fmla="val 135061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2146824" y="5575478"/>
            <a:ext cx="3523449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3645068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3917673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4178468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5092868" y="5689778"/>
            <a:ext cx="4572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B-1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4451073" y="5689778"/>
            <a:ext cx="6417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>
            <a:off x="4585224" y="5841384"/>
            <a:ext cx="457200" cy="1588"/>
          </a:xfrm>
          <a:prstGeom prst="line">
            <a:avLst/>
          </a:prstGeom>
          <a:noFill/>
          <a:ln w="381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Rectangle 71"/>
          <p:cNvSpPr/>
          <p:nvPr/>
        </p:nvSpPr>
        <p:spPr bwMode="auto">
          <a:xfrm>
            <a:off x="2742478" y="5689778"/>
            <a:ext cx="7179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2273468" y="5702122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77" name="AutoShape 16"/>
          <p:cNvSpPr>
            <a:spLocks/>
          </p:cNvSpPr>
          <p:nvPr/>
        </p:nvSpPr>
        <p:spPr bwMode="auto">
          <a:xfrm rot="16200000" flipV="1">
            <a:off x="4496145" y="5333467"/>
            <a:ext cx="228600" cy="1905000"/>
          </a:xfrm>
          <a:prstGeom prst="leftBrace">
            <a:avLst>
              <a:gd name="adj1" fmla="val 13697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581400" y="6324600"/>
            <a:ext cx="559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B050"/>
                </a:solidFill>
                <a:latin typeface="Calibri" pitchFamily="34" charset="0"/>
              </a:rPr>
              <a:t>B</a:t>
            </a:r>
            <a:r>
              <a:rPr lang="en-US" sz="1800" dirty="0" smtClean="0">
                <a:latin typeface="Calibri" pitchFamily="34" charset="0"/>
              </a:rPr>
              <a:t> = 2</a:t>
            </a:r>
            <a:r>
              <a:rPr lang="en-US" sz="1800" baseline="30000" dirty="0" smtClean="0">
                <a:latin typeface="Calibri" pitchFamily="34" charset="0"/>
              </a:rPr>
              <a:t>b</a:t>
            </a:r>
            <a:r>
              <a:rPr lang="en-US" sz="1800" dirty="0" smtClean="0">
                <a:latin typeface="Calibri" pitchFamily="34" charset="0"/>
              </a:rPr>
              <a:t> byte </a:t>
            </a:r>
            <a:r>
              <a:rPr lang="en-US" sz="1800" dirty="0" smtClean="0">
                <a:latin typeface="Calibri" pitchFamily="34" charset="0"/>
                <a:sym typeface="Wingdings" panose="05000000000000000000" pitchFamily="2" charset="2"/>
              </a:rPr>
              <a:t> Her</a:t>
            </a:r>
            <a:r>
              <a:rPr lang="tr-TR" sz="1800" dirty="0" smtClean="0">
                <a:latin typeface="Calibri" pitchFamily="34" charset="0"/>
                <a:sym typeface="Wingdings" panose="05000000000000000000" pitchFamily="2" charset="2"/>
              </a:rPr>
              <a:t>bir</a:t>
            </a:r>
            <a:r>
              <a:rPr lang="en-US" sz="1800" dirty="0" smtClean="0">
                <a:latin typeface="Calibri" pitchFamily="34" charset="0"/>
                <a:sym typeface="Wingdings" panose="05000000000000000000" pitchFamily="2" charset="2"/>
              </a:rPr>
              <a:t> </a:t>
            </a:r>
            <a:r>
              <a:rPr lang="tr-TR" sz="1800" dirty="0" smtClean="0">
                <a:latin typeface="Calibri" pitchFamily="34" charset="0"/>
                <a:sym typeface="Wingdings" panose="05000000000000000000" pitchFamily="2" charset="2"/>
              </a:rPr>
              <a:t>önbellek bloğundaki verinin boyutu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96000" y="5112603"/>
            <a:ext cx="29827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i="1" dirty="0" smtClean="0">
                <a:solidFill>
                  <a:srgbClr val="C00000"/>
                </a:solidFill>
                <a:latin typeface="Calibri" pitchFamily="34" charset="0"/>
              </a:rPr>
              <a:t>Önbellek boyutu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</a:rPr>
              <a:t>:</a:t>
            </a:r>
          </a:p>
          <a:p>
            <a:r>
              <a:rPr lang="en-US" i="1" dirty="0" smtClean="0">
                <a:latin typeface="Calibri" pitchFamily="34" charset="0"/>
              </a:rPr>
              <a:t>C = </a:t>
            </a:r>
            <a:r>
              <a:rPr lang="en-US" i="1" dirty="0" smtClean="0">
                <a:solidFill>
                  <a:schemeClr val="accent2"/>
                </a:solidFill>
                <a:latin typeface="Calibri" pitchFamily="34" charset="0"/>
              </a:rPr>
              <a:t>S</a:t>
            </a:r>
            <a:r>
              <a:rPr lang="en-US" i="1" dirty="0" smtClean="0">
                <a:latin typeface="Calibri" pitchFamily="34" charset="0"/>
              </a:rPr>
              <a:t> x </a:t>
            </a:r>
            <a:r>
              <a:rPr lang="en-US" i="1" dirty="0" smtClean="0">
                <a:solidFill>
                  <a:srgbClr val="FF0000"/>
                </a:solidFill>
                <a:latin typeface="Calibri" pitchFamily="34" charset="0"/>
              </a:rPr>
              <a:t>E</a:t>
            </a:r>
            <a:r>
              <a:rPr lang="en-US" i="1" dirty="0" smtClean="0">
                <a:latin typeface="Calibri" pitchFamily="34" charset="0"/>
              </a:rPr>
              <a:t> x </a:t>
            </a:r>
            <a:r>
              <a:rPr lang="en-US" i="1" dirty="0" smtClean="0">
                <a:solidFill>
                  <a:srgbClr val="00B050"/>
                </a:solidFill>
                <a:latin typeface="Calibri" pitchFamily="34" charset="0"/>
              </a:rPr>
              <a:t>B</a:t>
            </a:r>
            <a:r>
              <a:rPr lang="en-US" i="1" dirty="0" smtClean="0">
                <a:latin typeface="Calibri" pitchFamily="34" charset="0"/>
              </a:rPr>
              <a:t> </a:t>
            </a:r>
            <a:r>
              <a:rPr lang="tr-TR" i="1" dirty="0" smtClean="0">
                <a:latin typeface="Calibri" pitchFamily="34" charset="0"/>
              </a:rPr>
              <a:t>veri </a:t>
            </a:r>
            <a:r>
              <a:rPr lang="en-US" i="1" dirty="0" smtClean="0">
                <a:latin typeface="Calibri" pitchFamily="34" charset="0"/>
              </a:rPr>
              <a:t>byte</a:t>
            </a:r>
            <a:r>
              <a:rPr lang="tr-TR" i="1" dirty="0" smtClean="0">
                <a:latin typeface="Calibri" pitchFamily="34" charset="0"/>
              </a:rPr>
              <a:t>’ı</a:t>
            </a:r>
            <a:endParaRPr lang="en-US" i="1" dirty="0" smtClean="0">
              <a:latin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736573" y="6324490"/>
            <a:ext cx="140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geçerlilik</a:t>
            </a:r>
            <a:r>
              <a:rPr lang="en-US" sz="1800" dirty="0" smtClean="0">
                <a:latin typeface="Calibri" pitchFamily="34" charset="0"/>
              </a:rPr>
              <a:t> bit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cxnSp>
        <p:nvCxnSpPr>
          <p:cNvPr id="55" name="Straight Connector 54"/>
          <p:cNvCxnSpPr/>
          <p:nvPr/>
        </p:nvCxnSpPr>
        <p:spPr bwMode="auto">
          <a:xfrm rot="5400000" flipH="1" flipV="1">
            <a:off x="2285206" y="6158528"/>
            <a:ext cx="3048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Rectangle 6"/>
          <p:cNvSpPr/>
          <p:nvPr/>
        </p:nvSpPr>
        <p:spPr bwMode="auto">
          <a:xfrm>
            <a:off x="5157347" y="1975070"/>
            <a:ext cx="1300870" cy="2892745"/>
          </a:xfrm>
          <a:prstGeom prst="rect">
            <a:avLst/>
          </a:prstGeom>
          <a:solidFill>
            <a:srgbClr val="FF0000">
              <a:alpha val="34000"/>
            </a:srgbClr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77" grpId="0" animBg="1"/>
      <p:bldP spid="78" grpId="0"/>
      <p:bldP spid="100" grpId="0"/>
      <p:bldP spid="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Önbellekten Okuma</a:t>
            </a:r>
            <a:endParaRPr lang="en-US" dirty="0"/>
          </a:p>
        </p:txBody>
      </p:sp>
      <p:sp>
        <p:nvSpPr>
          <p:cNvPr id="8" name="AutoShape 16"/>
          <p:cNvSpPr>
            <a:spLocks/>
          </p:cNvSpPr>
          <p:nvPr/>
        </p:nvSpPr>
        <p:spPr bwMode="auto">
          <a:xfrm rot="5400000">
            <a:off x="3558235" y="-290401"/>
            <a:ext cx="228600" cy="4237334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grpSp>
        <p:nvGrpSpPr>
          <p:cNvPr id="3" name="Group 79"/>
          <p:cNvGrpSpPr/>
          <p:nvPr/>
        </p:nvGrpSpPr>
        <p:grpSpPr>
          <a:xfrm>
            <a:off x="1553867" y="2078999"/>
            <a:ext cx="4237333" cy="492484"/>
            <a:chOff x="1637766" y="1995289"/>
            <a:chExt cx="4648200" cy="49248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5" name="Straight Connector 44"/>
          <p:cNvCxnSpPr/>
          <p:nvPr/>
        </p:nvCxnSpPr>
        <p:spPr bwMode="auto">
          <a:xfrm>
            <a:off x="1782467" y="4019283"/>
            <a:ext cx="3875673" cy="10096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AutoShape 16"/>
          <p:cNvSpPr>
            <a:spLocks/>
          </p:cNvSpPr>
          <p:nvPr/>
        </p:nvSpPr>
        <p:spPr bwMode="auto">
          <a:xfrm>
            <a:off x="1172867" y="2067735"/>
            <a:ext cx="228600" cy="27328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57400" y="1344634"/>
            <a:ext cx="410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E = 2</a:t>
            </a:r>
            <a:r>
              <a:rPr lang="en-US" sz="1800" baseline="30000" dirty="0" smtClean="0">
                <a:latin typeface="Calibri" pitchFamily="34" charset="0"/>
              </a:rPr>
              <a:t>e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  <a:sym typeface="Wingdings" panose="05000000000000000000" pitchFamily="2" charset="2"/>
              </a:rPr>
              <a:t> </a:t>
            </a:r>
            <a:r>
              <a:rPr lang="tr-TR" sz="1800" dirty="0">
                <a:latin typeface="Calibri" pitchFamily="34" charset="0"/>
              </a:rPr>
              <a:t>Her küme başına yol (yön) sayısı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-63523" y="324440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S = 2</a:t>
            </a:r>
            <a:r>
              <a:rPr lang="en-US" sz="1800" baseline="30000" dirty="0" smtClean="0">
                <a:latin typeface="Calibri" pitchFamily="34" charset="0"/>
              </a:rPr>
              <a:t>s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küme</a:t>
            </a:r>
            <a:endParaRPr lang="en-US" sz="1800" dirty="0" smtClean="0">
              <a:latin typeface="Calibri" pitchFamily="34" charset="0"/>
            </a:endParaRPr>
          </a:p>
        </p:txBody>
      </p:sp>
      <p:grpSp>
        <p:nvGrpSpPr>
          <p:cNvPr id="4" name="Group 80"/>
          <p:cNvGrpSpPr/>
          <p:nvPr/>
        </p:nvGrpSpPr>
        <p:grpSpPr>
          <a:xfrm>
            <a:off x="1553867" y="2647683"/>
            <a:ext cx="4237333" cy="492484"/>
            <a:chOff x="1637766" y="1995289"/>
            <a:chExt cx="4648200" cy="492484"/>
          </a:xfrm>
        </p:grpSpPr>
        <p:sp>
          <p:nvSpPr>
            <p:cNvPr id="82" name="Rectangle 81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" name="Group 86"/>
          <p:cNvGrpSpPr/>
          <p:nvPr/>
        </p:nvGrpSpPr>
        <p:grpSpPr>
          <a:xfrm>
            <a:off x="1553867" y="3221999"/>
            <a:ext cx="4237333" cy="492484"/>
            <a:chOff x="1637766" y="1995289"/>
            <a:chExt cx="4648200" cy="492484"/>
          </a:xfrm>
        </p:grpSpPr>
        <p:sp>
          <p:nvSpPr>
            <p:cNvPr id="88" name="Rectangle 87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1" name="Rectangle 90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Group 92"/>
          <p:cNvGrpSpPr/>
          <p:nvPr/>
        </p:nvGrpSpPr>
        <p:grpSpPr>
          <a:xfrm>
            <a:off x="1553867" y="4288799"/>
            <a:ext cx="4237333" cy="492484"/>
            <a:chOff x="1637766" y="1995289"/>
            <a:chExt cx="4648200" cy="492484"/>
          </a:xfrm>
        </p:grpSpPr>
        <p:sp>
          <p:nvSpPr>
            <p:cNvPr id="94" name="Rectangle 9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 smtClean="0">
                <a:latin typeface="Calibri" pitchFamily="34" charset="0"/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9" name="Trapezoid 98"/>
          <p:cNvSpPr/>
          <p:nvPr/>
        </p:nvSpPr>
        <p:spPr bwMode="auto">
          <a:xfrm>
            <a:off x="1619863" y="4709564"/>
            <a:ext cx="3523449" cy="865914"/>
          </a:xfrm>
          <a:prstGeom prst="trapezoid">
            <a:avLst>
              <a:gd name="adj" fmla="val 141754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619863" y="5575478"/>
            <a:ext cx="3523449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31181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3390712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36515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4565907" y="5689778"/>
            <a:ext cx="4572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B-1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924112" y="5689778"/>
            <a:ext cx="6417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>
            <a:off x="4058263" y="5841384"/>
            <a:ext cx="457200" cy="1588"/>
          </a:xfrm>
          <a:prstGeom prst="line">
            <a:avLst/>
          </a:prstGeom>
          <a:noFill/>
          <a:ln w="381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Rectangle 71"/>
          <p:cNvSpPr/>
          <p:nvPr/>
        </p:nvSpPr>
        <p:spPr bwMode="auto">
          <a:xfrm>
            <a:off x="2215517" y="5689778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17465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2556" y="6183868"/>
            <a:ext cx="140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geçerlilik</a:t>
            </a:r>
            <a:r>
              <a:rPr lang="en-US" sz="1800" dirty="0">
                <a:latin typeface="Calibri" pitchFamily="34" charset="0"/>
              </a:rPr>
              <a:t> bit</a:t>
            </a:r>
            <a:r>
              <a:rPr lang="tr-TR" sz="1800" dirty="0">
                <a:latin typeface="Calibri" pitchFamily="34" charset="0"/>
              </a:rPr>
              <a:t>i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76" name="Straight Connector 75"/>
          <p:cNvCxnSpPr/>
          <p:nvPr/>
        </p:nvCxnSpPr>
        <p:spPr bwMode="auto">
          <a:xfrm rot="5400000" flipH="1" flipV="1">
            <a:off x="1729947" y="6138001"/>
            <a:ext cx="3048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7" name="AutoShape 16"/>
          <p:cNvSpPr>
            <a:spLocks/>
          </p:cNvSpPr>
          <p:nvPr/>
        </p:nvSpPr>
        <p:spPr bwMode="auto">
          <a:xfrm rot="16200000" flipV="1">
            <a:off x="3969184" y="5333467"/>
            <a:ext cx="228600" cy="1905000"/>
          </a:xfrm>
          <a:prstGeom prst="leftBrace">
            <a:avLst>
              <a:gd name="adj1" fmla="val 13697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048000" y="6374902"/>
            <a:ext cx="559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B = 2</a:t>
            </a:r>
            <a:r>
              <a:rPr lang="en-US" sz="1800" baseline="30000" dirty="0" smtClean="0">
                <a:latin typeface="Calibri" pitchFamily="34" charset="0"/>
              </a:rPr>
              <a:t>b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</a:rPr>
              <a:t>byte </a:t>
            </a:r>
            <a:r>
              <a:rPr lang="en-US" sz="1800" dirty="0">
                <a:latin typeface="Calibri" pitchFamily="34" charset="0"/>
                <a:sym typeface="Wingdings" panose="05000000000000000000" pitchFamily="2" charset="2"/>
              </a:rPr>
              <a:t> Her</a:t>
            </a:r>
            <a:r>
              <a:rPr lang="tr-TR" sz="1800" dirty="0">
                <a:latin typeface="Calibri" pitchFamily="34" charset="0"/>
                <a:sym typeface="Wingdings" panose="05000000000000000000" pitchFamily="2" charset="2"/>
              </a:rPr>
              <a:t>bir</a:t>
            </a:r>
            <a:r>
              <a:rPr lang="en-US" sz="1800" dirty="0">
                <a:latin typeface="Calibri" pitchFamily="34" charset="0"/>
                <a:sym typeface="Wingdings" panose="05000000000000000000" pitchFamily="2" charset="2"/>
              </a:rPr>
              <a:t> </a:t>
            </a:r>
            <a:r>
              <a:rPr lang="tr-TR" sz="1800" dirty="0">
                <a:latin typeface="Calibri" pitchFamily="34" charset="0"/>
                <a:sym typeface="Wingdings" panose="05000000000000000000" pitchFamily="2" charset="2"/>
              </a:rPr>
              <a:t>önbellek bloğundaki verinin boyutu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6337478" y="28533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7328078" y="28533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s bit</a:t>
            </a:r>
          </a:p>
        </p:txBody>
      </p:sp>
      <p:sp>
        <p:nvSpPr>
          <p:cNvPr id="53" name="Rectangle 52"/>
          <p:cNvSpPr/>
          <p:nvPr/>
        </p:nvSpPr>
        <p:spPr bwMode="auto">
          <a:xfrm>
            <a:off x="8090078" y="2853352"/>
            <a:ext cx="6858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b bit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8400" y="2286000"/>
            <a:ext cx="2559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Sözcüğün ana hafızadaki </a:t>
            </a:r>
          </a:p>
          <a:p>
            <a:r>
              <a:rPr lang="tr-TR" sz="1800" dirty="0" smtClean="0">
                <a:latin typeface="Calibri" pitchFamily="34" charset="0"/>
              </a:rPr>
              <a:t>fiziksel </a:t>
            </a:r>
            <a:r>
              <a:rPr lang="tr-TR" sz="1800" dirty="0">
                <a:latin typeface="Calibri" pitchFamily="34" charset="0"/>
              </a:rPr>
              <a:t>a</a:t>
            </a:r>
            <a:r>
              <a:rPr lang="en-US" sz="1800" dirty="0" err="1" smtClean="0">
                <a:latin typeface="Calibri" pitchFamily="34" charset="0"/>
              </a:rPr>
              <a:t>dres</a:t>
            </a:r>
            <a:r>
              <a:rPr lang="tr-TR" sz="1800" dirty="0" smtClean="0">
                <a:latin typeface="Calibri" pitchFamily="34" charset="0"/>
              </a:rPr>
              <a:t>i</a:t>
            </a:r>
            <a:r>
              <a:rPr lang="en-US" sz="1800" dirty="0" smtClean="0">
                <a:latin typeface="Calibri" pitchFamily="34" charset="0"/>
              </a:rPr>
              <a:t>:</a:t>
            </a:r>
          </a:p>
        </p:txBody>
      </p:sp>
      <p:sp>
        <p:nvSpPr>
          <p:cNvPr id="58" name="AutoShape 16"/>
          <p:cNvSpPr>
            <a:spLocks/>
          </p:cNvSpPr>
          <p:nvPr/>
        </p:nvSpPr>
        <p:spPr bwMode="auto">
          <a:xfrm rot="16200000" flipV="1">
            <a:off x="6718478" y="2822218"/>
            <a:ext cx="228600" cy="990598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0" name="AutoShape 16"/>
          <p:cNvSpPr>
            <a:spLocks/>
          </p:cNvSpPr>
          <p:nvPr/>
        </p:nvSpPr>
        <p:spPr bwMode="auto">
          <a:xfrm rot="16200000" flipV="1">
            <a:off x="7594779" y="2933702"/>
            <a:ext cx="228600" cy="761998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1" name="AutoShape 16"/>
          <p:cNvSpPr>
            <a:spLocks/>
          </p:cNvSpPr>
          <p:nvPr/>
        </p:nvSpPr>
        <p:spPr bwMode="auto">
          <a:xfrm rot="16200000" flipV="1">
            <a:off x="8280578" y="3009901"/>
            <a:ext cx="228600" cy="6096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444985" y="3429001"/>
            <a:ext cx="733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etiket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283297" y="3364468"/>
            <a:ext cx="859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800" dirty="0" smtClean="0">
                <a:latin typeface="Calibri" pitchFamily="34" charset="0"/>
              </a:rPr>
              <a:t>küme</a:t>
            </a:r>
            <a:endParaRPr lang="en-US" sz="1800" dirty="0" smtClean="0">
              <a:latin typeface="Calibri" pitchFamily="34" charset="0"/>
            </a:endParaRPr>
          </a:p>
          <a:p>
            <a:pPr algn="ctr"/>
            <a:r>
              <a:rPr lang="en-US" sz="1800" dirty="0" err="1" smtClean="0">
                <a:latin typeface="Calibri" pitchFamily="34" charset="0"/>
              </a:rPr>
              <a:t>inde</a:t>
            </a:r>
            <a:r>
              <a:rPr lang="tr-TR" sz="1800" dirty="0" err="1" smtClean="0">
                <a:latin typeface="Calibri" pitchFamily="34" charset="0"/>
              </a:rPr>
              <a:t>ksi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042012" y="3364468"/>
            <a:ext cx="72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err="1" smtClean="0">
                <a:latin typeface="Calibri" pitchFamily="34" charset="0"/>
              </a:rPr>
              <a:t>blok</a:t>
            </a:r>
            <a:endParaRPr lang="en-US" sz="1800" dirty="0" smtClean="0">
              <a:latin typeface="Calibri" pitchFamily="34" charset="0"/>
            </a:endParaRPr>
          </a:p>
          <a:p>
            <a:pPr algn="ctr"/>
            <a:r>
              <a:rPr lang="en-US" sz="1800" dirty="0" err="1" smtClean="0">
                <a:latin typeface="Calibri" pitchFamily="34" charset="0"/>
              </a:rPr>
              <a:t>ofset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cxnSp>
        <p:nvCxnSpPr>
          <p:cNvPr id="93" name="Shape 92"/>
          <p:cNvCxnSpPr>
            <a:stCxn id="80" idx="2"/>
            <a:endCxn id="94" idx="3"/>
          </p:cNvCxnSpPr>
          <p:nvPr/>
        </p:nvCxnSpPr>
        <p:spPr bwMode="auto">
          <a:xfrm rot="5400000">
            <a:off x="6489931" y="3312069"/>
            <a:ext cx="524242" cy="1921703"/>
          </a:xfrm>
          <a:prstGeom prst="bentConnector2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Elbow Connector 101"/>
          <p:cNvCxnSpPr>
            <a:stCxn id="81" idx="2"/>
            <a:endCxn id="67" idx="0"/>
          </p:cNvCxnSpPr>
          <p:nvPr/>
        </p:nvCxnSpPr>
        <p:spPr bwMode="auto">
          <a:xfrm rot="5400000">
            <a:off x="5255680" y="2542929"/>
            <a:ext cx="1678979" cy="461471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6471298" y="4953000"/>
            <a:ext cx="186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Veri bu ofsetten başlar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239782" y="609362"/>
            <a:ext cx="2828018" cy="1600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115888" indent="-115888">
              <a:buFont typeface="Arial" pitchFamily="34" charset="0"/>
              <a:buChar char="•"/>
            </a:pP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Küme indeksini kullanarak</a:t>
            </a:r>
          </a:p>
          <a:p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kümeyi belirle</a:t>
            </a:r>
            <a:endParaRPr lang="en-US" sz="1400" i="1" dirty="0" smtClean="0">
              <a:solidFill>
                <a:srgbClr val="C00000"/>
              </a:solidFill>
              <a:latin typeface="Calibri" pitchFamily="34" charset="0"/>
            </a:endParaRPr>
          </a:p>
          <a:p>
            <a:pPr marL="115888" indent="-115888">
              <a:buFont typeface="Arial" pitchFamily="34" charset="0"/>
              <a:buChar char="•"/>
            </a:pP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Küme içerisinde etiketi </a:t>
            </a:r>
          </a:p>
          <a:p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eşleşen yol var mı, kontrol et</a:t>
            </a:r>
            <a:endParaRPr lang="en-US" sz="1400" i="1" dirty="0" smtClean="0">
              <a:solidFill>
                <a:srgbClr val="C00000"/>
              </a:solidFill>
              <a:latin typeface="Calibri" pitchFamily="34" charset="0"/>
            </a:endParaRPr>
          </a:p>
          <a:p>
            <a:pPr marL="115888" indent="-115888">
              <a:buFont typeface="Arial" pitchFamily="34" charset="0"/>
              <a:buChar char="•"/>
            </a:pP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Evet</a:t>
            </a:r>
            <a:r>
              <a:rPr lang="en-US" sz="1400" i="1" dirty="0" smtClean="0">
                <a:solidFill>
                  <a:srgbClr val="C00000"/>
                </a:solidFill>
                <a:latin typeface="Calibri" pitchFamily="34" charset="0"/>
              </a:rPr>
              <a:t> + </a:t>
            </a: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geçerlilik biti=1</a:t>
            </a:r>
            <a:r>
              <a:rPr lang="en-US" sz="1400" i="1" dirty="0" smtClean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isabet (</a:t>
            </a:r>
            <a:r>
              <a:rPr lang="en-US" sz="1400" i="1" dirty="0" smtClean="0">
                <a:solidFill>
                  <a:srgbClr val="C00000"/>
                </a:solidFill>
                <a:latin typeface="Calibri" pitchFamily="34" charset="0"/>
              </a:rPr>
              <a:t>hit</a:t>
            </a: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)</a:t>
            </a:r>
            <a:endParaRPr lang="en-US" sz="1400" i="1" dirty="0" smtClean="0">
              <a:solidFill>
                <a:srgbClr val="C00000"/>
              </a:solidFill>
              <a:latin typeface="Calibri" pitchFamily="34" charset="0"/>
            </a:endParaRPr>
          </a:p>
          <a:p>
            <a:pPr marL="115888" indent="-115888">
              <a:buFont typeface="Arial" pitchFamily="34" charset="0"/>
              <a:buChar char="•"/>
            </a:pPr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Veriyi ofsetten başlayarak </a:t>
            </a:r>
          </a:p>
          <a:p>
            <a:r>
              <a:rPr lang="tr-TR" sz="1400" i="1" dirty="0" smtClean="0">
                <a:solidFill>
                  <a:srgbClr val="C00000"/>
                </a:solidFill>
                <a:latin typeface="Calibri" pitchFamily="34" charset="0"/>
              </a:rPr>
              <a:t>belirle</a:t>
            </a:r>
            <a:endParaRPr lang="en-US" sz="1400" i="1" dirty="0" smtClean="0">
              <a:solidFill>
                <a:srgbClr val="C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74" grpId="0"/>
      <p:bldP spid="77" grpId="0" animBg="1"/>
      <p:bldP spid="78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tr-TR" dirty="0" smtClean="0"/>
              <a:t>Örnek</a:t>
            </a:r>
            <a:r>
              <a:rPr lang="en-US" dirty="0" smtClean="0"/>
              <a:t>: </a:t>
            </a:r>
            <a:r>
              <a:rPr lang="tr-TR" dirty="0" smtClean="0"/>
              <a:t>Doğrudan Eşlenmiş Önbellek</a:t>
            </a:r>
            <a:r>
              <a:rPr lang="en-US" dirty="0" smtClean="0"/>
              <a:t> (E = 1)</a:t>
            </a:r>
            <a:endParaRPr lang="en-US" dirty="0"/>
          </a:p>
        </p:txBody>
      </p:sp>
      <p:sp>
        <p:nvSpPr>
          <p:cNvPr id="54" name="AutoShape 16"/>
          <p:cNvSpPr>
            <a:spLocks/>
          </p:cNvSpPr>
          <p:nvPr/>
        </p:nvSpPr>
        <p:spPr bwMode="auto">
          <a:xfrm>
            <a:off x="1172867" y="2448735"/>
            <a:ext cx="228600" cy="29614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alibri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0" y="362540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S = 2</a:t>
            </a:r>
            <a:r>
              <a:rPr lang="en-US" sz="1800" baseline="30000" dirty="0" smtClean="0">
                <a:latin typeface="Calibri" pitchFamily="34" charset="0"/>
              </a:rPr>
              <a:t>s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küme</a:t>
            </a:r>
            <a:endParaRPr lang="en-US" sz="1800" dirty="0" smtClean="0">
              <a:latin typeface="Calibri" pitchFamily="34" charset="0"/>
            </a:endParaRPr>
          </a:p>
        </p:txBody>
      </p:sp>
      <p:cxnSp>
        <p:nvCxnSpPr>
          <p:cNvPr id="125" name="Straight Connector 124"/>
          <p:cNvCxnSpPr/>
          <p:nvPr/>
        </p:nvCxnSpPr>
        <p:spPr bwMode="auto">
          <a:xfrm>
            <a:off x="1905001" y="4640062"/>
            <a:ext cx="3124199" cy="8138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381000" y="1154668"/>
            <a:ext cx="5434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D</a:t>
            </a:r>
            <a:r>
              <a:rPr lang="tr-TR" sz="1800" dirty="0" err="1" smtClean="0">
                <a:latin typeface="Calibri" pitchFamily="34" charset="0"/>
              </a:rPr>
              <a:t>oğrudan</a:t>
            </a:r>
            <a:r>
              <a:rPr lang="tr-TR" sz="1800" dirty="0" smtClean="0">
                <a:latin typeface="Calibri" pitchFamily="34" charset="0"/>
              </a:rPr>
              <a:t> eşlenmiş</a:t>
            </a:r>
            <a:r>
              <a:rPr lang="en-US" sz="1800" dirty="0" smtClean="0">
                <a:latin typeface="Calibri" pitchFamily="34" charset="0"/>
              </a:rPr>
              <a:t>: </a:t>
            </a:r>
            <a:r>
              <a:rPr lang="tr-TR" sz="1800" dirty="0" smtClean="0">
                <a:latin typeface="Calibri" pitchFamily="34" charset="0"/>
              </a:rPr>
              <a:t>Her küme için tek bir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 smtClean="0">
                <a:latin typeface="Calibri" pitchFamily="34" charset="0"/>
              </a:rPr>
              <a:t>Kabul</a:t>
            </a:r>
            <a:r>
              <a:rPr lang="tr-TR" sz="1800" dirty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edelim ki önbellek blok boyutu</a:t>
            </a:r>
            <a:r>
              <a:rPr lang="en-US" sz="1800" dirty="0" smtClean="0">
                <a:latin typeface="Calibri" pitchFamily="34" charset="0"/>
              </a:rPr>
              <a:t> 8 byte</a:t>
            </a:r>
            <a:r>
              <a:rPr lang="tr-TR" sz="1800" dirty="0" smtClean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1524000" y="38100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latin typeface="Calibri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30222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3294848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3555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36" name="Rectangle 135"/>
          <p:cNvSpPr/>
          <p:nvPr/>
        </p:nvSpPr>
        <p:spPr bwMode="auto">
          <a:xfrm>
            <a:off x="49776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39" name="Rectangle 138"/>
          <p:cNvSpPr/>
          <p:nvPr/>
        </p:nvSpPr>
        <p:spPr bwMode="auto">
          <a:xfrm>
            <a:off x="2119653" y="39243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1650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41" name="Rectangle 140"/>
          <p:cNvSpPr/>
          <p:nvPr/>
        </p:nvSpPr>
        <p:spPr bwMode="auto">
          <a:xfrm>
            <a:off x="3828971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42" name="Rectangle 141"/>
          <p:cNvSpPr/>
          <p:nvPr/>
        </p:nvSpPr>
        <p:spPr bwMode="auto">
          <a:xfrm>
            <a:off x="46864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 bwMode="auto">
          <a:xfrm>
            <a:off x="4394566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 bwMode="auto">
          <a:xfrm>
            <a:off x="4102644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 bwMode="auto">
          <a:xfrm>
            <a:off x="1524000" y="24384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latin typeface="Calibri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0222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61" name="Rectangle 160"/>
          <p:cNvSpPr/>
          <p:nvPr/>
        </p:nvSpPr>
        <p:spPr bwMode="auto">
          <a:xfrm>
            <a:off x="3294848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 bwMode="auto">
          <a:xfrm>
            <a:off x="3555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63" name="Rectangle 162"/>
          <p:cNvSpPr/>
          <p:nvPr/>
        </p:nvSpPr>
        <p:spPr bwMode="auto">
          <a:xfrm>
            <a:off x="49776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64" name="Rectangle 163"/>
          <p:cNvSpPr/>
          <p:nvPr/>
        </p:nvSpPr>
        <p:spPr bwMode="auto">
          <a:xfrm>
            <a:off x="2119653" y="25527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1650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66" name="Rectangle 165"/>
          <p:cNvSpPr/>
          <p:nvPr/>
        </p:nvSpPr>
        <p:spPr bwMode="auto">
          <a:xfrm>
            <a:off x="3828971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67" name="Rectangle 166"/>
          <p:cNvSpPr/>
          <p:nvPr/>
        </p:nvSpPr>
        <p:spPr bwMode="auto">
          <a:xfrm>
            <a:off x="46864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68" name="Rectangle 167"/>
          <p:cNvSpPr/>
          <p:nvPr/>
        </p:nvSpPr>
        <p:spPr bwMode="auto">
          <a:xfrm>
            <a:off x="4394566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69" name="Rectangle 168"/>
          <p:cNvSpPr/>
          <p:nvPr/>
        </p:nvSpPr>
        <p:spPr bwMode="auto">
          <a:xfrm>
            <a:off x="4102644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71" name="Rectangle 170"/>
          <p:cNvSpPr/>
          <p:nvPr/>
        </p:nvSpPr>
        <p:spPr bwMode="auto">
          <a:xfrm>
            <a:off x="1524000" y="48768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latin typeface="Calibri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30222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73" name="Rectangle 172"/>
          <p:cNvSpPr/>
          <p:nvPr/>
        </p:nvSpPr>
        <p:spPr bwMode="auto">
          <a:xfrm>
            <a:off x="3294848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 bwMode="auto">
          <a:xfrm>
            <a:off x="3555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75" name="Rectangle 174"/>
          <p:cNvSpPr/>
          <p:nvPr/>
        </p:nvSpPr>
        <p:spPr bwMode="auto">
          <a:xfrm>
            <a:off x="49776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76" name="Rectangle 175"/>
          <p:cNvSpPr/>
          <p:nvPr/>
        </p:nvSpPr>
        <p:spPr bwMode="auto">
          <a:xfrm>
            <a:off x="2119653" y="49911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1650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78" name="Rectangle 177"/>
          <p:cNvSpPr/>
          <p:nvPr/>
        </p:nvSpPr>
        <p:spPr bwMode="auto">
          <a:xfrm>
            <a:off x="3828971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79" name="Rectangle 178"/>
          <p:cNvSpPr/>
          <p:nvPr/>
        </p:nvSpPr>
        <p:spPr bwMode="auto">
          <a:xfrm>
            <a:off x="46864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80" name="Rectangle 179"/>
          <p:cNvSpPr/>
          <p:nvPr/>
        </p:nvSpPr>
        <p:spPr bwMode="auto">
          <a:xfrm>
            <a:off x="4394566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81" name="Rectangle 180"/>
          <p:cNvSpPr/>
          <p:nvPr/>
        </p:nvSpPr>
        <p:spPr bwMode="auto">
          <a:xfrm>
            <a:off x="4102644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6875252" y="3344174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Kümeyi bul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2200" y="2016362"/>
            <a:ext cx="2660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Bir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tr-TR" sz="1800" dirty="0" smtClean="0">
                <a:latin typeface="Calibri" pitchFamily="34" charset="0"/>
              </a:rPr>
              <a:t>’e ait ana hafızadaki</a:t>
            </a:r>
          </a:p>
          <a:p>
            <a:r>
              <a:rPr lang="tr-TR" sz="1800" dirty="0" smtClean="0">
                <a:latin typeface="Calibri" pitchFamily="34" charset="0"/>
              </a:rPr>
              <a:t>fiziksel adresi </a:t>
            </a:r>
            <a:r>
              <a:rPr lang="tr-TR" sz="1800" dirty="0">
                <a:latin typeface="Calibri" pitchFamily="34" charset="0"/>
              </a:rPr>
              <a:t>veriliyor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stCxn id="128" idx="1"/>
          </p:cNvCxnSpPr>
          <p:nvPr/>
        </p:nvCxnSpPr>
        <p:spPr bwMode="auto">
          <a:xfrm rot="10800000" flipV="1">
            <a:off x="2478652" y="2837586"/>
            <a:ext cx="3782627" cy="40091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2368639" y="2514600"/>
            <a:ext cx="3699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smtClean="0">
                <a:latin typeface="Calibri" pitchFamily="34" charset="0"/>
              </a:rPr>
              <a:t>Eşleşme?:</a:t>
            </a:r>
            <a:r>
              <a:rPr lang="en-US" sz="1600" dirty="0" smtClean="0">
                <a:latin typeface="Calibri" pitchFamily="34" charset="0"/>
              </a:rPr>
              <a:t> </a:t>
            </a:r>
            <a:r>
              <a:rPr lang="tr-TR" sz="1600" dirty="0" smtClean="0">
                <a:latin typeface="Calibri" pitchFamily="34" charset="0"/>
              </a:rPr>
              <a:t>varsayalım ki evet</a:t>
            </a:r>
            <a:r>
              <a:rPr lang="en-US" sz="1600" dirty="0" smtClean="0">
                <a:latin typeface="Calibri" pitchFamily="34" charset="0"/>
              </a:rPr>
              <a:t> = </a:t>
            </a:r>
            <a:r>
              <a:rPr lang="tr-TR" sz="1600" dirty="0" smtClean="0">
                <a:latin typeface="Calibri" pitchFamily="34" charset="0"/>
              </a:rPr>
              <a:t>isabet (</a:t>
            </a:r>
            <a:r>
              <a:rPr lang="en-US" sz="1600" dirty="0" smtClean="0">
                <a:latin typeface="Calibri" pitchFamily="34" charset="0"/>
              </a:rPr>
              <a:t>hit</a:t>
            </a:r>
            <a:r>
              <a:rPr lang="tr-TR" sz="1600" dirty="0" smtClean="0">
                <a:latin typeface="Calibri" pitchFamily="34" charset="0"/>
              </a:rPr>
              <a:t>)</a:t>
            </a:r>
            <a:endParaRPr lang="en-US" sz="1600" dirty="0" smtClean="0">
              <a:latin typeface="Calibri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 bwMode="auto">
          <a:xfrm rot="5400000">
            <a:off x="1582476" y="303804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907212" y="2514600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 smtClean="0">
                <a:latin typeface="Calibri" pitchFamily="34" charset="0"/>
              </a:rPr>
              <a:t>Geçerli mi</a:t>
            </a:r>
            <a:r>
              <a:rPr lang="en-US" sz="1600" dirty="0" smtClean="0">
                <a:latin typeface="Calibri" pitchFamily="34" charset="0"/>
              </a:rPr>
              <a:t>?   +</a:t>
            </a:r>
          </a:p>
        </p:txBody>
      </p:sp>
      <p:cxnSp>
        <p:nvCxnSpPr>
          <p:cNvPr id="71" name="Elbow Connector 70"/>
          <p:cNvCxnSpPr>
            <a:stCxn id="130" idx="2"/>
          </p:cNvCxnSpPr>
          <p:nvPr/>
        </p:nvCxnSpPr>
        <p:spPr bwMode="auto">
          <a:xfrm rot="5400000">
            <a:off x="5976408" y="1245569"/>
            <a:ext cx="570290" cy="4025173"/>
          </a:xfrm>
          <a:prstGeom prst="bentConnector3">
            <a:avLst>
              <a:gd name="adj1" fmla="val 17508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715000" y="3962400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blok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ofset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124974" y="3237291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 bwMode="auto">
          <a:xfrm>
            <a:off x="357018" y="435678"/>
            <a:ext cx="848218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tr-TR" kern="0" smtClean="0"/>
              <a:t>Örnek</a:t>
            </a:r>
            <a:r>
              <a:rPr lang="en-US" kern="0" smtClean="0"/>
              <a:t>: </a:t>
            </a:r>
            <a:r>
              <a:rPr lang="tr-TR" kern="0" smtClean="0"/>
              <a:t>Doğrudan Eşlenmiş Önbellek</a:t>
            </a:r>
            <a:r>
              <a:rPr lang="en-US" kern="0" smtClean="0"/>
              <a:t> (E = 1)</a:t>
            </a:r>
            <a:endParaRPr lang="en-US" kern="0" dirty="0"/>
          </a:p>
        </p:txBody>
      </p:sp>
      <p:sp>
        <p:nvSpPr>
          <p:cNvPr id="29" name="TextBox 28"/>
          <p:cNvSpPr txBox="1"/>
          <p:nvPr/>
        </p:nvSpPr>
        <p:spPr>
          <a:xfrm>
            <a:off x="381000" y="1154668"/>
            <a:ext cx="5434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D</a:t>
            </a:r>
            <a:r>
              <a:rPr lang="tr-TR" sz="1800" dirty="0" err="1" smtClean="0">
                <a:latin typeface="Calibri" pitchFamily="34" charset="0"/>
              </a:rPr>
              <a:t>oğrudan</a:t>
            </a:r>
            <a:r>
              <a:rPr lang="tr-TR" sz="1800" dirty="0" smtClean="0">
                <a:latin typeface="Calibri" pitchFamily="34" charset="0"/>
              </a:rPr>
              <a:t> eşlenmiş</a:t>
            </a:r>
            <a:r>
              <a:rPr lang="en-US" sz="1800" dirty="0" smtClean="0">
                <a:latin typeface="Calibri" pitchFamily="34" charset="0"/>
              </a:rPr>
              <a:t>: </a:t>
            </a:r>
            <a:r>
              <a:rPr lang="tr-TR" sz="1800" dirty="0" smtClean="0">
                <a:latin typeface="Calibri" pitchFamily="34" charset="0"/>
              </a:rPr>
              <a:t>Her küme için tek bir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 smtClean="0">
                <a:latin typeface="Calibri" pitchFamily="34" charset="0"/>
              </a:rPr>
              <a:t>Kabul</a:t>
            </a:r>
            <a:r>
              <a:rPr lang="tr-TR" sz="1800" dirty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edelim ki önbellek blok boyutu</a:t>
            </a:r>
            <a:r>
              <a:rPr lang="en-US" sz="1800" dirty="0" smtClean="0">
                <a:latin typeface="Calibri" pitchFamily="34" charset="0"/>
              </a:rPr>
              <a:t> 8 byte</a:t>
            </a:r>
            <a:r>
              <a:rPr lang="tr-TR" sz="1800" dirty="0" smtClean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72200" y="2016362"/>
            <a:ext cx="2660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Bir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tr-TR" sz="1800" dirty="0" smtClean="0">
                <a:latin typeface="Calibri" pitchFamily="34" charset="0"/>
              </a:rPr>
              <a:t>’e ait ana hafızadaki</a:t>
            </a:r>
          </a:p>
          <a:p>
            <a:r>
              <a:rPr lang="tr-TR" sz="1800" dirty="0" smtClean="0">
                <a:latin typeface="Calibri" pitchFamily="34" charset="0"/>
              </a:rPr>
              <a:t>fiziksel adresi </a:t>
            </a:r>
            <a:r>
              <a:rPr lang="tr-TR" sz="1800" dirty="0">
                <a:latin typeface="Calibri" pitchFamily="34" charset="0"/>
              </a:rPr>
              <a:t>veriliyor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9" grpId="0"/>
      <p:bldP spid="26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2200" y="2016362"/>
            <a:ext cx="2660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Bir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tr-TR" sz="1800" dirty="0" smtClean="0">
                <a:latin typeface="Calibri" pitchFamily="34" charset="0"/>
              </a:rPr>
              <a:t>’e ait ana hafızadaki</a:t>
            </a:r>
          </a:p>
          <a:p>
            <a:r>
              <a:rPr lang="tr-TR" sz="1800" dirty="0" smtClean="0">
                <a:latin typeface="Calibri" pitchFamily="34" charset="0"/>
              </a:rPr>
              <a:t>fiziksel adresi </a:t>
            </a:r>
            <a:r>
              <a:rPr lang="tr-TR" sz="1800" dirty="0">
                <a:latin typeface="Calibri" pitchFamily="34" charset="0"/>
              </a:rPr>
              <a:t>veriliyor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stCxn id="128" idx="1"/>
          </p:cNvCxnSpPr>
          <p:nvPr/>
        </p:nvCxnSpPr>
        <p:spPr bwMode="auto">
          <a:xfrm rot="10800000" flipV="1">
            <a:off x="2478652" y="2837586"/>
            <a:ext cx="3782627" cy="40091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2368639" y="2514600"/>
            <a:ext cx="3739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latin typeface="Calibri" pitchFamily="34" charset="0"/>
              </a:rPr>
              <a:t>Eşleşme?: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tr-TR" sz="1600" dirty="0">
                <a:latin typeface="Calibri" pitchFamily="34" charset="0"/>
              </a:rPr>
              <a:t>varsayalım ki evet</a:t>
            </a:r>
            <a:r>
              <a:rPr lang="en-US" sz="1600" dirty="0">
                <a:latin typeface="Calibri" pitchFamily="34" charset="0"/>
              </a:rPr>
              <a:t> = </a:t>
            </a:r>
            <a:r>
              <a:rPr lang="tr-TR" sz="1600" dirty="0" smtClean="0">
                <a:latin typeface="Calibri" pitchFamily="34" charset="0"/>
              </a:rPr>
              <a:t>isabet (</a:t>
            </a:r>
            <a:r>
              <a:rPr lang="en-US" sz="1600" dirty="0" smtClean="0">
                <a:latin typeface="Calibri" pitchFamily="34" charset="0"/>
              </a:rPr>
              <a:t>hit</a:t>
            </a:r>
            <a:r>
              <a:rPr lang="tr-TR" sz="1600" dirty="0">
                <a:latin typeface="Calibri" pitchFamily="34" charset="0"/>
              </a:rPr>
              <a:t>)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 bwMode="auto">
          <a:xfrm rot="5400000">
            <a:off x="1582476" y="303804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905608" y="2514600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latin typeface="Calibri" pitchFamily="34" charset="0"/>
              </a:rPr>
              <a:t>Geçerli mi</a:t>
            </a:r>
            <a:r>
              <a:rPr lang="en-US" sz="1600" dirty="0">
                <a:latin typeface="Calibri" pitchFamily="34" charset="0"/>
              </a:rPr>
              <a:t>?   +</a:t>
            </a:r>
          </a:p>
        </p:txBody>
      </p:sp>
      <p:cxnSp>
        <p:nvCxnSpPr>
          <p:cNvPr id="71" name="Elbow Connector 70"/>
          <p:cNvCxnSpPr>
            <a:stCxn id="130" idx="2"/>
          </p:cNvCxnSpPr>
          <p:nvPr/>
        </p:nvCxnSpPr>
        <p:spPr bwMode="auto">
          <a:xfrm rot="5400000">
            <a:off x="5976408" y="1245569"/>
            <a:ext cx="570290" cy="4025173"/>
          </a:xfrm>
          <a:prstGeom prst="bentConnector3">
            <a:avLst>
              <a:gd name="adj1" fmla="val 17508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Down Arrow 25"/>
          <p:cNvSpPr/>
          <p:nvPr/>
        </p:nvSpPr>
        <p:spPr bwMode="auto">
          <a:xfrm flipV="1">
            <a:off x="4330522" y="3581400"/>
            <a:ext cx="733658" cy="1066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40656" y="4659868"/>
            <a:ext cx="2976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en-US" sz="1800" dirty="0" smtClean="0">
                <a:latin typeface="Calibri" pitchFamily="34" charset="0"/>
              </a:rPr>
              <a:t> (4 Byte) </a:t>
            </a:r>
            <a:r>
              <a:rPr lang="tr-TR" sz="1800" dirty="0" smtClean="0">
                <a:latin typeface="Calibri" pitchFamily="34" charset="0"/>
              </a:rPr>
              <a:t>bu yeşil alandadır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15000" y="3962400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blok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ofset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71731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>
                <a:solidFill>
                  <a:srgbClr val="C00000"/>
                </a:solidFill>
                <a:latin typeface="Calibri" pitchFamily="34" charset="0"/>
              </a:rPr>
              <a:t>Eğer etiket eşleşmezse</a:t>
            </a:r>
            <a:r>
              <a:rPr lang="en-US" dirty="0" smtClean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tr-TR" dirty="0" smtClean="0">
                <a:latin typeface="Calibri" pitchFamily="34" charset="0"/>
              </a:rPr>
              <a:t>Eski veri çıkarılır ve ilgili etiketi </a:t>
            </a:r>
          </a:p>
          <a:p>
            <a:r>
              <a:rPr lang="tr-TR" dirty="0" smtClean="0">
                <a:latin typeface="Calibri" pitchFamily="34" charset="0"/>
              </a:rPr>
              <a:t>sağlayan veri getirilir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482182" cy="762000"/>
          </a:xfrm>
        </p:spPr>
        <p:txBody>
          <a:bodyPr/>
          <a:lstStyle/>
          <a:p>
            <a:r>
              <a:rPr lang="tr-TR" dirty="0" smtClean="0"/>
              <a:t>Örnek</a:t>
            </a:r>
            <a:r>
              <a:rPr lang="en-US" dirty="0" smtClean="0"/>
              <a:t>: </a:t>
            </a:r>
            <a:r>
              <a:rPr lang="tr-TR" dirty="0" smtClean="0"/>
              <a:t>Doğrudan Eşlenmiş Önbellek</a:t>
            </a:r>
            <a:r>
              <a:rPr lang="en-US" dirty="0" smtClean="0"/>
              <a:t> (E = 1)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81000" y="1154668"/>
            <a:ext cx="5434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D</a:t>
            </a:r>
            <a:r>
              <a:rPr lang="tr-TR" sz="1800" dirty="0" err="1" smtClean="0">
                <a:latin typeface="Calibri" pitchFamily="34" charset="0"/>
              </a:rPr>
              <a:t>oğrudan</a:t>
            </a:r>
            <a:r>
              <a:rPr lang="tr-TR" sz="1800" dirty="0" smtClean="0">
                <a:latin typeface="Calibri" pitchFamily="34" charset="0"/>
              </a:rPr>
              <a:t> eşlenmiş</a:t>
            </a:r>
            <a:r>
              <a:rPr lang="en-US" sz="1800" dirty="0" smtClean="0">
                <a:latin typeface="Calibri" pitchFamily="34" charset="0"/>
              </a:rPr>
              <a:t>: </a:t>
            </a:r>
            <a:r>
              <a:rPr lang="tr-TR" sz="1800" dirty="0" smtClean="0">
                <a:latin typeface="Calibri" pitchFamily="34" charset="0"/>
              </a:rPr>
              <a:t>Her küme için tek bir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 smtClean="0">
                <a:latin typeface="Calibri" pitchFamily="34" charset="0"/>
              </a:rPr>
              <a:t>Kabul</a:t>
            </a:r>
            <a:r>
              <a:rPr lang="tr-TR" sz="1800" dirty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edelim ki önbellek blok boyutu</a:t>
            </a:r>
            <a:r>
              <a:rPr lang="en-US" sz="1800" dirty="0" smtClean="0">
                <a:latin typeface="Calibri" pitchFamily="34" charset="0"/>
              </a:rPr>
              <a:t> 8 byte</a:t>
            </a:r>
            <a:r>
              <a:rPr lang="tr-TR" sz="1800" dirty="0" smtClean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40" name="Rectangle 136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tr-TR" dirty="0"/>
              <a:t>Doğrudan Eşlenmiş </a:t>
            </a:r>
            <a:r>
              <a:rPr lang="tr-TR" dirty="0" smtClean="0"/>
              <a:t>Önbellek </a:t>
            </a:r>
            <a:r>
              <a:rPr lang="en-US" dirty="0" smtClean="0"/>
              <a:t>Sim</a:t>
            </a:r>
            <a:r>
              <a:rPr lang="tr-TR" dirty="0" smtClean="0"/>
              <a:t>ü</a:t>
            </a:r>
            <a:r>
              <a:rPr lang="en-US" dirty="0" smtClean="0"/>
              <a:t>la</a:t>
            </a:r>
            <a:r>
              <a:rPr lang="tr-TR" dirty="0" err="1" smtClean="0"/>
              <a:t>syonu</a:t>
            </a:r>
            <a:endParaRPr lang="en-US" dirty="0"/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3211513" y="1391766"/>
            <a:ext cx="6161087" cy="3167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smtClean="0">
                <a:latin typeface="Calibri"/>
                <a:cs typeface="Calibri"/>
              </a:rPr>
              <a:t>M</a:t>
            </a:r>
            <a:r>
              <a:rPr lang="en-US" sz="2000" b="0" dirty="0">
                <a:latin typeface="Calibri"/>
                <a:cs typeface="Calibri"/>
              </a:rPr>
              <a:t>=16 </a:t>
            </a:r>
            <a:r>
              <a:rPr lang="en-US" sz="2000" b="0" dirty="0" smtClean="0">
                <a:latin typeface="Calibri"/>
                <a:cs typeface="Calibri"/>
              </a:rPr>
              <a:t>byte (4-bit</a:t>
            </a:r>
            <a:r>
              <a:rPr lang="tr-TR" sz="2000" b="0" dirty="0" err="1" smtClean="0">
                <a:latin typeface="Calibri"/>
                <a:cs typeface="Calibri"/>
              </a:rPr>
              <a:t>lik</a:t>
            </a:r>
            <a:r>
              <a:rPr lang="en-US" sz="2000" b="0" dirty="0" smtClean="0">
                <a:latin typeface="Calibri"/>
                <a:cs typeface="Calibri"/>
              </a:rPr>
              <a:t> </a:t>
            </a:r>
            <a:r>
              <a:rPr lang="en-US" sz="2000" b="0" dirty="0" err="1" smtClean="0">
                <a:latin typeface="Calibri"/>
                <a:cs typeface="Calibri"/>
              </a:rPr>
              <a:t>adres</a:t>
            </a:r>
            <a:r>
              <a:rPr lang="tr-TR" sz="2000" b="0" dirty="0" err="1" smtClean="0">
                <a:latin typeface="Calibri"/>
                <a:cs typeface="Calibri"/>
              </a:rPr>
              <a:t>ler</a:t>
            </a:r>
            <a:r>
              <a:rPr lang="en-US" sz="2000" b="0" dirty="0" smtClean="0">
                <a:latin typeface="Calibri"/>
                <a:cs typeface="Calibri"/>
              </a:rPr>
              <a:t>), </a:t>
            </a:r>
            <a:r>
              <a:rPr lang="en-US" sz="2000" b="0" dirty="0">
                <a:latin typeface="Calibri"/>
                <a:cs typeface="Calibri"/>
              </a:rPr>
              <a:t>B=2 </a:t>
            </a:r>
            <a:r>
              <a:rPr lang="en-US" sz="2000" b="0" dirty="0" smtClean="0">
                <a:latin typeface="Calibri"/>
                <a:cs typeface="Calibri"/>
              </a:rPr>
              <a:t>byte/</a:t>
            </a:r>
            <a:r>
              <a:rPr lang="en-US" sz="2000" b="0" dirty="0" err="1" smtClean="0">
                <a:latin typeface="Calibri"/>
                <a:cs typeface="Calibri"/>
              </a:rPr>
              <a:t>blok</a:t>
            </a:r>
            <a:r>
              <a:rPr lang="en-US" sz="2000" b="0" dirty="0">
                <a:latin typeface="Calibri"/>
                <a:cs typeface="Calibri"/>
              </a:rPr>
              <a:t>, 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S=4 </a:t>
            </a:r>
            <a:r>
              <a:rPr lang="tr-TR" sz="2000" b="0" dirty="0" smtClean="0">
                <a:latin typeface="Calibri"/>
                <a:cs typeface="Calibri"/>
              </a:rPr>
              <a:t>küme</a:t>
            </a:r>
            <a:r>
              <a:rPr lang="en-US" sz="2000" b="0" dirty="0" smtClean="0">
                <a:latin typeface="Calibri"/>
                <a:cs typeface="Calibri"/>
              </a:rPr>
              <a:t>, </a:t>
            </a:r>
            <a:r>
              <a:rPr lang="en-US" sz="2000" b="0" dirty="0">
                <a:latin typeface="Calibri"/>
                <a:cs typeface="Calibri"/>
              </a:rPr>
              <a:t>E=1</a:t>
            </a:r>
            <a:r>
              <a:rPr lang="en-US" sz="2000" b="0" dirty="0" smtClean="0">
                <a:latin typeface="Calibri"/>
                <a:cs typeface="Calibri"/>
              </a:rPr>
              <a:t> </a:t>
            </a:r>
            <a:r>
              <a:rPr lang="en-US" sz="2000" b="0" dirty="0" err="1" smtClean="0">
                <a:latin typeface="Calibri"/>
                <a:cs typeface="Calibri"/>
              </a:rPr>
              <a:t>Blo</a:t>
            </a:r>
            <a:r>
              <a:rPr lang="tr-TR" sz="2000" b="0" dirty="0" smtClean="0">
                <a:latin typeface="Calibri"/>
                <a:cs typeface="Calibri"/>
              </a:rPr>
              <a:t>k</a:t>
            </a:r>
            <a:r>
              <a:rPr lang="en-US" sz="2000" b="0" dirty="0" smtClean="0">
                <a:latin typeface="Calibri"/>
                <a:cs typeface="Calibri"/>
              </a:rPr>
              <a:t>/</a:t>
            </a:r>
            <a:r>
              <a:rPr lang="tr-TR" sz="2000" b="0" dirty="0" smtClean="0">
                <a:latin typeface="Calibri"/>
                <a:cs typeface="Calibri"/>
              </a:rPr>
              <a:t>küme</a:t>
            </a:r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en-US" sz="2000" b="0" dirty="0" smtClean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en-US" sz="2000" b="0" dirty="0" smtClean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tr-TR" sz="2000" b="0" dirty="0" smtClean="0">
                <a:latin typeface="Calibri"/>
                <a:cs typeface="Calibri"/>
              </a:rPr>
              <a:t>Erişilen </a:t>
            </a:r>
            <a:r>
              <a:rPr lang="en-US" sz="2000" b="0" dirty="0" err="1" smtClean="0">
                <a:latin typeface="Calibri"/>
                <a:cs typeface="Calibri"/>
              </a:rPr>
              <a:t>Adres</a:t>
            </a:r>
            <a:r>
              <a:rPr lang="tr-TR" sz="2000" b="0" dirty="0" err="1" smtClean="0">
                <a:latin typeface="Calibri"/>
                <a:cs typeface="Calibri"/>
              </a:rPr>
              <a:t>ler</a:t>
            </a:r>
            <a:r>
              <a:rPr lang="en-US" sz="2000" b="0" dirty="0" smtClean="0">
                <a:latin typeface="Calibri"/>
                <a:cs typeface="Calibri"/>
              </a:rPr>
              <a:t> (</a:t>
            </a:r>
            <a:r>
              <a:rPr lang="tr-TR" sz="2000" b="0" dirty="0" smtClean="0">
                <a:latin typeface="Calibri"/>
                <a:cs typeface="Calibri"/>
              </a:rPr>
              <a:t>her okumada 1 </a:t>
            </a:r>
            <a:r>
              <a:rPr lang="en-US" sz="2000" b="0" dirty="0" smtClean="0">
                <a:latin typeface="Calibri"/>
                <a:cs typeface="Calibri"/>
              </a:rPr>
              <a:t>byte </a:t>
            </a:r>
            <a:r>
              <a:rPr lang="tr-TR" sz="2000" b="0" dirty="0" smtClean="0">
                <a:latin typeface="Calibri"/>
                <a:cs typeface="Calibri"/>
              </a:rPr>
              <a:t>okunmaktadır</a:t>
            </a:r>
            <a:r>
              <a:rPr lang="en-US" sz="2000" b="0" dirty="0" smtClean="0">
                <a:latin typeface="Calibri"/>
                <a:cs typeface="Calibri"/>
              </a:rPr>
              <a:t>):</a:t>
            </a:r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	</a:t>
            </a:r>
            <a:r>
              <a:rPr lang="en-US" sz="2000" dirty="0">
                <a:latin typeface="Calibri"/>
                <a:cs typeface="Calibri"/>
              </a:rPr>
              <a:t>0	[0</a:t>
            </a:r>
            <a:r>
              <a:rPr lang="en-US" sz="2000" u="sng" dirty="0">
                <a:latin typeface="Calibri"/>
                <a:cs typeface="Calibri"/>
              </a:rPr>
              <a:t>00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1	[0</a:t>
            </a:r>
            <a:r>
              <a:rPr lang="en-US" sz="2000" u="sng" dirty="0">
                <a:latin typeface="Calibri"/>
                <a:cs typeface="Calibri"/>
              </a:rPr>
              <a:t>00</a:t>
            </a:r>
            <a:r>
              <a:rPr lang="en-US" sz="2000" dirty="0"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7	[0</a:t>
            </a:r>
            <a:r>
              <a:rPr lang="en-US" sz="2000" u="sng" dirty="0">
                <a:latin typeface="Calibri"/>
                <a:cs typeface="Calibri"/>
              </a:rPr>
              <a:t>11</a:t>
            </a:r>
            <a:r>
              <a:rPr lang="en-US" sz="2000" dirty="0"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8	[1</a:t>
            </a:r>
            <a:r>
              <a:rPr lang="en-US" sz="2000" u="sng" dirty="0">
                <a:latin typeface="Calibri"/>
                <a:cs typeface="Calibri"/>
              </a:rPr>
              <a:t>00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0	[0</a:t>
            </a:r>
            <a:r>
              <a:rPr lang="en-US" sz="2000" u="sng" dirty="0">
                <a:latin typeface="Calibri"/>
                <a:cs typeface="Calibri"/>
              </a:rPr>
              <a:t>00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65138" y="1633736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 err="1">
                <a:latin typeface="Calibri"/>
                <a:cs typeface="Calibri"/>
              </a:rPr>
              <a:t>x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584200" y="1295400"/>
            <a:ext cx="52899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err="1">
                <a:latin typeface="Calibri"/>
                <a:cs typeface="Calibri"/>
              </a:rPr>
              <a:t>t</a:t>
            </a:r>
            <a:r>
              <a:rPr lang="en-US" sz="2000" b="0" dirty="0">
                <a:latin typeface="Calibri"/>
                <a:cs typeface="Calibri"/>
              </a:rPr>
              <a:t>=1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1212850" y="1295400"/>
            <a:ext cx="54078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err="1">
                <a:latin typeface="Calibri"/>
                <a:cs typeface="Calibri"/>
              </a:rPr>
              <a:t>s</a:t>
            </a:r>
            <a:r>
              <a:rPr lang="en-US" sz="2000" b="0" dirty="0">
                <a:latin typeface="Calibri"/>
                <a:cs typeface="Calibri"/>
              </a:rPr>
              <a:t>=2</a:t>
            </a: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1952625" y="1295400"/>
            <a:ext cx="57522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b=1</a:t>
            </a:r>
          </a:p>
        </p:txBody>
      </p:sp>
      <p:sp>
        <p:nvSpPr>
          <p:cNvPr id="149513" name="Rectangle 9"/>
          <p:cNvSpPr>
            <a:spLocks noChangeArrowheads="1"/>
          </p:cNvSpPr>
          <p:nvPr/>
        </p:nvSpPr>
        <p:spPr bwMode="auto">
          <a:xfrm>
            <a:off x="1182688" y="1633736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xx</a:t>
            </a:r>
          </a:p>
        </p:txBody>
      </p:sp>
      <p:sp>
        <p:nvSpPr>
          <p:cNvPr id="149514" name="Rectangle 10"/>
          <p:cNvSpPr>
            <a:spLocks noChangeArrowheads="1"/>
          </p:cNvSpPr>
          <p:nvPr/>
        </p:nvSpPr>
        <p:spPr bwMode="auto">
          <a:xfrm>
            <a:off x="1898650" y="1633736"/>
            <a:ext cx="703263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x</a:t>
            </a:r>
          </a:p>
        </p:txBody>
      </p:sp>
      <p:grpSp>
        <p:nvGrpSpPr>
          <p:cNvPr id="2" name="Group 175"/>
          <p:cNvGrpSpPr>
            <a:grpSpLocks/>
          </p:cNvGrpSpPr>
          <p:nvPr/>
        </p:nvGrpSpPr>
        <p:grpSpPr bwMode="auto">
          <a:xfrm>
            <a:off x="3352800" y="5137150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516" name="Rectangle 12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517" name="Rectangle 13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?</a:t>
              </a:r>
            </a:p>
          </p:txBody>
        </p:sp>
        <p:sp>
          <p:nvSpPr>
            <p:cNvPr id="149518" name="Rectangle 14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?</a:t>
              </a:r>
            </a:p>
          </p:txBody>
        </p:sp>
      </p:grpSp>
      <p:sp>
        <p:nvSpPr>
          <p:cNvPr id="149519" name="Rectangle 15"/>
          <p:cNvSpPr>
            <a:spLocks noChangeArrowheads="1"/>
          </p:cNvSpPr>
          <p:nvPr/>
        </p:nvSpPr>
        <p:spPr bwMode="auto">
          <a:xfrm>
            <a:off x="3502025" y="4724400"/>
            <a:ext cx="310982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v</a:t>
            </a:r>
          </a:p>
        </p:txBody>
      </p:sp>
      <p:sp>
        <p:nvSpPr>
          <p:cNvPr id="149520" name="Rectangle 16"/>
          <p:cNvSpPr>
            <a:spLocks noChangeArrowheads="1"/>
          </p:cNvSpPr>
          <p:nvPr/>
        </p:nvSpPr>
        <p:spPr bwMode="auto">
          <a:xfrm>
            <a:off x="3867286" y="4719523"/>
            <a:ext cx="772839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tr-TR" sz="2000" b="0" dirty="0" smtClean="0">
                <a:latin typeface="Calibri"/>
                <a:cs typeface="Calibri"/>
              </a:rPr>
              <a:t>Etiket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149521" name="Rectangle 17"/>
          <p:cNvSpPr>
            <a:spLocks noChangeArrowheads="1"/>
          </p:cNvSpPr>
          <p:nvPr/>
        </p:nvSpPr>
        <p:spPr bwMode="auto">
          <a:xfrm>
            <a:off x="4937125" y="4724400"/>
            <a:ext cx="633186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smtClean="0">
                <a:latin typeface="Calibri"/>
                <a:cs typeface="Calibri"/>
              </a:rPr>
              <a:t>Blok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149522" name="Rectangle 18"/>
          <p:cNvSpPr>
            <a:spLocks noChangeArrowheads="1"/>
          </p:cNvSpPr>
          <p:nvPr/>
        </p:nvSpPr>
        <p:spPr bwMode="auto">
          <a:xfrm>
            <a:off x="3352800" y="544671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3927475" y="544671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4595812" y="544671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5" name="Rectangle 21"/>
          <p:cNvSpPr>
            <a:spLocks noChangeArrowheads="1"/>
          </p:cNvSpPr>
          <p:nvPr/>
        </p:nvSpPr>
        <p:spPr bwMode="auto">
          <a:xfrm>
            <a:off x="3352800" y="577056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6" name="Rectangle 22"/>
          <p:cNvSpPr>
            <a:spLocks noChangeArrowheads="1"/>
          </p:cNvSpPr>
          <p:nvPr/>
        </p:nvSpPr>
        <p:spPr bwMode="auto">
          <a:xfrm>
            <a:off x="3927475" y="577056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7" name="Rectangle 23"/>
          <p:cNvSpPr>
            <a:spLocks noChangeArrowheads="1"/>
          </p:cNvSpPr>
          <p:nvPr/>
        </p:nvSpPr>
        <p:spPr bwMode="auto">
          <a:xfrm>
            <a:off x="4595812" y="577056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8" name="Rectangle 24"/>
          <p:cNvSpPr>
            <a:spLocks noChangeArrowheads="1"/>
          </p:cNvSpPr>
          <p:nvPr/>
        </p:nvSpPr>
        <p:spPr bwMode="auto">
          <a:xfrm>
            <a:off x="3352800" y="609441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9" name="Rectangle 25"/>
          <p:cNvSpPr>
            <a:spLocks noChangeArrowheads="1"/>
          </p:cNvSpPr>
          <p:nvPr/>
        </p:nvSpPr>
        <p:spPr bwMode="auto">
          <a:xfrm>
            <a:off x="3927475" y="609441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30" name="Rectangle 26"/>
          <p:cNvSpPr>
            <a:spLocks noChangeArrowheads="1"/>
          </p:cNvSpPr>
          <p:nvPr/>
        </p:nvSpPr>
        <p:spPr bwMode="auto">
          <a:xfrm>
            <a:off x="4595812" y="609441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678" name="Text Box 174"/>
          <p:cNvSpPr txBox="1">
            <a:spLocks noChangeArrowheads="1"/>
          </p:cNvSpPr>
          <p:nvPr/>
        </p:nvSpPr>
        <p:spPr bwMode="auto">
          <a:xfrm>
            <a:off x="6657975" y="2968823"/>
            <a:ext cx="1420901" cy="28982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 smtClean="0">
                <a:latin typeface="Calibri"/>
                <a:cs typeface="Calibri"/>
              </a:rPr>
              <a:t>Kayıp (</a:t>
            </a:r>
            <a:r>
              <a:rPr lang="en-US" sz="2000" b="0" dirty="0" smtClean="0">
                <a:latin typeface="Calibri"/>
                <a:cs typeface="Calibri"/>
              </a:rPr>
              <a:t>miss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3" name="Group 176"/>
          <p:cNvGrpSpPr>
            <a:grpSpLocks/>
          </p:cNvGrpSpPr>
          <p:nvPr/>
        </p:nvGrpSpPr>
        <p:grpSpPr bwMode="auto">
          <a:xfrm>
            <a:off x="3352800" y="5140325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81" name="Rectangle 177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82" name="Rectangle 178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83" name="Rectangle 179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149684" name="Text Box 180"/>
          <p:cNvSpPr txBox="1">
            <a:spLocks noChangeArrowheads="1"/>
          </p:cNvSpPr>
          <p:nvPr/>
        </p:nvSpPr>
        <p:spPr bwMode="auto">
          <a:xfrm>
            <a:off x="6748463" y="3273623"/>
            <a:ext cx="1314718" cy="28982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 smtClean="0">
                <a:latin typeface="Calibri"/>
                <a:cs typeface="Calibri"/>
              </a:rPr>
              <a:t>İsabet (</a:t>
            </a:r>
            <a:r>
              <a:rPr lang="en-US" sz="2000" b="0" dirty="0" smtClean="0">
                <a:latin typeface="Calibri"/>
                <a:cs typeface="Calibri"/>
              </a:rPr>
              <a:t>hit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149685" name="Text Box 181"/>
          <p:cNvSpPr txBox="1">
            <a:spLocks noChangeArrowheads="1"/>
          </p:cNvSpPr>
          <p:nvPr/>
        </p:nvSpPr>
        <p:spPr bwMode="auto">
          <a:xfrm>
            <a:off x="6657975" y="3548063"/>
            <a:ext cx="1420901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4" name="Group 182"/>
          <p:cNvGrpSpPr>
            <a:grpSpLocks/>
          </p:cNvGrpSpPr>
          <p:nvPr/>
        </p:nvGrpSpPr>
        <p:grpSpPr bwMode="auto">
          <a:xfrm>
            <a:off x="3352800" y="6096000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87" name="Rectangle 183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88" name="Rectangle 184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89" name="Rectangle 185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M[6-7]</a:t>
              </a:r>
            </a:p>
          </p:txBody>
        </p:sp>
      </p:grpSp>
      <p:sp>
        <p:nvSpPr>
          <p:cNvPr id="149690" name="Text Box 186"/>
          <p:cNvSpPr txBox="1">
            <a:spLocks noChangeArrowheads="1"/>
          </p:cNvSpPr>
          <p:nvPr/>
        </p:nvSpPr>
        <p:spPr bwMode="auto">
          <a:xfrm>
            <a:off x="6657975" y="3883223"/>
            <a:ext cx="1420901" cy="6614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5" name="Group 187"/>
          <p:cNvGrpSpPr>
            <a:grpSpLocks/>
          </p:cNvGrpSpPr>
          <p:nvPr/>
        </p:nvGrpSpPr>
        <p:grpSpPr bwMode="auto">
          <a:xfrm>
            <a:off x="3352800" y="5140325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92" name="Rectangle 188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93" name="Rectangle 189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94" name="Rectangle 190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M[8-9]</a:t>
              </a:r>
            </a:p>
          </p:txBody>
        </p:sp>
      </p:grpSp>
      <p:sp>
        <p:nvSpPr>
          <p:cNvPr id="149695" name="Text Box 191"/>
          <p:cNvSpPr txBox="1">
            <a:spLocks noChangeArrowheads="1"/>
          </p:cNvSpPr>
          <p:nvPr/>
        </p:nvSpPr>
        <p:spPr bwMode="auto">
          <a:xfrm>
            <a:off x="6657975" y="4188023"/>
            <a:ext cx="1420901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6" name="Group 192"/>
          <p:cNvGrpSpPr>
            <a:grpSpLocks/>
          </p:cNvGrpSpPr>
          <p:nvPr/>
        </p:nvGrpSpPr>
        <p:grpSpPr bwMode="auto">
          <a:xfrm>
            <a:off x="3352800" y="5140325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97" name="Rectangle 193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98" name="Rectangle 194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99" name="Rectangle 195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2514600" y="5117068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Küme</a:t>
            </a:r>
            <a:r>
              <a:rPr lang="en-US" sz="1800" dirty="0" smtClean="0">
                <a:latin typeface="Calibri" pitchFamily="34" charset="0"/>
              </a:rPr>
              <a:t>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5422397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Küme </a:t>
            </a:r>
            <a:r>
              <a:rPr lang="en-US" sz="1800" dirty="0" smtClean="0">
                <a:latin typeface="Calibri" pitchFamily="34" charset="0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5727726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Küme </a:t>
            </a:r>
            <a:r>
              <a:rPr lang="en-US" sz="1800" dirty="0" smtClean="0">
                <a:latin typeface="Calibri" pitchFamily="34" charset="0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6033055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Küme </a:t>
            </a:r>
            <a:r>
              <a:rPr lang="en-US" sz="1800" dirty="0" smtClean="0">
                <a:latin typeface="Calibri" pitchFamily="34" charset="0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678" grpId="0"/>
      <p:bldP spid="149684" grpId="0"/>
      <p:bldP spid="149685" grpId="0"/>
      <p:bldP spid="149690" grpId="0"/>
      <p:bldP spid="14969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634582" cy="609908"/>
          </a:xfrm>
        </p:spPr>
        <p:txBody>
          <a:bodyPr/>
          <a:lstStyle/>
          <a:p>
            <a:r>
              <a:rPr lang="en-US" sz="2800" dirty="0" smtClean="0"/>
              <a:t>E-y</a:t>
            </a:r>
            <a:r>
              <a:rPr lang="tr-TR" sz="2800" dirty="0" smtClean="0"/>
              <a:t>önlü (yollu)</a:t>
            </a:r>
            <a:r>
              <a:rPr lang="en-US" sz="2800" dirty="0" smtClean="0"/>
              <a:t> </a:t>
            </a:r>
            <a:r>
              <a:rPr lang="tr-TR" sz="2800" dirty="0" smtClean="0"/>
              <a:t>Küme İlişkilendirmeli</a:t>
            </a:r>
            <a:r>
              <a:rPr lang="en-US" sz="2800" dirty="0" smtClean="0"/>
              <a:t> </a:t>
            </a:r>
            <a:r>
              <a:rPr lang="tr-TR" sz="2800" dirty="0" smtClean="0"/>
              <a:t>Önbellek</a:t>
            </a:r>
            <a:r>
              <a:rPr lang="en-US" sz="2800" dirty="0" smtClean="0"/>
              <a:t> (E = 2</a:t>
            </a:r>
            <a:r>
              <a:rPr lang="tr-TR" sz="2800" dirty="0" smtClean="0"/>
              <a:t> için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cxnSp>
        <p:nvCxnSpPr>
          <p:cNvPr id="125" name="Straight Connector 124"/>
          <p:cNvCxnSpPr/>
          <p:nvPr/>
        </p:nvCxnSpPr>
        <p:spPr bwMode="auto">
          <a:xfrm>
            <a:off x="762000" y="4800600"/>
            <a:ext cx="6598924" cy="17189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381000" y="1154668"/>
            <a:ext cx="4948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E = 2: </a:t>
            </a:r>
            <a:r>
              <a:rPr lang="tr-TR" sz="1800" dirty="0" smtClean="0">
                <a:latin typeface="Calibri" pitchFamily="34" charset="0"/>
              </a:rPr>
              <a:t>Her küme için 2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>
                <a:latin typeface="Calibri" pitchFamily="34" charset="0"/>
              </a:rPr>
              <a:t>Kabul edelim ki önbellek blok boyutu</a:t>
            </a:r>
            <a:r>
              <a:rPr lang="en-US" sz="1800" dirty="0">
                <a:latin typeface="Calibri" pitchFamily="34" charset="0"/>
              </a:rPr>
              <a:t> 8 byte</a:t>
            </a:r>
            <a:r>
              <a:rPr lang="tr-TR" sz="1800" dirty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8627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86275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457200" y="25146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606607" y="25908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1899924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2135242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 bwMode="auto">
          <a:xfrm>
            <a:off x="2360367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3587907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 bwMode="auto">
          <a:xfrm>
            <a:off x="1120788" y="26894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600" dirty="0" smtClean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15928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82" name="Rectangle 81"/>
          <p:cNvSpPr/>
          <p:nvPr/>
        </p:nvSpPr>
        <p:spPr bwMode="auto">
          <a:xfrm>
            <a:off x="2596309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 bwMode="auto">
          <a:xfrm>
            <a:off x="3336537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 bwMode="auto">
          <a:xfrm>
            <a:off x="3084544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2832550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4080935" y="25940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5374252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 bwMode="auto">
          <a:xfrm>
            <a:off x="5609570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5834695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7062235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4595116" y="26927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4190256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94" name="Rectangle 93"/>
          <p:cNvSpPr/>
          <p:nvPr/>
        </p:nvSpPr>
        <p:spPr bwMode="auto">
          <a:xfrm>
            <a:off x="6070637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6810865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6558872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 bwMode="auto">
          <a:xfrm>
            <a:off x="6306878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32004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3276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33752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32798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37" name="Rectangle 136"/>
          <p:cNvSpPr/>
          <p:nvPr/>
        </p:nvSpPr>
        <p:spPr bwMode="auto">
          <a:xfrm>
            <a:off x="457200" y="38862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606607" y="39624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1899924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93" name="Rectangle 192"/>
          <p:cNvSpPr/>
          <p:nvPr/>
        </p:nvSpPr>
        <p:spPr bwMode="auto">
          <a:xfrm>
            <a:off x="2135242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 bwMode="auto">
          <a:xfrm>
            <a:off x="2360367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 bwMode="auto">
          <a:xfrm>
            <a:off x="3587907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96" name="Rectangle 195"/>
          <p:cNvSpPr/>
          <p:nvPr/>
        </p:nvSpPr>
        <p:spPr bwMode="auto">
          <a:xfrm>
            <a:off x="1120788" y="40610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97" name="Rectangle 196"/>
          <p:cNvSpPr/>
          <p:nvPr/>
        </p:nvSpPr>
        <p:spPr bwMode="auto">
          <a:xfrm>
            <a:off x="715928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98" name="Rectangle 197"/>
          <p:cNvSpPr/>
          <p:nvPr/>
        </p:nvSpPr>
        <p:spPr bwMode="auto">
          <a:xfrm>
            <a:off x="2596309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99" name="Rectangle 198"/>
          <p:cNvSpPr/>
          <p:nvPr/>
        </p:nvSpPr>
        <p:spPr bwMode="auto">
          <a:xfrm>
            <a:off x="3336537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200" name="Rectangle 199"/>
          <p:cNvSpPr/>
          <p:nvPr/>
        </p:nvSpPr>
        <p:spPr bwMode="auto">
          <a:xfrm>
            <a:off x="3084544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201" name="Rectangle 200"/>
          <p:cNvSpPr/>
          <p:nvPr/>
        </p:nvSpPr>
        <p:spPr bwMode="auto">
          <a:xfrm>
            <a:off x="2832550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 bwMode="auto">
          <a:xfrm>
            <a:off x="4080935" y="39656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5374252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70" name="Rectangle 169"/>
          <p:cNvSpPr/>
          <p:nvPr/>
        </p:nvSpPr>
        <p:spPr bwMode="auto">
          <a:xfrm>
            <a:off x="5609570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82" name="Rectangle 181"/>
          <p:cNvSpPr/>
          <p:nvPr/>
        </p:nvSpPr>
        <p:spPr bwMode="auto">
          <a:xfrm>
            <a:off x="5834695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84" name="Rectangle 183"/>
          <p:cNvSpPr/>
          <p:nvPr/>
        </p:nvSpPr>
        <p:spPr bwMode="auto">
          <a:xfrm>
            <a:off x="7062235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85" name="Rectangle 184"/>
          <p:cNvSpPr/>
          <p:nvPr/>
        </p:nvSpPr>
        <p:spPr bwMode="auto">
          <a:xfrm>
            <a:off x="4595116" y="40643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86" name="Rectangle 185"/>
          <p:cNvSpPr/>
          <p:nvPr/>
        </p:nvSpPr>
        <p:spPr bwMode="auto">
          <a:xfrm>
            <a:off x="4190256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87" name="Rectangle 186"/>
          <p:cNvSpPr/>
          <p:nvPr/>
        </p:nvSpPr>
        <p:spPr bwMode="auto">
          <a:xfrm>
            <a:off x="6070637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88" name="Rectangle 187"/>
          <p:cNvSpPr/>
          <p:nvPr/>
        </p:nvSpPr>
        <p:spPr bwMode="auto">
          <a:xfrm>
            <a:off x="6810865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89" name="Rectangle 188"/>
          <p:cNvSpPr/>
          <p:nvPr/>
        </p:nvSpPr>
        <p:spPr bwMode="auto">
          <a:xfrm>
            <a:off x="6558872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90" name="Rectangle 189"/>
          <p:cNvSpPr/>
          <p:nvPr/>
        </p:nvSpPr>
        <p:spPr bwMode="auto">
          <a:xfrm>
            <a:off x="6306878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205" name="Rectangle 204"/>
          <p:cNvSpPr/>
          <p:nvPr/>
        </p:nvSpPr>
        <p:spPr bwMode="auto">
          <a:xfrm>
            <a:off x="457200" y="5102157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606607" y="5178360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1899924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221" name="Rectangle 220"/>
          <p:cNvSpPr/>
          <p:nvPr/>
        </p:nvSpPr>
        <p:spPr bwMode="auto">
          <a:xfrm>
            <a:off x="2135242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222" name="Rectangle 221"/>
          <p:cNvSpPr/>
          <p:nvPr/>
        </p:nvSpPr>
        <p:spPr bwMode="auto">
          <a:xfrm>
            <a:off x="2360367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223" name="Rectangle 222"/>
          <p:cNvSpPr/>
          <p:nvPr/>
        </p:nvSpPr>
        <p:spPr bwMode="auto">
          <a:xfrm>
            <a:off x="3587907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224" name="Rectangle 223"/>
          <p:cNvSpPr/>
          <p:nvPr/>
        </p:nvSpPr>
        <p:spPr bwMode="auto">
          <a:xfrm>
            <a:off x="1120788" y="52770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25" name="Rectangle 224"/>
          <p:cNvSpPr/>
          <p:nvPr/>
        </p:nvSpPr>
        <p:spPr bwMode="auto">
          <a:xfrm>
            <a:off x="715928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226" name="Rectangle 225"/>
          <p:cNvSpPr/>
          <p:nvPr/>
        </p:nvSpPr>
        <p:spPr bwMode="auto">
          <a:xfrm>
            <a:off x="2596309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227" name="Rectangle 226"/>
          <p:cNvSpPr/>
          <p:nvPr/>
        </p:nvSpPr>
        <p:spPr bwMode="auto">
          <a:xfrm>
            <a:off x="3336537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228" name="Rectangle 227"/>
          <p:cNvSpPr/>
          <p:nvPr/>
        </p:nvSpPr>
        <p:spPr bwMode="auto">
          <a:xfrm>
            <a:off x="3084544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229" name="Rectangle 228"/>
          <p:cNvSpPr/>
          <p:nvPr/>
        </p:nvSpPr>
        <p:spPr bwMode="auto">
          <a:xfrm>
            <a:off x="2832550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208" name="Rectangle 207"/>
          <p:cNvSpPr/>
          <p:nvPr/>
        </p:nvSpPr>
        <p:spPr bwMode="auto">
          <a:xfrm>
            <a:off x="4080935" y="5181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5374252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210" name="Rectangle 209"/>
          <p:cNvSpPr/>
          <p:nvPr/>
        </p:nvSpPr>
        <p:spPr bwMode="auto">
          <a:xfrm>
            <a:off x="5609570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 bwMode="auto">
          <a:xfrm>
            <a:off x="5834695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212" name="Rectangle 211"/>
          <p:cNvSpPr/>
          <p:nvPr/>
        </p:nvSpPr>
        <p:spPr bwMode="auto">
          <a:xfrm>
            <a:off x="7062235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213" name="Rectangle 212"/>
          <p:cNvSpPr/>
          <p:nvPr/>
        </p:nvSpPr>
        <p:spPr bwMode="auto">
          <a:xfrm>
            <a:off x="4595116" y="52802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214" name="Rectangle 213"/>
          <p:cNvSpPr/>
          <p:nvPr/>
        </p:nvSpPr>
        <p:spPr bwMode="auto">
          <a:xfrm>
            <a:off x="4190256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215" name="Rectangle 214"/>
          <p:cNvSpPr/>
          <p:nvPr/>
        </p:nvSpPr>
        <p:spPr bwMode="auto">
          <a:xfrm>
            <a:off x="6070637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216" name="Rectangle 215"/>
          <p:cNvSpPr/>
          <p:nvPr/>
        </p:nvSpPr>
        <p:spPr bwMode="auto">
          <a:xfrm>
            <a:off x="6810865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217" name="Rectangle 216"/>
          <p:cNvSpPr/>
          <p:nvPr/>
        </p:nvSpPr>
        <p:spPr bwMode="auto">
          <a:xfrm>
            <a:off x="6558872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218" name="Rectangle 217"/>
          <p:cNvSpPr/>
          <p:nvPr/>
        </p:nvSpPr>
        <p:spPr bwMode="auto">
          <a:xfrm>
            <a:off x="6306878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623272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7924800" y="3246572"/>
            <a:ext cx="125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Kümeyi bul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501713" y="981670"/>
            <a:ext cx="2543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Bir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tr-TR" sz="1800" dirty="0" err="1" smtClean="0">
                <a:latin typeface="Calibri" pitchFamily="34" charset="0"/>
              </a:rPr>
              <a:t>short</a:t>
            </a:r>
            <a:r>
              <a:rPr lang="tr-TR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tr-TR" sz="1800" dirty="0" smtClean="0">
                <a:latin typeface="Calibri" pitchFamily="34" charset="0"/>
              </a:rPr>
              <a:t>’e ait ana </a:t>
            </a:r>
          </a:p>
          <a:p>
            <a:r>
              <a:rPr lang="tr-TR" sz="1800" dirty="0">
                <a:latin typeface="Calibri" pitchFamily="34" charset="0"/>
              </a:rPr>
              <a:t>h</a:t>
            </a:r>
            <a:r>
              <a:rPr lang="tr-TR" sz="1800" dirty="0" smtClean="0">
                <a:latin typeface="Calibri" pitchFamily="34" charset="0"/>
              </a:rPr>
              <a:t>afızadaki fiziksel adresi </a:t>
            </a:r>
          </a:p>
          <a:p>
            <a:r>
              <a:rPr lang="tr-TR" sz="1800" dirty="0" smtClean="0">
                <a:latin typeface="Calibri" pitchFamily="34" charset="0"/>
              </a:rPr>
              <a:t>veriliyor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 bwMode="auto"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8627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86275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32004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3276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3375269"/>
            <a:ext cx="61978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32798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623272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hape 131"/>
          <p:cNvCxnSpPr>
            <a:stCxn id="128" idx="1"/>
            <a:endCxn id="108" idx="0"/>
          </p:cNvCxnSpPr>
          <p:nvPr/>
        </p:nvCxnSpPr>
        <p:spPr bwMode="auto">
          <a:xfrm rot="10800000" flipV="1">
            <a:off x="4905012" y="1998176"/>
            <a:ext cx="1661067" cy="1380336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hape 133"/>
          <p:cNvCxnSpPr>
            <a:stCxn id="128" idx="1"/>
            <a:endCxn id="119" idx="0"/>
          </p:cNvCxnSpPr>
          <p:nvPr/>
        </p:nvCxnSpPr>
        <p:spPr bwMode="auto">
          <a:xfrm rot="10800000" flipV="1">
            <a:off x="1430684" y="1998175"/>
            <a:ext cx="5135395" cy="1377093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2209800" y="1981200"/>
            <a:ext cx="275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Her ikisiyle de karşılaştırılır</a:t>
            </a:r>
            <a:endParaRPr lang="en-US" sz="1800" dirty="0" smtClean="0">
              <a:latin typeface="Calibri" pitchFamily="34" charset="0"/>
            </a:endParaRPr>
          </a:p>
        </p:txBody>
      </p:sp>
      <p:cxnSp>
        <p:nvCxnSpPr>
          <p:cNvPr id="136" name="Straight Connector 135"/>
          <p:cNvCxnSpPr/>
          <p:nvPr/>
        </p:nvCxnSpPr>
        <p:spPr bwMode="auto">
          <a:xfrm rot="5400000">
            <a:off x="636949" y="317146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381000" y="2694801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Calibri" pitchFamily="34" charset="0"/>
              </a:rPr>
              <a:t>Geçerli mi</a:t>
            </a:r>
            <a:r>
              <a:rPr lang="en-US" sz="1200" dirty="0">
                <a:latin typeface="Calibri" pitchFamily="34" charset="0"/>
              </a:rPr>
              <a:t>?   +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18537" y="2694801"/>
            <a:ext cx="2824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Calibri" pitchFamily="34" charset="0"/>
              </a:rPr>
              <a:t>Eşleşme?: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tr-TR" sz="1200" dirty="0">
                <a:latin typeface="Calibri" pitchFamily="34" charset="0"/>
              </a:rPr>
              <a:t>varsayalım ki evet</a:t>
            </a:r>
            <a:r>
              <a:rPr lang="en-US" sz="1200" dirty="0">
                <a:latin typeface="Calibri" pitchFamily="34" charset="0"/>
              </a:rPr>
              <a:t> = </a:t>
            </a:r>
            <a:r>
              <a:rPr lang="tr-TR" sz="1200" dirty="0">
                <a:latin typeface="Calibri" pitchFamily="34" charset="0"/>
              </a:rPr>
              <a:t>isabet (</a:t>
            </a:r>
            <a:r>
              <a:rPr lang="en-US" sz="1200" dirty="0">
                <a:latin typeface="Calibri" pitchFamily="34" charset="0"/>
              </a:rPr>
              <a:t>hit</a:t>
            </a:r>
            <a:r>
              <a:rPr lang="tr-TR" sz="1200" dirty="0">
                <a:latin typeface="Calibri" pitchFamily="34" charset="0"/>
              </a:rPr>
              <a:t>)</a:t>
            </a:r>
            <a:endParaRPr lang="en-US" sz="1200" dirty="0">
              <a:latin typeface="Calibri" pitchFamily="34" charset="0"/>
            </a:endParaRPr>
          </a:p>
        </p:txBody>
      </p:sp>
      <p:cxnSp>
        <p:nvCxnSpPr>
          <p:cNvPr id="143" name="Elbow Connector 142"/>
          <p:cNvCxnSpPr>
            <a:stCxn id="130" idx="2"/>
            <a:endCxn id="124" idx="2"/>
          </p:cNvCxnSpPr>
          <p:nvPr/>
        </p:nvCxnSpPr>
        <p:spPr bwMode="auto">
          <a:xfrm rot="5400000">
            <a:off x="5016510" y="75949"/>
            <a:ext cx="1504779" cy="5620080"/>
          </a:xfrm>
          <a:prstGeom prst="bentConnector3">
            <a:avLst>
              <a:gd name="adj1" fmla="val 14838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5105400" y="4355068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blok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ofset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1115323" y="3372714"/>
            <a:ext cx="625254" cy="26311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dirty="0" smtClean="0">
                <a:latin typeface="Calibri" pitchFamily="34" charset="0"/>
              </a:rPr>
              <a:t>etiket</a:t>
            </a:r>
            <a:endParaRPr lang="en-US" sz="1500" dirty="0" smtClean="0"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01713" y="981670"/>
            <a:ext cx="2543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Bir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tr-TR" sz="1800" dirty="0" err="1" smtClean="0">
                <a:latin typeface="Calibri" pitchFamily="34" charset="0"/>
              </a:rPr>
              <a:t>short</a:t>
            </a:r>
            <a:r>
              <a:rPr lang="tr-TR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int</a:t>
            </a:r>
            <a:r>
              <a:rPr lang="tr-TR" sz="1800" dirty="0" smtClean="0">
                <a:latin typeface="Calibri" pitchFamily="34" charset="0"/>
              </a:rPr>
              <a:t>’e ait ana </a:t>
            </a:r>
          </a:p>
          <a:p>
            <a:r>
              <a:rPr lang="tr-TR" sz="1800" dirty="0">
                <a:latin typeface="Calibri" pitchFamily="34" charset="0"/>
              </a:rPr>
              <a:t>h</a:t>
            </a:r>
            <a:r>
              <a:rPr lang="tr-TR" sz="1800" dirty="0" smtClean="0">
                <a:latin typeface="Calibri" pitchFamily="34" charset="0"/>
              </a:rPr>
              <a:t>afızadaki fiziksel adresi </a:t>
            </a:r>
          </a:p>
          <a:p>
            <a:r>
              <a:rPr lang="tr-TR" sz="1800" dirty="0" smtClean="0">
                <a:latin typeface="Calibri" pitchFamily="34" charset="0"/>
              </a:rPr>
              <a:t>veriliyor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1154668"/>
            <a:ext cx="4948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E = 2: </a:t>
            </a:r>
            <a:r>
              <a:rPr lang="tr-TR" sz="1800" dirty="0" smtClean="0">
                <a:latin typeface="Calibri" pitchFamily="34" charset="0"/>
              </a:rPr>
              <a:t>Her küme için 2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>
                <a:latin typeface="Calibri" pitchFamily="34" charset="0"/>
              </a:rPr>
              <a:t>Kabul edelim ki önbellek blok boyutu</a:t>
            </a:r>
            <a:r>
              <a:rPr lang="en-US" sz="1800" dirty="0">
                <a:latin typeface="Calibri" pitchFamily="34" charset="0"/>
              </a:rPr>
              <a:t> 8 byte</a:t>
            </a:r>
            <a:r>
              <a:rPr lang="tr-TR" sz="1800" dirty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4" name="Title 1"/>
          <p:cNvSpPr txBox="1">
            <a:spLocks/>
          </p:cNvSpPr>
          <p:nvPr/>
        </p:nvSpPr>
        <p:spPr bwMode="auto">
          <a:xfrm>
            <a:off x="357018" y="435678"/>
            <a:ext cx="8634582" cy="609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sz="2800" kern="0" dirty="0" smtClean="0"/>
              <a:t>E-y</a:t>
            </a:r>
            <a:r>
              <a:rPr lang="tr-TR" sz="2800" kern="0" dirty="0" smtClean="0"/>
              <a:t>önlü (yollu)</a:t>
            </a:r>
            <a:r>
              <a:rPr lang="en-US" sz="2800" kern="0" dirty="0" smtClean="0"/>
              <a:t> </a:t>
            </a:r>
            <a:r>
              <a:rPr lang="tr-TR" sz="2800" kern="0" dirty="0" smtClean="0"/>
              <a:t>Küme İlişkilendirmeli</a:t>
            </a:r>
            <a:r>
              <a:rPr lang="en-US" sz="2800" kern="0" dirty="0" smtClean="0"/>
              <a:t> </a:t>
            </a:r>
            <a:r>
              <a:rPr lang="tr-TR" sz="2800" kern="0" dirty="0" smtClean="0"/>
              <a:t>Önbellek</a:t>
            </a:r>
            <a:r>
              <a:rPr lang="en-US" sz="2800" kern="0" dirty="0" smtClean="0"/>
              <a:t> (E = 2</a:t>
            </a:r>
            <a:r>
              <a:rPr lang="tr-TR" sz="2800" kern="0" dirty="0" smtClean="0"/>
              <a:t> için</a:t>
            </a:r>
            <a:r>
              <a:rPr lang="en-US" sz="2800" kern="0" dirty="0" smtClean="0"/>
              <a:t>)</a:t>
            </a:r>
            <a:endParaRPr lang="en-US" sz="28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8" grpId="0"/>
      <p:bldP spid="139" grpId="0"/>
      <p:bldP spid="145" grpId="0"/>
      <p:bldP spid="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 bwMode="auto">
          <a:xfrm>
            <a:off x="6566078" y="1436004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t bit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436004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436004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2773652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2849855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294852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294852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294852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2948521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2948521"/>
            <a:ext cx="619789" cy="26311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294852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294852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2948521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2948521"/>
            <a:ext cx="252617" cy="26311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2948521"/>
            <a:ext cx="252617" cy="26311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2853098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2951764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2951764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2951764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2951764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2951764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tr-TR" sz="1600" dirty="0">
                <a:latin typeface="Calibri" pitchFamily="34" charset="0"/>
              </a:rPr>
              <a:t>etiket</a:t>
            </a:r>
            <a:endParaRPr lang="en-US" sz="1600" dirty="0" smtClean="0">
              <a:latin typeface="Calibri" pitchFamily="34" charset="0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2951764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2951764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2951764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2951764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2951764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196524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hape 131"/>
          <p:cNvCxnSpPr>
            <a:stCxn id="128" idx="1"/>
            <a:endCxn id="108" idx="0"/>
          </p:cNvCxnSpPr>
          <p:nvPr/>
        </p:nvCxnSpPr>
        <p:spPr bwMode="auto">
          <a:xfrm rot="10800000" flipV="1">
            <a:off x="4905012" y="1571428"/>
            <a:ext cx="1661067" cy="1380336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hape 133"/>
          <p:cNvCxnSpPr>
            <a:stCxn id="128" idx="1"/>
            <a:endCxn id="119" idx="0"/>
          </p:cNvCxnSpPr>
          <p:nvPr/>
        </p:nvCxnSpPr>
        <p:spPr bwMode="auto">
          <a:xfrm rot="10800000" flipV="1">
            <a:off x="1430684" y="1571427"/>
            <a:ext cx="5135395" cy="1377093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 rot="5400000">
            <a:off x="636949" y="2744715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3" name="Elbow Connector 142"/>
          <p:cNvCxnSpPr>
            <a:stCxn id="130" idx="2"/>
            <a:endCxn id="124" idx="2"/>
          </p:cNvCxnSpPr>
          <p:nvPr/>
        </p:nvCxnSpPr>
        <p:spPr bwMode="auto">
          <a:xfrm rot="5400000">
            <a:off x="5016510" y="-350799"/>
            <a:ext cx="1504779" cy="5620080"/>
          </a:xfrm>
          <a:prstGeom prst="bentConnector3">
            <a:avLst>
              <a:gd name="adj1" fmla="val 124924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5105400" y="3535652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blok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ofset</a:t>
            </a:r>
            <a:r>
              <a:rPr lang="tr-TR" sz="1800" dirty="0" smtClean="0">
                <a:latin typeface="Calibri" pitchFamily="34" charset="0"/>
              </a:rPr>
              <a:t>i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3" name="Down Arrow 42"/>
          <p:cNvSpPr/>
          <p:nvPr/>
        </p:nvSpPr>
        <p:spPr bwMode="auto">
          <a:xfrm flipV="1">
            <a:off x="2717407" y="3307052"/>
            <a:ext cx="733658" cy="450588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03399" y="3733800"/>
            <a:ext cx="2790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latin typeface="Calibri" pitchFamily="34" charset="0"/>
              </a:rPr>
              <a:t>s</a:t>
            </a:r>
            <a:r>
              <a:rPr lang="en-US" sz="1400" dirty="0" err="1" smtClean="0">
                <a:latin typeface="Calibri" pitchFamily="34" charset="0"/>
              </a:rPr>
              <a:t>hort</a:t>
            </a:r>
            <a:r>
              <a:rPr lang="tr-TR" sz="1400" dirty="0" smtClean="0">
                <a:latin typeface="Calibri" pitchFamily="34" charset="0"/>
              </a:rPr>
              <a:t> </a:t>
            </a:r>
            <a:r>
              <a:rPr lang="en-US" sz="1400" dirty="0" err="1">
                <a:latin typeface="Calibri" pitchFamily="34" charset="0"/>
              </a:rPr>
              <a:t>int</a:t>
            </a:r>
            <a:r>
              <a:rPr lang="en-US" sz="1400" dirty="0">
                <a:latin typeface="Calibri" pitchFamily="34" charset="0"/>
              </a:rPr>
              <a:t> </a:t>
            </a:r>
            <a:r>
              <a:rPr lang="en-US" sz="1400" dirty="0" smtClean="0">
                <a:latin typeface="Calibri" pitchFamily="34" charset="0"/>
              </a:rPr>
              <a:t>(</a:t>
            </a:r>
            <a:r>
              <a:rPr lang="tr-TR" sz="1400" dirty="0" smtClean="0">
                <a:latin typeface="Calibri" pitchFamily="34" charset="0"/>
              </a:rPr>
              <a:t>2</a:t>
            </a:r>
            <a:r>
              <a:rPr lang="en-US" sz="1400" dirty="0" smtClean="0">
                <a:latin typeface="Calibri" pitchFamily="34" charset="0"/>
              </a:rPr>
              <a:t> </a:t>
            </a:r>
            <a:r>
              <a:rPr lang="en-US" sz="1400" dirty="0">
                <a:latin typeface="Calibri" pitchFamily="34" charset="0"/>
              </a:rPr>
              <a:t>Byte) </a:t>
            </a:r>
            <a:r>
              <a:rPr lang="tr-TR" sz="1400" dirty="0">
                <a:latin typeface="Calibri" pitchFamily="34" charset="0"/>
              </a:rPr>
              <a:t>bu yeşil </a:t>
            </a:r>
            <a:r>
              <a:rPr lang="tr-TR" sz="1400" dirty="0" smtClean="0">
                <a:latin typeface="Calibri" pitchFamily="34" charset="0"/>
              </a:rPr>
              <a:t>alandadır</a:t>
            </a:r>
            <a:endParaRPr lang="en-US" sz="1400" dirty="0">
              <a:latin typeface="Calibri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9118" y="3962400"/>
            <a:ext cx="80838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800" dirty="0" smtClean="0">
                <a:solidFill>
                  <a:srgbClr val="C00000"/>
                </a:solidFill>
                <a:latin typeface="Calibri" pitchFamily="34" charset="0"/>
              </a:rPr>
              <a:t>Eşleşeme yoksa</a:t>
            </a:r>
            <a:r>
              <a:rPr lang="en-US" sz="1800" dirty="0" smtClean="0">
                <a:solidFill>
                  <a:srgbClr val="C00000"/>
                </a:solidFill>
                <a:latin typeface="Calibri" pitchFamily="34" charset="0"/>
              </a:rPr>
              <a:t>: 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tr-TR" sz="1800" dirty="0" smtClean="0">
                <a:latin typeface="Calibri" pitchFamily="34" charset="0"/>
              </a:rPr>
              <a:t>Kümedeki yollardan birindeki bilgiler çıkarılır </a:t>
            </a:r>
            <a:r>
              <a:rPr lang="tr-TR" sz="1800" dirty="0">
                <a:latin typeface="Calibri" pitchFamily="34" charset="0"/>
              </a:rPr>
              <a:t>ve ilgili etiketi </a:t>
            </a:r>
            <a:r>
              <a:rPr lang="tr-TR" sz="1800" dirty="0" smtClean="0">
                <a:latin typeface="Calibri" pitchFamily="34" charset="0"/>
              </a:rPr>
              <a:t>sağlayan veri getirilerek çıkarılanın yerine konulur.</a:t>
            </a:r>
            <a:endParaRPr lang="en-US" sz="1800" dirty="0" smtClean="0">
              <a:latin typeface="Calibri" pitchFamily="34" charset="0"/>
            </a:endParaRPr>
          </a:p>
          <a:p>
            <a:pPr marL="228600" indent="-228600">
              <a:buFont typeface="Arial" pitchFamily="34" charset="0"/>
              <a:buChar char="•"/>
            </a:pPr>
            <a:r>
              <a:rPr lang="tr-TR" sz="1800" dirty="0" smtClean="0">
                <a:latin typeface="Calibri" pitchFamily="34" charset="0"/>
              </a:rPr>
              <a:t>Yerine koyma (</a:t>
            </a:r>
            <a:r>
              <a:rPr lang="en-US" sz="1800" dirty="0" smtClean="0">
                <a:latin typeface="Calibri" pitchFamily="34" charset="0"/>
              </a:rPr>
              <a:t>Replacement</a:t>
            </a:r>
            <a:r>
              <a:rPr lang="tr-TR" sz="1800" dirty="0" smtClean="0">
                <a:latin typeface="Calibri" pitchFamily="34" charset="0"/>
              </a:rPr>
              <a:t>) kuralları</a:t>
            </a:r>
            <a:r>
              <a:rPr lang="en-US" sz="1800" dirty="0" smtClean="0">
                <a:latin typeface="Calibri" pitchFamily="34" charset="0"/>
              </a:rPr>
              <a:t>: </a:t>
            </a:r>
            <a:endParaRPr lang="tr-TR" sz="1800" dirty="0" smtClean="0">
              <a:latin typeface="Calibri" pitchFamily="34" charset="0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tr-TR" sz="1800" dirty="0">
                <a:latin typeface="Calibri" pitchFamily="34" charset="0"/>
              </a:rPr>
              <a:t>R</a:t>
            </a:r>
            <a:r>
              <a:rPr lang="tr-TR" sz="1800" dirty="0" smtClean="0">
                <a:latin typeface="Calibri" pitchFamily="34" charset="0"/>
              </a:rPr>
              <a:t>astgele,</a:t>
            </a:r>
            <a:r>
              <a:rPr lang="en-US" sz="1800" dirty="0" smtClean="0">
                <a:latin typeface="Calibri" pitchFamily="34" charset="0"/>
              </a:rPr>
              <a:t> </a:t>
            </a:r>
            <a:endParaRPr lang="tr-TR" sz="1800" dirty="0" smtClean="0">
              <a:latin typeface="Calibri" pitchFamily="34" charset="0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</a:rPr>
              <a:t>LRU</a:t>
            </a:r>
            <a:r>
              <a:rPr lang="tr-TR" sz="1800" dirty="0" smtClean="0">
                <a:latin typeface="Calibri" pitchFamily="34" charset="0"/>
              </a:rPr>
              <a:t>: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tr-TR" sz="1800" dirty="0" smtClean="0">
                <a:latin typeface="Calibri" pitchFamily="34" charset="0"/>
              </a:rPr>
              <a:t>son zamanlarda en az kullanılan (</a:t>
            </a:r>
            <a:r>
              <a:rPr lang="tr-TR" sz="1800" dirty="0" smtClean="0">
                <a:solidFill>
                  <a:srgbClr val="FF0000"/>
                </a:solidFill>
                <a:latin typeface="Calibri" pitchFamily="34" charset="0"/>
              </a:rPr>
              <a:t>L</a:t>
            </a:r>
            <a:r>
              <a:rPr lang="en-US" sz="1800" dirty="0" smtClean="0">
                <a:latin typeface="Calibri" pitchFamily="34" charset="0"/>
              </a:rPr>
              <a:t>east </a:t>
            </a:r>
            <a:r>
              <a:rPr lang="tr-TR" sz="1800" dirty="0">
                <a:solidFill>
                  <a:srgbClr val="FF0000"/>
                </a:solidFill>
                <a:latin typeface="Calibri" pitchFamily="34" charset="0"/>
              </a:rPr>
              <a:t>R</a:t>
            </a:r>
            <a:r>
              <a:rPr lang="en-US" sz="1800" dirty="0" err="1" smtClean="0">
                <a:latin typeface="Calibri" pitchFamily="34" charset="0"/>
              </a:rPr>
              <a:t>ecently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tr-TR" sz="1800" dirty="0" smtClean="0">
                <a:solidFill>
                  <a:srgbClr val="FF0000"/>
                </a:solidFill>
                <a:latin typeface="Calibri" pitchFamily="34" charset="0"/>
              </a:rPr>
              <a:t>U</a:t>
            </a:r>
            <a:r>
              <a:rPr lang="en-US" sz="1800" dirty="0" err="1" smtClean="0">
                <a:latin typeface="Calibri" pitchFamily="34" charset="0"/>
              </a:rPr>
              <a:t>sed</a:t>
            </a:r>
            <a:r>
              <a:rPr lang="tr-TR" sz="1800" dirty="0" smtClean="0">
                <a:latin typeface="Calibri" pitchFamily="34" charset="0"/>
              </a:rPr>
              <a:t>)</a:t>
            </a:r>
            <a:r>
              <a:rPr lang="en-US" sz="1800" dirty="0" smtClean="0">
                <a:latin typeface="Calibri" pitchFamily="34" charset="0"/>
              </a:rPr>
              <a:t>,</a:t>
            </a:r>
            <a:r>
              <a:rPr lang="tr-TR" sz="1800" dirty="0" smtClean="0">
                <a:latin typeface="Calibri" pitchFamily="34" charset="0"/>
              </a:rPr>
              <a:t> en uzun süredir kullanılmayan çıkarılır</a:t>
            </a:r>
            <a:r>
              <a:rPr lang="en-US" sz="1800" dirty="0" smtClean="0">
                <a:latin typeface="Calibri" pitchFamily="34" charset="0"/>
              </a:rPr>
              <a:t> </a:t>
            </a:r>
            <a:endParaRPr lang="tr-TR" sz="1800" dirty="0" smtClean="0">
              <a:latin typeface="Calibri" pitchFamily="34" charset="0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tr-TR" sz="1800" dirty="0" smtClean="0">
                <a:latin typeface="Calibri" pitchFamily="34" charset="0"/>
              </a:rPr>
              <a:t>FIFO: ilk giren ilk çıkar (</a:t>
            </a:r>
            <a:r>
              <a:rPr lang="tr-TR" sz="1800" dirty="0" smtClean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tr-TR" sz="1800" dirty="0" smtClean="0">
                <a:latin typeface="Calibri" pitchFamily="34" charset="0"/>
              </a:rPr>
              <a:t>irst-</a:t>
            </a:r>
            <a:r>
              <a:rPr lang="tr-TR" sz="1800" dirty="0" err="1" smtClean="0">
                <a:solidFill>
                  <a:srgbClr val="FF0000"/>
                </a:solidFill>
                <a:latin typeface="Calibri" pitchFamily="34" charset="0"/>
              </a:rPr>
              <a:t>I</a:t>
            </a:r>
            <a:r>
              <a:rPr lang="tr-TR" sz="1800" dirty="0" err="1" smtClean="0">
                <a:latin typeface="Calibri" pitchFamily="34" charset="0"/>
              </a:rPr>
              <a:t>n</a:t>
            </a:r>
            <a:r>
              <a:rPr lang="tr-TR" sz="1800" dirty="0" smtClean="0">
                <a:latin typeface="Calibri" pitchFamily="34" charset="0"/>
              </a:rPr>
              <a:t>-</a:t>
            </a:r>
            <a:r>
              <a:rPr lang="tr-TR" sz="1800" dirty="0" smtClean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tr-TR" sz="1800" dirty="0" smtClean="0">
                <a:latin typeface="Calibri" pitchFamily="34" charset="0"/>
              </a:rPr>
              <a:t>irst-</a:t>
            </a:r>
            <a:r>
              <a:rPr lang="tr-TR" sz="1800" dirty="0" err="1">
                <a:solidFill>
                  <a:srgbClr val="FF0000"/>
                </a:solidFill>
                <a:latin typeface="Calibri" pitchFamily="34" charset="0"/>
              </a:rPr>
              <a:t>O</a:t>
            </a:r>
            <a:r>
              <a:rPr lang="tr-TR" sz="1800" dirty="0" err="1" smtClean="0">
                <a:latin typeface="Calibri" pitchFamily="34" charset="0"/>
              </a:rPr>
              <a:t>ut</a:t>
            </a:r>
            <a:r>
              <a:rPr lang="tr-TR" sz="1800" dirty="0" smtClean="0">
                <a:latin typeface="Calibri" pitchFamily="34" charset="0"/>
              </a:rPr>
              <a:t>)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tr-TR" sz="1800" dirty="0" smtClean="0">
                <a:latin typeface="Calibri" pitchFamily="34" charset="0"/>
              </a:rPr>
              <a:t>LFU: en az sıklıkla </a:t>
            </a:r>
            <a:r>
              <a:rPr lang="tr-TR" sz="1800" dirty="0" err="1" smtClean="0">
                <a:latin typeface="Calibri" pitchFamily="34" charset="0"/>
              </a:rPr>
              <a:t>kulanılan</a:t>
            </a:r>
            <a:r>
              <a:rPr lang="tr-TR" sz="1800" dirty="0" smtClean="0">
                <a:latin typeface="Calibri" pitchFamily="34" charset="0"/>
              </a:rPr>
              <a:t> (</a:t>
            </a:r>
            <a:r>
              <a:rPr lang="tr-TR" sz="1800" dirty="0" err="1" smtClean="0">
                <a:solidFill>
                  <a:srgbClr val="FF0000"/>
                </a:solidFill>
                <a:latin typeface="Calibri" pitchFamily="34" charset="0"/>
              </a:rPr>
              <a:t>L</a:t>
            </a:r>
            <a:r>
              <a:rPr lang="tr-TR" sz="1800" dirty="0" err="1" smtClean="0">
                <a:latin typeface="Calibri" pitchFamily="34" charset="0"/>
              </a:rPr>
              <a:t>east</a:t>
            </a:r>
            <a:r>
              <a:rPr lang="tr-TR" sz="1800" dirty="0" smtClean="0">
                <a:latin typeface="Calibri" pitchFamily="34" charset="0"/>
              </a:rPr>
              <a:t> </a:t>
            </a:r>
            <a:r>
              <a:rPr lang="tr-TR" sz="1800" dirty="0" err="1" smtClean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tr-TR" sz="1800" dirty="0" err="1" smtClean="0">
                <a:latin typeface="Calibri" pitchFamily="34" charset="0"/>
              </a:rPr>
              <a:t>requently</a:t>
            </a:r>
            <a:r>
              <a:rPr lang="tr-TR" sz="1800" dirty="0" smtClean="0">
                <a:latin typeface="Calibri" pitchFamily="34" charset="0"/>
              </a:rPr>
              <a:t> </a:t>
            </a:r>
            <a:r>
              <a:rPr lang="tr-TR" sz="1800" dirty="0" err="1" smtClean="0">
                <a:solidFill>
                  <a:srgbClr val="FF0000"/>
                </a:solidFill>
                <a:latin typeface="Calibri" pitchFamily="34" charset="0"/>
              </a:rPr>
              <a:t>U</a:t>
            </a:r>
            <a:r>
              <a:rPr lang="tr-TR" sz="1800" dirty="0" err="1" smtClean="0">
                <a:latin typeface="Calibri" pitchFamily="34" charset="0"/>
              </a:rPr>
              <a:t>sed</a:t>
            </a:r>
            <a:r>
              <a:rPr lang="tr-TR" sz="1800" dirty="0" smtClean="0">
                <a:latin typeface="Calibri" pitchFamily="34" charset="0"/>
              </a:rPr>
              <a:t>)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</a:rPr>
              <a:t>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3018" y="946102"/>
            <a:ext cx="2614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Calibri" pitchFamily="34" charset="0"/>
              </a:rPr>
              <a:t>Bir</a:t>
            </a:r>
            <a:r>
              <a:rPr lang="en-US" sz="1400" dirty="0">
                <a:latin typeface="Calibri" pitchFamily="34" charset="0"/>
              </a:rPr>
              <a:t> </a:t>
            </a:r>
            <a:r>
              <a:rPr lang="tr-TR" sz="1400" dirty="0" err="1" smtClean="0">
                <a:latin typeface="Calibri" pitchFamily="34" charset="0"/>
              </a:rPr>
              <a:t>short</a:t>
            </a:r>
            <a:r>
              <a:rPr lang="tr-TR" sz="1400" dirty="0" smtClean="0">
                <a:latin typeface="Calibri" pitchFamily="34" charset="0"/>
              </a:rPr>
              <a:t> </a:t>
            </a:r>
            <a:r>
              <a:rPr lang="en-US" sz="1400" dirty="0" err="1" smtClean="0">
                <a:latin typeface="Calibri" pitchFamily="34" charset="0"/>
              </a:rPr>
              <a:t>int</a:t>
            </a:r>
            <a:r>
              <a:rPr lang="tr-TR" sz="1400" dirty="0" smtClean="0">
                <a:latin typeface="Calibri" pitchFamily="34" charset="0"/>
              </a:rPr>
              <a:t>’e ait ana hafızadaki fiziksel adresi veriliyor</a:t>
            </a:r>
            <a:r>
              <a:rPr lang="en-US" sz="1400" dirty="0">
                <a:latin typeface="Calibri" pitchFamily="34" charset="0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000" y="877669"/>
            <a:ext cx="4948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E = 2: </a:t>
            </a:r>
            <a:r>
              <a:rPr lang="tr-TR" sz="1800" dirty="0" smtClean="0">
                <a:latin typeface="Calibri" pitchFamily="34" charset="0"/>
              </a:rPr>
              <a:t>Her küme için 2 yol bulunur</a:t>
            </a:r>
            <a:endParaRPr lang="en-US" sz="1800" dirty="0" smtClean="0">
              <a:latin typeface="Calibri" pitchFamily="34" charset="0"/>
            </a:endParaRPr>
          </a:p>
          <a:p>
            <a:r>
              <a:rPr lang="tr-TR" sz="1800" dirty="0">
                <a:latin typeface="Calibri" pitchFamily="34" charset="0"/>
              </a:rPr>
              <a:t>Kabul edelim ki önbellek blok boyutu</a:t>
            </a:r>
            <a:r>
              <a:rPr lang="en-US" sz="1800" dirty="0">
                <a:latin typeface="Calibri" pitchFamily="34" charset="0"/>
              </a:rPr>
              <a:t> 8 byte</a:t>
            </a:r>
            <a:r>
              <a:rPr lang="tr-TR" sz="1800" dirty="0">
                <a:latin typeface="Calibri" pitchFamily="34" charset="0"/>
              </a:rPr>
              <a:t> olsun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8" name="Title 1"/>
          <p:cNvSpPr txBox="1">
            <a:spLocks/>
          </p:cNvSpPr>
          <p:nvPr/>
        </p:nvSpPr>
        <p:spPr bwMode="auto">
          <a:xfrm>
            <a:off x="357018" y="454241"/>
            <a:ext cx="8634582" cy="609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sz="2800" kern="0" dirty="0" smtClean="0"/>
              <a:t>E-y</a:t>
            </a:r>
            <a:r>
              <a:rPr lang="tr-TR" sz="2800" kern="0" dirty="0" smtClean="0"/>
              <a:t>önlü (yollu)</a:t>
            </a:r>
            <a:r>
              <a:rPr lang="en-US" sz="2800" kern="0" dirty="0" smtClean="0"/>
              <a:t> </a:t>
            </a:r>
            <a:r>
              <a:rPr lang="tr-TR" sz="2800" kern="0" dirty="0" smtClean="0"/>
              <a:t>Küme İlişkilendirmeli</a:t>
            </a:r>
            <a:r>
              <a:rPr lang="en-US" sz="2800" kern="0" dirty="0" smtClean="0"/>
              <a:t> </a:t>
            </a:r>
            <a:r>
              <a:rPr lang="tr-TR" sz="2800" kern="0" dirty="0" smtClean="0"/>
              <a:t>Önbellek</a:t>
            </a:r>
            <a:r>
              <a:rPr lang="en-US" sz="2800" kern="0" dirty="0" smtClean="0"/>
              <a:t> (E = 2</a:t>
            </a:r>
            <a:r>
              <a:rPr lang="tr-TR" sz="2800" kern="0" dirty="0" smtClean="0"/>
              <a:t> için</a:t>
            </a:r>
            <a:r>
              <a:rPr lang="en-US" sz="2800" kern="0" dirty="0" smtClean="0"/>
              <a:t>)</a:t>
            </a:r>
            <a:endParaRPr lang="en-US" sz="2800" kern="0" dirty="0"/>
          </a:p>
        </p:txBody>
      </p:sp>
      <p:sp>
        <p:nvSpPr>
          <p:cNvPr id="49" name="TextBox 48"/>
          <p:cNvSpPr txBox="1"/>
          <p:nvPr/>
        </p:nvSpPr>
        <p:spPr>
          <a:xfrm>
            <a:off x="2209800" y="1554452"/>
            <a:ext cx="275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Her ikisiyle de karşılaştırılır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1000" y="2268053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Calibri" pitchFamily="34" charset="0"/>
              </a:rPr>
              <a:t>Geçerli mi</a:t>
            </a:r>
            <a:r>
              <a:rPr lang="en-US" sz="1200" dirty="0">
                <a:latin typeface="Calibri" pitchFamily="34" charset="0"/>
              </a:rPr>
              <a:t>?   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8537" y="2268053"/>
            <a:ext cx="2824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Calibri" pitchFamily="34" charset="0"/>
              </a:rPr>
              <a:t>Eşleşme?: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tr-TR" sz="1200" dirty="0">
                <a:latin typeface="Calibri" pitchFamily="34" charset="0"/>
              </a:rPr>
              <a:t>varsayalım ki evet</a:t>
            </a:r>
            <a:r>
              <a:rPr lang="en-US" sz="1200" dirty="0">
                <a:latin typeface="Calibri" pitchFamily="34" charset="0"/>
              </a:rPr>
              <a:t> = </a:t>
            </a:r>
            <a:r>
              <a:rPr lang="tr-TR" sz="1200" dirty="0">
                <a:latin typeface="Calibri" pitchFamily="34" charset="0"/>
              </a:rPr>
              <a:t>isabet (</a:t>
            </a:r>
            <a:r>
              <a:rPr lang="en-US" sz="1200" dirty="0">
                <a:latin typeface="Calibri" pitchFamily="34" charset="0"/>
              </a:rPr>
              <a:t>hit</a:t>
            </a:r>
            <a:r>
              <a:rPr lang="tr-TR" sz="1200" dirty="0">
                <a:latin typeface="Calibri" pitchFamily="34" charset="0"/>
              </a:rPr>
              <a:t>)</a:t>
            </a:r>
            <a:endParaRPr lang="en-US" sz="12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02" name="Rectangle 50"/>
          <p:cNvSpPr>
            <a:spLocks noChangeArrowheads="1"/>
          </p:cNvSpPr>
          <p:nvPr/>
        </p:nvSpPr>
        <p:spPr bwMode="auto">
          <a:xfrm>
            <a:off x="3922713" y="5213015"/>
            <a:ext cx="2662237" cy="397545"/>
          </a:xfrm>
          <a:prstGeom prst="rect">
            <a:avLst/>
          </a:prstGeom>
          <a:solidFill>
            <a:srgbClr val="DEDFF5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801" name="Rectangle 49"/>
          <p:cNvSpPr>
            <a:spLocks noChangeArrowheads="1"/>
          </p:cNvSpPr>
          <p:nvPr/>
        </p:nvSpPr>
        <p:spPr bwMode="auto">
          <a:xfrm>
            <a:off x="3922713" y="6030577"/>
            <a:ext cx="2662237" cy="397545"/>
          </a:xfrm>
          <a:prstGeom prst="rect">
            <a:avLst/>
          </a:prstGeom>
          <a:solidFill>
            <a:srgbClr val="DEDFF5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35678"/>
            <a:ext cx="8991600" cy="762000"/>
          </a:xfrm>
        </p:spPr>
        <p:txBody>
          <a:bodyPr/>
          <a:lstStyle/>
          <a:p>
            <a:r>
              <a:rPr lang="tr-TR" sz="2800" dirty="0" smtClean="0"/>
              <a:t>2</a:t>
            </a:r>
            <a:r>
              <a:rPr lang="en-US" sz="2800" dirty="0" smtClean="0"/>
              <a:t>-y</a:t>
            </a:r>
            <a:r>
              <a:rPr lang="tr-TR" sz="2800" dirty="0"/>
              <a:t>önlü (yollu)</a:t>
            </a:r>
            <a:r>
              <a:rPr lang="en-US" sz="2800" dirty="0"/>
              <a:t> </a:t>
            </a:r>
            <a:r>
              <a:rPr lang="tr-TR" sz="2800" dirty="0"/>
              <a:t>Küme İlişkilendirmeli</a:t>
            </a:r>
            <a:r>
              <a:rPr lang="en-US" sz="2800" dirty="0"/>
              <a:t> </a:t>
            </a:r>
            <a:r>
              <a:rPr lang="tr-TR" sz="2800" dirty="0" smtClean="0"/>
              <a:t>Önbellek Simülasyonu</a:t>
            </a:r>
            <a:endParaRPr lang="en-US" sz="2800" dirty="0"/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3211513" y="1712243"/>
            <a:ext cx="5780087" cy="28597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Calibri"/>
                <a:cs typeface="Calibri"/>
              </a:rPr>
              <a:t>M=16 byte </a:t>
            </a:r>
            <a:r>
              <a:rPr lang="en-US" sz="2000" b="0" dirty="0" smtClean="0">
                <a:latin typeface="Calibri"/>
                <a:cs typeface="Calibri"/>
              </a:rPr>
              <a:t>(</a:t>
            </a:r>
            <a:r>
              <a:rPr lang="en-US" sz="2000" b="0" dirty="0">
                <a:latin typeface="Calibri"/>
                <a:cs typeface="Calibri"/>
              </a:rPr>
              <a:t>4-bit</a:t>
            </a:r>
            <a:r>
              <a:rPr lang="tr-TR" sz="2000" b="0" dirty="0" err="1">
                <a:latin typeface="Calibri"/>
                <a:cs typeface="Calibri"/>
              </a:rPr>
              <a:t>lik</a:t>
            </a:r>
            <a:r>
              <a:rPr lang="en-US" sz="2000" b="0" dirty="0">
                <a:latin typeface="Calibri"/>
                <a:cs typeface="Calibri"/>
              </a:rPr>
              <a:t> </a:t>
            </a:r>
            <a:r>
              <a:rPr lang="en-US" sz="2000" b="0" dirty="0" err="1">
                <a:latin typeface="Calibri"/>
                <a:cs typeface="Calibri"/>
              </a:rPr>
              <a:t>adres</a:t>
            </a:r>
            <a:r>
              <a:rPr lang="tr-TR" sz="2000" b="0" dirty="0" err="1">
                <a:latin typeface="Calibri"/>
                <a:cs typeface="Calibri"/>
              </a:rPr>
              <a:t>ler</a:t>
            </a:r>
            <a:r>
              <a:rPr lang="en-US" sz="2000" b="0" dirty="0">
                <a:latin typeface="Calibri"/>
                <a:cs typeface="Calibri"/>
              </a:rPr>
              <a:t>), B=2 </a:t>
            </a:r>
            <a:r>
              <a:rPr lang="en-US" sz="2000" b="0" dirty="0" smtClean="0">
                <a:latin typeface="Calibri"/>
                <a:cs typeface="Calibri"/>
              </a:rPr>
              <a:t>byte/</a:t>
            </a:r>
            <a:r>
              <a:rPr lang="en-US" sz="2000" b="0" dirty="0" err="1" smtClean="0">
                <a:latin typeface="Calibri"/>
                <a:cs typeface="Calibri"/>
              </a:rPr>
              <a:t>blok</a:t>
            </a:r>
            <a:r>
              <a:rPr lang="en-US" sz="2000" b="0" dirty="0">
                <a:latin typeface="Calibri"/>
                <a:cs typeface="Calibri"/>
              </a:rPr>
              <a:t>, 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S=2 </a:t>
            </a:r>
            <a:r>
              <a:rPr lang="tr-TR" sz="2000" b="0" dirty="0" smtClean="0">
                <a:latin typeface="Calibri"/>
                <a:cs typeface="Calibri"/>
              </a:rPr>
              <a:t>küme</a:t>
            </a:r>
            <a:r>
              <a:rPr lang="en-US" sz="2000" b="0" dirty="0" smtClean="0">
                <a:latin typeface="Calibri"/>
                <a:cs typeface="Calibri"/>
              </a:rPr>
              <a:t>, </a:t>
            </a:r>
            <a:r>
              <a:rPr lang="en-US" sz="2000" b="0" dirty="0">
                <a:latin typeface="Calibri"/>
                <a:cs typeface="Calibri"/>
              </a:rPr>
              <a:t>E=2</a:t>
            </a:r>
            <a:r>
              <a:rPr lang="en-US" sz="2000" b="0" dirty="0" smtClean="0">
                <a:latin typeface="Calibri"/>
                <a:cs typeface="Calibri"/>
              </a:rPr>
              <a:t> </a:t>
            </a:r>
            <a:r>
              <a:rPr lang="en-US" sz="2000" b="0" dirty="0" err="1" smtClean="0">
                <a:latin typeface="Calibri"/>
                <a:cs typeface="Calibri"/>
              </a:rPr>
              <a:t>blok</a:t>
            </a:r>
            <a:r>
              <a:rPr lang="en-US" sz="2000" b="0" dirty="0" smtClean="0">
                <a:latin typeface="Calibri"/>
                <a:cs typeface="Calibri"/>
              </a:rPr>
              <a:t>/</a:t>
            </a:r>
            <a:r>
              <a:rPr lang="tr-TR" sz="2000" b="0" dirty="0" smtClean="0">
                <a:latin typeface="Calibri"/>
                <a:cs typeface="Calibri"/>
              </a:rPr>
              <a:t>küme</a:t>
            </a:r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en-US" sz="2000" b="0" dirty="0">
              <a:latin typeface="Calibri"/>
              <a:cs typeface="Calibri"/>
            </a:endParaRPr>
          </a:p>
          <a:p>
            <a:r>
              <a:rPr lang="tr-TR" sz="2000" b="0" dirty="0">
                <a:latin typeface="Calibri"/>
                <a:cs typeface="Calibri"/>
              </a:rPr>
              <a:t>Erişilen </a:t>
            </a:r>
            <a:r>
              <a:rPr lang="en-US" sz="2000" b="0" dirty="0" err="1">
                <a:latin typeface="Calibri"/>
                <a:cs typeface="Calibri"/>
              </a:rPr>
              <a:t>Adres</a:t>
            </a:r>
            <a:r>
              <a:rPr lang="tr-TR" sz="2000" b="0" dirty="0" err="1">
                <a:latin typeface="Calibri"/>
                <a:cs typeface="Calibri"/>
              </a:rPr>
              <a:t>ler</a:t>
            </a:r>
            <a:r>
              <a:rPr lang="en-US" sz="2000" b="0" dirty="0">
                <a:latin typeface="Calibri"/>
                <a:cs typeface="Calibri"/>
              </a:rPr>
              <a:t> (</a:t>
            </a:r>
            <a:r>
              <a:rPr lang="tr-TR" sz="2000" b="0" dirty="0">
                <a:latin typeface="Calibri"/>
                <a:cs typeface="Calibri"/>
              </a:rPr>
              <a:t>her okumada 1 </a:t>
            </a:r>
            <a:r>
              <a:rPr lang="en-US" sz="2000" b="0" dirty="0">
                <a:latin typeface="Calibri"/>
                <a:cs typeface="Calibri"/>
              </a:rPr>
              <a:t>byte </a:t>
            </a:r>
            <a:r>
              <a:rPr lang="tr-TR" sz="2000" b="0" dirty="0">
                <a:latin typeface="Calibri"/>
                <a:cs typeface="Calibri"/>
              </a:rPr>
              <a:t>okunmaktadır</a:t>
            </a:r>
            <a:r>
              <a:rPr lang="en-US" sz="2000" b="0" dirty="0">
                <a:latin typeface="Calibri"/>
                <a:cs typeface="Calibri"/>
              </a:rPr>
              <a:t>):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	</a:t>
            </a:r>
            <a:r>
              <a:rPr lang="en-US" sz="2000" dirty="0">
                <a:latin typeface="Calibri"/>
                <a:cs typeface="Calibri"/>
              </a:rPr>
              <a:t>0	[00</a:t>
            </a:r>
            <a:r>
              <a:rPr lang="en-US" sz="2000" u="sng" dirty="0">
                <a:latin typeface="Calibri"/>
                <a:cs typeface="Calibri"/>
              </a:rPr>
              <a:t>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1	[00</a:t>
            </a:r>
            <a:r>
              <a:rPr lang="en-US" sz="2000" u="sng" dirty="0">
                <a:latin typeface="Calibri"/>
                <a:cs typeface="Calibri"/>
              </a:rPr>
              <a:t>0</a:t>
            </a:r>
            <a:r>
              <a:rPr lang="en-US" sz="2000" dirty="0"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7	[01</a:t>
            </a:r>
            <a:r>
              <a:rPr lang="en-US" sz="2000" u="sng" dirty="0">
                <a:latin typeface="Calibri"/>
                <a:cs typeface="Calibri"/>
              </a:rPr>
              <a:t>1</a:t>
            </a:r>
            <a:r>
              <a:rPr lang="en-US" sz="2000" dirty="0"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8	[10</a:t>
            </a:r>
            <a:r>
              <a:rPr lang="en-US" sz="2000" u="sng" dirty="0">
                <a:latin typeface="Calibri"/>
                <a:cs typeface="Calibri"/>
              </a:rPr>
              <a:t>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0	[00</a:t>
            </a:r>
            <a:r>
              <a:rPr lang="en-US" sz="2000" u="sng" dirty="0">
                <a:latin typeface="Calibri"/>
                <a:cs typeface="Calibri"/>
              </a:rPr>
              <a:t>0</a:t>
            </a:r>
            <a:r>
              <a:rPr lang="en-US" sz="2000" dirty="0"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457200" y="1841500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xx</a:t>
            </a:r>
          </a:p>
        </p:txBody>
      </p:sp>
      <p:sp>
        <p:nvSpPr>
          <p:cNvPr id="202757" name="Rectangle 5"/>
          <p:cNvSpPr>
            <a:spLocks noChangeArrowheads="1"/>
          </p:cNvSpPr>
          <p:nvPr/>
        </p:nvSpPr>
        <p:spPr bwMode="auto">
          <a:xfrm>
            <a:off x="576262" y="1507455"/>
            <a:ext cx="52638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t=2</a:t>
            </a:r>
          </a:p>
        </p:txBody>
      </p:sp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1204912" y="1507455"/>
            <a:ext cx="55393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s=1</a:t>
            </a:r>
          </a:p>
        </p:txBody>
      </p:sp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1944687" y="1507455"/>
            <a:ext cx="58123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b=1</a:t>
            </a:r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1174750" y="1841500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x</a:t>
            </a:r>
          </a:p>
        </p:txBody>
      </p:sp>
      <p:sp>
        <p:nvSpPr>
          <p:cNvPr id="202761" name="Rectangle 9"/>
          <p:cNvSpPr>
            <a:spLocks noChangeArrowheads="1"/>
          </p:cNvSpPr>
          <p:nvPr/>
        </p:nvSpPr>
        <p:spPr bwMode="auto">
          <a:xfrm>
            <a:off x="1890712" y="1841500"/>
            <a:ext cx="703263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x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922713" y="5106988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63" name="Rectangle 11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02764" name="Rectangle 12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?</a:t>
              </a:r>
            </a:p>
          </p:txBody>
        </p:sp>
        <p:sp>
          <p:nvSpPr>
            <p:cNvPr id="202765" name="Rectangle 13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?</a:t>
              </a:r>
            </a:p>
          </p:txBody>
        </p:sp>
      </p:grpSp>
      <p:sp>
        <p:nvSpPr>
          <p:cNvPr id="202766" name="Rectangle 14"/>
          <p:cNvSpPr>
            <a:spLocks noChangeArrowheads="1"/>
          </p:cNvSpPr>
          <p:nvPr/>
        </p:nvSpPr>
        <p:spPr bwMode="auto">
          <a:xfrm>
            <a:off x="4071938" y="4724400"/>
            <a:ext cx="31691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alibri"/>
                <a:cs typeface="Calibri"/>
              </a:rPr>
              <a:t>v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202767" name="Rectangle 15"/>
          <p:cNvSpPr>
            <a:spLocks noChangeArrowheads="1"/>
          </p:cNvSpPr>
          <p:nvPr/>
        </p:nvSpPr>
        <p:spPr bwMode="auto">
          <a:xfrm>
            <a:off x="4437184" y="4724400"/>
            <a:ext cx="787394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tr-TR" sz="2000" dirty="0" smtClean="0">
                <a:latin typeface="Calibri"/>
                <a:cs typeface="Calibri"/>
              </a:rPr>
              <a:t>Etiket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202768" name="Rectangle 16"/>
          <p:cNvSpPr>
            <a:spLocks noChangeArrowheads="1"/>
          </p:cNvSpPr>
          <p:nvPr/>
        </p:nvSpPr>
        <p:spPr bwMode="auto">
          <a:xfrm>
            <a:off x="5410200" y="4724400"/>
            <a:ext cx="65081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smtClean="0">
                <a:latin typeface="Calibri"/>
                <a:cs typeface="Calibri"/>
              </a:rPr>
              <a:t>Blok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202769" name="Rectangle 17"/>
          <p:cNvSpPr>
            <a:spLocks noChangeArrowheads="1"/>
          </p:cNvSpPr>
          <p:nvPr/>
        </p:nvSpPr>
        <p:spPr bwMode="auto">
          <a:xfrm>
            <a:off x="3922713" y="541655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0" name="Rectangle 18"/>
          <p:cNvSpPr>
            <a:spLocks noChangeArrowheads="1"/>
          </p:cNvSpPr>
          <p:nvPr/>
        </p:nvSpPr>
        <p:spPr bwMode="auto">
          <a:xfrm>
            <a:off x="4497388" y="541655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1" name="Rectangle 19"/>
          <p:cNvSpPr>
            <a:spLocks noChangeArrowheads="1"/>
          </p:cNvSpPr>
          <p:nvPr/>
        </p:nvSpPr>
        <p:spPr bwMode="auto">
          <a:xfrm>
            <a:off x="5165725" y="541655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2" name="Rectangle 20"/>
          <p:cNvSpPr>
            <a:spLocks noChangeArrowheads="1"/>
          </p:cNvSpPr>
          <p:nvPr/>
        </p:nvSpPr>
        <p:spPr bwMode="auto">
          <a:xfrm>
            <a:off x="3922713" y="592455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3" name="Rectangle 21"/>
          <p:cNvSpPr>
            <a:spLocks noChangeArrowheads="1"/>
          </p:cNvSpPr>
          <p:nvPr/>
        </p:nvSpPr>
        <p:spPr bwMode="auto">
          <a:xfrm>
            <a:off x="4497388" y="592455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4" name="Rectangle 22"/>
          <p:cNvSpPr>
            <a:spLocks noChangeArrowheads="1"/>
          </p:cNvSpPr>
          <p:nvPr/>
        </p:nvSpPr>
        <p:spPr bwMode="auto">
          <a:xfrm>
            <a:off x="5165725" y="592455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5" name="Rectangle 23"/>
          <p:cNvSpPr>
            <a:spLocks noChangeArrowheads="1"/>
          </p:cNvSpPr>
          <p:nvPr/>
        </p:nvSpPr>
        <p:spPr bwMode="auto">
          <a:xfrm>
            <a:off x="3922713" y="624840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6" name="Rectangle 24"/>
          <p:cNvSpPr>
            <a:spLocks noChangeArrowheads="1"/>
          </p:cNvSpPr>
          <p:nvPr/>
        </p:nvSpPr>
        <p:spPr bwMode="auto">
          <a:xfrm>
            <a:off x="4497388" y="624840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7" name="Rectangle 25"/>
          <p:cNvSpPr>
            <a:spLocks noChangeArrowheads="1"/>
          </p:cNvSpPr>
          <p:nvPr/>
        </p:nvSpPr>
        <p:spPr bwMode="auto">
          <a:xfrm>
            <a:off x="5165725" y="624840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657975" y="2984698"/>
            <a:ext cx="1420901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922713" y="5110163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81" name="Rectangle 29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82" name="Rectangle 30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00</a:t>
              </a:r>
            </a:p>
          </p:txBody>
        </p:sp>
        <p:sp>
          <p:nvSpPr>
            <p:cNvPr id="202783" name="Rectangle 31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6748463" y="3276600"/>
            <a:ext cx="1314718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İsabet (</a:t>
            </a:r>
            <a:r>
              <a:rPr lang="en-US" sz="2000" b="0" dirty="0">
                <a:latin typeface="Calibri"/>
                <a:cs typeface="Calibri"/>
              </a:rPr>
              <a:t>hit</a:t>
            </a:r>
            <a:r>
              <a:rPr lang="tr-TR" sz="2000" b="0" dirty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202785" name="Text Box 33"/>
          <p:cNvSpPr txBox="1">
            <a:spLocks noChangeArrowheads="1"/>
          </p:cNvSpPr>
          <p:nvPr/>
        </p:nvSpPr>
        <p:spPr bwMode="auto">
          <a:xfrm>
            <a:off x="6657975" y="3581400"/>
            <a:ext cx="1420901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3922713" y="5921375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87" name="Rectangle 35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88" name="Rectangle 36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01</a:t>
              </a:r>
            </a:p>
          </p:txBody>
        </p:sp>
        <p:sp>
          <p:nvSpPr>
            <p:cNvPr id="202789" name="Rectangle 37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M[6-7]</a:t>
              </a:r>
            </a:p>
          </p:txBody>
        </p:sp>
      </p:grpSp>
      <p:sp>
        <p:nvSpPr>
          <p:cNvPr id="202790" name="Text Box 38"/>
          <p:cNvSpPr txBox="1">
            <a:spLocks noChangeArrowheads="1"/>
          </p:cNvSpPr>
          <p:nvPr/>
        </p:nvSpPr>
        <p:spPr bwMode="auto">
          <a:xfrm>
            <a:off x="6657975" y="3886200"/>
            <a:ext cx="1420901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Kayıp (</a:t>
            </a:r>
            <a:r>
              <a:rPr lang="en-US" sz="2000" b="0" dirty="0">
                <a:latin typeface="Calibri"/>
                <a:cs typeface="Calibri"/>
              </a:rPr>
              <a:t>miss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3922713" y="5413375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92" name="Rectangle 40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93" name="Rectangle 41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02794" name="Rectangle 42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M[8-9]</a:t>
              </a:r>
            </a:p>
          </p:txBody>
        </p:sp>
      </p:grpSp>
      <p:sp>
        <p:nvSpPr>
          <p:cNvPr id="202795" name="Text Box 43"/>
          <p:cNvSpPr txBox="1">
            <a:spLocks noChangeArrowheads="1"/>
          </p:cNvSpPr>
          <p:nvPr/>
        </p:nvSpPr>
        <p:spPr bwMode="auto">
          <a:xfrm>
            <a:off x="6748463" y="4191000"/>
            <a:ext cx="1314718" cy="3075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tr-TR" sz="2000" b="0" dirty="0">
                <a:latin typeface="Calibri"/>
                <a:cs typeface="Calibri"/>
              </a:rPr>
              <a:t>İsabet (</a:t>
            </a:r>
            <a:r>
              <a:rPr lang="en-US" sz="2000" b="0" dirty="0">
                <a:latin typeface="Calibri"/>
                <a:cs typeface="Calibri"/>
              </a:rPr>
              <a:t>hit</a:t>
            </a:r>
            <a:r>
              <a:rPr lang="tr-TR" sz="2000" b="0" dirty="0" smtClean="0">
                <a:latin typeface="Calibri"/>
                <a:cs typeface="Calibri"/>
              </a:rPr>
              <a:t>)</a:t>
            </a:r>
            <a:endParaRPr lang="en-US" sz="2000" b="0" dirty="0">
              <a:latin typeface="Calibri"/>
              <a:cs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25750" y="5416550"/>
            <a:ext cx="858838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81080" y="5181600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Küme</a:t>
            </a:r>
            <a:r>
              <a:rPr lang="en-US" sz="1800" dirty="0" smtClean="0">
                <a:latin typeface="Calibri" pitchFamily="34" charset="0"/>
              </a:rPr>
              <a:t>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1080" y="6031468"/>
            <a:ext cx="905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dirty="0" smtClean="0">
                <a:latin typeface="Calibri" pitchFamily="34" charset="0"/>
              </a:rPr>
              <a:t>Küme </a:t>
            </a:r>
            <a:r>
              <a:rPr lang="en-US" sz="1800" dirty="0" smtClean="0">
                <a:latin typeface="Calibri" pitchFamily="34" charset="0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4" grpId="0"/>
      <p:bldP spid="202785" grpId="0"/>
      <p:bldP spid="202790" grpId="0"/>
      <p:bldP spid="2027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10040"/>
            <a:ext cx="8716962" cy="782638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dirty="0" smtClean="0"/>
              <a:t>Peki yazmada durum nasıl</a:t>
            </a:r>
            <a:r>
              <a:rPr lang="en-GB" dirty="0" smtClean="0"/>
              <a:t>?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990600"/>
            <a:ext cx="8307387" cy="5322887"/>
          </a:xfrm>
        </p:spPr>
        <p:txBody>
          <a:bodyPr lIns="90360" tIns="44280" rIns="90360" bIns="44280"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/>
              <a:t>Verinin birden çok kopyası bulunur</a:t>
            </a:r>
            <a:r>
              <a:rPr lang="en-GB" dirty="0" smtClean="0"/>
              <a:t>:</a:t>
            </a:r>
          </a:p>
          <a:p>
            <a:pPr lvl="1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 smtClean="0"/>
              <a:t>L1, L2, L3, </a:t>
            </a:r>
            <a:r>
              <a:rPr lang="tr-TR" dirty="0" smtClean="0"/>
              <a:t>Ana Hafıza</a:t>
            </a:r>
            <a:r>
              <a:rPr lang="en-GB" dirty="0" smtClean="0"/>
              <a:t>, Disk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/>
              <a:t>Önbellekte bulunan bir veriye yazma işlemi yapılacağı zaman ne yapılır?</a:t>
            </a:r>
            <a:endParaRPr lang="en-GB" dirty="0" smtClean="0"/>
          </a:p>
          <a:p>
            <a:pPr lvl="1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>
                <a:solidFill>
                  <a:srgbClr val="FF0000"/>
                </a:solidFill>
              </a:rPr>
              <a:t>Doğrudan-yazma (</a:t>
            </a:r>
            <a:r>
              <a:rPr lang="en-GB" dirty="0" smtClean="0">
                <a:solidFill>
                  <a:srgbClr val="FF0000"/>
                </a:solidFill>
              </a:rPr>
              <a:t>Write-through</a:t>
            </a:r>
            <a:r>
              <a:rPr lang="tr-TR" dirty="0" smtClean="0">
                <a:solidFill>
                  <a:srgbClr val="FF0000"/>
                </a:solidFill>
              </a:rPr>
              <a:t>)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 smtClean="0"/>
              <a:t>(</a:t>
            </a:r>
            <a:r>
              <a:rPr lang="tr-TR" dirty="0" smtClean="0"/>
              <a:t>direk olarak hafızaya yazmak</a:t>
            </a:r>
            <a:r>
              <a:rPr lang="en-GB" dirty="0" smtClean="0"/>
              <a:t>)</a:t>
            </a:r>
            <a:endParaRPr lang="tr-TR" dirty="0" smtClean="0"/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/>
              <a:t>Verinin önbellekte tutulan kopyası güncellenir ve hemen ardından verinin hiyerarşiye göre bir sonraki seviyede bulunan kopyası da güncellenir.</a:t>
            </a:r>
            <a:endParaRPr lang="en-GB" dirty="0" smtClean="0"/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>
                <a:solidFill>
                  <a:srgbClr val="FF0000"/>
                </a:solidFill>
              </a:rPr>
              <a:t>Geri-yazma (</a:t>
            </a:r>
            <a:r>
              <a:rPr lang="en-GB" dirty="0" smtClean="0">
                <a:solidFill>
                  <a:srgbClr val="FF0000"/>
                </a:solidFill>
              </a:rPr>
              <a:t>Write-back</a:t>
            </a:r>
            <a:r>
              <a:rPr lang="tr-TR" dirty="0" smtClean="0">
                <a:solidFill>
                  <a:srgbClr val="FF0000"/>
                </a:solidFill>
              </a:rPr>
              <a:t>)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dirty="0" smtClean="0"/>
              <a:t>(</a:t>
            </a:r>
            <a:r>
              <a:rPr lang="tr-TR" dirty="0" smtClean="0"/>
              <a:t>yazma işlemini yerine koyma (</a:t>
            </a:r>
            <a:r>
              <a:rPr lang="en-GB" dirty="0"/>
              <a:t>replacement </a:t>
            </a:r>
            <a:r>
              <a:rPr lang="tr-TR" dirty="0" smtClean="0"/>
              <a:t>) durumuna kadar ertelemek</a:t>
            </a:r>
            <a:r>
              <a:rPr lang="en-GB" dirty="0" smtClean="0"/>
              <a:t>)</a:t>
            </a:r>
            <a:endParaRPr lang="tr-TR" dirty="0" smtClean="0"/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/>
              <a:t>Verinin önbellekte tutulan kopyası </a:t>
            </a:r>
            <a:r>
              <a:rPr lang="tr-TR" dirty="0" smtClean="0"/>
              <a:t>güncellenir, </a:t>
            </a:r>
            <a:r>
              <a:rPr lang="tr-TR" dirty="0"/>
              <a:t>hiyerarşiye göre bir sonraki seviyede bulunan kopyası yerine koyma (</a:t>
            </a:r>
            <a:r>
              <a:rPr lang="en-GB" dirty="0"/>
              <a:t>replacement </a:t>
            </a:r>
            <a:r>
              <a:rPr lang="tr-TR" dirty="0"/>
              <a:t>) durumuna kadar </a:t>
            </a:r>
            <a:r>
              <a:rPr lang="tr-TR" dirty="0" smtClean="0"/>
              <a:t>güncellenmez. </a:t>
            </a:r>
            <a:endParaRPr lang="en-GB" dirty="0" smtClean="0"/>
          </a:p>
          <a:p>
            <a:pPr lvl="2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tr-TR" dirty="0" smtClean="0"/>
              <a:t>Önbellek ile bir sonraki seviyedeki hafızadaki verinin aynı olmadığını belirtmek için kirlilik (</a:t>
            </a:r>
            <a:r>
              <a:rPr lang="en-GB" dirty="0" smtClean="0"/>
              <a:t>dirty</a:t>
            </a:r>
            <a:r>
              <a:rPr lang="tr-TR" dirty="0" smtClean="0"/>
              <a:t>)</a:t>
            </a:r>
            <a:r>
              <a:rPr lang="en-GB" dirty="0" smtClean="0"/>
              <a:t> bit</a:t>
            </a:r>
            <a:r>
              <a:rPr lang="tr-TR" dirty="0" smtClean="0"/>
              <a:t>ine ihtiyaç duyulur.</a:t>
            </a:r>
            <a:endParaRPr lang="en-GB" dirty="0" smtClean="0"/>
          </a:p>
          <a:p>
            <a:pPr eaLnBrk="1" hangingPunct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endParaRPr lang="en-GB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25"/>
          <p:cNvSpPr>
            <a:spLocks noChangeArrowheads="1"/>
          </p:cNvSpPr>
          <p:nvPr/>
        </p:nvSpPr>
        <p:spPr bwMode="auto">
          <a:xfrm>
            <a:off x="228600" y="1676400"/>
            <a:ext cx="6172200" cy="3886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Rectangle 404"/>
          <p:cNvSpPr>
            <a:spLocks noChangeArrowheads="1"/>
          </p:cNvSpPr>
          <p:nvPr/>
        </p:nvSpPr>
        <p:spPr bwMode="auto">
          <a:xfrm>
            <a:off x="3810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0" name="Rectangle 413"/>
          <p:cNvSpPr>
            <a:spLocks noChangeArrowheads="1"/>
          </p:cNvSpPr>
          <p:nvPr/>
        </p:nvSpPr>
        <p:spPr bwMode="auto">
          <a:xfrm>
            <a:off x="41148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smtClean="0"/>
              <a:t>Intel Core i7 </a:t>
            </a:r>
            <a:r>
              <a:rPr lang="tr-TR" dirty="0" smtClean="0"/>
              <a:t>Önbellek Hiyerarşisi</a:t>
            </a:r>
            <a:endParaRPr lang="en-US" dirty="0"/>
          </a:p>
        </p:txBody>
      </p:sp>
      <p:sp>
        <p:nvSpPr>
          <p:cNvPr id="4" name="Rectangle 396"/>
          <p:cNvSpPr>
            <a:spLocks noChangeArrowheads="1"/>
          </p:cNvSpPr>
          <p:nvPr/>
        </p:nvSpPr>
        <p:spPr bwMode="auto">
          <a:xfrm>
            <a:off x="5461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tr-TR" sz="1400" dirty="0" smtClean="0"/>
              <a:t>Kaydediciler</a:t>
            </a:r>
            <a:endParaRPr lang="en-US" sz="1400" dirty="0"/>
          </a:p>
        </p:txBody>
      </p:sp>
      <p:sp>
        <p:nvSpPr>
          <p:cNvPr id="5" name="Rectangle 397"/>
          <p:cNvSpPr>
            <a:spLocks noChangeArrowheads="1"/>
          </p:cNvSpPr>
          <p:nvPr/>
        </p:nvSpPr>
        <p:spPr bwMode="auto">
          <a:xfrm>
            <a:off x="588963" y="2781300"/>
            <a:ext cx="782637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200" dirty="0" smtClean="0"/>
              <a:t>d-</a:t>
            </a:r>
            <a:r>
              <a:rPr lang="tr-TR" sz="1200" dirty="0" smtClean="0"/>
              <a:t>önbelleği</a:t>
            </a:r>
            <a:endParaRPr lang="en-US" sz="1200" dirty="0"/>
          </a:p>
        </p:txBody>
      </p:sp>
      <p:sp>
        <p:nvSpPr>
          <p:cNvPr id="6" name="Rectangle 399"/>
          <p:cNvSpPr>
            <a:spLocks noChangeArrowheads="1"/>
          </p:cNvSpPr>
          <p:nvPr/>
        </p:nvSpPr>
        <p:spPr bwMode="auto">
          <a:xfrm>
            <a:off x="15240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200" dirty="0" err="1" smtClean="0"/>
              <a:t>i</a:t>
            </a:r>
            <a:r>
              <a:rPr lang="en-US" sz="1200" dirty="0" smtClean="0"/>
              <a:t>-</a:t>
            </a:r>
            <a:r>
              <a:rPr lang="tr-TR" sz="1200" dirty="0"/>
              <a:t> önbelleği</a:t>
            </a:r>
            <a:endParaRPr lang="en-US" sz="1200" dirty="0"/>
          </a:p>
        </p:txBody>
      </p:sp>
      <p:sp>
        <p:nvSpPr>
          <p:cNvPr id="7" name="Rectangle 400"/>
          <p:cNvSpPr>
            <a:spLocks noChangeArrowheads="1"/>
          </p:cNvSpPr>
          <p:nvPr/>
        </p:nvSpPr>
        <p:spPr bwMode="auto">
          <a:xfrm>
            <a:off x="609600" y="3695700"/>
            <a:ext cx="17097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L2 </a:t>
            </a:r>
            <a:r>
              <a:rPr lang="tr-TR" sz="1800" dirty="0"/>
              <a:t>birleşik </a:t>
            </a:r>
            <a:r>
              <a:rPr lang="tr-TR" sz="1800" dirty="0" smtClean="0"/>
              <a:t>önbelleği</a:t>
            </a:r>
            <a:endParaRPr lang="en-US" sz="1800" dirty="0"/>
          </a:p>
        </p:txBody>
      </p:sp>
      <p:sp>
        <p:nvSpPr>
          <p:cNvPr id="8" name="Line 401"/>
          <p:cNvSpPr>
            <a:spLocks noChangeShapeType="1"/>
          </p:cNvSpPr>
          <p:nvPr/>
        </p:nvSpPr>
        <p:spPr bwMode="auto">
          <a:xfrm>
            <a:off x="10668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Line 402"/>
          <p:cNvSpPr>
            <a:spLocks noChangeShapeType="1"/>
          </p:cNvSpPr>
          <p:nvPr/>
        </p:nvSpPr>
        <p:spPr bwMode="auto">
          <a:xfrm>
            <a:off x="1066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0" name="Line 403"/>
          <p:cNvSpPr>
            <a:spLocks noChangeShapeType="1"/>
          </p:cNvSpPr>
          <p:nvPr/>
        </p:nvSpPr>
        <p:spPr bwMode="auto">
          <a:xfrm>
            <a:off x="19050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Text Box 405"/>
          <p:cNvSpPr txBox="1">
            <a:spLocks noChangeArrowheads="1"/>
          </p:cNvSpPr>
          <p:nvPr/>
        </p:nvSpPr>
        <p:spPr bwMode="auto">
          <a:xfrm>
            <a:off x="304800" y="1676400"/>
            <a:ext cx="114486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tr-TR" sz="1800" dirty="0" smtClean="0"/>
              <a:t>Çekirdek </a:t>
            </a:r>
            <a:r>
              <a:rPr lang="en-US" sz="1800" dirty="0" smtClean="0"/>
              <a:t>0</a:t>
            </a:r>
            <a:endParaRPr lang="en-US" sz="1800" dirty="0"/>
          </a:p>
        </p:txBody>
      </p:sp>
      <p:sp>
        <p:nvSpPr>
          <p:cNvPr id="13" name="Rectangle 406"/>
          <p:cNvSpPr>
            <a:spLocks noChangeArrowheads="1"/>
          </p:cNvSpPr>
          <p:nvPr/>
        </p:nvSpPr>
        <p:spPr bwMode="auto">
          <a:xfrm>
            <a:off x="42799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tr-TR" sz="1400" dirty="0" smtClean="0"/>
              <a:t>Kaydediciler</a:t>
            </a:r>
            <a:endParaRPr lang="en-US" sz="1400" dirty="0"/>
          </a:p>
        </p:txBody>
      </p:sp>
      <p:sp>
        <p:nvSpPr>
          <p:cNvPr id="14" name="Rectangle 407"/>
          <p:cNvSpPr>
            <a:spLocks noChangeArrowheads="1"/>
          </p:cNvSpPr>
          <p:nvPr/>
        </p:nvSpPr>
        <p:spPr bwMode="auto">
          <a:xfrm>
            <a:off x="4322763" y="2781300"/>
            <a:ext cx="782637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200" dirty="0" smtClean="0"/>
              <a:t>d-</a:t>
            </a:r>
            <a:r>
              <a:rPr lang="tr-TR" sz="1200" dirty="0"/>
              <a:t> önbelleği</a:t>
            </a:r>
            <a:endParaRPr lang="en-US" sz="1200" dirty="0"/>
          </a:p>
        </p:txBody>
      </p:sp>
      <p:sp>
        <p:nvSpPr>
          <p:cNvPr id="15" name="Rectangle 408"/>
          <p:cNvSpPr>
            <a:spLocks noChangeArrowheads="1"/>
          </p:cNvSpPr>
          <p:nvPr/>
        </p:nvSpPr>
        <p:spPr bwMode="auto">
          <a:xfrm>
            <a:off x="52578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200" dirty="0" err="1" smtClean="0"/>
              <a:t>i</a:t>
            </a:r>
            <a:r>
              <a:rPr lang="en-US" sz="1200" dirty="0" smtClean="0"/>
              <a:t>-</a:t>
            </a:r>
            <a:r>
              <a:rPr lang="tr-TR" sz="1200" dirty="0"/>
              <a:t> önbelleği</a:t>
            </a:r>
            <a:endParaRPr lang="en-US" sz="1200" dirty="0"/>
          </a:p>
        </p:txBody>
      </p:sp>
      <p:sp>
        <p:nvSpPr>
          <p:cNvPr id="16" name="Rectangle 409"/>
          <p:cNvSpPr>
            <a:spLocks noChangeArrowheads="1"/>
          </p:cNvSpPr>
          <p:nvPr/>
        </p:nvSpPr>
        <p:spPr bwMode="auto">
          <a:xfrm>
            <a:off x="4343400" y="3695700"/>
            <a:ext cx="17097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L2 </a:t>
            </a:r>
            <a:r>
              <a:rPr lang="tr-TR" sz="1800" dirty="0"/>
              <a:t>birleşik önbelleği</a:t>
            </a:r>
            <a:endParaRPr lang="en-US" sz="1800" dirty="0"/>
          </a:p>
        </p:txBody>
      </p:sp>
      <p:sp>
        <p:nvSpPr>
          <p:cNvPr id="17" name="Line 410"/>
          <p:cNvSpPr>
            <a:spLocks noChangeShapeType="1"/>
          </p:cNvSpPr>
          <p:nvPr/>
        </p:nvSpPr>
        <p:spPr bwMode="auto">
          <a:xfrm>
            <a:off x="48006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8" name="Line 411"/>
          <p:cNvSpPr>
            <a:spLocks noChangeShapeType="1"/>
          </p:cNvSpPr>
          <p:nvPr/>
        </p:nvSpPr>
        <p:spPr bwMode="auto">
          <a:xfrm>
            <a:off x="48006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Line 412"/>
          <p:cNvSpPr>
            <a:spLocks noChangeShapeType="1"/>
          </p:cNvSpPr>
          <p:nvPr/>
        </p:nvSpPr>
        <p:spPr bwMode="auto">
          <a:xfrm>
            <a:off x="5638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1" name="Text Box 414"/>
          <p:cNvSpPr txBox="1">
            <a:spLocks noChangeArrowheads="1"/>
          </p:cNvSpPr>
          <p:nvPr/>
        </p:nvSpPr>
        <p:spPr bwMode="auto">
          <a:xfrm>
            <a:off x="4038600" y="1676400"/>
            <a:ext cx="114486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tr-TR" sz="1800" dirty="0"/>
              <a:t>Çekirdek </a:t>
            </a:r>
            <a:r>
              <a:rPr lang="en-US" sz="1800" dirty="0" smtClean="0"/>
              <a:t>3</a:t>
            </a:r>
            <a:endParaRPr lang="en-US" sz="1800" dirty="0"/>
          </a:p>
        </p:txBody>
      </p:sp>
      <p:sp>
        <p:nvSpPr>
          <p:cNvPr id="22" name="Text Box 415"/>
          <p:cNvSpPr txBox="1">
            <a:spLocks noChangeArrowheads="1"/>
          </p:cNvSpPr>
          <p:nvPr/>
        </p:nvSpPr>
        <p:spPr bwMode="auto">
          <a:xfrm>
            <a:off x="2971800" y="2983468"/>
            <a:ext cx="72390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…</a:t>
            </a:r>
          </a:p>
        </p:txBody>
      </p:sp>
      <p:sp>
        <p:nvSpPr>
          <p:cNvPr id="23" name="Line 417"/>
          <p:cNvSpPr>
            <a:spLocks noChangeShapeType="1"/>
          </p:cNvSpPr>
          <p:nvPr/>
        </p:nvSpPr>
        <p:spPr bwMode="auto">
          <a:xfrm>
            <a:off x="14478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4" name="Line 418"/>
          <p:cNvSpPr>
            <a:spLocks noChangeShapeType="1"/>
          </p:cNvSpPr>
          <p:nvPr/>
        </p:nvSpPr>
        <p:spPr bwMode="auto">
          <a:xfrm>
            <a:off x="51816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5" name="Rectangle 419"/>
          <p:cNvSpPr>
            <a:spLocks noChangeArrowheads="1"/>
          </p:cNvSpPr>
          <p:nvPr/>
        </p:nvSpPr>
        <p:spPr bwMode="auto">
          <a:xfrm>
            <a:off x="1098550" y="4800600"/>
            <a:ext cx="4387850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L3 </a:t>
            </a:r>
            <a:r>
              <a:rPr lang="tr-TR" sz="1800" dirty="0"/>
              <a:t>birleşik </a:t>
            </a:r>
            <a:r>
              <a:rPr lang="tr-TR" sz="1800" dirty="0" smtClean="0"/>
              <a:t>önbelleği</a:t>
            </a:r>
          </a:p>
          <a:p>
            <a:pPr algn="ctr"/>
            <a:r>
              <a:rPr lang="en-US" sz="1800" dirty="0" smtClean="0"/>
              <a:t>(</a:t>
            </a:r>
            <a:r>
              <a:rPr lang="tr-TR" sz="1800" dirty="0" smtClean="0"/>
              <a:t>Tüm çekirdekler tarafından paylaşılır</a:t>
            </a:r>
            <a:r>
              <a:rPr lang="en-US" sz="1800" dirty="0" smtClean="0"/>
              <a:t>)</a:t>
            </a:r>
            <a:endParaRPr lang="en-US" sz="1800" dirty="0"/>
          </a:p>
        </p:txBody>
      </p:sp>
      <p:sp>
        <p:nvSpPr>
          <p:cNvPr id="26" name="Rectangle 420"/>
          <p:cNvSpPr>
            <a:spLocks noChangeArrowheads="1"/>
          </p:cNvSpPr>
          <p:nvPr/>
        </p:nvSpPr>
        <p:spPr bwMode="auto">
          <a:xfrm>
            <a:off x="228600" y="6057900"/>
            <a:ext cx="6172200" cy="5715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tr-TR" sz="1800" dirty="0" smtClean="0"/>
              <a:t>Ana hafıza</a:t>
            </a:r>
            <a:endParaRPr lang="en-US" sz="1800" dirty="0"/>
          </a:p>
        </p:txBody>
      </p:sp>
      <p:sp>
        <p:nvSpPr>
          <p:cNvPr id="27" name="Line 421"/>
          <p:cNvSpPr>
            <a:spLocks noChangeShapeType="1"/>
          </p:cNvSpPr>
          <p:nvPr/>
        </p:nvSpPr>
        <p:spPr bwMode="auto">
          <a:xfrm>
            <a:off x="3371850" y="53721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9" name="Text Box 426"/>
          <p:cNvSpPr txBox="1">
            <a:spLocks noChangeArrowheads="1"/>
          </p:cNvSpPr>
          <p:nvPr/>
        </p:nvSpPr>
        <p:spPr bwMode="auto">
          <a:xfrm>
            <a:off x="152400" y="1295400"/>
            <a:ext cx="88197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tr-TR" sz="1800" dirty="0" smtClean="0"/>
              <a:t>İşlemci </a:t>
            </a:r>
            <a:endParaRPr lang="en-US" sz="1800" dirty="0"/>
          </a:p>
        </p:txBody>
      </p:sp>
      <p:sp>
        <p:nvSpPr>
          <p:cNvPr id="30" name="TextBox 29"/>
          <p:cNvSpPr txBox="1"/>
          <p:nvPr/>
        </p:nvSpPr>
        <p:spPr>
          <a:xfrm>
            <a:off x="6553199" y="1676400"/>
            <a:ext cx="266699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libri" pitchFamily="34" charset="0"/>
              </a:rPr>
              <a:t>L1 </a:t>
            </a:r>
            <a:r>
              <a:rPr lang="en-US" sz="1600" dirty="0" err="1" smtClean="0">
                <a:latin typeface="Calibri" pitchFamily="34" charset="0"/>
              </a:rPr>
              <a:t>i</a:t>
            </a:r>
            <a:r>
              <a:rPr lang="en-US" sz="1600" dirty="0" smtClean="0">
                <a:latin typeface="Calibri" pitchFamily="34" charset="0"/>
              </a:rPr>
              <a:t>-</a:t>
            </a:r>
            <a:r>
              <a:rPr lang="tr-TR" sz="1600" dirty="0" smtClean="0"/>
              <a:t>önbelleği</a:t>
            </a:r>
            <a:r>
              <a:rPr lang="en-US" sz="1600" dirty="0" smtClean="0">
                <a:latin typeface="Calibri" pitchFamily="34" charset="0"/>
              </a:rPr>
              <a:t> and d</a:t>
            </a:r>
            <a:r>
              <a:rPr lang="tr-TR" sz="1600" dirty="0" smtClean="0">
                <a:latin typeface="Calibri" pitchFamily="34" charset="0"/>
              </a:rPr>
              <a:t>-</a:t>
            </a:r>
            <a:r>
              <a:rPr lang="tr-TR" sz="1600" dirty="0" smtClean="0"/>
              <a:t>önbelleği</a:t>
            </a:r>
            <a:r>
              <a:rPr lang="en-US" sz="1600" dirty="0" smtClean="0">
                <a:latin typeface="Calibri" pitchFamily="34" charset="0"/>
              </a:rPr>
              <a:t>:</a:t>
            </a:r>
          </a:p>
          <a:p>
            <a:pPr marL="273050" lvl="1"/>
            <a:r>
              <a:rPr lang="en-US" sz="1800" b="0" dirty="0" smtClean="0">
                <a:latin typeface="Calibri" pitchFamily="34" charset="0"/>
              </a:rPr>
              <a:t>32 KB,  8</a:t>
            </a:r>
            <a:r>
              <a:rPr lang="tr-TR" sz="1800" b="0" dirty="0" smtClean="0">
                <a:latin typeface="Calibri" pitchFamily="34" charset="0"/>
              </a:rPr>
              <a:t>-yönlü(yollu)</a:t>
            </a:r>
            <a:r>
              <a:rPr lang="en-US" sz="1800" b="0" dirty="0" smtClean="0">
                <a:latin typeface="Calibri" pitchFamily="34" charset="0"/>
              </a:rPr>
              <a:t>, </a:t>
            </a:r>
          </a:p>
          <a:p>
            <a:pPr lvl="1" indent="-184150"/>
            <a:r>
              <a:rPr lang="tr-TR" sz="1800" b="0" dirty="0" smtClean="0">
                <a:latin typeface="Calibri" pitchFamily="34" charset="0"/>
              </a:rPr>
              <a:t>Erişim süresi</a:t>
            </a:r>
            <a:r>
              <a:rPr lang="en-US" sz="1800" b="0" dirty="0" smtClean="0">
                <a:latin typeface="Calibri" pitchFamily="34" charset="0"/>
              </a:rPr>
              <a:t>: 4 cycle</a:t>
            </a:r>
          </a:p>
          <a:p>
            <a:endParaRPr lang="en-US" sz="1800" b="0" dirty="0" smtClean="0">
              <a:latin typeface="Calibri" pitchFamily="34" charset="0"/>
            </a:endParaRPr>
          </a:p>
          <a:p>
            <a:r>
              <a:rPr lang="en-US" sz="1800" dirty="0" smtClean="0">
                <a:latin typeface="Calibri" pitchFamily="34" charset="0"/>
              </a:rPr>
              <a:t>L2 </a:t>
            </a:r>
            <a:r>
              <a:rPr lang="tr-TR" sz="1800" dirty="0"/>
              <a:t>birleşik </a:t>
            </a:r>
            <a:r>
              <a:rPr lang="tr-TR" sz="1800" dirty="0" smtClean="0"/>
              <a:t>önbelleği</a:t>
            </a:r>
            <a:r>
              <a:rPr lang="en-US" sz="1800" dirty="0" smtClean="0">
                <a:latin typeface="Calibri" pitchFamily="34" charset="0"/>
              </a:rPr>
              <a:t>:</a:t>
            </a:r>
          </a:p>
          <a:p>
            <a:pPr lvl="1" indent="-184150"/>
            <a:r>
              <a:rPr lang="en-US" sz="1800" b="0" dirty="0" smtClean="0">
                <a:latin typeface="Calibri" pitchFamily="34" charset="0"/>
              </a:rPr>
              <a:t>256 KB, 8-</a:t>
            </a:r>
            <a:r>
              <a:rPr lang="tr-TR" sz="1800" b="0" dirty="0">
                <a:latin typeface="Calibri" pitchFamily="34" charset="0"/>
              </a:rPr>
              <a:t>yönlü(yollu)</a:t>
            </a:r>
            <a:r>
              <a:rPr lang="en-US" sz="1800" b="0" dirty="0" smtClean="0">
                <a:latin typeface="Calibri" pitchFamily="34" charset="0"/>
              </a:rPr>
              <a:t>, </a:t>
            </a:r>
          </a:p>
          <a:p>
            <a:pPr lvl="1" indent="-184150"/>
            <a:r>
              <a:rPr lang="tr-TR" sz="1800" b="0" dirty="0">
                <a:latin typeface="Calibri" pitchFamily="34" charset="0"/>
              </a:rPr>
              <a:t>Erişim </a:t>
            </a:r>
            <a:r>
              <a:rPr lang="tr-TR" sz="1800" b="0" dirty="0" smtClean="0">
                <a:latin typeface="Calibri" pitchFamily="34" charset="0"/>
              </a:rPr>
              <a:t>süresi</a:t>
            </a:r>
            <a:r>
              <a:rPr lang="en-US" sz="1800" b="0" dirty="0" smtClean="0">
                <a:latin typeface="Calibri" pitchFamily="34" charset="0"/>
              </a:rPr>
              <a:t>: 10 cycle</a:t>
            </a:r>
          </a:p>
          <a:p>
            <a:pPr lvl="1"/>
            <a:endParaRPr lang="en-US" sz="1800" b="0" dirty="0" smtClean="0">
              <a:latin typeface="Calibri" pitchFamily="34" charset="0"/>
            </a:endParaRPr>
          </a:p>
          <a:p>
            <a:r>
              <a:rPr lang="en-US" sz="1800" dirty="0" smtClean="0">
                <a:latin typeface="Calibri" pitchFamily="34" charset="0"/>
              </a:rPr>
              <a:t>L3 </a:t>
            </a:r>
            <a:r>
              <a:rPr lang="tr-TR" sz="1800" dirty="0"/>
              <a:t>birleşik </a:t>
            </a:r>
            <a:r>
              <a:rPr lang="tr-TR" sz="1800" dirty="0" smtClean="0"/>
              <a:t>önbelleği</a:t>
            </a:r>
            <a:r>
              <a:rPr lang="en-US" sz="1800" dirty="0" smtClean="0">
                <a:latin typeface="Calibri" pitchFamily="34" charset="0"/>
              </a:rPr>
              <a:t>:</a:t>
            </a:r>
          </a:p>
          <a:p>
            <a:pPr lvl="1" indent="-184150"/>
            <a:r>
              <a:rPr lang="en-US" sz="1800" b="0" dirty="0" smtClean="0">
                <a:latin typeface="Calibri" pitchFamily="34" charset="0"/>
              </a:rPr>
              <a:t>8 MB, 16-</a:t>
            </a:r>
            <a:r>
              <a:rPr lang="tr-TR" sz="1800" b="0" dirty="0">
                <a:latin typeface="Calibri" pitchFamily="34" charset="0"/>
              </a:rPr>
              <a:t>yönlü(yollu)</a:t>
            </a:r>
            <a:r>
              <a:rPr lang="en-US" sz="1800" b="0" dirty="0" smtClean="0">
                <a:latin typeface="Calibri" pitchFamily="34" charset="0"/>
              </a:rPr>
              <a:t>,</a:t>
            </a:r>
          </a:p>
          <a:p>
            <a:pPr lvl="1" indent="-184150"/>
            <a:r>
              <a:rPr lang="tr-TR" sz="1600" b="0" dirty="0">
                <a:latin typeface="Calibri" pitchFamily="34" charset="0"/>
              </a:rPr>
              <a:t>Erişim </a:t>
            </a:r>
            <a:r>
              <a:rPr lang="tr-TR" sz="1600" b="0" dirty="0" smtClean="0">
                <a:latin typeface="Calibri" pitchFamily="34" charset="0"/>
              </a:rPr>
              <a:t>süresi</a:t>
            </a:r>
            <a:r>
              <a:rPr lang="en-US" sz="1600" b="0" dirty="0" smtClean="0">
                <a:latin typeface="Calibri" pitchFamily="34" charset="0"/>
              </a:rPr>
              <a:t>: 40-75 cycle</a:t>
            </a:r>
          </a:p>
          <a:p>
            <a:pPr lvl="1"/>
            <a:endParaRPr lang="en-US" sz="1800" b="0" dirty="0" smtClean="0">
              <a:latin typeface="Calibri" pitchFamily="34" charset="0"/>
            </a:endParaRPr>
          </a:p>
          <a:p>
            <a:r>
              <a:rPr lang="en-US" sz="1800" dirty="0" smtClean="0">
                <a:latin typeface="Calibri" pitchFamily="34" charset="0"/>
              </a:rPr>
              <a:t>Blok </a:t>
            </a:r>
            <a:r>
              <a:rPr lang="tr-TR" sz="1800" dirty="0" smtClean="0">
                <a:latin typeface="Calibri" pitchFamily="34" charset="0"/>
              </a:rPr>
              <a:t>boyutu</a:t>
            </a:r>
            <a:r>
              <a:rPr lang="en-US" sz="1800" b="0" dirty="0" smtClean="0">
                <a:latin typeface="Calibri" pitchFamily="34" charset="0"/>
              </a:rPr>
              <a:t>: </a:t>
            </a:r>
            <a:r>
              <a:rPr lang="tr-TR" sz="1800" b="0" dirty="0" smtClean="0">
                <a:latin typeface="Calibri" pitchFamily="34" charset="0"/>
              </a:rPr>
              <a:t>Tüm önbellekler için </a:t>
            </a:r>
            <a:r>
              <a:rPr lang="en-US" sz="1800" b="0" dirty="0" smtClean="0">
                <a:latin typeface="Calibri" pitchFamily="34" charset="0"/>
              </a:rPr>
              <a:t>64 byte. </a:t>
            </a:r>
          </a:p>
        </p:txBody>
      </p:sp>
      <p:cxnSp>
        <p:nvCxnSpPr>
          <p:cNvPr id="31" name="Straight Arrow Connector 30"/>
          <p:cNvCxnSpPr>
            <a:endCxn id="32" idx="2"/>
          </p:cNvCxnSpPr>
          <p:nvPr/>
        </p:nvCxnSpPr>
        <p:spPr bwMode="auto">
          <a:xfrm flipV="1">
            <a:off x="7276537" y="1447800"/>
            <a:ext cx="118301" cy="3048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6958660" y="924580"/>
            <a:ext cx="872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>
                <a:latin typeface="Calibri" pitchFamily="34" charset="0"/>
              </a:rPr>
              <a:t>Komut </a:t>
            </a:r>
          </a:p>
          <a:p>
            <a:r>
              <a:rPr lang="tr-TR" sz="1400" dirty="0" smtClean="0">
                <a:latin typeface="Calibri" pitchFamily="34" charset="0"/>
              </a:rPr>
              <a:t>önbelleği</a:t>
            </a:r>
            <a:endParaRPr lang="en-US" sz="1400" dirty="0" smtClean="0">
              <a:latin typeface="Calibri" pitchFamily="34" charset="0"/>
            </a:endParaRPr>
          </a:p>
        </p:txBody>
      </p:sp>
      <p:cxnSp>
        <p:nvCxnSpPr>
          <p:cNvPr id="33" name="Straight Arrow Connector 32"/>
          <p:cNvCxnSpPr>
            <a:endCxn id="34" idx="2"/>
          </p:cNvCxnSpPr>
          <p:nvPr/>
        </p:nvCxnSpPr>
        <p:spPr bwMode="auto">
          <a:xfrm flipV="1">
            <a:off x="8439148" y="1447800"/>
            <a:ext cx="116275" cy="3048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8119245" y="924580"/>
            <a:ext cx="872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>
                <a:latin typeface="Calibri" pitchFamily="34" charset="0"/>
              </a:rPr>
              <a:t>Veri</a:t>
            </a:r>
          </a:p>
          <a:p>
            <a:r>
              <a:rPr lang="tr-TR" sz="1400" dirty="0" smtClean="0">
                <a:latin typeface="Calibri" pitchFamily="34" charset="0"/>
              </a:rPr>
              <a:t>önbelleği</a:t>
            </a:r>
            <a:endParaRPr lang="en-US" sz="14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Önbellek </a:t>
            </a:r>
            <a:r>
              <a:rPr lang="en-GB" dirty="0" err="1" smtClean="0"/>
              <a:t>Performan</a:t>
            </a:r>
            <a:r>
              <a:rPr lang="tr-TR" dirty="0" smtClean="0"/>
              <a:t>s</a:t>
            </a:r>
            <a:r>
              <a:rPr lang="en-GB" dirty="0" smtClean="0"/>
              <a:t> </a:t>
            </a:r>
            <a:r>
              <a:rPr lang="en-GB" dirty="0" err="1" smtClean="0"/>
              <a:t>Metri</a:t>
            </a:r>
            <a:r>
              <a:rPr lang="tr-TR" dirty="0" err="1" smtClean="0"/>
              <a:t>kleri</a:t>
            </a:r>
            <a:endParaRPr lang="en-GB" dirty="0" smtClean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594725" cy="4972050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Kayıp Oranı (</a:t>
            </a:r>
            <a:r>
              <a:rPr lang="en-GB" dirty="0" smtClean="0"/>
              <a:t>Miss Rate</a:t>
            </a:r>
            <a:r>
              <a:rPr lang="tr-TR" dirty="0" smtClean="0"/>
              <a:t>)</a:t>
            </a:r>
            <a:endParaRPr lang="en-GB" dirty="0" smtClean="0"/>
          </a:p>
          <a:p>
            <a:pPr lvl="1"/>
            <a:r>
              <a:rPr lang="tr-TR" dirty="0" smtClean="0"/>
              <a:t>Önbellekte bulunmayan hafıza referanslarının oranı</a:t>
            </a:r>
            <a:r>
              <a:rPr lang="en-GB" dirty="0" smtClean="0"/>
              <a:t> (</a:t>
            </a:r>
            <a:r>
              <a:rPr lang="tr-TR" dirty="0" smtClean="0"/>
              <a:t>kayıplar</a:t>
            </a:r>
            <a:r>
              <a:rPr lang="en-GB" dirty="0" smtClean="0"/>
              <a:t> / </a:t>
            </a:r>
            <a:r>
              <a:rPr lang="tr-TR" dirty="0" smtClean="0"/>
              <a:t>tüm erişimler</a:t>
            </a:r>
            <a:r>
              <a:rPr lang="en-GB" dirty="0" smtClean="0"/>
              <a:t>)</a:t>
            </a:r>
            <a:br>
              <a:rPr lang="en-GB" dirty="0" smtClean="0"/>
            </a:br>
            <a:r>
              <a:rPr lang="en-GB" dirty="0" smtClean="0"/>
              <a:t>= 1 – hit rate</a:t>
            </a:r>
          </a:p>
          <a:p>
            <a:pPr lvl="1"/>
            <a:r>
              <a:rPr lang="en-GB" dirty="0" smtClean="0"/>
              <a:t>T</a:t>
            </a:r>
            <a:r>
              <a:rPr lang="tr-TR" dirty="0" smtClean="0"/>
              <a:t>i</a:t>
            </a:r>
            <a:r>
              <a:rPr lang="en-GB" dirty="0" smtClean="0"/>
              <a:t>pi</a:t>
            </a:r>
            <a:r>
              <a:rPr lang="tr-TR" dirty="0" smtClean="0"/>
              <a:t>k</a:t>
            </a:r>
            <a:r>
              <a:rPr lang="en-GB" dirty="0" smtClean="0"/>
              <a:t> </a:t>
            </a:r>
            <a:r>
              <a:rPr lang="tr-TR" dirty="0" smtClean="0"/>
              <a:t>sayılar</a:t>
            </a:r>
            <a:r>
              <a:rPr lang="en-GB" dirty="0" smtClean="0"/>
              <a:t> (</a:t>
            </a:r>
            <a:r>
              <a:rPr lang="tr-TR" dirty="0" smtClean="0"/>
              <a:t>yüzde olarak</a:t>
            </a:r>
            <a:r>
              <a:rPr lang="en-GB" dirty="0" smtClean="0"/>
              <a:t>):</a:t>
            </a:r>
          </a:p>
          <a:p>
            <a:pPr lvl="2"/>
            <a:r>
              <a:rPr lang="en-GB" dirty="0"/>
              <a:t>L1 </a:t>
            </a:r>
            <a:r>
              <a:rPr lang="tr-TR" dirty="0" smtClean="0"/>
              <a:t>için </a:t>
            </a:r>
            <a:r>
              <a:rPr lang="en-GB" dirty="0" smtClean="0"/>
              <a:t>3-10</a:t>
            </a:r>
            <a:r>
              <a:rPr lang="en-GB" dirty="0"/>
              <a:t>%</a:t>
            </a:r>
            <a:endParaRPr lang="en-GB" dirty="0" smtClean="0"/>
          </a:p>
          <a:p>
            <a:pPr lvl="2"/>
            <a:r>
              <a:rPr lang="tr-TR" dirty="0" smtClean="0"/>
              <a:t>L2 için oldukça küçük olabilir </a:t>
            </a:r>
            <a:r>
              <a:rPr lang="en-GB" dirty="0" smtClean="0"/>
              <a:t>(</a:t>
            </a:r>
            <a:r>
              <a:rPr lang="tr-TR" dirty="0" smtClean="0"/>
              <a:t>örneğin</a:t>
            </a:r>
            <a:r>
              <a:rPr lang="en-GB" dirty="0" smtClean="0"/>
              <a:t>, &lt; 1%)</a:t>
            </a:r>
            <a:r>
              <a:rPr lang="tr-TR" dirty="0" smtClean="0"/>
              <a:t>. Boyuta </a:t>
            </a:r>
            <a:r>
              <a:rPr lang="tr-TR" dirty="0" err="1" smtClean="0"/>
              <a:t>vs</a:t>
            </a:r>
            <a:r>
              <a:rPr lang="tr-TR" dirty="0" smtClean="0"/>
              <a:t> bağlıdır</a:t>
            </a:r>
            <a:r>
              <a:rPr lang="en-GB" dirty="0" smtClean="0"/>
              <a:t>.</a:t>
            </a:r>
          </a:p>
          <a:p>
            <a:r>
              <a:rPr lang="tr-TR" dirty="0" smtClean="0"/>
              <a:t>İsabet Süresi (</a:t>
            </a:r>
            <a:r>
              <a:rPr lang="en-GB" dirty="0" smtClean="0"/>
              <a:t>Hit Time</a:t>
            </a:r>
            <a:r>
              <a:rPr lang="tr-TR" dirty="0" smtClean="0"/>
              <a:t>)</a:t>
            </a:r>
            <a:endParaRPr lang="en-GB" dirty="0" smtClean="0"/>
          </a:p>
          <a:p>
            <a:pPr lvl="1"/>
            <a:r>
              <a:rPr lang="tr-TR" dirty="0" smtClean="0"/>
              <a:t>Önbellekteki verinin işlemciye aktarılması için gereken süre</a:t>
            </a:r>
            <a:endParaRPr lang="en-GB" dirty="0" smtClean="0"/>
          </a:p>
          <a:p>
            <a:pPr lvl="2"/>
            <a:r>
              <a:rPr lang="tr-TR" dirty="0" smtClean="0"/>
              <a:t>Verinin önbellekte olup olmadığını belirlemek için geçen süre de buna dahildir</a:t>
            </a:r>
            <a:endParaRPr lang="en-GB" dirty="0" smtClean="0"/>
          </a:p>
          <a:p>
            <a:pPr lvl="1"/>
            <a:r>
              <a:rPr lang="en-GB" dirty="0" smtClean="0"/>
              <a:t>T</a:t>
            </a:r>
            <a:r>
              <a:rPr lang="tr-TR" dirty="0" smtClean="0"/>
              <a:t>i</a:t>
            </a:r>
            <a:r>
              <a:rPr lang="en-GB" dirty="0" smtClean="0"/>
              <a:t>pi</a:t>
            </a:r>
            <a:r>
              <a:rPr lang="tr-TR" dirty="0" smtClean="0"/>
              <a:t>k</a:t>
            </a:r>
            <a:r>
              <a:rPr lang="tr-TR" dirty="0"/>
              <a:t> </a:t>
            </a:r>
            <a:r>
              <a:rPr lang="tr-TR" dirty="0" smtClean="0"/>
              <a:t>sayılar</a:t>
            </a:r>
            <a:r>
              <a:rPr lang="en-GB" dirty="0" smtClean="0"/>
              <a:t>:</a:t>
            </a:r>
          </a:p>
          <a:p>
            <a:pPr lvl="2"/>
            <a:r>
              <a:rPr lang="tr-TR" dirty="0" smtClean="0"/>
              <a:t>L1 için </a:t>
            </a:r>
            <a:r>
              <a:rPr lang="en-GB" dirty="0" smtClean="0"/>
              <a:t>4 </a:t>
            </a:r>
            <a:r>
              <a:rPr lang="tr-TR" dirty="0" smtClean="0"/>
              <a:t>saat </a:t>
            </a:r>
            <a:r>
              <a:rPr lang="tr-TR" dirty="0" err="1" smtClean="0"/>
              <a:t>palsi</a:t>
            </a:r>
            <a:endParaRPr lang="en-GB" dirty="0" smtClean="0"/>
          </a:p>
          <a:p>
            <a:pPr lvl="2"/>
            <a:r>
              <a:rPr lang="tr-TR" dirty="0" smtClean="0"/>
              <a:t>L2 için </a:t>
            </a:r>
            <a:r>
              <a:rPr lang="en-GB" dirty="0" smtClean="0"/>
              <a:t>10 </a:t>
            </a:r>
            <a:r>
              <a:rPr lang="tr-TR" dirty="0" smtClean="0"/>
              <a:t>saat </a:t>
            </a:r>
            <a:r>
              <a:rPr lang="tr-TR" dirty="0" err="1" smtClean="0"/>
              <a:t>palsi</a:t>
            </a:r>
            <a:endParaRPr lang="en-GB" dirty="0" smtClean="0"/>
          </a:p>
          <a:p>
            <a:r>
              <a:rPr lang="tr-TR" dirty="0" smtClean="0"/>
              <a:t>Kayıp Cezası (</a:t>
            </a:r>
            <a:r>
              <a:rPr lang="en-GB" dirty="0" smtClean="0"/>
              <a:t>Miss Penalty</a:t>
            </a:r>
            <a:r>
              <a:rPr lang="tr-TR" dirty="0" smtClean="0"/>
              <a:t>)</a:t>
            </a:r>
            <a:endParaRPr lang="en-GB" dirty="0" smtClean="0"/>
          </a:p>
          <a:p>
            <a:pPr lvl="1"/>
            <a:r>
              <a:rPr lang="tr-TR" dirty="0" smtClean="0"/>
              <a:t>Kayıp nedeniyle ekstradan gerekli olan süre</a:t>
            </a:r>
            <a:endParaRPr lang="en-GB" dirty="0" smtClean="0"/>
          </a:p>
          <a:p>
            <a:pPr lvl="2"/>
            <a:r>
              <a:rPr lang="tr-TR" dirty="0" smtClean="0"/>
              <a:t>Ana hafıza için tipik olarak </a:t>
            </a:r>
            <a:r>
              <a:rPr lang="en-GB" dirty="0" smtClean="0"/>
              <a:t>50-200 </a:t>
            </a:r>
            <a:r>
              <a:rPr lang="tr-TR" dirty="0" smtClean="0"/>
              <a:t>saat </a:t>
            </a:r>
            <a:r>
              <a:rPr lang="tr-TR" dirty="0" err="1" smtClean="0"/>
              <a:t>palsidir</a:t>
            </a:r>
            <a:r>
              <a:rPr lang="en-GB" dirty="0" smtClean="0"/>
              <a:t> (</a:t>
            </a:r>
            <a:r>
              <a:rPr lang="tr-TR" dirty="0" smtClean="0"/>
              <a:t>Eğilim</a:t>
            </a:r>
            <a:r>
              <a:rPr lang="en-GB" dirty="0" smtClean="0"/>
              <a:t>: </a:t>
            </a:r>
            <a:r>
              <a:rPr lang="tr-TR" dirty="0" smtClean="0"/>
              <a:t>artma yönünde</a:t>
            </a:r>
            <a:r>
              <a:rPr lang="en-GB" dirty="0" smtClean="0"/>
              <a:t>!)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b"/>
          <a:lstStyle/>
          <a:p>
            <a:pPr eaLnBrk="1" hangingPunct="1"/>
            <a:r>
              <a:rPr lang="tr-TR" dirty="0" smtClean="0"/>
              <a:t>Bu sayılar üzerine biraz düşünelim..</a:t>
            </a:r>
            <a:endParaRPr lang="en-US" dirty="0" smtClean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0488" tIns="44450" rIns="90488" bIns="44450"/>
          <a:lstStyle/>
          <a:p>
            <a:pPr>
              <a:defRPr/>
            </a:pPr>
            <a:r>
              <a:rPr lang="tr-TR" dirty="0" smtClean="0"/>
              <a:t>İsabet (hit) ve kayıp (</a:t>
            </a:r>
            <a:r>
              <a:rPr lang="tr-TR" dirty="0" err="1" smtClean="0"/>
              <a:t>miss</a:t>
            </a:r>
            <a:r>
              <a:rPr lang="tr-TR" dirty="0" smtClean="0"/>
              <a:t>) arasında çok büyük fark vardır</a:t>
            </a:r>
            <a:endParaRPr lang="en-US" dirty="0" smtClean="0"/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sz="1800" dirty="0" smtClean="0"/>
              <a:t>100</a:t>
            </a:r>
            <a:r>
              <a:rPr lang="tr-TR" sz="1800" dirty="0" smtClean="0"/>
              <a:t> kata kadar çıkabilir</a:t>
            </a:r>
            <a:r>
              <a:rPr lang="en-US" sz="1800" dirty="0" smtClean="0"/>
              <a:t>, </a:t>
            </a:r>
            <a:r>
              <a:rPr lang="tr-TR" sz="1800" dirty="0"/>
              <a:t>e</a:t>
            </a:r>
            <a:r>
              <a:rPr lang="tr-TR" sz="1800" dirty="0" smtClean="0"/>
              <a:t>ğer sadece </a:t>
            </a:r>
            <a:r>
              <a:rPr lang="en-US" sz="1800" dirty="0" smtClean="0"/>
              <a:t>L1 </a:t>
            </a:r>
            <a:r>
              <a:rPr lang="tr-TR" sz="1800" dirty="0" smtClean="0"/>
              <a:t>ve ana hafıza ise</a:t>
            </a:r>
            <a:endParaRPr lang="en-US" sz="1800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tr-TR" dirty="0" smtClean="0"/>
              <a:t>99% isabet oranı 97% isabet oranından 2 kat daha iyi olabilir mi?</a:t>
            </a:r>
            <a:endParaRPr lang="en-US" dirty="0" smtClean="0"/>
          </a:p>
          <a:p>
            <a:pPr lvl="1" eaLnBrk="1" hangingPunct="1">
              <a:lnSpc>
                <a:spcPct val="100000"/>
              </a:lnSpc>
              <a:defRPr/>
            </a:pPr>
            <a:r>
              <a:rPr lang="tr-TR" sz="1800" dirty="0" smtClean="0"/>
              <a:t>Kabul edelim ki</a:t>
            </a:r>
            <a:r>
              <a:rPr lang="en-US" sz="1800" dirty="0" smtClean="0"/>
              <a:t>: </a:t>
            </a:r>
            <a:br>
              <a:rPr lang="en-US" sz="1800" dirty="0" smtClean="0"/>
            </a:br>
            <a:r>
              <a:rPr lang="tr-TR" sz="1800" dirty="0"/>
              <a:t>ö</a:t>
            </a:r>
            <a:r>
              <a:rPr lang="tr-TR" sz="1800" dirty="0" smtClean="0"/>
              <a:t>nbellek isabet süresi: </a:t>
            </a:r>
            <a:r>
              <a:rPr lang="en-US" sz="1800" dirty="0" smtClean="0"/>
              <a:t>1 </a:t>
            </a:r>
            <a:r>
              <a:rPr lang="tr-TR" sz="1800" dirty="0" smtClean="0"/>
              <a:t>saat </a:t>
            </a:r>
            <a:r>
              <a:rPr lang="tr-TR" sz="1800" dirty="0" err="1" smtClean="0"/>
              <a:t>palsi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tr-TR" sz="1800" dirty="0" smtClean="0"/>
              <a:t>kayıp cezası:</a:t>
            </a:r>
            <a:r>
              <a:rPr lang="en-US" sz="1800" dirty="0" smtClean="0"/>
              <a:t> 100 </a:t>
            </a:r>
            <a:r>
              <a:rPr lang="tr-TR" sz="1800" dirty="0" smtClean="0"/>
              <a:t>saat </a:t>
            </a:r>
            <a:r>
              <a:rPr lang="tr-TR" sz="1800" dirty="0" err="1" smtClean="0"/>
              <a:t>palsi</a:t>
            </a:r>
            <a:endParaRPr lang="en-US" sz="1800" dirty="0" smtClean="0"/>
          </a:p>
          <a:p>
            <a:pPr lvl="1">
              <a:defRPr/>
            </a:pPr>
            <a:endParaRPr lang="en-US" sz="1800" dirty="0" smtClean="0"/>
          </a:p>
          <a:p>
            <a:pPr lvl="1">
              <a:defRPr/>
            </a:pPr>
            <a:r>
              <a:rPr lang="tr-TR" sz="1800" dirty="0" smtClean="0"/>
              <a:t>Ortalama erişim süresi</a:t>
            </a:r>
            <a:r>
              <a:rPr lang="en-US" sz="1800" dirty="0" smtClean="0"/>
              <a:t>:</a:t>
            </a:r>
          </a:p>
          <a:p>
            <a:pPr lvl="1">
              <a:buNone/>
              <a:defRPr/>
            </a:pPr>
            <a:r>
              <a:rPr lang="en-US" sz="1800" dirty="0" smtClean="0"/>
              <a:t>	 97% </a:t>
            </a:r>
            <a:r>
              <a:rPr lang="tr-TR" sz="1800" dirty="0" smtClean="0"/>
              <a:t>isabet</a:t>
            </a:r>
            <a:r>
              <a:rPr lang="en-US" sz="1800" dirty="0" smtClean="0"/>
              <a:t>:  1 </a:t>
            </a:r>
            <a:r>
              <a:rPr lang="tr-TR" sz="1800" dirty="0"/>
              <a:t>saat </a:t>
            </a:r>
            <a:r>
              <a:rPr lang="tr-TR" sz="1800" dirty="0" err="1"/>
              <a:t>palsi</a:t>
            </a:r>
            <a:r>
              <a:rPr lang="tr-TR" sz="1800" dirty="0"/>
              <a:t> </a:t>
            </a:r>
            <a:r>
              <a:rPr lang="en-US" sz="1800" dirty="0" smtClean="0"/>
              <a:t>+ 0.03 * 100 </a:t>
            </a:r>
            <a:r>
              <a:rPr lang="tr-TR" sz="1800" dirty="0"/>
              <a:t>saat </a:t>
            </a:r>
            <a:r>
              <a:rPr lang="tr-TR" sz="1800" dirty="0" err="1"/>
              <a:t>palsi</a:t>
            </a:r>
            <a:r>
              <a:rPr lang="tr-TR" sz="1800" dirty="0"/>
              <a:t> </a:t>
            </a:r>
            <a:r>
              <a:rPr lang="en-US" sz="1800" dirty="0" smtClean="0"/>
              <a:t>=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C00000"/>
                </a:solidFill>
              </a:rPr>
              <a:t>4 </a:t>
            </a:r>
            <a:r>
              <a:rPr lang="en-US" sz="1800" b="1" dirty="0" err="1">
                <a:solidFill>
                  <a:srgbClr val="C00000"/>
                </a:solidFill>
              </a:rPr>
              <a:t>saat</a:t>
            </a:r>
            <a:r>
              <a:rPr lang="en-US" sz="1800" b="1" dirty="0">
                <a:solidFill>
                  <a:srgbClr val="C00000"/>
                </a:solidFill>
              </a:rPr>
              <a:t> </a:t>
            </a:r>
            <a:r>
              <a:rPr lang="en-US" sz="1800" b="1" dirty="0" err="1">
                <a:solidFill>
                  <a:srgbClr val="C00000"/>
                </a:solidFill>
              </a:rPr>
              <a:t>palsi</a:t>
            </a:r>
            <a:endParaRPr lang="en-US" sz="1800" b="1" dirty="0" smtClean="0">
              <a:solidFill>
                <a:srgbClr val="C00000"/>
              </a:solidFill>
            </a:endParaRPr>
          </a:p>
          <a:p>
            <a:pPr lvl="1">
              <a:buNone/>
              <a:defRPr/>
            </a:pPr>
            <a:r>
              <a:rPr lang="en-US" sz="1800" dirty="0" smtClean="0"/>
              <a:t>	 99% </a:t>
            </a:r>
            <a:r>
              <a:rPr lang="tr-TR" sz="1800" dirty="0" smtClean="0"/>
              <a:t>isabet</a:t>
            </a:r>
            <a:r>
              <a:rPr lang="en-US" sz="1800" dirty="0" smtClean="0"/>
              <a:t>:  1 </a:t>
            </a:r>
            <a:r>
              <a:rPr lang="tr-TR" sz="1800" dirty="0"/>
              <a:t>saat </a:t>
            </a:r>
            <a:r>
              <a:rPr lang="tr-TR" sz="1800" dirty="0" err="1"/>
              <a:t>palsi</a:t>
            </a:r>
            <a:r>
              <a:rPr lang="tr-TR" sz="1800" dirty="0"/>
              <a:t> </a:t>
            </a:r>
            <a:r>
              <a:rPr lang="en-US" sz="1800" dirty="0" smtClean="0"/>
              <a:t>+ 0.01 * 100 </a:t>
            </a:r>
            <a:r>
              <a:rPr lang="tr-TR" sz="1800" dirty="0"/>
              <a:t>saat </a:t>
            </a:r>
            <a:r>
              <a:rPr lang="tr-TR" sz="1800" dirty="0" err="1"/>
              <a:t>palsi</a:t>
            </a:r>
            <a:r>
              <a:rPr lang="tr-TR" sz="1800" dirty="0"/>
              <a:t> </a:t>
            </a:r>
            <a:r>
              <a:rPr lang="en-US" sz="1800" dirty="0" smtClean="0"/>
              <a:t>= </a:t>
            </a:r>
            <a:r>
              <a:rPr lang="en-US" sz="1800" b="1" dirty="0" smtClean="0">
                <a:solidFill>
                  <a:srgbClr val="C00000"/>
                </a:solidFill>
              </a:rPr>
              <a:t>2 </a:t>
            </a:r>
            <a:r>
              <a:rPr lang="en-US" sz="1800" b="1" dirty="0" err="1">
                <a:solidFill>
                  <a:srgbClr val="C00000"/>
                </a:solidFill>
              </a:rPr>
              <a:t>saat</a:t>
            </a:r>
            <a:r>
              <a:rPr lang="en-US" sz="1800" b="1" dirty="0">
                <a:solidFill>
                  <a:srgbClr val="C00000"/>
                </a:solidFill>
              </a:rPr>
              <a:t> </a:t>
            </a:r>
            <a:r>
              <a:rPr lang="en-US" sz="1800" b="1" dirty="0" err="1" smtClean="0">
                <a:solidFill>
                  <a:srgbClr val="C00000"/>
                </a:solidFill>
              </a:rPr>
              <a:t>palsi</a:t>
            </a:r>
            <a:endParaRPr lang="en-US" sz="1600" dirty="0" smtClean="0">
              <a:solidFill>
                <a:srgbClr val="C00000"/>
              </a:solidFill>
            </a:endParaRPr>
          </a:p>
          <a:p>
            <a:pPr>
              <a:defRPr/>
            </a:pPr>
            <a:r>
              <a:rPr lang="tr-TR" dirty="0" smtClean="0">
                <a:solidFill>
                  <a:srgbClr val="C00000"/>
                </a:solidFill>
              </a:rPr>
              <a:t>Bu nedenle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tr-TR" dirty="0" smtClean="0">
                <a:solidFill>
                  <a:srgbClr val="C00000"/>
                </a:solidFill>
              </a:rPr>
              <a:t>isabet oranı (</a:t>
            </a:r>
            <a:r>
              <a:rPr lang="en-US" dirty="0" smtClean="0">
                <a:solidFill>
                  <a:srgbClr val="C00000"/>
                </a:solidFill>
              </a:rPr>
              <a:t>hit rate</a:t>
            </a:r>
            <a:r>
              <a:rPr lang="tr-TR" dirty="0" smtClean="0">
                <a:solidFill>
                  <a:srgbClr val="C00000"/>
                </a:solidFill>
              </a:rPr>
              <a:t>)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r>
              <a:rPr lang="tr-TR" sz="1800" dirty="0" smtClean="0">
                <a:solidFill>
                  <a:srgbClr val="C00000"/>
                </a:solidFill>
              </a:rPr>
              <a:t> </a:t>
            </a:r>
            <a:r>
              <a:rPr lang="tr-TR" dirty="0" smtClean="0">
                <a:solidFill>
                  <a:srgbClr val="C00000"/>
                </a:solidFill>
              </a:rPr>
              <a:t>yerine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tr-TR" dirty="0" smtClean="0">
                <a:solidFill>
                  <a:srgbClr val="C00000"/>
                </a:solidFill>
              </a:rPr>
              <a:t>kayıp oranı (</a:t>
            </a:r>
            <a:r>
              <a:rPr lang="en-US" dirty="0" smtClean="0">
                <a:solidFill>
                  <a:srgbClr val="C00000"/>
                </a:solidFill>
              </a:rPr>
              <a:t>miss rate</a:t>
            </a:r>
            <a:r>
              <a:rPr lang="tr-TR" dirty="0" smtClean="0">
                <a:solidFill>
                  <a:srgbClr val="C00000"/>
                </a:solidFill>
              </a:rPr>
              <a:t>)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r>
              <a:rPr lang="tr-TR" dirty="0" smtClean="0">
                <a:solidFill>
                  <a:srgbClr val="C00000"/>
                </a:solidFill>
              </a:rPr>
              <a:t> </a:t>
            </a:r>
            <a:r>
              <a:rPr lang="tr-TR" dirty="0" err="1" smtClean="0">
                <a:solidFill>
                  <a:srgbClr val="C00000"/>
                </a:solidFill>
              </a:rPr>
              <a:t>nı</a:t>
            </a:r>
            <a:r>
              <a:rPr lang="tr-TR" dirty="0" smtClean="0">
                <a:solidFill>
                  <a:srgbClr val="C00000"/>
                </a:solidFill>
              </a:rPr>
              <a:t> kullanmak daha anlamlıdır.</a:t>
            </a:r>
            <a:endParaRPr lang="en-US" sz="18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6" name="Rectangle 8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/>
          <a:lstStyle/>
          <a:p>
            <a:r>
              <a:rPr lang="tr-TR" sz="3200" dirty="0" smtClean="0"/>
              <a:t>Önbelleği Uygun Şekilde Kullanan Kod Yazımı</a:t>
            </a:r>
            <a:endParaRPr lang="en-US" sz="3200" dirty="0"/>
          </a:p>
        </p:txBody>
      </p:sp>
      <p:sp>
        <p:nvSpPr>
          <p:cNvPr id="16077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289925" cy="4972050"/>
          </a:xfrm>
        </p:spPr>
        <p:txBody>
          <a:bodyPr/>
          <a:lstStyle/>
          <a:p>
            <a:r>
              <a:rPr lang="tr-TR" dirty="0" smtClean="0"/>
              <a:t>Yaygın olanın hızlı çalıştırılması</a:t>
            </a:r>
            <a:endParaRPr lang="en-US" dirty="0" smtClean="0"/>
          </a:p>
          <a:p>
            <a:pPr lvl="1"/>
            <a:r>
              <a:rPr lang="tr-TR" dirty="0" smtClean="0"/>
              <a:t>Ana fonksiyonların iç döngülerine odaklan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tr-TR" dirty="0" smtClean="0"/>
              <a:t>İç döngülerdeki kayıpların minimize edilmesi</a:t>
            </a:r>
            <a:endParaRPr lang="en-US" dirty="0" smtClean="0"/>
          </a:p>
          <a:p>
            <a:pPr lvl="1"/>
            <a:r>
              <a:rPr lang="tr-TR" dirty="0" smtClean="0"/>
              <a:t>Değişkenlere yapılan referansların yakın zamanlarda tekrarlaması iyidir</a:t>
            </a:r>
            <a:r>
              <a:rPr lang="en-US" dirty="0" smtClean="0"/>
              <a:t> (</a:t>
            </a:r>
            <a:r>
              <a:rPr lang="tr-TR" dirty="0" smtClean="0">
                <a:solidFill>
                  <a:srgbClr val="FF0000"/>
                </a:solidFill>
              </a:rPr>
              <a:t>zamansal yerellik (</a:t>
            </a:r>
            <a:r>
              <a:rPr lang="en-US" dirty="0" smtClean="0">
                <a:solidFill>
                  <a:srgbClr val="FF0000"/>
                </a:solidFill>
              </a:rPr>
              <a:t>temporal locality</a:t>
            </a:r>
            <a:r>
              <a:rPr lang="tr-TR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)</a:t>
            </a:r>
          </a:p>
          <a:p>
            <a:pPr lvl="1"/>
            <a:r>
              <a:rPr lang="tr-TR" dirty="0" smtClean="0"/>
              <a:t>Programların değerlere 1-adımlık aralıklarla erişmesi iyidir</a:t>
            </a:r>
            <a:r>
              <a:rPr lang="en-US" dirty="0" smtClean="0"/>
              <a:t> (</a:t>
            </a:r>
            <a:r>
              <a:rPr lang="tr-TR" dirty="0" err="1">
                <a:solidFill>
                  <a:srgbClr val="FF0000"/>
                </a:solidFill>
              </a:rPr>
              <a:t>konumsal</a:t>
            </a:r>
            <a:r>
              <a:rPr lang="tr-TR" dirty="0">
                <a:solidFill>
                  <a:srgbClr val="FF0000"/>
                </a:solidFill>
              </a:rPr>
              <a:t> yerellik (</a:t>
            </a:r>
            <a:r>
              <a:rPr lang="en-US" dirty="0">
                <a:solidFill>
                  <a:srgbClr val="FF0000"/>
                </a:solidFill>
              </a:rPr>
              <a:t>spatial locality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Önbellek Özet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13725" cy="4972050"/>
          </a:xfrm>
        </p:spPr>
        <p:txBody>
          <a:bodyPr/>
          <a:lstStyle/>
          <a:p>
            <a:r>
              <a:rPr lang="tr-TR" dirty="0" smtClean="0"/>
              <a:t>Önbellek hafızaları önemli miktarda performans etkisine sahip olabilir</a:t>
            </a:r>
            <a:endParaRPr lang="en-US" dirty="0" smtClean="0"/>
          </a:p>
          <a:p>
            <a:endParaRPr lang="en-US" dirty="0" smtClean="0"/>
          </a:p>
          <a:p>
            <a:r>
              <a:rPr lang="tr-TR" dirty="0" smtClean="0"/>
              <a:t>Programlarınızı bundan faydalanacak şekilde yazabilirsiniz</a:t>
            </a:r>
            <a:r>
              <a:rPr lang="en-US" dirty="0" smtClean="0"/>
              <a:t>!</a:t>
            </a:r>
          </a:p>
          <a:p>
            <a:pPr lvl="1"/>
            <a:r>
              <a:rPr lang="tr-TR" dirty="0" smtClean="0"/>
              <a:t>Yoğun hesaplama ve hafıza erişiminin bulunduğu, iç döngülere odaklanın</a:t>
            </a:r>
            <a:r>
              <a:rPr lang="en-US" dirty="0" smtClean="0"/>
              <a:t>. </a:t>
            </a:r>
          </a:p>
          <a:p>
            <a:pPr lvl="1"/>
            <a:r>
              <a:rPr lang="tr-TR" dirty="0" smtClean="0"/>
              <a:t>Verileri </a:t>
            </a:r>
            <a:r>
              <a:rPr lang="tr-TR" dirty="0"/>
              <a:t>1-adımlık atlamalarla </a:t>
            </a:r>
            <a:r>
              <a:rPr lang="tr-TR" dirty="0" smtClean="0"/>
              <a:t>okuyarak, </a:t>
            </a:r>
            <a:r>
              <a:rPr lang="tr-TR" dirty="0" err="1"/>
              <a:t>k</a:t>
            </a:r>
            <a:r>
              <a:rPr lang="tr-TR" dirty="0" err="1" smtClean="0"/>
              <a:t>onumsal</a:t>
            </a:r>
            <a:r>
              <a:rPr lang="tr-TR" dirty="0" smtClean="0"/>
              <a:t> yerelliği maksimum oranda kullanabilmeye çalışın. </a:t>
            </a:r>
            <a:endParaRPr lang="en-US" dirty="0" smtClean="0"/>
          </a:p>
          <a:p>
            <a:pPr lvl="1"/>
            <a:r>
              <a:rPr lang="tr-TR" dirty="0" smtClean="0"/>
              <a:t>Verileri, bir kez hafızadan okunduklarında, yakın zaman içerisinde olabildiğince sıklıkla kullanmaya çalışarak, zamansal </a:t>
            </a:r>
            <a:r>
              <a:rPr lang="tr-TR" dirty="0"/>
              <a:t>yerelliği  maksimum oranda kullanabilmeye </a:t>
            </a:r>
            <a:r>
              <a:rPr lang="tr-TR" dirty="0" smtClean="0"/>
              <a:t>çalışın.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7753"/>
            <a:ext cx="5320662" cy="376688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3352" y="54678"/>
            <a:ext cx="7592093" cy="762000"/>
          </a:xfrm>
        </p:spPr>
        <p:txBody>
          <a:bodyPr/>
          <a:lstStyle/>
          <a:p>
            <a:r>
              <a:rPr lang="tr-TR" sz="2400" dirty="0" smtClean="0"/>
              <a:t>Örnek soru</a:t>
            </a:r>
            <a:r>
              <a:rPr lang="en-US" sz="2400" dirty="0" smtClean="0"/>
              <a:t>	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052" y="4683368"/>
            <a:ext cx="5485133" cy="2209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894764"/>
            <a:ext cx="3733800" cy="60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4" y="914400"/>
            <a:ext cx="7896225" cy="221288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3" y="3581400"/>
            <a:ext cx="8138879" cy="21336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509418" y="381000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tr-TR" sz="2400" kern="0" smtClean="0"/>
              <a:t>Soru</a:t>
            </a:r>
            <a:endParaRPr lang="en-US" sz="2400" kern="0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503975" y="3110957"/>
            <a:ext cx="759209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tr-TR" sz="2400" kern="0" dirty="0" smtClean="0"/>
              <a:t>Cevap</a:t>
            </a:r>
          </a:p>
        </p:txBody>
      </p:sp>
    </p:spTree>
    <p:extLst>
      <p:ext uri="{BB962C8B-B14F-4D97-AF65-F5344CB8AC3E}">
        <p14:creationId xmlns:p14="http://schemas.microsoft.com/office/powerpoint/2010/main" val="10799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063515"/>
            <a:ext cx="7768797" cy="25098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0" indent="0"/>
            <a:r>
              <a:rPr lang="tr-TR" dirty="0"/>
              <a:t>Ç</a:t>
            </a:r>
            <a:r>
              <a:rPr lang="en-US" dirty="0" smtClean="0"/>
              <a:t>ok</a:t>
            </a:r>
            <a:r>
              <a:rPr lang="tr-TR" dirty="0" smtClean="0"/>
              <a:t> </a:t>
            </a:r>
            <a:r>
              <a:rPr lang="en-US" dirty="0" err="1" smtClean="0"/>
              <a:t>Boyutlu</a:t>
            </a:r>
            <a:r>
              <a:rPr lang="tr-TR" dirty="0" smtClean="0"/>
              <a:t> </a:t>
            </a:r>
            <a:r>
              <a:rPr lang="en-US" dirty="0" err="1" smtClean="0"/>
              <a:t>Diziler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Ö</a:t>
            </a:r>
            <a:r>
              <a:rPr lang="en-US" dirty="0" err="1" smtClean="0"/>
              <a:t>nbellek</a:t>
            </a:r>
            <a:r>
              <a:rPr lang="tr-TR" dirty="0" smtClean="0"/>
              <a:t> </a:t>
            </a:r>
            <a:r>
              <a:rPr lang="en-US" dirty="0" err="1" smtClean="0"/>
              <a:t>Performans</a:t>
            </a:r>
            <a:r>
              <a:rPr lang="tr-TR" dirty="0" smtClean="0"/>
              <a:t> İyileştirmesi</a:t>
            </a:r>
            <a:r>
              <a:rPr lang="en-US" sz="1999" dirty="0" smtClean="0"/>
              <a:t/>
            </a:r>
            <a:br>
              <a:rPr lang="en-US" sz="1999" dirty="0" smtClean="0"/>
            </a:br>
            <a:r>
              <a:rPr lang="tr-TR" sz="1999" dirty="0" smtClean="0"/>
              <a:t/>
            </a:r>
            <a:br>
              <a:rPr lang="tr-TR" sz="1999" dirty="0" smtClean="0"/>
            </a:br>
            <a:r>
              <a:rPr lang="en-US" sz="1999" dirty="0" smtClean="0"/>
              <a:t>BIL-304</a:t>
            </a:r>
            <a:r>
              <a:rPr lang="en-US" sz="1999" dirty="0"/>
              <a:t>: B</a:t>
            </a:r>
            <a:r>
              <a:rPr lang="tr-TR" sz="1999" dirty="0" err="1"/>
              <a:t>ilgisayar</a:t>
            </a:r>
            <a:r>
              <a:rPr lang="tr-TR" sz="1999" dirty="0"/>
              <a:t> Mimarisi</a:t>
            </a:r>
            <a:r>
              <a:rPr lang="en-US" sz="1999" dirty="0"/>
              <a:t> </a:t>
            </a:r>
            <a:endParaRPr lang="en-US" sz="1999" b="0" dirty="0"/>
          </a:p>
        </p:txBody>
      </p:sp>
      <p:sp>
        <p:nvSpPr>
          <p:cNvPr id="7" name="Subtitle 1"/>
          <p:cNvSpPr txBox="1">
            <a:spLocks/>
          </p:cNvSpPr>
          <p:nvPr/>
        </p:nvSpPr>
        <p:spPr>
          <a:xfrm>
            <a:off x="604089" y="3886836"/>
            <a:ext cx="8157533" cy="1751787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1pPr>
            <a:lvl2pPr marL="457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2pPr>
            <a:lvl3pPr marL="914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3pPr>
            <a:lvl4pPr marL="1371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4pPr>
            <a:lvl5pPr marL="18288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5pPr>
            <a:lvl6pPr marL="22860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>
              <a:defRPr/>
            </a:pPr>
            <a:r>
              <a:rPr lang="tr-TR" sz="1999" kern="0" dirty="0"/>
              <a:t>Dersi veren öğretim üyesi</a:t>
            </a:r>
            <a:r>
              <a:rPr lang="en-US" sz="1999" kern="0" dirty="0"/>
              <a:t>: </a:t>
            </a:r>
          </a:p>
          <a:p>
            <a:pPr>
              <a:defRPr/>
            </a:pPr>
            <a:r>
              <a:rPr lang="tr-TR" sz="1999" kern="0" dirty="0" smtClean="0"/>
              <a:t>Dr</a:t>
            </a:r>
            <a:r>
              <a:rPr lang="tr-TR" sz="1999" kern="0" dirty="0"/>
              <a:t>. </a:t>
            </a:r>
            <a:r>
              <a:rPr lang="tr-TR" sz="1999" kern="0" dirty="0" err="1" smtClean="0"/>
              <a:t>Öğr</a:t>
            </a:r>
            <a:r>
              <a:rPr lang="tr-TR" sz="1999" kern="0" dirty="0" smtClean="0"/>
              <a:t>. Üyesi Fatih </a:t>
            </a:r>
            <a:r>
              <a:rPr lang="tr-TR" sz="1999" kern="0" dirty="0"/>
              <a:t>Gökçe</a:t>
            </a:r>
            <a:r>
              <a:rPr lang="en-US" sz="1999" kern="0" dirty="0"/>
              <a:t> </a:t>
            </a:r>
          </a:p>
          <a:p>
            <a:pPr>
              <a:defRPr/>
            </a:pPr>
            <a:endParaRPr lang="en-US" sz="1999" kern="0" dirty="0"/>
          </a:p>
          <a:p>
            <a:pPr>
              <a:defRPr/>
            </a:pPr>
            <a:endParaRPr lang="en-US" sz="1999" kern="0" dirty="0"/>
          </a:p>
          <a:p>
            <a:pPr>
              <a:defRPr/>
            </a:pPr>
            <a:r>
              <a:rPr lang="tr-TR" sz="1599" kern="0" dirty="0"/>
              <a:t>Ders kitabına ait sunum dosyalarından adapte edilmiştir</a:t>
            </a:r>
            <a:r>
              <a:rPr lang="en-US" sz="1599" kern="0" dirty="0"/>
              <a:t>: </a:t>
            </a:r>
            <a:r>
              <a:rPr lang="en-US" sz="1599" kern="0" dirty="0">
                <a:hlinkClick r:id="rId2"/>
              </a:rPr>
              <a:t>http://csapp.cs.cmu.edu/</a:t>
            </a:r>
            <a:r>
              <a:rPr lang="en-US" sz="1599" kern="0" dirty="0"/>
              <a:t>  </a:t>
            </a:r>
            <a:endParaRPr lang="tr-TR" sz="1599" kern="0" dirty="0"/>
          </a:p>
          <a:p>
            <a:pPr>
              <a:defRPr/>
            </a:pPr>
            <a:r>
              <a:rPr lang="en-US" sz="1200" kern="0" dirty="0"/>
              <a:t>Adapted from slides of the textbook: </a:t>
            </a:r>
            <a:r>
              <a:rPr lang="en-US" sz="1200" kern="0" dirty="0">
                <a:hlinkClick r:id="rId2"/>
              </a:rPr>
              <a:t>http://csapp.cs.cmu.edu/</a:t>
            </a:r>
            <a:r>
              <a:rPr lang="en-US" sz="1200" kern="0" dirty="0"/>
              <a:t>  </a:t>
            </a:r>
          </a:p>
          <a:p>
            <a:endParaRPr lang="en-US" sz="1999" kern="0" dirty="0"/>
          </a:p>
        </p:txBody>
      </p:sp>
    </p:spTree>
    <p:extLst>
      <p:ext uri="{BB962C8B-B14F-4D97-AF65-F5344CB8AC3E}">
        <p14:creationId xmlns:p14="http://schemas.microsoft.com/office/powerpoint/2010/main" val="390479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6673850" y="854319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>
                <a:latin typeface="Courier New" pitchFamily="-96" charset="0"/>
              </a:rPr>
              <a:t> A[R][C];</a:t>
            </a:r>
          </a:p>
        </p:txBody>
      </p:sp>
      <p:grpSp>
        <p:nvGrpSpPr>
          <p:cNvPr id="78858" name="Group 17"/>
          <p:cNvGrpSpPr>
            <a:grpSpLocks/>
          </p:cNvGrpSpPr>
          <p:nvPr/>
        </p:nvGrpSpPr>
        <p:grpSpPr bwMode="auto">
          <a:xfrm rot="5400000">
            <a:off x="6835958" y="1215202"/>
            <a:ext cx="1506540" cy="1462453"/>
            <a:chOff x="1488" y="3504"/>
            <a:chExt cx="949" cy="624"/>
          </a:xfrm>
        </p:grpSpPr>
        <p:sp>
          <p:nvSpPr>
            <p:cNvPr id="78868" name="Rectangle 20"/>
            <p:cNvSpPr>
              <a:spLocks noChangeArrowheads="1"/>
            </p:cNvSpPr>
            <p:nvPr/>
          </p:nvSpPr>
          <p:spPr bwMode="auto">
            <a:xfrm>
              <a:off x="1488" y="3504"/>
              <a:ext cx="949" cy="624"/>
            </a:xfrm>
            <a:prstGeom prst="rect">
              <a:avLst/>
            </a:prstGeom>
            <a:solidFill>
              <a:srgbClr val="F1C7C7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endParaRPr lang="en-US" sz="1600" b="0" dirty="0">
                <a:latin typeface="Courier New" pitchFamily="-96" charset="0"/>
              </a:endParaRPr>
            </a:p>
          </p:txBody>
        </p:sp>
        <p:sp>
          <p:nvSpPr>
            <p:cNvPr id="78869" name="Rectangle 18"/>
            <p:cNvSpPr>
              <a:spLocks noChangeArrowheads="1"/>
            </p:cNvSpPr>
            <p:nvPr/>
          </p:nvSpPr>
          <p:spPr bwMode="auto">
            <a:xfrm>
              <a:off x="1488" y="3504"/>
              <a:ext cx="181" cy="624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A[0][</a:t>
              </a:r>
              <a:r>
                <a:rPr lang="en-US" sz="1600" dirty="0">
                  <a:latin typeface="Courier New" pitchFamily="-96" charset="0"/>
                </a:rPr>
                <a:t>0]</a:t>
              </a:r>
            </a:p>
          </p:txBody>
        </p:sp>
        <p:sp>
          <p:nvSpPr>
            <p:cNvPr id="78870" name="Rectangle 19"/>
            <p:cNvSpPr>
              <a:spLocks noChangeArrowheads="1"/>
            </p:cNvSpPr>
            <p:nvPr/>
          </p:nvSpPr>
          <p:spPr bwMode="auto">
            <a:xfrm>
              <a:off x="2234" y="3504"/>
              <a:ext cx="203" cy="624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A[0][</a:t>
              </a:r>
              <a:r>
                <a:rPr lang="en-US" sz="1600" dirty="0">
                  <a:latin typeface="Courier New" pitchFamily="-96" charset="0"/>
                </a:rPr>
                <a:t>C-1]</a:t>
              </a:r>
            </a:p>
          </p:txBody>
        </p:sp>
      </p:grpSp>
      <p:grpSp>
        <p:nvGrpSpPr>
          <p:cNvPr id="78859" name="Group 21"/>
          <p:cNvGrpSpPr>
            <a:grpSpLocks/>
          </p:cNvGrpSpPr>
          <p:nvPr/>
        </p:nvGrpSpPr>
        <p:grpSpPr bwMode="auto">
          <a:xfrm rot="5400000">
            <a:off x="6912157" y="2664008"/>
            <a:ext cx="1354138" cy="1462453"/>
            <a:chOff x="1488" y="3504"/>
            <a:chExt cx="853" cy="624"/>
          </a:xfrm>
        </p:grpSpPr>
        <p:sp>
          <p:nvSpPr>
            <p:cNvPr id="78865" name="Rectangle 24"/>
            <p:cNvSpPr>
              <a:spLocks noChangeArrowheads="1"/>
            </p:cNvSpPr>
            <p:nvPr/>
          </p:nvSpPr>
          <p:spPr bwMode="auto">
            <a:xfrm>
              <a:off x="1488" y="3504"/>
              <a:ext cx="853" cy="624"/>
            </a:xfrm>
            <a:prstGeom prst="rect">
              <a:avLst/>
            </a:prstGeom>
            <a:solidFill>
              <a:srgbClr val="F6F5BD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endParaRPr lang="en-US" sz="1600" b="0" dirty="0">
                <a:latin typeface="Courier New" pitchFamily="-96" charset="0"/>
              </a:endParaRPr>
            </a:p>
          </p:txBody>
        </p:sp>
        <p:sp>
          <p:nvSpPr>
            <p:cNvPr id="78866" name="Rectangle 22"/>
            <p:cNvSpPr>
              <a:spLocks noChangeArrowheads="1"/>
            </p:cNvSpPr>
            <p:nvPr/>
          </p:nvSpPr>
          <p:spPr bwMode="auto">
            <a:xfrm>
              <a:off x="1488" y="3504"/>
              <a:ext cx="181" cy="62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A[1][</a:t>
              </a:r>
              <a:r>
                <a:rPr lang="en-US" sz="1600" dirty="0">
                  <a:latin typeface="Courier New" pitchFamily="-96" charset="0"/>
                </a:rPr>
                <a:t>0]</a:t>
              </a:r>
            </a:p>
          </p:txBody>
        </p:sp>
        <p:sp>
          <p:nvSpPr>
            <p:cNvPr id="78867" name="Rectangle 23"/>
            <p:cNvSpPr>
              <a:spLocks noChangeArrowheads="1"/>
            </p:cNvSpPr>
            <p:nvPr/>
          </p:nvSpPr>
          <p:spPr bwMode="auto">
            <a:xfrm>
              <a:off x="2128" y="3504"/>
              <a:ext cx="203" cy="62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A[1][</a:t>
              </a:r>
              <a:r>
                <a:rPr lang="en-US" sz="1600" dirty="0">
                  <a:latin typeface="Courier New" pitchFamily="-96" charset="0"/>
                </a:rPr>
                <a:t>C-1]</a:t>
              </a:r>
            </a:p>
          </p:txBody>
        </p:sp>
      </p:grpSp>
      <p:sp>
        <p:nvSpPr>
          <p:cNvPr id="78861" name="Rectangle 29"/>
          <p:cNvSpPr>
            <a:spLocks noChangeArrowheads="1"/>
          </p:cNvSpPr>
          <p:nvPr/>
        </p:nvSpPr>
        <p:spPr bwMode="auto">
          <a:xfrm rot="5400000">
            <a:off x="7159000" y="3747249"/>
            <a:ext cx="860453" cy="146245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0" dirty="0" smtClean="0">
                <a:latin typeface="Courier New" pitchFamily="-96" charset="0"/>
              </a:rPr>
              <a:t>•</a:t>
            </a:r>
            <a:br>
              <a:rPr lang="en-US" sz="1600" b="0" dirty="0" smtClean="0">
                <a:latin typeface="Courier New" pitchFamily="-96" charset="0"/>
              </a:rPr>
            </a:br>
            <a:r>
              <a:rPr lang="en-US" sz="1600" b="0" dirty="0" smtClean="0">
                <a:latin typeface="Courier New" pitchFamily="-96" charset="0"/>
              </a:rPr>
              <a:t>•</a:t>
            </a:r>
            <a:br>
              <a:rPr lang="en-US" sz="1600" b="0" dirty="0" smtClean="0">
                <a:latin typeface="Courier New" pitchFamily="-96" charset="0"/>
              </a:rPr>
            </a:br>
            <a:r>
              <a:rPr lang="en-US" sz="1600" b="0" dirty="0" smtClean="0">
                <a:latin typeface="Courier New" pitchFamily="-96" charset="0"/>
              </a:rPr>
              <a:t>•</a:t>
            </a:r>
            <a:endParaRPr lang="en-US" sz="1600" b="0" dirty="0">
              <a:latin typeface="Courier New" pitchFamily="-96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 rot="5400000">
            <a:off x="6219432" y="3660530"/>
            <a:ext cx="5163346" cy="228606"/>
            <a:chOff x="457200" y="6324600"/>
            <a:chExt cx="8229600" cy="228606"/>
          </a:xfrm>
        </p:grpSpPr>
        <p:sp>
          <p:nvSpPr>
            <p:cNvPr id="309278" name="Line 30"/>
            <p:cNvSpPr>
              <a:spLocks noChangeShapeType="1"/>
            </p:cNvSpPr>
            <p:nvPr/>
          </p:nvSpPr>
          <p:spPr bwMode="auto">
            <a:xfrm>
              <a:off x="457200" y="6324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79" name="Line 31"/>
            <p:cNvSpPr>
              <a:spLocks noChangeShapeType="1"/>
            </p:cNvSpPr>
            <p:nvPr/>
          </p:nvSpPr>
          <p:spPr bwMode="auto">
            <a:xfrm>
              <a:off x="8686800" y="6324606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80" name="Line 32"/>
            <p:cNvSpPr>
              <a:spLocks noChangeShapeType="1"/>
            </p:cNvSpPr>
            <p:nvPr/>
          </p:nvSpPr>
          <p:spPr bwMode="auto">
            <a:xfrm>
              <a:off x="457201" y="6441842"/>
              <a:ext cx="8229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9281" name="Rectangle 33"/>
          <p:cNvSpPr>
            <a:spLocks noChangeArrowheads="1"/>
          </p:cNvSpPr>
          <p:nvPr/>
        </p:nvSpPr>
        <p:spPr bwMode="auto">
          <a:xfrm>
            <a:off x="8395186" y="3244944"/>
            <a:ext cx="702409" cy="608727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800" dirty="0" smtClean="0">
                <a:latin typeface="Courier New" pitchFamily="-96" charset="0"/>
              </a:rPr>
              <a:t>4*R*C</a:t>
            </a:r>
            <a:r>
              <a:rPr lang="tr-TR" sz="1800" b="0" dirty="0">
                <a:latin typeface="Calibri" pitchFamily="-96" charset="0"/>
              </a:rPr>
              <a:t/>
            </a:r>
            <a:br>
              <a:rPr lang="tr-TR" sz="1800" b="0" dirty="0">
                <a:latin typeface="Calibri" pitchFamily="-96" charset="0"/>
              </a:rPr>
            </a:br>
            <a:r>
              <a:rPr lang="en-US" sz="1800" b="0" dirty="0" smtClean="0">
                <a:latin typeface="Calibri" pitchFamily="-96" charset="0"/>
              </a:rPr>
              <a:t>Byte</a:t>
            </a:r>
            <a:endParaRPr lang="en-US" sz="1800" b="0" dirty="0">
              <a:latin typeface="Calibri" pitchFamily="-96" charset="0"/>
            </a:endParaRP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381000" y="982663"/>
            <a:ext cx="5715000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tr-TR" sz="2000" kern="0" dirty="0" smtClean="0">
                <a:latin typeface="Calibri" pitchFamily="-96" charset="0"/>
              </a:rPr>
              <a:t>Tanımlama</a:t>
            </a:r>
            <a:endParaRPr lang="en-US" sz="2000" kern="0" dirty="0" smtClean="0">
              <a:latin typeface="Calibri" pitchFamily="-96" charset="0"/>
            </a:endParaRPr>
          </a:p>
          <a:p>
            <a:pPr lvl="1">
              <a:buFont typeface="Wingdings" pitchFamily="-96" charset="2"/>
              <a:buNone/>
            </a:pPr>
            <a:r>
              <a:rPr lang="en-US" sz="1800" i="1" kern="0" dirty="0" smtClean="0">
                <a:latin typeface="Calibri" pitchFamily="-96" charset="0"/>
              </a:rPr>
              <a:t>T</a:t>
            </a:r>
            <a:r>
              <a:rPr lang="en-US" sz="1800" kern="0" dirty="0" smtClean="0">
                <a:latin typeface="Calibri" pitchFamily="-96" charset="0"/>
              </a:rPr>
              <a:t>   </a:t>
            </a:r>
            <a:r>
              <a:rPr lang="en-US" sz="1800" kern="0" dirty="0" smtClean="0">
                <a:latin typeface="Courier New" pitchFamily="-96" charset="0"/>
              </a:rPr>
              <a:t>A[</a:t>
            </a:r>
            <a:r>
              <a:rPr lang="en-US" sz="1800" i="1" kern="0" dirty="0" smtClean="0">
                <a:latin typeface="Calibri" pitchFamily="-96" charset="0"/>
              </a:rPr>
              <a:t>R</a:t>
            </a:r>
            <a:r>
              <a:rPr lang="en-US" sz="1800" kern="0" dirty="0" smtClean="0">
                <a:latin typeface="Courier New" pitchFamily="-96" charset="0"/>
              </a:rPr>
              <a:t>][</a:t>
            </a:r>
            <a:r>
              <a:rPr lang="en-US" sz="1800" i="1" kern="0" dirty="0" smtClean="0">
                <a:latin typeface="Calibri" pitchFamily="-96" charset="0"/>
              </a:rPr>
              <a:t>C</a:t>
            </a:r>
            <a:r>
              <a:rPr lang="en-US" sz="1800" kern="0" dirty="0" smtClean="0">
                <a:latin typeface="Courier New" pitchFamily="-96" charset="0"/>
              </a:rPr>
              <a:t>];</a:t>
            </a:r>
            <a:endParaRPr lang="en-US" sz="1800" kern="0" dirty="0" smtClean="0">
              <a:latin typeface="Calibri" pitchFamily="-96" charset="0"/>
            </a:endParaRPr>
          </a:p>
          <a:p>
            <a:pPr lvl="1"/>
            <a:r>
              <a:rPr lang="tr-TR" sz="1800" b="0" i="1" kern="0" dirty="0" smtClean="0">
                <a:latin typeface="Calibri" pitchFamily="-96" charset="0"/>
              </a:rPr>
              <a:t>T</a:t>
            </a:r>
            <a:r>
              <a:rPr lang="tr-TR" sz="1800" b="0" kern="0" dirty="0" smtClean="0">
                <a:latin typeface="Calibri" pitchFamily="-96" charset="0"/>
              </a:rPr>
              <a:t> veri tipinde </a:t>
            </a:r>
            <a:r>
              <a:rPr lang="en-US" sz="1800" b="0" kern="0" dirty="0" smtClean="0">
                <a:latin typeface="Calibri" pitchFamily="-96" charset="0"/>
              </a:rPr>
              <a:t>2</a:t>
            </a:r>
            <a:r>
              <a:rPr lang="tr-TR" sz="1800" b="0" kern="0" dirty="0" smtClean="0">
                <a:latin typeface="Calibri" pitchFamily="-96" charset="0"/>
              </a:rPr>
              <a:t>-boyutlu dizi</a:t>
            </a:r>
            <a:endParaRPr lang="en-US" sz="1800" b="0" kern="0" dirty="0" smtClean="0">
              <a:latin typeface="Calibri" pitchFamily="-96" charset="0"/>
            </a:endParaRPr>
          </a:p>
          <a:p>
            <a:pPr lvl="1"/>
            <a:r>
              <a:rPr lang="en-US" sz="1800" b="0" i="1" kern="0" dirty="0" smtClean="0">
                <a:latin typeface="Calibri" pitchFamily="-96" charset="0"/>
              </a:rPr>
              <a:t>R</a:t>
            </a:r>
            <a:r>
              <a:rPr lang="en-US" sz="1800" b="0" kern="0" dirty="0" smtClean="0">
                <a:latin typeface="Calibri" pitchFamily="-96" charset="0"/>
              </a:rPr>
              <a:t> </a:t>
            </a:r>
            <a:r>
              <a:rPr lang="tr-TR" sz="1800" b="0" kern="0" dirty="0" smtClean="0">
                <a:latin typeface="Calibri" pitchFamily="-96" charset="0"/>
              </a:rPr>
              <a:t>satırlar(</a:t>
            </a:r>
            <a:r>
              <a:rPr lang="en-US" sz="1800" b="0" kern="0" dirty="0" smtClean="0">
                <a:latin typeface="Calibri" pitchFamily="-96" charset="0"/>
              </a:rPr>
              <a:t>rows</a:t>
            </a:r>
            <a:r>
              <a:rPr lang="tr-TR" sz="1800" b="0" kern="0" dirty="0" smtClean="0">
                <a:latin typeface="Calibri" pitchFamily="-96" charset="0"/>
              </a:rPr>
              <a:t>)</a:t>
            </a:r>
            <a:r>
              <a:rPr lang="en-US" sz="1800" b="0" kern="0" dirty="0" smtClean="0">
                <a:latin typeface="Calibri" pitchFamily="-96" charset="0"/>
              </a:rPr>
              <a:t>, </a:t>
            </a:r>
            <a:r>
              <a:rPr lang="en-US" sz="1800" b="0" i="1" kern="0" dirty="0" smtClean="0">
                <a:latin typeface="Calibri" pitchFamily="-96" charset="0"/>
              </a:rPr>
              <a:t>C</a:t>
            </a:r>
            <a:r>
              <a:rPr lang="en-US" sz="1800" b="0" kern="0" dirty="0" smtClean="0">
                <a:latin typeface="Calibri" pitchFamily="-96" charset="0"/>
              </a:rPr>
              <a:t> </a:t>
            </a:r>
            <a:r>
              <a:rPr lang="tr-TR" sz="1800" b="0" kern="0" dirty="0" smtClean="0">
                <a:latin typeface="Calibri" pitchFamily="-96" charset="0"/>
              </a:rPr>
              <a:t>sütunlar (</a:t>
            </a:r>
            <a:r>
              <a:rPr lang="en-US" sz="1800" b="0" kern="0" dirty="0" smtClean="0">
                <a:latin typeface="Calibri" pitchFamily="-96" charset="0"/>
              </a:rPr>
              <a:t>columns</a:t>
            </a:r>
            <a:r>
              <a:rPr lang="tr-TR" sz="1800" b="0" kern="0" dirty="0" smtClean="0">
                <a:latin typeface="Calibri" pitchFamily="-96" charset="0"/>
              </a:rPr>
              <a:t>)</a:t>
            </a:r>
            <a:endParaRPr lang="en-US" sz="1800" b="0" kern="0" dirty="0" smtClean="0">
              <a:latin typeface="Calibri" pitchFamily="-96" charset="0"/>
            </a:endParaRPr>
          </a:p>
          <a:p>
            <a:pPr lvl="1"/>
            <a:r>
              <a:rPr lang="en-US" sz="1800" b="0" i="1" kern="0" dirty="0" smtClean="0">
                <a:latin typeface="Calibri" pitchFamily="-96" charset="0"/>
              </a:rPr>
              <a:t>T</a:t>
            </a:r>
            <a:r>
              <a:rPr lang="en-US" sz="1800" b="0" kern="0" dirty="0" smtClean="0">
                <a:latin typeface="Calibri" pitchFamily="-96" charset="0"/>
              </a:rPr>
              <a:t> </a:t>
            </a:r>
            <a:r>
              <a:rPr lang="tr-TR" sz="1800" b="0" kern="0" dirty="0" smtClean="0">
                <a:latin typeface="Calibri" pitchFamily="-96" charset="0"/>
              </a:rPr>
              <a:t>veri tipindeki elemanlar </a:t>
            </a:r>
            <a:r>
              <a:rPr lang="en-US" sz="1800" b="0" i="1" kern="0" dirty="0" smtClean="0">
                <a:latin typeface="Calibri" pitchFamily="-96" charset="0"/>
              </a:rPr>
              <a:t>K</a:t>
            </a:r>
            <a:r>
              <a:rPr lang="en-US" sz="1800" b="0" kern="0" dirty="0" smtClean="0">
                <a:latin typeface="Calibri" pitchFamily="-96" charset="0"/>
              </a:rPr>
              <a:t> byte</a:t>
            </a:r>
            <a:r>
              <a:rPr lang="tr-TR" sz="1800" b="0" kern="0" dirty="0" smtClean="0">
                <a:latin typeface="Calibri" pitchFamily="-96" charset="0"/>
              </a:rPr>
              <a:t>’</a:t>
            </a:r>
            <a:r>
              <a:rPr lang="tr-TR" sz="1800" b="0" kern="0" dirty="0" err="1" smtClean="0">
                <a:latin typeface="Calibri" pitchFamily="-96" charset="0"/>
              </a:rPr>
              <a:t>lık</a:t>
            </a:r>
            <a:r>
              <a:rPr lang="tr-TR" sz="1800" b="0" kern="0" dirty="0" smtClean="0">
                <a:latin typeface="Calibri" pitchFamily="-96" charset="0"/>
              </a:rPr>
              <a:t> alana ihtiyaç duyarlar</a:t>
            </a:r>
            <a:endParaRPr lang="en-US" sz="1800" b="0" kern="0" dirty="0" smtClean="0">
              <a:latin typeface="Calibri" pitchFamily="-96" charset="0"/>
            </a:endParaRPr>
          </a:p>
          <a:p>
            <a:r>
              <a:rPr lang="tr-TR" sz="2000" kern="0" dirty="0" smtClean="0">
                <a:latin typeface="Calibri" pitchFamily="-96" charset="0"/>
              </a:rPr>
              <a:t>Dizi boyutu</a:t>
            </a:r>
            <a:endParaRPr lang="en-US" sz="2000" kern="0" dirty="0" smtClean="0">
              <a:latin typeface="Calibri" pitchFamily="-96" charset="0"/>
            </a:endParaRPr>
          </a:p>
          <a:p>
            <a:pPr lvl="1"/>
            <a:r>
              <a:rPr lang="en-US" sz="1800" b="0" i="1" kern="0" dirty="0" smtClean="0">
                <a:latin typeface="Calibri" pitchFamily="-96" charset="0"/>
              </a:rPr>
              <a:t>R</a:t>
            </a:r>
            <a:r>
              <a:rPr lang="en-US" sz="1800" b="0" kern="0" dirty="0" smtClean="0">
                <a:latin typeface="Calibri" pitchFamily="-96" charset="0"/>
              </a:rPr>
              <a:t> * </a:t>
            </a:r>
            <a:r>
              <a:rPr lang="en-US" sz="1800" b="0" i="1" kern="0" dirty="0" smtClean="0">
                <a:latin typeface="Calibri" pitchFamily="-96" charset="0"/>
              </a:rPr>
              <a:t>C </a:t>
            </a:r>
            <a:r>
              <a:rPr lang="en-US" sz="1800" b="0" kern="0" dirty="0" smtClean="0">
                <a:latin typeface="Calibri" pitchFamily="-96" charset="0"/>
              </a:rPr>
              <a:t>* </a:t>
            </a:r>
            <a:r>
              <a:rPr lang="en-US" sz="1800" b="0" i="1" kern="0" dirty="0" smtClean="0">
                <a:latin typeface="Calibri" pitchFamily="-96" charset="0"/>
              </a:rPr>
              <a:t>K </a:t>
            </a:r>
            <a:r>
              <a:rPr lang="en-US" sz="1800" b="0" kern="0" dirty="0" smtClean="0">
                <a:latin typeface="Calibri" pitchFamily="-96" charset="0"/>
              </a:rPr>
              <a:t>byte</a:t>
            </a:r>
          </a:p>
          <a:p>
            <a:r>
              <a:rPr lang="tr-TR" sz="2000" kern="0" dirty="0" smtClean="0">
                <a:latin typeface="Calibri" pitchFamily="-96" charset="0"/>
              </a:rPr>
              <a:t>Dizilim</a:t>
            </a:r>
            <a:endParaRPr lang="en-US" sz="2000" kern="0" dirty="0" smtClean="0">
              <a:latin typeface="Calibri" pitchFamily="-96" charset="0"/>
            </a:endParaRPr>
          </a:p>
          <a:p>
            <a:pPr lvl="1"/>
            <a:r>
              <a:rPr lang="tr-TR" sz="1800" b="0" kern="0" dirty="0" smtClean="0">
                <a:latin typeface="Calibri" pitchFamily="-96" charset="0"/>
              </a:rPr>
              <a:t>Satır öncelikli sıralama</a:t>
            </a:r>
            <a:endParaRPr lang="en-US" sz="1800" b="0" kern="0" dirty="0">
              <a:latin typeface="Calibri" pitchFamily="-96" charset="0"/>
            </a:endParaRPr>
          </a:p>
        </p:txBody>
      </p:sp>
      <p:grpSp>
        <p:nvGrpSpPr>
          <p:cNvPr id="37" name="Group 4"/>
          <p:cNvGrpSpPr>
            <a:grpSpLocks/>
          </p:cNvGrpSpPr>
          <p:nvPr/>
        </p:nvGrpSpPr>
        <p:grpSpPr bwMode="auto">
          <a:xfrm>
            <a:off x="838200" y="4462294"/>
            <a:ext cx="4038600" cy="2209800"/>
            <a:chOff x="2208" y="2688"/>
            <a:chExt cx="2544" cy="1392"/>
          </a:xfrm>
        </p:grpSpPr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2304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A[0][0]</a:t>
              </a:r>
            </a:p>
          </p:txBody>
        </p:sp>
        <p:sp>
          <p:nvSpPr>
            <p:cNvPr id="39" name="Rectangle 6"/>
            <p:cNvSpPr>
              <a:spLocks noChangeArrowheads="1"/>
            </p:cNvSpPr>
            <p:nvPr/>
          </p:nvSpPr>
          <p:spPr bwMode="auto">
            <a:xfrm>
              <a:off x="3936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A[0][C-1]</a:t>
              </a: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2304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A[R-1][0]</a:t>
              </a:r>
            </a:p>
          </p:txBody>
        </p:sp>
        <p:sp>
          <p:nvSpPr>
            <p:cNvPr id="41" name="Rectangle 8"/>
            <p:cNvSpPr>
              <a:spLocks noChangeArrowheads="1"/>
            </p:cNvSpPr>
            <p:nvPr/>
          </p:nvSpPr>
          <p:spPr bwMode="auto">
            <a:xfrm>
              <a:off x="3120" y="278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3168" y="374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3936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A[R-1][C-1]</a:t>
              </a: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2592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4080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46" name="Freeform 13"/>
            <p:cNvSpPr>
              <a:spLocks/>
            </p:cNvSpPr>
            <p:nvPr/>
          </p:nvSpPr>
          <p:spPr bwMode="auto">
            <a:xfrm>
              <a:off x="2208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7" name="Freeform 14"/>
            <p:cNvSpPr>
              <a:spLocks/>
            </p:cNvSpPr>
            <p:nvPr/>
          </p:nvSpPr>
          <p:spPr bwMode="auto">
            <a:xfrm flipH="1">
              <a:off x="4656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</p:grp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5867401" y="1017741"/>
            <a:ext cx="67029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49" name="Line 26"/>
          <p:cNvSpPr>
            <a:spLocks noChangeShapeType="1"/>
          </p:cNvSpPr>
          <p:nvPr/>
        </p:nvSpPr>
        <p:spPr bwMode="auto">
          <a:xfrm flipV="1">
            <a:off x="6339255" y="1193160"/>
            <a:ext cx="4942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34"/>
          <p:cNvSpPr>
            <a:spLocks noChangeShapeType="1"/>
          </p:cNvSpPr>
          <p:nvPr/>
        </p:nvSpPr>
        <p:spPr bwMode="auto">
          <a:xfrm rot="5400000">
            <a:off x="5795546" y="1950361"/>
            <a:ext cx="14985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Rectangle 35"/>
          <p:cNvSpPr>
            <a:spLocks noChangeArrowheads="1"/>
          </p:cNvSpPr>
          <p:nvPr/>
        </p:nvSpPr>
        <p:spPr bwMode="auto">
          <a:xfrm rot="5400000">
            <a:off x="6373358" y="1661227"/>
            <a:ext cx="342900" cy="601846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latin typeface="Courier New" pitchFamily="-96" charset="0"/>
              </a:rPr>
              <a:t>A[0]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2" name="Line 36"/>
          <p:cNvSpPr>
            <a:spLocks noChangeShapeType="1"/>
          </p:cNvSpPr>
          <p:nvPr/>
        </p:nvSpPr>
        <p:spPr bwMode="auto">
          <a:xfrm rot="5400000">
            <a:off x="6537691" y="260099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34"/>
          <p:cNvSpPr>
            <a:spLocks noChangeShapeType="1"/>
          </p:cNvSpPr>
          <p:nvPr/>
        </p:nvSpPr>
        <p:spPr bwMode="auto">
          <a:xfrm rot="5400000">
            <a:off x="5877804" y="3388364"/>
            <a:ext cx="1319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Rectangle 35"/>
          <p:cNvSpPr>
            <a:spLocks noChangeArrowheads="1"/>
          </p:cNvSpPr>
          <p:nvPr/>
        </p:nvSpPr>
        <p:spPr bwMode="auto">
          <a:xfrm rot="5400000">
            <a:off x="6366242" y="2998104"/>
            <a:ext cx="342900" cy="601846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5" name="Line 36"/>
          <p:cNvSpPr>
            <a:spLocks noChangeShapeType="1"/>
          </p:cNvSpPr>
          <p:nvPr/>
        </p:nvSpPr>
        <p:spPr bwMode="auto">
          <a:xfrm rot="5400000">
            <a:off x="6537691" y="393394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Line 36"/>
          <p:cNvSpPr>
            <a:spLocks noChangeShapeType="1"/>
          </p:cNvSpPr>
          <p:nvPr/>
        </p:nvSpPr>
        <p:spPr bwMode="auto">
          <a:xfrm rot="5400000">
            <a:off x="6544807" y="479880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rot="5400000">
            <a:off x="5830080" y="5641015"/>
            <a:ext cx="142945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Rectangle 35"/>
          <p:cNvSpPr>
            <a:spLocks noChangeArrowheads="1"/>
          </p:cNvSpPr>
          <p:nvPr/>
        </p:nvSpPr>
        <p:spPr bwMode="auto">
          <a:xfrm rot="5400000">
            <a:off x="6384181" y="5217533"/>
            <a:ext cx="283388" cy="728234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R-1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9" name="Line 36"/>
          <p:cNvSpPr>
            <a:spLocks noChangeShapeType="1"/>
          </p:cNvSpPr>
          <p:nvPr/>
        </p:nvSpPr>
        <p:spPr bwMode="auto">
          <a:xfrm rot="5400000">
            <a:off x="6544807" y="6242202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0" name="Group 25"/>
          <p:cNvGrpSpPr>
            <a:grpSpLocks/>
          </p:cNvGrpSpPr>
          <p:nvPr/>
        </p:nvGrpSpPr>
        <p:grpSpPr bwMode="auto">
          <a:xfrm rot="5400000">
            <a:off x="6869724" y="4905771"/>
            <a:ext cx="1447800" cy="1453662"/>
            <a:chOff x="1488" y="3504"/>
            <a:chExt cx="1344" cy="624"/>
          </a:xfrm>
        </p:grpSpPr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1488" y="3504"/>
              <a:ext cx="1344" cy="624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br>
                <a:rPr lang="en-US" sz="1600" b="0" dirty="0" smtClean="0">
                  <a:latin typeface="Courier New" pitchFamily="-96" charset="0"/>
                </a:rPr>
              </a:br>
              <a:r>
                <a:rPr lang="en-US" sz="1600" b="0" dirty="0" smtClean="0">
                  <a:latin typeface="Courier New" pitchFamily="-96" charset="0"/>
                </a:rPr>
                <a:t>•</a:t>
              </a:r>
              <a:endParaRPr lang="en-US" sz="1600" b="0" dirty="0">
                <a:latin typeface="Courier New" pitchFamily="-96" charset="0"/>
              </a:endParaRPr>
            </a:p>
          </p:txBody>
        </p:sp>
        <p:sp>
          <p:nvSpPr>
            <p:cNvPr id="62" name="Rectangle 26"/>
            <p:cNvSpPr>
              <a:spLocks noChangeArrowheads="1"/>
            </p:cNvSpPr>
            <p:nvPr/>
          </p:nvSpPr>
          <p:spPr bwMode="auto">
            <a:xfrm>
              <a:off x="1488" y="3504"/>
              <a:ext cx="269" cy="624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A[R-1][</a:t>
              </a:r>
              <a:r>
                <a:rPr lang="en-US" sz="1600" dirty="0">
                  <a:latin typeface="Courier New" pitchFamily="-96" charset="0"/>
                </a:rPr>
                <a:t>0]</a:t>
              </a:r>
            </a:p>
          </p:txBody>
        </p:sp>
        <p:sp>
          <p:nvSpPr>
            <p:cNvPr id="63" name="Rectangle 27"/>
            <p:cNvSpPr>
              <a:spLocks noChangeArrowheads="1"/>
            </p:cNvSpPr>
            <p:nvPr/>
          </p:nvSpPr>
          <p:spPr bwMode="auto">
            <a:xfrm>
              <a:off x="2563" y="3504"/>
              <a:ext cx="269" cy="624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dirty="0" smtClean="0">
                  <a:latin typeface="Courier New" pitchFamily="-96" charset="0"/>
                </a:rPr>
                <a:t>A[R-1][</a:t>
              </a:r>
              <a:r>
                <a:rPr lang="en-US" sz="1600" dirty="0">
                  <a:latin typeface="Courier New" pitchFamily="-96" charset="0"/>
                </a:rPr>
                <a:t>C-1]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416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3486824" y="1447800"/>
            <a:ext cx="203132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>
                <a:latin typeface="Courier New" pitchFamily="-96" charset="0"/>
              </a:rPr>
              <a:t> </a:t>
            </a:r>
            <a:r>
              <a:rPr lang="en-US" sz="2000" dirty="0" smtClean="0">
                <a:latin typeface="Courier New" pitchFamily="-96" charset="0"/>
              </a:rPr>
              <a:t>A[</a:t>
            </a:r>
            <a:r>
              <a:rPr lang="tr-TR" sz="2000" dirty="0">
                <a:latin typeface="Courier New" pitchFamily="-96" charset="0"/>
              </a:rPr>
              <a:t>4</a:t>
            </a:r>
            <a:r>
              <a:rPr lang="en-US" sz="2000" dirty="0" smtClean="0">
                <a:latin typeface="Courier New" pitchFamily="-96" charset="0"/>
              </a:rPr>
              <a:t>][</a:t>
            </a:r>
            <a:r>
              <a:rPr lang="tr-TR" sz="2000" dirty="0">
                <a:latin typeface="Courier New" pitchFamily="-96" charset="0"/>
              </a:rPr>
              <a:t>3</a:t>
            </a:r>
            <a:r>
              <a:rPr lang="en-US" sz="2000" dirty="0" smtClean="0">
                <a:latin typeface="Courier New" pitchFamily="-96" charset="0"/>
              </a:rPr>
              <a:t>];</a:t>
            </a:r>
            <a:endParaRPr lang="en-US" sz="2000" dirty="0">
              <a:latin typeface="Courier New" pitchFamily="-96" charset="0"/>
            </a:endParaRPr>
          </a:p>
        </p:txBody>
      </p:sp>
      <p:sp>
        <p:nvSpPr>
          <p:cNvPr id="78865" name="Rectangle 24"/>
          <p:cNvSpPr>
            <a:spLocks noChangeArrowheads="1"/>
          </p:cNvSpPr>
          <p:nvPr/>
        </p:nvSpPr>
        <p:spPr bwMode="auto">
          <a:xfrm rot="5400000">
            <a:off x="3990365" y="2508866"/>
            <a:ext cx="860425" cy="1462453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78866" name="Rectangle 22"/>
          <p:cNvSpPr>
            <a:spLocks noChangeArrowheads="1"/>
          </p:cNvSpPr>
          <p:nvPr/>
        </p:nvSpPr>
        <p:spPr bwMode="auto">
          <a:xfrm rot="5400000">
            <a:off x="4276908" y="2222322"/>
            <a:ext cx="287338" cy="146245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66" name="Rectangle 22"/>
          <p:cNvSpPr>
            <a:spLocks noChangeArrowheads="1"/>
          </p:cNvSpPr>
          <p:nvPr/>
        </p:nvSpPr>
        <p:spPr bwMode="auto">
          <a:xfrm rot="5400000">
            <a:off x="4276908" y="2504897"/>
            <a:ext cx="287338" cy="146245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67" name="Rectangle 22"/>
          <p:cNvSpPr>
            <a:spLocks noChangeArrowheads="1"/>
          </p:cNvSpPr>
          <p:nvPr/>
        </p:nvSpPr>
        <p:spPr bwMode="auto">
          <a:xfrm rot="5400000">
            <a:off x="4276910" y="2795409"/>
            <a:ext cx="287338" cy="14624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8861" name="Rectangle 29"/>
          <p:cNvSpPr>
            <a:spLocks noChangeArrowheads="1"/>
          </p:cNvSpPr>
          <p:nvPr/>
        </p:nvSpPr>
        <p:spPr bwMode="auto">
          <a:xfrm rot="5400000">
            <a:off x="3987931" y="3386212"/>
            <a:ext cx="865287" cy="146245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5176348" y="1893048"/>
            <a:ext cx="44883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51" name="Rectangle 35"/>
          <p:cNvSpPr>
            <a:spLocks noChangeArrowheads="1"/>
          </p:cNvSpPr>
          <p:nvPr/>
        </p:nvSpPr>
        <p:spPr bwMode="auto">
          <a:xfrm rot="5400000">
            <a:off x="3195916" y="1770851"/>
            <a:ext cx="342900" cy="601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latin typeface="Courier New" pitchFamily="-96" charset="0"/>
              </a:rPr>
              <a:t>A[0]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4" name="Rectangle 35"/>
          <p:cNvSpPr>
            <a:spLocks noChangeArrowheads="1"/>
          </p:cNvSpPr>
          <p:nvPr/>
        </p:nvSpPr>
        <p:spPr bwMode="auto">
          <a:xfrm rot="5400000">
            <a:off x="3197592" y="2647363"/>
            <a:ext cx="342900" cy="601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8" name="Rectangle 35"/>
          <p:cNvSpPr>
            <a:spLocks noChangeArrowheads="1"/>
          </p:cNvSpPr>
          <p:nvPr/>
        </p:nvSpPr>
        <p:spPr bwMode="auto">
          <a:xfrm rot="5400000">
            <a:off x="3225672" y="3461559"/>
            <a:ext cx="283388" cy="7282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61" name="Rectangle 28"/>
          <p:cNvSpPr>
            <a:spLocks noChangeArrowheads="1"/>
          </p:cNvSpPr>
          <p:nvPr/>
        </p:nvSpPr>
        <p:spPr bwMode="auto">
          <a:xfrm rot="5400000">
            <a:off x="3985602" y="4280493"/>
            <a:ext cx="869949" cy="1462458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 rot="5400000">
            <a:off x="4275765" y="3990328"/>
            <a:ext cx="289624" cy="146245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89" name="Rectangle 26"/>
          <p:cNvSpPr>
            <a:spLocks noChangeArrowheads="1"/>
          </p:cNvSpPr>
          <p:nvPr/>
        </p:nvSpPr>
        <p:spPr bwMode="auto">
          <a:xfrm rot="5400000">
            <a:off x="4276930" y="4285423"/>
            <a:ext cx="289624" cy="146012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90" name="Rectangle 26"/>
          <p:cNvSpPr>
            <a:spLocks noChangeArrowheads="1"/>
          </p:cNvSpPr>
          <p:nvPr/>
        </p:nvSpPr>
        <p:spPr bwMode="auto">
          <a:xfrm rot="5400000">
            <a:off x="4276929" y="4571818"/>
            <a:ext cx="289624" cy="146012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69" name="Rectangle 22"/>
          <p:cNvSpPr>
            <a:spLocks noChangeArrowheads="1"/>
          </p:cNvSpPr>
          <p:nvPr/>
        </p:nvSpPr>
        <p:spPr bwMode="auto">
          <a:xfrm rot="5400000">
            <a:off x="4276906" y="3104031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71" name="Rectangle 20"/>
          <p:cNvSpPr>
            <a:spLocks noChangeArrowheads="1"/>
          </p:cNvSpPr>
          <p:nvPr/>
        </p:nvSpPr>
        <p:spPr bwMode="auto">
          <a:xfrm rot="5400000">
            <a:off x="3989572" y="1633826"/>
            <a:ext cx="862014" cy="1462453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72" name="Rectangle 18"/>
          <p:cNvSpPr>
            <a:spLocks noChangeArrowheads="1"/>
          </p:cNvSpPr>
          <p:nvPr/>
        </p:nvSpPr>
        <p:spPr bwMode="auto">
          <a:xfrm rot="5400000">
            <a:off x="4276910" y="1346488"/>
            <a:ext cx="287338" cy="146245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73" name="Rectangle 18"/>
          <p:cNvSpPr>
            <a:spLocks noChangeArrowheads="1"/>
          </p:cNvSpPr>
          <p:nvPr/>
        </p:nvSpPr>
        <p:spPr bwMode="auto">
          <a:xfrm rot="5400000">
            <a:off x="4276910" y="1638588"/>
            <a:ext cx="287338" cy="146245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4" name="Rectangle 18"/>
          <p:cNvSpPr>
            <a:spLocks noChangeArrowheads="1"/>
          </p:cNvSpPr>
          <p:nvPr/>
        </p:nvSpPr>
        <p:spPr bwMode="auto">
          <a:xfrm rot="5400000">
            <a:off x="4276909" y="1921163"/>
            <a:ext cx="287338" cy="1462455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6" name="Rectangle 22"/>
          <p:cNvSpPr>
            <a:spLocks noChangeArrowheads="1"/>
          </p:cNvSpPr>
          <p:nvPr/>
        </p:nvSpPr>
        <p:spPr bwMode="auto">
          <a:xfrm rot="5400000">
            <a:off x="4276906" y="3394543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 smtClean="0">
                <a:solidFill>
                  <a:srgbClr val="FF0000"/>
                </a:solidFill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7" name="Rectangle 22"/>
          <p:cNvSpPr>
            <a:spLocks noChangeArrowheads="1"/>
          </p:cNvSpPr>
          <p:nvPr/>
        </p:nvSpPr>
        <p:spPr bwMode="auto">
          <a:xfrm rot="5400000">
            <a:off x="4276906" y="3675186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5176348" y="2197970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5176348" y="2489325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+8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1" name="Text Box 25"/>
          <p:cNvSpPr txBox="1">
            <a:spLocks noChangeArrowheads="1"/>
          </p:cNvSpPr>
          <p:nvPr/>
        </p:nvSpPr>
        <p:spPr bwMode="auto">
          <a:xfrm>
            <a:off x="5176348" y="2805352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+12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5176348" y="3096707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+16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3" name="Text Box 25"/>
          <p:cNvSpPr txBox="1">
            <a:spLocks noChangeArrowheads="1"/>
          </p:cNvSpPr>
          <p:nvPr/>
        </p:nvSpPr>
        <p:spPr bwMode="auto">
          <a:xfrm>
            <a:off x="5176348" y="3394083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+20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5176348" y="3685438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+24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5" name="Text Box 25"/>
          <p:cNvSpPr txBox="1">
            <a:spLocks noChangeArrowheads="1"/>
          </p:cNvSpPr>
          <p:nvPr/>
        </p:nvSpPr>
        <p:spPr bwMode="auto">
          <a:xfrm>
            <a:off x="5176348" y="3978927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+28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6" name="Text Box 25"/>
          <p:cNvSpPr txBox="1">
            <a:spLocks noChangeArrowheads="1"/>
          </p:cNvSpPr>
          <p:nvPr/>
        </p:nvSpPr>
        <p:spPr bwMode="auto">
          <a:xfrm>
            <a:off x="5176348" y="4270282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+32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7" name="Text Box 25"/>
          <p:cNvSpPr txBox="1">
            <a:spLocks noChangeArrowheads="1"/>
          </p:cNvSpPr>
          <p:nvPr/>
        </p:nvSpPr>
        <p:spPr bwMode="auto">
          <a:xfrm>
            <a:off x="5184044" y="4567666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+36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8" name="Text Box 25"/>
          <p:cNvSpPr txBox="1">
            <a:spLocks noChangeArrowheads="1"/>
          </p:cNvSpPr>
          <p:nvPr/>
        </p:nvSpPr>
        <p:spPr bwMode="auto">
          <a:xfrm>
            <a:off x="5184044" y="4859021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+40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91" name="Rectangle 35"/>
          <p:cNvSpPr>
            <a:spLocks noChangeArrowheads="1"/>
          </p:cNvSpPr>
          <p:nvPr/>
        </p:nvSpPr>
        <p:spPr bwMode="auto">
          <a:xfrm rot="5400000">
            <a:off x="3225672" y="4349481"/>
            <a:ext cx="283388" cy="7282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92" name="Text Box 25"/>
          <p:cNvSpPr txBox="1">
            <a:spLocks noChangeArrowheads="1"/>
          </p:cNvSpPr>
          <p:nvPr/>
        </p:nvSpPr>
        <p:spPr bwMode="auto">
          <a:xfrm>
            <a:off x="5184044" y="5134652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+44</a:t>
            </a:r>
            <a:endParaRPr lang="en-US" sz="1800" baseline="-25000" dirty="0">
              <a:latin typeface="Courier New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42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7772400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tr-TR" sz="2800" kern="0" dirty="0" smtClean="0">
                <a:latin typeface="Calibri" pitchFamily="-96" charset="0"/>
              </a:rPr>
              <a:t>Dizideki elemanların adresleri</a:t>
            </a:r>
            <a:endParaRPr lang="en-US" sz="2800" kern="0" dirty="0" smtClean="0">
              <a:latin typeface="Calibri" pitchFamily="-96" charset="0"/>
            </a:endParaRPr>
          </a:p>
          <a:p>
            <a:pPr lvl="1">
              <a:buFont typeface="Wingdings" pitchFamily="-96" charset="2"/>
              <a:buNone/>
            </a:pPr>
            <a:r>
              <a:rPr lang="en-US" sz="2400" i="1" kern="0" dirty="0" smtClean="0">
                <a:latin typeface="Calibri" pitchFamily="-96" charset="0"/>
              </a:rPr>
              <a:t>T</a:t>
            </a:r>
            <a:r>
              <a:rPr lang="en-US" sz="2400" kern="0" dirty="0" smtClean="0">
                <a:latin typeface="Calibri" pitchFamily="-96" charset="0"/>
              </a:rPr>
              <a:t>   </a:t>
            </a:r>
            <a:r>
              <a:rPr lang="en-US" sz="2400" kern="0" dirty="0" smtClean="0">
                <a:latin typeface="Courier New" pitchFamily="-96" charset="0"/>
              </a:rPr>
              <a:t>D[</a:t>
            </a:r>
            <a:r>
              <a:rPr lang="en-US" sz="2400" i="1" kern="0" dirty="0" smtClean="0">
                <a:latin typeface="Calibri" pitchFamily="-96" charset="0"/>
              </a:rPr>
              <a:t>R</a:t>
            </a:r>
            <a:r>
              <a:rPr lang="en-US" sz="2400" kern="0" dirty="0" smtClean="0">
                <a:latin typeface="Courier New" pitchFamily="-96" charset="0"/>
              </a:rPr>
              <a:t>][</a:t>
            </a:r>
            <a:r>
              <a:rPr lang="en-US" sz="2400" i="1" kern="0" dirty="0" smtClean="0">
                <a:latin typeface="Calibri" pitchFamily="-96" charset="0"/>
              </a:rPr>
              <a:t>C</a:t>
            </a:r>
            <a:r>
              <a:rPr lang="en-US" sz="2400" kern="0" dirty="0" smtClean="0">
                <a:latin typeface="Courier New" pitchFamily="-96" charset="0"/>
              </a:rPr>
              <a:t>]</a:t>
            </a:r>
            <a:r>
              <a:rPr lang="en-US" sz="2400" b="0" kern="0" dirty="0" smtClean="0">
                <a:latin typeface="Courier New" pitchFamily="-96" charset="0"/>
              </a:rPr>
              <a:t>;</a:t>
            </a:r>
            <a:endParaRPr lang="en-US" sz="2400" b="0" kern="0" dirty="0" smtClean="0">
              <a:latin typeface="Calibri" pitchFamily="-96" charset="0"/>
            </a:endParaRPr>
          </a:p>
          <a:p>
            <a:pPr lvl="1"/>
            <a:r>
              <a:rPr lang="tr-TR" sz="2400" b="0" i="1" kern="0" dirty="0" smtClean="0">
                <a:latin typeface="Calibri" pitchFamily="-96" charset="0"/>
              </a:rPr>
              <a:t>T</a:t>
            </a:r>
            <a:r>
              <a:rPr lang="tr-TR" sz="2400" b="0" kern="0" dirty="0" smtClean="0">
                <a:latin typeface="Calibri" pitchFamily="-96" charset="0"/>
              </a:rPr>
              <a:t> veri tipinde </a:t>
            </a:r>
            <a:r>
              <a:rPr lang="en-US" sz="2400" b="0" kern="0" dirty="0" smtClean="0">
                <a:latin typeface="Calibri" pitchFamily="-96" charset="0"/>
              </a:rPr>
              <a:t>2</a:t>
            </a:r>
            <a:r>
              <a:rPr lang="tr-TR" sz="2400" b="0" kern="0" dirty="0" smtClean="0">
                <a:latin typeface="Calibri" pitchFamily="-96" charset="0"/>
              </a:rPr>
              <a:t>-boyutlu </a:t>
            </a:r>
            <a:r>
              <a:rPr lang="en-US" sz="2400" b="0" kern="0" dirty="0" smtClean="0">
                <a:latin typeface="Calibri" pitchFamily="-96" charset="0"/>
              </a:rPr>
              <a:t>D </a:t>
            </a:r>
            <a:r>
              <a:rPr lang="tr-TR" sz="2400" b="0" kern="0" dirty="0" smtClean="0">
                <a:latin typeface="Calibri" pitchFamily="-96" charset="0"/>
              </a:rPr>
              <a:t>dizi</a:t>
            </a:r>
            <a:r>
              <a:rPr lang="en-US" sz="2400" b="0" kern="0" dirty="0" err="1" smtClean="0">
                <a:latin typeface="Calibri" pitchFamily="-96" charset="0"/>
              </a:rPr>
              <a:t>si</a:t>
            </a:r>
            <a:r>
              <a:rPr lang="tr-TR" sz="2400" b="0" kern="0" dirty="0" smtClean="0">
                <a:latin typeface="Calibri" pitchFamily="-96" charset="0"/>
              </a:rPr>
              <a:t> için</a:t>
            </a:r>
            <a:endParaRPr lang="en-US" sz="2400" b="0" kern="0" dirty="0" smtClean="0">
              <a:latin typeface="Calibri" pitchFamily="-96" charset="0"/>
            </a:endParaRPr>
          </a:p>
          <a:p>
            <a:pPr lvl="1"/>
            <a:r>
              <a:rPr lang="tr-TR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D[i][j] </a:t>
            </a:r>
            <a:r>
              <a:rPr lang="tr-TR" sz="2400" b="0" kern="0" dirty="0" smtClean="0">
                <a:latin typeface="Calibri" pitchFamily="-96" charset="0"/>
              </a:rPr>
              <a:t>elemanının adresi:</a:t>
            </a:r>
            <a:endParaRPr lang="tr-TR" sz="2400" b="0" kern="0" dirty="0">
              <a:latin typeface="Calibri" pitchFamily="-96" charset="0"/>
            </a:endParaRPr>
          </a:p>
          <a:p>
            <a:pPr marL="457200" lvl="1" indent="0">
              <a:buNone/>
            </a:pPr>
            <a:r>
              <a:rPr lang="tr-TR" sz="2400" b="0" i="1" kern="0" dirty="0" smtClean="0">
                <a:latin typeface="Calibri" pitchFamily="-96" charset="0"/>
              </a:rPr>
              <a:t>	&amp;</a:t>
            </a:r>
            <a:r>
              <a:rPr lang="tr-TR" sz="2400" b="0" kern="0" dirty="0" smtClean="0">
                <a:cs typeface="Courier New" panose="02070309020205020404" pitchFamily="49" charset="0"/>
              </a:rPr>
              <a:t>D</a:t>
            </a:r>
            <a:r>
              <a:rPr lang="tr-TR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tr-TR" sz="2400" b="0" kern="0" dirty="0" smtClean="0">
                <a:cs typeface="Courier New" panose="02070309020205020404" pitchFamily="49" charset="0"/>
              </a:rPr>
              <a:t>i</a:t>
            </a:r>
            <a:r>
              <a:rPr lang="tr-TR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tr-TR" sz="2400" b="0" kern="0" dirty="0">
                <a:cs typeface="Courier New" panose="02070309020205020404" pitchFamily="49" charset="0"/>
              </a:rPr>
              <a:t>j</a:t>
            </a:r>
            <a:r>
              <a:rPr lang="tr-TR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400" b="0" kern="0" dirty="0" smtClean="0">
                <a:cs typeface="Courier New" panose="02070309020205020404" pitchFamily="49" charset="0"/>
              </a:rPr>
              <a:t>= </a:t>
            </a:r>
            <a:r>
              <a:rPr lang="en-US" sz="2400" b="0" kern="0" dirty="0" err="1" smtClean="0">
                <a:cs typeface="Courier New" panose="02070309020205020404" pitchFamily="49" charset="0"/>
              </a:rPr>
              <a:t>x</a:t>
            </a:r>
            <a:r>
              <a:rPr lang="en-US" sz="2400" b="0" kern="0" baseline="-25000" dirty="0" err="1" smtClean="0">
                <a:cs typeface="Courier New" panose="02070309020205020404" pitchFamily="49" charset="0"/>
              </a:rPr>
              <a:t>D</a:t>
            </a:r>
            <a:r>
              <a:rPr lang="en-US" sz="2400" b="0" kern="0" dirty="0" err="1" smtClean="0">
                <a:cs typeface="Courier New" panose="02070309020205020404" pitchFamily="49" charset="0"/>
              </a:rPr>
              <a:t>+</a:t>
            </a:r>
            <a:r>
              <a:rPr lang="en-US" sz="2400" b="0" i="1" kern="0" dirty="0" err="1" smtClean="0">
                <a:cs typeface="Courier New" panose="02070309020205020404" pitchFamily="49" charset="0"/>
              </a:rPr>
              <a:t>L</a:t>
            </a:r>
            <a:r>
              <a:rPr lang="en-US" sz="2400" b="0" kern="0" dirty="0" smtClean="0">
                <a:cs typeface="Courier New" panose="02070309020205020404" pitchFamily="49" charset="0"/>
              </a:rPr>
              <a:t>(</a:t>
            </a:r>
            <a:r>
              <a:rPr lang="en-US" sz="2400" b="0" i="1" kern="0" dirty="0" err="1" smtClean="0">
                <a:cs typeface="Courier New" panose="02070309020205020404" pitchFamily="49" charset="0"/>
              </a:rPr>
              <a:t>C∙</a:t>
            </a:r>
            <a:r>
              <a:rPr lang="en-US" sz="2400" b="0" kern="0" dirty="0" err="1" smtClean="0">
                <a:cs typeface="Courier New" panose="02070309020205020404" pitchFamily="49" charset="0"/>
              </a:rPr>
              <a:t>i+j</a:t>
            </a:r>
            <a:r>
              <a:rPr lang="en-US" sz="2400" b="0" kern="0" dirty="0" smtClean="0">
                <a:cs typeface="Courier New" panose="02070309020205020404" pitchFamily="49" charset="0"/>
              </a:rPr>
              <a:t>)</a:t>
            </a:r>
            <a:r>
              <a:rPr lang="tr-TR" sz="2400" b="0" kern="0" dirty="0" smtClean="0">
                <a:cs typeface="Courier New" panose="02070309020205020404" pitchFamily="49" charset="0"/>
              </a:rPr>
              <a:t> </a:t>
            </a:r>
            <a:endParaRPr lang="en-US" sz="2400" b="0" kern="0" dirty="0" smtClean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tr-TR" sz="2400" b="0" i="1" kern="0" dirty="0" smtClean="0">
                <a:latin typeface="Calibri" pitchFamily="-96" charset="0"/>
              </a:rPr>
              <a:t>	</a:t>
            </a:r>
            <a:r>
              <a:rPr lang="en-US" sz="2400" b="0" i="1" kern="0" dirty="0" smtClean="0">
                <a:latin typeface="Calibri" pitchFamily="-96" charset="0"/>
              </a:rPr>
              <a:t>L</a:t>
            </a:r>
            <a:r>
              <a:rPr lang="en-US" sz="2400" b="0" kern="0" dirty="0" smtClean="0">
                <a:latin typeface="Calibri" pitchFamily="-96" charset="0"/>
              </a:rPr>
              <a:t> </a:t>
            </a:r>
            <a:r>
              <a:rPr lang="tr-TR" sz="2400" b="0" kern="0" dirty="0" smtClean="0">
                <a:latin typeface="Calibri" pitchFamily="-96" charset="0"/>
              </a:rPr>
              <a:t>: </a:t>
            </a:r>
            <a:r>
              <a:rPr lang="en-US" sz="2400" b="0" kern="0" dirty="0" err="1" smtClean="0">
                <a:latin typeface="Calibri" pitchFamily="-96" charset="0"/>
              </a:rPr>
              <a:t>ilgili</a:t>
            </a:r>
            <a:r>
              <a:rPr lang="en-US" sz="2400" b="0" kern="0" dirty="0" smtClean="0">
                <a:latin typeface="Calibri" pitchFamily="-96" charset="0"/>
              </a:rPr>
              <a:t> </a:t>
            </a:r>
            <a:r>
              <a:rPr lang="tr-TR" sz="2400" b="0" kern="0" dirty="0" smtClean="0">
                <a:latin typeface="Calibri" pitchFamily="-96" charset="0"/>
              </a:rPr>
              <a:t>veri tipin</a:t>
            </a:r>
            <a:r>
              <a:rPr lang="en-US" sz="2400" b="0" kern="0" dirty="0" smtClean="0">
                <a:latin typeface="Calibri" pitchFamily="-96" charset="0"/>
              </a:rPr>
              <a:t>in </a:t>
            </a:r>
            <a:r>
              <a:rPr lang="en-US" sz="2400" b="0" kern="0" dirty="0" err="1" smtClean="0">
                <a:latin typeface="Calibri" pitchFamily="-96" charset="0"/>
              </a:rPr>
              <a:t>ka</a:t>
            </a:r>
            <a:r>
              <a:rPr lang="tr-TR" sz="2400" b="0" kern="0" dirty="0" smtClean="0">
                <a:latin typeface="Calibri" pitchFamily="-96" charset="0"/>
              </a:rPr>
              <a:t>ç </a:t>
            </a:r>
            <a:r>
              <a:rPr lang="tr-TR" sz="2400" b="0" kern="0" dirty="0" err="1" smtClean="0">
                <a:latin typeface="Calibri" pitchFamily="-96" charset="0"/>
              </a:rPr>
              <a:t>byte</a:t>
            </a:r>
            <a:r>
              <a:rPr lang="tr-TR" sz="2400" b="0" kern="0" dirty="0" smtClean="0">
                <a:latin typeface="Calibri" pitchFamily="-96" charset="0"/>
              </a:rPr>
              <a:t> olduğu</a:t>
            </a:r>
            <a:br>
              <a:rPr lang="tr-TR" sz="2400" b="0" kern="0" dirty="0" smtClean="0">
                <a:latin typeface="Calibri" pitchFamily="-96" charset="0"/>
              </a:rPr>
            </a:br>
            <a:r>
              <a:rPr lang="tr-TR" sz="2400" b="0" kern="0" dirty="0" smtClean="0">
                <a:latin typeface="Calibri" pitchFamily="-96" charset="0"/>
              </a:rPr>
              <a:t>	</a:t>
            </a:r>
            <a:r>
              <a:rPr lang="tr-TR" sz="2400" b="0" i="1" kern="0" dirty="0" smtClean="0">
                <a:latin typeface="Calibri" pitchFamily="-96" charset="0"/>
              </a:rPr>
              <a:t>C</a:t>
            </a:r>
            <a:r>
              <a:rPr lang="en-US" sz="2400" b="0" kern="0" dirty="0" smtClean="0">
                <a:latin typeface="Calibri" pitchFamily="-96" charset="0"/>
              </a:rPr>
              <a:t> </a:t>
            </a:r>
            <a:r>
              <a:rPr lang="tr-TR" sz="2400" b="0" kern="0" dirty="0" smtClean="0">
                <a:latin typeface="Calibri" pitchFamily="-96" charset="0"/>
              </a:rPr>
              <a:t>: dizinin sütun sayısı</a:t>
            </a:r>
            <a:endParaRPr lang="en-US" sz="2400" b="0" kern="0" dirty="0" smtClean="0">
              <a:latin typeface="Calibri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6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3486824" y="990600"/>
            <a:ext cx="203132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>
                <a:latin typeface="Courier New" pitchFamily="-96" charset="0"/>
              </a:rPr>
              <a:t> </a:t>
            </a:r>
            <a:r>
              <a:rPr lang="en-US" sz="2000" dirty="0" smtClean="0">
                <a:latin typeface="Courier New" pitchFamily="-96" charset="0"/>
              </a:rPr>
              <a:t>A[</a:t>
            </a:r>
            <a:r>
              <a:rPr lang="tr-TR" sz="2000" dirty="0">
                <a:latin typeface="Courier New" pitchFamily="-96" charset="0"/>
              </a:rPr>
              <a:t>4</a:t>
            </a:r>
            <a:r>
              <a:rPr lang="en-US" sz="2000" dirty="0" smtClean="0">
                <a:latin typeface="Courier New" pitchFamily="-96" charset="0"/>
              </a:rPr>
              <a:t>][</a:t>
            </a:r>
            <a:r>
              <a:rPr lang="tr-TR" sz="2000" dirty="0">
                <a:latin typeface="Courier New" pitchFamily="-96" charset="0"/>
              </a:rPr>
              <a:t>3</a:t>
            </a:r>
            <a:r>
              <a:rPr lang="en-US" sz="2000" dirty="0" smtClean="0">
                <a:latin typeface="Courier New" pitchFamily="-96" charset="0"/>
              </a:rPr>
              <a:t>];</a:t>
            </a:r>
            <a:endParaRPr lang="en-US" sz="2000" dirty="0">
              <a:latin typeface="Courier New" pitchFamily="-96" charset="0"/>
            </a:endParaRPr>
          </a:p>
        </p:txBody>
      </p:sp>
      <p:sp>
        <p:nvSpPr>
          <p:cNvPr id="78865" name="Rectangle 24"/>
          <p:cNvSpPr>
            <a:spLocks noChangeArrowheads="1"/>
          </p:cNvSpPr>
          <p:nvPr/>
        </p:nvSpPr>
        <p:spPr bwMode="auto">
          <a:xfrm rot="5400000">
            <a:off x="3990365" y="1911218"/>
            <a:ext cx="860425" cy="1462453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78866" name="Rectangle 22"/>
          <p:cNvSpPr>
            <a:spLocks noChangeArrowheads="1"/>
          </p:cNvSpPr>
          <p:nvPr/>
        </p:nvSpPr>
        <p:spPr bwMode="auto">
          <a:xfrm rot="5400000">
            <a:off x="4276908" y="1624674"/>
            <a:ext cx="287338" cy="146245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66" name="Rectangle 22"/>
          <p:cNvSpPr>
            <a:spLocks noChangeArrowheads="1"/>
          </p:cNvSpPr>
          <p:nvPr/>
        </p:nvSpPr>
        <p:spPr bwMode="auto">
          <a:xfrm rot="5400000">
            <a:off x="4276908" y="1907249"/>
            <a:ext cx="287338" cy="146245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67" name="Rectangle 22"/>
          <p:cNvSpPr>
            <a:spLocks noChangeArrowheads="1"/>
          </p:cNvSpPr>
          <p:nvPr/>
        </p:nvSpPr>
        <p:spPr bwMode="auto">
          <a:xfrm rot="5400000">
            <a:off x="4276910" y="2197761"/>
            <a:ext cx="287338" cy="14624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A[1][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8861" name="Rectangle 29"/>
          <p:cNvSpPr>
            <a:spLocks noChangeArrowheads="1"/>
          </p:cNvSpPr>
          <p:nvPr/>
        </p:nvSpPr>
        <p:spPr bwMode="auto">
          <a:xfrm rot="5400000">
            <a:off x="3987931" y="2788564"/>
            <a:ext cx="865287" cy="146245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5176348" y="1295400"/>
            <a:ext cx="44883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51" name="Rectangle 35"/>
          <p:cNvSpPr>
            <a:spLocks noChangeArrowheads="1"/>
          </p:cNvSpPr>
          <p:nvPr/>
        </p:nvSpPr>
        <p:spPr bwMode="auto">
          <a:xfrm rot="5400000">
            <a:off x="3195916" y="1173203"/>
            <a:ext cx="342900" cy="601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latin typeface="Courier New" pitchFamily="-96" charset="0"/>
              </a:rPr>
              <a:t>A[0]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4" name="Rectangle 35"/>
          <p:cNvSpPr>
            <a:spLocks noChangeArrowheads="1"/>
          </p:cNvSpPr>
          <p:nvPr/>
        </p:nvSpPr>
        <p:spPr bwMode="auto">
          <a:xfrm rot="5400000">
            <a:off x="3197592" y="2049715"/>
            <a:ext cx="342900" cy="60184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58" name="Rectangle 35"/>
          <p:cNvSpPr>
            <a:spLocks noChangeArrowheads="1"/>
          </p:cNvSpPr>
          <p:nvPr/>
        </p:nvSpPr>
        <p:spPr bwMode="auto">
          <a:xfrm rot="5400000">
            <a:off x="3225672" y="2863911"/>
            <a:ext cx="283388" cy="7282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61" name="Rectangle 28"/>
          <p:cNvSpPr>
            <a:spLocks noChangeArrowheads="1"/>
          </p:cNvSpPr>
          <p:nvPr/>
        </p:nvSpPr>
        <p:spPr bwMode="auto">
          <a:xfrm rot="5400000">
            <a:off x="3985602" y="3682845"/>
            <a:ext cx="869949" cy="1462458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 rot="5400000">
            <a:off x="4275765" y="3392680"/>
            <a:ext cx="289624" cy="146245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89" name="Rectangle 26"/>
          <p:cNvSpPr>
            <a:spLocks noChangeArrowheads="1"/>
          </p:cNvSpPr>
          <p:nvPr/>
        </p:nvSpPr>
        <p:spPr bwMode="auto">
          <a:xfrm rot="5400000">
            <a:off x="4276930" y="3687775"/>
            <a:ext cx="289624" cy="146012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90" name="Rectangle 26"/>
          <p:cNvSpPr>
            <a:spLocks noChangeArrowheads="1"/>
          </p:cNvSpPr>
          <p:nvPr/>
        </p:nvSpPr>
        <p:spPr bwMode="auto">
          <a:xfrm rot="5400000">
            <a:off x="4276929" y="3974170"/>
            <a:ext cx="289624" cy="1460128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69" name="Rectangle 22"/>
          <p:cNvSpPr>
            <a:spLocks noChangeArrowheads="1"/>
          </p:cNvSpPr>
          <p:nvPr/>
        </p:nvSpPr>
        <p:spPr bwMode="auto">
          <a:xfrm rot="5400000">
            <a:off x="4276906" y="2506383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71" name="Rectangle 20"/>
          <p:cNvSpPr>
            <a:spLocks noChangeArrowheads="1"/>
          </p:cNvSpPr>
          <p:nvPr/>
        </p:nvSpPr>
        <p:spPr bwMode="auto">
          <a:xfrm rot="5400000">
            <a:off x="3989572" y="1036178"/>
            <a:ext cx="862014" cy="1462453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n-US" sz="1600" b="0" dirty="0">
              <a:latin typeface="Courier New" pitchFamily="-96" charset="0"/>
            </a:endParaRPr>
          </a:p>
        </p:txBody>
      </p:sp>
      <p:sp>
        <p:nvSpPr>
          <p:cNvPr id="72" name="Rectangle 18"/>
          <p:cNvSpPr>
            <a:spLocks noChangeArrowheads="1"/>
          </p:cNvSpPr>
          <p:nvPr/>
        </p:nvSpPr>
        <p:spPr bwMode="auto">
          <a:xfrm rot="5400000">
            <a:off x="4276910" y="748840"/>
            <a:ext cx="287338" cy="146245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en-US" sz="1600" dirty="0">
                <a:latin typeface="Courier New" pitchFamily="-96" charset="0"/>
              </a:rPr>
              <a:t>0]</a:t>
            </a:r>
          </a:p>
        </p:txBody>
      </p:sp>
      <p:sp>
        <p:nvSpPr>
          <p:cNvPr id="73" name="Rectangle 18"/>
          <p:cNvSpPr>
            <a:spLocks noChangeArrowheads="1"/>
          </p:cNvSpPr>
          <p:nvPr/>
        </p:nvSpPr>
        <p:spPr bwMode="auto">
          <a:xfrm rot="5400000">
            <a:off x="4276910" y="1040940"/>
            <a:ext cx="287338" cy="146245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tr-TR" sz="1600" dirty="0"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4" name="Rectangle 18"/>
          <p:cNvSpPr>
            <a:spLocks noChangeArrowheads="1"/>
          </p:cNvSpPr>
          <p:nvPr/>
        </p:nvSpPr>
        <p:spPr bwMode="auto">
          <a:xfrm rot="5400000">
            <a:off x="4276909" y="1323515"/>
            <a:ext cx="287338" cy="1462455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A[0][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6" name="Rectangle 22"/>
          <p:cNvSpPr>
            <a:spLocks noChangeArrowheads="1"/>
          </p:cNvSpPr>
          <p:nvPr/>
        </p:nvSpPr>
        <p:spPr bwMode="auto">
          <a:xfrm rot="5400000">
            <a:off x="4276906" y="2796895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en-US" sz="1600" dirty="0" smtClean="0">
                <a:solidFill>
                  <a:srgbClr val="FF0000"/>
                </a:solidFill>
                <a:latin typeface="Courier New" pitchFamily="-96" charset="0"/>
              </a:rPr>
              <a:t>1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7" name="Rectangle 22"/>
          <p:cNvSpPr>
            <a:spLocks noChangeArrowheads="1"/>
          </p:cNvSpPr>
          <p:nvPr/>
        </p:nvSpPr>
        <p:spPr bwMode="auto">
          <a:xfrm rot="5400000">
            <a:off x="4276906" y="3077538"/>
            <a:ext cx="287338" cy="1462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][</a:t>
            </a:r>
            <a:r>
              <a:rPr lang="tr-TR" sz="1600" dirty="0">
                <a:latin typeface="Courier New" pitchFamily="-96" charset="0"/>
              </a:rPr>
              <a:t>2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dirty="0">
              <a:latin typeface="Courier New" pitchFamily="-96" charset="0"/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5176348" y="1600322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0" name="Text Box 25"/>
          <p:cNvSpPr txBox="1">
            <a:spLocks noChangeArrowheads="1"/>
          </p:cNvSpPr>
          <p:nvPr/>
        </p:nvSpPr>
        <p:spPr bwMode="auto">
          <a:xfrm>
            <a:off x="5176348" y="1891677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+8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1" name="Text Box 25"/>
          <p:cNvSpPr txBox="1">
            <a:spLocks noChangeArrowheads="1"/>
          </p:cNvSpPr>
          <p:nvPr/>
        </p:nvSpPr>
        <p:spPr bwMode="auto">
          <a:xfrm>
            <a:off x="5176348" y="2207704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+12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5176348" y="2499059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+16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3" name="Text Box 25"/>
          <p:cNvSpPr txBox="1">
            <a:spLocks noChangeArrowheads="1"/>
          </p:cNvSpPr>
          <p:nvPr/>
        </p:nvSpPr>
        <p:spPr bwMode="auto">
          <a:xfrm>
            <a:off x="5176348" y="2796435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+20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5176348" y="3087790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+24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5" name="Text Box 25"/>
          <p:cNvSpPr txBox="1">
            <a:spLocks noChangeArrowheads="1"/>
          </p:cNvSpPr>
          <p:nvPr/>
        </p:nvSpPr>
        <p:spPr bwMode="auto">
          <a:xfrm>
            <a:off x="5176348" y="3381279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+28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6" name="Text Box 25"/>
          <p:cNvSpPr txBox="1">
            <a:spLocks noChangeArrowheads="1"/>
          </p:cNvSpPr>
          <p:nvPr/>
        </p:nvSpPr>
        <p:spPr bwMode="auto">
          <a:xfrm>
            <a:off x="5176348" y="3672634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+32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7" name="Text Box 25"/>
          <p:cNvSpPr txBox="1">
            <a:spLocks noChangeArrowheads="1"/>
          </p:cNvSpPr>
          <p:nvPr/>
        </p:nvSpPr>
        <p:spPr bwMode="auto">
          <a:xfrm>
            <a:off x="5184044" y="3970018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+36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88" name="Text Box 25"/>
          <p:cNvSpPr txBox="1">
            <a:spLocks noChangeArrowheads="1"/>
          </p:cNvSpPr>
          <p:nvPr/>
        </p:nvSpPr>
        <p:spPr bwMode="auto">
          <a:xfrm>
            <a:off x="5184044" y="4261373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+40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91" name="Rectangle 35"/>
          <p:cNvSpPr>
            <a:spLocks noChangeArrowheads="1"/>
          </p:cNvSpPr>
          <p:nvPr/>
        </p:nvSpPr>
        <p:spPr bwMode="auto">
          <a:xfrm rot="5400000">
            <a:off x="3225672" y="3751833"/>
            <a:ext cx="283388" cy="7282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vert270"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latin typeface="Courier New" pitchFamily="-96" charset="0"/>
              </a:rPr>
              <a:t>A[</a:t>
            </a:r>
            <a:r>
              <a:rPr lang="tr-TR" sz="1600" dirty="0" smtClean="0">
                <a:latin typeface="Courier New" pitchFamily="-96" charset="0"/>
              </a:rPr>
              <a:t>3</a:t>
            </a:r>
            <a:r>
              <a:rPr lang="en-US" sz="1600" dirty="0" smtClean="0">
                <a:latin typeface="Courier New" pitchFamily="-96" charset="0"/>
              </a:rPr>
              <a:t>]</a:t>
            </a:r>
            <a:endParaRPr lang="en-US" sz="1600" b="0" dirty="0">
              <a:latin typeface="Calibri" pitchFamily="-96" charset="0"/>
            </a:endParaRPr>
          </a:p>
        </p:txBody>
      </p:sp>
      <p:sp>
        <p:nvSpPr>
          <p:cNvPr id="92" name="Text Box 25"/>
          <p:cNvSpPr txBox="1">
            <a:spLocks noChangeArrowheads="1"/>
          </p:cNvSpPr>
          <p:nvPr/>
        </p:nvSpPr>
        <p:spPr bwMode="auto">
          <a:xfrm>
            <a:off x="5184044" y="4537004"/>
            <a:ext cx="114825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tr-TR" sz="1800" dirty="0" smtClean="0">
                <a:latin typeface="Courier New" pitchFamily="-96" charset="0"/>
              </a:rPr>
              <a:t>x</a:t>
            </a:r>
            <a:r>
              <a:rPr lang="en-US" sz="1800" baseline="-25000" dirty="0" smtClean="0">
                <a:latin typeface="Courier New" pitchFamily="-96" charset="0"/>
              </a:rPr>
              <a:t>A</a:t>
            </a:r>
            <a:r>
              <a:rPr lang="tr-TR" sz="1800" dirty="0" smtClean="0">
                <a:latin typeface="Courier New" pitchFamily="-96" charset="0"/>
              </a:rPr>
              <a:t>+44</a:t>
            </a:r>
            <a:endParaRPr lang="en-US" sz="1800" baseline="-25000" dirty="0">
              <a:latin typeface="Courier New" pitchFamily="-96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401515" y="4943883"/>
            <a:ext cx="7772400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kern="0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</a:p>
          <a:p>
            <a:pPr marL="0" indent="0">
              <a:buNone/>
            </a:pP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%rsi,%rsi,2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%</a:t>
            </a:r>
            <a:r>
              <a:rPr lang="en-US" sz="1600" kern="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rax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3i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(%rdi,%rax,4),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%</a:t>
            </a:r>
            <a:r>
              <a:rPr lang="en-US" sz="1600" kern="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rax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+12i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(%rax,%rdx,4),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M[x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+12i+4j]</a:t>
            </a:r>
          </a:p>
          <a:p>
            <a:pPr marL="0" indent="0">
              <a:buNone/>
            </a:pPr>
            <a:endParaRPr lang="en-US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+12i+4 = 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+4(3i+j)</a:t>
            </a:r>
          </a:p>
        </p:txBody>
      </p:sp>
    </p:spTree>
    <p:extLst>
      <p:ext uri="{BB962C8B-B14F-4D97-AF65-F5344CB8AC3E}">
        <p14:creationId xmlns:p14="http://schemas.microsoft.com/office/powerpoint/2010/main" val="42796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78068" y="1066800"/>
            <a:ext cx="8765932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Soru:</a:t>
            </a:r>
            <a:b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#define M …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#define N …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long P[M][N];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long Q[N][M];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topla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(long 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long j){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P[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][j]+Q[j][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Kaynak</a:t>
            </a:r>
            <a:r>
              <a:rPr lang="en-US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en-US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kodu</a:t>
            </a:r>
            <a:r>
              <a:rPr lang="en-US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en-US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ile</a:t>
            </a:r>
            <a:r>
              <a:rPr lang="en-US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en-US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verilen</a:t>
            </a:r>
            <a:r>
              <a:rPr lang="en-US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en-US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kod</a:t>
            </a:r>
            <a:r>
              <a:rPr lang="en-US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par</a:t>
            </a:r>
            <a:r>
              <a:rPr lang="tr-TR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çası</a:t>
            </a: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uygun diğer fonksiyonlar eklenerek derlendiğinde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topla</a:t>
            </a: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fonksiyonu için aşağıdaki </a:t>
            </a:r>
            <a:r>
              <a:rPr lang="tr-TR" sz="1600" b="0" kern="0" dirty="0" err="1" smtClean="0">
                <a:latin typeface="Century Gothic" panose="020B0502020202020204" pitchFamily="34" charset="0"/>
                <a:cs typeface="Courier New" panose="02070309020205020404" pitchFamily="49" charset="0"/>
              </a:rPr>
              <a:t>assembly</a:t>
            </a: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kodu elde ediliyorsa M ve N’nin değeri nedir?</a:t>
            </a:r>
            <a:endParaRPr lang="en-US" sz="1600" b="0" kern="0" dirty="0" smtClean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=i,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topla: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0(,%rdi,8),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subq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(%rsi,%rsi,4),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Q(,%rdi,8),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P(,%rdx,8), 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ret</a:t>
            </a:r>
            <a:endParaRPr lang="en-US" sz="16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90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Çok boyutlu</a:t>
            </a:r>
            <a:r>
              <a:rPr lang="en-US" dirty="0" smtClean="0">
                <a:latin typeface="Calibri" pitchFamily="-96" charset="0"/>
              </a:rPr>
              <a:t> (Nested) </a:t>
            </a:r>
            <a:r>
              <a:rPr lang="tr-TR" dirty="0" smtClean="0">
                <a:latin typeface="Calibri" pitchFamily="-96" charset="0"/>
              </a:rPr>
              <a:t>diziler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78068" y="1066800"/>
            <a:ext cx="8765932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Cevap:</a:t>
            </a:r>
            <a:b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=i,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=j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topla: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0(,%rdi,8),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8i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subq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7i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7i+j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(%rsi,%rsi,4),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5j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5j+i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Q(,%rdi,8),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M[x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+8(5j+i)]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5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Q 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dizisinin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			#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ütun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sayısı olan M’ye eşittir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addq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P(,%rdx,8), %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%r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+= M[x</a:t>
            </a:r>
            <a:r>
              <a:rPr lang="en-US" sz="1600" kern="0" baseline="-25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+8(7i+j)]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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7,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kern="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dizisinin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			# 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ütun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sayısı olan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N’ye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eşittir</a:t>
            </a: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ret</a:t>
            </a:r>
          </a:p>
          <a:p>
            <a:pPr marL="0" indent="0">
              <a:buNone/>
            </a:pPr>
            <a:endParaRPr lang="tr-TR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Böylece M = 5 ve N = 7’dir.</a:t>
            </a:r>
            <a:endParaRPr lang="en-US" sz="1600" kern="0" dirty="0" smtClean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6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Önbellek performans iyileştirme: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78068" y="1066800"/>
            <a:ext cx="8765932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Soru:</a:t>
            </a:r>
            <a:b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Aşağıdaki fonksiyon önbelleği etkin kullanmakta mıdır? </a:t>
            </a: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a</a:t>
            </a: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 dizisinin elemanlarına </a:t>
            </a:r>
            <a:b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r>
              <a:rPr lang="tr-TR" sz="1600" b="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1-adımlık hafıza erişimleri ile erişebilmesi için gerekli değişikliği yapınız.</a:t>
            </a:r>
            <a:endParaRPr lang="en-US" sz="1600" b="0" kern="0" dirty="0" smtClean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a[M][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][T])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i, j, k,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(i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T-1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i</a:t>
            </a:r>
            <a:r>
              <a:rPr lang="en-US" sz="1600" kern="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(j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j</a:t>
            </a:r>
            <a:r>
              <a:rPr lang="en-US" sz="1600" kern="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(k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k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k</a:t>
            </a:r>
            <a:r>
              <a:rPr lang="en-US" sz="1600" kern="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a[j][k][i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66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tr-TR" dirty="0" smtClean="0">
                <a:latin typeface="Calibri" pitchFamily="-96" charset="0"/>
              </a:rPr>
              <a:t>Önbellek performans iyileştirme:</a:t>
            </a:r>
            <a:endParaRPr lang="en-US" dirty="0" smtClean="0">
              <a:latin typeface="Calibri" pitchFamily="-96" charset="0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378068" y="1066800"/>
            <a:ext cx="8765932" cy="336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Cevap:</a:t>
            </a:r>
            <a:br>
              <a:rPr lang="tr-TR" sz="1600" kern="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a[M][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][T])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i, j, k,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(j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0;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M-1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j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(k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k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k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(i 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T-1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i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tr-TR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*= 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a[j][k][i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carpim</a:t>
            </a: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tr-TR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4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van 1">
            <a:extLst>
              <a:ext uri="{FF2B5EF4-FFF2-40B4-BE49-F238E27FC236}">
                <a16:creationId xmlns:a16="http://schemas.microsoft.com/office/drawing/2014/main" xmlns="" id="{19D5AA8E-60EA-E445-B7CC-6B48E02B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40" y="854610"/>
            <a:ext cx="8682772" cy="535865"/>
          </a:xfrm>
        </p:spPr>
        <p:txBody>
          <a:bodyPr>
            <a:normAutofit fontScale="90000"/>
          </a:bodyPr>
          <a:lstStyle/>
          <a:p>
            <a:r>
              <a:rPr lang="tr-TR" dirty="0"/>
              <a:t>Kaynaklar </a:t>
            </a:r>
          </a:p>
        </p:txBody>
      </p:sp>
      <p:sp>
        <p:nvSpPr>
          <p:cNvPr id="7" name="İçerik Yer Tutucusu 4">
            <a:extLst>
              <a:ext uri="{FF2B5EF4-FFF2-40B4-BE49-F238E27FC236}">
                <a16:creationId xmlns:a16="http://schemas.microsoft.com/office/drawing/2014/main" xmlns="" id="{B23C765D-7536-8845-9192-B08D3EE5C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740" y="1515922"/>
            <a:ext cx="8682772" cy="4927023"/>
          </a:xfrm>
        </p:spPr>
        <p:txBody>
          <a:bodyPr/>
          <a:lstStyle/>
          <a:p>
            <a:pPr marL="457840" indent="-457840">
              <a:buFont typeface="+mj-lt"/>
              <a:buAutoNum type="arabicPeriod"/>
              <a:defRPr/>
            </a:pPr>
            <a:r>
              <a:rPr lang="tr-TR" dirty="0"/>
              <a:t>Computer Systems: A Programmer’s Perspective, Randal E. Bryant ve David R. O’Hallaron, PEARSON. </a:t>
            </a:r>
          </a:p>
        </p:txBody>
      </p:sp>
    </p:spTree>
    <p:extLst>
      <p:ext uri="{BB962C8B-B14F-4D97-AF65-F5344CB8AC3E}">
        <p14:creationId xmlns:p14="http://schemas.microsoft.com/office/powerpoint/2010/main" val="5967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:a16="http://schemas.microsoft.com/office/drawing/2014/main" xmlns="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448" y="5333117"/>
            <a:ext cx="8418204" cy="861180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1618458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12045</TotalTime>
  <Words>2219</Words>
  <Application>Microsoft Office PowerPoint</Application>
  <PresentationFormat>On-screen Show (4:3)</PresentationFormat>
  <Paragraphs>738</Paragraphs>
  <Slides>35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ＭＳ Ｐゴシック</vt:lpstr>
      <vt:lpstr>Arial</vt:lpstr>
      <vt:lpstr>Arial Narrow</vt:lpstr>
      <vt:lpstr>Calibri</vt:lpstr>
      <vt:lpstr>Century Gothic</vt:lpstr>
      <vt:lpstr>Courier New</vt:lpstr>
      <vt:lpstr>Helvetica</vt:lpstr>
      <vt:lpstr>Times New Roman</vt:lpstr>
      <vt:lpstr>Wingdings</vt:lpstr>
      <vt:lpstr>Wingdings 2</vt:lpstr>
      <vt:lpstr>template2007</vt:lpstr>
      <vt:lpstr>PowerPoint Presentation</vt:lpstr>
      <vt:lpstr>PowerPoint Presentation</vt:lpstr>
      <vt:lpstr>Bu slayt setinde anlatılanlar</vt:lpstr>
      <vt:lpstr> Örnek Hafıza Hiyerarşisi</vt:lpstr>
      <vt:lpstr>Genel Önbellek Konsepti</vt:lpstr>
      <vt:lpstr>Önbellek Hafızaları</vt:lpstr>
      <vt:lpstr>Genel Önbellek Organizasyonu (S, E, B)</vt:lpstr>
      <vt:lpstr>Önbellekten Okuma</vt:lpstr>
      <vt:lpstr>Örnek: Doğrudan Eşlenmiş Önbellek (E = 1)</vt:lpstr>
      <vt:lpstr>PowerPoint Presentation</vt:lpstr>
      <vt:lpstr>Örnek: Doğrudan Eşlenmiş Önbellek (E = 1)</vt:lpstr>
      <vt:lpstr>Doğrudan Eşlenmiş Önbellek Simülasyonu</vt:lpstr>
      <vt:lpstr>E-yönlü (yollu) Küme İlişkilendirmeli Önbellek (E = 2 için)</vt:lpstr>
      <vt:lpstr>PowerPoint Presentation</vt:lpstr>
      <vt:lpstr>PowerPoint Presentation</vt:lpstr>
      <vt:lpstr>2-yönlü (yollu) Küme İlişkilendirmeli Önbellek Simülasyonu</vt:lpstr>
      <vt:lpstr>Peki yazmada durum nasıl?</vt:lpstr>
      <vt:lpstr>Intel Core i7 Önbellek Hiyerarşisi</vt:lpstr>
      <vt:lpstr>Önbellek Performans Metrikleri</vt:lpstr>
      <vt:lpstr>Bu sayılar üzerine biraz düşünelim..</vt:lpstr>
      <vt:lpstr>Önbelleği Uygun Şekilde Kullanan Kod Yazımı</vt:lpstr>
      <vt:lpstr>Önbellek Özet </vt:lpstr>
      <vt:lpstr>Örnek soru </vt:lpstr>
      <vt:lpstr>PowerPoint Presentation</vt:lpstr>
      <vt:lpstr>Çok Boyutlu Diziler Önbellek Performans İyileştirmesi  BIL-304: Bilgisayar Mimarisi </vt:lpstr>
      <vt:lpstr>Çok boyutlu (Nested) diziler</vt:lpstr>
      <vt:lpstr>Çok boyutlu (Nested) diziler</vt:lpstr>
      <vt:lpstr>Çok boyutlu (Nested) diziler</vt:lpstr>
      <vt:lpstr>Çok boyutlu (Nested) diziler</vt:lpstr>
      <vt:lpstr>Çok boyutlu (Nested) diziler</vt:lpstr>
      <vt:lpstr>Çok boyutlu (Nested) diziler</vt:lpstr>
      <vt:lpstr>Önbellek performans iyileştirme:</vt:lpstr>
      <vt:lpstr>Önbellek performans iyileştirme:</vt:lpstr>
      <vt:lpstr>Kaynaklar </vt:lpstr>
      <vt:lpstr>PowerPoint Presentation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Microsoft account</cp:lastModifiedBy>
  <cp:revision>635</cp:revision>
  <cp:lastPrinted>2012-10-02T07:07:18Z</cp:lastPrinted>
  <dcterms:created xsi:type="dcterms:W3CDTF">2012-10-02T17:26:51Z</dcterms:created>
  <dcterms:modified xsi:type="dcterms:W3CDTF">2020-03-28T13:24:52Z</dcterms:modified>
</cp:coreProperties>
</file>