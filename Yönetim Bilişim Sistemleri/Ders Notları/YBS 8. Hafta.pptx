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316" r:id="rId4"/>
    <p:sldId id="317" r:id="rId5"/>
    <p:sldId id="318" r:id="rId6"/>
    <p:sldId id="261" r:id="rId7"/>
    <p:sldId id="320" r:id="rId8"/>
    <p:sldId id="262" r:id="rId9"/>
    <p:sldId id="321" r:id="rId10"/>
    <p:sldId id="322" r:id="rId11"/>
    <p:sldId id="323" r:id="rId12"/>
    <p:sldId id="324" r:id="rId13"/>
    <p:sldId id="325" r:id="rId14"/>
    <p:sldId id="326" r:id="rId1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74"/>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Başlık 7"/>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Alt Başlık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Veri Yer Tutucusu 27"/>
          <p:cNvSpPr>
            <a:spLocks noGrp="1"/>
          </p:cNvSpPr>
          <p:nvPr>
            <p:ph type="dt" sz="half" idx="10"/>
          </p:nvPr>
        </p:nvSpPr>
        <p:spPr bwMode="auto">
          <a:xfrm rot="5400000">
            <a:off x="7764621" y="1174097"/>
            <a:ext cx="2286000" cy="381000"/>
          </a:xfrm>
        </p:spPr>
        <p:txBody>
          <a:bodyPr/>
          <a:lstStyle/>
          <a:p>
            <a:fld id="{A23720DD-5B6D-40BF-8493-A6B52D484E6B}" type="datetimeFigureOut">
              <a:rPr lang="tr-TR" smtClean="0"/>
              <a:t>6.12.2022</a:t>
            </a:fld>
            <a:endParaRPr lang="tr-TR"/>
          </a:p>
        </p:txBody>
      </p:sp>
      <p:sp>
        <p:nvSpPr>
          <p:cNvPr id="17" name="Altbilgi Yer Tutucusu 16"/>
          <p:cNvSpPr>
            <a:spLocks noGrp="1"/>
          </p:cNvSpPr>
          <p:nvPr>
            <p:ph type="ftr" sz="quarter" idx="11"/>
          </p:nvPr>
        </p:nvSpPr>
        <p:spPr bwMode="auto">
          <a:xfrm rot="5400000">
            <a:off x="7077269" y="4181669"/>
            <a:ext cx="3657600" cy="384048"/>
          </a:xfrm>
        </p:spPr>
        <p:txBody>
          <a:bodyPr/>
          <a:lstStyle/>
          <a:p>
            <a:endParaRPr lang="tr-TR"/>
          </a:p>
        </p:txBody>
      </p:sp>
      <p:sp>
        <p:nvSpPr>
          <p:cNvPr id="10" name="Dikdörtgen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Dikdörtgen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Dikdörtgen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üz Bağlayıcı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Düz Bağlayıcı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Düz Bağlayıcı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Dikdörtgen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ayt Numarası Yer Tutucusu 28"/>
          <p:cNvSpPr>
            <a:spLocks noGrp="1"/>
          </p:cNvSpPr>
          <p:nvPr>
            <p:ph type="sldNum" sz="quarter" idx="12"/>
          </p:nvPr>
        </p:nvSpPr>
        <p:spPr bwMode="auto">
          <a:xfrm>
            <a:off x="1325544" y="4928702"/>
            <a:ext cx="609600" cy="517524"/>
          </a:xfrm>
        </p:spPr>
        <p:txBody>
          <a:bodyPr/>
          <a:lstStyle/>
          <a:p>
            <a:fld id="{F302176B-0E47-46AC-8F43-DAB4B8A37D06}" type="slidenum">
              <a:rPr lang="tr-TR" smtClean="0"/>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8" name="İçerik Yer Tutucusu 7"/>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Veri Yer Tutucusu 6"/>
          <p:cNvSpPr>
            <a:spLocks noGrp="1"/>
          </p:cNvSpPr>
          <p:nvPr>
            <p:ph type="dt" sz="half" idx="14"/>
          </p:nvPr>
        </p:nvSpPr>
        <p:spPr/>
        <p:txBody>
          <a:bodyPr rtlCol="0"/>
          <a:lstStyle/>
          <a:p>
            <a:fld id="{A23720DD-5B6D-40BF-8493-A6B52D484E6B}" type="datetimeFigureOut">
              <a:rPr lang="tr-TR" smtClean="0"/>
              <a:t>6.12.2022</a:t>
            </a:fld>
            <a:endParaRPr lang="tr-TR"/>
          </a:p>
        </p:txBody>
      </p:sp>
      <p:sp>
        <p:nvSpPr>
          <p:cNvPr id="9" name="Slayt Numarası Yer Tutucusu 8"/>
          <p:cNvSpPr>
            <a:spLocks noGrp="1"/>
          </p:cNvSpPr>
          <p:nvPr>
            <p:ph type="sldNum" sz="quarter" idx="15"/>
          </p:nvPr>
        </p:nvSpPr>
        <p:spPr/>
        <p:txBody>
          <a:bodyPr rtlCol="0"/>
          <a:lstStyle/>
          <a:p>
            <a:fld id="{F302176B-0E47-46AC-8F43-DAB4B8A37D06}" type="slidenum">
              <a:rPr lang="tr-TR" smtClean="0"/>
              <a:t>‹#›</a:t>
            </a:fld>
            <a:endParaRPr lang="tr-TR"/>
          </a:p>
        </p:txBody>
      </p:sp>
      <p:sp>
        <p:nvSpPr>
          <p:cNvPr id="10" name="Altbilgi Yer Tutucusu 9"/>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Metin Yer Tutucusu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Veri Yer Tutucusu 3"/>
          <p:cNvSpPr>
            <a:spLocks noGrp="1"/>
          </p:cNvSpPr>
          <p:nvPr>
            <p:ph type="dt" sz="half" idx="10"/>
          </p:nvPr>
        </p:nvSpPr>
        <p:spPr bwMode="auto">
          <a:xfrm rot="5400000">
            <a:off x="7763256" y="1170432"/>
            <a:ext cx="2286000" cy="381000"/>
          </a:xfrm>
        </p:spPr>
        <p:txBody>
          <a:bodyPr/>
          <a:lstStyle/>
          <a:p>
            <a:fld id="{A23720DD-5B6D-40BF-8493-A6B52D484E6B}" type="datetimeFigureOut">
              <a:rPr lang="tr-TR" smtClean="0"/>
              <a:t>6.12.2022</a:t>
            </a:fld>
            <a:endParaRPr lang="tr-TR"/>
          </a:p>
        </p:txBody>
      </p:sp>
      <p:sp>
        <p:nvSpPr>
          <p:cNvPr id="5" name="Altbilgi Yer Tutucusu 4"/>
          <p:cNvSpPr>
            <a:spLocks noGrp="1"/>
          </p:cNvSpPr>
          <p:nvPr>
            <p:ph type="ftr" sz="quarter" idx="11"/>
          </p:nvPr>
        </p:nvSpPr>
        <p:spPr bwMode="auto">
          <a:xfrm rot="5400000">
            <a:off x="7077456" y="4178808"/>
            <a:ext cx="3657600" cy="384048"/>
          </a:xfrm>
        </p:spPr>
        <p:txBody>
          <a:bodyPr/>
          <a:lstStyle/>
          <a:p>
            <a:endParaRPr lang="tr-TR"/>
          </a:p>
        </p:txBody>
      </p:sp>
      <p:sp>
        <p:nvSpPr>
          <p:cNvPr id="9" name="Dikdörtgen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Dikdörtgen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ikdörtgen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Düz Bağlayıcı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üz Bağlayıcı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ikdörtgen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Düz Bağlayıcı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ayt Numarası Yer Tutucusu 5"/>
          <p:cNvSpPr>
            <a:spLocks noGrp="1"/>
          </p:cNvSpPr>
          <p:nvPr>
            <p:ph type="sldNum" sz="quarter" idx="12"/>
          </p:nvPr>
        </p:nvSpPr>
        <p:spPr bwMode="auto">
          <a:xfrm>
            <a:off x="1340616" y="4928702"/>
            <a:ext cx="609600" cy="517524"/>
          </a:xfrm>
        </p:spPr>
        <p:txBody>
          <a:bodyPr/>
          <a:lstStyle/>
          <a:p>
            <a:fld id="{F302176B-0E47-46AC-8F43-DAB4B8A37D06}"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5" name="Veri Yer Tutucusu 4"/>
          <p:cNvSpPr>
            <a:spLocks noGrp="1"/>
          </p:cNvSpPr>
          <p:nvPr>
            <p:ph type="dt" sz="half" idx="10"/>
          </p:nvPr>
        </p:nvSpPr>
        <p:spPr/>
        <p:txBody>
          <a:bodyPr/>
          <a:lstStyle/>
          <a:p>
            <a:fld id="{A23720DD-5B6D-40BF-8493-A6B52D484E6B}" type="datetimeFigureOut">
              <a:rPr lang="tr-TR" smtClean="0"/>
              <a:t>6.12.2022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F302176B-0E47-46AC-8F43-DAB4B8A37D06}" type="slidenum">
              <a:rPr lang="tr-TR" smtClean="0"/>
              <a:t>‹#›</a:t>
            </a:fld>
            <a:endParaRPr lang="tr-TR"/>
          </a:p>
        </p:txBody>
      </p:sp>
      <p:sp>
        <p:nvSpPr>
          <p:cNvPr id="9" name="İçerik Yer Tutucusu 8"/>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İçerik Yer Tutucusu 10"/>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Veri Yer Tutucusu 6"/>
          <p:cNvSpPr>
            <a:spLocks noGrp="1"/>
          </p:cNvSpPr>
          <p:nvPr>
            <p:ph type="dt" sz="half" idx="10"/>
          </p:nvPr>
        </p:nvSpPr>
        <p:spPr/>
        <p:txBody>
          <a:bodyPr/>
          <a:lstStyle/>
          <a:p>
            <a:fld id="{A23720DD-5B6D-40BF-8493-A6B52D484E6B}" type="datetimeFigureOut">
              <a:rPr lang="tr-TR" smtClean="0"/>
              <a:t>6.12.2022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F302176B-0E47-46AC-8F43-DAB4B8A37D06}" type="slidenum">
              <a:rPr lang="tr-TR" smtClean="0"/>
              <a:t>‹#›</a:t>
            </a:fld>
            <a:endParaRPr lang="tr-TR"/>
          </a:p>
        </p:txBody>
      </p:sp>
      <p:sp>
        <p:nvSpPr>
          <p:cNvPr id="11" name="İçerik Yer Tutucusu 10"/>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İçerik Yer Tutucusu 12"/>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Metin Yer Tutucusu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Metin Yer Tutucusu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6" name="Veri Yer Tutucusu 5"/>
          <p:cNvSpPr>
            <a:spLocks noGrp="1"/>
          </p:cNvSpPr>
          <p:nvPr>
            <p:ph type="dt" sz="half" idx="10"/>
          </p:nvPr>
        </p:nvSpPr>
        <p:spPr/>
        <p:txBody>
          <a:bodyPr rtlCol="0"/>
          <a:lstStyle/>
          <a:p>
            <a:fld id="{A23720DD-5B6D-40BF-8493-A6B52D484E6B}" type="datetimeFigureOut">
              <a:rPr lang="tr-TR" smtClean="0"/>
              <a:t>6.12.2022</a:t>
            </a:fld>
            <a:endParaRPr lang="tr-TR"/>
          </a:p>
        </p:txBody>
      </p:sp>
      <p:sp>
        <p:nvSpPr>
          <p:cNvPr id="7" name="Slayt Numarası Yer Tutucusu 6"/>
          <p:cNvSpPr>
            <a:spLocks noGrp="1"/>
          </p:cNvSpPr>
          <p:nvPr>
            <p:ph type="sldNum" sz="quarter" idx="11"/>
          </p:nvPr>
        </p:nvSpPr>
        <p:spPr/>
        <p:txBody>
          <a:bodyPr rtlCol="0"/>
          <a:lstStyle/>
          <a:p>
            <a:fld id="{F302176B-0E47-46AC-8F43-DAB4B8A37D06}" type="slidenum">
              <a:rPr lang="tr-TR" smtClean="0"/>
              <a:t>‹#›</a:t>
            </a:fld>
            <a:endParaRPr lang="tr-TR"/>
          </a:p>
        </p:txBody>
      </p:sp>
      <p:sp>
        <p:nvSpPr>
          <p:cNvPr id="8" name="Altbilgi Yer Tutucusu 7"/>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A23720DD-5B6D-40BF-8493-A6B52D484E6B}" type="datetimeFigureOut">
              <a:rPr lang="tr-TR" smtClean="0"/>
              <a:t>6.12.2022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Düz Bağlayıcı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Başlık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Metin Yer Tutucusu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Düz Bağlayıcı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Düz Bağlayıcı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Düz Bağlayıcı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Dikdörtgen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çerik Yer Tutucusu 17"/>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Veri Yer Tutucusu 20"/>
          <p:cNvSpPr>
            <a:spLocks noGrp="1"/>
          </p:cNvSpPr>
          <p:nvPr>
            <p:ph type="dt" sz="half" idx="14"/>
          </p:nvPr>
        </p:nvSpPr>
        <p:spPr/>
        <p:txBody>
          <a:bodyPr rtlCol="0"/>
          <a:lstStyle/>
          <a:p>
            <a:fld id="{A23720DD-5B6D-40BF-8493-A6B52D484E6B}" type="datetimeFigureOut">
              <a:rPr lang="tr-TR" smtClean="0"/>
              <a:t>6.12.2022</a:t>
            </a:fld>
            <a:endParaRPr lang="tr-TR"/>
          </a:p>
        </p:txBody>
      </p:sp>
      <p:sp>
        <p:nvSpPr>
          <p:cNvPr id="22" name="Slayt Numarası Yer Tutucusu 21"/>
          <p:cNvSpPr>
            <a:spLocks noGrp="1"/>
          </p:cNvSpPr>
          <p:nvPr>
            <p:ph type="sldNum" sz="quarter" idx="15"/>
          </p:nvPr>
        </p:nvSpPr>
        <p:spPr/>
        <p:txBody>
          <a:bodyPr rtlCol="0"/>
          <a:lstStyle/>
          <a:p>
            <a:fld id="{F302176B-0E47-46AC-8F43-DAB4B8A37D06}" type="slidenum">
              <a:rPr lang="tr-TR" smtClean="0"/>
              <a:t>‹#›</a:t>
            </a:fld>
            <a:endParaRPr lang="tr-TR"/>
          </a:p>
        </p:txBody>
      </p:sp>
      <p:sp>
        <p:nvSpPr>
          <p:cNvPr id="23" name="Altbilgi Yer Tutucusu 22"/>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Düz Bağlayıcı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Başlık 1"/>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Resim Yer Tutucusu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Metin Yer Tutucusu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Düz Bağlayıcı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Dikdörtgen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üz Bağlayıcı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Düz Bağlayıcı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Düz Bağlayıcı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Veri Yer Tutucusu 16"/>
          <p:cNvSpPr>
            <a:spLocks noGrp="1"/>
          </p:cNvSpPr>
          <p:nvPr>
            <p:ph type="dt" sz="half" idx="10"/>
          </p:nvPr>
        </p:nvSpPr>
        <p:spPr/>
        <p:txBody>
          <a:bodyPr rtlCol="0"/>
          <a:lstStyle/>
          <a:p>
            <a:fld id="{A23720DD-5B6D-40BF-8493-A6B52D484E6B}" type="datetimeFigureOut">
              <a:rPr lang="tr-TR" smtClean="0"/>
              <a:t>6.12.2022</a:t>
            </a:fld>
            <a:endParaRPr lang="tr-TR"/>
          </a:p>
        </p:txBody>
      </p:sp>
      <p:sp>
        <p:nvSpPr>
          <p:cNvPr id="18" name="Slayt Numarası Yer Tutucusu 17"/>
          <p:cNvSpPr>
            <a:spLocks noGrp="1"/>
          </p:cNvSpPr>
          <p:nvPr>
            <p:ph type="sldNum" sz="quarter" idx="11"/>
          </p:nvPr>
        </p:nvSpPr>
        <p:spPr/>
        <p:txBody>
          <a:bodyPr rtlCol="0"/>
          <a:lstStyle/>
          <a:p>
            <a:fld id="{F302176B-0E47-46AC-8F43-DAB4B8A37D06}" type="slidenum">
              <a:rPr lang="tr-TR" smtClean="0"/>
              <a:t>‹#›</a:t>
            </a:fld>
            <a:endParaRPr lang="tr-TR"/>
          </a:p>
        </p:txBody>
      </p:sp>
      <p:sp>
        <p:nvSpPr>
          <p:cNvPr id="21" name="Altbilgi Yer Tutucusu 20"/>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6.12.2022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Dikey Metin Yer Tutucusu 2"/>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6.12.2022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Düz Bağlayıcı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Başlık Yer Tutucusu 21"/>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Metin Yer Tutucusu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Veri Yer Tutucusu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3720DD-5B6D-40BF-8493-A6B52D484E6B}" type="datetimeFigureOut">
              <a:rPr lang="tr-TR" smtClean="0"/>
              <a:t>6.12.2022</a:t>
            </a:fld>
            <a:endParaRPr lang="tr-TR"/>
          </a:p>
        </p:txBody>
      </p:sp>
      <p:sp>
        <p:nvSpPr>
          <p:cNvPr id="3" name="Altbilgi Yer Tutucusu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Düz Bağlayıcı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Düz Bağlayıcı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Dikdörtgen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ayt Numarası Yer Tutucusu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411760" y="2564904"/>
            <a:ext cx="6172200" cy="1894362"/>
          </a:xfrm>
        </p:spPr>
        <p:txBody>
          <a:bodyPr/>
          <a:lstStyle/>
          <a:p>
            <a:r>
              <a:rPr lang="tr-TR" sz="2800" dirty="0" smtClean="0"/>
              <a:t>Yönetim Bilişim Sistemleri</a:t>
            </a:r>
            <a:r>
              <a:rPr lang="tr-TR" sz="2800" dirty="0"/>
              <a:t/>
            </a:r>
            <a:br>
              <a:rPr lang="tr-TR" sz="2800" dirty="0"/>
            </a:br>
            <a:endParaRPr lang="tr-TR" dirty="0"/>
          </a:p>
        </p:txBody>
      </p:sp>
      <p:sp>
        <p:nvSpPr>
          <p:cNvPr id="3" name="Alt Başlık 2"/>
          <p:cNvSpPr>
            <a:spLocks noGrp="1"/>
          </p:cNvSpPr>
          <p:nvPr>
            <p:ph type="subTitle" idx="1"/>
          </p:nvPr>
        </p:nvSpPr>
        <p:spPr/>
        <p:txBody>
          <a:bodyPr>
            <a:normAutofit fontScale="85000" lnSpcReduction="20000"/>
          </a:bodyPr>
          <a:lstStyle/>
          <a:p>
            <a:pPr algn="ctr"/>
            <a:r>
              <a:rPr lang="tr-TR" b="0" dirty="0"/>
              <a:t>Prof. Dr. Tuncay YİĞİT</a:t>
            </a:r>
          </a:p>
          <a:p>
            <a:pPr algn="ctr"/>
            <a:r>
              <a:rPr lang="tr-TR" b="0" dirty="0"/>
              <a:t>Süleyman Demirel Üniversitesi</a:t>
            </a:r>
          </a:p>
          <a:p>
            <a:pPr algn="ctr"/>
            <a:r>
              <a:rPr lang="tr-TR" b="0" dirty="0"/>
              <a:t>Bilgisayar Mühendisliği Bölümü</a:t>
            </a:r>
          </a:p>
          <a:p>
            <a:pPr algn="ctr"/>
            <a:endParaRPr lang="tr-TR" b="0" dirty="0"/>
          </a:p>
          <a:p>
            <a:pPr algn="ctr"/>
            <a:r>
              <a:rPr lang="tr-TR" b="0" dirty="0"/>
              <a:t>ISPARTA 2022</a:t>
            </a:r>
          </a:p>
        </p:txBody>
      </p:sp>
    </p:spTree>
    <p:extLst>
      <p:ext uri="{BB962C8B-B14F-4D97-AF65-F5344CB8AC3E}">
        <p14:creationId xmlns:p14="http://schemas.microsoft.com/office/powerpoint/2010/main" val="19274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LOJİSTİK ENFORMASYON SİSTEMLERİ </a:t>
            </a:r>
            <a:endParaRPr lang="tr-TR" dirty="0"/>
          </a:p>
        </p:txBody>
      </p:sp>
      <p:sp>
        <p:nvSpPr>
          <p:cNvPr id="3" name="İçerik Yer Tutucusu 2"/>
          <p:cNvSpPr>
            <a:spLocks noGrp="1"/>
          </p:cNvSpPr>
          <p:nvPr>
            <p:ph sz="quarter" idx="1"/>
          </p:nvPr>
        </p:nvSpPr>
        <p:spPr>
          <a:xfrm>
            <a:off x="457200" y="1600200"/>
            <a:ext cx="8507288" cy="4709120"/>
          </a:xfrm>
        </p:spPr>
        <p:txBody>
          <a:bodyPr>
            <a:normAutofit/>
          </a:bodyPr>
          <a:lstStyle/>
          <a:p>
            <a:r>
              <a:rPr lang="tr-TR" dirty="0"/>
              <a:t>Lojistik uzun bir süre malların fiziksel dağıtımı olarak kabul edilmiştir. </a:t>
            </a:r>
            <a:endParaRPr lang="tr-TR" dirty="0" smtClean="0"/>
          </a:p>
          <a:p>
            <a:r>
              <a:rPr lang="tr-TR" dirty="0" smtClean="0"/>
              <a:t> </a:t>
            </a:r>
            <a:r>
              <a:rPr lang="tr-TR" dirty="0"/>
              <a:t>Lojistik, müşterilerin ihtiyaçlarını karşılamak üzere her türlü ürün, servis hizmeti ve bilgi akışının başlangıç noktasından (kaynağından) , tüketildiği son noktaya (nihai tüketici) kadar olan tedarik zinciri içindeki hareketinin etkili ve verimli bir biçimde planlanması, uygulanması, taşınması, depolanması ve kontrol altında tutulması hizmetidir. </a:t>
            </a:r>
            <a:endParaRPr lang="tr-TR" dirty="0" smtClean="0"/>
          </a:p>
          <a:p>
            <a:r>
              <a:rPr lang="tr-TR" dirty="0" smtClean="0"/>
              <a:t> </a:t>
            </a:r>
            <a:r>
              <a:rPr lang="tr-TR" dirty="0"/>
              <a:t>Lojistiğin temel hedefi; doğru ürünü, doğru yere doğru zamanda teslim etmektir.</a:t>
            </a:r>
            <a:endParaRPr lang="tr-TR" dirty="0"/>
          </a:p>
        </p:txBody>
      </p:sp>
    </p:spTree>
    <p:extLst>
      <p:ext uri="{BB962C8B-B14F-4D97-AF65-F5344CB8AC3E}">
        <p14:creationId xmlns:p14="http://schemas.microsoft.com/office/powerpoint/2010/main" val="278354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LOJİSTİĞİN ALANLARI </a:t>
            </a:r>
            <a:endParaRPr lang="tr-TR" dirty="0"/>
          </a:p>
        </p:txBody>
      </p:sp>
      <p:sp>
        <p:nvSpPr>
          <p:cNvPr id="3" name="İçerik Yer Tutucusu 2"/>
          <p:cNvSpPr>
            <a:spLocks noGrp="1"/>
          </p:cNvSpPr>
          <p:nvPr>
            <p:ph sz="quarter" idx="1"/>
          </p:nvPr>
        </p:nvSpPr>
        <p:spPr>
          <a:xfrm>
            <a:off x="457200" y="1600200"/>
            <a:ext cx="8507288" cy="4709120"/>
          </a:xfrm>
        </p:spPr>
        <p:txBody>
          <a:bodyPr>
            <a:normAutofit fontScale="92500" lnSpcReduction="10000"/>
          </a:bodyPr>
          <a:lstStyle/>
          <a:p>
            <a:r>
              <a:rPr lang="tr-TR" dirty="0"/>
              <a:t>Nakliye</a:t>
            </a:r>
          </a:p>
          <a:p>
            <a:r>
              <a:rPr lang="tr-TR" dirty="0"/>
              <a:t> 2. Stok Yönetimi</a:t>
            </a:r>
          </a:p>
          <a:p>
            <a:r>
              <a:rPr lang="tr-TR" dirty="0"/>
              <a:t> 3. Depolama</a:t>
            </a:r>
          </a:p>
          <a:p>
            <a:r>
              <a:rPr lang="tr-TR" dirty="0"/>
              <a:t> 4. Paketleme</a:t>
            </a:r>
          </a:p>
          <a:p>
            <a:r>
              <a:rPr lang="tr-TR" dirty="0"/>
              <a:t> 5. Malzeme ve Ekipman</a:t>
            </a:r>
          </a:p>
          <a:p>
            <a:r>
              <a:rPr lang="tr-TR" dirty="0"/>
              <a:t> 6. Sipariş İşlemi</a:t>
            </a:r>
          </a:p>
          <a:p>
            <a:r>
              <a:rPr lang="tr-TR" dirty="0"/>
              <a:t> 7. Tahmin</a:t>
            </a:r>
          </a:p>
          <a:p>
            <a:r>
              <a:rPr lang="tr-TR" dirty="0"/>
              <a:t> 8. Üretim Planlama</a:t>
            </a:r>
          </a:p>
          <a:p>
            <a:r>
              <a:rPr lang="tr-TR" dirty="0"/>
              <a:t> 9. Satın Alma</a:t>
            </a:r>
          </a:p>
          <a:p>
            <a:r>
              <a:rPr lang="tr-TR" dirty="0"/>
              <a:t> 10. Müşteri Hizmeti</a:t>
            </a:r>
          </a:p>
          <a:p>
            <a:r>
              <a:rPr lang="tr-TR" dirty="0"/>
              <a:t> 11. Yer Seçimi</a:t>
            </a:r>
          </a:p>
          <a:p>
            <a:r>
              <a:rPr lang="tr-TR" dirty="0"/>
              <a:t> 12. Gümrükleme Hizmetleri</a:t>
            </a:r>
            <a:endParaRPr lang="tr-TR" dirty="0"/>
          </a:p>
        </p:txBody>
      </p:sp>
    </p:spTree>
    <p:extLst>
      <p:ext uri="{BB962C8B-B14F-4D97-AF65-F5344CB8AC3E}">
        <p14:creationId xmlns:p14="http://schemas.microsoft.com/office/powerpoint/2010/main" val="116088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LOJİSTİK ENFORMASYON SİSTEMLERİ</a:t>
            </a:r>
            <a:endParaRPr lang="tr-TR" dirty="0"/>
          </a:p>
        </p:txBody>
      </p:sp>
      <p:sp>
        <p:nvSpPr>
          <p:cNvPr id="3" name="İçerik Yer Tutucusu 2"/>
          <p:cNvSpPr>
            <a:spLocks noGrp="1"/>
          </p:cNvSpPr>
          <p:nvPr>
            <p:ph sz="quarter" idx="1"/>
          </p:nvPr>
        </p:nvSpPr>
        <p:spPr>
          <a:xfrm>
            <a:off x="457200" y="1600200"/>
            <a:ext cx="8507288" cy="4709120"/>
          </a:xfrm>
        </p:spPr>
        <p:txBody>
          <a:bodyPr>
            <a:normAutofit/>
          </a:bodyPr>
          <a:lstStyle/>
          <a:p>
            <a:r>
              <a:rPr lang="tr-TR" dirty="0"/>
              <a:t>Lojistik Enformasyon Sistemleri, tedarik zinciri üzerinde yer alan şirketlerin her birinin kendi planlama veya </a:t>
            </a:r>
            <a:r>
              <a:rPr lang="tr-TR" dirty="0" err="1"/>
              <a:t>operasyonel</a:t>
            </a:r>
            <a:r>
              <a:rPr lang="tr-TR" dirty="0"/>
              <a:t> ihtiyaçlarını karşılayan, şirket içinde ve/veya dışındaki diğer ilişkili sistemler ile entegre çalışabilen yazılım sistemleridir. </a:t>
            </a:r>
            <a:endParaRPr lang="tr-TR" dirty="0" smtClean="0"/>
          </a:p>
          <a:p>
            <a:r>
              <a:rPr lang="tr-TR" dirty="0" smtClean="0"/>
              <a:t> </a:t>
            </a:r>
            <a:r>
              <a:rPr lang="tr-TR" dirty="0"/>
              <a:t>Burada entegrasyon olarak tanımlanan ilişki, bilgi sistemleri arasındaki bilgi ve belge akış fonksiyonudur. </a:t>
            </a:r>
            <a:endParaRPr lang="tr-TR" dirty="0" smtClean="0"/>
          </a:p>
          <a:p>
            <a:r>
              <a:rPr lang="tr-TR" dirty="0" smtClean="0"/>
              <a:t> </a:t>
            </a:r>
            <a:r>
              <a:rPr lang="tr-TR" dirty="0"/>
              <a:t>Lojistik Enformasyon Sistemleri temel olarak, Stratejik Planlama Sistemleri ve </a:t>
            </a:r>
            <a:r>
              <a:rPr lang="tr-TR" dirty="0" err="1"/>
              <a:t>Operasyonel</a:t>
            </a:r>
            <a:r>
              <a:rPr lang="tr-TR" dirty="0"/>
              <a:t> Bilgi Sistemleri’ni kapsar.</a:t>
            </a:r>
            <a:endParaRPr lang="tr-TR" dirty="0"/>
          </a:p>
        </p:txBody>
      </p:sp>
    </p:spTree>
    <p:extLst>
      <p:ext uri="{BB962C8B-B14F-4D97-AF65-F5344CB8AC3E}">
        <p14:creationId xmlns:p14="http://schemas.microsoft.com/office/powerpoint/2010/main" val="450204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LOJİSTİK ENFORMASYON SİSTEMLERİ</a:t>
            </a:r>
            <a:endParaRPr lang="tr-TR" dirty="0"/>
          </a:p>
        </p:txBody>
      </p:sp>
      <p:sp>
        <p:nvSpPr>
          <p:cNvPr id="3" name="İçerik Yer Tutucusu 2"/>
          <p:cNvSpPr>
            <a:spLocks noGrp="1"/>
          </p:cNvSpPr>
          <p:nvPr>
            <p:ph sz="quarter" idx="1"/>
          </p:nvPr>
        </p:nvSpPr>
        <p:spPr>
          <a:xfrm>
            <a:off x="457200" y="1600200"/>
            <a:ext cx="8075240" cy="5069160"/>
          </a:xfrm>
        </p:spPr>
        <p:txBody>
          <a:bodyPr>
            <a:normAutofit fontScale="77500" lnSpcReduction="20000"/>
          </a:bodyPr>
          <a:lstStyle/>
          <a:p>
            <a:r>
              <a:rPr lang="tr-TR" dirty="0"/>
              <a:t>Stratejik Planlama Sistemleri faaliyetlerin modellenmesi ve tasarımı için kullanılan sistemlerdir. Bu sistemler, yeni bir sistemin oluşturulması için bir kereye mahsus kullanılabildiği gibi (Optimum Ağ Tasarımı), meydana gelen değişikliklerde sistemin revizyonu (Optimum Dağıtım Planlama, Talep Planlama) veya periyodik olarak gözden geçirme (Talep Planlama, Stok Optimizasyonu) amaçları ile kullanırlar. </a:t>
            </a:r>
            <a:endParaRPr lang="tr-TR" dirty="0" smtClean="0"/>
          </a:p>
          <a:p>
            <a:r>
              <a:rPr lang="tr-TR" dirty="0" smtClean="0"/>
              <a:t> </a:t>
            </a:r>
            <a:r>
              <a:rPr lang="tr-TR" dirty="0" err="1"/>
              <a:t>Operasyonel</a:t>
            </a:r>
            <a:r>
              <a:rPr lang="tr-TR" dirty="0"/>
              <a:t> Bilgi Sistemleri ise, yürütülen faaliyetlerin yönetimi, denetimi ve raporlanması için kullanılan sistemlerdir. Genel olarak </a:t>
            </a:r>
            <a:r>
              <a:rPr lang="tr-TR" dirty="0" err="1"/>
              <a:t>operasyonel</a:t>
            </a:r>
            <a:r>
              <a:rPr lang="tr-TR" dirty="0"/>
              <a:t> fonksiyonlar; </a:t>
            </a:r>
            <a:endParaRPr lang="tr-TR" dirty="0" smtClean="0"/>
          </a:p>
          <a:p>
            <a:pPr lvl="1"/>
            <a:r>
              <a:rPr lang="tr-TR" dirty="0" smtClean="0"/>
              <a:t>(</a:t>
            </a:r>
            <a:r>
              <a:rPr lang="tr-TR" dirty="0"/>
              <a:t>1) satın alma süreçlerinin yönetildiği Tedarik Yönetimi, </a:t>
            </a:r>
            <a:endParaRPr lang="tr-TR" dirty="0" smtClean="0"/>
          </a:p>
          <a:p>
            <a:pPr lvl="1"/>
            <a:r>
              <a:rPr lang="tr-TR" dirty="0" smtClean="0"/>
              <a:t>(</a:t>
            </a:r>
            <a:r>
              <a:rPr lang="tr-TR" dirty="0"/>
              <a:t>2) elde bulunan tüm stokların konsolide olarak yönetimi Stok Yönetimi, </a:t>
            </a:r>
            <a:endParaRPr lang="tr-TR" dirty="0" smtClean="0"/>
          </a:p>
          <a:p>
            <a:pPr lvl="1"/>
            <a:r>
              <a:rPr lang="tr-TR" dirty="0" smtClean="0"/>
              <a:t>(</a:t>
            </a:r>
            <a:r>
              <a:rPr lang="tr-TR" dirty="0"/>
              <a:t>3) satış faaliyetleri sonrasında alınan satış siparişleri ve bunların dağıtımı faaliyetleri için Satış/Dağıtım Yönetimi, </a:t>
            </a:r>
            <a:endParaRPr lang="tr-TR" dirty="0" smtClean="0"/>
          </a:p>
          <a:p>
            <a:pPr lvl="1"/>
            <a:r>
              <a:rPr lang="tr-TR" dirty="0" smtClean="0"/>
              <a:t>(</a:t>
            </a:r>
            <a:r>
              <a:rPr lang="tr-TR" dirty="0"/>
              <a:t>4) depolardaki tüm </a:t>
            </a:r>
            <a:r>
              <a:rPr lang="tr-TR" dirty="0" err="1"/>
              <a:t>elleçleme</a:t>
            </a:r>
            <a:r>
              <a:rPr lang="tr-TR" dirty="0"/>
              <a:t>* faaliyetleri ve stok hareketlerinin yönetildiği Depo Yönetimi, </a:t>
            </a:r>
            <a:endParaRPr lang="tr-TR" dirty="0" smtClean="0"/>
          </a:p>
          <a:p>
            <a:pPr lvl="1"/>
            <a:r>
              <a:rPr lang="tr-TR" dirty="0" smtClean="0"/>
              <a:t>(</a:t>
            </a:r>
            <a:r>
              <a:rPr lang="tr-TR" dirty="0"/>
              <a:t>5) sevkiyat planlarına uygun araçların temin ve atama işlemleri için Nakliye Yönetimi ve </a:t>
            </a:r>
            <a:endParaRPr lang="tr-TR" dirty="0" smtClean="0"/>
          </a:p>
          <a:p>
            <a:pPr lvl="1"/>
            <a:r>
              <a:rPr lang="tr-TR" dirty="0" smtClean="0"/>
              <a:t>(</a:t>
            </a:r>
            <a:r>
              <a:rPr lang="tr-TR" dirty="0"/>
              <a:t>6) depolarda işlem gören siparişlerin sevkiyatının planlanması için Yük/Araç Planlama olarak tanımlanır.</a:t>
            </a:r>
            <a:endParaRPr lang="tr-TR" dirty="0"/>
          </a:p>
        </p:txBody>
      </p:sp>
    </p:spTree>
    <p:extLst>
      <p:ext uri="{BB962C8B-B14F-4D97-AF65-F5344CB8AC3E}">
        <p14:creationId xmlns:p14="http://schemas.microsoft.com/office/powerpoint/2010/main" val="2189448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STRATEJİK PLANLAMA SİSTEMLERİ </a:t>
            </a:r>
            <a:endParaRPr lang="tr-TR" dirty="0"/>
          </a:p>
        </p:txBody>
      </p:sp>
      <p:sp>
        <p:nvSpPr>
          <p:cNvPr id="4" name="Content Placeholder 2"/>
          <p:cNvSpPr>
            <a:spLocks noGrp="1"/>
          </p:cNvSpPr>
          <p:nvPr>
            <p:ph sz="quarter" idx="1"/>
          </p:nvPr>
        </p:nvSpPr>
        <p:spPr>
          <a:xfrm>
            <a:off x="457200" y="1628800"/>
            <a:ext cx="8219256" cy="4968552"/>
          </a:xfrm>
        </p:spPr>
        <p:txBody>
          <a:bodyPr>
            <a:normAutofit/>
          </a:bodyPr>
          <a:lstStyle/>
          <a:p>
            <a:r>
              <a:rPr lang="tr-TR" sz="1800" dirty="0"/>
              <a:t>1) Optimum Ağ Tasarımı </a:t>
            </a:r>
            <a:endParaRPr lang="tr-TR" sz="1800" dirty="0" smtClean="0"/>
          </a:p>
          <a:p>
            <a:pPr marL="0" indent="0">
              <a:buNone/>
            </a:pPr>
            <a:r>
              <a:rPr lang="tr-TR" sz="1800" dirty="0"/>
              <a:t>	</a:t>
            </a:r>
            <a:endParaRPr lang="tr-TR" sz="1800" dirty="0" smtClean="0"/>
          </a:p>
          <a:p>
            <a:pPr marL="0" indent="0">
              <a:buNone/>
            </a:pPr>
            <a:r>
              <a:rPr lang="tr-TR" sz="1800" dirty="0" smtClean="0"/>
              <a:t>Optimum </a:t>
            </a:r>
            <a:r>
              <a:rPr lang="tr-TR" sz="1800" dirty="0"/>
              <a:t>Ağ Tasarımı yazılımlarının amacı, bir lojistik ağının stratejik seviyede optimum tasarımını yapmaktır. Bu seviyedeki kararlar diğer tüm seviyelerdeki kararlara girdi teşkil ettiğinden optimum ağ tasarımı tüm lojistik kararları arasında en önemli olanıdır. Pratikte, ağ tasarımı Plan LM, </a:t>
            </a:r>
            <a:r>
              <a:rPr lang="tr-TR" sz="1800" dirty="0" err="1"/>
              <a:t>Supply</a:t>
            </a:r>
            <a:r>
              <a:rPr lang="tr-TR" sz="1800" dirty="0"/>
              <a:t> </a:t>
            </a:r>
            <a:r>
              <a:rPr lang="tr-TR" sz="1800" dirty="0" err="1"/>
              <a:t>Chain</a:t>
            </a:r>
            <a:r>
              <a:rPr lang="tr-TR" sz="1800" dirty="0"/>
              <a:t> Guru, IBM ILOG gibi özelleşmiş optimizasyon bazlı yazılımlar ile gerçekleştirilir. Bu yazılımlar, lojistik ağında yer alan ve tüm tesis ve mağazaların </a:t>
            </a:r>
            <a:r>
              <a:rPr lang="tr-TR" sz="1800" dirty="0" err="1"/>
              <a:t>lokasyonlarını</a:t>
            </a:r>
            <a:r>
              <a:rPr lang="tr-TR" sz="1800" dirty="0"/>
              <a:t>, bunlar arasındaki mesafeleri, taşıma maliyetlerini, talep miktarlarını, kapasite kısıtlarını girdi olarak alır. Sonuç olarak ise nerelere hangi tesislerin kurulacağını, hangi kapasitede kurulacağını ve işletileceğini, ne tür taşımacılık sistemleri kullanılacağını ve yıllık hacim olarak hangi noktalar arasına ne kadar akış olacağını belirler.</a:t>
            </a:r>
            <a:endParaRPr lang="en-US" sz="1800" dirty="0"/>
          </a:p>
        </p:txBody>
      </p:sp>
    </p:spTree>
    <p:extLst>
      <p:ext uri="{BB962C8B-B14F-4D97-AF65-F5344CB8AC3E}">
        <p14:creationId xmlns:p14="http://schemas.microsoft.com/office/powerpoint/2010/main" val="21297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STRATEJİK PLANLAMA SİSTEMLERİ </a:t>
            </a:r>
            <a:endParaRPr lang="tr-TR" dirty="0"/>
          </a:p>
        </p:txBody>
      </p:sp>
      <p:sp>
        <p:nvSpPr>
          <p:cNvPr id="4" name="Content Placeholder 2"/>
          <p:cNvSpPr>
            <a:spLocks noGrp="1"/>
          </p:cNvSpPr>
          <p:nvPr>
            <p:ph sz="quarter" idx="1"/>
          </p:nvPr>
        </p:nvSpPr>
        <p:spPr>
          <a:xfrm>
            <a:off x="457200" y="1628800"/>
            <a:ext cx="8219256" cy="4968552"/>
          </a:xfrm>
        </p:spPr>
        <p:txBody>
          <a:bodyPr>
            <a:normAutofit/>
          </a:bodyPr>
          <a:lstStyle/>
          <a:p>
            <a:r>
              <a:rPr lang="tr-TR" sz="1800" dirty="0"/>
              <a:t>2) Optimum Dağıtım Planlama </a:t>
            </a:r>
            <a:endParaRPr lang="tr-TR" sz="1800" dirty="0" smtClean="0"/>
          </a:p>
          <a:p>
            <a:pPr marL="0" indent="0">
              <a:buNone/>
            </a:pPr>
            <a:r>
              <a:rPr lang="tr-TR" sz="1800" dirty="0" smtClean="0"/>
              <a:t>Ürünlerin </a:t>
            </a:r>
            <a:r>
              <a:rPr lang="tr-TR" sz="1800" dirty="0"/>
              <a:t>ulaştırılacakları noktalara hangi yollarla ve rotalarla ulaştırılacağını planlar. </a:t>
            </a:r>
            <a:endParaRPr lang="tr-TR" sz="1800" dirty="0" smtClean="0"/>
          </a:p>
          <a:p>
            <a:r>
              <a:rPr lang="tr-TR" sz="1800" dirty="0"/>
              <a:t>3</a:t>
            </a:r>
            <a:r>
              <a:rPr lang="tr-TR" sz="1800" dirty="0"/>
              <a:t>) Talep Planlama Talep Planlama sistemlerinin temel fonksiyonu, geçmiş talep verilerini kullanarak, geleceğe yönelik talep tahminlerini yönetmektir. Bu tür sistemlerde, geçmiş dönem satış bilgileri, ürün ve müşteri ile ilgili bilgiler, satışları etkilediği düşünülen faktörlerin listesi ve tarihsel değerleri ve gerçekleştirilecek tahminlerdeki hata payının en fazla ne kadar olacağı sisteme girdi olarak verilir. Sistemin sunacağı sonuçların başında talep tahminleri gelmekle beraber, bu tahminlerim güven aralıkları, yeni kavrayışları destekleyen grafikler ve tahmin edilen değerlerin gerçekleşen değerlerle karşılaştırılması da sunulur. </a:t>
            </a:r>
            <a:r>
              <a:rPr lang="tr-TR" sz="1800" dirty="0"/>
              <a:t>4) </a:t>
            </a:r>
            <a:endParaRPr lang="tr-TR" sz="1800" dirty="0" smtClean="0"/>
          </a:p>
          <a:p>
            <a:r>
              <a:rPr lang="tr-TR" sz="1800" dirty="0" smtClean="0"/>
              <a:t>Stok </a:t>
            </a:r>
            <a:r>
              <a:rPr lang="tr-TR" sz="1800" dirty="0"/>
              <a:t>Optimizasyonu Stok Optimizasyonu yazılımları, depolarda tutulan her bir ürün için güvenlik stokları ve sipariş adetlerinin optimum değerlerinin hesaplanmasını hedef alır.</a:t>
            </a:r>
            <a:endParaRPr lang="en-US" sz="1800" dirty="0"/>
          </a:p>
        </p:txBody>
      </p:sp>
    </p:spTree>
    <p:extLst>
      <p:ext uri="{BB962C8B-B14F-4D97-AF65-F5344CB8AC3E}">
        <p14:creationId xmlns:p14="http://schemas.microsoft.com/office/powerpoint/2010/main" val="203064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OPERASYONEL BİLGİ SİSTEMLERİ </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3) Satış &amp; Dağıtım Yönetimi Bu yazılımların amacı, </a:t>
            </a:r>
            <a:r>
              <a:rPr lang="tr-TR" dirty="0" err="1"/>
              <a:t>operasyonel</a:t>
            </a:r>
            <a:r>
              <a:rPr lang="tr-TR" dirty="0"/>
              <a:t> seviyede siparişlerin karşılanması ve buna dönük dağıtımın en verimli ve en yüksek servis kalitesiyle gerçekleştirilmesidir. Bu yazılımlar dağıtımla ilgili stratejik kararları optimum dağıtım planlama yazılımlarından okuyarak stratejik planlara uygun operasyon faaliyetlerini yönetirler. </a:t>
            </a:r>
            <a:endParaRPr lang="tr-TR" dirty="0" smtClean="0"/>
          </a:p>
          <a:p>
            <a:r>
              <a:rPr lang="tr-TR" dirty="0" smtClean="0"/>
              <a:t>4</a:t>
            </a:r>
            <a:r>
              <a:rPr lang="tr-TR" dirty="0"/>
              <a:t>) Depo Yönetimi Herhangi bir depodaki tüm bilgilerin tutulduğu ve tüm süreçlerin elektronik olarak yönetildiği yazılımlara Depo Yönetim Sistemi adı verilir. DYS, depo dağıtım merkezlerindeki mevcut </a:t>
            </a:r>
            <a:r>
              <a:rPr lang="tr-TR" dirty="0" err="1"/>
              <a:t>stoğu</a:t>
            </a:r>
            <a:r>
              <a:rPr lang="tr-TR" dirty="0"/>
              <a:t>, depolama kaynaklarını, </a:t>
            </a:r>
            <a:r>
              <a:rPr lang="tr-TR" dirty="0" err="1"/>
              <a:t>elleçleme</a:t>
            </a:r>
            <a:r>
              <a:rPr lang="tr-TR" dirty="0"/>
              <a:t> ekipmanlarını, insan kaynaklarını ve bilgisayar sistemlerini bütünleştirerek süreçlerin gerçek zamanlı ve kurallı olarak doğru ve</a:t>
            </a:r>
            <a:endParaRPr lang="tr-TR" dirty="0"/>
          </a:p>
        </p:txBody>
      </p:sp>
    </p:spTree>
    <p:extLst>
      <p:ext uri="{BB962C8B-B14F-4D97-AF65-F5344CB8AC3E}">
        <p14:creationId xmlns:p14="http://schemas.microsoft.com/office/powerpoint/2010/main" val="1149695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OPERASYONEL BİLGİ SİSTEMLERİ </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5) Nakliye Yönetimi Bu yazılımlar dağıtım ile ilgili stratejik kararları daha önce bahsedilen Optimum Dağıtım Planlama yazılımlarından, dağıtım planlarını ise Satış/Dağıtım Yönetimi yazılımlarından alırlar. Bu yazılımların verdiği kararlar arasında en önemlisi hangi araçların hangi ürünleri hangi rotaları kullanarak dağıtacağıdır</a:t>
            </a:r>
            <a:endParaRPr lang="tr-TR" dirty="0"/>
          </a:p>
        </p:txBody>
      </p:sp>
    </p:spTree>
    <p:extLst>
      <p:ext uri="{BB962C8B-B14F-4D97-AF65-F5344CB8AC3E}">
        <p14:creationId xmlns:p14="http://schemas.microsoft.com/office/powerpoint/2010/main" val="15349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OPERASYONEL BİLGİ SİSTEMLERİ </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6) Yük/Araç Planlama Bu yazılımlar, sevkiyatı yapılacak ürünlerin nakliye aracının içinde (örneğin bir kamyonun konteyneri) ne şekilde yerleştirileceğini planlar. Bu plan yapılırken, yerleştirilecek ürünlerin paket boyutları, ağırlıkları, kırılganlık özellikleri ve hangi sırayla boşaltılacakları son derece önemlidir.</a:t>
            </a:r>
            <a:endParaRPr lang="tr-TR" dirty="0"/>
          </a:p>
        </p:txBody>
      </p:sp>
    </p:spTree>
    <p:extLst>
      <p:ext uri="{BB962C8B-B14F-4D97-AF65-F5344CB8AC3E}">
        <p14:creationId xmlns:p14="http://schemas.microsoft.com/office/powerpoint/2010/main" val="103058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OPERASYONEL BİLGİ SİSTEMLERİ </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7) Coğrafi Bilgi Sistemleri Coğrafi Bilgi Sistemleri, coğrafi özelliği olan her türlü verinin kullanıcılara kolay planlama yapacakları şekilde sunulmasını sağlayan yazılım sistemleridir. Bu sistemlerde coğrafi verilerle ilişki diğer veriler de coğrafi bir gösterim üzerinde sunulur. CBS, günlük hayatımıza da yoğun olarak girmiştir. Örneğin; Google </a:t>
            </a:r>
            <a:r>
              <a:rPr lang="tr-TR" dirty="0" err="1"/>
              <a:t>Maps</a:t>
            </a:r>
            <a:r>
              <a:rPr lang="tr-TR" dirty="0"/>
              <a:t>.</a:t>
            </a:r>
            <a:endParaRPr lang="tr-TR" dirty="0"/>
          </a:p>
        </p:txBody>
      </p:sp>
    </p:spTree>
    <p:extLst>
      <p:ext uri="{BB962C8B-B14F-4D97-AF65-F5344CB8AC3E}">
        <p14:creationId xmlns:p14="http://schemas.microsoft.com/office/powerpoint/2010/main" val="365545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OPERASYONEL BİLGİ SİSTEMLERİ </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7) Coğrafi Bilgi Sistemleri Coğrafi Bilgi Sistemleri, coğrafi özelliği olan her türlü verinin kullanıcılara kolay planlama yapacakları şekilde sunulmasını sağlayan yazılım sistemleridir. Bu sistemlerde coğrafi verilerle ilişki diğer veriler de coğrafi bir gösterim üzerinde sunulur. CBS, günlük hayatımıza da yoğun olarak girmiştir. Örneğin; Google </a:t>
            </a:r>
            <a:r>
              <a:rPr lang="tr-TR" dirty="0" err="1"/>
              <a:t>Maps</a:t>
            </a:r>
            <a:r>
              <a:rPr lang="tr-TR" dirty="0"/>
              <a:t>.</a:t>
            </a:r>
            <a:endParaRPr lang="tr-TR" dirty="0"/>
          </a:p>
        </p:txBody>
      </p:sp>
    </p:spTree>
    <p:extLst>
      <p:ext uri="{BB962C8B-B14F-4D97-AF65-F5344CB8AC3E}">
        <p14:creationId xmlns:p14="http://schemas.microsoft.com/office/powerpoint/2010/main" val="1599103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OPERASYONEL BİLGİ SİSTEMLERİ </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8) 3 Boyutlu Tasarım Yazılımları 3 Boyutlu Tasarım yazılımları lojistik kapsamında depoların kavramsal tasarımı için kullanılır. Bu yazılımlar, bir deponun 3 boyutlu gösterimini ve depodaki operasyonların animasyonunu sunar.</a:t>
            </a:r>
            <a:endParaRPr lang="tr-TR" dirty="0"/>
          </a:p>
        </p:txBody>
      </p:sp>
    </p:spTree>
    <p:extLst>
      <p:ext uri="{BB962C8B-B14F-4D97-AF65-F5344CB8AC3E}">
        <p14:creationId xmlns:p14="http://schemas.microsoft.com/office/powerpoint/2010/main" val="1855052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OPERASYONEL BİLGİ SİSTEMLERİ </a:t>
            </a:r>
            <a:endParaRPr lang="tr-TR" dirty="0"/>
          </a:p>
        </p:txBody>
      </p:sp>
      <p:sp>
        <p:nvSpPr>
          <p:cNvPr id="4" name="İçerik Yer Tutucusu 2"/>
          <p:cNvSpPr txBox="1">
            <a:spLocks/>
          </p:cNvSpPr>
          <p:nvPr/>
        </p:nvSpPr>
        <p:spPr>
          <a:xfrm>
            <a:off x="107504" y="1426766"/>
            <a:ext cx="8784976" cy="5242594"/>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buNone/>
            </a:pPr>
            <a:r>
              <a:rPr lang="tr-TR" dirty="0"/>
              <a:t>HONEST, IT birimi tarafından şirket içinde geliştirilmiş; Horoz Lojistik iş süreçlerini ve diğer dış kaynaklı yazılımları birbirine entegre eden sistemdir. HONEST, Microsoft .NET ve </a:t>
            </a:r>
            <a:r>
              <a:rPr lang="tr-TR" dirty="0" err="1"/>
              <a:t>Oracle</a:t>
            </a:r>
            <a:r>
              <a:rPr lang="tr-TR" dirty="0"/>
              <a:t> üzerinde, C# kullanılarak geliştirilmiş WEB tabanlı bir platformdur. Yurt içi ve yurt dışı operasyonları yönetmek, hareketleri gerçek zamanlı izlemek ve performansı raporlamak HONEST sayesinde mümkün olmaktadır. Horoz müşterileri de HONEST üzerinden çeşitli </a:t>
            </a:r>
            <a:r>
              <a:rPr lang="tr-TR" dirty="0" err="1"/>
              <a:t>arayüzler</a:t>
            </a:r>
            <a:r>
              <a:rPr lang="tr-TR" dirty="0"/>
              <a:t> ile veri alışverişi yapmakta, aldıkları hizmetleri kendi iş süreçlerine entegre edebilmekte veya anlık olarak izleyebilmektedirler. Horoz, bilişim sistemlerinde gelişmiş uygulamaların yanı sıra GPRS ve mobil teknolojileri, barkod ve RF çözümlerini, ileri ağ yönetimi ve güvenlik araçlarını kullanmaktadır.</a:t>
            </a:r>
            <a:endParaRPr lang="tr-TR" dirty="0"/>
          </a:p>
        </p:txBody>
      </p:sp>
    </p:spTree>
    <p:extLst>
      <p:ext uri="{BB962C8B-B14F-4D97-AF65-F5344CB8AC3E}">
        <p14:creationId xmlns:p14="http://schemas.microsoft.com/office/powerpoint/2010/main" val="3740493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283</TotalTime>
  <Words>1103</Words>
  <Application>Microsoft Office PowerPoint</Application>
  <PresentationFormat>Ekran Gösterisi (4:3)</PresentationFormat>
  <Paragraphs>60</Paragraphs>
  <Slides>14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14</vt:i4>
      </vt:variant>
    </vt:vector>
  </HeadingPairs>
  <TitlesOfParts>
    <vt:vector size="18" baseType="lpstr">
      <vt:lpstr>Century Schoolbook</vt:lpstr>
      <vt:lpstr>Wingdings</vt:lpstr>
      <vt:lpstr>Wingdings 2</vt:lpstr>
      <vt:lpstr>Cumba</vt:lpstr>
      <vt:lpstr>Yönetim Bilişim Sistemleri </vt:lpstr>
      <vt:lpstr>LOJİSTİK ENFORMASYON SİSTEMLERİ </vt:lpstr>
      <vt:lpstr>LOJİSTİĞİN ALANLARI </vt:lpstr>
      <vt:lpstr>LOJİSTİK ENFORMASYON SİSTEMLERİ</vt:lpstr>
      <vt:lpstr>LOJİSTİK ENFORMASYON SİSTEMLERİ</vt:lpstr>
      <vt:lpstr>STRATEJİK PLANLAMA SİSTEMLERİ </vt:lpstr>
      <vt:lpstr>STRATEJİK PLANLAMA SİSTEMLERİ </vt:lpstr>
      <vt:lpstr>OPERASYONEL BİLGİ SİSTEMLERİ </vt:lpstr>
      <vt:lpstr>OPERASYONEL BİLGİ SİSTEMLERİ </vt:lpstr>
      <vt:lpstr>OPERASYONEL BİLGİ SİSTEMLERİ </vt:lpstr>
      <vt:lpstr>OPERASYONEL BİLGİ SİSTEMLERİ </vt:lpstr>
      <vt:lpstr>OPERASYONEL BİLGİ SİSTEMLERİ </vt:lpstr>
      <vt:lpstr>OPERASYONEL BİLGİ SİSTEMLERİ </vt:lpstr>
      <vt:lpstr>OPERASYONEL BİLGİ SİSTEMLERİ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İLERİ PROGRAMLAMA</dc:title>
  <dc:creator>SFuat</dc:creator>
  <cp:lastModifiedBy>Windows Kullanıcısı</cp:lastModifiedBy>
  <cp:revision>134</cp:revision>
  <dcterms:created xsi:type="dcterms:W3CDTF">2020-02-18T10:38:04Z</dcterms:created>
  <dcterms:modified xsi:type="dcterms:W3CDTF">2022-12-06T06:52:13Z</dcterms:modified>
</cp:coreProperties>
</file>