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316" r:id="rId4"/>
    <p:sldId id="317" r:id="rId5"/>
    <p:sldId id="318" r:id="rId6"/>
    <p:sldId id="261" r:id="rId7"/>
    <p:sldId id="320" r:id="rId8"/>
    <p:sldId id="327" r:id="rId9"/>
    <p:sldId id="321" r:id="rId10"/>
    <p:sldId id="322" r:id="rId11"/>
    <p:sldId id="323" r:id="rId12"/>
    <p:sldId id="324" r:id="rId13"/>
    <p:sldId id="325" r:id="rId14"/>
    <p:sldId id="326" r:id="rId15"/>
    <p:sldId id="328" r:id="rId16"/>
    <p:sldId id="329" r:id="rId17"/>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4"/>
  </p:normalViewPr>
  <p:slideViewPr>
    <p:cSldViewPr>
      <p:cViewPr varScale="1">
        <p:scale>
          <a:sx n="109" d="100"/>
          <a:sy n="109" d="100"/>
        </p:scale>
        <p:origin x="1674"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Başlık 7"/>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Alt Başlık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Veri Yer Tutucusu 27"/>
          <p:cNvSpPr>
            <a:spLocks noGrp="1"/>
          </p:cNvSpPr>
          <p:nvPr>
            <p:ph type="dt" sz="half" idx="10"/>
          </p:nvPr>
        </p:nvSpPr>
        <p:spPr bwMode="auto">
          <a:xfrm rot="5400000">
            <a:off x="7764621" y="1174097"/>
            <a:ext cx="2286000" cy="381000"/>
          </a:xfrm>
        </p:spPr>
        <p:txBody>
          <a:bodyPr/>
          <a:lstStyle/>
          <a:p>
            <a:fld id="{A23720DD-5B6D-40BF-8493-A6B52D484E6B}" type="datetimeFigureOut">
              <a:rPr lang="tr-TR" smtClean="0"/>
              <a:t>19.12.2022</a:t>
            </a:fld>
            <a:endParaRPr lang="tr-TR"/>
          </a:p>
        </p:txBody>
      </p:sp>
      <p:sp>
        <p:nvSpPr>
          <p:cNvPr id="17" name="Altbilgi Yer Tutucusu 16"/>
          <p:cNvSpPr>
            <a:spLocks noGrp="1"/>
          </p:cNvSpPr>
          <p:nvPr>
            <p:ph type="ftr" sz="quarter" idx="11"/>
          </p:nvPr>
        </p:nvSpPr>
        <p:spPr bwMode="auto">
          <a:xfrm rot="5400000">
            <a:off x="7077269" y="4181669"/>
            <a:ext cx="3657600" cy="384048"/>
          </a:xfrm>
        </p:spPr>
        <p:txBody>
          <a:bodyPr/>
          <a:lstStyle/>
          <a:p>
            <a:endParaRPr lang="tr-TR"/>
          </a:p>
        </p:txBody>
      </p:sp>
      <p:sp>
        <p:nvSpPr>
          <p:cNvPr id="10" name="Dikdörtgen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Dikdörtgen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Dikdörtgen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üz Bağlayıcı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Düz Bağlayıcı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Düz Bağlayıcı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Dikdörtgen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ayt Numarası Yer Tutucusu 28"/>
          <p:cNvSpPr>
            <a:spLocks noGrp="1"/>
          </p:cNvSpPr>
          <p:nvPr>
            <p:ph type="sldNum" sz="quarter" idx="12"/>
          </p:nvPr>
        </p:nvSpPr>
        <p:spPr bwMode="auto">
          <a:xfrm>
            <a:off x="1325544" y="4928702"/>
            <a:ext cx="609600" cy="517524"/>
          </a:xfrm>
        </p:spPr>
        <p:txBody>
          <a:bodyPr/>
          <a:lstStyle/>
          <a:p>
            <a:fld id="{F302176B-0E47-46AC-8F43-DAB4B8A37D06}" type="slidenum">
              <a:rPr lang="tr-TR" smtClean="0"/>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8" name="İçerik Yer Tutucusu 7"/>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Veri Yer Tutucusu 6"/>
          <p:cNvSpPr>
            <a:spLocks noGrp="1"/>
          </p:cNvSpPr>
          <p:nvPr>
            <p:ph type="dt" sz="half" idx="14"/>
          </p:nvPr>
        </p:nvSpPr>
        <p:spPr/>
        <p:txBody>
          <a:bodyPr rtlCol="0"/>
          <a:lstStyle/>
          <a:p>
            <a:fld id="{A23720DD-5B6D-40BF-8493-A6B52D484E6B}" type="datetimeFigureOut">
              <a:rPr lang="tr-TR" smtClean="0"/>
              <a:t>19.12.2022</a:t>
            </a:fld>
            <a:endParaRPr lang="tr-TR"/>
          </a:p>
        </p:txBody>
      </p:sp>
      <p:sp>
        <p:nvSpPr>
          <p:cNvPr id="9" name="Slayt Numarası Yer Tutucusu 8"/>
          <p:cNvSpPr>
            <a:spLocks noGrp="1"/>
          </p:cNvSpPr>
          <p:nvPr>
            <p:ph type="sldNum" sz="quarter" idx="15"/>
          </p:nvPr>
        </p:nvSpPr>
        <p:spPr/>
        <p:txBody>
          <a:bodyPr rtlCol="0"/>
          <a:lstStyle/>
          <a:p>
            <a:fld id="{F302176B-0E47-46AC-8F43-DAB4B8A37D06}" type="slidenum">
              <a:rPr lang="tr-TR" smtClean="0"/>
              <a:t>‹#›</a:t>
            </a:fld>
            <a:endParaRPr lang="tr-TR"/>
          </a:p>
        </p:txBody>
      </p:sp>
      <p:sp>
        <p:nvSpPr>
          <p:cNvPr id="10" name="Altbilgi Yer Tutucusu 9"/>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Metin Yer Tutucusu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Veri Yer Tutucusu 3"/>
          <p:cNvSpPr>
            <a:spLocks noGrp="1"/>
          </p:cNvSpPr>
          <p:nvPr>
            <p:ph type="dt" sz="half" idx="10"/>
          </p:nvPr>
        </p:nvSpPr>
        <p:spPr bwMode="auto">
          <a:xfrm rot="5400000">
            <a:off x="7763256" y="1170432"/>
            <a:ext cx="2286000" cy="381000"/>
          </a:xfrm>
        </p:spPr>
        <p:txBody>
          <a:bodyPr/>
          <a:lstStyle/>
          <a:p>
            <a:fld id="{A23720DD-5B6D-40BF-8493-A6B52D484E6B}" type="datetimeFigureOut">
              <a:rPr lang="tr-TR" smtClean="0"/>
              <a:t>19.12.2022</a:t>
            </a:fld>
            <a:endParaRPr lang="tr-TR"/>
          </a:p>
        </p:txBody>
      </p:sp>
      <p:sp>
        <p:nvSpPr>
          <p:cNvPr id="5" name="Altbilgi Yer Tutucusu 4"/>
          <p:cNvSpPr>
            <a:spLocks noGrp="1"/>
          </p:cNvSpPr>
          <p:nvPr>
            <p:ph type="ftr" sz="quarter" idx="11"/>
          </p:nvPr>
        </p:nvSpPr>
        <p:spPr bwMode="auto">
          <a:xfrm rot="5400000">
            <a:off x="7077456" y="4178808"/>
            <a:ext cx="3657600" cy="384048"/>
          </a:xfrm>
        </p:spPr>
        <p:txBody>
          <a:bodyPr/>
          <a:lstStyle/>
          <a:p>
            <a:endParaRPr lang="tr-TR"/>
          </a:p>
        </p:txBody>
      </p:sp>
      <p:sp>
        <p:nvSpPr>
          <p:cNvPr id="9" name="Dikdörtgen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Dikdörtgen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ikdörtgen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Düz Bağlayıcı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üz Bağlayıcı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ikdörtgen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Düz Bağlayıcı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ayt Numarası Yer Tutucusu 5"/>
          <p:cNvSpPr>
            <a:spLocks noGrp="1"/>
          </p:cNvSpPr>
          <p:nvPr>
            <p:ph type="sldNum" sz="quarter" idx="12"/>
          </p:nvPr>
        </p:nvSpPr>
        <p:spPr bwMode="auto">
          <a:xfrm>
            <a:off x="1340616" y="4928702"/>
            <a:ext cx="609600" cy="517524"/>
          </a:xfrm>
        </p:spPr>
        <p:txBody>
          <a:bodyPr/>
          <a:lstStyle/>
          <a:p>
            <a:fld id="{F302176B-0E47-46AC-8F43-DAB4B8A37D06}"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5" name="Veri Yer Tutucusu 4"/>
          <p:cNvSpPr>
            <a:spLocks noGrp="1"/>
          </p:cNvSpPr>
          <p:nvPr>
            <p:ph type="dt" sz="half" idx="10"/>
          </p:nvPr>
        </p:nvSpPr>
        <p:spPr/>
        <p:txBody>
          <a:bodyPr/>
          <a:lstStyle/>
          <a:p>
            <a:fld id="{A23720DD-5B6D-40BF-8493-A6B52D484E6B}" type="datetimeFigureOut">
              <a:rPr lang="tr-TR" smtClean="0"/>
              <a:t>19.12.2022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F302176B-0E47-46AC-8F43-DAB4B8A37D06}" type="slidenum">
              <a:rPr lang="tr-TR" smtClean="0"/>
              <a:t>‹#›</a:t>
            </a:fld>
            <a:endParaRPr lang="tr-TR"/>
          </a:p>
        </p:txBody>
      </p:sp>
      <p:sp>
        <p:nvSpPr>
          <p:cNvPr id="9" name="İçerik Yer Tutucusu 8"/>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İçerik Yer Tutucusu 10"/>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Veri Yer Tutucusu 6"/>
          <p:cNvSpPr>
            <a:spLocks noGrp="1"/>
          </p:cNvSpPr>
          <p:nvPr>
            <p:ph type="dt" sz="half" idx="10"/>
          </p:nvPr>
        </p:nvSpPr>
        <p:spPr/>
        <p:txBody>
          <a:bodyPr/>
          <a:lstStyle/>
          <a:p>
            <a:fld id="{A23720DD-5B6D-40BF-8493-A6B52D484E6B}" type="datetimeFigureOut">
              <a:rPr lang="tr-TR" smtClean="0"/>
              <a:t>19.12.2022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F302176B-0E47-46AC-8F43-DAB4B8A37D06}" type="slidenum">
              <a:rPr lang="tr-TR" smtClean="0"/>
              <a:t>‹#›</a:t>
            </a:fld>
            <a:endParaRPr lang="tr-TR"/>
          </a:p>
        </p:txBody>
      </p:sp>
      <p:sp>
        <p:nvSpPr>
          <p:cNvPr id="11" name="İçerik Yer Tutucusu 10"/>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İçerik Yer Tutucusu 12"/>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Metin Yer Tutucusu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Metin Yer Tutucusu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6" name="Veri Yer Tutucusu 5"/>
          <p:cNvSpPr>
            <a:spLocks noGrp="1"/>
          </p:cNvSpPr>
          <p:nvPr>
            <p:ph type="dt" sz="half" idx="10"/>
          </p:nvPr>
        </p:nvSpPr>
        <p:spPr/>
        <p:txBody>
          <a:bodyPr rtlCol="0"/>
          <a:lstStyle/>
          <a:p>
            <a:fld id="{A23720DD-5B6D-40BF-8493-A6B52D484E6B}" type="datetimeFigureOut">
              <a:rPr lang="tr-TR" smtClean="0"/>
              <a:t>19.12.2022</a:t>
            </a:fld>
            <a:endParaRPr lang="tr-TR"/>
          </a:p>
        </p:txBody>
      </p:sp>
      <p:sp>
        <p:nvSpPr>
          <p:cNvPr id="7" name="Slayt Numarası Yer Tutucusu 6"/>
          <p:cNvSpPr>
            <a:spLocks noGrp="1"/>
          </p:cNvSpPr>
          <p:nvPr>
            <p:ph type="sldNum" sz="quarter" idx="11"/>
          </p:nvPr>
        </p:nvSpPr>
        <p:spPr/>
        <p:txBody>
          <a:bodyPr rtlCol="0"/>
          <a:lstStyle/>
          <a:p>
            <a:fld id="{F302176B-0E47-46AC-8F43-DAB4B8A37D06}" type="slidenum">
              <a:rPr lang="tr-TR" smtClean="0"/>
              <a:t>‹#›</a:t>
            </a:fld>
            <a:endParaRPr lang="tr-TR"/>
          </a:p>
        </p:txBody>
      </p:sp>
      <p:sp>
        <p:nvSpPr>
          <p:cNvPr id="8" name="Altbilgi Yer Tutucusu 7"/>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A23720DD-5B6D-40BF-8493-A6B52D484E6B}" type="datetimeFigureOut">
              <a:rPr lang="tr-TR" smtClean="0"/>
              <a:t>19.12.2022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Düz Bağlayıcı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Başlık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Metin Yer Tutucusu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Düz Bağlayıcı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Düz Bağlayıcı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Düz Bağlayıcı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Dikdörtgen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çerik Yer Tutucusu 17"/>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Veri Yer Tutucusu 20"/>
          <p:cNvSpPr>
            <a:spLocks noGrp="1"/>
          </p:cNvSpPr>
          <p:nvPr>
            <p:ph type="dt" sz="half" idx="14"/>
          </p:nvPr>
        </p:nvSpPr>
        <p:spPr/>
        <p:txBody>
          <a:bodyPr rtlCol="0"/>
          <a:lstStyle/>
          <a:p>
            <a:fld id="{A23720DD-5B6D-40BF-8493-A6B52D484E6B}" type="datetimeFigureOut">
              <a:rPr lang="tr-TR" smtClean="0"/>
              <a:t>19.12.2022</a:t>
            </a:fld>
            <a:endParaRPr lang="tr-TR"/>
          </a:p>
        </p:txBody>
      </p:sp>
      <p:sp>
        <p:nvSpPr>
          <p:cNvPr id="22" name="Slayt Numarası Yer Tutucusu 21"/>
          <p:cNvSpPr>
            <a:spLocks noGrp="1"/>
          </p:cNvSpPr>
          <p:nvPr>
            <p:ph type="sldNum" sz="quarter" idx="15"/>
          </p:nvPr>
        </p:nvSpPr>
        <p:spPr/>
        <p:txBody>
          <a:bodyPr rtlCol="0"/>
          <a:lstStyle/>
          <a:p>
            <a:fld id="{F302176B-0E47-46AC-8F43-DAB4B8A37D06}" type="slidenum">
              <a:rPr lang="tr-TR" smtClean="0"/>
              <a:t>‹#›</a:t>
            </a:fld>
            <a:endParaRPr lang="tr-TR"/>
          </a:p>
        </p:txBody>
      </p:sp>
      <p:sp>
        <p:nvSpPr>
          <p:cNvPr id="23" name="Altbilgi Yer Tutucusu 22"/>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Düz Bağlayıcı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Başlık 1"/>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Resim Yer Tutucusu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Metin Yer Tutucusu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Düz Bağlayıcı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Dikdörtgen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üz Bağlayıcı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Düz Bağlayıcı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Düz Bağlayıcı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Veri Yer Tutucusu 16"/>
          <p:cNvSpPr>
            <a:spLocks noGrp="1"/>
          </p:cNvSpPr>
          <p:nvPr>
            <p:ph type="dt" sz="half" idx="10"/>
          </p:nvPr>
        </p:nvSpPr>
        <p:spPr/>
        <p:txBody>
          <a:bodyPr rtlCol="0"/>
          <a:lstStyle/>
          <a:p>
            <a:fld id="{A23720DD-5B6D-40BF-8493-A6B52D484E6B}" type="datetimeFigureOut">
              <a:rPr lang="tr-TR" smtClean="0"/>
              <a:t>19.12.2022</a:t>
            </a:fld>
            <a:endParaRPr lang="tr-TR"/>
          </a:p>
        </p:txBody>
      </p:sp>
      <p:sp>
        <p:nvSpPr>
          <p:cNvPr id="18" name="Slayt Numarası Yer Tutucusu 17"/>
          <p:cNvSpPr>
            <a:spLocks noGrp="1"/>
          </p:cNvSpPr>
          <p:nvPr>
            <p:ph type="sldNum" sz="quarter" idx="11"/>
          </p:nvPr>
        </p:nvSpPr>
        <p:spPr/>
        <p:txBody>
          <a:bodyPr rtlCol="0"/>
          <a:lstStyle/>
          <a:p>
            <a:fld id="{F302176B-0E47-46AC-8F43-DAB4B8A37D06}" type="slidenum">
              <a:rPr lang="tr-TR" smtClean="0"/>
              <a:t>‹#›</a:t>
            </a:fld>
            <a:endParaRPr lang="tr-TR"/>
          </a:p>
        </p:txBody>
      </p:sp>
      <p:sp>
        <p:nvSpPr>
          <p:cNvPr id="21" name="Altbilgi Yer Tutucusu 20"/>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19.12.2022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Dikey Metin Yer Tutucusu 2"/>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19.12.2022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Düz Bağlayıcı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Başlık Yer Tutucusu 21"/>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Metin Yer Tutucusu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Veri Yer Tutucusu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3720DD-5B6D-40BF-8493-A6B52D484E6B}" type="datetimeFigureOut">
              <a:rPr lang="tr-TR" smtClean="0"/>
              <a:t>19.12.2022</a:t>
            </a:fld>
            <a:endParaRPr lang="tr-TR"/>
          </a:p>
        </p:txBody>
      </p:sp>
      <p:sp>
        <p:nvSpPr>
          <p:cNvPr id="3" name="Altbilgi Yer Tutucusu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Düz Bağlayıcı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Düz Bağlayıcı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Dikdörtgen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ayt Numarası Yer Tutucusu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411760" y="2564904"/>
            <a:ext cx="6172200" cy="1894362"/>
          </a:xfrm>
        </p:spPr>
        <p:txBody>
          <a:bodyPr/>
          <a:lstStyle/>
          <a:p>
            <a:r>
              <a:rPr lang="tr-TR" sz="2800" dirty="0" smtClean="0"/>
              <a:t>Yönetim Bilişim Sistemleri</a:t>
            </a:r>
            <a:r>
              <a:rPr lang="tr-TR" sz="2800" dirty="0"/>
              <a:t/>
            </a:r>
            <a:br>
              <a:rPr lang="tr-TR" sz="2800" dirty="0"/>
            </a:br>
            <a:endParaRPr lang="tr-TR" dirty="0"/>
          </a:p>
        </p:txBody>
      </p:sp>
      <p:sp>
        <p:nvSpPr>
          <p:cNvPr id="3" name="Alt Başlık 2"/>
          <p:cNvSpPr>
            <a:spLocks noGrp="1"/>
          </p:cNvSpPr>
          <p:nvPr>
            <p:ph type="subTitle" idx="1"/>
          </p:nvPr>
        </p:nvSpPr>
        <p:spPr/>
        <p:txBody>
          <a:bodyPr>
            <a:normAutofit fontScale="85000" lnSpcReduction="20000"/>
          </a:bodyPr>
          <a:lstStyle/>
          <a:p>
            <a:pPr algn="ctr"/>
            <a:r>
              <a:rPr lang="tr-TR" b="0" dirty="0"/>
              <a:t>Prof. Dr. Tuncay YİĞİT</a:t>
            </a:r>
          </a:p>
          <a:p>
            <a:pPr algn="ctr"/>
            <a:r>
              <a:rPr lang="tr-TR" b="0" dirty="0"/>
              <a:t>Süleyman Demirel Üniversitesi</a:t>
            </a:r>
          </a:p>
          <a:p>
            <a:pPr algn="ctr"/>
            <a:r>
              <a:rPr lang="tr-TR" b="0" dirty="0"/>
              <a:t>Bilgisayar Mühendisliği Bölümü</a:t>
            </a:r>
          </a:p>
          <a:p>
            <a:pPr algn="ctr"/>
            <a:endParaRPr lang="tr-TR" b="0" dirty="0"/>
          </a:p>
          <a:p>
            <a:pPr algn="ctr"/>
            <a:r>
              <a:rPr lang="tr-TR" b="0" dirty="0"/>
              <a:t>ISPARTA 2022</a:t>
            </a:r>
          </a:p>
        </p:txBody>
      </p:sp>
    </p:spTree>
    <p:extLst>
      <p:ext uri="{BB962C8B-B14F-4D97-AF65-F5344CB8AC3E}">
        <p14:creationId xmlns:p14="http://schemas.microsoft.com/office/powerpoint/2010/main" val="19274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HASTANE YÖNETİM BİLGİ SİSTEMİ</a:t>
            </a:r>
            <a:endParaRPr lang="tr-TR" dirty="0"/>
          </a:p>
        </p:txBody>
      </p:sp>
      <p:sp>
        <p:nvSpPr>
          <p:cNvPr id="3" name="İçerik Yer Tutucusu 2"/>
          <p:cNvSpPr>
            <a:spLocks noGrp="1"/>
          </p:cNvSpPr>
          <p:nvPr>
            <p:ph sz="quarter" idx="1"/>
          </p:nvPr>
        </p:nvSpPr>
        <p:spPr>
          <a:xfrm>
            <a:off x="457200" y="1600200"/>
            <a:ext cx="8507288" cy="4709120"/>
          </a:xfrm>
        </p:spPr>
        <p:txBody>
          <a:bodyPr>
            <a:normAutofit fontScale="92500" lnSpcReduction="20000"/>
          </a:bodyPr>
          <a:lstStyle/>
          <a:p>
            <a:r>
              <a:rPr lang="tr-TR" dirty="0"/>
              <a:t>Hastane yönetim bilgi sistemi, hastane işletmelerinin çeşitli düzeylerindeki karar alıcılarına yardımcı olmak amacıyla bilgi toplama ve bilgi yayma fonksiyonlarını üstlenen değişik kaynaklardan elde edilen verileri bütünleyebilen sistemdir. </a:t>
            </a:r>
            <a:endParaRPr lang="tr-TR" dirty="0" smtClean="0"/>
          </a:p>
          <a:p>
            <a:r>
              <a:rPr lang="tr-TR" dirty="0" smtClean="0"/>
              <a:t>Hastane </a:t>
            </a:r>
            <a:r>
              <a:rPr lang="tr-TR" dirty="0"/>
              <a:t>Yönetim Bilgi Sistemi; güvenlik ve bilgi erişim hasta kaydı ve endeks sistemi, poliklinik, klinik, tıbbi kayıt radyoloji, eczane, laboratuvar, ameliyathane, doğum odası, acil servis, döner sermaye ve muhasebe, bordro, personel, stok kontrol ihale dosyaları, satın alma, diyet planlaması, demirbaşların takibi, </a:t>
            </a:r>
            <a:r>
              <a:rPr lang="tr-TR" dirty="0" err="1"/>
              <a:t>v.b</a:t>
            </a:r>
            <a:r>
              <a:rPr lang="tr-TR" dirty="0"/>
              <a:t>. alanlarında kullanılmaktadır. </a:t>
            </a:r>
            <a:r>
              <a:rPr lang="tr-TR" dirty="0" smtClean="0"/>
              <a:t> </a:t>
            </a:r>
          </a:p>
          <a:p>
            <a:r>
              <a:rPr lang="tr-TR" dirty="0" smtClean="0"/>
              <a:t>HASTANE </a:t>
            </a:r>
            <a:r>
              <a:rPr lang="tr-TR" dirty="0"/>
              <a:t>BİLGİ SİSTEMİNİ; </a:t>
            </a:r>
            <a:endParaRPr lang="tr-TR" dirty="0" smtClean="0"/>
          </a:p>
          <a:p>
            <a:pPr lvl="1"/>
            <a:r>
              <a:rPr lang="tr-TR" dirty="0" smtClean="0"/>
              <a:t>1</a:t>
            </a:r>
            <a:r>
              <a:rPr lang="tr-TR" dirty="0"/>
              <a:t>. Yönetimi Desteklemeye İlişkin Sistemler </a:t>
            </a:r>
            <a:endParaRPr lang="tr-TR" dirty="0" smtClean="0"/>
          </a:p>
          <a:p>
            <a:pPr lvl="1"/>
            <a:r>
              <a:rPr lang="tr-TR" dirty="0" smtClean="0"/>
              <a:t>2</a:t>
            </a:r>
            <a:r>
              <a:rPr lang="tr-TR" dirty="0"/>
              <a:t>. Tanı ve Tedaviyi Desteklemeye İlişkin Sistemler </a:t>
            </a:r>
            <a:endParaRPr lang="tr-TR" dirty="0" smtClean="0"/>
          </a:p>
          <a:p>
            <a:pPr lvl="1"/>
            <a:r>
              <a:rPr lang="tr-TR" dirty="0" smtClean="0"/>
              <a:t>3</a:t>
            </a:r>
            <a:r>
              <a:rPr lang="tr-TR" dirty="0"/>
              <a:t>. Entegre (Tam Bütünleşik) Sistemler </a:t>
            </a:r>
            <a:endParaRPr lang="tr-TR" dirty="0" smtClean="0"/>
          </a:p>
          <a:p>
            <a:pPr lvl="1"/>
            <a:r>
              <a:rPr lang="tr-TR" dirty="0" smtClean="0"/>
              <a:t>4</a:t>
            </a:r>
            <a:r>
              <a:rPr lang="tr-TR" dirty="0"/>
              <a:t>. Modüler Hastane Yönetim Bilgi Sistemi </a:t>
            </a:r>
          </a:p>
          <a:p>
            <a:pPr marL="365760" lvl="1" indent="0">
              <a:buNone/>
            </a:pPr>
            <a:r>
              <a:rPr lang="tr-TR" dirty="0" smtClean="0"/>
              <a:t>olarak </a:t>
            </a:r>
            <a:r>
              <a:rPr lang="tr-TR" dirty="0"/>
              <a:t>4 ayrı grupta ele almak mümkündür</a:t>
            </a:r>
            <a:endParaRPr lang="tr-TR" dirty="0"/>
          </a:p>
        </p:txBody>
      </p:sp>
    </p:spTree>
    <p:extLst>
      <p:ext uri="{BB962C8B-B14F-4D97-AF65-F5344CB8AC3E}">
        <p14:creationId xmlns:p14="http://schemas.microsoft.com/office/powerpoint/2010/main" val="278354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YÖNETİMİ DESTEKLEMEYE İLİŞKİN </a:t>
            </a:r>
            <a:r>
              <a:rPr lang="tr-TR" dirty="0" smtClean="0"/>
              <a:t>HASTANE YÖNETİM SİSTEMLER</a:t>
            </a:r>
            <a:endParaRPr lang="tr-TR" dirty="0"/>
          </a:p>
        </p:txBody>
      </p:sp>
      <p:sp>
        <p:nvSpPr>
          <p:cNvPr id="3" name="İçerik Yer Tutucusu 2"/>
          <p:cNvSpPr>
            <a:spLocks noGrp="1"/>
          </p:cNvSpPr>
          <p:nvPr>
            <p:ph sz="quarter" idx="1"/>
          </p:nvPr>
        </p:nvSpPr>
        <p:spPr>
          <a:xfrm>
            <a:off x="457200" y="1600200"/>
            <a:ext cx="8507288" cy="5213176"/>
          </a:xfrm>
        </p:spPr>
        <p:txBody>
          <a:bodyPr>
            <a:normAutofit fontScale="85000" lnSpcReduction="10000"/>
          </a:bodyPr>
          <a:lstStyle/>
          <a:p>
            <a:r>
              <a:rPr lang="tr-TR" dirty="0"/>
              <a:t>Ülkemizde çok yaygın olmamakla birlikte bazı hastanelerde kurulan bilgisayarlar genellikle rutin faaliyetleri yerine getirmekte kullanılmaktadır. </a:t>
            </a:r>
            <a:endParaRPr lang="tr-TR" dirty="0" smtClean="0"/>
          </a:p>
          <a:p>
            <a:r>
              <a:rPr lang="tr-TR" dirty="0" smtClean="0"/>
              <a:t>Bu </a:t>
            </a:r>
            <a:r>
              <a:rPr lang="tr-TR" dirty="0"/>
              <a:t>bilgisayar sistemleri ile; hastadan alınan ücretlerin faturalandırılmasından, takibine kadar pek çok işi takip etmek mümkündür. </a:t>
            </a:r>
            <a:endParaRPr lang="tr-TR" dirty="0" smtClean="0"/>
          </a:p>
          <a:p>
            <a:r>
              <a:rPr lang="tr-TR" dirty="0" smtClean="0"/>
              <a:t>Günlük </a:t>
            </a:r>
            <a:r>
              <a:rPr lang="tr-TR" dirty="0"/>
              <a:t>malzeme işlemlerin takibi yanında bilgisayarlar yönetime bilgi sağlamak amacıyla da kullanılmalıdır. Hastane yönetim bilgi sistemi değişik biçimlerde kurulabilmektedir. </a:t>
            </a:r>
            <a:endParaRPr lang="tr-TR" dirty="0" smtClean="0"/>
          </a:p>
          <a:p>
            <a:r>
              <a:rPr lang="tr-TR" dirty="0" smtClean="0"/>
              <a:t>İlk </a:t>
            </a:r>
            <a:r>
              <a:rPr lang="tr-TR" dirty="0"/>
              <a:t>uygulamalarda genel amaçlı orta ve büyük boy bilgisayarlardan yararlanılmış mini bilgisayarların piyasaya sürülmesi ile küçük kapasiteli hastaneler bu sistemi tercih etmişlerdir </a:t>
            </a:r>
            <a:endParaRPr lang="tr-TR" dirty="0" smtClean="0"/>
          </a:p>
          <a:p>
            <a:r>
              <a:rPr lang="tr-TR" dirty="0" smtClean="0"/>
              <a:t>Hastane </a:t>
            </a:r>
            <a:r>
              <a:rPr lang="tr-TR" dirty="0"/>
              <a:t>yönetim bilgi sistemi genellikle; kaynak kullanımı ve programlama sistemlerinden, mali yönetim sistemlerinden malzeme ve tesis yönetim sistemlerinden, personel yönetim sistemlerinden oluşmuş bir bütünleşik (entegre) yönetim bilgi sistemidir.</a:t>
            </a:r>
            <a:endParaRPr lang="tr-TR" dirty="0"/>
          </a:p>
        </p:txBody>
      </p:sp>
    </p:spTree>
    <p:extLst>
      <p:ext uri="{BB962C8B-B14F-4D97-AF65-F5344CB8AC3E}">
        <p14:creationId xmlns:p14="http://schemas.microsoft.com/office/powerpoint/2010/main" val="116088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HYS KAYNAK </a:t>
            </a:r>
            <a:r>
              <a:rPr lang="tr-TR" dirty="0"/>
              <a:t>KULLANIMI VE PROGRAMLAMA SİSTEMİ</a:t>
            </a:r>
            <a:endParaRPr lang="tr-TR" dirty="0"/>
          </a:p>
        </p:txBody>
      </p:sp>
      <p:sp>
        <p:nvSpPr>
          <p:cNvPr id="3" name="İçerik Yer Tutucusu 2"/>
          <p:cNvSpPr>
            <a:spLocks noGrp="1"/>
          </p:cNvSpPr>
          <p:nvPr>
            <p:ph sz="quarter" idx="1"/>
          </p:nvPr>
        </p:nvSpPr>
        <p:spPr>
          <a:xfrm>
            <a:off x="457200" y="1600200"/>
            <a:ext cx="8507288" cy="5141168"/>
          </a:xfrm>
        </p:spPr>
        <p:txBody>
          <a:bodyPr>
            <a:normAutofit fontScale="62500" lnSpcReduction="20000"/>
          </a:bodyPr>
          <a:lstStyle/>
          <a:p>
            <a:r>
              <a:rPr lang="tr-TR" dirty="0"/>
              <a:t>İhtiyaçların çok büyük parasal yatırım gerektirmesi ve kaynakların gittikçe azalması, etkin kaynak kullanımını gündeme getirmektedir. </a:t>
            </a:r>
            <a:endParaRPr lang="tr-TR" dirty="0" smtClean="0"/>
          </a:p>
          <a:p>
            <a:r>
              <a:rPr lang="tr-TR" dirty="0" err="1" smtClean="0"/>
              <a:t>A.B.D</a:t>
            </a:r>
            <a:r>
              <a:rPr lang="tr-TR" dirty="0" err="1"/>
              <a:t>.'deki</a:t>
            </a:r>
            <a:r>
              <a:rPr lang="tr-TR" dirty="0"/>
              <a:t> bir çok hastanede dolu yatak oranını, </a:t>
            </a:r>
            <a:r>
              <a:rPr lang="tr-TR" dirty="0" err="1"/>
              <a:t>klınik</a:t>
            </a:r>
            <a:r>
              <a:rPr lang="tr-TR" dirty="0"/>
              <a:t> ve acil servis faaliyetlerini, malzeme ve cihaz kullanımını programlamak ve izlemek üzere bilgi sistemleri geliştirilmiştir. </a:t>
            </a:r>
            <a:endParaRPr lang="tr-TR" dirty="0" smtClean="0"/>
          </a:p>
          <a:p>
            <a:r>
              <a:rPr lang="tr-TR" dirty="0" smtClean="0"/>
              <a:t>Bu </a:t>
            </a:r>
            <a:r>
              <a:rPr lang="tr-TR" dirty="0"/>
              <a:t>suretle etkin bir kaynak dağılımı gerçekleştirilmekte ve hastalara da kolaylık sağlanmış olmaktadır. Özellikle hastanın yatış günü ve ameliyat gününün önceden belirlenmesinde bu sistem çok yararlı olmaktadır. </a:t>
            </a:r>
            <a:endParaRPr lang="tr-TR" dirty="0" smtClean="0"/>
          </a:p>
          <a:p>
            <a:r>
              <a:rPr lang="tr-TR" dirty="0" smtClean="0"/>
              <a:t>Bilgi </a:t>
            </a:r>
            <a:r>
              <a:rPr lang="tr-TR" dirty="0"/>
              <a:t>sistem programı ; daha önce hastaneye kabul edilmiş hastaların tanı, operasyon ve tedavilerinin sonuçları ve hastanın yaşı cinsiyeti gibi verilere dayanarak hesaplanan ortalama yatış ve işlem sürelerinin belirlenmesinde ve yeni </a:t>
            </a:r>
            <a:r>
              <a:rPr lang="tr-TR" dirty="0" err="1"/>
              <a:t>başuvuruları</a:t>
            </a:r>
            <a:r>
              <a:rPr lang="tr-TR" dirty="0"/>
              <a:t> değerlendirmede kullanılabilir. Bu değerlendirme sonucuna göre gelecek günlerin hasta kabul sırası ve yoğunluğu belirlenebilir. </a:t>
            </a:r>
            <a:endParaRPr lang="tr-TR" dirty="0" smtClean="0"/>
          </a:p>
          <a:p>
            <a:r>
              <a:rPr lang="tr-TR" dirty="0" smtClean="0"/>
              <a:t>Yukarıda </a:t>
            </a:r>
            <a:r>
              <a:rPr lang="tr-TR" dirty="0"/>
              <a:t>sözü edilen sistemin bir benzeri </a:t>
            </a:r>
            <a:r>
              <a:rPr lang="tr-TR" dirty="0" err="1"/>
              <a:t>Massacusetts</a:t>
            </a:r>
            <a:r>
              <a:rPr lang="tr-TR" dirty="0"/>
              <a:t> Genel Hastanesi Boston'da 1968 yılından beri işlevdedir. </a:t>
            </a:r>
            <a:endParaRPr lang="tr-TR" dirty="0" smtClean="0"/>
          </a:p>
          <a:p>
            <a:r>
              <a:rPr lang="tr-TR" dirty="0" smtClean="0"/>
              <a:t>Polikliniklerde </a:t>
            </a:r>
            <a:r>
              <a:rPr lang="tr-TR" dirty="0"/>
              <a:t>ön kayıt ve randevu sistemi daha da önemli ve gereklidir. Bilgi sistemi, her başvuruda kabul gün ve saatini bildirecek biçimde düzenlenmiştir. Ayrıca analiz yoluyla da kliniklerde hasta tiplerine, haftanın günlerine ve günün saatlerine göre "Boş geçen zaman" oranları hesaplanabilir. Bu bilgi, hastane yöneticilerine görev dağıtımının programlanmasında yardımcı olmaktadır. Kabul edilecek hastaların bir gün önceden otomatik olarak .verilmesi, kliniklerin hasta kayıtlarının tutulmasında da kullanılmaktadır. </a:t>
            </a:r>
            <a:endParaRPr lang="tr-TR" dirty="0" smtClean="0"/>
          </a:p>
          <a:p>
            <a:r>
              <a:rPr lang="tr-TR" dirty="0" smtClean="0"/>
              <a:t>Türkiye </a:t>
            </a:r>
            <a:r>
              <a:rPr lang="tr-TR" dirty="0"/>
              <a:t>‘de son 3 yıldır bu sistemler aktif olarak kullanılıyor.</a:t>
            </a:r>
            <a:endParaRPr lang="tr-TR" dirty="0"/>
          </a:p>
        </p:txBody>
      </p:sp>
    </p:spTree>
    <p:extLst>
      <p:ext uri="{BB962C8B-B14F-4D97-AF65-F5344CB8AC3E}">
        <p14:creationId xmlns:p14="http://schemas.microsoft.com/office/powerpoint/2010/main" val="450204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HYS DE MALİ </a:t>
            </a:r>
            <a:r>
              <a:rPr lang="tr-TR" dirty="0"/>
              <a:t>YÖNETİM BİLGİ SİSTEMİ</a:t>
            </a:r>
            <a:endParaRPr lang="tr-TR" dirty="0"/>
          </a:p>
        </p:txBody>
      </p:sp>
      <p:sp>
        <p:nvSpPr>
          <p:cNvPr id="3" name="İçerik Yer Tutucusu 2"/>
          <p:cNvSpPr>
            <a:spLocks noGrp="1"/>
          </p:cNvSpPr>
          <p:nvPr>
            <p:ph sz="quarter" idx="1"/>
          </p:nvPr>
        </p:nvSpPr>
        <p:spPr>
          <a:xfrm>
            <a:off x="457200" y="1600200"/>
            <a:ext cx="8075240" cy="5257800"/>
          </a:xfrm>
        </p:spPr>
        <p:txBody>
          <a:bodyPr>
            <a:noAutofit/>
          </a:bodyPr>
          <a:lstStyle/>
          <a:p>
            <a:r>
              <a:rPr lang="tr-TR" sz="1400" dirty="0"/>
              <a:t>Maliyetlerin hızla yükseldiği ve mali yönden hesap verme sorumluluğunun ve hesap verilecek makamların hızla arttığı talep çağında hastane yöneticileri şiddetli bir biçimde güvenilir mali yönetim sisteminin gerekliliğini hissetmektedirler. </a:t>
            </a:r>
            <a:endParaRPr lang="tr-TR" sz="1400" dirty="0" smtClean="0"/>
          </a:p>
          <a:p>
            <a:r>
              <a:rPr lang="tr-TR" sz="1400" dirty="0" smtClean="0"/>
              <a:t>Genellikle </a:t>
            </a:r>
            <a:r>
              <a:rPr lang="tr-TR" sz="1400" dirty="0"/>
              <a:t>hastanelerde bilgisayar kullanımı ilk olarak mali bilgi sistemi alanında olmuştur. Sağlık hizmetleri alanında en önemli sorununun, bu gün olduğu gibi geçmişte de gelir-gider dengesinin sağlanarak sağlam bir yapı içerisinde büyümek olduğu bilinmektedir. </a:t>
            </a:r>
            <a:endParaRPr lang="tr-TR" sz="1400" dirty="0" smtClean="0"/>
          </a:p>
          <a:p>
            <a:r>
              <a:rPr lang="tr-TR" sz="1400" dirty="0" smtClean="0"/>
              <a:t>Mali </a:t>
            </a:r>
            <a:r>
              <a:rPr lang="tr-TR" sz="1400" dirty="0"/>
              <a:t>bilgi sistemi, hastanelerde verimlilik performansının ne olduğunu gösterme açısından yöneticilerin vazgeçemeyecekleri bir konudur. Bir mali yönetim bilgi sisteminin amaçları şu şekilde sıralanabilir </a:t>
            </a:r>
            <a:endParaRPr lang="tr-TR" sz="1400" dirty="0" smtClean="0"/>
          </a:p>
          <a:p>
            <a:pPr lvl="1"/>
            <a:r>
              <a:rPr lang="tr-TR" sz="1400" dirty="0" smtClean="0"/>
              <a:t>- </a:t>
            </a:r>
            <a:r>
              <a:rPr lang="tr-TR" sz="1400" dirty="0"/>
              <a:t>Günlük muhasebe işlemlerini yürütmek, </a:t>
            </a:r>
            <a:endParaRPr lang="tr-TR" sz="1400" dirty="0" smtClean="0"/>
          </a:p>
          <a:p>
            <a:pPr lvl="1"/>
            <a:r>
              <a:rPr lang="tr-TR" sz="1400" dirty="0" smtClean="0"/>
              <a:t>- </a:t>
            </a:r>
            <a:r>
              <a:rPr lang="tr-TR" sz="1400" dirty="0"/>
              <a:t>Yatırım kararlarında giderin en aza indirilmesi için gerekli sayısal bilgileri sağlamak, </a:t>
            </a:r>
            <a:endParaRPr lang="tr-TR" sz="1400" dirty="0" smtClean="0"/>
          </a:p>
          <a:p>
            <a:pPr lvl="1"/>
            <a:r>
              <a:rPr lang="tr-TR" sz="1400" dirty="0" smtClean="0"/>
              <a:t>- </a:t>
            </a:r>
            <a:r>
              <a:rPr lang="tr-TR" sz="1400" dirty="0"/>
              <a:t>Etkin bir mali işlemler alt bilgi sistemi kurmak, </a:t>
            </a:r>
            <a:endParaRPr lang="tr-TR" sz="1400" dirty="0" smtClean="0"/>
          </a:p>
          <a:p>
            <a:pPr lvl="1"/>
            <a:r>
              <a:rPr lang="tr-TR" sz="1400" dirty="0" smtClean="0"/>
              <a:t>- </a:t>
            </a:r>
            <a:r>
              <a:rPr lang="tr-TR" sz="1400" dirty="0"/>
              <a:t>Mali işlemlerin denetim ve değerlendirilmesinde kullanılacak mali raporları hazırlamak. </a:t>
            </a:r>
          </a:p>
          <a:p>
            <a:pPr marL="274320" lvl="1">
              <a:spcBef>
                <a:spcPts val="600"/>
              </a:spcBef>
              <a:buSzPct val="70000"/>
              <a:buFont typeface="Wingdings"/>
              <a:buChar char=""/>
            </a:pPr>
            <a:r>
              <a:rPr lang="tr-TR" sz="1400" dirty="0" smtClean="0"/>
              <a:t> </a:t>
            </a:r>
            <a:r>
              <a:rPr lang="tr-TR" sz="1400" dirty="0"/>
              <a:t>Burada en önemli olan şey çok iyi bir muhasebe sistemine sahip olmak. </a:t>
            </a:r>
            <a:endParaRPr lang="tr-TR" sz="1400" dirty="0" smtClean="0"/>
          </a:p>
          <a:p>
            <a:pPr marL="274320" lvl="1">
              <a:spcBef>
                <a:spcPts val="600"/>
              </a:spcBef>
              <a:buSzPct val="70000"/>
              <a:buFont typeface="Wingdings"/>
              <a:buChar char=""/>
            </a:pPr>
            <a:r>
              <a:rPr lang="tr-TR" sz="1400" dirty="0" smtClean="0"/>
              <a:t>Bir </a:t>
            </a:r>
            <a:r>
              <a:rPr lang="tr-TR" sz="1400" dirty="0"/>
              <a:t>hastanede, mali yönetim bilgi sisteminin geliştirilmesi için önce iyi bir muhasebe sisteminin kurulması gerekmektedir. </a:t>
            </a:r>
            <a:endParaRPr lang="tr-TR" sz="1400" dirty="0" smtClean="0"/>
          </a:p>
          <a:p>
            <a:pPr marL="274320" lvl="1">
              <a:spcBef>
                <a:spcPts val="600"/>
              </a:spcBef>
              <a:buSzPct val="70000"/>
              <a:buFont typeface="Wingdings"/>
              <a:buChar char=""/>
            </a:pPr>
            <a:r>
              <a:rPr lang="tr-TR" sz="1400" dirty="0" smtClean="0"/>
              <a:t>Hastane </a:t>
            </a:r>
            <a:r>
              <a:rPr lang="tr-TR" sz="1400" dirty="0"/>
              <a:t>muhasebe sistemi; hastane işletmesi hakkında parasal yönden bilgi sağlamak üzere veri toplar, bunları </a:t>
            </a:r>
            <a:r>
              <a:rPr lang="tr-TR" sz="1400" dirty="0" err="1"/>
              <a:t>birleştirir,analiz</a:t>
            </a:r>
            <a:r>
              <a:rPr lang="tr-TR" sz="1400" dirty="0"/>
              <a:t> eder ve raporlar hazırlayarak yöneticilere (Hastane müdürü, Başhekim, Yönetim kurulu) mali konular da sağlar</a:t>
            </a:r>
          </a:p>
        </p:txBody>
      </p:sp>
    </p:spTree>
    <p:extLst>
      <p:ext uri="{BB962C8B-B14F-4D97-AF65-F5344CB8AC3E}">
        <p14:creationId xmlns:p14="http://schemas.microsoft.com/office/powerpoint/2010/main" val="2189448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HYS DE MALİ YÖNETİM BİLGİ SİSTEMİ</a:t>
            </a:r>
            <a:endParaRPr lang="tr-TR" dirty="0"/>
          </a:p>
        </p:txBody>
      </p:sp>
      <p:sp>
        <p:nvSpPr>
          <p:cNvPr id="4" name="Content Placeholder 2"/>
          <p:cNvSpPr>
            <a:spLocks noGrp="1"/>
          </p:cNvSpPr>
          <p:nvPr>
            <p:ph sz="quarter" idx="1"/>
          </p:nvPr>
        </p:nvSpPr>
        <p:spPr>
          <a:xfrm>
            <a:off x="457200" y="1628800"/>
            <a:ext cx="8219256" cy="4968552"/>
          </a:xfrm>
        </p:spPr>
        <p:txBody>
          <a:bodyPr>
            <a:normAutofit/>
          </a:bodyPr>
          <a:lstStyle/>
          <a:p>
            <a:r>
              <a:rPr lang="tr-TR" sz="1800" dirty="0"/>
              <a:t>Hastane mali bilgi sistemlerinin kurulmasında iki farklı yöntem söz konusudur. </a:t>
            </a:r>
            <a:endParaRPr lang="tr-TR" sz="1800" dirty="0"/>
          </a:p>
          <a:p>
            <a:r>
              <a:rPr lang="tr-TR" sz="1800" dirty="0"/>
              <a:t>Bunlardan </a:t>
            </a:r>
            <a:r>
              <a:rPr lang="tr-TR" sz="1800" dirty="0"/>
              <a:t>birincisi; hastane mali yönetimi ve muhasebesinin her birim için bağımsız olarak kurulması, ikincisi ise her birimdeki bilgisayarın birbiri ile ilişkili olarak planlama, takip ve denetleme işlevini yürütecek şekilde tam bütünleşik bir mali yönetim bilgi sisteminin kurulmasıdır. Kısaca birinci sistemde her birimdeki faaliyet diğer birimlerden bağımsız, ikinci sistem ise bütünleşik bir yapıdadır. </a:t>
            </a:r>
            <a:endParaRPr lang="tr-TR" sz="1800" dirty="0"/>
          </a:p>
          <a:p>
            <a:r>
              <a:rPr lang="tr-TR" sz="1800" dirty="0"/>
              <a:t>İkinci </a:t>
            </a:r>
            <a:r>
              <a:rPr lang="tr-TR" sz="1800" dirty="0"/>
              <a:t>sistem olan tam bütünleşik mali yönetim sistemi ise; </a:t>
            </a:r>
            <a:r>
              <a:rPr lang="tr-TR" sz="1800" dirty="0"/>
              <a:t>yönetimin her düzeyi için gerekli zamanlarda ve anlamlı bilgiler sağlayamaya yönelik geliştirilmektedir. </a:t>
            </a:r>
            <a:endParaRPr lang="tr-TR" sz="1800" dirty="0" smtClean="0"/>
          </a:p>
          <a:p>
            <a:r>
              <a:rPr lang="tr-TR" sz="1800" dirty="0" smtClean="0"/>
              <a:t>Kaliforniya </a:t>
            </a:r>
            <a:r>
              <a:rPr lang="tr-TR" sz="1800" dirty="0"/>
              <a:t>Üniversitesi, Los </a:t>
            </a:r>
            <a:r>
              <a:rPr lang="tr-TR" sz="1800" dirty="0" err="1"/>
              <a:t>Angles</a:t>
            </a:r>
            <a:r>
              <a:rPr lang="tr-TR" sz="1800" dirty="0"/>
              <a:t> hastaneleri için böyle bir sistem kurmuştur. Bu sistem 65 ana bilgisayar programını içermekte ve 36 değişik rapor hazırlayabilmektedir </a:t>
            </a:r>
            <a:endParaRPr lang="tr-TR" sz="1800" dirty="0" smtClean="0"/>
          </a:p>
          <a:p>
            <a:r>
              <a:rPr lang="tr-TR" sz="1800" dirty="0" smtClean="0"/>
              <a:t>AVRASYA </a:t>
            </a:r>
            <a:r>
              <a:rPr lang="tr-TR" sz="1800" dirty="0"/>
              <a:t>HOSPİTAL’DA BENZER BİR SİSTEM KULLANILIYOR</a:t>
            </a:r>
            <a:endParaRPr lang="en-US" sz="1800" dirty="0"/>
          </a:p>
        </p:txBody>
      </p:sp>
    </p:spTree>
    <p:extLst>
      <p:ext uri="{BB962C8B-B14F-4D97-AF65-F5344CB8AC3E}">
        <p14:creationId xmlns:p14="http://schemas.microsoft.com/office/powerpoint/2010/main" val="21297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HYS DE MALZEME </a:t>
            </a:r>
            <a:r>
              <a:rPr lang="tr-TR" dirty="0"/>
              <a:t>VE TESİS YÖNETİM BİLGİ SİSTEMİ</a:t>
            </a:r>
            <a:endParaRPr lang="tr-TR" dirty="0"/>
          </a:p>
        </p:txBody>
      </p:sp>
      <p:sp>
        <p:nvSpPr>
          <p:cNvPr id="4" name="Content Placeholder 2"/>
          <p:cNvSpPr>
            <a:spLocks noGrp="1"/>
          </p:cNvSpPr>
          <p:nvPr>
            <p:ph sz="quarter" idx="1"/>
          </p:nvPr>
        </p:nvSpPr>
        <p:spPr>
          <a:xfrm>
            <a:off x="457200" y="1628800"/>
            <a:ext cx="8219256" cy="4968552"/>
          </a:xfrm>
        </p:spPr>
        <p:txBody>
          <a:bodyPr>
            <a:normAutofit fontScale="77500" lnSpcReduction="20000"/>
          </a:bodyPr>
          <a:lstStyle/>
          <a:p>
            <a:r>
              <a:rPr lang="tr-TR" sz="1800" dirty="0"/>
              <a:t>Yönetime bilgi sağlayan başlıca araçlardan olan bilgisayarlar tesisler ve malzemelerin daha verimli yönetiminde hastanelere yardımcı olmaktadır. Örneğin satın alma, envanter denetimi, yiyecek yönetimi ve yemek listesi hazırlama, tesis bakımlarını izleme, enerji yönetimi, projeleri programlama, ve denetim konuları bu kapsam da yer alan bazı konulardır. </a:t>
            </a:r>
            <a:endParaRPr lang="tr-TR" sz="1800" dirty="0" smtClean="0"/>
          </a:p>
          <a:p>
            <a:r>
              <a:rPr lang="tr-TR" sz="1800" dirty="0" smtClean="0"/>
              <a:t>Hastanelerde </a:t>
            </a:r>
            <a:r>
              <a:rPr lang="tr-TR" sz="1800" dirty="0"/>
              <a:t>araç-gereç ve malzeme istekleri bilgisayar destekli </a:t>
            </a:r>
            <a:r>
              <a:rPr lang="tr-TR" sz="1800" dirty="0" err="1"/>
              <a:t>satınalma</a:t>
            </a:r>
            <a:r>
              <a:rPr lang="tr-TR" sz="1800" dirty="0"/>
              <a:t> sistemine girdi olarak verilir. Bu istekler bilgisayara girer ve mali denetim için bütçe izni bakımından karşılaştırılır. Malzeme hesabının aşılmış olması halinde uyarılır ve izlenmesi için ilgili denetçiye iletilir. Bütçe hesabından onay alınırsa, bilgisayar sipariş talimatını </a:t>
            </a:r>
            <a:r>
              <a:rPr lang="tr-TR" sz="1800" dirty="0" err="1"/>
              <a:t>oluşturur.Malzeme</a:t>
            </a:r>
            <a:r>
              <a:rPr lang="tr-TR" sz="1800" dirty="0"/>
              <a:t> teslim alınınca da alındı kaydı bilgisayara verilir ve ilk kayıt ile karşılaştırılır. Otomatik </a:t>
            </a:r>
            <a:r>
              <a:rPr lang="tr-TR" sz="1800" dirty="0" err="1"/>
              <a:t>satınalma</a:t>
            </a:r>
            <a:r>
              <a:rPr lang="tr-TR" sz="1800" dirty="0"/>
              <a:t> sistemlerinin çoğu, hastane ödeme emri hesabına doğrudan bağlı bulunmaktadır. Bazıları ise, seçilmiş kalemleri otomatik olarak yeniden sipariş verebilmektedir. </a:t>
            </a:r>
            <a:endParaRPr lang="tr-TR" sz="1800" dirty="0" smtClean="0"/>
          </a:p>
          <a:p>
            <a:r>
              <a:rPr lang="tr-TR" sz="1800" dirty="0" smtClean="0"/>
              <a:t>"</a:t>
            </a:r>
            <a:r>
              <a:rPr lang="tr-TR" sz="1800" dirty="0"/>
              <a:t>Phoenix </a:t>
            </a:r>
            <a:r>
              <a:rPr lang="tr-TR" sz="1800" dirty="0" err="1"/>
              <a:t>Baptist</a:t>
            </a:r>
            <a:r>
              <a:rPr lang="tr-TR" sz="1800" dirty="0"/>
              <a:t>" hastanesi tıbbi ve cerrahi tedariklerden büro malzemeleri tedarikine kadar 1000 standart stok maddesi için bir </a:t>
            </a:r>
            <a:r>
              <a:rPr lang="tr-TR" sz="1800" dirty="0" err="1"/>
              <a:t>otamatik</a:t>
            </a:r>
            <a:r>
              <a:rPr lang="tr-TR" sz="1800" dirty="0"/>
              <a:t> kontrol sistemi işletmektedir. Bu hastanede bütünleşik (entegre) bir bilgi yönetim sistemi mevcuttur. Sistem, bir haftalık gelir analiz raporu verebilmektedir. Bu rapor, her madde için maliyeti, alımların niteliğini, eldeki mevcut stok durumunu, tekrar düzenlenen noktaları, stok dışı şartları, otomatik olarak vermesi gerekli bilgileri içerecek şekilde vermektedir. </a:t>
            </a:r>
            <a:endParaRPr lang="tr-TR" sz="1800" dirty="0" smtClean="0"/>
          </a:p>
          <a:p>
            <a:r>
              <a:rPr lang="tr-TR" sz="1800" dirty="0" smtClean="0"/>
              <a:t>Bilgisayar </a:t>
            </a:r>
            <a:r>
              <a:rPr lang="tr-TR" sz="1800" dirty="0"/>
              <a:t>destekli menü hazırlanması son yıllarda yaygın olarak kullanılmaya </a:t>
            </a:r>
            <a:r>
              <a:rPr lang="tr-TR" sz="1800" dirty="0" err="1"/>
              <a:t>başlamıştır.Hastanın</a:t>
            </a:r>
            <a:r>
              <a:rPr lang="tr-TR" sz="1800" dirty="0"/>
              <a:t> durumuna göre gerekli besinler bilgisayar ortamında </a:t>
            </a:r>
            <a:r>
              <a:rPr lang="tr-TR" sz="1800" dirty="0" err="1"/>
              <a:t>ayarlanır.Bu</a:t>
            </a:r>
            <a:r>
              <a:rPr lang="tr-TR" sz="1800" dirty="0"/>
              <a:t> tür işlevleri yapan özel programlar piyasada mevcuttur. </a:t>
            </a:r>
            <a:endParaRPr lang="tr-TR" sz="1800" dirty="0" smtClean="0"/>
          </a:p>
          <a:p>
            <a:r>
              <a:rPr lang="tr-TR" sz="1800" dirty="0" smtClean="0"/>
              <a:t>Hastanede </a:t>
            </a:r>
            <a:r>
              <a:rPr lang="tr-TR" sz="1800" dirty="0"/>
              <a:t>mevcut araç-gereç ve cihazların bakım işlerinin programlanması ve bu konuda rapor hazırlamak amacı ile de sistemler geliştirilmiştir. Bu sistemler, denetçi raporları, yedek parça envanter denetimi, bakım gideri gibi işlevleri üstlenmektedir. Ayrıca, hastane yöneticisi malzeme tesis yönetim sisteminden </a:t>
            </a:r>
            <a:r>
              <a:rPr lang="tr-TR" sz="1800" dirty="0" err="1"/>
              <a:t>işğücü</a:t>
            </a:r>
            <a:r>
              <a:rPr lang="tr-TR" sz="1800" dirty="0"/>
              <a:t> dağıtımı, görevlilerin ve kaynak kullanımının denetimi gibi konularda da yararlanabilmektedir</a:t>
            </a:r>
            <a:endParaRPr lang="en-US" sz="1800" dirty="0"/>
          </a:p>
        </p:txBody>
      </p:sp>
    </p:spTree>
    <p:extLst>
      <p:ext uri="{BB962C8B-B14F-4D97-AF65-F5344CB8AC3E}">
        <p14:creationId xmlns:p14="http://schemas.microsoft.com/office/powerpoint/2010/main" val="203064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HYS DE MALZEME </a:t>
            </a:r>
            <a:r>
              <a:rPr lang="tr-TR" dirty="0"/>
              <a:t>VE TESİS YÖNETİM BİLGİ SİSTEMİ</a:t>
            </a:r>
            <a:endParaRPr lang="tr-TR" dirty="0"/>
          </a:p>
        </p:txBody>
      </p:sp>
      <p:sp>
        <p:nvSpPr>
          <p:cNvPr id="4" name="Content Placeholder 2"/>
          <p:cNvSpPr>
            <a:spLocks noGrp="1"/>
          </p:cNvSpPr>
          <p:nvPr>
            <p:ph sz="quarter" idx="1"/>
          </p:nvPr>
        </p:nvSpPr>
        <p:spPr>
          <a:xfrm>
            <a:off x="457200" y="1628800"/>
            <a:ext cx="8219256" cy="4968552"/>
          </a:xfrm>
        </p:spPr>
        <p:txBody>
          <a:bodyPr>
            <a:normAutofit fontScale="92500" lnSpcReduction="20000"/>
          </a:bodyPr>
          <a:lstStyle/>
          <a:p>
            <a:r>
              <a:rPr lang="tr-TR" sz="1800" dirty="0"/>
              <a:t>Hastane yönetiminde bilgisayar destekli malzeme yönetim bilgi sistemine geçilmesinin en önemli sebeplerinden biri, hastaneye girişi yapılan ve kullanılan her tür malzemenin yönetim kademesi tarafından takip ve kontrolünün yapılabilmesini sağlamaktır. Her tür demirbaş ve sarf malzemesinin tüketimi yönetim tarafından sıkı bir şekilde denetlenebildiği takdirde hastanenin gelir gider dengesini optimum düzeyde tutmak daha kolay olacaktır. </a:t>
            </a:r>
            <a:endParaRPr lang="tr-TR" sz="1800" dirty="0" smtClean="0"/>
          </a:p>
          <a:p>
            <a:r>
              <a:rPr lang="tr-TR" sz="1800" dirty="0" smtClean="0"/>
              <a:t>Bilindiği </a:t>
            </a:r>
            <a:r>
              <a:rPr lang="tr-TR" sz="1800" dirty="0"/>
              <a:t>gibi hastanelerde demirbaş ve sarf malzemeleri olmak üzere iki tür malzeme vardır. Sarf malzemeleri genelde tıbbi amaçlı olabildiği gibi </a:t>
            </a:r>
            <a:r>
              <a:rPr lang="tr-TR" sz="1800" dirty="0" err="1"/>
              <a:t>mutfakçamaşırhane</a:t>
            </a:r>
            <a:r>
              <a:rPr lang="tr-TR" sz="1800" dirty="0"/>
              <a:t> gibi ünitelere alınmış gıda ve temizlik </a:t>
            </a:r>
            <a:r>
              <a:rPr lang="tr-TR" sz="1800" dirty="0" err="1"/>
              <a:t>malzemeleride</a:t>
            </a:r>
            <a:r>
              <a:rPr lang="tr-TR" sz="1800" dirty="0"/>
              <a:t> olabilir. Burada önemli olan malzemenin içeriği değil malzeme yönetim bilgi sistemi tarafından bu malzemelerin kabulünden sarfına kadar izlenmesidir. İzleme faaliyeti kurulacak bilgisayar desteği ile sağlanabilir. Bu sistem hastane genelinde tüm malzemenin kontrolünü hızlı bir şekilde yapan bir otomasyon sistemidir. </a:t>
            </a:r>
            <a:endParaRPr lang="tr-TR" sz="1800" dirty="0" smtClean="0"/>
          </a:p>
          <a:p>
            <a:r>
              <a:rPr lang="tr-TR" sz="1800" dirty="0" smtClean="0"/>
              <a:t>Malzemenin </a:t>
            </a:r>
            <a:r>
              <a:rPr lang="tr-TR" sz="1800" dirty="0"/>
              <a:t>kabulü, hastanenin ihtiyaç olarak tespit ettiği kalemlerin uygun bir prosedür içerisinde satın alınarak hastaneye girişinin yapılmasını, malzemenin kullanım safhası ise, hastaneye alınmış olan malzemelerin gerek hastane içinde stoklanarak, gerekse stok yapılmadan kullanımını yöneten fonksiyonları içermektedir. Bu iki temel faaliyetin yerine getirilmesinde yönetim bilgi sistemi prensipleri kullanılır.</a:t>
            </a:r>
            <a:endParaRPr lang="en-US" sz="1800" dirty="0"/>
          </a:p>
        </p:txBody>
      </p:sp>
    </p:spTree>
    <p:extLst>
      <p:ext uri="{BB962C8B-B14F-4D97-AF65-F5344CB8AC3E}">
        <p14:creationId xmlns:p14="http://schemas.microsoft.com/office/powerpoint/2010/main" val="2541482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HYS DE PERSONEL </a:t>
            </a:r>
            <a:r>
              <a:rPr lang="tr-TR" dirty="0"/>
              <a:t>YÖNETİM BİLGİ SİSTEMİ</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fontScale="700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Personel bir hastanenin en önemli kaynağıdır. Bu önemli kaynağın elde tutulabilmesi için bir hastane bütçesinin % 60 - 70 'inin personel giderlerine ve sosyal yardımlara </a:t>
            </a:r>
            <a:r>
              <a:rPr lang="tr-TR" dirty="0" err="1"/>
              <a:t>ayrılmaktada</a:t>
            </a:r>
            <a:r>
              <a:rPr lang="tr-TR" dirty="0"/>
              <a:t> olduğu bilinen bir gerçektir. İşgücü planlaması ve verimlilik analizi konularında da yararlanmak üzere hastanede iyi bir personel yönetim bilgi sistemine ihtiyaç vardır. Hastane personel yönetim bilgi sisteminde yer alacak bazı önemli fonksiyonları şu şekilde sıralamak mümkündür. </a:t>
            </a:r>
            <a:endParaRPr lang="tr-TR" dirty="0" smtClean="0"/>
          </a:p>
          <a:p>
            <a:pPr lvl="1"/>
            <a:r>
              <a:rPr lang="tr-TR" dirty="0" smtClean="0"/>
              <a:t>(</a:t>
            </a:r>
            <a:r>
              <a:rPr lang="tr-TR" dirty="0"/>
              <a:t>1) Hastane personelinin özlük dosyalarının tutulması ve saklanması. </a:t>
            </a:r>
          </a:p>
          <a:p>
            <a:pPr lvl="1"/>
            <a:r>
              <a:rPr lang="tr-TR" dirty="0" smtClean="0"/>
              <a:t>(</a:t>
            </a:r>
            <a:r>
              <a:rPr lang="tr-TR" dirty="0"/>
              <a:t>2) Gerekli durumlarda bu dosyalardan bilgi alma ve yeni kayıtların ilave edilmesi. </a:t>
            </a:r>
            <a:endParaRPr lang="tr-TR" dirty="0" smtClean="0"/>
          </a:p>
          <a:p>
            <a:pPr lvl="1"/>
            <a:r>
              <a:rPr lang="tr-TR" dirty="0" smtClean="0"/>
              <a:t>(</a:t>
            </a:r>
            <a:r>
              <a:rPr lang="tr-TR" dirty="0"/>
              <a:t>3) </a:t>
            </a:r>
            <a:r>
              <a:rPr lang="tr-TR" dirty="0" err="1"/>
              <a:t>Otamatik</a:t>
            </a:r>
            <a:r>
              <a:rPr lang="tr-TR" dirty="0"/>
              <a:t> olarak görev denetiminin sağlanması. </a:t>
            </a:r>
            <a:endParaRPr lang="tr-TR" dirty="0" smtClean="0"/>
          </a:p>
          <a:p>
            <a:pPr lvl="1"/>
            <a:r>
              <a:rPr lang="tr-TR" dirty="0" smtClean="0"/>
              <a:t>(</a:t>
            </a:r>
            <a:r>
              <a:rPr lang="tr-TR" dirty="0"/>
              <a:t>4) Hastanenin her maliyet merkezine ait çalışma analiz raporlarının çıkartılması. </a:t>
            </a:r>
            <a:endParaRPr lang="tr-TR" dirty="0" smtClean="0"/>
          </a:p>
          <a:p>
            <a:pPr lvl="1"/>
            <a:r>
              <a:rPr lang="tr-TR" dirty="0" smtClean="0"/>
              <a:t>(</a:t>
            </a:r>
            <a:r>
              <a:rPr lang="tr-TR" dirty="0"/>
              <a:t>5) Personel problemlerini açığa çıkaracak raporların alınması, örneğin nöbet problemi ve işe devamsızlık. </a:t>
            </a:r>
            <a:endParaRPr lang="tr-TR" dirty="0" smtClean="0"/>
          </a:p>
          <a:p>
            <a:pPr lvl="1"/>
            <a:r>
              <a:rPr lang="tr-TR" dirty="0" smtClean="0"/>
              <a:t>(</a:t>
            </a:r>
            <a:r>
              <a:rPr lang="tr-TR" dirty="0"/>
              <a:t>6) Çalışanların özel yetenek ve belge durumlarının bilinmesi. </a:t>
            </a:r>
            <a:endParaRPr lang="tr-TR" dirty="0" smtClean="0"/>
          </a:p>
          <a:p>
            <a:pPr lvl="1"/>
            <a:r>
              <a:rPr lang="tr-TR" dirty="0" smtClean="0"/>
              <a:t>(</a:t>
            </a:r>
            <a:r>
              <a:rPr lang="tr-TR" dirty="0"/>
              <a:t>7) Hastane ücret bordrosu sistemine bağlı olarak personel giderlerinin maliyet dağılımının hesaplanması. </a:t>
            </a:r>
            <a:endParaRPr lang="tr-TR" dirty="0" smtClean="0"/>
          </a:p>
          <a:p>
            <a:pPr lvl="1"/>
            <a:r>
              <a:rPr lang="tr-TR" dirty="0" smtClean="0"/>
              <a:t>8</a:t>
            </a:r>
            <a:r>
              <a:rPr lang="tr-TR" dirty="0"/>
              <a:t>) Personelin verimliliği ve kalite kontrolü ile ilgili bilgi sağlanması. </a:t>
            </a:r>
          </a:p>
          <a:p>
            <a:r>
              <a:rPr lang="tr-TR" dirty="0"/>
              <a:t>Personel bir hastanenin en önemli kaynağıdır. Bu önemli kaynağın elde tutulabilmesi için bir hastane bütçesinin % 60 - 70 'inin personel giderlerine ve sosyal yardımlara </a:t>
            </a:r>
            <a:r>
              <a:rPr lang="tr-TR" dirty="0" err="1"/>
              <a:t>ayrılmaktada</a:t>
            </a:r>
            <a:r>
              <a:rPr lang="tr-TR" dirty="0"/>
              <a:t> olduğu bilinen bir gerçektir. İşgücü planlaması ve verimlilik analizi konularında da yararlanmak üzere hastanede iyi bir personel yönetim bilgi sistemine ihtiyaç vardır. Hastane personel yönetim bilgi sisteminde yer alacak bazı önemli fonksiyonları şu şekilde sıralamak mümkündür. </a:t>
            </a:r>
          </a:p>
        </p:txBody>
      </p:sp>
    </p:spTree>
    <p:extLst>
      <p:ext uri="{BB962C8B-B14F-4D97-AF65-F5344CB8AC3E}">
        <p14:creationId xmlns:p14="http://schemas.microsoft.com/office/powerpoint/2010/main" val="15349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HYS DE Tanı </a:t>
            </a:r>
            <a:r>
              <a:rPr lang="tr-TR" dirty="0"/>
              <a:t>ve Tedaviyi Desteklemeye İlişkin Sistemler</a:t>
            </a:r>
            <a:endParaRPr lang="tr-TR" dirty="0"/>
          </a:p>
        </p:txBody>
      </p:sp>
      <p:sp>
        <p:nvSpPr>
          <p:cNvPr id="4" name="İçerik Yer Tutucusu 2"/>
          <p:cNvSpPr txBox="1">
            <a:spLocks/>
          </p:cNvSpPr>
          <p:nvPr/>
        </p:nvSpPr>
        <p:spPr>
          <a:xfrm>
            <a:off x="107504" y="1426766"/>
            <a:ext cx="8784976" cy="5431234"/>
          </a:xfrm>
          <a:prstGeom prst="rect">
            <a:avLst/>
          </a:prstGeom>
        </p:spPr>
        <p:txBody>
          <a:bodyPr vert="horz">
            <a:no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sz="1500" dirty="0"/>
              <a:t>1960'lı yıllardan sonra A.B.D' de bazı üniversite ve araştırma hastanelerinde genelleşmiş klinik bilgi sistemlerini geliştirmeye yönelik çabalar yoğunluk kazanmış ve bu konuda istenilen başarı sağlanmaya çalışılmıştır. Klinik bilgi sistemlerinin geliştirilmesinde yönetim bilgi sistemlerine nazaran bazı olumsuzluklar ve güçlükler yaşanmıştır. </a:t>
            </a:r>
            <a:endParaRPr lang="tr-TR" sz="1500" dirty="0" smtClean="0"/>
          </a:p>
          <a:p>
            <a:r>
              <a:rPr lang="tr-TR" sz="1500" dirty="0" smtClean="0"/>
              <a:t>Bu </a:t>
            </a:r>
            <a:r>
              <a:rPr lang="tr-TR" sz="1500" dirty="0"/>
              <a:t>sistemlerin çok güvenilir ve dikkatli bir </a:t>
            </a:r>
            <a:r>
              <a:rPr lang="tr-TR" sz="1500" dirty="0" err="1"/>
              <a:t>tasarlmın</a:t>
            </a:r>
            <a:r>
              <a:rPr lang="tr-TR" sz="1500" dirty="0"/>
              <a:t> sonucu olması şarttır. Bu bilgi sistemlerinin güvenilirliğini sağlayabilmek için bazı özel şartların yerine getirilmesi gerekir. Bu şartları ise şu şekilde sıralayabiliriz. </a:t>
            </a:r>
            <a:endParaRPr lang="tr-TR" sz="1500" dirty="0" smtClean="0"/>
          </a:p>
          <a:p>
            <a:pPr lvl="1"/>
            <a:r>
              <a:rPr lang="tr-TR" sz="1500" dirty="0" smtClean="0"/>
              <a:t>- </a:t>
            </a:r>
            <a:r>
              <a:rPr lang="tr-TR" sz="1500" dirty="0"/>
              <a:t>Sistemleri kullanacak personel dikkatli seçilmiş ve iyi yetiştirilmiş olmalıdır. </a:t>
            </a:r>
            <a:endParaRPr lang="tr-TR" sz="1500" dirty="0" smtClean="0"/>
          </a:p>
          <a:p>
            <a:pPr lvl="1"/>
            <a:r>
              <a:rPr lang="tr-TR" sz="1500" dirty="0" smtClean="0"/>
              <a:t>- </a:t>
            </a:r>
            <a:r>
              <a:rPr lang="tr-TR" sz="1500" dirty="0"/>
              <a:t>Bilgisayar sistemlerinin ve yazılımının kullanılmasında, güvenliğin, gizliliğinin mutlak sağlanması gerekir. </a:t>
            </a:r>
          </a:p>
          <a:p>
            <a:pPr marL="274320" lvl="1">
              <a:spcBef>
                <a:spcPts val="600"/>
              </a:spcBef>
              <a:buSzPct val="70000"/>
              <a:buFont typeface="Wingdings"/>
              <a:buChar char=""/>
            </a:pPr>
            <a:r>
              <a:rPr lang="tr-TR" sz="1500" dirty="0"/>
              <a:t>Doktorun karar vermesine yardımcı olmak üzere, hastaya ait veriler ile tıbbi bilgileri karşılaştıran sistemlerde iki ayrı yöntem söz konusudur. Birinci sistemlerde doğrudan sinyal işlemleri </a:t>
            </a:r>
            <a:r>
              <a:rPr lang="tr-TR" sz="1500" dirty="0" err="1"/>
              <a:t>uygulanmaktadır.İkinci</a:t>
            </a:r>
            <a:r>
              <a:rPr lang="tr-TR" sz="1500" dirty="0"/>
              <a:t> sistemlerde ise tıbbi düşünce yürütme ve karar verme beklenmektedir. </a:t>
            </a:r>
            <a:r>
              <a:rPr lang="tr-TR" sz="1500" dirty="0"/>
              <a:t>Burada alınan tahlil sonuçlarına göre değerlendirme yapılır</a:t>
            </a:r>
            <a:r>
              <a:rPr lang="tr-TR" sz="1500" dirty="0" smtClean="0"/>
              <a:t>.</a:t>
            </a:r>
          </a:p>
          <a:p>
            <a:pPr marL="274320" lvl="1">
              <a:spcBef>
                <a:spcPts val="600"/>
              </a:spcBef>
              <a:buSzPct val="70000"/>
              <a:buFont typeface="Wingdings"/>
              <a:buChar char=""/>
            </a:pPr>
            <a:r>
              <a:rPr lang="tr-TR" sz="1500" dirty="0" smtClean="0"/>
              <a:t>Klinik </a:t>
            </a:r>
            <a:r>
              <a:rPr lang="tr-TR" sz="1500" dirty="0"/>
              <a:t>konularda düşünce yürüten ve karar veren sistemler henüz tam güvenilir olmayıp, bir uzman doktorun, yerini asla tutamazlar. Bu açıdan bakıldığında yönetimi desteklemeye ilişkin sistemlerden elde edilen bilgiler klinik bilgilere nazaran daha güvenilir olarak kabul edilebilir. </a:t>
            </a:r>
            <a:endParaRPr lang="tr-TR" sz="1500" dirty="0" smtClean="0"/>
          </a:p>
          <a:p>
            <a:pPr marL="274320" lvl="1">
              <a:spcBef>
                <a:spcPts val="600"/>
              </a:spcBef>
              <a:buSzPct val="70000"/>
              <a:buFont typeface="Wingdings"/>
              <a:buChar char=""/>
            </a:pPr>
            <a:r>
              <a:rPr lang="tr-TR" sz="1500" dirty="0" smtClean="0"/>
              <a:t>Bilgisayardan </a:t>
            </a:r>
            <a:r>
              <a:rPr lang="tr-TR" sz="1500" dirty="0"/>
              <a:t>elde edilen ve tanıya yardımcı olan bilgiler yanında hastayı izleme ve tedavi konularında yararlanmak üzere bir takım sistemler de geliştirilmiştir. </a:t>
            </a:r>
            <a:r>
              <a:rPr lang="tr-TR" sz="1500" dirty="0"/>
              <a:t>Bu konuda; Bilgisayarda oluşturulan tedavi protokolü ve uyarı sistemleri, Radyasyon tedavisini planlama sistemleri, bilgisayarlı hasta takip sistemleri ilginç örneklerdir.</a:t>
            </a:r>
          </a:p>
        </p:txBody>
      </p:sp>
    </p:spTree>
    <p:extLst>
      <p:ext uri="{BB962C8B-B14F-4D97-AF65-F5344CB8AC3E}">
        <p14:creationId xmlns:p14="http://schemas.microsoft.com/office/powerpoint/2010/main" val="103058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nn-NO" dirty="0"/>
              <a:t>Bilgisayar Destekli Hasta Takip Bilgi Sistemi</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Hasta takip sistemlerinde bilgisayar, hastanın yaşam sinyallerini sürekli olarak izlemek ve periyodik olarak fizyolojik verilerini göstermek işlevini üstlenmektedir. İlk aşamada hastaya bağlanan izleme donanımından elde edilen analog veri, bilgisayarda işlenecek ve </a:t>
            </a:r>
            <a:r>
              <a:rPr lang="tr-TR" dirty="0" err="1"/>
              <a:t>görünülecek</a:t>
            </a:r>
            <a:r>
              <a:rPr lang="tr-TR" dirty="0"/>
              <a:t> biçimde sayısala (</a:t>
            </a:r>
            <a:r>
              <a:rPr lang="tr-TR" dirty="0" err="1"/>
              <a:t>digitale</a:t>
            </a:r>
            <a:r>
              <a:rPr lang="tr-TR" dirty="0"/>
              <a:t>) dönüştürülür. Bu veriler bellekte saklanarak, periyodik olarak ya da istenildiğinde görüntülenir. </a:t>
            </a:r>
            <a:endParaRPr lang="tr-TR" dirty="0" smtClean="0"/>
          </a:p>
          <a:p>
            <a:r>
              <a:rPr lang="tr-TR" dirty="0" smtClean="0"/>
              <a:t>Hasta </a:t>
            </a:r>
            <a:r>
              <a:rPr lang="tr-TR" dirty="0"/>
              <a:t>takibi sisteminde kalp atışı, kan basıncı, hasta ısısı gibi fonksiyonlar anında bilgisayar ekranından izlenebilmektedir. Yoğun bakım </a:t>
            </a:r>
            <a:r>
              <a:rPr lang="tr-TR" dirty="0" err="1"/>
              <a:t>üniti</a:t>
            </a:r>
            <a:r>
              <a:rPr lang="tr-TR" dirty="0"/>
              <a:t> olarak bilinen bu sistem hasta bakımını, kayıt tutmayı ve personel kullanımını düzenleme amaçları ile Michael </a:t>
            </a:r>
            <a:r>
              <a:rPr lang="tr-TR" dirty="0" err="1"/>
              <a:t>Rees</a:t>
            </a:r>
            <a:r>
              <a:rPr lang="tr-TR" dirty="0"/>
              <a:t> Hastanesinde (Chicago) geliştirilmiştir. </a:t>
            </a:r>
            <a:endParaRPr lang="tr-TR" dirty="0"/>
          </a:p>
        </p:txBody>
      </p:sp>
    </p:spTree>
    <p:extLst>
      <p:ext uri="{BB962C8B-B14F-4D97-AF65-F5344CB8AC3E}">
        <p14:creationId xmlns:p14="http://schemas.microsoft.com/office/powerpoint/2010/main" val="365545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Bilgisayar Destekli Hasta Kayıtlarını Tutma Bilgi Sistemi</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fontScale="925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Hastalık kayıtlarının tedavi ve bakım süresince tutulması bir anlamda tüm hastanelerde bir zorunluluktur</a:t>
            </a:r>
            <a:r>
              <a:rPr lang="tr-TR" dirty="0" smtClean="0"/>
              <a:t>. Buradaki </a:t>
            </a:r>
            <a:r>
              <a:rPr lang="tr-TR" dirty="0"/>
              <a:t>sistemin kolaylığı hastanın yattığı andan itibaren hastaneden çıkıncaya kadar geçen zamanda tıbbi kayıtlarının bilgisayar ortamında bir arşiv oluşturularak tutulmasıdır. Taburcu olunca da bir arşiv kaydı verilir. Hastanın tekrar başvurusunda ya da ayakta tedavisinde bu arşiv kaydı esas alınır</a:t>
            </a:r>
            <a:r>
              <a:rPr lang="tr-TR" dirty="0" smtClean="0"/>
              <a:t>. Hastalık </a:t>
            </a:r>
            <a:r>
              <a:rPr lang="tr-TR" dirty="0"/>
              <a:t>kayıtları aynı zamanda </a:t>
            </a:r>
            <a:r>
              <a:rPr lang="tr-TR" dirty="0" err="1"/>
              <a:t>döküman</a:t>
            </a:r>
            <a:r>
              <a:rPr lang="tr-TR" dirty="0"/>
              <a:t> olarak bir denetim aracı ve doktor muayenelerinde de bir başvuru kaynağıdır. Özellikle eğitim hastanelerinde, araştırmalara veri tabanı olarak hizmet gören bir kaynak sayılmaktadır. Bu nedenlerle hastalık kayıtlarının dikkatli bir şekilde tutulması gerekmektedir. </a:t>
            </a:r>
            <a:endParaRPr lang="tr-TR" dirty="0" smtClean="0"/>
          </a:p>
          <a:p>
            <a:r>
              <a:rPr lang="tr-TR" dirty="0" smtClean="0"/>
              <a:t>Hastalık </a:t>
            </a:r>
            <a:r>
              <a:rPr lang="tr-TR" dirty="0"/>
              <a:t>kayıtları yönetiminde bilgisayar desteği büyük yarar sağlamaktadır</a:t>
            </a:r>
            <a:endParaRPr lang="tr-TR" dirty="0"/>
          </a:p>
        </p:txBody>
      </p:sp>
    </p:spTree>
    <p:extLst>
      <p:ext uri="{BB962C8B-B14F-4D97-AF65-F5344CB8AC3E}">
        <p14:creationId xmlns:p14="http://schemas.microsoft.com/office/powerpoint/2010/main" val="1599103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Bilgisayar Destekli Laboratuvar ve Eczane Bilgi Sistemi </a:t>
            </a:r>
            <a:endParaRPr lang="tr-TR" dirty="0"/>
          </a:p>
        </p:txBody>
      </p:sp>
      <p:sp>
        <p:nvSpPr>
          <p:cNvPr id="4" name="İçerik Yer Tutucusu 2"/>
          <p:cNvSpPr txBox="1">
            <a:spLocks/>
          </p:cNvSpPr>
          <p:nvPr/>
        </p:nvSpPr>
        <p:spPr>
          <a:xfrm>
            <a:off x="107504" y="1484784"/>
            <a:ext cx="8820472" cy="5431234"/>
          </a:xfrm>
          <a:prstGeom prst="rect">
            <a:avLst/>
          </a:prstGeom>
        </p:spPr>
        <p:txBody>
          <a:bodyPr vert="horz">
            <a:no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sz="1200" dirty="0"/>
              <a:t>Laboratuvar bilgi sistemleri; test işlemlerini otomatik olarak yapmak ve laboratuvar verilerini işlemek biçiminde, iki aşamalı işlevi üstlenmektedir. Test yapan laboratuvar aletlerini bilgisayara bağlayarak bulguların sonuçlarının alınması ve hasta dosyasına işlenmesi sağlanır. Bir hastanede laboratuvar bilgi sistemi her birimde bağımsız olarak çalışabileceği gibi laboratuvar otomasyon </a:t>
            </a:r>
            <a:r>
              <a:rPr lang="tr-TR" sz="1200" dirty="0" err="1"/>
              <a:t>sisteminede</a:t>
            </a:r>
            <a:r>
              <a:rPr lang="tr-TR" sz="1200" dirty="0"/>
              <a:t> bağlanarak da çalışabilir. Bir laboratuvar bilgi işlem sistemi; test isteklerinin kaydı, örnek toplanmasını programlama ve test işlemleri, tamamlanan test sonuçlarını kaydetme, ilgili yere hemen iletilmesi gereken test raporlarını düzenleme, hastaya ait test özetlerini hazırlama, laboratuvara ait istatistik bilgileri çıkarma, laboratuvarın yönetim kademesince denetimi ve kalite kontrolü için gerekli kayıtları tutma işlevini üstlenmektedir </a:t>
            </a:r>
            <a:endParaRPr lang="tr-TR" sz="1200" dirty="0" smtClean="0"/>
          </a:p>
          <a:p>
            <a:r>
              <a:rPr lang="tr-TR" sz="1200" dirty="0" smtClean="0"/>
              <a:t>Komple </a:t>
            </a:r>
            <a:r>
              <a:rPr lang="tr-TR" sz="1200" dirty="0"/>
              <a:t>bir laboratuvar bilgi sisteminden beklenen alet otomasyonu ile bilgi işlem fonksiyonlarının birlikte yürütüldüğü bir yönetim bilgi sistemidir. Böylece hastadan test örneği alındıktan sonra, otomatik olarak bütün işlemler tamamlanır ve sonuç bildirilerek kayıt edilir. Hastaneye ait </a:t>
            </a:r>
            <a:r>
              <a:rPr lang="tr-TR" sz="1200" dirty="0" err="1"/>
              <a:t>otamatik</a:t>
            </a:r>
            <a:r>
              <a:rPr lang="tr-TR" sz="1200" dirty="0"/>
              <a:t> laboratuvar bilgi sisteminin hastane bilgi sistemine bağlanması gereklidir. Sebebi ise, test sonuçları merkez hasta veri dosyasına girmeli ve tamamlanan testlerin numara ve tipleri hasta muhasebe kayıtlarına geçirilerek, parasal karşılığı çıkarılmalıdır </a:t>
            </a:r>
            <a:endParaRPr lang="tr-TR" sz="1200" dirty="0" smtClean="0"/>
          </a:p>
          <a:p>
            <a:r>
              <a:rPr lang="tr-TR" sz="1200" dirty="0" smtClean="0"/>
              <a:t>Hastane </a:t>
            </a:r>
            <a:r>
              <a:rPr lang="tr-TR" sz="1200" dirty="0"/>
              <a:t>eczanelerinde de geniş bir bilgi işlem ihtiyacı mevcuttur. İlaçların siparişi, stoklanması, ve dağıtımının dikkatli biçimde denetimi, az da olsa tıbbi hatalardan sakınmak üzere güvenli kayıtlar tutmak ve saklamak bir zorunluluk olarak karşımıza çıkmaktadır. Aynı zamanda muhasebe ve karlılık hesapları için de bilgi sistemine ihtiyaç duyulur. Eczane bilgi sistemleri de; bağımsız ya da hastane bilgi sistemine entegre olarak çalışabilmektedir. Genelde bağımsız eczane bilgi sistemleri, zehirli ilaçların denetimi, ilaç siparişi ve envanter kontrolü, hastalara ilaç dağıtımının denetimi, ilaçlarla ilgili bilgi birikiminin oluşturulması ve hasta borçlarının hesaplanması konularına yönelik geliştirilmiştir. </a:t>
            </a:r>
            <a:endParaRPr lang="tr-TR" sz="1200" dirty="0" smtClean="0"/>
          </a:p>
          <a:p>
            <a:r>
              <a:rPr lang="tr-TR" sz="1200" dirty="0" smtClean="0"/>
              <a:t>Hastane </a:t>
            </a:r>
            <a:r>
              <a:rPr lang="tr-TR" sz="1200" dirty="0"/>
              <a:t>bilgi sistem merkezine bağlı </a:t>
            </a:r>
            <a:r>
              <a:rPr lang="tr-TR" sz="1200" dirty="0" err="1"/>
              <a:t>ezcane</a:t>
            </a:r>
            <a:r>
              <a:rPr lang="tr-TR" sz="1200" dirty="0"/>
              <a:t> bilgi sistemlerinde, hastane yöneticileri veya yetkililer kullandıkları bilgisayar vasıtasıyla verilen ilaçları </a:t>
            </a:r>
            <a:r>
              <a:rPr lang="tr-TR" sz="1200" dirty="0" err="1"/>
              <a:t>ecıane</a:t>
            </a:r>
            <a:r>
              <a:rPr lang="tr-TR" sz="1200" dirty="0"/>
              <a:t> bilgi sistemine girerek anında görme ve denetleme imkanına sahiptirler </a:t>
            </a:r>
            <a:endParaRPr lang="tr-TR" sz="1200" dirty="0" smtClean="0"/>
          </a:p>
          <a:p>
            <a:r>
              <a:rPr lang="tr-TR" sz="1200" dirty="0" smtClean="0"/>
              <a:t>Merkezi </a:t>
            </a:r>
            <a:r>
              <a:rPr lang="tr-TR" sz="1200" dirty="0"/>
              <a:t>bilgi yönetim sistemine sahip eczane sistemlerinde ilaç </a:t>
            </a:r>
            <a:r>
              <a:rPr lang="tr-TR" sz="1200" dirty="0" err="1"/>
              <a:t>siparişleri,hastanın</a:t>
            </a:r>
            <a:r>
              <a:rPr lang="tr-TR" sz="1200" dirty="0"/>
              <a:t> </a:t>
            </a:r>
            <a:r>
              <a:rPr lang="tr-TR" sz="1200" dirty="0" err="1"/>
              <a:t>muayene.veya</a:t>
            </a:r>
            <a:r>
              <a:rPr lang="tr-TR" sz="1200" dirty="0"/>
              <a:t> tedavi olduğu servislerdeki terminallerden giriş yapılarak verilir. İlaç isteği hastanın kimliği eklenmiş ve etiketli basılı kağıt halinde eczaneye iletilir. Bu sistemde ilaç stokunu takip ve hasta borcunun çıkartılması işlemleri otomatik olarak yapılır</a:t>
            </a:r>
            <a:endParaRPr lang="tr-TR" sz="1200" dirty="0"/>
          </a:p>
        </p:txBody>
      </p:sp>
    </p:spTree>
    <p:extLst>
      <p:ext uri="{BB962C8B-B14F-4D97-AF65-F5344CB8AC3E}">
        <p14:creationId xmlns:p14="http://schemas.microsoft.com/office/powerpoint/2010/main" val="1855052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Entegre (Tam Bütünleşik) Hastane Yönetim Bilgi Sistemi</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sz="2200" dirty="0"/>
              <a:t>Tam bütünleşik bilgi sistemlerinde amaç, hastanedeki tüm ana bilgi sistemi fonksiyonlarının bir arada bağlantılı (entegre ) olarak yürütülmesidir. </a:t>
            </a:r>
            <a:r>
              <a:rPr lang="tr-TR" sz="2200" dirty="0"/>
              <a:t>Hastane entegre bilgi sistemi kavramı kapsamında yer alan, konular şu şekilde ifade edilmiştir. </a:t>
            </a:r>
            <a:endParaRPr lang="tr-TR" sz="2200" dirty="0" smtClean="0"/>
          </a:p>
          <a:p>
            <a:r>
              <a:rPr lang="tr-TR" sz="2200" dirty="0" smtClean="0"/>
              <a:t>a</a:t>
            </a:r>
            <a:r>
              <a:rPr lang="tr-TR" sz="2200" dirty="0"/>
              <a:t>. Hastane Genel Bilgi Sistemi: </a:t>
            </a:r>
            <a:endParaRPr lang="tr-TR" sz="2200" dirty="0" smtClean="0"/>
          </a:p>
          <a:p>
            <a:r>
              <a:rPr lang="tr-TR" sz="2200" dirty="0" smtClean="0"/>
              <a:t>Hastanede </a:t>
            </a:r>
            <a:r>
              <a:rPr lang="tr-TR" sz="2200" dirty="0"/>
              <a:t>yapılan günlük işlemleri kolaylaştırmak amacı ile ,tüm hastane için dizayn edilmiş bir bağlı (on-</a:t>
            </a:r>
            <a:r>
              <a:rPr lang="tr-TR" sz="2200" dirty="0" err="1"/>
              <a:t>line</a:t>
            </a:r>
            <a:r>
              <a:rPr lang="tr-TR" sz="2200" dirty="0"/>
              <a:t>) sistemin kurulmasıdır. </a:t>
            </a:r>
            <a:endParaRPr lang="tr-TR" sz="2200" dirty="0" smtClean="0"/>
          </a:p>
          <a:p>
            <a:r>
              <a:rPr lang="tr-TR" sz="2200" dirty="0" smtClean="0"/>
              <a:t>b</a:t>
            </a:r>
            <a:r>
              <a:rPr lang="tr-TR" sz="2200" dirty="0"/>
              <a:t>. Tıbbi Bilgi Sistemi </a:t>
            </a:r>
            <a:endParaRPr lang="tr-TR" sz="2200" dirty="0" smtClean="0"/>
          </a:p>
          <a:p>
            <a:r>
              <a:rPr lang="tr-TR" sz="2200" dirty="0" smtClean="0"/>
              <a:t>Tanı </a:t>
            </a:r>
            <a:r>
              <a:rPr lang="tr-TR" sz="2200" dirty="0"/>
              <a:t>ve tedavi gibi konularda, tıbbi yorumlarda bulunmaya yardımcı olan, veri toplayan ve işleyen bir sistemdir. </a:t>
            </a:r>
            <a:endParaRPr lang="tr-TR" sz="2200" dirty="0" smtClean="0"/>
          </a:p>
          <a:p>
            <a:r>
              <a:rPr lang="tr-TR" sz="2200" dirty="0" smtClean="0"/>
              <a:t>c</a:t>
            </a:r>
            <a:r>
              <a:rPr lang="tr-TR" sz="2200" dirty="0"/>
              <a:t>. Yönetim Bilgi Sistemi: </a:t>
            </a:r>
            <a:endParaRPr lang="tr-TR" sz="2200" dirty="0" smtClean="0"/>
          </a:p>
          <a:p>
            <a:r>
              <a:rPr lang="tr-TR" sz="2200" dirty="0" smtClean="0"/>
              <a:t>Hastane </a:t>
            </a:r>
            <a:r>
              <a:rPr lang="tr-TR" sz="2200" dirty="0"/>
              <a:t>yönetiminde düşünce yürütme ve karar verme, planlama ve denetim görevlerinde yararlanmak amacıyla verileri toplayan ve işleyen bir sistemdir.</a:t>
            </a:r>
          </a:p>
        </p:txBody>
      </p:sp>
    </p:spTree>
    <p:extLst>
      <p:ext uri="{BB962C8B-B14F-4D97-AF65-F5344CB8AC3E}">
        <p14:creationId xmlns:p14="http://schemas.microsoft.com/office/powerpoint/2010/main" val="3740493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Veri Tabanı Yönetim Sistemi</a:t>
            </a:r>
            <a:endParaRPr lang="tr-TR" dirty="0"/>
          </a:p>
        </p:txBody>
      </p:sp>
      <p:sp>
        <p:nvSpPr>
          <p:cNvPr id="4" name="İçerik Yer Tutucusu 2"/>
          <p:cNvSpPr txBox="1">
            <a:spLocks/>
          </p:cNvSpPr>
          <p:nvPr/>
        </p:nvSpPr>
        <p:spPr>
          <a:xfrm>
            <a:off x="107504" y="1268760"/>
            <a:ext cx="8784976" cy="5458618"/>
          </a:xfrm>
          <a:prstGeom prst="rect">
            <a:avLst/>
          </a:prstGeom>
        </p:spPr>
        <p:txBody>
          <a:bodyPr vert="horz">
            <a:no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sz="1500" dirty="0"/>
              <a:t>Kullanılacağı programlardan bağımsız olarak, birbiri ile ilişkili görülen olabildiğince çok veriyi toplamak, bu verileri gerektiğinde geri çağrılarak ve özel raporlar haline getirilebilecek nitelikteki genel bir format içerisinde saklama işlemlerini gerçekleştirir. </a:t>
            </a:r>
            <a:endParaRPr lang="tr-TR" sz="1500" dirty="0" smtClean="0"/>
          </a:p>
          <a:p>
            <a:r>
              <a:rPr lang="tr-TR" sz="1500" dirty="0" smtClean="0"/>
              <a:t>Tam </a:t>
            </a:r>
            <a:r>
              <a:rPr lang="tr-TR" sz="1500" dirty="0"/>
              <a:t>entegre hastane bilgi sistemlerinde hem tıbbi hem de yönetim sistemlerinin </a:t>
            </a:r>
            <a:r>
              <a:rPr lang="tr-TR" sz="1500" dirty="0" err="1"/>
              <a:t>birarada</a:t>
            </a:r>
            <a:r>
              <a:rPr lang="tr-TR" sz="1500" dirty="0"/>
              <a:t> bulunması </a:t>
            </a:r>
            <a:r>
              <a:rPr lang="tr-TR" sz="1500" dirty="0" err="1"/>
              <a:t>gerekmemektedir.Fakat</a:t>
            </a:r>
            <a:r>
              <a:rPr lang="tr-TR" sz="1500" dirty="0"/>
              <a:t> sisteme her iki bilgi sisteminin de elemanları az yada çok ölçüde </a:t>
            </a:r>
            <a:r>
              <a:rPr lang="tr-TR" sz="1500" dirty="0" err="1"/>
              <a:t>katılmaktadır.Çünkü</a:t>
            </a:r>
            <a:r>
              <a:rPr lang="tr-TR" sz="1500" dirty="0"/>
              <a:t> her hastane bilgi sisteminde veri dosyası oluşturmak ve saklamak üzere bir veri tabanı tekniği uygulanmaktadır. Bu çerçevede; </a:t>
            </a:r>
            <a:endParaRPr lang="tr-TR" sz="1500" dirty="0" smtClean="0"/>
          </a:p>
          <a:p>
            <a:r>
              <a:rPr lang="tr-TR" sz="1500" dirty="0" smtClean="0"/>
              <a:t>- </a:t>
            </a:r>
            <a:r>
              <a:rPr lang="tr-TR" sz="1500" dirty="0"/>
              <a:t>Hastanelerde anahtar bölgelere yerleştirilmiş olan özel terminaller vasıtasıyla online sistemi ile doğrudan veri girişinin sağlanması, geri çağrılması ve görüntülenmesi, </a:t>
            </a:r>
            <a:endParaRPr lang="tr-TR" sz="1500" dirty="0" smtClean="0"/>
          </a:p>
          <a:p>
            <a:r>
              <a:rPr lang="tr-TR" sz="1500" dirty="0" smtClean="0"/>
              <a:t>- </a:t>
            </a:r>
            <a:r>
              <a:rPr lang="tr-TR" sz="1500" dirty="0"/>
              <a:t>Hastanenin istenen her birimine bilgi iletilebilmesi için otomatik bilgi gönderecek sistemin kurulması, </a:t>
            </a:r>
            <a:endParaRPr lang="tr-TR" sz="1500" dirty="0" smtClean="0"/>
          </a:p>
          <a:p>
            <a:r>
              <a:rPr lang="tr-TR" sz="1500" dirty="0" smtClean="0"/>
              <a:t>- </a:t>
            </a:r>
            <a:r>
              <a:rPr lang="tr-TR" sz="1500" dirty="0"/>
              <a:t>Hastanedeki günlük işlerin birleştirilmesi ile, sistemin bir bütünü oluşturması, </a:t>
            </a:r>
            <a:endParaRPr lang="tr-TR" sz="1500" dirty="0" smtClean="0"/>
          </a:p>
          <a:p>
            <a:r>
              <a:rPr lang="tr-TR" sz="1500" dirty="0" smtClean="0"/>
              <a:t>- </a:t>
            </a:r>
            <a:r>
              <a:rPr lang="tr-TR" sz="1500" dirty="0"/>
              <a:t>Tam bütünleşik sistemin </a:t>
            </a:r>
            <a:r>
              <a:rPr lang="tr-TR" sz="1500" dirty="0" err="1"/>
              <a:t>kurulmasında;veri</a:t>
            </a:r>
            <a:r>
              <a:rPr lang="tr-TR" sz="1500" dirty="0"/>
              <a:t> dosyalarının düzenli olması, veri tanımlarının kullanılması, bilgi işleme ve alt sistemler arasında bilgi işlem yöntemlerinin otomatik yürütülmesi koşullarının yerine getirilmesi beklenmektedir. </a:t>
            </a:r>
            <a:endParaRPr lang="tr-TR" sz="1500" dirty="0" smtClean="0"/>
          </a:p>
          <a:p>
            <a:r>
              <a:rPr lang="tr-TR" sz="1500" dirty="0" smtClean="0"/>
              <a:t>Hastane </a:t>
            </a:r>
            <a:r>
              <a:rPr lang="tr-TR" sz="1500" dirty="0"/>
              <a:t>faaliyetlerine yönelik geliştirilen entegre hastane bilgi yönetim sistemi, bir hastanenin tüm uygulamalarına cevap verebilecek özellikte hazırlanmış tıbbi, idari ve mali bilgi bütünlüğünü entegre bir ortamda sağlayan organizasyon etkinliğini artıran bir uygulama yazılımıdır. Bu yazılım paketi ile hastanelerin personel kullanılarak izlenen özel veya genel çalışmaları, bilgisayar ortamına taşınır. Hastanenin bilgi akışının doğruluğu, hızı ve güvenliği artarken hastane genelinde ve bölüm seviyesinde mevcut fonksiyona yararlı bir çözüm sağlanır.</a:t>
            </a:r>
            <a:endParaRPr lang="tr-TR" sz="1500" dirty="0"/>
          </a:p>
        </p:txBody>
      </p:sp>
    </p:spTree>
    <p:extLst>
      <p:ext uri="{BB962C8B-B14F-4D97-AF65-F5344CB8AC3E}">
        <p14:creationId xmlns:p14="http://schemas.microsoft.com/office/powerpoint/2010/main" val="821079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Modüler Hastane Yönetim Bilgi Sistemi </a:t>
            </a:r>
            <a:endParaRPr lang="tr-TR" dirty="0"/>
          </a:p>
        </p:txBody>
      </p:sp>
      <p:sp>
        <p:nvSpPr>
          <p:cNvPr id="4" name="İçerik Yer Tutucusu 2"/>
          <p:cNvSpPr txBox="1">
            <a:spLocks/>
          </p:cNvSpPr>
          <p:nvPr/>
        </p:nvSpPr>
        <p:spPr>
          <a:xfrm>
            <a:off x="107504" y="1426766"/>
            <a:ext cx="8784976" cy="5458618"/>
          </a:xfrm>
          <a:prstGeom prst="rect">
            <a:avLst/>
          </a:prstGeom>
        </p:spPr>
        <p:txBody>
          <a:bodyPr vert="horz">
            <a:no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sz="1600" dirty="0"/>
              <a:t>Hastaneler entegre uygulamalar için önemli bir platform olduğu gibi farklı işletim ve uygulama ortamlarının kendi içlerinde ve diğer birimlerle olan ilişkilerini de kapsar (Laboratuvar, Radyoloji, Nükleer Tıp, Poliklinik, Hasta kabul, Eczane gibi). Bu bölümlerdeki faaliyetler göz önüne alındığında modüler bir tasarım yapılması gereği ortaya çıkmaktadır. Ancak modüler yapı entegre sistem ile uyumlu hale getirilmediği takdirde birimler birbirinin işleyişinden habersiz olarak sonuç bekleyici bir biçimde faaliyetlerini sürdüreceklerdir. </a:t>
            </a:r>
            <a:endParaRPr lang="tr-TR" sz="1600" dirty="0" smtClean="0"/>
          </a:p>
          <a:p>
            <a:r>
              <a:rPr lang="tr-TR" sz="1600" dirty="0" smtClean="0"/>
              <a:t>Modüler </a:t>
            </a:r>
            <a:r>
              <a:rPr lang="tr-TR" sz="1600" dirty="0"/>
              <a:t>yapı kuruluşun ilk yatırım maliyetini düşürür. Özellikle safhalara bölünmüş kuruluş işlemlerinde ilk elde demode olabilecek büyük donanım yatırımının yapılmasına gerek kalmayacaktır. Örneğin ilk safhada döner sermaye uygulamasının faturalama kısmından başlanarak, alacakların takibi, muhasebe, stok, ambar, klinik, poliklinik, Laboratuvar, Eczane, Radyoloji zincirlemesi içerisinde sonuca gidilir. Böyle bir yaklaşımla, modül bazında eğitim programı kolaylıkla uygulanabilir ve son aşamaya kadar kuruluş </a:t>
            </a:r>
            <a:r>
              <a:rPr lang="tr-TR" sz="1600" dirty="0" err="1"/>
              <a:t>içerisirıdeki</a:t>
            </a:r>
            <a:r>
              <a:rPr lang="tr-TR" sz="1600" dirty="0"/>
              <a:t> faaliyetlerin oturtulması sağlanır. </a:t>
            </a:r>
            <a:endParaRPr lang="tr-TR" sz="1600" dirty="0" smtClean="0"/>
          </a:p>
          <a:p>
            <a:r>
              <a:rPr lang="tr-TR" sz="1600" dirty="0" smtClean="0"/>
              <a:t>Modüler </a:t>
            </a:r>
            <a:r>
              <a:rPr lang="tr-TR" sz="1600" dirty="0"/>
              <a:t>yapının sağladığı diğer bir avantaj, bütünlüğün korunması için merkezi bir yapı gerektirmemesidir. Bu yapı ile hizmet veren birimler bizzat hizmet sunan birim olarak kendi modülleri ile, ilişkin hizmetler için diğer birimlerle veya diğer birimlerden aldıkları hizmetle faaliyetlerini sürdürebileceklerdir. Böyle bir yapı ilk yatırım maliyetini büyük ölçüde düşürecektir.</a:t>
            </a:r>
            <a:endParaRPr lang="tr-TR" sz="1500" dirty="0"/>
          </a:p>
        </p:txBody>
      </p:sp>
    </p:spTree>
    <p:extLst>
      <p:ext uri="{BB962C8B-B14F-4D97-AF65-F5344CB8AC3E}">
        <p14:creationId xmlns:p14="http://schemas.microsoft.com/office/powerpoint/2010/main" val="21251344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337</TotalTime>
  <Words>2950</Words>
  <Application>Microsoft Office PowerPoint</Application>
  <PresentationFormat>Ekran Gösterisi (4:3)</PresentationFormat>
  <Paragraphs>107</Paragraphs>
  <Slides>16</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16</vt:i4>
      </vt:variant>
    </vt:vector>
  </HeadingPairs>
  <TitlesOfParts>
    <vt:vector size="20" baseType="lpstr">
      <vt:lpstr>Century Schoolbook</vt:lpstr>
      <vt:lpstr>Wingdings</vt:lpstr>
      <vt:lpstr>Wingdings 2</vt:lpstr>
      <vt:lpstr>Cumba</vt:lpstr>
      <vt:lpstr>Yönetim Bilişim Sistemleri </vt:lpstr>
      <vt:lpstr>HASTANE YÖNETİM BİLGİ SİSTEMİ</vt:lpstr>
      <vt:lpstr>YÖNETİMİ DESTEKLEMEYE İLİŞKİN HASTANE YÖNETİM SİSTEMLER</vt:lpstr>
      <vt:lpstr>HYS KAYNAK KULLANIMI VE PROGRAMLAMA SİSTEMİ</vt:lpstr>
      <vt:lpstr>HYS DE MALİ YÖNETİM BİLGİ SİSTEMİ</vt:lpstr>
      <vt:lpstr>HYS DE MALİ YÖNETİM BİLGİ SİSTEMİ</vt:lpstr>
      <vt:lpstr>HYS DE MALZEME VE TESİS YÖNETİM BİLGİ SİSTEMİ</vt:lpstr>
      <vt:lpstr>HYS DE MALZEME VE TESİS YÖNETİM BİLGİ SİSTEMİ</vt:lpstr>
      <vt:lpstr>HYS DE PERSONEL YÖNETİM BİLGİ SİSTEMİ</vt:lpstr>
      <vt:lpstr>HYS DE Tanı ve Tedaviyi Desteklemeye İlişkin Sistemler</vt:lpstr>
      <vt:lpstr>Bilgisayar Destekli Hasta Takip Bilgi Sistemi</vt:lpstr>
      <vt:lpstr>Bilgisayar Destekli Hasta Kayıtlarını Tutma Bilgi Sistemi</vt:lpstr>
      <vt:lpstr>Bilgisayar Destekli Laboratuvar ve Eczane Bilgi Sistemi </vt:lpstr>
      <vt:lpstr>Entegre (Tam Bütünleşik) Hastane Yönetim Bilgi Sistemi</vt:lpstr>
      <vt:lpstr>Veri Tabanı Yönetim Sistemi</vt:lpstr>
      <vt:lpstr>Modüler Hastane Yönetim Bilgi Sistemi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İLERİ PROGRAMLAMA</dc:title>
  <dc:creator>SFuat</dc:creator>
  <cp:lastModifiedBy>Windows Kullanıcısı</cp:lastModifiedBy>
  <cp:revision>150</cp:revision>
  <dcterms:created xsi:type="dcterms:W3CDTF">2020-02-18T10:38:04Z</dcterms:created>
  <dcterms:modified xsi:type="dcterms:W3CDTF">2022-12-19T08:14:47Z</dcterms:modified>
</cp:coreProperties>
</file>