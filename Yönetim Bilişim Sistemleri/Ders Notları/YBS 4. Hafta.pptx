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312" r:id="rId14"/>
    <p:sldId id="271" r:id="rId15"/>
    <p:sldId id="273" r:id="rId16"/>
    <p:sldId id="313" r:id="rId17"/>
    <p:sldId id="314" r:id="rId18"/>
    <p:sldId id="276" r:id="rId19"/>
    <p:sldId id="277" r:id="rId20"/>
    <p:sldId id="278" r:id="rId21"/>
    <p:sldId id="296" r:id="rId22"/>
    <p:sldId id="280" r:id="rId23"/>
    <p:sldId id="281" r:id="rId24"/>
    <p:sldId id="282" r:id="rId25"/>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4"/>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Başlık 7"/>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Alt Başlık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Veri Yer Tutucusu 27"/>
          <p:cNvSpPr>
            <a:spLocks noGrp="1"/>
          </p:cNvSpPr>
          <p:nvPr>
            <p:ph type="dt" sz="half" idx="10"/>
          </p:nvPr>
        </p:nvSpPr>
        <p:spPr bwMode="auto">
          <a:xfrm rot="5400000">
            <a:off x="7764621" y="1174097"/>
            <a:ext cx="2286000" cy="381000"/>
          </a:xfrm>
        </p:spPr>
        <p:txBody>
          <a:bodyPr/>
          <a:lstStyle/>
          <a:p>
            <a:fld id="{A23720DD-5B6D-40BF-8493-A6B52D484E6B}" type="datetimeFigureOut">
              <a:rPr lang="tr-TR" smtClean="0"/>
              <a:t>17.10.2022</a:t>
            </a:fld>
            <a:endParaRPr lang="tr-TR"/>
          </a:p>
        </p:txBody>
      </p:sp>
      <p:sp>
        <p:nvSpPr>
          <p:cNvPr id="17" name="Altbilgi Yer Tutucusu 16"/>
          <p:cNvSpPr>
            <a:spLocks noGrp="1"/>
          </p:cNvSpPr>
          <p:nvPr>
            <p:ph type="ftr" sz="quarter" idx="11"/>
          </p:nvPr>
        </p:nvSpPr>
        <p:spPr bwMode="auto">
          <a:xfrm rot="5400000">
            <a:off x="7077269" y="4181669"/>
            <a:ext cx="3657600" cy="384048"/>
          </a:xfrm>
        </p:spPr>
        <p:txBody>
          <a:bodyPr/>
          <a:lstStyle/>
          <a:p>
            <a:endParaRPr lang="tr-TR"/>
          </a:p>
        </p:txBody>
      </p:sp>
      <p:sp>
        <p:nvSpPr>
          <p:cNvPr id="10" name="Dikdörtgen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Dikdörtgen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Dikdörtgen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üz Bağlayıcı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Düz Bağlayıcı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Düz Bağlayıcı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Dikdörtgen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ayt Numarası Yer Tutucusu 28"/>
          <p:cNvSpPr>
            <a:spLocks noGrp="1"/>
          </p:cNvSpPr>
          <p:nvPr>
            <p:ph type="sldNum" sz="quarter" idx="12"/>
          </p:nvPr>
        </p:nvSpPr>
        <p:spPr bwMode="auto">
          <a:xfrm>
            <a:off x="1325544" y="4928702"/>
            <a:ext cx="609600" cy="517524"/>
          </a:xfrm>
        </p:spPr>
        <p:txBody>
          <a:bodyPr/>
          <a:lstStyle/>
          <a:p>
            <a:fld id="{F302176B-0E47-46AC-8F43-DAB4B8A37D06}" type="slidenum">
              <a:rPr lang="tr-TR" smtClean="0"/>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8" name="İçerik Yer Tutucusu 7"/>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Veri Yer Tutucusu 6"/>
          <p:cNvSpPr>
            <a:spLocks noGrp="1"/>
          </p:cNvSpPr>
          <p:nvPr>
            <p:ph type="dt" sz="half" idx="14"/>
          </p:nvPr>
        </p:nvSpPr>
        <p:spPr/>
        <p:txBody>
          <a:bodyPr rtlCol="0"/>
          <a:lstStyle/>
          <a:p>
            <a:fld id="{A23720DD-5B6D-40BF-8493-A6B52D484E6B}" type="datetimeFigureOut">
              <a:rPr lang="tr-TR" smtClean="0"/>
              <a:t>17.10.2022</a:t>
            </a:fld>
            <a:endParaRPr lang="tr-TR"/>
          </a:p>
        </p:txBody>
      </p:sp>
      <p:sp>
        <p:nvSpPr>
          <p:cNvPr id="9" name="Slayt Numarası Yer Tutucusu 8"/>
          <p:cNvSpPr>
            <a:spLocks noGrp="1"/>
          </p:cNvSpPr>
          <p:nvPr>
            <p:ph type="sldNum" sz="quarter" idx="15"/>
          </p:nvPr>
        </p:nvSpPr>
        <p:spPr/>
        <p:txBody>
          <a:bodyPr rtlCol="0"/>
          <a:lstStyle/>
          <a:p>
            <a:fld id="{F302176B-0E47-46AC-8F43-DAB4B8A37D06}" type="slidenum">
              <a:rPr lang="tr-TR" smtClean="0"/>
              <a:t>‹#›</a:t>
            </a:fld>
            <a:endParaRPr lang="tr-TR"/>
          </a:p>
        </p:txBody>
      </p:sp>
      <p:sp>
        <p:nvSpPr>
          <p:cNvPr id="10" name="Altbilgi Yer Tutucusu 9"/>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Metin Yer Tutucusu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Veri Yer Tutucusu 3"/>
          <p:cNvSpPr>
            <a:spLocks noGrp="1"/>
          </p:cNvSpPr>
          <p:nvPr>
            <p:ph type="dt" sz="half" idx="10"/>
          </p:nvPr>
        </p:nvSpPr>
        <p:spPr bwMode="auto">
          <a:xfrm rot="5400000">
            <a:off x="7763256" y="1170432"/>
            <a:ext cx="2286000" cy="381000"/>
          </a:xfrm>
        </p:spPr>
        <p:txBody>
          <a:bodyPr/>
          <a:lstStyle/>
          <a:p>
            <a:fld id="{A23720DD-5B6D-40BF-8493-A6B52D484E6B}" type="datetimeFigureOut">
              <a:rPr lang="tr-TR" smtClean="0"/>
              <a:t>17.10.2022</a:t>
            </a:fld>
            <a:endParaRPr lang="tr-TR"/>
          </a:p>
        </p:txBody>
      </p:sp>
      <p:sp>
        <p:nvSpPr>
          <p:cNvPr id="5" name="Altbilgi Yer Tutucusu 4"/>
          <p:cNvSpPr>
            <a:spLocks noGrp="1"/>
          </p:cNvSpPr>
          <p:nvPr>
            <p:ph type="ftr" sz="quarter" idx="11"/>
          </p:nvPr>
        </p:nvSpPr>
        <p:spPr bwMode="auto">
          <a:xfrm rot="5400000">
            <a:off x="7077456" y="4178808"/>
            <a:ext cx="3657600" cy="384048"/>
          </a:xfrm>
        </p:spPr>
        <p:txBody>
          <a:bodyPr/>
          <a:lstStyle/>
          <a:p>
            <a:endParaRPr lang="tr-TR"/>
          </a:p>
        </p:txBody>
      </p:sp>
      <p:sp>
        <p:nvSpPr>
          <p:cNvPr id="9" name="Dikdörtgen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Dikdörtgen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ikdörtgen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Düz Bağlayıcı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üz Bağlayıcı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ikdörtgen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Düz Bağlayıcı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ayt Numarası Yer Tutucusu 5"/>
          <p:cNvSpPr>
            <a:spLocks noGrp="1"/>
          </p:cNvSpPr>
          <p:nvPr>
            <p:ph type="sldNum" sz="quarter" idx="12"/>
          </p:nvPr>
        </p:nvSpPr>
        <p:spPr bwMode="auto">
          <a:xfrm>
            <a:off x="1340616" y="4928702"/>
            <a:ext cx="609600" cy="517524"/>
          </a:xfrm>
        </p:spPr>
        <p:txBody>
          <a:bodyPr/>
          <a:lstStyle/>
          <a:p>
            <a:fld id="{F302176B-0E47-46AC-8F43-DAB4B8A37D06}" type="slidenum">
              <a:rPr lang="tr-TR" smtClean="0"/>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5" name="Veri Yer Tutucusu 4"/>
          <p:cNvSpPr>
            <a:spLocks noGrp="1"/>
          </p:cNvSpPr>
          <p:nvPr>
            <p:ph type="dt" sz="half" idx="10"/>
          </p:nvPr>
        </p:nvSpPr>
        <p:spPr/>
        <p:txBody>
          <a:bodyPr/>
          <a:lstStyle/>
          <a:p>
            <a:fld id="{A23720DD-5B6D-40BF-8493-A6B52D484E6B}" type="datetimeFigureOut">
              <a:rPr lang="tr-TR" smtClean="0"/>
              <a:t>17.10.2022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F302176B-0E47-46AC-8F43-DAB4B8A37D06}" type="slidenum">
              <a:rPr lang="tr-TR" smtClean="0"/>
              <a:t>‹#›</a:t>
            </a:fld>
            <a:endParaRPr lang="tr-TR"/>
          </a:p>
        </p:txBody>
      </p:sp>
      <p:sp>
        <p:nvSpPr>
          <p:cNvPr id="9" name="İçerik Yer Tutucusu 8"/>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İçerik Yer Tutucusu 10"/>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Veri Yer Tutucusu 6"/>
          <p:cNvSpPr>
            <a:spLocks noGrp="1"/>
          </p:cNvSpPr>
          <p:nvPr>
            <p:ph type="dt" sz="half" idx="10"/>
          </p:nvPr>
        </p:nvSpPr>
        <p:spPr/>
        <p:txBody>
          <a:bodyPr/>
          <a:lstStyle/>
          <a:p>
            <a:fld id="{A23720DD-5B6D-40BF-8493-A6B52D484E6B}" type="datetimeFigureOut">
              <a:rPr lang="tr-TR" smtClean="0"/>
              <a:t>17.10.2022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F302176B-0E47-46AC-8F43-DAB4B8A37D06}" type="slidenum">
              <a:rPr lang="tr-TR" smtClean="0"/>
              <a:t>‹#›</a:t>
            </a:fld>
            <a:endParaRPr lang="tr-TR"/>
          </a:p>
        </p:txBody>
      </p:sp>
      <p:sp>
        <p:nvSpPr>
          <p:cNvPr id="11" name="İçerik Yer Tutucusu 10"/>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İçerik Yer Tutucusu 12"/>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Metin Yer Tutucusu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Metin Yer Tutucusu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6" name="Veri Yer Tutucusu 5"/>
          <p:cNvSpPr>
            <a:spLocks noGrp="1"/>
          </p:cNvSpPr>
          <p:nvPr>
            <p:ph type="dt" sz="half" idx="10"/>
          </p:nvPr>
        </p:nvSpPr>
        <p:spPr/>
        <p:txBody>
          <a:bodyPr rtlCol="0"/>
          <a:lstStyle/>
          <a:p>
            <a:fld id="{A23720DD-5B6D-40BF-8493-A6B52D484E6B}" type="datetimeFigureOut">
              <a:rPr lang="tr-TR" smtClean="0"/>
              <a:t>17.10.2022</a:t>
            </a:fld>
            <a:endParaRPr lang="tr-TR"/>
          </a:p>
        </p:txBody>
      </p:sp>
      <p:sp>
        <p:nvSpPr>
          <p:cNvPr id="7" name="Slayt Numarası Yer Tutucusu 6"/>
          <p:cNvSpPr>
            <a:spLocks noGrp="1"/>
          </p:cNvSpPr>
          <p:nvPr>
            <p:ph type="sldNum" sz="quarter" idx="11"/>
          </p:nvPr>
        </p:nvSpPr>
        <p:spPr/>
        <p:txBody>
          <a:bodyPr rtlCol="0"/>
          <a:lstStyle/>
          <a:p>
            <a:fld id="{F302176B-0E47-46AC-8F43-DAB4B8A37D06}" type="slidenum">
              <a:rPr lang="tr-TR" smtClean="0"/>
              <a:t>‹#›</a:t>
            </a:fld>
            <a:endParaRPr lang="tr-TR"/>
          </a:p>
        </p:txBody>
      </p:sp>
      <p:sp>
        <p:nvSpPr>
          <p:cNvPr id="8" name="Altbilgi Yer Tutucusu 7"/>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A23720DD-5B6D-40BF-8493-A6B52D484E6B}" type="datetimeFigureOut">
              <a:rPr lang="tr-TR" smtClean="0"/>
              <a:t>17.10.2022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Düz Bağlayıcı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Başlık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Metin Yer Tutucusu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Düz Bağlayıcı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Düz Bağlayıcı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Düz Bağlayıcı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Dikdörtgen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çerik Yer Tutucusu 17"/>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Veri Yer Tutucusu 20"/>
          <p:cNvSpPr>
            <a:spLocks noGrp="1"/>
          </p:cNvSpPr>
          <p:nvPr>
            <p:ph type="dt" sz="half" idx="14"/>
          </p:nvPr>
        </p:nvSpPr>
        <p:spPr/>
        <p:txBody>
          <a:bodyPr rtlCol="0"/>
          <a:lstStyle/>
          <a:p>
            <a:fld id="{A23720DD-5B6D-40BF-8493-A6B52D484E6B}" type="datetimeFigureOut">
              <a:rPr lang="tr-TR" smtClean="0"/>
              <a:t>17.10.2022</a:t>
            </a:fld>
            <a:endParaRPr lang="tr-TR"/>
          </a:p>
        </p:txBody>
      </p:sp>
      <p:sp>
        <p:nvSpPr>
          <p:cNvPr id="22" name="Slayt Numarası Yer Tutucusu 21"/>
          <p:cNvSpPr>
            <a:spLocks noGrp="1"/>
          </p:cNvSpPr>
          <p:nvPr>
            <p:ph type="sldNum" sz="quarter" idx="15"/>
          </p:nvPr>
        </p:nvSpPr>
        <p:spPr/>
        <p:txBody>
          <a:bodyPr rtlCol="0"/>
          <a:lstStyle/>
          <a:p>
            <a:fld id="{F302176B-0E47-46AC-8F43-DAB4B8A37D06}" type="slidenum">
              <a:rPr lang="tr-TR" smtClean="0"/>
              <a:t>‹#›</a:t>
            </a:fld>
            <a:endParaRPr lang="tr-TR"/>
          </a:p>
        </p:txBody>
      </p:sp>
      <p:sp>
        <p:nvSpPr>
          <p:cNvPr id="23" name="Altbilgi Yer Tutucusu 22"/>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Düz Bağlayıcı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Başlık 1"/>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Resim Yer Tutucusu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Metin Yer Tutucusu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Düz Bağlayıcı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Dikdörtgen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üz Bağlayıcı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Düz Bağlayıcı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Düz Bağlayıcı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Veri Yer Tutucusu 16"/>
          <p:cNvSpPr>
            <a:spLocks noGrp="1"/>
          </p:cNvSpPr>
          <p:nvPr>
            <p:ph type="dt" sz="half" idx="10"/>
          </p:nvPr>
        </p:nvSpPr>
        <p:spPr/>
        <p:txBody>
          <a:bodyPr rtlCol="0"/>
          <a:lstStyle/>
          <a:p>
            <a:fld id="{A23720DD-5B6D-40BF-8493-A6B52D484E6B}" type="datetimeFigureOut">
              <a:rPr lang="tr-TR" smtClean="0"/>
              <a:t>17.10.2022</a:t>
            </a:fld>
            <a:endParaRPr lang="tr-TR"/>
          </a:p>
        </p:txBody>
      </p:sp>
      <p:sp>
        <p:nvSpPr>
          <p:cNvPr id="18" name="Slayt Numarası Yer Tutucusu 17"/>
          <p:cNvSpPr>
            <a:spLocks noGrp="1"/>
          </p:cNvSpPr>
          <p:nvPr>
            <p:ph type="sldNum" sz="quarter" idx="11"/>
          </p:nvPr>
        </p:nvSpPr>
        <p:spPr/>
        <p:txBody>
          <a:bodyPr rtlCol="0"/>
          <a:lstStyle/>
          <a:p>
            <a:fld id="{F302176B-0E47-46AC-8F43-DAB4B8A37D06}" type="slidenum">
              <a:rPr lang="tr-TR" smtClean="0"/>
              <a:t>‹#›</a:t>
            </a:fld>
            <a:endParaRPr lang="tr-TR"/>
          </a:p>
        </p:txBody>
      </p:sp>
      <p:sp>
        <p:nvSpPr>
          <p:cNvPr id="21" name="Altbilgi Yer Tutucusu 20"/>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3" name="Dikey Metin Yer Tutucusu 2"/>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17.10.2022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Dikey Metin Yer Tutucusu 2"/>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17.10.2022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Düz Bağlayıcı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Başlık Yer Tutucusu 21"/>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Metin Yer Tutucusu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Veri Yer Tutucusu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3720DD-5B6D-40BF-8493-A6B52D484E6B}" type="datetimeFigureOut">
              <a:rPr lang="tr-TR" smtClean="0"/>
              <a:t>17.10.2022</a:t>
            </a:fld>
            <a:endParaRPr lang="tr-TR"/>
          </a:p>
        </p:txBody>
      </p:sp>
      <p:sp>
        <p:nvSpPr>
          <p:cNvPr id="3" name="Altbilgi Yer Tutucusu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Düz Bağlayıcı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Düz Bağlayıcı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Dikdörtgen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ayt Numarası Yer Tutucusu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2411760" y="2564904"/>
            <a:ext cx="6172200" cy="1894362"/>
          </a:xfrm>
        </p:spPr>
        <p:txBody>
          <a:bodyPr/>
          <a:lstStyle/>
          <a:p>
            <a:r>
              <a:rPr lang="tr-TR" sz="2800" dirty="0" smtClean="0"/>
              <a:t>Yönetim Bilişim Sistemleri</a:t>
            </a:r>
            <a:r>
              <a:rPr lang="tr-TR" sz="2800" dirty="0"/>
              <a:t/>
            </a:r>
            <a:br>
              <a:rPr lang="tr-TR" sz="2800" dirty="0"/>
            </a:br>
            <a:endParaRPr lang="tr-TR" dirty="0"/>
          </a:p>
        </p:txBody>
      </p:sp>
      <p:sp>
        <p:nvSpPr>
          <p:cNvPr id="3" name="Alt Başlık 2"/>
          <p:cNvSpPr>
            <a:spLocks noGrp="1"/>
          </p:cNvSpPr>
          <p:nvPr>
            <p:ph type="subTitle" idx="1"/>
          </p:nvPr>
        </p:nvSpPr>
        <p:spPr/>
        <p:txBody>
          <a:bodyPr>
            <a:normAutofit fontScale="85000" lnSpcReduction="20000"/>
          </a:bodyPr>
          <a:lstStyle/>
          <a:p>
            <a:pPr algn="ctr"/>
            <a:r>
              <a:rPr lang="tr-TR" b="0" dirty="0"/>
              <a:t>Prof. Dr. Tuncay YİĞİT</a:t>
            </a:r>
          </a:p>
          <a:p>
            <a:pPr algn="ctr"/>
            <a:r>
              <a:rPr lang="tr-TR" b="0" dirty="0"/>
              <a:t>Süleyman Demirel Üniversitesi</a:t>
            </a:r>
          </a:p>
          <a:p>
            <a:pPr algn="ctr"/>
            <a:r>
              <a:rPr lang="tr-TR" b="0" dirty="0"/>
              <a:t>Bilgisayar Mühendisliği Bölümü</a:t>
            </a:r>
          </a:p>
          <a:p>
            <a:pPr algn="ctr"/>
            <a:endParaRPr lang="tr-TR" b="0" dirty="0"/>
          </a:p>
          <a:p>
            <a:pPr algn="ctr"/>
            <a:r>
              <a:rPr lang="tr-TR" b="0" dirty="0"/>
              <a:t>ISPARTA 2022</a:t>
            </a:r>
          </a:p>
        </p:txBody>
      </p:sp>
    </p:spTree>
    <p:extLst>
      <p:ext uri="{BB962C8B-B14F-4D97-AF65-F5344CB8AC3E}">
        <p14:creationId xmlns:p14="http://schemas.microsoft.com/office/powerpoint/2010/main" val="19274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Sistemlerine İlişkin Etik ve Sosyal Konular</a:t>
            </a:r>
          </a:p>
        </p:txBody>
      </p:sp>
      <p:sp>
        <p:nvSpPr>
          <p:cNvPr id="3" name="İçerik Yer Tutucusu 2"/>
          <p:cNvSpPr>
            <a:spLocks noGrp="1"/>
          </p:cNvSpPr>
          <p:nvPr>
            <p:ph sz="quarter" idx="1"/>
          </p:nvPr>
        </p:nvSpPr>
        <p:spPr>
          <a:xfrm>
            <a:off x="457200" y="1600200"/>
            <a:ext cx="8507288" cy="388640"/>
          </a:xfrm>
        </p:spPr>
        <p:txBody>
          <a:bodyPr>
            <a:normAutofit fontScale="62500" lnSpcReduction="20000"/>
          </a:bodyPr>
          <a:lstStyle/>
          <a:p>
            <a:r>
              <a:rPr lang="tr-TR" dirty="0"/>
              <a:t>Üst düzey yöneticiler tarafından verilen başarısız etik kararlara ilişkin güncel örnekler</a:t>
            </a:r>
            <a:r>
              <a:rPr lang="tr-TR" dirty="0" smtClean="0"/>
              <a:t>.</a:t>
            </a:r>
            <a:endParaRPr lang="tr-TR" dirty="0"/>
          </a:p>
        </p:txBody>
      </p:sp>
      <p:pic>
        <p:nvPicPr>
          <p:cNvPr id="6" name="Resim 5"/>
          <p:cNvPicPr>
            <a:picLocks noChangeAspect="1"/>
          </p:cNvPicPr>
          <p:nvPr/>
        </p:nvPicPr>
        <p:blipFill>
          <a:blip r:embed="rId2"/>
          <a:stretch>
            <a:fillRect/>
          </a:stretch>
        </p:blipFill>
        <p:spPr>
          <a:xfrm>
            <a:off x="816272" y="1844824"/>
            <a:ext cx="7789143" cy="5107779"/>
          </a:xfrm>
          <a:prstGeom prst="rect">
            <a:avLst/>
          </a:prstGeom>
        </p:spPr>
      </p:pic>
    </p:spTree>
    <p:extLst>
      <p:ext uri="{BB962C8B-B14F-4D97-AF65-F5344CB8AC3E}">
        <p14:creationId xmlns:p14="http://schemas.microsoft.com/office/powerpoint/2010/main" val="278354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Sistemlere ilişkin etik ve sosyal konuların anlaşılması</a:t>
            </a:r>
          </a:p>
        </p:txBody>
      </p:sp>
      <p:sp>
        <p:nvSpPr>
          <p:cNvPr id="4" name="Content Placeholder 2"/>
          <p:cNvSpPr>
            <a:spLocks noGrp="1"/>
          </p:cNvSpPr>
          <p:nvPr>
            <p:ph sz="quarter" idx="1"/>
          </p:nvPr>
        </p:nvSpPr>
        <p:spPr>
          <a:xfrm>
            <a:off x="457200" y="1628800"/>
            <a:ext cx="8219256" cy="4176464"/>
          </a:xfrm>
        </p:spPr>
        <p:txBody>
          <a:bodyPr>
            <a:normAutofit/>
          </a:bodyPr>
          <a:lstStyle/>
          <a:p>
            <a:r>
              <a:rPr lang="tr-TR" sz="1800" dirty="0"/>
              <a:t>Son zamanlarda yöneticilerin etik ve iş ahlakı ile ilgili ihlalleri çeşitli endüstrilerde oldukça yaygın bir şekilde görülmektedir. </a:t>
            </a:r>
            <a:endParaRPr lang="tr-TR" sz="1800" dirty="0" smtClean="0"/>
          </a:p>
          <a:p>
            <a:r>
              <a:rPr lang="tr-TR" sz="1800" dirty="0" smtClean="0"/>
              <a:t>Yasaları </a:t>
            </a:r>
            <a:r>
              <a:rPr lang="tr-TR" sz="1800" dirty="0"/>
              <a:t>ihlal eden yöneticiler, suçlanmakta, hapsedilmektedir. </a:t>
            </a:r>
            <a:endParaRPr lang="tr-TR" sz="1800" dirty="0" smtClean="0"/>
          </a:p>
          <a:p>
            <a:r>
              <a:rPr lang="tr-TR" sz="1800" dirty="0" smtClean="0"/>
              <a:t>Örneğin</a:t>
            </a:r>
            <a:r>
              <a:rPr lang="tr-TR" sz="1800" dirty="0"/>
              <a:t>; bazı üst düzey yöneticiler yanlış beyanlarda bulunmakta, spekülasyonlar yaparak hisse değerlerini etkilemekte ya da yasal olmayan hesap hareketleri ile kazanç sağlamaktan dolayı hissedarlarını zarara uğratarak işletmenin iflasına neden olmaktadırlar. </a:t>
            </a:r>
            <a:endParaRPr lang="tr-TR" sz="1800" dirty="0" smtClean="0"/>
          </a:p>
          <a:p>
            <a:r>
              <a:rPr lang="tr-TR" sz="1800" dirty="0" smtClean="0"/>
              <a:t>Enformasyon </a:t>
            </a:r>
            <a:r>
              <a:rPr lang="tr-TR" sz="1800" dirty="0"/>
              <a:t>sistemleri bu tür etik olmayan faaliyetlerde bir araç olarak kullanılmaktadır</a:t>
            </a:r>
            <a:endParaRPr lang="en-US" sz="1800" dirty="0"/>
          </a:p>
        </p:txBody>
      </p:sp>
    </p:spTree>
    <p:extLst>
      <p:ext uri="{BB962C8B-B14F-4D97-AF65-F5344CB8AC3E}">
        <p14:creationId xmlns:p14="http://schemas.microsoft.com/office/powerpoint/2010/main" val="212975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Etik </a:t>
            </a:r>
          </a:p>
        </p:txBody>
      </p:sp>
      <p:sp>
        <p:nvSpPr>
          <p:cNvPr id="4" name="İçerik Yer Tutucusu 2"/>
          <p:cNvSpPr txBox="1">
            <a:spLocks/>
          </p:cNvSpPr>
          <p:nvPr/>
        </p:nvSpPr>
        <p:spPr>
          <a:xfrm>
            <a:off x="107504" y="1426766"/>
            <a:ext cx="8784976" cy="4738538"/>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Kişilerin, davranışlarını yönlendirmek için seçim yapmakta kullandıkları doğru ve yanlışa ilişkin ilkeleri ifade etmektedir. </a:t>
            </a:r>
            <a:endParaRPr lang="tr-TR" dirty="0" smtClean="0"/>
          </a:p>
          <a:p>
            <a:r>
              <a:rPr lang="tr-TR" dirty="0" smtClean="0"/>
              <a:t>Enformasyon </a:t>
            </a:r>
            <a:r>
              <a:rPr lang="tr-TR" dirty="0"/>
              <a:t>sistemleri, sosyal değişim için fırsatlar yarattığından hem kişisel hem de toplumsal etik sorunlarını arttırır. Böylece, güç, para, hak ve fırsatların mevcut dağıtımını tehdit eder. </a:t>
            </a:r>
            <a:endParaRPr lang="tr-TR" dirty="0" smtClean="0"/>
          </a:p>
          <a:p>
            <a:r>
              <a:rPr lang="tr-TR" dirty="0" smtClean="0"/>
              <a:t>Enformasyon </a:t>
            </a:r>
            <a:r>
              <a:rPr lang="tr-TR" dirty="0"/>
              <a:t>sistemleri bir işletme için verimlilik artışı, müşteri memnuniyeti sağlama, birimler arası entegrasyon sağlama gibi faydalı işlerde kullanılabileceği gibi hırsızlık, yolsuzluk gibi </a:t>
            </a:r>
            <a:r>
              <a:rPr lang="tr-TR" dirty="0" err="1"/>
              <a:t>ahlâki</a:t>
            </a:r>
            <a:r>
              <a:rPr lang="tr-TR" dirty="0"/>
              <a:t> olmayan işlerde de kullanılabilir. </a:t>
            </a:r>
            <a:endParaRPr lang="tr-TR" dirty="0" smtClean="0"/>
          </a:p>
          <a:p>
            <a:r>
              <a:rPr lang="tr-TR" dirty="0" smtClean="0"/>
              <a:t>Özellikle </a:t>
            </a:r>
            <a:r>
              <a:rPr lang="tr-TR" dirty="0"/>
              <a:t>e-ticaret ve internetin yaygınlaşmasıyla beraber enformasyon sistemlerinde etik kavramı ortaya çıkmıştır </a:t>
            </a:r>
            <a:endParaRPr lang="tr-TR" dirty="0" smtClean="0"/>
          </a:p>
          <a:p>
            <a:r>
              <a:rPr lang="tr-TR" dirty="0" smtClean="0"/>
              <a:t>İnternet </a:t>
            </a:r>
            <a:r>
              <a:rPr lang="tr-TR" dirty="0"/>
              <a:t>ve dijital işletme teknolojileri ile beraber bilgi erişimi, dağıtımı ve birleştirme işlemleri her zamankinden daha kolay yapılır hale gelmiştir. </a:t>
            </a:r>
            <a:endParaRPr lang="tr-TR" dirty="0" smtClean="0"/>
          </a:p>
          <a:p>
            <a:r>
              <a:rPr lang="tr-TR" dirty="0" smtClean="0"/>
              <a:t>Müşteriye </a:t>
            </a:r>
            <a:r>
              <a:rPr lang="tr-TR" dirty="0"/>
              <a:t>ait bilgilerinin uygun kullanımı, gizliliği ve fikri mülkiyet haklarının korunması, ortaya çıkan yeni kavramlardır.</a:t>
            </a:r>
          </a:p>
        </p:txBody>
      </p:sp>
    </p:spTree>
    <p:extLst>
      <p:ext uri="{BB962C8B-B14F-4D97-AF65-F5344CB8AC3E}">
        <p14:creationId xmlns:p14="http://schemas.microsoft.com/office/powerpoint/2010/main" val="1149695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a:t>Etik, sosyal ve politik konular hakkında düşünmeye yönelik bir model </a:t>
            </a:r>
          </a:p>
        </p:txBody>
      </p:sp>
      <p:sp>
        <p:nvSpPr>
          <p:cNvPr id="3" name="İçerik Yer Tutucusu 2"/>
          <p:cNvSpPr>
            <a:spLocks noGrp="1"/>
          </p:cNvSpPr>
          <p:nvPr>
            <p:ph sz="quarter" idx="1"/>
          </p:nvPr>
        </p:nvSpPr>
        <p:spPr/>
        <p:txBody>
          <a:bodyPr>
            <a:normAutofit/>
          </a:bodyPr>
          <a:lstStyle/>
          <a:p>
            <a:r>
              <a:rPr lang="tr-TR" sz="2000" dirty="0"/>
              <a:t>Etik, sosyal ve politik konular birbiriyle çok yakından ilişkili konulardır. </a:t>
            </a:r>
            <a:endParaRPr lang="tr-TR" sz="2000" dirty="0" smtClean="0"/>
          </a:p>
          <a:p>
            <a:r>
              <a:rPr lang="tr-TR" sz="2000" dirty="0" smtClean="0"/>
              <a:t> </a:t>
            </a:r>
            <a:r>
              <a:rPr lang="tr-TR" sz="2000" dirty="0"/>
              <a:t>Enformasyon sistem yöneticisinin </a:t>
            </a:r>
            <a:r>
              <a:rPr lang="tr-TR" sz="2000" dirty="0" err="1"/>
              <a:t>karşılacağı</a:t>
            </a:r>
            <a:r>
              <a:rPr lang="tr-TR" sz="2000" dirty="0"/>
              <a:t> etik ikilem genellikle sosyal ve politik bir tartışma içinde yansıtılacaktır. </a:t>
            </a:r>
            <a:endParaRPr lang="tr-TR" sz="2000" dirty="0" smtClean="0"/>
          </a:p>
          <a:p>
            <a:r>
              <a:rPr lang="tr-TR" sz="2000" dirty="0" smtClean="0"/>
              <a:t> </a:t>
            </a:r>
            <a:r>
              <a:rPr lang="tr-TR" sz="2000" dirty="0"/>
              <a:t>Toplumu, durgun bir göl gibi düşünün. Etik, sosyal ve politik kurumlar arasında hassas bir düzen vardır. İnsanlar bu durgun yapıda nasıl davranacaklarını biliyorlar, çünkü </a:t>
            </a:r>
            <a:r>
              <a:rPr lang="tr-TR" sz="2000" dirty="0" err="1"/>
              <a:t>herşey</a:t>
            </a:r>
            <a:r>
              <a:rPr lang="tr-TR" sz="2000" dirty="0"/>
              <a:t> etik, sosyal ve politik olarak güzel bir şekilde tanımlanmış, sınırlar çizilmiştir. </a:t>
            </a:r>
          </a:p>
        </p:txBody>
      </p:sp>
    </p:spTree>
    <p:extLst>
      <p:ext uri="{BB962C8B-B14F-4D97-AF65-F5344CB8AC3E}">
        <p14:creationId xmlns:p14="http://schemas.microsoft.com/office/powerpoint/2010/main" val="3662396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Çağına ilişkin 5 </a:t>
            </a:r>
            <a:r>
              <a:rPr lang="tr-TR" dirty="0" err="1"/>
              <a:t>Ahlâki</a:t>
            </a:r>
            <a:r>
              <a:rPr lang="tr-TR" dirty="0"/>
              <a:t> boyut</a:t>
            </a:r>
          </a:p>
        </p:txBody>
      </p:sp>
      <p:sp>
        <p:nvSpPr>
          <p:cNvPr id="3" name="İçerik Yer Tutucusu 2"/>
          <p:cNvSpPr>
            <a:spLocks noGrp="1"/>
          </p:cNvSpPr>
          <p:nvPr>
            <p:ph sz="quarter" idx="1"/>
          </p:nvPr>
        </p:nvSpPr>
        <p:spPr>
          <a:xfrm>
            <a:off x="457200" y="1600200"/>
            <a:ext cx="8147248" cy="4873752"/>
          </a:xfrm>
        </p:spPr>
        <p:txBody>
          <a:bodyPr>
            <a:normAutofit fontScale="92500" lnSpcReduction="20000"/>
          </a:bodyPr>
          <a:lstStyle/>
          <a:p>
            <a:r>
              <a:rPr lang="tr-TR" dirty="0"/>
              <a:t>Enformasyon hakları ve yükümlülükleri Bireyler ve örgütler kendileri ile ilgili olarak hangi enformasyon haklarına sahiptirler? Onlar neyi koruyabilirler? </a:t>
            </a:r>
            <a:endParaRPr lang="tr-TR" dirty="0" smtClean="0"/>
          </a:p>
          <a:p>
            <a:r>
              <a:rPr lang="tr-TR" dirty="0" smtClean="0"/>
              <a:t>Mülkiyet </a:t>
            </a:r>
            <a:r>
              <a:rPr lang="tr-TR" dirty="0"/>
              <a:t>hakları ve yükümlülükleri Sahipliği izleme ve açıklamanın zor olduğu ve mülkiyet haklarını yok saymanın bu kadar kolay olduğu dijital bir toplumda geleneksel fikri mülkiyet hakları nasıl korunacaktır? </a:t>
            </a:r>
            <a:endParaRPr lang="tr-TR" dirty="0" smtClean="0"/>
          </a:p>
          <a:p>
            <a:r>
              <a:rPr lang="tr-TR" dirty="0" smtClean="0"/>
              <a:t>Hesap </a:t>
            </a:r>
            <a:r>
              <a:rPr lang="tr-TR" dirty="0"/>
              <a:t>verilebilirlik ve kontrol Bireysel veya ortak enformasyona ve mülkiyete verilen zarardan kim yükümlü ve sorumlu olacaktır</a:t>
            </a:r>
            <a:r>
              <a:rPr lang="tr-TR" dirty="0" smtClean="0"/>
              <a:t>?</a:t>
            </a:r>
          </a:p>
          <a:p>
            <a:r>
              <a:rPr lang="tr-TR" dirty="0" smtClean="0"/>
              <a:t>Sistem </a:t>
            </a:r>
            <a:r>
              <a:rPr lang="tr-TR" dirty="0"/>
              <a:t>kalitesi Veri ve sistem kalitesine ilişkin standartlar nelerdir? </a:t>
            </a:r>
            <a:endParaRPr lang="tr-TR" dirty="0" smtClean="0"/>
          </a:p>
          <a:p>
            <a:r>
              <a:rPr lang="tr-TR" dirty="0" smtClean="0"/>
              <a:t>Yaşam </a:t>
            </a:r>
            <a:r>
              <a:rPr lang="tr-TR" dirty="0"/>
              <a:t>kalitesi Enformasyon ve bilgi temelli toplumda hangi değerleri korumalıyız? Haklarımızın ihlali durumunda bizi hangi kurum koruyacak? Hangi kültürel değerler yeni ES tarafından desteklenmeli?</a:t>
            </a:r>
          </a:p>
        </p:txBody>
      </p:sp>
    </p:spTree>
    <p:extLst>
      <p:ext uri="{BB962C8B-B14F-4D97-AF65-F5344CB8AC3E}">
        <p14:creationId xmlns:p14="http://schemas.microsoft.com/office/powerpoint/2010/main" val="295583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Etik Sorunları Artıran Önemli Teknolojik Eğilimler</a:t>
            </a:r>
          </a:p>
        </p:txBody>
      </p:sp>
      <p:sp>
        <p:nvSpPr>
          <p:cNvPr id="3" name="İçerik Yer Tutucusu 2"/>
          <p:cNvSpPr>
            <a:spLocks noGrp="1"/>
          </p:cNvSpPr>
          <p:nvPr>
            <p:ph sz="quarter" idx="1"/>
          </p:nvPr>
        </p:nvSpPr>
        <p:spPr/>
        <p:txBody>
          <a:bodyPr>
            <a:normAutofit fontScale="77500" lnSpcReduction="20000"/>
          </a:bodyPr>
          <a:lstStyle/>
          <a:p>
            <a:r>
              <a:rPr lang="tr-TR" dirty="0"/>
              <a:t>Enformasyon teknolojilerindeki gelişim etik kaygıları artırmakta, mevcut sosyal düzenlemeleri zorlamakta ve bazı yasaları kullanılamaz hale getirmektedir. </a:t>
            </a:r>
            <a:endParaRPr lang="tr-TR" dirty="0" smtClean="0"/>
          </a:p>
          <a:p>
            <a:r>
              <a:rPr lang="tr-TR" dirty="0" smtClean="0"/>
              <a:t>Enformasyon </a:t>
            </a:r>
            <a:r>
              <a:rPr lang="tr-TR" dirty="0"/>
              <a:t>sistemlerine olan bağımlılık iş süreçlerinde çok yüksektir. Buna karşın sistem hatalarına karşı savunmasızlık ve düşük veri kalitesi artış göstermektedir. </a:t>
            </a:r>
            <a:endParaRPr lang="tr-TR" dirty="0" smtClean="0"/>
          </a:p>
          <a:p>
            <a:r>
              <a:rPr lang="tr-TR" dirty="0" err="1" smtClean="0"/>
              <a:t>ES’lerinin</a:t>
            </a:r>
            <a:r>
              <a:rPr lang="tr-TR" dirty="0" smtClean="0"/>
              <a:t> </a:t>
            </a:r>
            <a:r>
              <a:rPr lang="tr-TR" dirty="0"/>
              <a:t>doğruluğunu ve güvenirliğini sağlayan evrensel standartlar henüz kabul edilmiş değildir. </a:t>
            </a:r>
            <a:endParaRPr lang="tr-TR" dirty="0" smtClean="0"/>
          </a:p>
          <a:p>
            <a:r>
              <a:rPr lang="tr-TR" dirty="0" smtClean="0"/>
              <a:t>Veri </a:t>
            </a:r>
            <a:r>
              <a:rPr lang="tr-TR" dirty="0"/>
              <a:t>tabanı sistemlerinin gelişmesi bir çok kurumun müşterilerine ait verileri saklamalarına yardım etmektedir. Bu durum kişisel bilginin gizliliği sorununu beraberinde getirmektedir. </a:t>
            </a:r>
            <a:endParaRPr lang="tr-TR" dirty="0" smtClean="0"/>
          </a:p>
          <a:p>
            <a:r>
              <a:rPr lang="tr-TR" dirty="0" smtClean="0"/>
              <a:t>Ağ </a:t>
            </a:r>
            <a:r>
              <a:rPr lang="tr-TR" dirty="0"/>
              <a:t>ve internet teknolojilerindeki gelişmeler kişiler hakkında her türlü enformasyona ulaşımı kolay hale getirmiştir. </a:t>
            </a:r>
            <a:endParaRPr lang="tr-TR" dirty="0" smtClean="0"/>
          </a:p>
          <a:p>
            <a:r>
              <a:rPr lang="tr-TR" dirty="0" smtClean="0"/>
              <a:t>Kredi </a:t>
            </a:r>
            <a:r>
              <a:rPr lang="tr-TR" dirty="0"/>
              <a:t>kartı ile internetten yaptığınız harcamalarda sadece kart bilgilerinizi değil, aynı zamanda kişisel zevklerinizin, ilgi </a:t>
            </a:r>
            <a:r>
              <a:rPr lang="tr-TR" dirty="0" err="1"/>
              <a:t>alanlarınızın,politik</a:t>
            </a:r>
            <a:r>
              <a:rPr lang="tr-TR" dirty="0"/>
              <a:t> görüşünüzün vs. bilgisini de veriyorsunuz.</a:t>
            </a:r>
            <a:endParaRPr lang="en-US" dirty="0">
              <a:ea typeface="ＭＳ Ｐゴシック" pitchFamily="34" charset="-128"/>
            </a:endParaRPr>
          </a:p>
          <a:p>
            <a:endParaRPr lang="en-US" dirty="0">
              <a:ea typeface="ＭＳ Ｐゴシック" pitchFamily="34" charset="-128"/>
            </a:endParaRPr>
          </a:p>
          <a:p>
            <a:endParaRPr lang="en-US" dirty="0">
              <a:ea typeface="ＭＳ Ｐゴシック" pitchFamily="34" charset="-128"/>
            </a:endParaRPr>
          </a:p>
          <a:p>
            <a:endParaRPr lang="tr-TR" dirty="0"/>
          </a:p>
        </p:txBody>
      </p:sp>
    </p:spTree>
    <p:extLst>
      <p:ext uri="{BB962C8B-B14F-4D97-AF65-F5344CB8AC3E}">
        <p14:creationId xmlns:p14="http://schemas.microsoft.com/office/powerpoint/2010/main" val="4136605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Açık Olmayan İlişki Farkındalığı (NORA)</a:t>
            </a:r>
          </a:p>
        </p:txBody>
      </p:sp>
      <p:sp>
        <p:nvSpPr>
          <p:cNvPr id="3" name="İçerik Yer Tutucusu 2"/>
          <p:cNvSpPr>
            <a:spLocks noGrp="1"/>
          </p:cNvSpPr>
          <p:nvPr>
            <p:ph sz="quarter" idx="1"/>
          </p:nvPr>
        </p:nvSpPr>
        <p:spPr>
          <a:xfrm>
            <a:off x="5148064" y="1556792"/>
            <a:ext cx="3250704" cy="4873752"/>
          </a:xfrm>
        </p:spPr>
        <p:txBody>
          <a:bodyPr>
            <a:normAutofit/>
          </a:bodyPr>
          <a:lstStyle/>
          <a:p>
            <a:r>
              <a:rPr lang="tr-TR" sz="1400" dirty="0"/>
              <a:t>Açık olmayan ilişki farkındalığı adlı yeni veri analiz teknolojisi hem devlete hem de özel sektöre daha güçlü profil oluşturma yetkinliği sunmaktadır. </a:t>
            </a:r>
            <a:endParaRPr lang="tr-TR" sz="1400" dirty="0" smtClean="0"/>
          </a:p>
          <a:p>
            <a:r>
              <a:rPr lang="tr-TR" sz="1400" dirty="0" smtClean="0"/>
              <a:t>İnsanlar </a:t>
            </a:r>
            <a:r>
              <a:rPr lang="tr-TR" sz="1400" dirty="0"/>
              <a:t>hakkındaki enformasyonu, istihdam uygulamaları, telefon kayıtları, müşteri listeleri ve arananlar listesi gibi birbirinden oldukça farklı kaynaklardan toplamakta ve bir suçlu ya da teröristi belirlemeye yardımcı olabilecek gizli bağlantıları ortaya çıkarmak için ilişkiler arasında karşılıklı bağlantı kurmaktadır. </a:t>
            </a:r>
            <a:endParaRPr lang="tr-TR" sz="1400" dirty="0" smtClean="0"/>
          </a:p>
          <a:p>
            <a:r>
              <a:rPr lang="tr-TR" sz="1400" dirty="0" smtClean="0"/>
              <a:t>Bu </a:t>
            </a:r>
            <a:r>
              <a:rPr lang="tr-TR" sz="1400" dirty="0"/>
              <a:t>işlemler 8 </a:t>
            </a:r>
            <a:r>
              <a:rPr lang="tr-TR" sz="1400" dirty="0" err="1"/>
              <a:t>sn’den</a:t>
            </a:r>
            <a:r>
              <a:rPr lang="tr-TR" sz="1400" dirty="0"/>
              <a:t> daha kısa bir sürede yapılmaktadır. http://www.computerworld.com</a:t>
            </a:r>
            <a:endParaRPr lang="en-US" sz="1400" dirty="0">
              <a:ea typeface="ＭＳ Ｐゴシック" pitchFamily="34" charset="-128"/>
            </a:endParaRPr>
          </a:p>
          <a:p>
            <a:endParaRPr lang="tr-TR" sz="1400" dirty="0"/>
          </a:p>
        </p:txBody>
      </p:sp>
      <p:pic>
        <p:nvPicPr>
          <p:cNvPr id="4" name="Resim 3"/>
          <p:cNvPicPr>
            <a:picLocks noChangeAspect="1"/>
          </p:cNvPicPr>
          <p:nvPr/>
        </p:nvPicPr>
        <p:blipFill>
          <a:blip r:embed="rId2"/>
          <a:stretch>
            <a:fillRect/>
          </a:stretch>
        </p:blipFill>
        <p:spPr>
          <a:xfrm>
            <a:off x="457200" y="1577271"/>
            <a:ext cx="4449710" cy="4557117"/>
          </a:xfrm>
          <a:prstGeom prst="rect">
            <a:avLst/>
          </a:prstGeom>
        </p:spPr>
      </p:pic>
    </p:spTree>
    <p:extLst>
      <p:ext uri="{BB962C8B-B14F-4D97-AF65-F5344CB8AC3E}">
        <p14:creationId xmlns:p14="http://schemas.microsoft.com/office/powerpoint/2010/main" val="247662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Toplumunda Etik</a:t>
            </a:r>
          </a:p>
        </p:txBody>
      </p:sp>
      <p:sp>
        <p:nvSpPr>
          <p:cNvPr id="3" name="İçerik Yer Tutucusu 2"/>
          <p:cNvSpPr>
            <a:spLocks noGrp="1"/>
          </p:cNvSpPr>
          <p:nvPr>
            <p:ph sz="quarter" idx="1"/>
          </p:nvPr>
        </p:nvSpPr>
        <p:spPr/>
        <p:txBody>
          <a:bodyPr>
            <a:normAutofit fontScale="85000" lnSpcReduction="20000"/>
          </a:bodyPr>
          <a:lstStyle/>
          <a:p>
            <a:r>
              <a:rPr lang="tr-TR" dirty="0" smtClean="0"/>
              <a:t>Sorumluluk</a:t>
            </a:r>
            <a:r>
              <a:rPr lang="tr-TR" dirty="0"/>
              <a:t>: Etik hareketin temel elemanıdır. Sorumluluk; verilen kararların potansiyel maliyet, yükümlülük ve sebep olacağı yeni görevlerinin kabul edilmesi demektir. </a:t>
            </a:r>
            <a:endParaRPr lang="tr-TR" dirty="0" smtClean="0"/>
          </a:p>
          <a:p>
            <a:r>
              <a:rPr lang="tr-TR" dirty="0" smtClean="0"/>
              <a:t>Hesap </a:t>
            </a:r>
            <a:r>
              <a:rPr lang="tr-TR" dirty="0"/>
              <a:t>verebilirlik: Sistemin ve sosyal kurumların bir özelliğidir. Gerçekleştirilen işi kimin üstleneceği ve kimin sorumlu olacağını belirleyen mekanizmaların yürürlükte olması anlamına gelmektedir. </a:t>
            </a:r>
            <a:endParaRPr lang="tr-TR" dirty="0" smtClean="0"/>
          </a:p>
          <a:p>
            <a:r>
              <a:rPr lang="tr-TR" dirty="0" smtClean="0"/>
              <a:t>Yükümlülük</a:t>
            </a:r>
            <a:r>
              <a:rPr lang="tr-TR" dirty="0"/>
              <a:t>: Sistemler, işletmeler veya kişiler tarafından verilen zararları telafi etmeye yasal olarak olanak veren politik sistemlerin bir özelliğidir. Ortaya çıkan zararın kim tarafından karşılanacağının bilinmesidir. </a:t>
            </a:r>
            <a:endParaRPr lang="tr-TR" dirty="0" smtClean="0"/>
          </a:p>
          <a:p>
            <a:r>
              <a:rPr lang="tr-TR" dirty="0" smtClean="0"/>
              <a:t>Hukuk </a:t>
            </a:r>
            <a:r>
              <a:rPr lang="tr-TR" dirty="0"/>
              <a:t>kurallarına uygun süreç : Kanunlara göre yönetilen toplumların bir özelliğidir. Kişilerin yasal olarak kanunlardan gelen haklarını talep etmesi </a:t>
            </a:r>
            <a:r>
              <a:rPr lang="tr-TR" dirty="0" smtClean="0"/>
              <a:t>demektir.</a:t>
            </a:r>
          </a:p>
          <a:p>
            <a:r>
              <a:rPr lang="tr-TR" dirty="0" smtClean="0"/>
              <a:t>Bu </a:t>
            </a:r>
            <a:r>
              <a:rPr lang="tr-TR" dirty="0"/>
              <a:t>temel kavramlar </a:t>
            </a:r>
            <a:r>
              <a:rPr lang="tr-TR" dirty="0" err="1"/>
              <a:t>ES’lerine</a:t>
            </a:r>
            <a:r>
              <a:rPr lang="tr-TR" dirty="0"/>
              <a:t> ilişkin etik analizin ve bu sistemlerin kim tarafından yönetileceğinin dayanak noktasını oluşturmaktadır.</a:t>
            </a:r>
          </a:p>
        </p:txBody>
      </p:sp>
    </p:spTree>
    <p:extLst>
      <p:ext uri="{BB962C8B-B14F-4D97-AF65-F5344CB8AC3E}">
        <p14:creationId xmlns:p14="http://schemas.microsoft.com/office/powerpoint/2010/main" val="133264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Etik Analiz</a:t>
            </a:r>
          </a:p>
        </p:txBody>
      </p:sp>
      <p:sp>
        <p:nvSpPr>
          <p:cNvPr id="4" name="İçerik Yer Tutucusu 2"/>
          <p:cNvSpPr>
            <a:spLocks noGrp="1"/>
          </p:cNvSpPr>
          <p:nvPr>
            <p:ph sz="quarter" idx="1"/>
          </p:nvPr>
        </p:nvSpPr>
        <p:spPr>
          <a:xfrm>
            <a:off x="457200" y="1600200"/>
            <a:ext cx="7467600" cy="4873752"/>
          </a:xfrm>
        </p:spPr>
        <p:txBody>
          <a:bodyPr>
            <a:normAutofit fontScale="85000" lnSpcReduction="20000"/>
          </a:bodyPr>
          <a:lstStyle/>
          <a:p>
            <a:r>
              <a:rPr lang="tr-TR" dirty="0"/>
              <a:t>Olayları açıkça belirleyin ve açıklayın. Kimin, kime, neyi, ne zaman ve nasıl yaptığını bulun. Olayları basit bir şekilde ele almak çözüm sürecini kolaylaştırır. </a:t>
            </a:r>
            <a:endParaRPr lang="tr-TR" dirty="0" smtClean="0"/>
          </a:p>
          <a:p>
            <a:r>
              <a:rPr lang="tr-TR" dirty="0" smtClean="0"/>
              <a:t>Çatışmayı </a:t>
            </a:r>
            <a:r>
              <a:rPr lang="tr-TR" dirty="0"/>
              <a:t>/ikilemi ve buna dahil olan üst düzey değerleri tanımlayınız. Etik bir konu genellikle bir ikilemi barındırır. Mesela müşteri bilgilerini herkesin görüp görememesi veya bu bilgilerin firma dışı üçüncü kişi ya da kurumlarla paylaşılması. </a:t>
            </a:r>
            <a:endParaRPr lang="tr-TR" dirty="0" smtClean="0"/>
          </a:p>
          <a:p>
            <a:r>
              <a:rPr lang="tr-TR" dirty="0" smtClean="0"/>
              <a:t>Paydaşları </a:t>
            </a:r>
            <a:r>
              <a:rPr lang="tr-TR" dirty="0"/>
              <a:t>tanımlayın. Sonuçlardan bir kazancı olan, yatırımda bulunan ve genellikle sesli düşünceleri olan paydaşlar kimler olduğunun ve ne istediklerinin belirlenmesi. </a:t>
            </a:r>
            <a:endParaRPr lang="tr-TR" dirty="0" smtClean="0"/>
          </a:p>
          <a:p>
            <a:r>
              <a:rPr lang="tr-TR" dirty="0" smtClean="0"/>
              <a:t>Mantıklı </a:t>
            </a:r>
            <a:r>
              <a:rPr lang="tr-TR" dirty="0"/>
              <a:t>bir şekilde gerçekleştirebileceğiniz seçenekleri belirleyin. Mümkün oldukça herkesin çıkarlarını karşılayabilecek bir seçeneğe odaklanın. Herkesin çıkarı aynı anda tatmin etmek mümkün olmasa da en uygun seçenek bulunmalı. </a:t>
            </a:r>
            <a:endParaRPr lang="tr-TR" dirty="0" smtClean="0"/>
          </a:p>
          <a:p>
            <a:r>
              <a:rPr lang="tr-TR" dirty="0" smtClean="0"/>
              <a:t>Seçeneklerin </a:t>
            </a:r>
            <a:r>
              <a:rPr lang="tr-TR" dirty="0"/>
              <a:t>muhtemel sonuçlarını belirleyiniz.</a:t>
            </a:r>
          </a:p>
        </p:txBody>
      </p:sp>
    </p:spTree>
    <p:extLst>
      <p:ext uri="{BB962C8B-B14F-4D97-AF65-F5344CB8AC3E}">
        <p14:creationId xmlns:p14="http://schemas.microsoft.com/office/powerpoint/2010/main" val="1782723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Evrensel Etik İlkeler</a:t>
            </a:r>
          </a:p>
        </p:txBody>
      </p:sp>
      <p:sp>
        <p:nvSpPr>
          <p:cNvPr id="4" name="İçerik Yer Tutucusu 2"/>
          <p:cNvSpPr>
            <a:spLocks noGrp="1"/>
          </p:cNvSpPr>
          <p:nvPr>
            <p:ph sz="quarter" idx="1"/>
          </p:nvPr>
        </p:nvSpPr>
        <p:spPr>
          <a:xfrm>
            <a:off x="457200" y="1600200"/>
            <a:ext cx="7467600" cy="4873752"/>
          </a:xfrm>
        </p:spPr>
        <p:txBody>
          <a:bodyPr>
            <a:normAutofit fontScale="92500"/>
          </a:bodyPr>
          <a:lstStyle/>
          <a:p>
            <a:r>
              <a:rPr lang="tr-TR" dirty="0" smtClean="0"/>
              <a:t>Sana </a:t>
            </a:r>
            <a:r>
              <a:rPr lang="tr-TR" dirty="0"/>
              <a:t>yapılmasını istemediğin bir şeyi başkasına yapma (Altın Kural</a:t>
            </a:r>
            <a:r>
              <a:rPr lang="tr-TR" dirty="0" smtClean="0"/>
              <a:t>).</a:t>
            </a:r>
          </a:p>
          <a:p>
            <a:r>
              <a:rPr lang="tr-TR" dirty="0" smtClean="0"/>
              <a:t>Bir </a:t>
            </a:r>
            <a:r>
              <a:rPr lang="tr-TR" dirty="0"/>
              <a:t>hareketin yapılması herkes için doğru değilse, hiç kimse için de değildir. (</a:t>
            </a:r>
            <a:r>
              <a:rPr lang="tr-TR" dirty="0" err="1"/>
              <a:t>Immanuel</a:t>
            </a:r>
            <a:r>
              <a:rPr lang="tr-TR" dirty="0"/>
              <a:t> Kant Kuralı) </a:t>
            </a:r>
            <a:endParaRPr lang="tr-TR" dirty="0" smtClean="0"/>
          </a:p>
          <a:p>
            <a:r>
              <a:rPr lang="tr-TR" dirty="0" smtClean="0"/>
              <a:t>Bir </a:t>
            </a:r>
            <a:r>
              <a:rPr lang="tr-TR" dirty="0"/>
              <a:t>hareket tekrar ile yapılamaz ise onu yapmak doğru değildir (</a:t>
            </a:r>
            <a:r>
              <a:rPr lang="tr-TR" dirty="0" err="1"/>
              <a:t>Dekart’in</a:t>
            </a:r>
            <a:r>
              <a:rPr lang="tr-TR" dirty="0"/>
              <a:t> Kuralı). </a:t>
            </a:r>
            <a:endParaRPr lang="tr-TR" dirty="0" smtClean="0"/>
          </a:p>
          <a:p>
            <a:r>
              <a:rPr lang="tr-TR" dirty="0" smtClean="0"/>
              <a:t>Hareketi </a:t>
            </a:r>
            <a:r>
              <a:rPr lang="tr-TR" dirty="0"/>
              <a:t>yüksek veya büyük bir değer getirecekse yap. (Faydacılık Prensibi) </a:t>
            </a:r>
            <a:endParaRPr lang="tr-TR" dirty="0" smtClean="0"/>
          </a:p>
          <a:p>
            <a:r>
              <a:rPr lang="tr-TR" dirty="0" smtClean="0"/>
              <a:t>Bir </a:t>
            </a:r>
            <a:r>
              <a:rPr lang="tr-TR" dirty="0"/>
              <a:t>hareketi en az zarar ve maliyet oluşturacaksa yap (Risk Sevmeme Prensibi). </a:t>
            </a:r>
            <a:endParaRPr lang="tr-TR" dirty="0" smtClean="0"/>
          </a:p>
          <a:p>
            <a:r>
              <a:rPr lang="tr-TR" dirty="0" smtClean="0"/>
              <a:t>Aksi </a:t>
            </a:r>
            <a:r>
              <a:rPr lang="tr-TR" dirty="0"/>
              <a:t>yönde özel bir açıklama olmadığı müddetçe, hemen hemen tüm somut ve soyut nesnelerin başka birisine ait olduğunu varsayın. (Etik Kuralı)</a:t>
            </a:r>
          </a:p>
        </p:txBody>
      </p:sp>
    </p:spTree>
    <p:extLst>
      <p:ext uri="{BB962C8B-B14F-4D97-AF65-F5344CB8AC3E}">
        <p14:creationId xmlns:p14="http://schemas.microsoft.com/office/powerpoint/2010/main" val="21483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Hakları: İnternet Çağındaki Gizlilik ve Özgürlük</a:t>
            </a:r>
          </a:p>
        </p:txBody>
      </p:sp>
      <p:sp>
        <p:nvSpPr>
          <p:cNvPr id="5" name="İçerik Yer Tutucusu 5"/>
          <p:cNvSpPr>
            <a:spLocks noGrp="1"/>
          </p:cNvSpPr>
          <p:nvPr>
            <p:ph sz="quarter" idx="1"/>
          </p:nvPr>
        </p:nvSpPr>
        <p:spPr>
          <a:xfrm>
            <a:off x="457200" y="1600200"/>
            <a:ext cx="8507288" cy="5257800"/>
          </a:xfrm>
        </p:spPr>
        <p:txBody>
          <a:bodyPr>
            <a:noAutofit/>
          </a:bodyPr>
          <a:lstStyle/>
          <a:p>
            <a:r>
              <a:rPr lang="tr-TR" sz="1800" dirty="0" smtClean="0"/>
              <a:t>Kişisel </a:t>
            </a:r>
            <a:r>
              <a:rPr lang="tr-TR" sz="1800" dirty="0"/>
              <a:t>Gizlilik; bireylerin yalnız kalma, diğer bireylerin ve organizasyonların gözetim veya müdahalesinin olmamasını talep etme hakkını ifade etmektedir. </a:t>
            </a:r>
            <a:endParaRPr lang="tr-TR" sz="1800" dirty="0" smtClean="0"/>
          </a:p>
          <a:p>
            <a:r>
              <a:rPr lang="tr-TR" sz="1800" dirty="0" smtClean="0"/>
              <a:t>Kişisel </a:t>
            </a:r>
            <a:r>
              <a:rPr lang="tr-TR" sz="1800" dirty="0"/>
              <a:t>bilgilerin veya özelliklerinin herkes tarafından bilinmemesinin istenmesidir. </a:t>
            </a:r>
            <a:endParaRPr lang="tr-TR" sz="1800" dirty="0" smtClean="0"/>
          </a:p>
          <a:p>
            <a:r>
              <a:rPr lang="tr-TR" sz="1800" dirty="0" smtClean="0"/>
              <a:t>Enformasyon </a:t>
            </a:r>
            <a:r>
              <a:rPr lang="tr-TR" sz="1800" dirty="0"/>
              <a:t>Teknolojisi kişisel gizliliğe saldırıyı kolay hale getirmektedir. </a:t>
            </a:r>
            <a:endParaRPr lang="tr-TR" sz="1800" dirty="0" smtClean="0"/>
          </a:p>
          <a:p>
            <a:r>
              <a:rPr lang="tr-TR" sz="1800" dirty="0" smtClean="0"/>
              <a:t>Gizlilik </a:t>
            </a:r>
            <a:r>
              <a:rPr lang="tr-TR" sz="1800" dirty="0"/>
              <a:t>istekleri bazı ülkelerde kanun ve yasalarla koruma altına alınmıştır. </a:t>
            </a:r>
            <a:r>
              <a:rPr lang="tr-TR" sz="1800" dirty="0" err="1"/>
              <a:t>Örn</a:t>
            </a:r>
            <a:r>
              <a:rPr lang="tr-TR" sz="1800" dirty="0"/>
              <a:t>: ABD, Kanada, AB ülkeleri </a:t>
            </a:r>
            <a:endParaRPr lang="tr-TR" sz="1800" dirty="0" smtClean="0"/>
          </a:p>
          <a:p>
            <a:r>
              <a:rPr lang="tr-TR" sz="1800" dirty="0" smtClean="0"/>
              <a:t>25 </a:t>
            </a:r>
            <a:r>
              <a:rPr lang="tr-TR" sz="1800" dirty="0"/>
              <a:t>Ekim 1998’de AB ülkelerinde kişisel gizliliğin korunmasını genişleten Veri Korumaya İlişkin Avrupa Komisyonu Direktifi yürürlüğe girmiştir.</a:t>
            </a:r>
          </a:p>
        </p:txBody>
      </p:sp>
    </p:spTree>
    <p:extLst>
      <p:ext uri="{BB962C8B-B14F-4D97-AF65-F5344CB8AC3E}">
        <p14:creationId xmlns:p14="http://schemas.microsoft.com/office/powerpoint/2010/main" val="2546607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Gizliliğe İlişkin İnternet Sorunları </a:t>
            </a:r>
          </a:p>
        </p:txBody>
      </p:sp>
      <p:sp>
        <p:nvSpPr>
          <p:cNvPr id="5" name="İçerik Yer Tutucusu 5"/>
          <p:cNvSpPr>
            <a:spLocks noGrp="1"/>
          </p:cNvSpPr>
          <p:nvPr>
            <p:ph sz="quarter" idx="1"/>
          </p:nvPr>
        </p:nvSpPr>
        <p:spPr>
          <a:xfrm>
            <a:off x="457200" y="1600200"/>
            <a:ext cx="8003232" cy="5257800"/>
          </a:xfrm>
        </p:spPr>
        <p:txBody>
          <a:bodyPr>
            <a:noAutofit/>
          </a:bodyPr>
          <a:lstStyle/>
          <a:p>
            <a:r>
              <a:rPr lang="tr-TR" sz="2000" dirty="0" smtClean="0"/>
              <a:t>İnternet </a:t>
            </a:r>
            <a:r>
              <a:rPr lang="tr-TR" sz="2000" dirty="0"/>
              <a:t>kişisel gizliliğe ilişkin yeni sorunlar ortaya çıkartmıştır. </a:t>
            </a:r>
            <a:endParaRPr lang="tr-TR" sz="2000" dirty="0" smtClean="0"/>
          </a:p>
          <a:p>
            <a:r>
              <a:rPr lang="tr-TR" sz="2000" dirty="0" smtClean="0"/>
              <a:t>Bu </a:t>
            </a:r>
            <a:r>
              <a:rPr lang="tr-TR" sz="2000" dirty="0"/>
              <a:t>geniş ağ üzerinden gönderilen enformasyon son varış noktasına ulaşana kadar birçok bilgisayar sisteminin içinden geçmektedir. Bu sistemlerin </a:t>
            </a:r>
            <a:r>
              <a:rPr lang="tr-TR" sz="2000" dirty="0" err="1"/>
              <a:t>herbiri</a:t>
            </a:r>
            <a:r>
              <a:rPr lang="tr-TR" sz="2000" dirty="0"/>
              <a:t> bu enformasyonu ele geçirip, depolama yeteneğine sahiptir. </a:t>
            </a:r>
            <a:endParaRPr lang="tr-TR" sz="2000" dirty="0" smtClean="0"/>
          </a:p>
          <a:p>
            <a:r>
              <a:rPr lang="tr-TR" sz="2000" dirty="0" smtClean="0"/>
              <a:t>Web </a:t>
            </a:r>
            <a:r>
              <a:rPr lang="tr-TR" sz="2000" dirty="0"/>
              <a:t>siteleri ziyaretçilerini daha iyi takip edebilmeleri için siteye kayıt olmalarını sağlayarak kimlik bilgilerini elde edebilir. </a:t>
            </a:r>
            <a:endParaRPr lang="tr-TR" sz="2000" dirty="0" smtClean="0"/>
          </a:p>
          <a:p>
            <a:r>
              <a:rPr lang="tr-TR" sz="2000" dirty="0" smtClean="0"/>
              <a:t>Kullanıcının </a:t>
            </a:r>
            <a:r>
              <a:rPr lang="tr-TR" sz="2000" dirty="0"/>
              <a:t>Web üzerinden hangi sitelerde dolaştığı, yaptığı tüm faaliyetler izlenebilir.</a:t>
            </a:r>
          </a:p>
        </p:txBody>
      </p:sp>
    </p:spTree>
    <p:extLst>
      <p:ext uri="{BB962C8B-B14F-4D97-AF65-F5344CB8AC3E}">
        <p14:creationId xmlns:p14="http://schemas.microsoft.com/office/powerpoint/2010/main" val="2848140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Casus Yazılım (</a:t>
            </a:r>
            <a:r>
              <a:rPr lang="tr-TR" dirty="0" err="1"/>
              <a:t>Spyware</a:t>
            </a:r>
            <a:r>
              <a:rPr lang="tr-TR" dirty="0"/>
              <a:t>) </a:t>
            </a:r>
          </a:p>
        </p:txBody>
      </p:sp>
      <p:sp>
        <p:nvSpPr>
          <p:cNvPr id="3" name="İçerik Yer Tutucusu 2"/>
          <p:cNvSpPr>
            <a:spLocks noGrp="1"/>
          </p:cNvSpPr>
          <p:nvPr>
            <p:ph sz="quarter" idx="1"/>
          </p:nvPr>
        </p:nvSpPr>
        <p:spPr>
          <a:xfrm>
            <a:off x="457200" y="1600200"/>
            <a:ext cx="7467600" cy="3340968"/>
          </a:xfrm>
        </p:spPr>
        <p:txBody>
          <a:bodyPr>
            <a:normAutofit/>
          </a:bodyPr>
          <a:lstStyle/>
          <a:p>
            <a:r>
              <a:rPr lang="tr-TR" dirty="0" smtClean="0"/>
              <a:t>Büyük </a:t>
            </a:r>
            <a:r>
              <a:rPr lang="tr-TR" dirty="0"/>
              <a:t>bir uygulamanın üstüne yerleşerek gizlice kendi kendini internet kullanıcısının bilgisayarına yükleyebilir. </a:t>
            </a:r>
            <a:endParaRPr lang="tr-TR" dirty="0" smtClean="0"/>
          </a:p>
          <a:p>
            <a:r>
              <a:rPr lang="tr-TR" dirty="0" smtClean="0"/>
              <a:t>Casus </a:t>
            </a:r>
            <a:r>
              <a:rPr lang="tr-TR" dirty="0"/>
              <a:t>yazılım bir defa yüklendiğinde internet sitelerine banner reklamlar ve diğer istenmeyen materyaller göndermeleri için çağrıda bulunur. Kullanıcının bilgisayardaki her türlü faaliyetini diğer bir bilgisayara rapor edebilir.</a:t>
            </a:r>
            <a:endParaRPr lang="tr-TR" dirty="0">
              <a:ea typeface="ＭＳ Ｐゴシック" pitchFamily="34" charset="-128"/>
            </a:endParaRPr>
          </a:p>
          <a:p>
            <a:pPr marL="0" indent="0">
              <a:buNone/>
            </a:pPr>
            <a:endParaRPr lang="en-US" dirty="0">
              <a:ea typeface="ＭＳ Ｐゴシック" pitchFamily="34" charset="-128"/>
            </a:endParaRPr>
          </a:p>
        </p:txBody>
      </p:sp>
    </p:spTree>
    <p:extLst>
      <p:ext uri="{BB962C8B-B14F-4D97-AF65-F5344CB8AC3E}">
        <p14:creationId xmlns:p14="http://schemas.microsoft.com/office/powerpoint/2010/main" val="10345140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Çerezler (</a:t>
            </a:r>
            <a:r>
              <a:rPr lang="tr-TR" dirty="0" err="1"/>
              <a:t>cookies</a:t>
            </a:r>
            <a:r>
              <a:rPr lang="tr-TR" dirty="0"/>
              <a:t>) </a:t>
            </a:r>
          </a:p>
        </p:txBody>
      </p:sp>
      <p:sp>
        <p:nvSpPr>
          <p:cNvPr id="3" name="İçerik Yer Tutucusu 2"/>
          <p:cNvSpPr>
            <a:spLocks noGrp="1"/>
          </p:cNvSpPr>
          <p:nvPr>
            <p:ph sz="quarter" idx="1"/>
          </p:nvPr>
        </p:nvSpPr>
        <p:spPr/>
        <p:txBody>
          <a:bodyPr>
            <a:normAutofit fontScale="70000" lnSpcReduction="20000"/>
          </a:bodyPr>
          <a:lstStyle/>
          <a:p>
            <a:r>
              <a:rPr lang="tr-TR" dirty="0"/>
              <a:t>Web siteleri çerez (</a:t>
            </a:r>
            <a:r>
              <a:rPr lang="tr-TR" dirty="0" err="1"/>
              <a:t>cookie</a:t>
            </a:r>
            <a:r>
              <a:rPr lang="tr-TR" dirty="0"/>
              <a:t>) teknolojisini kullanarak ziyaretçilerinin bilgisi olmaksızın onlar hakkındaki enformasyona ulaşabilir. </a:t>
            </a:r>
            <a:endParaRPr lang="tr-TR" dirty="0" smtClean="0"/>
          </a:p>
          <a:p>
            <a:r>
              <a:rPr lang="tr-TR" dirty="0" smtClean="0"/>
              <a:t>Çerezler</a:t>
            </a:r>
            <a:r>
              <a:rPr lang="tr-TR" dirty="0"/>
              <a:t>, kullanıcı web sitelerini ziyaret ettiğinde bilgisayarın sabit diski üzerinde biriken küçük metin dosyalarıdır. </a:t>
            </a:r>
            <a:endParaRPr lang="tr-TR" dirty="0" smtClean="0"/>
          </a:p>
          <a:p>
            <a:r>
              <a:rPr lang="tr-TR" dirty="0" smtClean="0"/>
              <a:t>Çerezler </a:t>
            </a:r>
            <a:r>
              <a:rPr lang="tr-TR" dirty="0"/>
              <a:t>ziyaretçilerin Web tarayıcı yazılımlarını tespit etmekte ve ziyaret edilen web sitelerini izlemektedirler</a:t>
            </a:r>
            <a:r>
              <a:rPr lang="tr-TR" dirty="0" smtClean="0"/>
              <a:t>.</a:t>
            </a:r>
          </a:p>
          <a:p>
            <a:r>
              <a:rPr lang="tr-TR" dirty="0" smtClean="0"/>
              <a:t> </a:t>
            </a:r>
            <a:r>
              <a:rPr lang="tr-TR" dirty="0"/>
              <a:t>Ziyaretçi çerez biriktiren bir siteye tekrar girdiğinde web sitesi yazılımı ziyaretçinin bilgisayarını tarayacak , çerez bulacak ve bu kişinin geçmişte ne yaptığını bilecektir. </a:t>
            </a:r>
            <a:endParaRPr lang="tr-TR" dirty="0" smtClean="0"/>
          </a:p>
          <a:p>
            <a:r>
              <a:rPr lang="tr-TR" dirty="0" smtClean="0"/>
              <a:t>Ayrıca </a:t>
            </a:r>
            <a:r>
              <a:rPr lang="tr-TR" dirty="0"/>
              <a:t>bu çerezlerdeki bilgilere göre web sitesi içeriğini düzenleyerek ziyaretçinin ilgi duyduğu alanlara göre uyarlanabilmektedir. Kitapyurdu.com, amazon.com gibi sitelerde site sizi adınız ile karşılamaktadır. </a:t>
            </a:r>
            <a:endParaRPr lang="tr-TR" dirty="0" smtClean="0"/>
          </a:p>
          <a:p>
            <a:r>
              <a:rPr lang="tr-TR" dirty="0" smtClean="0"/>
              <a:t>Size </a:t>
            </a:r>
            <a:r>
              <a:rPr lang="tr-TR" dirty="0"/>
              <a:t>geçmişte incelediğiniz yada satın aldığınız ürünler doğrultusunda ilgi duyabileceğiniz benzer alanlardaki ürünleri tavsiye etmektedir. </a:t>
            </a:r>
            <a:endParaRPr lang="tr-TR" dirty="0" smtClean="0"/>
          </a:p>
          <a:p>
            <a:r>
              <a:rPr lang="tr-TR" dirty="0" smtClean="0"/>
              <a:t>Çerez </a:t>
            </a:r>
            <a:r>
              <a:rPr lang="tr-TR" dirty="0"/>
              <a:t>kullanan web siteleri ziyaretçilerinin isim ve adreslerini doğrudan tespit edemezler. </a:t>
            </a:r>
            <a:endParaRPr lang="tr-TR" dirty="0" smtClean="0"/>
          </a:p>
          <a:p>
            <a:r>
              <a:rPr lang="tr-TR" dirty="0" smtClean="0"/>
              <a:t>Eğer </a:t>
            </a:r>
            <a:r>
              <a:rPr lang="tr-TR" dirty="0"/>
              <a:t>ziyaretçi sitede kayıtlı ise bu </a:t>
            </a:r>
            <a:r>
              <a:rPr lang="tr-TR" dirty="0" err="1"/>
              <a:t>enformsayonu</a:t>
            </a:r>
            <a:r>
              <a:rPr lang="tr-TR" dirty="0"/>
              <a:t> çerezle birleştirir.</a:t>
            </a:r>
            <a:endParaRPr lang="en-US" dirty="0">
              <a:ea typeface="ＭＳ Ｐゴシック" pitchFamily="34" charset="-128"/>
            </a:endParaRPr>
          </a:p>
        </p:txBody>
      </p:sp>
    </p:spTree>
    <p:extLst>
      <p:ext uri="{BB962C8B-B14F-4D97-AF65-F5344CB8AC3E}">
        <p14:creationId xmlns:p14="http://schemas.microsoft.com/office/powerpoint/2010/main" val="16926788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Çerezler Web ziyaretçilerini nasıl tanırlar?</a:t>
            </a:r>
          </a:p>
        </p:txBody>
      </p:sp>
      <p:pic>
        <p:nvPicPr>
          <p:cNvPr id="5" name="Resim 4"/>
          <p:cNvPicPr>
            <a:picLocks noChangeAspect="1"/>
          </p:cNvPicPr>
          <p:nvPr/>
        </p:nvPicPr>
        <p:blipFill>
          <a:blip r:embed="rId2"/>
          <a:stretch>
            <a:fillRect/>
          </a:stretch>
        </p:blipFill>
        <p:spPr>
          <a:xfrm>
            <a:off x="539552" y="1700808"/>
            <a:ext cx="7981950" cy="4362450"/>
          </a:xfrm>
          <a:prstGeom prst="rect">
            <a:avLst/>
          </a:prstGeom>
        </p:spPr>
      </p:pic>
    </p:spTree>
    <p:extLst>
      <p:ext uri="{BB962C8B-B14F-4D97-AF65-F5344CB8AC3E}">
        <p14:creationId xmlns:p14="http://schemas.microsoft.com/office/powerpoint/2010/main" val="33605291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Web İşaretçileri: Google Örneği</a:t>
            </a:r>
          </a:p>
        </p:txBody>
      </p:sp>
      <p:sp>
        <p:nvSpPr>
          <p:cNvPr id="3" name="İçerik Yer Tutucusu 2"/>
          <p:cNvSpPr>
            <a:spLocks noGrp="1"/>
          </p:cNvSpPr>
          <p:nvPr>
            <p:ph sz="quarter" idx="1"/>
          </p:nvPr>
        </p:nvSpPr>
        <p:spPr>
          <a:xfrm>
            <a:off x="457200" y="1600200"/>
            <a:ext cx="8435280" cy="2260848"/>
          </a:xfrm>
        </p:spPr>
        <p:txBody>
          <a:bodyPr>
            <a:normAutofit fontScale="70000" lnSpcReduction="20000"/>
          </a:bodyPr>
          <a:lstStyle/>
          <a:p>
            <a:r>
              <a:rPr lang="tr-TR" dirty="0"/>
              <a:t>Arama işlemlerinde internet kullanıcılarının %75’i Google kullanmaktadır. Dolayısıyla Google ‘</a:t>
            </a:r>
            <a:r>
              <a:rPr lang="tr-TR" dirty="0" err="1"/>
              <a:t>ın</a:t>
            </a:r>
            <a:r>
              <a:rPr lang="tr-TR" dirty="0"/>
              <a:t> elinde muazzam bir veri tabanı vardır. </a:t>
            </a:r>
            <a:endParaRPr lang="tr-TR" dirty="0" smtClean="0"/>
          </a:p>
          <a:p>
            <a:r>
              <a:rPr lang="tr-TR" dirty="0" smtClean="0"/>
              <a:t>Uzmanların </a:t>
            </a:r>
            <a:r>
              <a:rPr lang="tr-TR" dirty="0"/>
              <a:t>çoğu Google ‘</a:t>
            </a:r>
            <a:r>
              <a:rPr lang="tr-TR" dirty="0" err="1"/>
              <a:t>ın</a:t>
            </a:r>
            <a:r>
              <a:rPr lang="tr-TR" dirty="0"/>
              <a:t> dünyadaki en büyük kişisel enformasyon koleksiyonuna sahip olduğuna ve herhangi bir devlet biriminin sahip olabileceğinden daha fazla sayıda insan hakkındaki veriye sahip olduğunu söylemektedir. </a:t>
            </a:r>
            <a:endParaRPr lang="tr-TR" dirty="0" smtClean="0"/>
          </a:p>
          <a:p>
            <a:r>
              <a:rPr lang="tr-TR" dirty="0" smtClean="0"/>
              <a:t>Google’ın </a:t>
            </a:r>
            <a:r>
              <a:rPr lang="tr-TR" dirty="0"/>
              <a:t>araçları: Google </a:t>
            </a:r>
            <a:r>
              <a:rPr lang="tr-TR" dirty="0" err="1"/>
              <a:t>Search</a:t>
            </a:r>
            <a:r>
              <a:rPr lang="tr-TR" dirty="0"/>
              <a:t>, G-mail, </a:t>
            </a:r>
            <a:r>
              <a:rPr lang="tr-TR" dirty="0" err="1"/>
              <a:t>doubleclick</a:t>
            </a:r>
            <a:r>
              <a:rPr lang="tr-TR" dirty="0"/>
              <a:t>, </a:t>
            </a:r>
            <a:r>
              <a:rPr lang="tr-TR" dirty="0" err="1"/>
              <a:t>youtube</a:t>
            </a:r>
            <a:r>
              <a:rPr lang="tr-TR" dirty="0"/>
              <a:t>, </a:t>
            </a:r>
            <a:r>
              <a:rPr lang="tr-TR" dirty="0" err="1"/>
              <a:t>google</a:t>
            </a:r>
            <a:r>
              <a:rPr lang="tr-TR" dirty="0"/>
              <a:t> </a:t>
            </a:r>
            <a:r>
              <a:rPr lang="tr-TR" dirty="0" err="1"/>
              <a:t>toolbar</a:t>
            </a:r>
            <a:r>
              <a:rPr lang="tr-TR" dirty="0"/>
              <a:t>, </a:t>
            </a:r>
            <a:r>
              <a:rPr lang="tr-TR" dirty="0" err="1"/>
              <a:t>google</a:t>
            </a:r>
            <a:r>
              <a:rPr lang="tr-TR" dirty="0"/>
              <a:t> </a:t>
            </a:r>
            <a:r>
              <a:rPr lang="tr-TR" dirty="0" err="1"/>
              <a:t>chrome</a:t>
            </a:r>
            <a:endParaRPr lang="en-US" dirty="0">
              <a:ea typeface="ＭＳ Ｐゴシック" pitchFamily="34" charset="-128"/>
            </a:endParaRPr>
          </a:p>
        </p:txBody>
      </p:sp>
      <p:pic>
        <p:nvPicPr>
          <p:cNvPr id="4" name="Resim 3"/>
          <p:cNvPicPr>
            <a:picLocks noChangeAspect="1"/>
          </p:cNvPicPr>
          <p:nvPr/>
        </p:nvPicPr>
        <p:blipFill>
          <a:blip r:embed="rId2"/>
          <a:stretch>
            <a:fillRect/>
          </a:stretch>
        </p:blipFill>
        <p:spPr>
          <a:xfrm>
            <a:off x="1331640" y="3419475"/>
            <a:ext cx="6810375" cy="3438525"/>
          </a:xfrm>
          <a:prstGeom prst="rect">
            <a:avLst/>
          </a:prstGeom>
        </p:spPr>
      </p:pic>
    </p:spTree>
    <p:extLst>
      <p:ext uri="{BB962C8B-B14F-4D97-AF65-F5344CB8AC3E}">
        <p14:creationId xmlns:p14="http://schemas.microsoft.com/office/powerpoint/2010/main" val="24518878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a:t>Yahoo</a:t>
            </a:r>
            <a:r>
              <a:rPr lang="tr-TR" dirty="0"/>
              <a:t>! Gizlilik Merkezi: Web İşaretçileri </a:t>
            </a:r>
          </a:p>
        </p:txBody>
      </p:sp>
      <p:sp>
        <p:nvSpPr>
          <p:cNvPr id="3" name="İçerik Yer Tutucusu 2"/>
          <p:cNvSpPr>
            <a:spLocks noGrp="1"/>
          </p:cNvSpPr>
          <p:nvPr>
            <p:ph sz="quarter" idx="1"/>
          </p:nvPr>
        </p:nvSpPr>
        <p:spPr/>
        <p:txBody>
          <a:bodyPr>
            <a:normAutofit fontScale="55000" lnSpcReduction="20000"/>
          </a:bodyPr>
          <a:lstStyle/>
          <a:p>
            <a:r>
              <a:rPr lang="tr-TR" dirty="0"/>
              <a:t>Web sayfaları, Web sitelerinin bu sayfayı ziyaret eden kullanıcıları saymak ya da belirli tanımlama bilgilerine erişmek için kullandıkları elektronik resimleri (“tek piksel GIF” ya da “Web işaretçisi” adı verilen) içerebilir. </a:t>
            </a:r>
            <a:r>
              <a:rPr lang="tr-TR" dirty="0" err="1"/>
              <a:t>Yahoo</a:t>
            </a:r>
            <a:r>
              <a:rPr lang="tr-TR" dirty="0"/>
              <a:t>! Web işaretçilerini aşağıdaki şekillerde kullanır: </a:t>
            </a:r>
            <a:endParaRPr lang="tr-TR" dirty="0" smtClean="0"/>
          </a:p>
          <a:p>
            <a:r>
              <a:rPr lang="tr-TR" dirty="0" err="1" smtClean="0"/>
              <a:t>Yahoo</a:t>
            </a:r>
            <a:r>
              <a:rPr lang="tr-TR" dirty="0"/>
              <a:t>!, Web işaretçilerini, </a:t>
            </a:r>
            <a:r>
              <a:rPr lang="tr-TR" dirty="0" err="1"/>
              <a:t>Yahoo</a:t>
            </a:r>
            <a:r>
              <a:rPr lang="tr-TR" dirty="0"/>
              <a:t>! Web siteleri ağında kullanıcıları saymak ve </a:t>
            </a:r>
            <a:r>
              <a:rPr lang="tr-TR" dirty="0" err="1"/>
              <a:t>Yahoo</a:t>
            </a:r>
            <a:r>
              <a:rPr lang="tr-TR" dirty="0"/>
              <a:t>! tanımlama bilgilerine erişerek kayıtlı kullanıcıları tanımak için kullanır. </a:t>
            </a:r>
            <a:r>
              <a:rPr lang="tr-TR" dirty="0" err="1"/>
              <a:t>Yahoo</a:t>
            </a:r>
            <a:r>
              <a:rPr lang="tr-TR" dirty="0"/>
              <a:t>! tanımlama bilgilerine erişebilmemiz, yahoo.com net adres kümesinde olmayan (uk.geocities.yahoo.com adresinde sayfaları olan </a:t>
            </a:r>
            <a:r>
              <a:rPr lang="tr-TR" dirty="0" err="1"/>
              <a:t>Yahoo</a:t>
            </a:r>
            <a:r>
              <a:rPr lang="tr-TR" dirty="0"/>
              <a:t>! </a:t>
            </a:r>
            <a:r>
              <a:rPr lang="tr-TR" dirty="0" err="1"/>
              <a:t>Geocities</a:t>
            </a:r>
            <a:r>
              <a:rPr lang="tr-TR" dirty="0"/>
              <a:t> gibi) </a:t>
            </a:r>
            <a:r>
              <a:rPr lang="tr-TR" dirty="0" err="1"/>
              <a:t>Yahoo</a:t>
            </a:r>
            <a:r>
              <a:rPr lang="tr-TR" dirty="0"/>
              <a:t>! Web sitelerini ziyaret ettiğinizde deneyiminizi kişiselleştirmemizi sağlar. </a:t>
            </a:r>
            <a:endParaRPr lang="tr-TR" dirty="0" smtClean="0"/>
          </a:p>
          <a:p>
            <a:r>
              <a:rPr lang="tr-TR" dirty="0" err="1" smtClean="0"/>
              <a:t>Yahoo</a:t>
            </a:r>
            <a:r>
              <a:rPr lang="tr-TR" dirty="0"/>
              <a:t>! Ağı Dışında </a:t>
            </a:r>
            <a:r>
              <a:rPr lang="tr-TR" dirty="0" err="1"/>
              <a:t>Yahoo</a:t>
            </a:r>
            <a:r>
              <a:rPr lang="tr-TR" dirty="0"/>
              <a:t>! Web işaretçilerini, belirli iş ortakları adına Web sitelerinde araştırma yapmak için kullanır. Bu araştırma, reklamların etkinliğini ölçmek ve artırmak için kullanılır. Bu Web işaretçileri sayesinde kaydedilen bilgiler, iş ortaklarımıza </a:t>
            </a:r>
            <a:r>
              <a:rPr lang="tr-TR" dirty="0" err="1"/>
              <a:t>Yahoo</a:t>
            </a:r>
            <a:r>
              <a:rPr lang="tr-TR" dirty="0"/>
              <a:t>! kullanıcılarına ilişkin toplu bilgiler vermek için kullanılır. Bu toplu bilgiler demografik ve kullanım bilgilerini içerebilir. Bu araştırmalardan elde edilen, sizi kişisel olarak tanımlayan hiçbir bilgi iş ortaklarıyla paylaşılmaz. </a:t>
            </a:r>
            <a:endParaRPr lang="tr-TR" dirty="0" smtClean="0"/>
          </a:p>
          <a:p>
            <a:r>
              <a:rPr lang="tr-TR" dirty="0" err="1" smtClean="0"/>
              <a:t>Yahoo</a:t>
            </a:r>
            <a:r>
              <a:rPr lang="tr-TR" dirty="0"/>
              <a:t>!'</a:t>
            </a:r>
            <a:r>
              <a:rPr lang="tr-TR" dirty="0" err="1"/>
              <a:t>nun</a:t>
            </a:r>
            <a:r>
              <a:rPr lang="tr-TR" dirty="0"/>
              <a:t> uygulaması, iş ortaklarımızdan, sayfalarındaki bu Web işaretçilerinin varlığını gizlilik ilkelerinde açıklamaları ve bizim gizlilik ilkelerimize bağlantı eklemelerini istemek şeklindedir. </a:t>
            </a:r>
            <a:r>
              <a:rPr lang="tr-TR" dirty="0" err="1"/>
              <a:t>Yahoo</a:t>
            </a:r>
            <a:r>
              <a:rPr lang="tr-TR" dirty="0"/>
              <a:t>!’</a:t>
            </a:r>
            <a:r>
              <a:rPr lang="tr-TR" dirty="0" err="1"/>
              <a:t>nun</a:t>
            </a:r>
            <a:r>
              <a:rPr lang="tr-TR" dirty="0"/>
              <a:t> bu bilgileri bu araştırmada toplamasını ve kullanmasını istememe seçeneğiniz vardır. Bunu istemiyorsanız lütfen buraya tıklayın. Not: Bu istememe seçeneği belirli bir kullanıcıdan çok belirli bir </a:t>
            </a:r>
            <a:r>
              <a:rPr lang="tr-TR" dirty="0" err="1"/>
              <a:t>gözatıcıya</a:t>
            </a:r>
            <a:r>
              <a:rPr lang="tr-TR" dirty="0"/>
              <a:t> uygulanır. Dolayısıyla, kullandığınız her bilgisayar ya da </a:t>
            </a:r>
            <a:r>
              <a:rPr lang="tr-TR" dirty="0" err="1"/>
              <a:t>gözatıcıda</a:t>
            </a:r>
            <a:r>
              <a:rPr lang="tr-TR" dirty="0"/>
              <a:t> bu seçeneği ayarlamanız gerekir. </a:t>
            </a:r>
            <a:endParaRPr lang="tr-TR" dirty="0" smtClean="0"/>
          </a:p>
          <a:p>
            <a:r>
              <a:rPr lang="tr-TR" dirty="0" smtClean="0"/>
              <a:t>HTML </a:t>
            </a:r>
            <a:r>
              <a:rPr lang="tr-TR" dirty="0"/>
              <a:t>Posta </a:t>
            </a:r>
            <a:r>
              <a:rPr lang="tr-TR" dirty="0" err="1"/>
              <a:t>Yahoo</a:t>
            </a:r>
            <a:r>
              <a:rPr lang="tr-TR" dirty="0"/>
              <a:t>!’</a:t>
            </a:r>
            <a:r>
              <a:rPr lang="tr-TR" dirty="0" err="1"/>
              <a:t>nun</a:t>
            </a:r>
            <a:r>
              <a:rPr lang="tr-TR" dirty="0"/>
              <a:t> uygulaması, kaç mesajın açıldığını ve kaçında işlem yapıldığını saymak için </a:t>
            </a:r>
            <a:r>
              <a:rPr lang="tr-TR" dirty="0" err="1"/>
              <a:t>Yahoo</a:t>
            </a:r>
            <a:r>
              <a:rPr lang="tr-TR" dirty="0"/>
              <a:t>!’</a:t>
            </a:r>
            <a:r>
              <a:rPr lang="tr-TR" dirty="0" err="1"/>
              <a:t>nun</a:t>
            </a:r>
            <a:r>
              <a:rPr lang="tr-TR" dirty="0"/>
              <a:t> kendisinin gönderdiği Web işaretçilerini HTML biçimlendirmeli e-posta mesajlarında (grafik içeren mesajlar) kullanmak yönündedir.  Genel olarak, reklam etiketleri de dahil olmak üzere bir Web sayfasının bir parçası olarak görüntülenen herhangi bir elektronik resim, bir Web işaretçisi olarak işlev görebilir. </a:t>
            </a:r>
            <a:r>
              <a:rPr lang="tr-TR" dirty="0" err="1"/>
              <a:t>Yahoo</a:t>
            </a:r>
            <a:r>
              <a:rPr lang="tr-TR" dirty="0"/>
              <a:t>! üzerinden reklam veren reklam ağları reklamlarında Web işaretçileri kullanabilir</a:t>
            </a:r>
            <a:r>
              <a:rPr lang="tr-TR" dirty="0" smtClean="0"/>
              <a:t>. </a:t>
            </a:r>
            <a:r>
              <a:rPr lang="tr-TR" dirty="0"/>
              <a:t>http://privacy.yahoo.com/privacy/tr/pixels/details.html Katılmamayı Tercih Etme Seçeneği</a:t>
            </a:r>
          </a:p>
        </p:txBody>
      </p:sp>
    </p:spTree>
    <p:extLst>
      <p:ext uri="{BB962C8B-B14F-4D97-AF65-F5344CB8AC3E}">
        <p14:creationId xmlns:p14="http://schemas.microsoft.com/office/powerpoint/2010/main" val="4008924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524689" y="18601"/>
            <a:ext cx="7467600" cy="1143000"/>
          </a:xfrm>
        </p:spPr>
        <p:txBody>
          <a:bodyPr/>
          <a:lstStyle/>
          <a:p>
            <a:r>
              <a:rPr lang="tr-TR" dirty="0"/>
              <a:t>Katılmamayı Tercih Etme Seçeneği </a:t>
            </a:r>
          </a:p>
        </p:txBody>
      </p:sp>
      <p:sp>
        <p:nvSpPr>
          <p:cNvPr id="3" name="İçerik Yer Tutucusu 2"/>
          <p:cNvSpPr>
            <a:spLocks noGrp="1"/>
          </p:cNvSpPr>
          <p:nvPr>
            <p:ph sz="quarter" idx="1"/>
          </p:nvPr>
        </p:nvSpPr>
        <p:spPr>
          <a:xfrm>
            <a:off x="533400" y="1156138"/>
            <a:ext cx="7467600" cy="5081174"/>
          </a:xfrm>
        </p:spPr>
        <p:txBody>
          <a:bodyPr>
            <a:noAutofit/>
          </a:bodyPr>
          <a:lstStyle/>
          <a:p>
            <a:r>
              <a:rPr lang="tr-TR" sz="2000" dirty="0"/>
              <a:t>ABD işletmelerin piyasada oluşan işlemlere ilişkin enformasyonu toplamalarına ve bu enformasyonu daha sonra kullanıcı onayı olmaksızın pazarlama amaçlı kullanmalarına izin vermemektedir. </a:t>
            </a:r>
          </a:p>
          <a:p>
            <a:r>
              <a:rPr lang="tr-TR" sz="2000" dirty="0"/>
              <a:t>Bazı siteler, bu enformasyon politikası ifadelerinde katılmamayı tercih etme seçeneği kutularını ilave etmektedir. </a:t>
            </a:r>
          </a:p>
          <a:p>
            <a:r>
              <a:rPr lang="tr-TR" sz="2000" dirty="0" err="1"/>
              <a:t>Yahoo</a:t>
            </a:r>
            <a:r>
              <a:rPr lang="tr-TR" sz="2000" dirty="0"/>
              <a:t>!'</a:t>
            </a:r>
            <a:r>
              <a:rPr lang="tr-TR" sz="2000" dirty="0" err="1"/>
              <a:t>nun</a:t>
            </a:r>
            <a:r>
              <a:rPr lang="tr-TR" sz="2000" dirty="0"/>
              <a:t> uygulaması, iş ortaklarımızdan, sayfalarındaki bu Web işaretçilerinin varlığını gizlilik ilkelerinde açıklamaları ve bizim gizlilik ilkelerimize bağlantı eklemelerini istemek şeklindedir. </a:t>
            </a:r>
            <a:r>
              <a:rPr lang="tr-TR" sz="2000" dirty="0" err="1"/>
              <a:t>Yahoo</a:t>
            </a:r>
            <a:r>
              <a:rPr lang="tr-TR" sz="2000" dirty="0"/>
              <a:t>!’</a:t>
            </a:r>
            <a:r>
              <a:rPr lang="tr-TR" sz="2000" dirty="0" err="1"/>
              <a:t>nun</a:t>
            </a:r>
            <a:r>
              <a:rPr lang="tr-TR" sz="2000" dirty="0"/>
              <a:t> bu bilgileri bu araştırmada toplamasını ve kullanmasını istememe seçeneğiniz vardır. Bunu istemiyorsanız lütfen buraya tıklayın. Not: Bu istememe seçeneği belirli bir kullanıcıdan çok belirli bir </a:t>
            </a:r>
            <a:r>
              <a:rPr lang="tr-TR" sz="2000" dirty="0" err="1"/>
              <a:t>gözatıcıya</a:t>
            </a:r>
            <a:r>
              <a:rPr lang="tr-TR" sz="2000" dirty="0"/>
              <a:t> uygulanır. Dolayısıyla, kullandığınız her bilgisayar ya da </a:t>
            </a:r>
            <a:r>
              <a:rPr lang="tr-TR" sz="2000" dirty="0" err="1"/>
              <a:t>gözatıcıda</a:t>
            </a:r>
            <a:r>
              <a:rPr lang="tr-TR" sz="2000" dirty="0"/>
              <a:t> bu seçeneği ayarlamanız gerekir</a:t>
            </a:r>
          </a:p>
        </p:txBody>
      </p:sp>
    </p:spTree>
    <p:extLst>
      <p:ext uri="{BB962C8B-B14F-4D97-AF65-F5344CB8AC3E}">
        <p14:creationId xmlns:p14="http://schemas.microsoft.com/office/powerpoint/2010/main" val="2330046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Toplama Modelleri </a:t>
            </a:r>
          </a:p>
        </p:txBody>
      </p:sp>
      <p:sp>
        <p:nvSpPr>
          <p:cNvPr id="3" name="İçerik Yer Tutucusu 2"/>
          <p:cNvSpPr>
            <a:spLocks noGrp="1"/>
          </p:cNvSpPr>
          <p:nvPr>
            <p:ph sz="quarter" idx="1"/>
          </p:nvPr>
        </p:nvSpPr>
        <p:spPr>
          <a:xfrm>
            <a:off x="457200" y="1600200"/>
            <a:ext cx="7467600" cy="1036712"/>
          </a:xfrm>
        </p:spPr>
        <p:txBody>
          <a:bodyPr>
            <a:noAutofit/>
          </a:bodyPr>
          <a:lstStyle/>
          <a:p>
            <a:r>
              <a:rPr lang="tr-TR" dirty="0" smtClean="0"/>
              <a:t>Katılmamayı </a:t>
            </a:r>
            <a:r>
              <a:rPr lang="tr-TR" dirty="0"/>
              <a:t>tercih etme (</a:t>
            </a:r>
            <a:r>
              <a:rPr lang="tr-TR" dirty="0" err="1"/>
              <a:t>Opt-out</a:t>
            </a:r>
            <a:r>
              <a:rPr lang="tr-TR" dirty="0"/>
              <a:t>) modelinde kişisel bilgilerin toplanmaması isteği müşteri tarafından özellikle belirtilinceye kadar bilgilerin toplanacağı modeldir. </a:t>
            </a:r>
            <a:endParaRPr lang="tr-TR" dirty="0" smtClean="0"/>
          </a:p>
          <a:p>
            <a:endParaRPr lang="tr-TR" dirty="0"/>
          </a:p>
          <a:p>
            <a:r>
              <a:rPr lang="tr-TR" dirty="0" smtClean="0"/>
              <a:t>Katılmayı </a:t>
            </a:r>
            <a:r>
              <a:rPr lang="tr-TR" dirty="0"/>
              <a:t>tercih etme (</a:t>
            </a:r>
            <a:r>
              <a:rPr lang="tr-TR" dirty="0" err="1"/>
              <a:t>Opt</a:t>
            </a:r>
            <a:r>
              <a:rPr lang="tr-TR" dirty="0"/>
              <a:t>-in) modelinde müşteri, kişisel bilgilerinin toplanmasını istemediği sürece bilgi toplanamaz</a:t>
            </a:r>
          </a:p>
        </p:txBody>
      </p:sp>
      <p:cxnSp>
        <p:nvCxnSpPr>
          <p:cNvPr id="5" name="Straight Arrow Connector 5"/>
          <p:cNvCxnSpPr>
            <a:cxnSpLocks noChangeShapeType="1"/>
          </p:cNvCxnSpPr>
          <p:nvPr/>
        </p:nvCxnSpPr>
        <p:spPr bwMode="auto">
          <a:xfrm>
            <a:off x="2133600" y="3733800"/>
            <a:ext cx="3505200" cy="457200"/>
          </a:xfrm>
          <a:prstGeom prst="straightConnector1">
            <a:avLst/>
          </a:prstGeom>
          <a:noFill/>
          <a:ln w="9525">
            <a:solidFill>
              <a:schemeClr val="bg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246766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Gizliliğini Korumak İçin Teknik Çözümler</a:t>
            </a:r>
          </a:p>
        </p:txBody>
      </p:sp>
      <p:sp>
        <p:nvSpPr>
          <p:cNvPr id="3" name="İçerik Yer Tutucusu 2"/>
          <p:cNvSpPr>
            <a:spLocks noGrp="1"/>
          </p:cNvSpPr>
          <p:nvPr>
            <p:ph sz="quarter" idx="1"/>
          </p:nvPr>
        </p:nvSpPr>
        <p:spPr>
          <a:xfrm>
            <a:off x="457200" y="1600199"/>
            <a:ext cx="8003232" cy="4997153"/>
          </a:xfrm>
        </p:spPr>
        <p:txBody>
          <a:bodyPr>
            <a:normAutofit fontScale="77500" lnSpcReduction="20000"/>
          </a:bodyPr>
          <a:lstStyle/>
          <a:p>
            <a:r>
              <a:rPr lang="tr-TR" dirty="0" smtClean="0"/>
              <a:t>Web </a:t>
            </a:r>
            <a:r>
              <a:rPr lang="tr-TR" dirty="0"/>
              <a:t>siteleri ile etkileşim sırasında kullanıcıların gizliliğini korumak için yasal çözümlere ilaveten yeni teknolojiler geliştirilmiştir. </a:t>
            </a:r>
            <a:endParaRPr lang="tr-TR" dirty="0" smtClean="0"/>
          </a:p>
          <a:p>
            <a:r>
              <a:rPr lang="tr-TR" dirty="0" smtClean="0"/>
              <a:t>Bu </a:t>
            </a:r>
            <a:r>
              <a:rPr lang="tr-TR" dirty="0"/>
              <a:t>araçlar e-posta şifreleme, çerezleri kabul etmeme, sörf faaliyetlerini isimsiz yapma, casus yazılımları tespit etme ve silme gibi işlemler için kullanılmaktadır. </a:t>
            </a:r>
            <a:endParaRPr lang="tr-TR" dirty="0" smtClean="0"/>
          </a:p>
          <a:p>
            <a:r>
              <a:rPr lang="tr-TR" dirty="0" smtClean="0"/>
              <a:t>P3P </a:t>
            </a:r>
            <a:r>
              <a:rPr lang="tr-TR" dirty="0"/>
              <a:t>(</a:t>
            </a:r>
            <a:r>
              <a:rPr lang="tr-TR" dirty="0" err="1"/>
              <a:t>The</a:t>
            </a:r>
            <a:r>
              <a:rPr lang="tr-TR" dirty="0"/>
              <a:t> Platform </a:t>
            </a:r>
            <a:r>
              <a:rPr lang="tr-TR" dirty="0" err="1"/>
              <a:t>for</a:t>
            </a:r>
            <a:r>
              <a:rPr lang="tr-TR" dirty="0"/>
              <a:t> </a:t>
            </a:r>
            <a:r>
              <a:rPr lang="tr-TR" dirty="0" err="1"/>
              <a:t>Privacy</a:t>
            </a:r>
            <a:r>
              <a:rPr lang="tr-TR" dirty="0"/>
              <a:t> </a:t>
            </a:r>
            <a:r>
              <a:rPr lang="tr-TR" dirty="0" err="1"/>
              <a:t>Preferences</a:t>
            </a:r>
            <a:r>
              <a:rPr lang="tr-TR" dirty="0"/>
              <a:t>): Web sitesinin kişisel gizlilik politikası ile internet kullanıcıları arasında iletişim kurmak ve bu politikayı kullanıcıların tercihleri veya «Veri korumaya ilişkin AB direktifi» gibi standartlarla karşılaştırmak için kullanılan bir standart sunmaktadır. </a:t>
            </a:r>
            <a:endParaRPr lang="tr-TR" dirty="0" smtClean="0"/>
          </a:p>
          <a:p>
            <a:r>
              <a:rPr lang="tr-TR" dirty="0" smtClean="0"/>
              <a:t>Kullanıcılar </a:t>
            </a:r>
            <a:r>
              <a:rPr lang="tr-TR" dirty="0"/>
              <a:t>web sitesi ile etkileşim halindeyken kullanmayı arzu ettikleri kişisel gizlilik seviyesini seçmek için P3P’yi kullanabilirler. </a:t>
            </a:r>
            <a:endParaRPr lang="tr-TR" dirty="0" smtClean="0"/>
          </a:p>
          <a:p>
            <a:r>
              <a:rPr lang="tr-TR" dirty="0" smtClean="0"/>
              <a:t>Örnek</a:t>
            </a:r>
            <a:r>
              <a:rPr lang="tr-TR" dirty="0"/>
              <a:t>: Microsoft İnternet Explorer kullanıcıları P3P sitesinin kişisel gizlilik politikasına ve siteden gelen tüm çerezlerin bir listesine erişebilir ve okuyabilirler. </a:t>
            </a:r>
            <a:endParaRPr lang="tr-TR" dirty="0" smtClean="0"/>
          </a:p>
          <a:p>
            <a:r>
              <a:rPr lang="tr-TR" dirty="0" smtClean="0"/>
              <a:t>İnternet </a:t>
            </a:r>
            <a:r>
              <a:rPr lang="tr-TR" dirty="0"/>
              <a:t>Explorer, kullanıcıların bilgisayarlarını tüm çerezleri engelleyebilecek düzeyde ayarlamalarına imkan tanımaktadır. </a:t>
            </a:r>
          </a:p>
        </p:txBody>
      </p:sp>
    </p:spTree>
    <p:extLst>
      <p:ext uri="{BB962C8B-B14F-4D97-AF65-F5344CB8AC3E}">
        <p14:creationId xmlns:p14="http://schemas.microsoft.com/office/powerpoint/2010/main" val="759639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en-US" dirty="0"/>
              <a:t>P3P (The Platform for Privacy Preferences)</a:t>
            </a:r>
            <a:endParaRPr lang="tr-TR" dirty="0"/>
          </a:p>
        </p:txBody>
      </p:sp>
      <p:pic>
        <p:nvPicPr>
          <p:cNvPr id="6" name="Resim 5"/>
          <p:cNvPicPr>
            <a:picLocks noChangeAspect="1"/>
          </p:cNvPicPr>
          <p:nvPr/>
        </p:nvPicPr>
        <p:blipFill>
          <a:blip r:embed="rId2"/>
          <a:stretch>
            <a:fillRect/>
          </a:stretch>
        </p:blipFill>
        <p:spPr>
          <a:xfrm>
            <a:off x="971600" y="1700808"/>
            <a:ext cx="7181850" cy="4743450"/>
          </a:xfrm>
          <a:prstGeom prst="rect">
            <a:avLst/>
          </a:prstGeom>
        </p:spPr>
      </p:pic>
    </p:spTree>
    <p:extLst>
      <p:ext uri="{BB962C8B-B14F-4D97-AF65-F5344CB8AC3E}">
        <p14:creationId xmlns:p14="http://schemas.microsoft.com/office/powerpoint/2010/main" val="1040938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Mülkiyet Hakları: Fikri mülkiyet</a:t>
            </a:r>
          </a:p>
        </p:txBody>
      </p:sp>
      <p:sp>
        <p:nvSpPr>
          <p:cNvPr id="6" name="İçerik Yer Tutucusu 2"/>
          <p:cNvSpPr>
            <a:spLocks noGrp="1"/>
          </p:cNvSpPr>
          <p:nvPr>
            <p:ph sz="quarter" idx="1"/>
          </p:nvPr>
        </p:nvSpPr>
        <p:spPr>
          <a:xfrm>
            <a:off x="457200" y="1600199"/>
            <a:ext cx="8003232" cy="4997153"/>
          </a:xfrm>
        </p:spPr>
        <p:txBody>
          <a:bodyPr>
            <a:normAutofit fontScale="62500" lnSpcReduction="20000"/>
          </a:bodyPr>
          <a:lstStyle/>
          <a:p>
            <a:r>
              <a:rPr lang="tr-TR" dirty="0"/>
              <a:t>Günümüzde enformasyon sistemleri, özel fikri mülkiyeti korumaya yönelik mevcut yasa ve sosyal uygulamalar için ciddi güçlükler oluşturmaktadır. Çünkü mevcut bilgisayar ve internet teknolojisi ile fikri mülkiyetin kopyalanması ve dağıtılması oldukça basittir. Bu konuda yasal düzenlemelerde eksiklikler hala daha mevcuttur. </a:t>
            </a:r>
            <a:endParaRPr lang="tr-TR" dirty="0" smtClean="0"/>
          </a:p>
          <a:p>
            <a:r>
              <a:rPr lang="tr-TR" dirty="0" smtClean="0"/>
              <a:t>Fikri </a:t>
            </a:r>
            <a:r>
              <a:rPr lang="tr-TR" dirty="0"/>
              <a:t>mülkiyet; bireyler veya işletmeler tarafından oluşturulan fiziksel olmayan varlıkları ifade etmektedir. (müzik, e-kitap, cd, yazılım vs.) </a:t>
            </a:r>
            <a:endParaRPr lang="tr-TR" dirty="0" smtClean="0"/>
          </a:p>
          <a:p>
            <a:r>
              <a:rPr lang="tr-TR" dirty="0" smtClean="0"/>
              <a:t>Yazılım</a:t>
            </a:r>
            <a:r>
              <a:rPr lang="tr-TR" dirty="0"/>
              <a:t>, kitap, dergi, CD veya gazete gibi dijital medya; fiziksel ürünlerden kolaylıkla kopyalanması, değiştirilebilmesi açısından çok farklıdır. İnternet ile telif hakkı olan yazılım, makale, kitap, dergi vs. ürünler kolaylıkla </a:t>
            </a:r>
            <a:r>
              <a:rPr lang="tr-TR" dirty="0" err="1"/>
              <a:t>kopyanıp</a:t>
            </a:r>
            <a:r>
              <a:rPr lang="tr-TR" dirty="0"/>
              <a:t> paylaşılmaktadır. Bunu engellemek için yapılan girişimler çok başarılı olamamaktadır. </a:t>
            </a:r>
            <a:endParaRPr lang="tr-TR" dirty="0" smtClean="0"/>
          </a:p>
          <a:p>
            <a:r>
              <a:rPr lang="tr-TR" dirty="0" smtClean="0"/>
              <a:t>Fikri </a:t>
            </a:r>
            <a:r>
              <a:rPr lang="tr-TR" dirty="0"/>
              <a:t>mülkiyet üç farklı yasal gelenek altında korunmaktadır: </a:t>
            </a:r>
            <a:endParaRPr lang="tr-TR" dirty="0" smtClean="0"/>
          </a:p>
          <a:p>
            <a:pPr lvl="1"/>
            <a:r>
              <a:rPr lang="tr-TR" dirty="0" smtClean="0"/>
              <a:t>1</a:t>
            </a:r>
            <a:r>
              <a:rPr lang="tr-TR" dirty="0"/>
              <a:t>. Ticari sır Bir iş için kullanılan herhangi bir fikri çalışma ürünü (formül, şablon, cihaz vs.) kamuya mâl olmuş bir enformasyona dayanmıyorsa ticari sırdır. </a:t>
            </a:r>
            <a:endParaRPr lang="tr-TR" dirty="0" smtClean="0"/>
          </a:p>
          <a:p>
            <a:pPr lvl="1"/>
            <a:r>
              <a:rPr lang="tr-TR" dirty="0" smtClean="0"/>
              <a:t>2</a:t>
            </a:r>
            <a:r>
              <a:rPr lang="tr-TR" dirty="0"/>
              <a:t>. Telif hakkı Koruma süresi, eser sahibi yaşadığı sürece ve ölümünden itibaren 70 yıldır. Eser sahibi tüzel kişiyse, koruma süresi aleniyet tarihinden itibaren 70 yıldır. Sahibinin ölümünden sonra </a:t>
            </a:r>
            <a:r>
              <a:rPr lang="tr-TR" dirty="0" err="1"/>
              <a:t>alenîleşen</a:t>
            </a:r>
            <a:r>
              <a:rPr lang="tr-TR" dirty="0"/>
              <a:t> eserlerde koruma süresi ölüm tarihinden sonra 70 yıldır. Eser sahibi belli değilse, koruma süresi eserin </a:t>
            </a:r>
            <a:r>
              <a:rPr lang="tr-TR" dirty="0" err="1"/>
              <a:t>alenîyet</a:t>
            </a:r>
            <a:r>
              <a:rPr lang="tr-TR" dirty="0"/>
              <a:t> kazanmasından itibaren 70 yıldır. Koruma süresi eser </a:t>
            </a:r>
            <a:r>
              <a:rPr lang="tr-TR" dirty="0" err="1"/>
              <a:t>alenîleşmediği</a:t>
            </a:r>
            <a:r>
              <a:rPr lang="tr-TR" dirty="0"/>
              <a:t> sürece işlemeye başlamaz. Koruma sürelerinin dolmasıyla birlikte eser sahibine tanınan mali haklar sona erer. Bu sebeple koruma süresi dolmuş eserler, eser sahibinden izin alınmaksızın serbestçe kullanılabilir. http://www.telifhaklari.gov.tr/ana/default.asp </a:t>
            </a:r>
            <a:endParaRPr lang="tr-TR" dirty="0" smtClean="0"/>
          </a:p>
          <a:p>
            <a:pPr lvl="1"/>
            <a:r>
              <a:rPr lang="tr-TR" dirty="0" smtClean="0"/>
              <a:t>3</a:t>
            </a:r>
            <a:r>
              <a:rPr lang="tr-TR" dirty="0"/>
              <a:t>. Patentler Sahibine buluşun arkasında yatan fikirler için 20 yıl süre ile ayrıcalıklı bir tekel hakkı vermektedir. Patent hukukunun temel kavramları </a:t>
            </a:r>
            <a:r>
              <a:rPr lang="tr-TR" dirty="0" err="1"/>
              <a:t>orjinallik</a:t>
            </a:r>
            <a:r>
              <a:rPr lang="tr-TR" dirty="0"/>
              <a:t>, yenilik ve buluştur. Bilgisayar yazılımlarına da patent verilmektedir</a:t>
            </a:r>
          </a:p>
        </p:txBody>
      </p:sp>
    </p:spTree>
    <p:extLst>
      <p:ext uri="{BB962C8B-B14F-4D97-AF65-F5344CB8AC3E}">
        <p14:creationId xmlns:p14="http://schemas.microsoft.com/office/powerpoint/2010/main" val="435404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Sistem Kalitesi: Veri Kalitesi ve Sistem Hataları</a:t>
            </a:r>
          </a:p>
        </p:txBody>
      </p:sp>
      <p:sp>
        <p:nvSpPr>
          <p:cNvPr id="3" name="İçerik Yer Tutucusu 2"/>
          <p:cNvSpPr>
            <a:spLocks noGrp="1"/>
          </p:cNvSpPr>
          <p:nvPr>
            <p:ph sz="quarter" idx="1"/>
          </p:nvPr>
        </p:nvSpPr>
        <p:spPr>
          <a:xfrm>
            <a:off x="457200" y="1600200"/>
            <a:ext cx="8075240" cy="4925144"/>
          </a:xfrm>
        </p:spPr>
        <p:txBody>
          <a:bodyPr>
            <a:normAutofit/>
          </a:bodyPr>
          <a:lstStyle/>
          <a:p>
            <a:r>
              <a:rPr lang="tr-TR" dirty="0" smtClean="0"/>
              <a:t>Düşük </a:t>
            </a:r>
            <a:r>
              <a:rPr lang="tr-TR" dirty="0"/>
              <a:t>sistem performansının üç temel sebebi </a:t>
            </a:r>
            <a:r>
              <a:rPr lang="tr-TR" dirty="0" smtClean="0"/>
              <a:t>vardır:</a:t>
            </a:r>
          </a:p>
          <a:p>
            <a:pPr lvl="1"/>
            <a:r>
              <a:rPr lang="tr-TR" dirty="0" smtClean="0"/>
              <a:t>1</a:t>
            </a:r>
            <a:r>
              <a:rPr lang="tr-TR" dirty="0"/>
              <a:t>. Yazılım hataları, </a:t>
            </a:r>
            <a:endParaRPr lang="tr-TR" dirty="0" smtClean="0"/>
          </a:p>
          <a:p>
            <a:pPr lvl="1"/>
            <a:r>
              <a:rPr lang="tr-TR" dirty="0" smtClean="0"/>
              <a:t>2</a:t>
            </a:r>
            <a:r>
              <a:rPr lang="tr-TR" dirty="0"/>
              <a:t>. Doğal sebepler ve diğer sebeplerden kaynaklanan donanım ve tesis arızaları </a:t>
            </a:r>
            <a:endParaRPr lang="tr-TR" dirty="0" smtClean="0"/>
          </a:p>
          <a:p>
            <a:pPr lvl="1"/>
            <a:r>
              <a:rPr lang="tr-TR" dirty="0" smtClean="0"/>
              <a:t>3</a:t>
            </a:r>
            <a:r>
              <a:rPr lang="tr-TR" dirty="0"/>
              <a:t>. Düşük girdi veri kalitesi (Performansı en çok etkileyen sebeptir.) </a:t>
            </a:r>
          </a:p>
          <a:p>
            <a:pPr marL="365760" lvl="1" indent="0">
              <a:buNone/>
            </a:pPr>
            <a:endParaRPr lang="tr-TR" dirty="0"/>
          </a:p>
          <a:p>
            <a:pPr marL="274320" lvl="1">
              <a:spcBef>
                <a:spcPts val="600"/>
              </a:spcBef>
              <a:buSzPct val="70000"/>
              <a:buFont typeface="Wingdings"/>
              <a:buChar char=""/>
            </a:pPr>
            <a:r>
              <a:rPr lang="tr-TR" sz="2400" dirty="0"/>
              <a:t>Yazılım sektörü mükemmeli bırakın kabul edilebilir bir yazılım test standartlarına dahi sahip değildir.</a:t>
            </a:r>
          </a:p>
        </p:txBody>
      </p:sp>
    </p:spTree>
    <p:extLst>
      <p:ext uri="{BB962C8B-B14F-4D97-AF65-F5344CB8AC3E}">
        <p14:creationId xmlns:p14="http://schemas.microsoft.com/office/powerpoint/2010/main" val="29346682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178</TotalTime>
  <Words>2394</Words>
  <Application>Microsoft Office PowerPoint</Application>
  <PresentationFormat>Ekran Gösterisi (4:3)</PresentationFormat>
  <Paragraphs>126</Paragraphs>
  <Slides>24</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24</vt:i4>
      </vt:variant>
    </vt:vector>
  </HeadingPairs>
  <TitlesOfParts>
    <vt:vector size="29" baseType="lpstr">
      <vt:lpstr>ＭＳ Ｐゴシック</vt:lpstr>
      <vt:lpstr>Century Schoolbook</vt:lpstr>
      <vt:lpstr>Wingdings</vt:lpstr>
      <vt:lpstr>Wingdings 2</vt:lpstr>
      <vt:lpstr>Cumba</vt:lpstr>
      <vt:lpstr>Yönetim Bilişim Sistemleri </vt:lpstr>
      <vt:lpstr>Enformasyon Sistemlerine İlişkin Etik ve Sosyal Konular</vt:lpstr>
      <vt:lpstr>Sistemlere ilişkin etik ve sosyal konuların anlaşılması</vt:lpstr>
      <vt:lpstr>Etik </vt:lpstr>
      <vt:lpstr>Etik, sosyal ve politik konular hakkında düşünmeye yönelik bir model </vt:lpstr>
      <vt:lpstr>Enformasyon Çağına ilişkin 5 Ahlâki boyut</vt:lpstr>
      <vt:lpstr>Etik Sorunları Artıran Önemli Teknolojik Eğilimler</vt:lpstr>
      <vt:lpstr>Açık Olmayan İlişki Farkındalığı (NORA)</vt:lpstr>
      <vt:lpstr>Enformasyon Toplumunda Etik</vt:lpstr>
      <vt:lpstr>Etik Analiz</vt:lpstr>
      <vt:lpstr>Evrensel Etik İlkeler</vt:lpstr>
      <vt:lpstr>Enformasyon Hakları: İnternet Çağındaki Gizlilik ve Özgürlük</vt:lpstr>
      <vt:lpstr>Gizliliğe İlişkin İnternet Sorunları </vt:lpstr>
      <vt:lpstr>Casus Yazılım (Spyware) </vt:lpstr>
      <vt:lpstr>Çerezler (cookies) </vt:lpstr>
      <vt:lpstr>Çerezler Web ziyaretçilerini nasıl tanırlar?</vt:lpstr>
      <vt:lpstr>Web İşaretçileri: Google Örneği</vt:lpstr>
      <vt:lpstr>Yahoo! Gizlilik Merkezi: Web İşaretçileri </vt:lpstr>
      <vt:lpstr>Katılmamayı Tercih Etme Seçeneği </vt:lpstr>
      <vt:lpstr>Enformasyon Toplama Modelleri </vt:lpstr>
      <vt:lpstr>Gizliliğini Korumak İçin Teknik Çözümler</vt:lpstr>
      <vt:lpstr>P3P (The Platform for Privacy Preferences)</vt:lpstr>
      <vt:lpstr>Mülkiyet Hakları: Fikri mülkiyet</vt:lpstr>
      <vt:lpstr>Sistem Kalitesi: Veri Kalitesi ve Sistem Hataları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İLERİ PROGRAMLAMA</dc:title>
  <dc:creator>SFuat</dc:creator>
  <cp:lastModifiedBy>Windows Kullanıcısı</cp:lastModifiedBy>
  <cp:revision>58</cp:revision>
  <dcterms:created xsi:type="dcterms:W3CDTF">2020-02-18T10:38:04Z</dcterms:created>
  <dcterms:modified xsi:type="dcterms:W3CDTF">2022-10-17T08:51:49Z</dcterms:modified>
</cp:coreProperties>
</file>