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315" r:id="rId14"/>
    <p:sldId id="312" r:id="rId15"/>
    <p:sldId id="314" r:id="rId16"/>
    <p:sldId id="313" r:id="rId17"/>
    <p:sldId id="271" r:id="rId18"/>
    <p:sldId id="273" r:id="rId19"/>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74"/>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21.11.2022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21.11.2022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21.11.2022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21.11.2022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21.11.2022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21.11.2022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21.11.2022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21.11.2022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21.11.2022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21.11.2022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21.11.2022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21.11.2022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SISTEMLER</a:t>
            </a:r>
            <a:endParaRPr lang="tr-TR" dirty="0"/>
          </a:p>
        </p:txBody>
      </p:sp>
      <p:sp>
        <p:nvSpPr>
          <p:cNvPr id="3" name="İçerik Yer Tutucusu 2"/>
          <p:cNvSpPr>
            <a:spLocks noGrp="1"/>
          </p:cNvSpPr>
          <p:nvPr>
            <p:ph sz="quarter" idx="1"/>
          </p:nvPr>
        </p:nvSpPr>
        <p:spPr>
          <a:xfrm>
            <a:off x="457200" y="1600200"/>
            <a:ext cx="8507288" cy="4709120"/>
          </a:xfrm>
        </p:spPr>
        <p:txBody>
          <a:bodyPr>
            <a:normAutofit/>
          </a:bodyPr>
          <a:lstStyle/>
          <a:p>
            <a:r>
              <a:rPr lang="tr-TR" dirty="0" smtClean="0"/>
              <a:t>Günümüzde </a:t>
            </a:r>
            <a:r>
              <a:rPr lang="tr-TR" dirty="0"/>
              <a:t>işletmeler hem kendi içlerinde hem de diğer işletmelerle daha fazla bağlı hale gelmektedirler. </a:t>
            </a:r>
            <a:endParaRPr lang="tr-TR" dirty="0" smtClean="0"/>
          </a:p>
          <a:p>
            <a:r>
              <a:rPr lang="tr-TR" dirty="0" smtClean="0"/>
              <a:t>Eğer </a:t>
            </a:r>
            <a:r>
              <a:rPr lang="tr-TR" dirty="0"/>
              <a:t>bir işletmeyi yönetiyorsanız, büyük bir sipariş aldığınızda veya tedarikçiden sevkiyat ertelendiğinde hemen ona tepki vermek isteyeceksinizdir. </a:t>
            </a:r>
            <a:endParaRPr lang="tr-TR" dirty="0" smtClean="0"/>
          </a:p>
          <a:p>
            <a:r>
              <a:rPr lang="tr-TR" dirty="0" smtClean="0"/>
              <a:t>Ayrıca </a:t>
            </a:r>
            <a:r>
              <a:rPr lang="tr-TR" dirty="0"/>
              <a:t>bu olayların işletmedeki her bir bolum üzerindeki etkisini ve herhangi bir zamanda işletmenin nasıl bir performans göstereceğini, büyük bir işletmeyi yönetiyorsanız özellikle bilmek isteyeceksinizdir. </a:t>
            </a:r>
            <a:endParaRPr lang="tr-TR" dirty="0" smtClean="0"/>
          </a:p>
          <a:p>
            <a:r>
              <a:rPr lang="tr-TR" dirty="0" smtClean="0"/>
              <a:t>Kurumsal </a:t>
            </a:r>
            <a:r>
              <a:rPr lang="tr-TR" dirty="0"/>
              <a:t>sistemler bunu gerçekleştirebilecek bütünleşmeyi sağlar .</a:t>
            </a:r>
            <a:endParaRPr lang="tr-TR" dirty="0"/>
          </a:p>
        </p:txBody>
      </p:sp>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SİSTEMLER NEDİR?</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smtClean="0"/>
              <a:t>Hiçbirinin </a:t>
            </a:r>
            <a:r>
              <a:rPr lang="tr-TR" sz="1800" dirty="0"/>
              <a:t>birimleriyle konuşmadığı onlarca hatta yüzlerce farklı </a:t>
            </a:r>
            <a:r>
              <a:rPr lang="tr-TR" sz="1800" dirty="0" err="1"/>
              <a:t>veritabanı</a:t>
            </a:r>
            <a:r>
              <a:rPr lang="tr-TR" sz="1800" dirty="0"/>
              <a:t> ve sistemlerden elde edilen enformasyona dayalı olan bir işletmeyi yönetmek zorunda olduğunuzu düşünün. </a:t>
            </a:r>
            <a:endParaRPr lang="tr-TR" sz="1800" dirty="0" smtClean="0"/>
          </a:p>
          <a:p>
            <a:r>
              <a:rPr lang="tr-TR" sz="1800" dirty="0" smtClean="0"/>
              <a:t>Sizin </a:t>
            </a:r>
            <a:r>
              <a:rPr lang="tr-TR" sz="1800" dirty="0"/>
              <a:t>işletmenizin her biri farklı fabrikalarda üretim yapan ve üretimi, veri ambarını ve dağıtımı kontrol eden birbirinden farklı ve uyumsuz sistemlerden oluşan on farklı temel üretim hattına sahip olduğunuzu hayal edin. </a:t>
            </a:r>
            <a:endParaRPr lang="tr-TR" sz="1800" dirty="0" smtClean="0"/>
          </a:p>
          <a:p>
            <a:r>
              <a:rPr lang="tr-TR" sz="1800" dirty="0" smtClean="0"/>
              <a:t>En </a:t>
            </a:r>
            <a:r>
              <a:rPr lang="tr-TR" sz="1800" dirty="0"/>
              <a:t>azından sizin vereceğiniz kararlar çoğunlukla zamanı geçmiş elle oluşturulmuş raporlara dayanmaktadır ve işletmede bir bütün olarak neler olduğunu anlamak gerçekten zordur. </a:t>
            </a:r>
            <a:endParaRPr lang="tr-TR" sz="1800" dirty="0" smtClean="0"/>
          </a:p>
          <a:p>
            <a:r>
              <a:rPr lang="tr-TR" sz="1800" dirty="0" smtClean="0"/>
              <a:t>Satış </a:t>
            </a:r>
            <a:r>
              <a:rPr lang="tr-TR" sz="1800" dirty="0"/>
              <a:t>personeli siparişi aldığında sipariş verilen ürünlerin stoklarda olup olmadığını söyleyemeyecek ve üretim bölümü yeni üretim için planlamada satış verilerini kolayca kullanamayacaktır. </a:t>
            </a:r>
            <a:endParaRPr lang="tr-TR" sz="1800" dirty="0" smtClean="0"/>
          </a:p>
          <a:p>
            <a:r>
              <a:rPr lang="tr-TR" sz="1800" dirty="0" smtClean="0"/>
              <a:t>Şimdi </a:t>
            </a:r>
            <a:r>
              <a:rPr lang="tr-TR" sz="1800" dirty="0"/>
              <a:t>işletmelerin bütünleştirilmiş enformasyonlar için neden özel bir kurumsal sisteme ihtiyaç duyduğu hakkında bir fikriniz olmuştur.</a:t>
            </a:r>
            <a:endParaRPr lang="en-US" sz="1800" dirty="0"/>
          </a:p>
        </p:txBody>
      </p:sp>
    </p:spTree>
    <p:extLst>
      <p:ext uri="{BB962C8B-B14F-4D97-AF65-F5344CB8AC3E}">
        <p14:creationId xmlns:p14="http://schemas.microsoft.com/office/powerpoint/2010/main" val="21297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KURUMSAL SİSTEMLER NEDİR? </a:t>
            </a:r>
            <a:endParaRPr lang="tr-TR" dirty="0"/>
          </a:p>
        </p:txBody>
      </p:sp>
      <p:sp>
        <p:nvSpPr>
          <p:cNvPr id="4" name="İçerik Yer Tutucusu 2"/>
          <p:cNvSpPr txBox="1">
            <a:spLocks/>
          </p:cNvSpPr>
          <p:nvPr/>
        </p:nvSpPr>
        <p:spPr>
          <a:xfrm>
            <a:off x="107504" y="1426766"/>
            <a:ext cx="8784976" cy="1714202"/>
          </a:xfrm>
          <a:prstGeom prst="rect">
            <a:avLst/>
          </a:prstGeom>
        </p:spPr>
        <p:txBody>
          <a:bodyPr vert="horz">
            <a:normAutofit fontScale="850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err="1" smtClean="0"/>
              <a:t>Veritabanı</a:t>
            </a:r>
            <a:r>
              <a:rPr lang="tr-TR" dirty="0" smtClean="0"/>
              <a:t> </a:t>
            </a:r>
            <a:r>
              <a:rPr lang="tr-TR" dirty="0"/>
              <a:t>işletmedeki çok farklı bölümlerden; üretim, muhasebe - finansman, satış - pazarlama ve insan kaynakları gibi işletme içinde yer alan hemen hemen tüm faaliyetleri destekleyen uygulamalar için veri oluşturan birçok sayıdaki anahtar iş süreçlerinden verileri toplar. </a:t>
            </a:r>
            <a:endParaRPr lang="tr-TR" dirty="0" smtClean="0"/>
          </a:p>
          <a:p>
            <a:r>
              <a:rPr lang="tr-TR" dirty="0" smtClean="0"/>
              <a:t>Bir </a:t>
            </a:r>
            <a:r>
              <a:rPr lang="tr-TR" dirty="0"/>
              <a:t>süreç tarafından yeni bir enformasyon girişi olduğunda, diğer tüm iş süreçleri içinde bu enformasyon kullanılabilir.</a:t>
            </a:r>
            <a:endParaRPr lang="tr-TR" dirty="0"/>
          </a:p>
        </p:txBody>
      </p:sp>
      <p:pic>
        <p:nvPicPr>
          <p:cNvPr id="5" name="Resim 4"/>
          <p:cNvPicPr>
            <a:picLocks noChangeAspect="1"/>
          </p:cNvPicPr>
          <p:nvPr/>
        </p:nvPicPr>
        <p:blipFill>
          <a:blip r:embed="rId2"/>
          <a:stretch>
            <a:fillRect/>
          </a:stretch>
        </p:blipFill>
        <p:spPr>
          <a:xfrm>
            <a:off x="1979712" y="3036379"/>
            <a:ext cx="5616624" cy="3821621"/>
          </a:xfrm>
          <a:prstGeom prst="rect">
            <a:avLst/>
          </a:prstGeom>
        </p:spPr>
      </p:pic>
    </p:spTree>
    <p:extLst>
      <p:ext uri="{BB962C8B-B14F-4D97-AF65-F5344CB8AC3E}">
        <p14:creationId xmlns:p14="http://schemas.microsoft.com/office/powerpoint/2010/main" val="114969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7467600" cy="634082"/>
          </a:xfrm>
        </p:spPr>
        <p:txBody>
          <a:bodyPr>
            <a:normAutofit fontScale="90000"/>
          </a:bodyPr>
          <a:lstStyle/>
          <a:p>
            <a:r>
              <a:rPr lang="tr-TR" dirty="0"/>
              <a:t>KURUMSAL SİSTEMLER NELER YAPABİLİR?</a:t>
            </a:r>
            <a:endParaRPr lang="tr-TR" dirty="0"/>
          </a:p>
        </p:txBody>
      </p:sp>
      <p:sp>
        <p:nvSpPr>
          <p:cNvPr id="4" name="Content Placeholder 2"/>
          <p:cNvSpPr>
            <a:spLocks noGrp="1"/>
          </p:cNvSpPr>
          <p:nvPr>
            <p:ph sz="quarter" idx="1"/>
          </p:nvPr>
        </p:nvSpPr>
        <p:spPr>
          <a:xfrm>
            <a:off x="457200" y="1628800"/>
            <a:ext cx="8219256" cy="4968552"/>
          </a:xfrm>
        </p:spPr>
        <p:txBody>
          <a:bodyPr>
            <a:normAutofit/>
          </a:bodyPr>
          <a:lstStyle/>
          <a:p>
            <a:r>
              <a:rPr lang="tr-TR" sz="1800" dirty="0" smtClean="0"/>
              <a:t>Örneğin</a:t>
            </a:r>
            <a:r>
              <a:rPr lang="tr-TR" sz="1800" dirty="0"/>
              <a:t>, satış temsilcisi bir jant için sipariş verdiğinde, sistem müşterinin kredi limitini onaylayacak, nakliyesini planlayacak, en iyi yol rotasını tanımlayacak ve stok için gerekli parçaları saklayacaktır. </a:t>
            </a:r>
            <a:endParaRPr lang="tr-TR" sz="1800" dirty="0" smtClean="0"/>
          </a:p>
          <a:p>
            <a:r>
              <a:rPr lang="tr-TR" sz="1800" dirty="0" smtClean="0"/>
              <a:t>Eğer </a:t>
            </a:r>
            <a:r>
              <a:rPr lang="tr-TR" sz="1800" dirty="0"/>
              <a:t>stoklar siparişi karşılamak için yetersizse, sistem ihtiyaç duyulacak materyalleri ve parçaları tedarikçiye sipariş vererek daha fazla jant üretimi için planlama yapacaktır. </a:t>
            </a:r>
            <a:endParaRPr lang="tr-TR" sz="1800" dirty="0" smtClean="0"/>
          </a:p>
          <a:p>
            <a:r>
              <a:rPr lang="tr-TR" sz="1800" dirty="0" smtClean="0"/>
              <a:t>Satış </a:t>
            </a:r>
            <a:r>
              <a:rPr lang="tr-TR" sz="1800" dirty="0"/>
              <a:t>ve üretim tahminleri hemen yenilenecektir. </a:t>
            </a:r>
            <a:endParaRPr lang="tr-TR" sz="1800" dirty="0" smtClean="0"/>
          </a:p>
          <a:p>
            <a:r>
              <a:rPr lang="tr-TR" sz="1800" dirty="0" smtClean="0"/>
              <a:t>Siparişin </a:t>
            </a:r>
            <a:r>
              <a:rPr lang="tr-TR" sz="1800" dirty="0"/>
              <a:t>maliyeti ve getirisiyle defter-i kebir ve işletmenin nakit düzeyi otomatik olarak yenilenecektir. </a:t>
            </a:r>
            <a:endParaRPr lang="tr-TR" sz="1800" dirty="0" smtClean="0"/>
          </a:p>
          <a:p>
            <a:r>
              <a:rPr lang="tr-TR" sz="1800" dirty="0" smtClean="0"/>
              <a:t>Kullanıcı </a:t>
            </a:r>
            <a:r>
              <a:rPr lang="tr-TR" sz="1800" dirty="0"/>
              <a:t>sistemden faydalanacaktır ve herhangi bir zamanda siparişin nerede olduğunu bulabilecektir. </a:t>
            </a:r>
            <a:endParaRPr lang="tr-TR" sz="1800" dirty="0" smtClean="0"/>
          </a:p>
          <a:p>
            <a:r>
              <a:rPr lang="tr-TR" sz="1800" dirty="0" smtClean="0"/>
              <a:t>Yönetim </a:t>
            </a:r>
            <a:r>
              <a:rPr lang="tr-TR" sz="1800" dirty="0"/>
              <a:t>herhangi bir zamanda işlerin nasıl gittiğine ilişkin enformasyonu elde edebilecektir. </a:t>
            </a:r>
            <a:endParaRPr lang="tr-TR" sz="1800" dirty="0" smtClean="0"/>
          </a:p>
          <a:p>
            <a:r>
              <a:rPr lang="tr-TR" sz="1800" dirty="0" smtClean="0"/>
              <a:t>Sistem </a:t>
            </a:r>
            <a:r>
              <a:rPr lang="tr-TR" sz="1800" dirty="0"/>
              <a:t>ayrıca üretim maliyetlerinin ve karlılığın analizi için kurumsal çapta veri üretebilecektir.</a:t>
            </a:r>
            <a:endParaRPr lang="en-US" sz="1800" dirty="0"/>
          </a:p>
        </p:txBody>
      </p:sp>
    </p:spTree>
    <p:extLst>
      <p:ext uri="{BB962C8B-B14F-4D97-AF65-F5344CB8AC3E}">
        <p14:creationId xmlns:p14="http://schemas.microsoft.com/office/powerpoint/2010/main" val="366239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YAZILIM</a:t>
            </a:r>
            <a:endParaRPr lang="tr-TR" dirty="0"/>
          </a:p>
        </p:txBody>
      </p:sp>
      <p:sp>
        <p:nvSpPr>
          <p:cNvPr id="3" name="İçerik Yer Tutucusu 2"/>
          <p:cNvSpPr>
            <a:spLocks noGrp="1"/>
          </p:cNvSpPr>
          <p:nvPr>
            <p:ph sz="quarter" idx="1"/>
          </p:nvPr>
        </p:nvSpPr>
        <p:spPr>
          <a:xfrm>
            <a:off x="457200" y="1600200"/>
            <a:ext cx="8147248" cy="4873752"/>
          </a:xfrm>
        </p:spPr>
        <p:txBody>
          <a:bodyPr>
            <a:normAutofit fontScale="85000" lnSpcReduction="20000"/>
          </a:bodyPr>
          <a:lstStyle/>
          <a:p>
            <a:r>
              <a:rPr lang="tr-TR" dirty="0" smtClean="0"/>
              <a:t>Bu </a:t>
            </a:r>
            <a:r>
              <a:rPr lang="tr-TR" dirty="0"/>
              <a:t>yazılımı kullanan işletmeler öncelikle kullanmak istedikleri sistemin fonksiyonlarını seçmeli ve daha sonra yazılımdaki iş süreçlerinin haritasını çıkarmalıdırlar. </a:t>
            </a:r>
            <a:endParaRPr lang="tr-TR" dirty="0" smtClean="0"/>
          </a:p>
          <a:p>
            <a:r>
              <a:rPr lang="tr-TR" dirty="0" smtClean="0"/>
              <a:t>Sistemde </a:t>
            </a:r>
            <a:r>
              <a:rPr lang="tr-TR" dirty="0"/>
              <a:t>yer alan iş süreçlerinin tanımlanması ve bunların yazılımdaki süreçler ile eşleştirilmesi için çok fazla çaba gösterilmesi gerekmektedir. </a:t>
            </a:r>
            <a:endParaRPr lang="tr-TR" dirty="0" smtClean="0"/>
          </a:p>
          <a:p>
            <a:r>
              <a:rPr lang="tr-TR" dirty="0" smtClean="0"/>
              <a:t>Eğer </a:t>
            </a:r>
            <a:r>
              <a:rPr lang="tr-TR" dirty="0"/>
              <a:t>kurumsal yazılım işletmenin iş yapış tarzını desteklemiyorsa, işletmeler kendi iş süreçlerinin yapış tarzını destekleyecek yazılımlardan bir kısmını yeniden yazabilirler. </a:t>
            </a:r>
            <a:endParaRPr lang="tr-TR" dirty="0" smtClean="0"/>
          </a:p>
          <a:p>
            <a:r>
              <a:rPr lang="tr-TR" dirty="0" smtClean="0"/>
              <a:t>Ancak</a:t>
            </a:r>
            <a:r>
              <a:rPr lang="tr-TR" dirty="0"/>
              <a:t>, kurumsal yazılım zaten karmaşıktır ve çok fazla özelleştirme sistem performansını azaltabilir. </a:t>
            </a:r>
            <a:endParaRPr lang="tr-TR" dirty="0" smtClean="0"/>
          </a:p>
          <a:p>
            <a:r>
              <a:rPr lang="tr-TR" dirty="0" smtClean="0"/>
              <a:t>Eğer </a:t>
            </a:r>
            <a:r>
              <a:rPr lang="tr-TR" dirty="0"/>
              <a:t>işletmeler kurumsal yazılımdan en yüksek faydayı elde etmek istiyorlarsa, iş yapma şekillerini yazılımdaki iş süreçlerine uygun hale getirmek için değiştirmek zorundadırlar. </a:t>
            </a:r>
            <a:endParaRPr lang="tr-TR" dirty="0" smtClean="0"/>
          </a:p>
          <a:p>
            <a:r>
              <a:rPr lang="tr-TR" dirty="0" smtClean="0"/>
              <a:t>Öncü </a:t>
            </a:r>
            <a:r>
              <a:rPr lang="tr-TR" dirty="0"/>
              <a:t>kurumsal yazılım dağıtım işletmeleri SAP, ORACLE (People </a:t>
            </a:r>
            <a:r>
              <a:rPr lang="tr-TR" dirty="0" err="1"/>
              <a:t>Soft’u</a:t>
            </a:r>
            <a:r>
              <a:rPr lang="tr-TR" dirty="0"/>
              <a:t> satın almasıyla birlikte), </a:t>
            </a:r>
            <a:r>
              <a:rPr lang="tr-TR" dirty="0" err="1"/>
              <a:t>Infor</a:t>
            </a:r>
            <a:r>
              <a:rPr lang="tr-TR" dirty="0"/>
              <a:t> Global Solutions </a:t>
            </a:r>
            <a:r>
              <a:rPr lang="tr-TR" dirty="0" err="1"/>
              <a:t>and</a:t>
            </a:r>
            <a:r>
              <a:rPr lang="tr-TR" dirty="0"/>
              <a:t> </a:t>
            </a:r>
            <a:r>
              <a:rPr lang="tr-TR" dirty="0" err="1"/>
              <a:t>Microsoft’dur</a:t>
            </a:r>
            <a:r>
              <a:rPr lang="tr-TR" dirty="0"/>
              <a:t>.</a:t>
            </a:r>
            <a:endParaRPr lang="tr-TR" dirty="0"/>
          </a:p>
        </p:txBody>
      </p:sp>
    </p:spTree>
    <p:extLst>
      <p:ext uri="{BB962C8B-B14F-4D97-AF65-F5344CB8AC3E}">
        <p14:creationId xmlns:p14="http://schemas.microsoft.com/office/powerpoint/2010/main" val="29558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SİSTEMLERİN İŞLETME DEĞERİ </a:t>
            </a:r>
            <a:endParaRPr lang="tr-TR" dirty="0"/>
          </a:p>
        </p:txBody>
      </p:sp>
      <p:sp>
        <p:nvSpPr>
          <p:cNvPr id="3" name="İçerik Yer Tutucusu 2"/>
          <p:cNvSpPr>
            <a:spLocks noGrp="1"/>
          </p:cNvSpPr>
          <p:nvPr>
            <p:ph sz="quarter" idx="1"/>
          </p:nvPr>
        </p:nvSpPr>
        <p:spPr>
          <a:xfrm>
            <a:off x="457200" y="1600200"/>
            <a:ext cx="8147248" cy="4873752"/>
          </a:xfrm>
        </p:spPr>
        <p:txBody>
          <a:bodyPr>
            <a:normAutofit/>
          </a:bodyPr>
          <a:lstStyle/>
          <a:p>
            <a:r>
              <a:rPr lang="tr-TR" dirty="0"/>
              <a:t>Kurumsal sistemler, hem yöneticilerin daha iyi karar almalarına yardımcı olmak için işletme boyutunda enformasyonları sağlayarak hem de faaliyetlerin etkinliğini artırarak değer oluşmasını sağlamaktadır. </a:t>
            </a:r>
            <a:endParaRPr lang="tr-TR" dirty="0" smtClean="0"/>
          </a:p>
          <a:p>
            <a:r>
              <a:rPr lang="tr-TR" dirty="0" smtClean="0"/>
              <a:t>Farklı </a:t>
            </a:r>
            <a:r>
              <a:rPr lang="tr-TR" dirty="0"/>
              <a:t>bölgelerde birçok iş birimi olan büyük işletmeler, dünya çapında herkes işi aynı şekilde yapabilsin diye standart uygulamaları ve verileri kullanmak için kurumsal sistemleri kullanmaktadırlar. </a:t>
            </a:r>
            <a:endParaRPr lang="tr-TR" dirty="0" smtClean="0"/>
          </a:p>
          <a:p>
            <a:r>
              <a:rPr lang="tr-TR" dirty="0" smtClean="0"/>
              <a:t>Örneğin</a:t>
            </a:r>
            <a:r>
              <a:rPr lang="tr-TR" dirty="0"/>
              <a:t>; Coca-Cola 200 ülkede önemli iş süreçlerini bütünleştirmek ve standart hale getirmek için SAP kurumsal sistemlerini uygulamaktadır.</a:t>
            </a:r>
            <a:endParaRPr lang="tr-TR" dirty="0"/>
          </a:p>
        </p:txBody>
      </p:sp>
    </p:spTree>
    <p:extLst>
      <p:ext uri="{BB962C8B-B14F-4D97-AF65-F5344CB8AC3E}">
        <p14:creationId xmlns:p14="http://schemas.microsoft.com/office/powerpoint/2010/main" val="413660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7499176" cy="1143000"/>
          </a:xfrm>
        </p:spPr>
        <p:txBody>
          <a:bodyPr>
            <a:normAutofit/>
          </a:bodyPr>
          <a:lstStyle/>
          <a:p>
            <a:r>
              <a:rPr lang="tr-TR" dirty="0"/>
              <a:t>KURUMSAL SİSTEMLERİN İŞLETME DEĞERİ </a:t>
            </a:r>
            <a:endParaRPr lang="tr-TR" dirty="0"/>
          </a:p>
        </p:txBody>
      </p:sp>
      <p:sp>
        <p:nvSpPr>
          <p:cNvPr id="3" name="İçerik Yer Tutucusu 2"/>
          <p:cNvSpPr>
            <a:spLocks noGrp="1"/>
          </p:cNvSpPr>
          <p:nvPr>
            <p:ph sz="quarter" idx="1"/>
          </p:nvPr>
        </p:nvSpPr>
        <p:spPr>
          <a:xfrm>
            <a:off x="611560" y="1556792"/>
            <a:ext cx="7787208" cy="5256584"/>
          </a:xfrm>
        </p:spPr>
        <p:txBody>
          <a:bodyPr>
            <a:normAutofit fontScale="85000" lnSpcReduction="20000"/>
          </a:bodyPr>
          <a:lstStyle/>
          <a:p>
            <a:r>
              <a:rPr lang="tr-TR" sz="2000" dirty="0"/>
              <a:t>Kurumsal sistemler işletmelere müşteri isteklerine hızlı cevap vermede yardımcı olur. </a:t>
            </a:r>
            <a:endParaRPr lang="tr-TR" sz="2000" dirty="0" smtClean="0"/>
          </a:p>
          <a:p>
            <a:r>
              <a:rPr lang="tr-TR" sz="2000" dirty="0" smtClean="0"/>
              <a:t>Çünkü </a:t>
            </a:r>
            <a:r>
              <a:rPr lang="tr-TR" sz="2000" dirty="0"/>
              <a:t>sistem siparişi, üretimi ve enformasyon dağıtımını bütünleştirmekte, sadece müşterinin verdiği siparişin üretimini, fiili siparişleri yerine getirmek için hammaddelerin veya parçaların doğru miktarının tedarikini ve stoktaki bitmiş ürünlerin veya parçaların en aza indirilmesini ve üretim aşamaları hakkında daha fazla enformasyonu </a:t>
            </a:r>
            <a:r>
              <a:rPr lang="tr-TR" sz="2000" dirty="0" smtClean="0"/>
              <a:t>saklamaktadır</a:t>
            </a:r>
          </a:p>
          <a:p>
            <a:r>
              <a:rPr lang="tr-TR" sz="2000" dirty="0"/>
              <a:t>41 ülkede ve 500 bölgede faaliyet gösteren alüminyum ve alüminyum parçalarının öncü üreticisi olan </a:t>
            </a:r>
            <a:r>
              <a:rPr lang="tr-TR" sz="2000" dirty="0" err="1"/>
              <a:t>Alcoa</a:t>
            </a:r>
            <a:r>
              <a:rPr lang="tr-TR" sz="2000" dirty="0"/>
              <a:t>, başlangıçta her biri kendi enformasyon sistem kümesine sahip olan iş hatları etrafında iş süreçlerini düzenlemiştir. </a:t>
            </a:r>
            <a:endParaRPr lang="tr-TR" sz="2000" dirty="0" smtClean="0"/>
          </a:p>
          <a:p>
            <a:r>
              <a:rPr lang="tr-TR" sz="2000" dirty="0" smtClean="0"/>
              <a:t>Bu </a:t>
            </a:r>
            <a:r>
              <a:rPr lang="tr-TR" sz="2000" dirty="0"/>
              <a:t>sistemlerin pek çoğu tekrarlıydı ve etkin değildi. </a:t>
            </a:r>
            <a:r>
              <a:rPr lang="tr-TR" sz="2000" dirty="0" err="1"/>
              <a:t>Alcoa'ın</a:t>
            </a:r>
            <a:r>
              <a:rPr lang="tr-TR" sz="2000" dirty="0"/>
              <a:t> ödeme taleplerini ve finansal süreçler yürütmek için katlandığı maliyetler endüstride yer alan diğer işletmelerden daha fazla ve çevrim süresi de daha uzundu. İşletme tekbir dünya birimi gibi faaliyette bulunamamaktaydı. </a:t>
            </a:r>
            <a:r>
              <a:rPr lang="tr-TR" sz="2000" dirty="0" err="1"/>
              <a:t>Oracle'dan</a:t>
            </a:r>
            <a:r>
              <a:rPr lang="tr-TR" sz="2000" dirty="0"/>
              <a:t> kurumsal yazılını sağladıktan sonra, </a:t>
            </a:r>
            <a:r>
              <a:rPr lang="tr-TR" sz="2000" dirty="0" err="1"/>
              <a:t>Alcoa</a:t>
            </a:r>
            <a:r>
              <a:rPr lang="tr-TR" sz="2000" dirty="0"/>
              <a:t> birçok tekrarlı süreçleri ve sistemleri tasfiye etti. Kurumsal sistem malların alındığını onaylayarak talep- ödeme dönüşüm suresini azalttı ve ödeme için alındı sürecini otomatikleştirdi. </a:t>
            </a:r>
            <a:r>
              <a:rPr lang="tr-TR" sz="2000" dirty="0" err="1"/>
              <a:t>Alcoa'nın</a:t>
            </a:r>
            <a:r>
              <a:rPr lang="tr-TR" sz="2000" dirty="0"/>
              <a:t> ödeme hesabı işlem süreci % 80 oranında düştü. </a:t>
            </a:r>
            <a:r>
              <a:rPr lang="tr-TR" sz="2000" dirty="0" err="1"/>
              <a:t>Alcoa</a:t>
            </a:r>
            <a:r>
              <a:rPr lang="tr-TR" sz="2000" dirty="0"/>
              <a:t> finansman ve tedarik faaliyetlerini merkezileştirebildi ki bu işletmenin küresel maliyetlerini yaklaşık % 20 azaltmasına yardımcı oldu.</a:t>
            </a:r>
            <a:endParaRPr lang="tr-TR" sz="2000" dirty="0"/>
          </a:p>
        </p:txBody>
      </p:sp>
    </p:spTree>
    <p:extLst>
      <p:ext uri="{BB962C8B-B14F-4D97-AF65-F5344CB8AC3E}">
        <p14:creationId xmlns:p14="http://schemas.microsoft.com/office/powerpoint/2010/main" val="247662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KURUMSAL SİSTEMLERİN İŞLETME DEĞERİ </a:t>
            </a:r>
            <a:endParaRPr lang="tr-TR" dirty="0"/>
          </a:p>
        </p:txBody>
      </p:sp>
      <p:sp>
        <p:nvSpPr>
          <p:cNvPr id="3" name="İçerik Yer Tutucusu 2"/>
          <p:cNvSpPr>
            <a:spLocks noGrp="1"/>
          </p:cNvSpPr>
          <p:nvPr>
            <p:ph sz="quarter" idx="1"/>
          </p:nvPr>
        </p:nvSpPr>
        <p:spPr/>
        <p:txBody>
          <a:bodyPr>
            <a:normAutofit fontScale="70000" lnSpcReduction="20000"/>
          </a:bodyPr>
          <a:lstStyle/>
          <a:p>
            <a:r>
              <a:rPr lang="tr-TR" dirty="0" smtClean="0"/>
              <a:t>Kurumsal </a:t>
            </a:r>
            <a:r>
              <a:rPr lang="tr-TR" dirty="0"/>
              <a:t>sistemler daha etkin kararlar almak için daha değerli enformasyon sağlar. </a:t>
            </a:r>
            <a:endParaRPr lang="tr-TR" dirty="0" smtClean="0"/>
          </a:p>
          <a:p>
            <a:r>
              <a:rPr lang="tr-TR" dirty="0" smtClean="0"/>
              <a:t>İşletmenin </a:t>
            </a:r>
            <a:r>
              <a:rPr lang="tr-TR" dirty="0"/>
              <a:t>merkezi satışlar, stok ve üretimle ilgili son dakika enformasyonlarını sağlar ve bu enformasyonu daha doğru satış ve üretim tahminleri oluşturmak için kullanır. </a:t>
            </a:r>
            <a:endParaRPr lang="tr-TR" dirty="0" smtClean="0"/>
          </a:p>
          <a:p>
            <a:r>
              <a:rPr lang="tr-TR" dirty="0" smtClean="0"/>
              <a:t>Kurumsal </a:t>
            </a:r>
            <a:r>
              <a:rPr lang="tr-TR" dirty="0"/>
              <a:t>yazılımlar, bir bütün olarak örgüt performansını değerlendirmek için sistem tarafından elde edilen verileri kullanacak çözümleme araçlarını içerir. </a:t>
            </a:r>
            <a:endParaRPr lang="tr-TR" dirty="0" smtClean="0"/>
          </a:p>
          <a:p>
            <a:r>
              <a:rPr lang="tr-TR" dirty="0" smtClean="0"/>
              <a:t>Kurumsal </a:t>
            </a:r>
            <a:r>
              <a:rPr lang="tr-TR" dirty="0"/>
              <a:t>sistem verileri, tüm örgütün kabul ettiği ortak standartlaştırılmış tanımlara ve biçime sahiptir. </a:t>
            </a:r>
            <a:endParaRPr lang="tr-TR" dirty="0" smtClean="0"/>
          </a:p>
          <a:p>
            <a:r>
              <a:rPr lang="tr-TR" dirty="0" smtClean="0"/>
              <a:t>Kurumsal </a:t>
            </a:r>
            <a:r>
              <a:rPr lang="tr-TR" dirty="0"/>
              <a:t>sistemler, üst düzey yöneticilerin herhangi bir zamanda örgütün belirli bir bölümünün performansını kolayca ortaya çıkarmasına, en az ve en fazla kar sağlayan ürünleri belirlemesine ve bir bütün olarak işletmenin maliyetlerinin hesaplamasına olanak sağlar. </a:t>
            </a:r>
            <a:endParaRPr lang="tr-TR" dirty="0" smtClean="0"/>
          </a:p>
          <a:p>
            <a:r>
              <a:rPr lang="tr-TR" dirty="0" smtClean="0"/>
              <a:t>Örneğin</a:t>
            </a:r>
            <a:r>
              <a:rPr lang="tr-TR" dirty="0"/>
              <a:t>, </a:t>
            </a:r>
            <a:r>
              <a:rPr lang="tr-TR" dirty="0" err="1"/>
              <a:t>Alcoa’ın</a:t>
            </a:r>
            <a:r>
              <a:rPr lang="tr-TR" dirty="0"/>
              <a:t> kurumsal sistemi, çalışanların eğitimi ile yatırım arasında ilişkiyi gösteren küresel insan kaynakları yönetimi işlevini içerir, çalışanlara yönelik hizmetlerin işletme çapındaki maliyetlerini ölçer, işe alım, tazminat ve eğitim etkinliğini ölçer.</a:t>
            </a:r>
            <a:endParaRPr lang="tr-TR" dirty="0"/>
          </a:p>
        </p:txBody>
      </p:sp>
    </p:spTree>
    <p:extLst>
      <p:ext uri="{BB962C8B-B14F-4D97-AF65-F5344CB8AC3E}">
        <p14:creationId xmlns:p14="http://schemas.microsoft.com/office/powerpoint/2010/main" val="13326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TEDARİK ZİNCİRİ YÖNETİMİ (TZY) SİSTEMLERİ</a:t>
            </a:r>
            <a:endParaRPr lang="tr-TR" dirty="0"/>
          </a:p>
        </p:txBody>
      </p:sp>
      <p:sp>
        <p:nvSpPr>
          <p:cNvPr id="4" name="İçerik Yer Tutucusu 2"/>
          <p:cNvSpPr>
            <a:spLocks noGrp="1"/>
          </p:cNvSpPr>
          <p:nvPr>
            <p:ph sz="quarter" idx="1"/>
          </p:nvPr>
        </p:nvSpPr>
        <p:spPr>
          <a:xfrm>
            <a:off x="457200" y="1600200"/>
            <a:ext cx="7467600" cy="4873752"/>
          </a:xfrm>
        </p:spPr>
        <p:txBody>
          <a:bodyPr>
            <a:normAutofit fontScale="92500" lnSpcReduction="20000"/>
          </a:bodyPr>
          <a:lstStyle/>
          <a:p>
            <a:r>
              <a:rPr lang="tr-TR" dirty="0"/>
              <a:t>Az sayıda üretim yapan veya hizmet satan küçük bir işletmeyi yönetiyorsanız, az sayıda tedarikçiye sahip olma şansınız söz konusu olacaktır. </a:t>
            </a:r>
            <a:endParaRPr lang="tr-TR" dirty="0" smtClean="0"/>
          </a:p>
          <a:p>
            <a:r>
              <a:rPr lang="tr-TR" dirty="0" smtClean="0"/>
              <a:t>Tedarikçi </a:t>
            </a:r>
            <a:r>
              <a:rPr lang="tr-TR" dirty="0"/>
              <a:t>siparişlerini ve teslimatlarını telefon ve faks makinesini kullanarak koordine edebilirsiniz. </a:t>
            </a:r>
            <a:endParaRPr lang="tr-TR" dirty="0" smtClean="0"/>
          </a:p>
          <a:p>
            <a:r>
              <a:rPr lang="tr-TR" dirty="0" smtClean="0"/>
              <a:t>Fakat </a:t>
            </a:r>
            <a:r>
              <a:rPr lang="tr-TR" dirty="0"/>
              <a:t>çok daha karmaşık ürün veya hizmet üreten bir işletmeyi yönetiyorsanız, o zaman yüzlerce tedarikçiye sahip olacaksınız ve sizin tedarikçilerinizin her birinin kendi tedarikçileri olacaktır. </a:t>
            </a:r>
            <a:endParaRPr lang="tr-TR" dirty="0" smtClean="0"/>
          </a:p>
          <a:p>
            <a:r>
              <a:rPr lang="tr-TR" dirty="0" smtClean="0"/>
              <a:t>Kendi </a:t>
            </a:r>
            <a:r>
              <a:rPr lang="tr-TR" dirty="0"/>
              <a:t>ürünlerinizi ve hizmetinizi üretmek için diğer işletmelerin yüzlerce hatta binlerce faaliyetini kontrol etme ihtiyacı hissedeceksiniz. </a:t>
            </a:r>
            <a:endParaRPr lang="tr-TR" dirty="0" smtClean="0"/>
          </a:p>
          <a:p>
            <a:r>
              <a:rPr lang="tr-TR" dirty="0" smtClean="0"/>
              <a:t>TZY </a:t>
            </a:r>
            <a:r>
              <a:rPr lang="tr-TR" dirty="0"/>
              <a:t>sistemleri, tedarik zincirinin karmaşıklığı ve ölçek büyüklüğü problemi için bir cevap teşkil etmektedir.</a:t>
            </a:r>
            <a:endParaRPr lang="tr-TR" dirty="0"/>
          </a:p>
        </p:txBody>
      </p:sp>
    </p:spTree>
    <p:extLst>
      <p:ext uri="{BB962C8B-B14F-4D97-AF65-F5344CB8AC3E}">
        <p14:creationId xmlns:p14="http://schemas.microsoft.com/office/powerpoint/2010/main" val="1782723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TEDARİK ZİNCİRİ</a:t>
            </a:r>
            <a:endParaRPr lang="tr-TR" dirty="0"/>
          </a:p>
        </p:txBody>
      </p:sp>
      <p:sp>
        <p:nvSpPr>
          <p:cNvPr id="4" name="İçerik Yer Tutucusu 2"/>
          <p:cNvSpPr>
            <a:spLocks noGrp="1"/>
          </p:cNvSpPr>
          <p:nvPr>
            <p:ph sz="quarter" idx="1"/>
          </p:nvPr>
        </p:nvSpPr>
        <p:spPr>
          <a:xfrm>
            <a:off x="457200" y="1600200"/>
            <a:ext cx="7467600" cy="4873752"/>
          </a:xfrm>
        </p:spPr>
        <p:txBody>
          <a:bodyPr>
            <a:normAutofit fontScale="70000" lnSpcReduction="20000"/>
          </a:bodyPr>
          <a:lstStyle/>
          <a:p>
            <a:r>
              <a:rPr lang="tr-TR" dirty="0" smtClean="0"/>
              <a:t>Tedarik </a:t>
            </a:r>
            <a:r>
              <a:rPr lang="tr-TR" dirty="0"/>
              <a:t>zinciri, hammaddelerin tedariki, bu hammaddelerin ara ve son ürünlere dönüşümü ve son ürünlerin müşterilere dağıtımı için örgütler ve iş süreçlerinin birleştirilmesidir. </a:t>
            </a:r>
            <a:endParaRPr lang="tr-TR" dirty="0" smtClean="0"/>
          </a:p>
          <a:p>
            <a:r>
              <a:rPr lang="tr-TR" dirty="0" smtClean="0"/>
              <a:t>Tedarik </a:t>
            </a:r>
            <a:r>
              <a:rPr lang="tr-TR" dirty="0"/>
              <a:t>zinciri, tedarikçiler, üretim fabrikalarını, dağıtım merkezlerini, perakende mağazalarını ve müşterileri kaynaktan tüketime kadar olan malların ve hizmetlerin tedariki için bağlantı oluşturur. </a:t>
            </a:r>
            <a:endParaRPr lang="tr-TR" dirty="0" smtClean="0"/>
          </a:p>
          <a:p>
            <a:r>
              <a:rPr lang="tr-TR" dirty="0" smtClean="0"/>
              <a:t>Malzemeler</a:t>
            </a:r>
            <a:r>
              <a:rPr lang="tr-TR" dirty="0"/>
              <a:t>, enformasyon ve ödeme tedarik zinciri kanalıyla iki yönlü akar. </a:t>
            </a:r>
            <a:endParaRPr lang="tr-TR" dirty="0" smtClean="0"/>
          </a:p>
          <a:p>
            <a:r>
              <a:rPr lang="tr-TR" dirty="0" smtClean="0"/>
              <a:t>Ürün </a:t>
            </a:r>
            <a:r>
              <a:rPr lang="tr-TR" dirty="0"/>
              <a:t>hammadde olarak başlar ve tedarik zinciri içinde hareket ederken ara ürünlere dönüşür ve sonunda son ürüne dönüşür</a:t>
            </a:r>
            <a:r>
              <a:rPr lang="tr-TR" dirty="0" smtClean="0"/>
              <a:t>.</a:t>
            </a:r>
          </a:p>
          <a:p>
            <a:r>
              <a:rPr lang="tr-TR" dirty="0" smtClean="0"/>
              <a:t>Bitmiş </a:t>
            </a:r>
            <a:r>
              <a:rPr lang="tr-TR" dirty="0"/>
              <a:t>ürünler dağıtım merkezlerine ve buradan perakendecilere ve müşterilere dağıtılır. Geri dönen parçalar ters yönde satıcıdan alıcıya doğru hareket eder. </a:t>
            </a:r>
            <a:endParaRPr lang="tr-TR" dirty="0" smtClean="0"/>
          </a:p>
          <a:p>
            <a:r>
              <a:rPr lang="tr-TR" dirty="0" smtClean="0"/>
              <a:t>Örnek</a:t>
            </a:r>
            <a:r>
              <a:rPr lang="tr-TR" dirty="0"/>
              <a:t>: </a:t>
            </a:r>
            <a:r>
              <a:rPr lang="tr-TR" dirty="0" err="1"/>
              <a:t>Nike’ın</a:t>
            </a:r>
            <a:r>
              <a:rPr lang="tr-TR" dirty="0"/>
              <a:t> spor ayakkabıları için tedarik zincirine bakalım. </a:t>
            </a:r>
            <a:r>
              <a:rPr lang="tr-TR" dirty="0" err="1"/>
              <a:t>Nike</a:t>
            </a:r>
            <a:r>
              <a:rPr lang="tr-TR" dirty="0"/>
              <a:t> spor ayakkabılarını, çoraplarını ve spor kıyafetlerini ve aksesuarları dünya çapında tasarlar, pazarlar ve satar. </a:t>
            </a:r>
            <a:endParaRPr lang="tr-TR" dirty="0" smtClean="0"/>
          </a:p>
          <a:p>
            <a:r>
              <a:rPr lang="tr-TR" dirty="0" smtClean="0"/>
              <a:t>Başlıca </a:t>
            </a:r>
            <a:r>
              <a:rPr lang="tr-TR" dirty="0"/>
              <a:t>tedarikçileri Çin’de, Tayland’da, Brezilya’da ve diğer ülkelerde fabrikaları olan anlaşmalı üreticileridir. Bu işletmeler </a:t>
            </a:r>
            <a:r>
              <a:rPr lang="tr-TR" dirty="0" err="1"/>
              <a:t>Nike’ın</a:t>
            </a:r>
            <a:r>
              <a:rPr lang="tr-TR" dirty="0"/>
              <a:t> son ürününe şekil verirler.</a:t>
            </a:r>
            <a:endParaRPr lang="tr-TR" dirty="0"/>
          </a:p>
        </p:txBody>
      </p:sp>
    </p:spTree>
    <p:extLst>
      <p:ext uri="{BB962C8B-B14F-4D97-AF65-F5344CB8AC3E}">
        <p14:creationId xmlns:p14="http://schemas.microsoft.com/office/powerpoint/2010/main" val="21483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ENFORMASYON SİSTEMLERİ VE TEDARİK ZİNCİRİ YÖNETİMİ</a:t>
            </a:r>
            <a:endParaRPr lang="tr-TR" dirty="0"/>
          </a:p>
        </p:txBody>
      </p:sp>
      <p:sp>
        <p:nvSpPr>
          <p:cNvPr id="5" name="İçerik Yer Tutucusu 5"/>
          <p:cNvSpPr>
            <a:spLocks noGrp="1"/>
          </p:cNvSpPr>
          <p:nvPr>
            <p:ph sz="quarter" idx="1"/>
          </p:nvPr>
        </p:nvSpPr>
        <p:spPr>
          <a:xfrm>
            <a:off x="457200" y="1446238"/>
            <a:ext cx="8507288" cy="5257800"/>
          </a:xfrm>
        </p:spPr>
        <p:txBody>
          <a:bodyPr>
            <a:noAutofit/>
          </a:bodyPr>
          <a:lstStyle/>
          <a:p>
            <a:r>
              <a:rPr lang="tr-TR" sz="1600" dirty="0" smtClean="0"/>
              <a:t>Parça </a:t>
            </a:r>
            <a:r>
              <a:rPr lang="tr-TR" sz="1600" dirty="0"/>
              <a:t>sıkıntısı, kullanılmayan fabrika kapasitesi, aşırı bitmiş ürün stokları veya yüksek ulaştırma maliyetleri gibi tedarik zincirindeki </a:t>
            </a:r>
            <a:r>
              <a:rPr lang="tr-TR" sz="1600" dirty="0" err="1"/>
              <a:t>etkinsizlikler</a:t>
            </a:r>
            <a:r>
              <a:rPr lang="tr-TR" sz="1600" dirty="0"/>
              <a:t>, doğru veya zamanında olmayan enformasyon nedeniyle ortaya çıkar. </a:t>
            </a:r>
            <a:endParaRPr lang="tr-TR" sz="1600" dirty="0" smtClean="0"/>
          </a:p>
          <a:p>
            <a:r>
              <a:rPr lang="tr-TR" sz="1600" dirty="0" smtClean="0"/>
              <a:t>Bu </a:t>
            </a:r>
            <a:r>
              <a:rPr lang="tr-TR" sz="1600" dirty="0"/>
              <a:t>tedarik zinciri </a:t>
            </a:r>
            <a:r>
              <a:rPr lang="tr-TR" sz="1600" dirty="0" err="1"/>
              <a:t>etkinsizlikleri</a:t>
            </a:r>
            <a:r>
              <a:rPr lang="tr-TR" sz="1600" dirty="0"/>
              <a:t>, işletmenin faaliyet maliyetlerinin % 25’i kadarının boşa harcanmasıdır. </a:t>
            </a:r>
            <a:endParaRPr lang="tr-TR" sz="1600" dirty="0" smtClean="0"/>
          </a:p>
          <a:p>
            <a:r>
              <a:rPr lang="tr-TR" sz="1600" dirty="0" smtClean="0"/>
              <a:t>Son </a:t>
            </a:r>
            <a:r>
              <a:rPr lang="tr-TR" sz="1600" dirty="0"/>
              <a:t>zamanlarda imalat sektöründe popüler bir üretim şekli olan tam zamanında üretim (</a:t>
            </a:r>
            <a:r>
              <a:rPr lang="tr-TR" sz="1600" dirty="0" err="1"/>
              <a:t>just</a:t>
            </a:r>
            <a:r>
              <a:rPr lang="tr-TR" sz="1600" dirty="0"/>
              <a:t>-in-time) uygulaması, bir tedarikçi, müşterinin ne kadar ürün istediği bilgisine kesin olarak sahipse mümkün olabilir</a:t>
            </a:r>
            <a:r>
              <a:rPr lang="tr-TR" sz="1600" dirty="0" smtClean="0"/>
              <a:t>.</a:t>
            </a:r>
          </a:p>
          <a:p>
            <a:r>
              <a:rPr lang="tr-TR" sz="1600" dirty="0" smtClean="0"/>
              <a:t>Parçalar </a:t>
            </a:r>
            <a:r>
              <a:rPr lang="tr-TR" sz="1600" dirty="0"/>
              <a:t>tam ihtiyaç olan anda gelir, tamamlanmış ürünler tam üretim hattını terk ettiği anda sevk edilir. </a:t>
            </a:r>
            <a:endParaRPr lang="tr-TR" sz="1600" dirty="0" smtClean="0"/>
          </a:p>
          <a:p>
            <a:r>
              <a:rPr lang="tr-TR" sz="1600" dirty="0" smtClean="0"/>
              <a:t>Tedarik </a:t>
            </a:r>
            <a:r>
              <a:rPr lang="tr-TR" sz="1600" dirty="0"/>
              <a:t>zincirinde birçok olayın öngörülememesinden dolayı belirsizlikler oluşur. Bunun neticesinde ise belirsiz ürün talebi, tedarikçilerden geç sevkiyat, hatalı parçalar ve hammadde veya üretim hattı arızaları vs. </a:t>
            </a:r>
            <a:r>
              <a:rPr lang="tr-TR" sz="1600" dirty="0" err="1"/>
              <a:t>etkinsizlikler</a:t>
            </a:r>
            <a:r>
              <a:rPr lang="tr-TR" sz="1600" dirty="0"/>
              <a:t> meydana gelir.  Bilgideki belirsizlikler işletmelerin az yada çok stok tutmalarına neden olmaktadır. </a:t>
            </a:r>
            <a:endParaRPr lang="tr-TR" sz="1600" dirty="0" smtClean="0"/>
          </a:p>
          <a:p>
            <a:r>
              <a:rPr lang="tr-TR" sz="1600" dirty="0" smtClean="0"/>
              <a:t>İmalatçılar </a:t>
            </a:r>
            <a:r>
              <a:rPr lang="tr-TR" sz="1600" dirty="0"/>
              <a:t>müşterilerini memnun etmek için bu tür belirsizlikler ve öngörülemeyen olaylarla baş edebilmek için gerçekten ihtiyacı olacaklarını düşündüklerinden daha fazla malzeme ve ürünü stoklarlar. </a:t>
            </a:r>
            <a:endParaRPr lang="tr-TR" sz="1600" dirty="0" smtClean="0"/>
          </a:p>
          <a:p>
            <a:r>
              <a:rPr lang="tr-TR" sz="1600" dirty="0" smtClean="0"/>
              <a:t>Bu </a:t>
            </a:r>
            <a:r>
              <a:rPr lang="tr-TR" sz="1600" dirty="0"/>
              <a:t>güvenlik stoku tedarik zincirinin esneklik eksikliğine tampon görevi üstlenir. Fazla stok pahalı olmasına rağmen, yeterli ürün bulundurmama da sipariş iptalleri sonucu iş kayıplarına neden olacağından maliyetlidir.</a:t>
            </a:r>
            <a:endParaRPr lang="tr-TR" sz="1600" dirty="0"/>
          </a:p>
        </p:txBody>
      </p:sp>
    </p:spTree>
    <p:extLst>
      <p:ext uri="{BB962C8B-B14F-4D97-AF65-F5344CB8AC3E}">
        <p14:creationId xmlns:p14="http://schemas.microsoft.com/office/powerpoint/2010/main" val="254660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ENFORMASYON SİSTEMLERİ VE TEDARİK ZİNCİRİ YÖNETİMİ</a:t>
            </a:r>
            <a:endParaRPr lang="tr-TR" dirty="0"/>
          </a:p>
        </p:txBody>
      </p:sp>
      <p:sp>
        <p:nvSpPr>
          <p:cNvPr id="5" name="İçerik Yer Tutucusu 5"/>
          <p:cNvSpPr>
            <a:spLocks noGrp="1"/>
          </p:cNvSpPr>
          <p:nvPr>
            <p:ph sz="quarter" idx="1"/>
          </p:nvPr>
        </p:nvSpPr>
        <p:spPr>
          <a:xfrm>
            <a:off x="457200" y="1446238"/>
            <a:ext cx="8507288" cy="5257800"/>
          </a:xfrm>
        </p:spPr>
        <p:txBody>
          <a:bodyPr>
            <a:noAutofit/>
          </a:bodyPr>
          <a:lstStyle/>
          <a:p>
            <a:r>
              <a:rPr lang="tr-TR" sz="1600" dirty="0"/>
              <a:t>TZY’ de ortaya çıkan bir problem de kamçı etkisi (</a:t>
            </a:r>
            <a:r>
              <a:rPr lang="tr-TR" sz="1600" dirty="0" err="1"/>
              <a:t>bullwhip</a:t>
            </a:r>
            <a:r>
              <a:rPr lang="tr-TR" sz="1600" dirty="0"/>
              <a:t> </a:t>
            </a:r>
            <a:r>
              <a:rPr lang="tr-TR" sz="1600" dirty="0" err="1"/>
              <a:t>effect</a:t>
            </a:r>
            <a:r>
              <a:rPr lang="tr-TR" sz="1600" dirty="0"/>
              <a:t>) olarak adlandırılan tedarik zinciri boyunca bir birimden diğer birime geçerken bir ürünün talebi hakkındaki enformasyonun değişmiş olmasıdır. </a:t>
            </a:r>
            <a:endParaRPr lang="tr-TR" sz="1600" dirty="0" smtClean="0"/>
          </a:p>
          <a:p>
            <a:r>
              <a:rPr lang="tr-TR" sz="1600" dirty="0" smtClean="0"/>
              <a:t>Kamçı </a:t>
            </a:r>
            <a:r>
              <a:rPr lang="tr-TR" sz="1600" dirty="0"/>
              <a:t>Etkisi (</a:t>
            </a:r>
            <a:r>
              <a:rPr lang="tr-TR" sz="1600" dirty="0" err="1"/>
              <a:t>bullwhip</a:t>
            </a:r>
            <a:r>
              <a:rPr lang="tr-TR" sz="1600" dirty="0"/>
              <a:t> </a:t>
            </a:r>
            <a:r>
              <a:rPr lang="tr-TR" sz="1600" dirty="0" err="1"/>
              <a:t>effect</a:t>
            </a:r>
            <a:r>
              <a:rPr lang="tr-TR" sz="1600" dirty="0"/>
              <a:t>) bir tedarik zincirinde son tüketiciden üreticilere doğru gidildiğinde talebin </a:t>
            </a:r>
            <a:r>
              <a:rPr lang="tr-TR" sz="1600" dirty="0" err="1"/>
              <a:t>varyansının</a:t>
            </a:r>
            <a:r>
              <a:rPr lang="tr-TR" sz="1600" dirty="0"/>
              <a:t> giderek artması durumudur. </a:t>
            </a:r>
            <a:endParaRPr lang="tr-TR" sz="1600" dirty="0" smtClean="0"/>
          </a:p>
          <a:p>
            <a:r>
              <a:rPr lang="tr-TR" sz="1600" dirty="0" smtClean="0"/>
              <a:t>Ürün </a:t>
            </a:r>
            <a:r>
              <a:rPr lang="tr-TR" sz="1600" dirty="0"/>
              <a:t>talebindeki hafif bir yükseliş tedarik zinciri üzerindeki farklı üyeleri etkileyebilir; distribütörler, üreticiler, tedarikçiler, ikinci seviyeden tedarikçiler ve üçüncü seviyeden tedarikçiler gerekebilir diye stoklarını artırırlar. </a:t>
            </a:r>
            <a:endParaRPr lang="tr-TR" sz="1600" dirty="0" smtClean="0"/>
          </a:p>
          <a:p>
            <a:r>
              <a:rPr lang="tr-TR" sz="1600" dirty="0" smtClean="0"/>
              <a:t>Bu </a:t>
            </a:r>
            <a:r>
              <a:rPr lang="tr-TR" sz="1600" dirty="0"/>
              <a:t>değişiklikler tedarik zinciri boyunca sipariş planlamasındaki küçük bir değişikliğin giderek büyümesi ile dalgalanarak aşırı stok, üretim, depolama ve ulaştırma maliyetlerine neden olur</a:t>
            </a:r>
            <a:r>
              <a:rPr lang="tr-TR" sz="1600" dirty="0" smtClean="0"/>
              <a:t>.</a:t>
            </a:r>
          </a:p>
          <a:p>
            <a:r>
              <a:rPr lang="tr-TR" sz="1600" dirty="0"/>
              <a:t>Kamçı etkisi, tedarik zincirindeki tüm üyeler daha doğru ve güncel enformasyonlara sahip olduğunda talep ve arz hakkında belirsizlikleri azaltarak bertaraf edilebilir</a:t>
            </a:r>
            <a:r>
              <a:rPr lang="tr-TR" sz="1600" dirty="0" smtClean="0"/>
              <a:t>.</a:t>
            </a:r>
          </a:p>
          <a:p>
            <a:r>
              <a:rPr lang="tr-TR" sz="1600" dirty="0" smtClean="0"/>
              <a:t>TZY </a:t>
            </a:r>
            <a:r>
              <a:rPr lang="tr-TR" sz="1600" dirty="0"/>
              <a:t>sistemleri tedarik zincirindeki üyelerin daha iyi satın alma ve zamanlama kararlarına yardım edecek enformasyonları sağlar. </a:t>
            </a:r>
            <a:endParaRPr lang="tr-TR" sz="1600" dirty="0" smtClean="0"/>
          </a:p>
          <a:p>
            <a:r>
              <a:rPr lang="tr-TR" sz="1600" dirty="0" smtClean="0"/>
              <a:t>Eğer </a:t>
            </a:r>
            <a:r>
              <a:rPr lang="tr-TR" sz="1600" dirty="0"/>
              <a:t>tedarik zinciri elemanları stok düzeyleri, tahminler, sevkiyatlar hakkındaki dinamik veriyi paylaşırsa, onlar kaynaklarını, üretimleri ve dağıtım planlarını nasıl ayarlayacakları hakkında daha doğru enformasyona sahip olurlar.</a:t>
            </a:r>
            <a:endParaRPr lang="tr-TR" sz="1600" dirty="0"/>
          </a:p>
        </p:txBody>
      </p:sp>
    </p:spTree>
    <p:extLst>
      <p:ext uri="{BB962C8B-B14F-4D97-AF65-F5344CB8AC3E}">
        <p14:creationId xmlns:p14="http://schemas.microsoft.com/office/powerpoint/2010/main" val="3810510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TEDARİK ZİNCİRİ YÖNETİMİ YAZILIMI </a:t>
            </a:r>
            <a:endParaRPr lang="tr-TR" dirty="0"/>
          </a:p>
        </p:txBody>
      </p:sp>
      <p:sp>
        <p:nvSpPr>
          <p:cNvPr id="5" name="İçerik Yer Tutucusu 5"/>
          <p:cNvSpPr>
            <a:spLocks noGrp="1"/>
          </p:cNvSpPr>
          <p:nvPr>
            <p:ph sz="quarter" idx="1"/>
          </p:nvPr>
        </p:nvSpPr>
        <p:spPr>
          <a:xfrm>
            <a:off x="457200" y="1600200"/>
            <a:ext cx="8003232" cy="5257800"/>
          </a:xfrm>
        </p:spPr>
        <p:txBody>
          <a:bodyPr>
            <a:noAutofit/>
          </a:bodyPr>
          <a:lstStyle/>
          <a:p>
            <a:r>
              <a:rPr lang="tr-TR" sz="1600" dirty="0"/>
              <a:t>Tedarik zinciri uygulama sistemleri, dağıtım merkezleri ve depolama alanlarından doğru yerlere ürünlerin en etkin şekilde dağıtımından emin olmak için ürünlerin akışını yönetir. </a:t>
            </a:r>
            <a:endParaRPr lang="tr-TR" sz="1600" dirty="0" smtClean="0"/>
          </a:p>
          <a:p>
            <a:r>
              <a:rPr lang="tr-TR" sz="1600" dirty="0" smtClean="0"/>
              <a:t>Sistemler</a:t>
            </a:r>
            <a:r>
              <a:rPr lang="tr-TR" sz="1600" dirty="0"/>
              <a:t>, tüm partileri içererek malların fiziksel durumlarını, materyallerin yönetimini, depolama, sevkiyat faaliyetlerini ve finansal enformasyonları takip eder. </a:t>
            </a:r>
            <a:endParaRPr lang="tr-TR" sz="1600" dirty="0" smtClean="0"/>
          </a:p>
          <a:p>
            <a:r>
              <a:rPr lang="tr-TR" sz="1600" dirty="0" smtClean="0"/>
              <a:t>Tedarik </a:t>
            </a:r>
            <a:r>
              <a:rPr lang="tr-TR" sz="1600" dirty="0"/>
              <a:t>zinciri yazılımı, işletmelerin tedarik zincirlerini planlamada ve tedarik zinciri aşamalarını uygulamasında yardımcı olan yazılımlardır. </a:t>
            </a:r>
            <a:endParaRPr lang="tr-TR" sz="1600" dirty="0" smtClean="0"/>
          </a:p>
          <a:p>
            <a:r>
              <a:rPr lang="tr-TR" sz="1600" dirty="0" smtClean="0"/>
              <a:t>Tedarik </a:t>
            </a:r>
            <a:r>
              <a:rPr lang="tr-TR" sz="1600" dirty="0"/>
              <a:t>zinciri planlama sistemleri, işletmeye var olan tedarik zincirini modellemesine, ürünler için talep tahminleri üretmelerine ve en uygun kaynak kullanımı geliştirmesine ve üretim planlaması yapmasına olanak sağlar. </a:t>
            </a:r>
            <a:endParaRPr lang="tr-TR" sz="1600" dirty="0" smtClean="0"/>
          </a:p>
          <a:p>
            <a:r>
              <a:rPr lang="tr-TR" sz="1600" dirty="0" smtClean="0"/>
              <a:t>Bu </a:t>
            </a:r>
            <a:r>
              <a:rPr lang="tr-TR" sz="1600" dirty="0"/>
              <a:t>gibi sistemler verilen bir zaman diliminde belirli bir üründen ne kadar üretileceğini belirleme; hammaddeler, ara ürünler ve bitmiş ürünler için stok düzeyini oluşturma; bitmiş ürünlerin nerede saklanacağını belirleme ve ürün sevkiyatı için kullanılacak ulaşım şeklini tanımlama gibi konularda işletmelerin daha iyi karar almasına yardım eder. </a:t>
            </a:r>
            <a:endParaRPr lang="tr-TR" sz="1600" dirty="0" smtClean="0"/>
          </a:p>
          <a:p>
            <a:r>
              <a:rPr lang="tr-TR" sz="1600" dirty="0" smtClean="0"/>
              <a:t>Değişiklikler </a:t>
            </a:r>
            <a:r>
              <a:rPr lang="tr-TR" sz="1600" dirty="0"/>
              <a:t>hakkında enformasyonlar ilgili tedarik zinciri elemanları arasında paylaşılır böylece onların çalışmaları koordineli olur. </a:t>
            </a:r>
            <a:endParaRPr lang="tr-TR" sz="1600" dirty="0"/>
          </a:p>
        </p:txBody>
      </p:sp>
    </p:spTree>
    <p:extLst>
      <p:ext uri="{BB962C8B-B14F-4D97-AF65-F5344CB8AC3E}">
        <p14:creationId xmlns:p14="http://schemas.microsoft.com/office/powerpoint/2010/main" val="2848140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dirty="0"/>
              <a:t>TEDARİK ZİNCİRİ YÖNETİMİ YAZILIMI </a:t>
            </a:r>
            <a:endParaRPr lang="tr-TR" dirty="0"/>
          </a:p>
        </p:txBody>
      </p:sp>
      <p:sp>
        <p:nvSpPr>
          <p:cNvPr id="5" name="İçerik Yer Tutucusu 5"/>
          <p:cNvSpPr>
            <a:spLocks noGrp="1"/>
          </p:cNvSpPr>
          <p:nvPr>
            <p:ph sz="quarter" idx="1"/>
          </p:nvPr>
        </p:nvSpPr>
        <p:spPr>
          <a:xfrm>
            <a:off x="457200" y="1600200"/>
            <a:ext cx="8147248" cy="4205064"/>
          </a:xfrm>
        </p:spPr>
        <p:txBody>
          <a:bodyPr>
            <a:noAutofit/>
          </a:bodyPr>
          <a:lstStyle/>
          <a:p>
            <a:r>
              <a:rPr lang="tr-TR" sz="2000" dirty="0" smtClean="0"/>
              <a:t>En </a:t>
            </a:r>
            <a:r>
              <a:rPr lang="tr-TR" sz="2000" dirty="0"/>
              <a:t>önemli ve en karmaşık tedarik zinciri planlama fonksiyonlarından biri müşterilerin tüm taleplerini karşılamak için ne kadar ürüne ihtiyaç olacağını belirleyen talep planlamasıdır. </a:t>
            </a:r>
            <a:endParaRPr lang="tr-TR" sz="2000" dirty="0" smtClean="0"/>
          </a:p>
          <a:p>
            <a:r>
              <a:rPr lang="tr-TR" sz="2000" dirty="0" err="1" smtClean="0"/>
              <a:t>Manugistics</a:t>
            </a:r>
            <a:r>
              <a:rPr lang="tr-TR" sz="2000" dirty="0" smtClean="0"/>
              <a:t> </a:t>
            </a:r>
            <a:r>
              <a:rPr lang="tr-TR" sz="2000" dirty="0"/>
              <a:t>ve i2 Teknoloji işletmeleri başlıca tedarik zincir yönetim yazılımı tedarikçileridir ve kurumsal yazılım dağıtıcıları SAP ve </a:t>
            </a:r>
            <a:r>
              <a:rPr lang="tr-TR" sz="2000" dirty="0" err="1"/>
              <a:t>Oracle-PeopleSoft’da</a:t>
            </a:r>
            <a:r>
              <a:rPr lang="tr-TR" sz="2000" dirty="0"/>
              <a:t> tedarik zinciri yönetimi modüllerini önermektedir. </a:t>
            </a:r>
            <a:endParaRPr lang="tr-TR" sz="2000" dirty="0" smtClean="0"/>
          </a:p>
          <a:p>
            <a:r>
              <a:rPr lang="tr-TR" sz="2000" dirty="0" smtClean="0"/>
              <a:t>Örnek</a:t>
            </a:r>
            <a:r>
              <a:rPr lang="tr-TR" sz="2000" dirty="0"/>
              <a:t>: Çamaşır ve kurutma makineleri, buzdolabı, fırınlar ve diğer ev araçları üreticisi </a:t>
            </a:r>
            <a:r>
              <a:rPr lang="tr-TR" sz="2000" dirty="0" err="1"/>
              <a:t>Whirpool</a:t>
            </a:r>
            <a:r>
              <a:rPr lang="tr-TR" sz="2000" dirty="0"/>
              <a:t>, Tedarik zinciri planlaması ve yeniden düzenlenen dağıtım merkezleri ile müşterinin ihtiyacı olan ürünlerin stokta bulunma oranını %97'ye çıkarırken, fazladan tamamlanmış ürünlerin stokunu % 20 ve öngörü hatalarını % 50 azaltmıştır.</a:t>
            </a:r>
            <a:endParaRPr lang="tr-TR" sz="2000" dirty="0"/>
          </a:p>
        </p:txBody>
      </p:sp>
    </p:spTree>
    <p:extLst>
      <p:ext uri="{BB962C8B-B14F-4D97-AF65-F5344CB8AC3E}">
        <p14:creationId xmlns:p14="http://schemas.microsoft.com/office/powerpoint/2010/main" val="1427311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KÜRESEL TEDARİK ZİNCİRLERİ VE INTERNET</a:t>
            </a:r>
            <a:endParaRPr lang="tr-TR" dirty="0"/>
          </a:p>
        </p:txBody>
      </p:sp>
      <p:sp>
        <p:nvSpPr>
          <p:cNvPr id="3" name="İçerik Yer Tutucusu 2"/>
          <p:cNvSpPr>
            <a:spLocks noGrp="1"/>
          </p:cNvSpPr>
          <p:nvPr>
            <p:ph sz="quarter" idx="1"/>
          </p:nvPr>
        </p:nvSpPr>
        <p:spPr>
          <a:xfrm>
            <a:off x="457200" y="1600200"/>
            <a:ext cx="8219256" cy="5069160"/>
          </a:xfrm>
        </p:spPr>
        <p:txBody>
          <a:bodyPr>
            <a:normAutofit fontScale="85000" lnSpcReduction="20000"/>
          </a:bodyPr>
          <a:lstStyle/>
          <a:p>
            <a:r>
              <a:rPr lang="tr-TR" dirty="0"/>
              <a:t>İnternetten önce tedarik zinciri koordinasyonu, satın alma, malzeme yönetimi üretim ve dağıtım için farklı iç tedarik zinciri sistemleri arasında düzgün enformasyon akışı sağlanamıyordu. </a:t>
            </a:r>
            <a:endParaRPr lang="tr-TR" dirty="0" smtClean="0"/>
          </a:p>
          <a:p>
            <a:r>
              <a:rPr lang="tr-TR" dirty="0" smtClean="0"/>
              <a:t>Ayrıca</a:t>
            </a:r>
            <a:r>
              <a:rPr lang="tr-TR" dirty="0"/>
              <a:t>, tedarikçilerin, dağıtıcıların ve lojistik sağlayıcıların sistemleri birbirleriyle uyumsuz teknoloji platformlarına ve standartlarına dayalı olduğundan dış tedarik ortaklarıyla enformasyon paylaşımı da zordu. </a:t>
            </a:r>
            <a:endParaRPr lang="tr-TR" dirty="0" smtClean="0"/>
          </a:p>
          <a:p>
            <a:r>
              <a:rPr lang="tr-TR" dirty="0" smtClean="0"/>
              <a:t>Kurumsal </a:t>
            </a:r>
            <a:r>
              <a:rPr lang="tr-TR" dirty="0"/>
              <a:t>ve tedarik zinciri yönetim sistemleri bu bütünlüğü oluşturmada internet teknolojisinden faydalanmaktadırlar. </a:t>
            </a:r>
            <a:endParaRPr lang="tr-TR" dirty="0" smtClean="0"/>
          </a:p>
          <a:p>
            <a:r>
              <a:rPr lang="tr-TR" dirty="0" smtClean="0"/>
              <a:t>Yöneticiler</a:t>
            </a:r>
            <a:r>
              <a:rPr lang="tr-TR" dirty="0"/>
              <a:t>, işletmenin ürünleri için stok ve üretim kapasitesinin talebini karşılama yeteneğini görmek için tedarikçinin sistemlerine bağlanmak amacıyla web ara yüzünü kullanmaktadır. </a:t>
            </a:r>
            <a:endParaRPr lang="tr-TR" dirty="0" smtClean="0"/>
          </a:p>
          <a:p>
            <a:r>
              <a:rPr lang="tr-TR" dirty="0" smtClean="0"/>
              <a:t>İşletme </a:t>
            </a:r>
            <a:r>
              <a:rPr lang="tr-TR" dirty="0"/>
              <a:t>ortakları anında tahminleri birleştirmek için </a:t>
            </a:r>
            <a:r>
              <a:rPr lang="tr-TR" dirty="0" err="1"/>
              <a:t>web'e</a:t>
            </a:r>
            <a:r>
              <a:rPr lang="tr-TR" dirty="0"/>
              <a:t> dayalı tedarik zinciri yönetimi araçlarından istifade etmektedir. </a:t>
            </a:r>
            <a:endParaRPr lang="tr-TR" dirty="0" smtClean="0"/>
          </a:p>
          <a:p>
            <a:r>
              <a:rPr lang="tr-TR" dirty="0" smtClean="0"/>
              <a:t>Satış </a:t>
            </a:r>
            <a:r>
              <a:rPr lang="tr-TR" dirty="0"/>
              <a:t>temsilcileri, müşterilerin sipariş durumlarını gözlemleyebilmek için tedarikçilerin üretim planlarına ve lojistik enformasyonlarına ulaşmaktadır.</a:t>
            </a:r>
            <a:endParaRPr lang="en-US" dirty="0">
              <a:ea typeface="ＭＳ Ｐゴシック" pitchFamily="34" charset="-128"/>
            </a:endParaRPr>
          </a:p>
        </p:txBody>
      </p:sp>
    </p:spTree>
    <p:extLst>
      <p:ext uri="{BB962C8B-B14F-4D97-AF65-F5344CB8AC3E}">
        <p14:creationId xmlns:p14="http://schemas.microsoft.com/office/powerpoint/2010/main" val="26048701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KÜRESEL TEDARİK </a:t>
            </a:r>
            <a:r>
              <a:rPr lang="tr-TR" sz="3600" dirty="0" smtClean="0"/>
              <a:t>zinciri</a:t>
            </a:r>
            <a:endParaRPr lang="tr-TR" sz="3600" dirty="0"/>
          </a:p>
        </p:txBody>
      </p:sp>
      <p:sp>
        <p:nvSpPr>
          <p:cNvPr id="3" name="İçerik Yer Tutucusu 2"/>
          <p:cNvSpPr>
            <a:spLocks noGrp="1"/>
          </p:cNvSpPr>
          <p:nvPr>
            <p:ph sz="quarter" idx="1"/>
          </p:nvPr>
        </p:nvSpPr>
        <p:spPr>
          <a:xfrm>
            <a:off x="457200" y="1600200"/>
            <a:ext cx="8507288" cy="5257800"/>
          </a:xfrm>
        </p:spPr>
        <p:txBody>
          <a:bodyPr>
            <a:normAutofit fontScale="70000" lnSpcReduction="20000"/>
          </a:bodyPr>
          <a:lstStyle/>
          <a:p>
            <a:r>
              <a:rPr lang="tr-TR" dirty="0"/>
              <a:t>Her geçen gün daha fazla işletme dışarıda satış yapmanın yanı sıra, uluslararası pazarlara giriyor, üretim faaliyetlerinde dış kaynak kullanıyor ve diğer ülkelerden tedarik ediyor. </a:t>
            </a:r>
            <a:endParaRPr lang="tr-TR" dirty="0" smtClean="0"/>
          </a:p>
          <a:p>
            <a:r>
              <a:rPr lang="tr-TR" dirty="0" smtClean="0"/>
              <a:t>Tedarik </a:t>
            </a:r>
            <a:r>
              <a:rPr lang="tr-TR" dirty="0"/>
              <a:t>zincirlerini ülke dışında birçok ülkeye ve bölgeye genişletiyor. Küresel tedarik zincirini yönetmek için de ek karmaşıklar ve zorluklar vardır. </a:t>
            </a:r>
            <a:endParaRPr lang="tr-TR" dirty="0" smtClean="0"/>
          </a:p>
          <a:p>
            <a:r>
              <a:rPr lang="tr-TR" dirty="0" smtClean="0"/>
              <a:t>Küresel </a:t>
            </a:r>
            <a:r>
              <a:rPr lang="tr-TR" dirty="0"/>
              <a:t>tedarik zincirleri, yerel tedarik zincirlerinden daha fazla coğrafi uzaklık ve zaman farklılıklarına yayılır ve farklı ülkelerden çok sayıda katılımcılara sahip bir yapıyı ifade etmektedir. </a:t>
            </a:r>
            <a:endParaRPr lang="tr-TR" dirty="0" smtClean="0"/>
          </a:p>
          <a:p>
            <a:r>
              <a:rPr lang="tr-TR" dirty="0" smtClean="0"/>
              <a:t>Birçok </a:t>
            </a:r>
            <a:r>
              <a:rPr lang="tr-TR" dirty="0"/>
              <a:t>ürünün satın alma fiyatı dışarıda daha düşük olmasına rağmen, ulaşım, stok, yerel vergiler ve ücretler için ek maliyeti vardır. </a:t>
            </a:r>
            <a:endParaRPr lang="tr-TR" dirty="0" smtClean="0"/>
          </a:p>
          <a:p>
            <a:r>
              <a:rPr lang="tr-TR" dirty="0" smtClean="0"/>
              <a:t>Performans </a:t>
            </a:r>
            <a:r>
              <a:rPr lang="tr-TR" dirty="0"/>
              <a:t>standartları bölgeden bölgeye ve ulustan ulusa değişebilir. </a:t>
            </a:r>
            <a:endParaRPr lang="tr-TR" dirty="0" smtClean="0"/>
          </a:p>
          <a:p>
            <a:r>
              <a:rPr lang="tr-TR" dirty="0" smtClean="0"/>
              <a:t>Tedarik </a:t>
            </a:r>
            <a:r>
              <a:rPr lang="tr-TR" dirty="0"/>
              <a:t>zinciri yönetimi yabancı hükümet düzenlemeleri ve kültürel farklılıkları yansıtma ihtiyacı duyabilir. </a:t>
            </a:r>
            <a:endParaRPr lang="tr-TR" dirty="0" smtClean="0"/>
          </a:p>
          <a:p>
            <a:r>
              <a:rPr lang="tr-TR" dirty="0" smtClean="0"/>
              <a:t>Bu </a:t>
            </a:r>
            <a:r>
              <a:rPr lang="tr-TR" dirty="0"/>
              <a:t>faktörlerin tümü, küresel işletmelerin hizmet verdikleri küresel piyasalardan bu siparişleri nasıl aldığına, dağıtımı nasıl planladığına, depolama büyüklüğünü nasıl belirlediğine ve giriş - çıkış lojistiğini nasıl yönettiğine etki eder. </a:t>
            </a:r>
            <a:endParaRPr lang="tr-TR" dirty="0" smtClean="0"/>
          </a:p>
          <a:p>
            <a:r>
              <a:rPr lang="tr-TR" dirty="0" smtClean="0"/>
              <a:t>Sözleşmeli </a:t>
            </a:r>
            <a:r>
              <a:rPr lang="tr-TR" dirty="0"/>
              <a:t>tedarikçilere ek olarak küreselleşme, dış kaynaklı depolama yönetimi, ulaştırma yönetimi ve üçüncü parti lojistik sağlayıcılarla ilgili faaliyetleri de cesaretlendirir. Bu lojistik hizmetler, müşterilerin kendi küresel tedarik zincirini daha iyi görebilmeleri için web tabanlı hizmetler önermektedirler.</a:t>
            </a:r>
            <a:endParaRPr lang="en-US" dirty="0">
              <a:ea typeface="ＭＳ Ｐゴシック" pitchFamily="34" charset="-128"/>
            </a:endParaRPr>
          </a:p>
        </p:txBody>
      </p:sp>
    </p:spTree>
    <p:extLst>
      <p:ext uri="{BB962C8B-B14F-4D97-AF65-F5344CB8AC3E}">
        <p14:creationId xmlns:p14="http://schemas.microsoft.com/office/powerpoint/2010/main" val="10345140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dirty="0"/>
              <a:t>Talebe Dayalı Tedarik Zincirleri: İtmeden Çekmeye Üretim ve Etkin Müşteri Yanıtı</a:t>
            </a:r>
            <a:endParaRPr lang="tr-TR" dirty="0"/>
          </a:p>
        </p:txBody>
      </p:sp>
      <p:sp>
        <p:nvSpPr>
          <p:cNvPr id="3" name="İçerik Yer Tutucusu 2"/>
          <p:cNvSpPr>
            <a:spLocks noGrp="1"/>
          </p:cNvSpPr>
          <p:nvPr>
            <p:ph sz="quarter" idx="1"/>
          </p:nvPr>
        </p:nvSpPr>
        <p:spPr>
          <a:xfrm>
            <a:off x="457200" y="1600200"/>
            <a:ext cx="8147248" cy="4873752"/>
          </a:xfrm>
        </p:spPr>
        <p:txBody>
          <a:bodyPr>
            <a:normAutofit/>
          </a:bodyPr>
          <a:lstStyle/>
          <a:p>
            <a:r>
              <a:rPr lang="tr-TR" sz="1800" dirty="0" smtClean="0"/>
              <a:t>Maliyetlerin </a:t>
            </a:r>
            <a:r>
              <a:rPr lang="tr-TR" sz="1800" dirty="0"/>
              <a:t>azaltılmasına ek olarak, tedarik zinciri yönetim sistemleri, faaliyetlerin daha çok müşteri talebine dayalı olarak yapılmasıyla etkin müşteri cevabını olanaklı kılar . </a:t>
            </a:r>
            <a:endParaRPr lang="tr-TR" sz="1800" dirty="0" smtClean="0"/>
          </a:p>
          <a:p>
            <a:r>
              <a:rPr lang="tr-TR" sz="1800" dirty="0" smtClean="0"/>
              <a:t>Daha </a:t>
            </a:r>
            <a:r>
              <a:rPr lang="tr-TR" sz="1800" dirty="0"/>
              <a:t>önceki tedarik zinciri yönetim sistemleri itmeye dayalı model tarafından kullanılıyordu (Stoka dayalı olarak da bilinmekte). </a:t>
            </a:r>
            <a:endParaRPr lang="tr-TR" sz="1800" dirty="0" smtClean="0"/>
          </a:p>
          <a:p>
            <a:r>
              <a:rPr lang="tr-TR" sz="1800" dirty="0" smtClean="0"/>
              <a:t>İtmeye </a:t>
            </a:r>
            <a:r>
              <a:rPr lang="tr-TR" sz="1800" dirty="0"/>
              <a:t>dayalı modelde, ürünler için ana üretim programları öngörülere veya en iyi tahminlere dayalıydı ve ürünler müşterilere "itiliyordu”. </a:t>
            </a:r>
            <a:endParaRPr lang="tr-TR" sz="1800" dirty="0" smtClean="0"/>
          </a:p>
          <a:p>
            <a:r>
              <a:rPr lang="tr-TR" sz="1800" dirty="0" smtClean="0"/>
              <a:t>Web </a:t>
            </a:r>
            <a:r>
              <a:rPr lang="tr-TR" sz="1800" dirty="0"/>
              <a:t>tabanlı araçlar aracılığıyla yeni enformasyon akışıyla tedarik zinciri yönetimi çekme yönlü modeli çok daha rahat takip etmektedir</a:t>
            </a:r>
            <a:r>
              <a:rPr lang="tr-TR" sz="1800" dirty="0" smtClean="0"/>
              <a:t>.</a:t>
            </a:r>
          </a:p>
          <a:p>
            <a:r>
              <a:rPr lang="tr-TR" sz="1800" dirty="0"/>
              <a:t>Talebe yönelik veya siparişe dayalı model olarak da bilinen Çekmeye dayalı modelde, gerçekleşen müşteri siparişleri veya satın almalar tedarik zincirindeki olayları tetikler. </a:t>
            </a:r>
          </a:p>
          <a:p>
            <a:r>
              <a:rPr lang="tr-TR" sz="1800" dirty="0" smtClean="0"/>
              <a:t>Sadece </a:t>
            </a:r>
            <a:r>
              <a:rPr lang="tr-TR" sz="1800" dirty="0"/>
              <a:t>müşterinin sipariş verdiklerini üretmek ve sevk etmek için işlemler perakendeciden dağıtıcılara, üreticilere son olarak da tedarikçilere giderek tedarik zincirini hareketlendirir.</a:t>
            </a:r>
            <a:endParaRPr lang="en-US" sz="1800" dirty="0">
              <a:ea typeface="ＭＳ Ｐゴシック" pitchFamily="34" charset="-128"/>
            </a:endParaRPr>
          </a:p>
        </p:txBody>
      </p:sp>
    </p:spTree>
    <p:extLst>
      <p:ext uri="{BB962C8B-B14F-4D97-AF65-F5344CB8AC3E}">
        <p14:creationId xmlns:p14="http://schemas.microsoft.com/office/powerpoint/2010/main" val="169267884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249</TotalTime>
  <Words>2299</Words>
  <Application>Microsoft Office PowerPoint</Application>
  <PresentationFormat>Ekran Gösterisi (4:3)</PresentationFormat>
  <Paragraphs>115</Paragraphs>
  <Slides>18</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18</vt:i4>
      </vt:variant>
    </vt:vector>
  </HeadingPairs>
  <TitlesOfParts>
    <vt:vector size="23" baseType="lpstr">
      <vt:lpstr>ＭＳ Ｐゴシック</vt:lpstr>
      <vt:lpstr>Century Schoolbook</vt:lpstr>
      <vt:lpstr>Wingdings</vt:lpstr>
      <vt:lpstr>Wingdings 2</vt:lpstr>
      <vt:lpstr>Cumba</vt:lpstr>
      <vt:lpstr>Yönetim Bilişim Sistemleri </vt:lpstr>
      <vt:lpstr>KURUMSAL SISTEMLER</vt:lpstr>
      <vt:lpstr>KURUMSAL SİSTEMLER NEDİR?</vt:lpstr>
      <vt:lpstr>KURUMSAL SİSTEMLER NEDİR? </vt:lpstr>
      <vt:lpstr>KURUMSAL SİSTEMLER NELER YAPABİLİR?</vt:lpstr>
      <vt:lpstr>KURUMSAL YAZILIM</vt:lpstr>
      <vt:lpstr>KURUMSAL SİSTEMLERİN İŞLETME DEĞERİ </vt:lpstr>
      <vt:lpstr>KURUMSAL SİSTEMLERİN İŞLETME DEĞERİ </vt:lpstr>
      <vt:lpstr>KURUMSAL SİSTEMLERİN İŞLETME DEĞERİ </vt:lpstr>
      <vt:lpstr>TEDARİK ZİNCİRİ YÖNETİMİ (TZY) SİSTEMLERİ</vt:lpstr>
      <vt:lpstr>TEDARİK ZİNCİRİ</vt:lpstr>
      <vt:lpstr>ENFORMASYON SİSTEMLERİ VE TEDARİK ZİNCİRİ YÖNETİMİ</vt:lpstr>
      <vt:lpstr>ENFORMASYON SİSTEMLERİ VE TEDARİK ZİNCİRİ YÖNETİMİ</vt:lpstr>
      <vt:lpstr>TEDARİK ZİNCİRİ YÖNETİMİ YAZILIMI </vt:lpstr>
      <vt:lpstr>TEDARİK ZİNCİRİ YÖNETİMİ YAZILIMI </vt:lpstr>
      <vt:lpstr>KÜRESEL TEDARİK ZİNCİRLERİ VE INTERNET</vt:lpstr>
      <vt:lpstr>KÜRESEL TEDARİK zinciri</vt:lpstr>
      <vt:lpstr>Talebe Dayalı Tedarik Zincirleri: İtmeden Çekmeye Üretim ve Etkin Müşteri Yanıtı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108</cp:revision>
  <dcterms:created xsi:type="dcterms:W3CDTF">2020-02-18T10:38:04Z</dcterms:created>
  <dcterms:modified xsi:type="dcterms:W3CDTF">2022-11-21T07:18:58Z</dcterms:modified>
</cp:coreProperties>
</file>