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84" r:id="rId1"/>
  </p:sldMasterIdLst>
  <p:sldIdLst>
    <p:sldId id="256" r:id="rId2"/>
    <p:sldId id="260" r:id="rId3"/>
    <p:sldId id="261" r:id="rId4"/>
    <p:sldId id="262" r:id="rId5"/>
    <p:sldId id="263" r:id="rId6"/>
    <p:sldId id="264" r:id="rId7"/>
    <p:sldId id="265" r:id="rId8"/>
    <p:sldId id="266" r:id="rId9"/>
    <p:sldId id="267" r:id="rId10"/>
    <p:sldId id="268" r:id="rId11"/>
    <p:sldId id="269" r:id="rId12"/>
    <p:sldId id="270" r:id="rId13"/>
    <p:sldId id="312" r:id="rId14"/>
    <p:sldId id="271" r:id="rId15"/>
    <p:sldId id="273" r:id="rId16"/>
    <p:sldId id="274" r:id="rId17"/>
    <p:sldId id="276" r:id="rId18"/>
    <p:sldId id="277" r:id="rId19"/>
    <p:sldId id="278" r:id="rId20"/>
    <p:sldId id="296" r:id="rId21"/>
    <p:sldId id="280" r:id="rId22"/>
    <p:sldId id="281" r:id="rId23"/>
    <p:sldId id="282" r:id="rId24"/>
    <p:sldId id="283" r:id="rId25"/>
    <p:sldId id="284" r:id="rId26"/>
    <p:sldId id="285" r:id="rId27"/>
    <p:sldId id="286" r:id="rId28"/>
    <p:sldId id="287" r:id="rId29"/>
    <p:sldId id="288" r:id="rId30"/>
    <p:sldId id="289" r:id="rId31"/>
    <p:sldId id="290" r:id="rId32"/>
    <p:sldId id="291" r:id="rId33"/>
    <p:sldId id="292" r:id="rId34"/>
    <p:sldId id="297" r:id="rId35"/>
    <p:sldId id="298" r:id="rId36"/>
    <p:sldId id="293" r:id="rId37"/>
    <p:sldId id="294" r:id="rId38"/>
    <p:sldId id="311" r:id="rId39"/>
    <p:sldId id="295" r:id="rId40"/>
    <p:sldId id="299" r:id="rId41"/>
  </p:sldIdLst>
  <p:sldSz cx="9144000" cy="6858000" type="screen4x3"/>
  <p:notesSz cx="6858000" cy="9144000"/>
  <p:defaultTextStyle>
    <a:defPPr>
      <a:defRPr lang="tr-T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7"/>
    <p:restoredTop sz="94674"/>
  </p:normalViewPr>
  <p:slideViewPr>
    <p:cSldViewPr>
      <p:cViewPr varScale="1">
        <p:scale>
          <a:sx n="109" d="100"/>
          <a:sy n="109" d="100"/>
        </p:scale>
        <p:origin x="1674" y="84"/>
      </p:cViewPr>
      <p:guideLst>
        <p:guide orient="horz" pos="2160"/>
        <p:guide pos="2880"/>
      </p:guideLst>
    </p:cSldViewPr>
  </p:slideViewPr>
  <p:notesTextViewPr>
    <p:cViewPr>
      <p:scale>
        <a:sx n="100" d="100"/>
        <a:sy n="100" d="100"/>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presProps" Target="pres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viewProps" Target="viewProps.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20" Type="http://schemas.openxmlformats.org/officeDocument/2006/relationships/slide" Target="slides/slide19.xml"/><Relationship Id="rId41" Type="http://schemas.openxmlformats.org/officeDocument/2006/relationships/slide" Target="slides/slide40.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Başlık Slaydı">
    <p:bg>
      <p:bgRef idx="1001">
        <a:schemeClr val="bg1"/>
      </p:bgRef>
    </p:bg>
    <p:spTree>
      <p:nvGrpSpPr>
        <p:cNvPr id="1" name=""/>
        <p:cNvGrpSpPr/>
        <p:nvPr/>
      </p:nvGrpSpPr>
      <p:grpSpPr>
        <a:xfrm>
          <a:off x="0" y="0"/>
          <a:ext cx="0" cy="0"/>
          <a:chOff x="0" y="0"/>
          <a:chExt cx="0" cy="0"/>
        </a:xfrm>
      </p:grpSpPr>
      <p:sp>
        <p:nvSpPr>
          <p:cNvPr id="8" name="Başlık 7"/>
          <p:cNvSpPr>
            <a:spLocks noGrp="1"/>
          </p:cNvSpPr>
          <p:nvPr>
            <p:ph type="ctrTitle"/>
          </p:nvPr>
        </p:nvSpPr>
        <p:spPr>
          <a:xfrm>
            <a:off x="2286000" y="3124200"/>
            <a:ext cx="6172200" cy="1894362"/>
          </a:xfrm>
        </p:spPr>
        <p:txBody>
          <a:bodyPr/>
          <a:lstStyle>
            <a:lvl1pPr>
              <a:defRPr b="1"/>
            </a:lvl1pPr>
          </a:lstStyle>
          <a:p>
            <a:r>
              <a:rPr kumimoji="0" lang="tr-TR"/>
              <a:t>Asıl başlık stili için tıklatın</a:t>
            </a:r>
            <a:endParaRPr kumimoji="0" lang="en-US"/>
          </a:p>
        </p:txBody>
      </p:sp>
      <p:sp>
        <p:nvSpPr>
          <p:cNvPr id="9" name="Alt Başlık 8"/>
          <p:cNvSpPr>
            <a:spLocks noGrp="1"/>
          </p:cNvSpPr>
          <p:nvPr>
            <p:ph type="subTitle" idx="1"/>
          </p:nvPr>
        </p:nvSpPr>
        <p:spPr>
          <a:xfrm>
            <a:off x="2286000" y="5003322"/>
            <a:ext cx="6172200" cy="1371600"/>
          </a:xfrm>
        </p:spPr>
        <p:txBody>
          <a:bodyPr/>
          <a:lstStyle>
            <a:lvl1pPr marL="0" indent="0" algn="l">
              <a:buNone/>
              <a:defRPr sz="1800" b="1">
                <a:solidFill>
                  <a:schemeClr val="tx2"/>
                </a:solidFill>
              </a:defRPr>
            </a:lvl1pPr>
            <a:lvl2pPr marL="457200" indent="0" algn="ctr">
              <a:buNone/>
            </a:lvl2pPr>
            <a:lvl3pPr marL="914400" indent="0" algn="ctr">
              <a:buNone/>
            </a:lvl3pPr>
            <a:lvl4pPr marL="1371600" indent="0" algn="ctr">
              <a:buNone/>
            </a:lvl4pPr>
            <a:lvl5pPr marL="1828800" indent="0" algn="ctr">
              <a:buNone/>
            </a:lvl5pPr>
            <a:lvl6pPr marL="2286000" indent="0" algn="ctr">
              <a:buNone/>
            </a:lvl6pPr>
            <a:lvl7pPr marL="2743200" indent="0" algn="ctr">
              <a:buNone/>
            </a:lvl7pPr>
            <a:lvl8pPr marL="3200400" indent="0" algn="ctr">
              <a:buNone/>
            </a:lvl8pPr>
            <a:lvl9pPr marL="3657600" indent="0" algn="ctr">
              <a:buNone/>
            </a:lvl9pPr>
          </a:lstStyle>
          <a:p>
            <a:r>
              <a:rPr kumimoji="0" lang="tr-TR"/>
              <a:t>Asıl alt başlık stilini düzenlemek için tıklatın</a:t>
            </a:r>
            <a:endParaRPr kumimoji="0" lang="en-US"/>
          </a:p>
        </p:txBody>
      </p:sp>
      <p:sp>
        <p:nvSpPr>
          <p:cNvPr id="28" name="Veri Yer Tutucusu 27"/>
          <p:cNvSpPr>
            <a:spLocks noGrp="1"/>
          </p:cNvSpPr>
          <p:nvPr>
            <p:ph type="dt" sz="half" idx="10"/>
          </p:nvPr>
        </p:nvSpPr>
        <p:spPr bwMode="auto">
          <a:xfrm rot="5400000">
            <a:off x="7764621" y="1174097"/>
            <a:ext cx="2286000" cy="381000"/>
          </a:xfrm>
        </p:spPr>
        <p:txBody>
          <a:bodyPr/>
          <a:lstStyle/>
          <a:p>
            <a:fld id="{A23720DD-5B6D-40BF-8493-A6B52D484E6B}" type="datetimeFigureOut">
              <a:rPr lang="tr-TR" smtClean="0"/>
              <a:t>10.10.2022</a:t>
            </a:fld>
            <a:endParaRPr lang="tr-TR"/>
          </a:p>
        </p:txBody>
      </p:sp>
      <p:sp>
        <p:nvSpPr>
          <p:cNvPr id="17" name="Altbilgi Yer Tutucusu 16"/>
          <p:cNvSpPr>
            <a:spLocks noGrp="1"/>
          </p:cNvSpPr>
          <p:nvPr>
            <p:ph type="ftr" sz="quarter" idx="11"/>
          </p:nvPr>
        </p:nvSpPr>
        <p:spPr bwMode="auto">
          <a:xfrm rot="5400000">
            <a:off x="7077269" y="4181669"/>
            <a:ext cx="3657600" cy="384048"/>
          </a:xfrm>
        </p:spPr>
        <p:txBody>
          <a:bodyPr/>
          <a:lstStyle/>
          <a:p>
            <a:endParaRPr lang="tr-TR"/>
          </a:p>
        </p:txBody>
      </p:sp>
      <p:sp>
        <p:nvSpPr>
          <p:cNvPr id="10" name="Dikdörtgen 9"/>
          <p:cNvSpPr/>
          <p:nvPr/>
        </p:nvSpPr>
        <p:spPr bwMode="auto">
          <a:xfrm>
            <a:off x="381000" y="0"/>
            <a:ext cx="609600" cy="6858000"/>
          </a:xfrm>
          <a:prstGeom prst="rect">
            <a:avLst/>
          </a:prstGeom>
          <a:solidFill>
            <a:schemeClr val="accent1">
              <a:tint val="60000"/>
              <a:alpha val="54000"/>
            </a:schemeClr>
          </a:solidFill>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2" name="Dikdörtgen 11"/>
          <p:cNvSpPr/>
          <p:nvPr/>
        </p:nvSpPr>
        <p:spPr bwMode="auto">
          <a:xfrm>
            <a:off x="276336" y="0"/>
            <a:ext cx="104664" cy="6858000"/>
          </a:xfrm>
          <a:prstGeom prst="rect">
            <a:avLst/>
          </a:prstGeom>
          <a:solidFill>
            <a:schemeClr val="accent1">
              <a:tint val="40000"/>
              <a:alpha val="36000"/>
            </a:schemeClr>
          </a:solidFill>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4" name="Dikdörtgen 13"/>
          <p:cNvSpPr/>
          <p:nvPr/>
        </p:nvSpPr>
        <p:spPr bwMode="auto">
          <a:xfrm>
            <a:off x="990600" y="0"/>
            <a:ext cx="181872" cy="6858000"/>
          </a:xfrm>
          <a:prstGeom prst="rect">
            <a:avLst/>
          </a:prstGeom>
          <a:solidFill>
            <a:schemeClr val="accent1">
              <a:tint val="40000"/>
              <a:alpha val="70000"/>
            </a:schemeClr>
          </a:solidFill>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9" name="Dikdörtgen 18"/>
          <p:cNvSpPr/>
          <p:nvPr/>
        </p:nvSpPr>
        <p:spPr bwMode="auto">
          <a:xfrm>
            <a:off x="1141320" y="0"/>
            <a:ext cx="230280" cy="6858000"/>
          </a:xfrm>
          <a:prstGeom prst="rect">
            <a:avLst/>
          </a:prstGeom>
          <a:solidFill>
            <a:schemeClr val="accent1">
              <a:tint val="20000"/>
              <a:alpha val="71000"/>
            </a:schemeClr>
          </a:solidFill>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1" name="Düz Bağlayıcı 10"/>
          <p:cNvSpPr>
            <a:spLocks noChangeShapeType="1"/>
          </p:cNvSpPr>
          <p:nvPr/>
        </p:nvSpPr>
        <p:spPr bwMode="auto">
          <a:xfrm>
            <a:off x="106344" y="0"/>
            <a:ext cx="0" cy="6858000"/>
          </a:xfrm>
          <a:prstGeom prst="line">
            <a:avLst/>
          </a:prstGeom>
          <a:noFill/>
          <a:ln w="57150" cap="flat" cmpd="sng" algn="ctr">
            <a:solidFill>
              <a:schemeClr val="accent1">
                <a:tint val="60000"/>
                <a:alpha val="73000"/>
              </a:schemeClr>
            </a:solid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18" name="Düz Bağlayıcı 17"/>
          <p:cNvSpPr>
            <a:spLocks noChangeShapeType="1"/>
          </p:cNvSpPr>
          <p:nvPr/>
        </p:nvSpPr>
        <p:spPr bwMode="auto">
          <a:xfrm>
            <a:off x="914400" y="0"/>
            <a:ext cx="0" cy="6858000"/>
          </a:xfrm>
          <a:prstGeom prst="line">
            <a:avLst/>
          </a:prstGeom>
          <a:noFill/>
          <a:ln w="57150" cap="flat" cmpd="sng" algn="ctr">
            <a:solidFill>
              <a:schemeClr val="accent1">
                <a:tint val="20000"/>
                <a:alpha val="83000"/>
              </a:schemeClr>
            </a:solid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20" name="Düz Bağlayıcı 19"/>
          <p:cNvSpPr>
            <a:spLocks noChangeShapeType="1"/>
          </p:cNvSpPr>
          <p:nvPr/>
        </p:nvSpPr>
        <p:spPr bwMode="auto">
          <a:xfrm>
            <a:off x="854112" y="0"/>
            <a:ext cx="0" cy="6858000"/>
          </a:xfrm>
          <a:prstGeom prst="line">
            <a:avLst/>
          </a:prstGeom>
          <a:noFill/>
          <a:ln w="57150" cap="flat" cmpd="sng" algn="ctr">
            <a:solidFill>
              <a:schemeClr val="accent1">
                <a:tint val="60000"/>
              </a:schemeClr>
            </a:solid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16" name="Düz Bağlayıcı 15"/>
          <p:cNvSpPr>
            <a:spLocks noChangeShapeType="1"/>
          </p:cNvSpPr>
          <p:nvPr/>
        </p:nvSpPr>
        <p:spPr bwMode="auto">
          <a:xfrm>
            <a:off x="1726640" y="0"/>
            <a:ext cx="0" cy="6858000"/>
          </a:xfrm>
          <a:prstGeom prst="line">
            <a:avLst/>
          </a:prstGeom>
          <a:noFill/>
          <a:ln w="28575" cap="flat" cmpd="sng" algn="ctr">
            <a:solidFill>
              <a:schemeClr val="accent1">
                <a:tint val="60000"/>
                <a:alpha val="82000"/>
              </a:schemeClr>
            </a:solid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15" name="Düz Bağlayıcı 14"/>
          <p:cNvSpPr>
            <a:spLocks noChangeShapeType="1"/>
          </p:cNvSpPr>
          <p:nvPr/>
        </p:nvSpPr>
        <p:spPr bwMode="auto">
          <a:xfrm>
            <a:off x="1066800" y="0"/>
            <a:ext cx="0" cy="6858000"/>
          </a:xfrm>
          <a:prstGeom prst="line">
            <a:avLst/>
          </a:prstGeom>
          <a:noFill/>
          <a:ln w="9525" cap="flat" cmpd="sng" algn="ctr">
            <a:solidFill>
              <a:schemeClr val="accent1">
                <a:tint val="60000"/>
              </a:schemeClr>
            </a:solid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22" name="Düz Bağlayıcı 21"/>
          <p:cNvSpPr>
            <a:spLocks noChangeShapeType="1"/>
          </p:cNvSpPr>
          <p:nvPr/>
        </p:nvSpPr>
        <p:spPr bwMode="auto">
          <a:xfrm>
            <a:off x="9113856" y="0"/>
            <a:ext cx="0" cy="6858000"/>
          </a:xfrm>
          <a:prstGeom prst="line">
            <a:avLst/>
          </a:prstGeom>
          <a:noFill/>
          <a:ln w="57150" cap="flat" cmpd="thickThin" algn="ctr">
            <a:solidFill>
              <a:schemeClr val="accent1">
                <a:tint val="60000"/>
              </a:schemeClr>
            </a:solid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27" name="Dikdörtgen 26"/>
          <p:cNvSpPr/>
          <p:nvPr/>
        </p:nvSpPr>
        <p:spPr bwMode="auto">
          <a:xfrm>
            <a:off x="1219200" y="0"/>
            <a:ext cx="76200" cy="6858000"/>
          </a:xfrm>
          <a:prstGeom prst="rect">
            <a:avLst/>
          </a:prstGeom>
          <a:solidFill>
            <a:schemeClr val="accent1">
              <a:tint val="60000"/>
              <a:alpha val="51000"/>
            </a:schemeClr>
          </a:solidFill>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21" name="Oval 20"/>
          <p:cNvSpPr/>
          <p:nvPr/>
        </p:nvSpPr>
        <p:spPr bwMode="auto">
          <a:xfrm>
            <a:off x="609600" y="3429000"/>
            <a:ext cx="1295400" cy="1295400"/>
          </a:xfrm>
          <a:prstGeom prst="ellipse">
            <a:avLst/>
          </a:prstGeom>
          <a:solidFill>
            <a:schemeClr val="accent1"/>
          </a:solidFill>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23" name="Oval 22"/>
          <p:cNvSpPr/>
          <p:nvPr/>
        </p:nvSpPr>
        <p:spPr bwMode="auto">
          <a:xfrm>
            <a:off x="1309632" y="4866752"/>
            <a:ext cx="641424" cy="641424"/>
          </a:xfrm>
          <a:prstGeom prst="ellipse">
            <a:avLst/>
          </a:prstGeom>
          <a:ln w="28575"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24" name="Oval 23"/>
          <p:cNvSpPr/>
          <p:nvPr/>
        </p:nvSpPr>
        <p:spPr bwMode="auto">
          <a:xfrm>
            <a:off x="1091080" y="5500632"/>
            <a:ext cx="137160" cy="137160"/>
          </a:xfrm>
          <a:prstGeom prst="ellipse">
            <a:avLst/>
          </a:prstGeom>
          <a:ln w="127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26" name="Oval 25"/>
          <p:cNvSpPr/>
          <p:nvPr/>
        </p:nvSpPr>
        <p:spPr bwMode="auto">
          <a:xfrm>
            <a:off x="1664208" y="5788152"/>
            <a:ext cx="274320" cy="274320"/>
          </a:xfrm>
          <a:prstGeom prst="ellipse">
            <a:avLst/>
          </a:prstGeom>
          <a:ln w="127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25" name="Oval 24"/>
          <p:cNvSpPr/>
          <p:nvPr/>
        </p:nvSpPr>
        <p:spPr>
          <a:xfrm>
            <a:off x="1905000" y="4495800"/>
            <a:ext cx="365760" cy="365760"/>
          </a:xfrm>
          <a:prstGeom prst="ellipse">
            <a:avLst/>
          </a:prstGeom>
          <a:ln w="28575"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29" name="Slayt Numarası Yer Tutucusu 28"/>
          <p:cNvSpPr>
            <a:spLocks noGrp="1"/>
          </p:cNvSpPr>
          <p:nvPr>
            <p:ph type="sldNum" sz="quarter" idx="12"/>
          </p:nvPr>
        </p:nvSpPr>
        <p:spPr bwMode="auto">
          <a:xfrm>
            <a:off x="1325544" y="4928702"/>
            <a:ext cx="609600" cy="517524"/>
          </a:xfrm>
        </p:spPr>
        <p:txBody>
          <a:bodyPr/>
          <a:lstStyle/>
          <a:p>
            <a:fld id="{F302176B-0E47-46AC-8F43-DAB4B8A37D06}" type="slidenum">
              <a:rPr lang="tr-TR" smtClean="0"/>
              <a:t>‹#›</a:t>
            </a:fld>
            <a:endParaRPr lang="tr-TR"/>
          </a:p>
        </p:txBody>
      </p:sp>
    </p:spTree>
  </p:cSld>
  <p:clrMapOvr>
    <a:overrideClrMapping bg1="lt1" tx1="dk1" bg2="lt2" tx2="dk2" accent1="accent1" accent2="accent2" accent3="accent3" accent4="accent4" accent5="accent5" accent6="accent6" hlink="hlink" folHlink="folHlink"/>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Başlık ve İçerik">
    <p:spTree>
      <p:nvGrpSpPr>
        <p:cNvPr id="1" name=""/>
        <p:cNvGrpSpPr/>
        <p:nvPr/>
      </p:nvGrpSpPr>
      <p:grpSpPr>
        <a:xfrm>
          <a:off x="0" y="0"/>
          <a:ext cx="0" cy="0"/>
          <a:chOff x="0" y="0"/>
          <a:chExt cx="0" cy="0"/>
        </a:xfrm>
      </p:grpSpPr>
      <p:sp>
        <p:nvSpPr>
          <p:cNvPr id="2" name="Başlık 1"/>
          <p:cNvSpPr>
            <a:spLocks noGrp="1"/>
          </p:cNvSpPr>
          <p:nvPr>
            <p:ph type="title"/>
          </p:nvPr>
        </p:nvSpPr>
        <p:spPr/>
        <p:txBody>
          <a:bodyPr/>
          <a:lstStyle/>
          <a:p>
            <a:r>
              <a:rPr kumimoji="0" lang="tr-TR"/>
              <a:t>Asıl başlık stili için tıklatın</a:t>
            </a:r>
            <a:endParaRPr kumimoji="0" lang="en-US"/>
          </a:p>
        </p:txBody>
      </p:sp>
      <p:sp>
        <p:nvSpPr>
          <p:cNvPr id="8" name="İçerik Yer Tutucusu 7"/>
          <p:cNvSpPr>
            <a:spLocks noGrp="1"/>
          </p:cNvSpPr>
          <p:nvPr>
            <p:ph sz="quarter" idx="1"/>
          </p:nvPr>
        </p:nvSpPr>
        <p:spPr>
          <a:xfrm>
            <a:off x="457200" y="1600200"/>
            <a:ext cx="7467600" cy="4873752"/>
          </a:xfrm>
        </p:spPr>
        <p:txBody>
          <a:bodyPr/>
          <a:lstStyle/>
          <a:p>
            <a:pPr lvl="0" eaLnBrk="1" latinLnBrk="0" hangingPunct="1"/>
            <a:r>
              <a:rPr lang="tr-TR"/>
              <a:t>Asıl metin stillerini düzenlemek için tıklatın</a:t>
            </a:r>
          </a:p>
          <a:p>
            <a:pPr lvl="1" eaLnBrk="1" latinLnBrk="0" hangingPunct="1"/>
            <a:r>
              <a:rPr lang="tr-TR"/>
              <a:t>İkinci düzey</a:t>
            </a:r>
          </a:p>
          <a:p>
            <a:pPr lvl="2" eaLnBrk="1" latinLnBrk="0" hangingPunct="1"/>
            <a:r>
              <a:rPr lang="tr-TR"/>
              <a:t>Üçüncü düzey</a:t>
            </a:r>
          </a:p>
          <a:p>
            <a:pPr lvl="3" eaLnBrk="1" latinLnBrk="0" hangingPunct="1"/>
            <a:r>
              <a:rPr lang="tr-TR"/>
              <a:t>Dördüncü düzey</a:t>
            </a:r>
          </a:p>
          <a:p>
            <a:pPr lvl="4" eaLnBrk="1" latinLnBrk="0" hangingPunct="1"/>
            <a:r>
              <a:rPr lang="tr-TR"/>
              <a:t>Beşinci düzey</a:t>
            </a:r>
            <a:endParaRPr kumimoji="0" lang="en-US"/>
          </a:p>
        </p:txBody>
      </p:sp>
      <p:sp>
        <p:nvSpPr>
          <p:cNvPr id="7" name="Veri Yer Tutucusu 6"/>
          <p:cNvSpPr>
            <a:spLocks noGrp="1"/>
          </p:cNvSpPr>
          <p:nvPr>
            <p:ph type="dt" sz="half" idx="14"/>
          </p:nvPr>
        </p:nvSpPr>
        <p:spPr/>
        <p:txBody>
          <a:bodyPr rtlCol="0"/>
          <a:lstStyle/>
          <a:p>
            <a:fld id="{A23720DD-5B6D-40BF-8493-A6B52D484E6B}" type="datetimeFigureOut">
              <a:rPr lang="tr-TR" smtClean="0"/>
              <a:t>10.10.2022</a:t>
            </a:fld>
            <a:endParaRPr lang="tr-TR"/>
          </a:p>
        </p:txBody>
      </p:sp>
      <p:sp>
        <p:nvSpPr>
          <p:cNvPr id="9" name="Slayt Numarası Yer Tutucusu 8"/>
          <p:cNvSpPr>
            <a:spLocks noGrp="1"/>
          </p:cNvSpPr>
          <p:nvPr>
            <p:ph type="sldNum" sz="quarter" idx="15"/>
          </p:nvPr>
        </p:nvSpPr>
        <p:spPr/>
        <p:txBody>
          <a:bodyPr rtlCol="0"/>
          <a:lstStyle/>
          <a:p>
            <a:fld id="{F302176B-0E47-46AC-8F43-DAB4B8A37D06}" type="slidenum">
              <a:rPr lang="tr-TR" smtClean="0"/>
              <a:t>‹#›</a:t>
            </a:fld>
            <a:endParaRPr lang="tr-TR"/>
          </a:p>
        </p:txBody>
      </p:sp>
      <p:sp>
        <p:nvSpPr>
          <p:cNvPr id="10" name="Altbilgi Yer Tutucusu 9"/>
          <p:cNvSpPr>
            <a:spLocks noGrp="1"/>
          </p:cNvSpPr>
          <p:nvPr>
            <p:ph type="ftr" sz="quarter" idx="16"/>
          </p:nvPr>
        </p:nvSpPr>
        <p:spPr/>
        <p:txBody>
          <a:bodyPr rtlCol="0"/>
          <a:lstStyle/>
          <a:p>
            <a:endParaRPr lang="tr-T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Bölüm Üstbilgisi">
    <p:bg>
      <p:bgRef idx="1001">
        <a:schemeClr val="bg2"/>
      </p:bgRef>
    </p:bg>
    <p:spTree>
      <p:nvGrpSpPr>
        <p:cNvPr id="1" name=""/>
        <p:cNvGrpSpPr/>
        <p:nvPr/>
      </p:nvGrpSpPr>
      <p:grpSpPr>
        <a:xfrm>
          <a:off x="0" y="0"/>
          <a:ext cx="0" cy="0"/>
          <a:chOff x="0" y="0"/>
          <a:chExt cx="0" cy="0"/>
        </a:xfrm>
      </p:grpSpPr>
      <p:sp>
        <p:nvSpPr>
          <p:cNvPr id="2" name="Başlık 1"/>
          <p:cNvSpPr>
            <a:spLocks noGrp="1"/>
          </p:cNvSpPr>
          <p:nvPr>
            <p:ph type="title"/>
          </p:nvPr>
        </p:nvSpPr>
        <p:spPr>
          <a:xfrm>
            <a:off x="2286000" y="2895600"/>
            <a:ext cx="6172200" cy="2053590"/>
          </a:xfrm>
        </p:spPr>
        <p:txBody>
          <a:bodyPr/>
          <a:lstStyle>
            <a:lvl1pPr algn="l">
              <a:buNone/>
              <a:defRPr sz="3000" b="1" cap="small" baseline="0"/>
            </a:lvl1pPr>
          </a:lstStyle>
          <a:p>
            <a:r>
              <a:rPr kumimoji="0" lang="tr-TR"/>
              <a:t>Asıl başlık stili için tıklatın</a:t>
            </a:r>
            <a:endParaRPr kumimoji="0" lang="en-US"/>
          </a:p>
        </p:txBody>
      </p:sp>
      <p:sp>
        <p:nvSpPr>
          <p:cNvPr id="3" name="Metin Yer Tutucusu 2"/>
          <p:cNvSpPr>
            <a:spLocks noGrp="1"/>
          </p:cNvSpPr>
          <p:nvPr>
            <p:ph type="body" idx="1"/>
          </p:nvPr>
        </p:nvSpPr>
        <p:spPr>
          <a:xfrm>
            <a:off x="2286000" y="5010150"/>
            <a:ext cx="6172200" cy="1371600"/>
          </a:xfrm>
        </p:spPr>
        <p:txBody>
          <a:bodyPr anchor="t"/>
          <a:lstStyle>
            <a:lvl1pPr marL="0" indent="0">
              <a:buNone/>
              <a:defRPr sz="1800" b="1">
                <a:solidFill>
                  <a:schemeClr val="tx2"/>
                </a:solidFill>
              </a:defRPr>
            </a:lvl1pPr>
            <a:lvl2pPr>
              <a:buNone/>
              <a:defRPr sz="1800">
                <a:solidFill>
                  <a:schemeClr val="tx1">
                    <a:tint val="75000"/>
                  </a:schemeClr>
                </a:solidFill>
              </a:defRPr>
            </a:lvl2pPr>
            <a:lvl3pPr>
              <a:buNone/>
              <a:defRPr sz="1600">
                <a:solidFill>
                  <a:schemeClr val="tx1">
                    <a:tint val="75000"/>
                  </a:schemeClr>
                </a:solidFill>
              </a:defRPr>
            </a:lvl3pPr>
            <a:lvl4pPr>
              <a:buNone/>
              <a:defRPr sz="1400">
                <a:solidFill>
                  <a:schemeClr val="tx1">
                    <a:tint val="75000"/>
                  </a:schemeClr>
                </a:solidFill>
              </a:defRPr>
            </a:lvl4pPr>
            <a:lvl5pPr>
              <a:buNone/>
              <a:defRPr sz="1400">
                <a:solidFill>
                  <a:schemeClr val="tx1">
                    <a:tint val="75000"/>
                  </a:schemeClr>
                </a:solidFill>
              </a:defRPr>
            </a:lvl5pPr>
          </a:lstStyle>
          <a:p>
            <a:pPr lvl="0" eaLnBrk="1" latinLnBrk="0" hangingPunct="1"/>
            <a:r>
              <a:rPr kumimoji="0" lang="tr-TR"/>
              <a:t>Asıl metin stillerini düzenlemek için tıklatın</a:t>
            </a:r>
          </a:p>
        </p:txBody>
      </p:sp>
      <p:sp>
        <p:nvSpPr>
          <p:cNvPr id="4" name="Veri Yer Tutucusu 3"/>
          <p:cNvSpPr>
            <a:spLocks noGrp="1"/>
          </p:cNvSpPr>
          <p:nvPr>
            <p:ph type="dt" sz="half" idx="10"/>
          </p:nvPr>
        </p:nvSpPr>
        <p:spPr bwMode="auto">
          <a:xfrm rot="5400000">
            <a:off x="7763256" y="1170432"/>
            <a:ext cx="2286000" cy="381000"/>
          </a:xfrm>
        </p:spPr>
        <p:txBody>
          <a:bodyPr/>
          <a:lstStyle/>
          <a:p>
            <a:fld id="{A23720DD-5B6D-40BF-8493-A6B52D484E6B}" type="datetimeFigureOut">
              <a:rPr lang="tr-TR" smtClean="0"/>
              <a:t>10.10.2022</a:t>
            </a:fld>
            <a:endParaRPr lang="tr-TR"/>
          </a:p>
        </p:txBody>
      </p:sp>
      <p:sp>
        <p:nvSpPr>
          <p:cNvPr id="5" name="Altbilgi Yer Tutucusu 4"/>
          <p:cNvSpPr>
            <a:spLocks noGrp="1"/>
          </p:cNvSpPr>
          <p:nvPr>
            <p:ph type="ftr" sz="quarter" idx="11"/>
          </p:nvPr>
        </p:nvSpPr>
        <p:spPr bwMode="auto">
          <a:xfrm rot="5400000">
            <a:off x="7077456" y="4178808"/>
            <a:ext cx="3657600" cy="384048"/>
          </a:xfrm>
        </p:spPr>
        <p:txBody>
          <a:bodyPr/>
          <a:lstStyle/>
          <a:p>
            <a:endParaRPr lang="tr-TR"/>
          </a:p>
        </p:txBody>
      </p:sp>
      <p:sp>
        <p:nvSpPr>
          <p:cNvPr id="9" name="Dikdörtgen 8"/>
          <p:cNvSpPr/>
          <p:nvPr/>
        </p:nvSpPr>
        <p:spPr bwMode="auto">
          <a:xfrm>
            <a:off x="381000" y="0"/>
            <a:ext cx="609600" cy="6858000"/>
          </a:xfrm>
          <a:prstGeom prst="rect">
            <a:avLst/>
          </a:prstGeom>
          <a:solidFill>
            <a:schemeClr val="accent1">
              <a:tint val="60000"/>
              <a:alpha val="54000"/>
            </a:schemeClr>
          </a:solidFill>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0" name="Dikdörtgen 9"/>
          <p:cNvSpPr/>
          <p:nvPr/>
        </p:nvSpPr>
        <p:spPr bwMode="auto">
          <a:xfrm>
            <a:off x="276336" y="0"/>
            <a:ext cx="104664" cy="6858000"/>
          </a:xfrm>
          <a:prstGeom prst="rect">
            <a:avLst/>
          </a:prstGeom>
          <a:solidFill>
            <a:schemeClr val="accent1">
              <a:tint val="40000"/>
              <a:alpha val="36000"/>
            </a:schemeClr>
          </a:solidFill>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1" name="Dikdörtgen 10"/>
          <p:cNvSpPr/>
          <p:nvPr/>
        </p:nvSpPr>
        <p:spPr bwMode="auto">
          <a:xfrm>
            <a:off x="990600" y="0"/>
            <a:ext cx="181872" cy="6858000"/>
          </a:xfrm>
          <a:prstGeom prst="rect">
            <a:avLst/>
          </a:prstGeom>
          <a:solidFill>
            <a:schemeClr val="accent1">
              <a:tint val="40000"/>
              <a:alpha val="70000"/>
            </a:schemeClr>
          </a:solidFill>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2" name="Dikdörtgen 11"/>
          <p:cNvSpPr/>
          <p:nvPr/>
        </p:nvSpPr>
        <p:spPr bwMode="auto">
          <a:xfrm>
            <a:off x="1141320" y="0"/>
            <a:ext cx="230280" cy="6858000"/>
          </a:xfrm>
          <a:prstGeom prst="rect">
            <a:avLst/>
          </a:prstGeom>
          <a:solidFill>
            <a:schemeClr val="accent1">
              <a:tint val="20000"/>
              <a:alpha val="71000"/>
            </a:schemeClr>
          </a:solidFill>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3" name="Düz Bağlayıcı 12"/>
          <p:cNvSpPr>
            <a:spLocks noChangeShapeType="1"/>
          </p:cNvSpPr>
          <p:nvPr/>
        </p:nvSpPr>
        <p:spPr bwMode="auto">
          <a:xfrm>
            <a:off x="106344" y="0"/>
            <a:ext cx="0" cy="6858000"/>
          </a:xfrm>
          <a:prstGeom prst="line">
            <a:avLst/>
          </a:prstGeom>
          <a:noFill/>
          <a:ln w="57150" cap="flat" cmpd="sng" algn="ctr">
            <a:solidFill>
              <a:schemeClr val="accent1">
                <a:tint val="60000"/>
                <a:alpha val="73000"/>
              </a:schemeClr>
            </a:solid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14" name="Düz Bağlayıcı 13"/>
          <p:cNvSpPr>
            <a:spLocks noChangeShapeType="1"/>
          </p:cNvSpPr>
          <p:nvPr/>
        </p:nvSpPr>
        <p:spPr bwMode="auto">
          <a:xfrm>
            <a:off x="914400" y="0"/>
            <a:ext cx="0" cy="6858000"/>
          </a:xfrm>
          <a:prstGeom prst="line">
            <a:avLst/>
          </a:prstGeom>
          <a:noFill/>
          <a:ln w="57150" cap="flat" cmpd="sng" algn="ctr">
            <a:solidFill>
              <a:schemeClr val="accent1">
                <a:tint val="20000"/>
                <a:alpha val="83000"/>
              </a:schemeClr>
            </a:solid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15" name="Düz Bağlayıcı 14"/>
          <p:cNvSpPr>
            <a:spLocks noChangeShapeType="1"/>
          </p:cNvSpPr>
          <p:nvPr/>
        </p:nvSpPr>
        <p:spPr bwMode="auto">
          <a:xfrm>
            <a:off x="854112" y="0"/>
            <a:ext cx="0" cy="6858000"/>
          </a:xfrm>
          <a:prstGeom prst="line">
            <a:avLst/>
          </a:prstGeom>
          <a:noFill/>
          <a:ln w="57150" cap="flat" cmpd="sng" algn="ctr">
            <a:solidFill>
              <a:schemeClr val="accent1">
                <a:tint val="60000"/>
              </a:schemeClr>
            </a:solid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16" name="Düz Bağlayıcı 15"/>
          <p:cNvSpPr>
            <a:spLocks noChangeShapeType="1"/>
          </p:cNvSpPr>
          <p:nvPr/>
        </p:nvSpPr>
        <p:spPr bwMode="auto">
          <a:xfrm>
            <a:off x="1726640" y="0"/>
            <a:ext cx="0" cy="6858000"/>
          </a:xfrm>
          <a:prstGeom prst="line">
            <a:avLst/>
          </a:prstGeom>
          <a:noFill/>
          <a:ln w="28575" cap="flat" cmpd="sng" algn="ctr">
            <a:solidFill>
              <a:schemeClr val="accent1">
                <a:tint val="60000"/>
                <a:alpha val="82000"/>
              </a:schemeClr>
            </a:solid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17" name="Düz Bağlayıcı 16"/>
          <p:cNvSpPr>
            <a:spLocks noChangeShapeType="1"/>
          </p:cNvSpPr>
          <p:nvPr/>
        </p:nvSpPr>
        <p:spPr bwMode="auto">
          <a:xfrm>
            <a:off x="1066800" y="0"/>
            <a:ext cx="0" cy="6858000"/>
          </a:xfrm>
          <a:prstGeom prst="line">
            <a:avLst/>
          </a:prstGeom>
          <a:noFill/>
          <a:ln w="9525" cap="flat" cmpd="sng" algn="ctr">
            <a:solidFill>
              <a:schemeClr val="accent1">
                <a:tint val="60000"/>
              </a:schemeClr>
            </a:solid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18" name="Dikdörtgen 17"/>
          <p:cNvSpPr/>
          <p:nvPr/>
        </p:nvSpPr>
        <p:spPr bwMode="auto">
          <a:xfrm>
            <a:off x="1219200" y="0"/>
            <a:ext cx="76200" cy="6858000"/>
          </a:xfrm>
          <a:prstGeom prst="rect">
            <a:avLst/>
          </a:prstGeom>
          <a:solidFill>
            <a:schemeClr val="accent1">
              <a:tint val="60000"/>
              <a:alpha val="51000"/>
            </a:schemeClr>
          </a:solidFill>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19" name="Oval 18"/>
          <p:cNvSpPr/>
          <p:nvPr/>
        </p:nvSpPr>
        <p:spPr bwMode="auto">
          <a:xfrm>
            <a:off x="609600" y="3429000"/>
            <a:ext cx="1295400" cy="1295400"/>
          </a:xfrm>
          <a:prstGeom prst="ellipse">
            <a:avLst/>
          </a:prstGeom>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20" name="Oval 19"/>
          <p:cNvSpPr/>
          <p:nvPr/>
        </p:nvSpPr>
        <p:spPr bwMode="auto">
          <a:xfrm>
            <a:off x="1324704" y="4866752"/>
            <a:ext cx="641424" cy="641424"/>
          </a:xfrm>
          <a:prstGeom prst="ellipse">
            <a:avLst/>
          </a:prstGeom>
          <a:ln w="28575"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21" name="Oval 20"/>
          <p:cNvSpPr/>
          <p:nvPr/>
        </p:nvSpPr>
        <p:spPr bwMode="auto">
          <a:xfrm>
            <a:off x="1091080" y="5500632"/>
            <a:ext cx="137160" cy="137160"/>
          </a:xfrm>
          <a:prstGeom prst="ellipse">
            <a:avLst/>
          </a:prstGeom>
          <a:ln w="127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22" name="Oval 21"/>
          <p:cNvSpPr/>
          <p:nvPr/>
        </p:nvSpPr>
        <p:spPr bwMode="auto">
          <a:xfrm>
            <a:off x="1664208" y="5791200"/>
            <a:ext cx="274320" cy="274320"/>
          </a:xfrm>
          <a:prstGeom prst="ellipse">
            <a:avLst/>
          </a:prstGeom>
          <a:ln w="127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23" name="Oval 22"/>
          <p:cNvSpPr/>
          <p:nvPr/>
        </p:nvSpPr>
        <p:spPr bwMode="auto">
          <a:xfrm>
            <a:off x="1879040" y="4479888"/>
            <a:ext cx="365760" cy="365760"/>
          </a:xfrm>
          <a:prstGeom prst="ellipse">
            <a:avLst/>
          </a:prstGeom>
          <a:ln w="28575"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26" name="Düz Bağlayıcı 25"/>
          <p:cNvSpPr>
            <a:spLocks noChangeShapeType="1"/>
          </p:cNvSpPr>
          <p:nvPr/>
        </p:nvSpPr>
        <p:spPr bwMode="auto">
          <a:xfrm>
            <a:off x="9097944" y="0"/>
            <a:ext cx="0" cy="6858000"/>
          </a:xfrm>
          <a:prstGeom prst="line">
            <a:avLst/>
          </a:prstGeom>
          <a:noFill/>
          <a:ln w="57150" cap="flat" cmpd="thickThin" algn="ctr">
            <a:solidFill>
              <a:schemeClr val="accent1">
                <a:tint val="60000"/>
              </a:schemeClr>
            </a:solid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6" name="Slayt Numarası Yer Tutucusu 5"/>
          <p:cNvSpPr>
            <a:spLocks noGrp="1"/>
          </p:cNvSpPr>
          <p:nvPr>
            <p:ph type="sldNum" sz="quarter" idx="12"/>
          </p:nvPr>
        </p:nvSpPr>
        <p:spPr bwMode="auto">
          <a:xfrm>
            <a:off x="1340616" y="4928702"/>
            <a:ext cx="609600" cy="517524"/>
          </a:xfrm>
        </p:spPr>
        <p:txBody>
          <a:bodyPr/>
          <a:lstStyle/>
          <a:p>
            <a:fld id="{F302176B-0E47-46AC-8F43-DAB4B8A37D06}" type="slidenum">
              <a:rPr lang="tr-TR" smtClean="0"/>
              <a:t>‹#›</a:t>
            </a:fld>
            <a:endParaRPr lang="tr-TR"/>
          </a:p>
        </p:txBody>
      </p:sp>
    </p:spTree>
  </p:cSld>
  <p:clrMapOvr>
    <a:overrideClrMapping bg1="dk1" tx1="lt1" bg2="dk2" tx2="lt2" accent1="accent1" accent2="accent2" accent3="accent3" accent4="accent4" accent5="accent5" accent6="accent6" hlink="hlink" folHlink="folHlink"/>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İki İçerik">
    <p:spTree>
      <p:nvGrpSpPr>
        <p:cNvPr id="1" name=""/>
        <p:cNvGrpSpPr/>
        <p:nvPr/>
      </p:nvGrpSpPr>
      <p:grpSpPr>
        <a:xfrm>
          <a:off x="0" y="0"/>
          <a:ext cx="0" cy="0"/>
          <a:chOff x="0" y="0"/>
          <a:chExt cx="0" cy="0"/>
        </a:xfrm>
      </p:grpSpPr>
      <p:sp>
        <p:nvSpPr>
          <p:cNvPr id="2" name="Başlık 1"/>
          <p:cNvSpPr>
            <a:spLocks noGrp="1"/>
          </p:cNvSpPr>
          <p:nvPr>
            <p:ph type="title"/>
          </p:nvPr>
        </p:nvSpPr>
        <p:spPr/>
        <p:txBody>
          <a:bodyPr/>
          <a:lstStyle/>
          <a:p>
            <a:r>
              <a:rPr kumimoji="0" lang="tr-TR"/>
              <a:t>Asıl başlık stili için tıklatın</a:t>
            </a:r>
            <a:endParaRPr kumimoji="0" lang="en-US"/>
          </a:p>
        </p:txBody>
      </p:sp>
      <p:sp>
        <p:nvSpPr>
          <p:cNvPr id="5" name="Veri Yer Tutucusu 4"/>
          <p:cNvSpPr>
            <a:spLocks noGrp="1"/>
          </p:cNvSpPr>
          <p:nvPr>
            <p:ph type="dt" sz="half" idx="10"/>
          </p:nvPr>
        </p:nvSpPr>
        <p:spPr/>
        <p:txBody>
          <a:bodyPr/>
          <a:lstStyle/>
          <a:p>
            <a:fld id="{A23720DD-5B6D-40BF-8493-A6B52D484E6B}" type="datetimeFigureOut">
              <a:rPr lang="tr-TR" smtClean="0"/>
              <a:t>10.10.2022</a:t>
            </a:fld>
            <a:endParaRPr lang="tr-TR"/>
          </a:p>
        </p:txBody>
      </p:sp>
      <p:sp>
        <p:nvSpPr>
          <p:cNvPr id="6" name="Altbilgi Yer Tutucusu 5"/>
          <p:cNvSpPr>
            <a:spLocks noGrp="1"/>
          </p:cNvSpPr>
          <p:nvPr>
            <p:ph type="ftr" sz="quarter" idx="11"/>
          </p:nvPr>
        </p:nvSpPr>
        <p:spPr/>
        <p:txBody>
          <a:bodyPr/>
          <a:lstStyle/>
          <a:p>
            <a:endParaRPr lang="tr-TR"/>
          </a:p>
        </p:txBody>
      </p:sp>
      <p:sp>
        <p:nvSpPr>
          <p:cNvPr id="7" name="Slayt Numarası Yer Tutucusu 6"/>
          <p:cNvSpPr>
            <a:spLocks noGrp="1"/>
          </p:cNvSpPr>
          <p:nvPr>
            <p:ph type="sldNum" sz="quarter" idx="12"/>
          </p:nvPr>
        </p:nvSpPr>
        <p:spPr/>
        <p:txBody>
          <a:bodyPr/>
          <a:lstStyle/>
          <a:p>
            <a:fld id="{F302176B-0E47-46AC-8F43-DAB4B8A37D06}" type="slidenum">
              <a:rPr lang="tr-TR" smtClean="0"/>
              <a:t>‹#›</a:t>
            </a:fld>
            <a:endParaRPr lang="tr-TR"/>
          </a:p>
        </p:txBody>
      </p:sp>
      <p:sp>
        <p:nvSpPr>
          <p:cNvPr id="9" name="İçerik Yer Tutucusu 8"/>
          <p:cNvSpPr>
            <a:spLocks noGrp="1"/>
          </p:cNvSpPr>
          <p:nvPr>
            <p:ph sz="quarter" idx="1"/>
          </p:nvPr>
        </p:nvSpPr>
        <p:spPr>
          <a:xfrm>
            <a:off x="457200" y="1600200"/>
            <a:ext cx="3657600" cy="4572000"/>
          </a:xfrm>
        </p:spPr>
        <p:txBody>
          <a:bodyPr/>
          <a:lstStyle/>
          <a:p>
            <a:pPr lvl="0" eaLnBrk="1" latinLnBrk="0" hangingPunct="1"/>
            <a:r>
              <a:rPr lang="tr-TR"/>
              <a:t>Asıl metin stillerini düzenlemek için tıklatın</a:t>
            </a:r>
          </a:p>
          <a:p>
            <a:pPr lvl="1" eaLnBrk="1" latinLnBrk="0" hangingPunct="1"/>
            <a:r>
              <a:rPr lang="tr-TR"/>
              <a:t>İkinci düzey</a:t>
            </a:r>
          </a:p>
          <a:p>
            <a:pPr lvl="2" eaLnBrk="1" latinLnBrk="0" hangingPunct="1"/>
            <a:r>
              <a:rPr lang="tr-TR"/>
              <a:t>Üçüncü düzey</a:t>
            </a:r>
          </a:p>
          <a:p>
            <a:pPr lvl="3" eaLnBrk="1" latinLnBrk="0" hangingPunct="1"/>
            <a:r>
              <a:rPr lang="tr-TR"/>
              <a:t>Dördüncü düzey</a:t>
            </a:r>
          </a:p>
          <a:p>
            <a:pPr lvl="4" eaLnBrk="1" latinLnBrk="0" hangingPunct="1"/>
            <a:r>
              <a:rPr lang="tr-TR"/>
              <a:t>Beşinci düzey</a:t>
            </a:r>
            <a:endParaRPr kumimoji="0" lang="en-US"/>
          </a:p>
        </p:txBody>
      </p:sp>
      <p:sp>
        <p:nvSpPr>
          <p:cNvPr id="11" name="İçerik Yer Tutucusu 10"/>
          <p:cNvSpPr>
            <a:spLocks noGrp="1"/>
          </p:cNvSpPr>
          <p:nvPr>
            <p:ph sz="quarter" idx="2"/>
          </p:nvPr>
        </p:nvSpPr>
        <p:spPr>
          <a:xfrm>
            <a:off x="4270248" y="1600200"/>
            <a:ext cx="3657600" cy="4572000"/>
          </a:xfrm>
        </p:spPr>
        <p:txBody>
          <a:bodyPr/>
          <a:lstStyle/>
          <a:p>
            <a:pPr lvl="0" eaLnBrk="1" latinLnBrk="0" hangingPunct="1"/>
            <a:r>
              <a:rPr lang="tr-TR"/>
              <a:t>Asıl metin stillerini düzenlemek için tıklatın</a:t>
            </a:r>
          </a:p>
          <a:p>
            <a:pPr lvl="1" eaLnBrk="1" latinLnBrk="0" hangingPunct="1"/>
            <a:r>
              <a:rPr lang="tr-TR"/>
              <a:t>İkinci düzey</a:t>
            </a:r>
          </a:p>
          <a:p>
            <a:pPr lvl="2" eaLnBrk="1" latinLnBrk="0" hangingPunct="1"/>
            <a:r>
              <a:rPr lang="tr-TR"/>
              <a:t>Üçüncü düzey</a:t>
            </a:r>
          </a:p>
          <a:p>
            <a:pPr lvl="3" eaLnBrk="1" latinLnBrk="0" hangingPunct="1"/>
            <a:r>
              <a:rPr lang="tr-TR"/>
              <a:t>Dördüncü düzey</a:t>
            </a:r>
          </a:p>
          <a:p>
            <a:pPr lvl="4" eaLnBrk="1" latinLnBrk="0" hangingPunct="1"/>
            <a:r>
              <a:rPr lang="tr-TR"/>
              <a:t>Beşinci düzey</a:t>
            </a:r>
            <a:endParaRPr kumimoji="0"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Karşılaştırma">
    <p:spTree>
      <p:nvGrpSpPr>
        <p:cNvPr id="1" name=""/>
        <p:cNvGrpSpPr/>
        <p:nvPr/>
      </p:nvGrpSpPr>
      <p:grpSpPr>
        <a:xfrm>
          <a:off x="0" y="0"/>
          <a:ext cx="0" cy="0"/>
          <a:chOff x="0" y="0"/>
          <a:chExt cx="0" cy="0"/>
        </a:xfrm>
      </p:grpSpPr>
      <p:sp>
        <p:nvSpPr>
          <p:cNvPr id="2" name="Başlık 1"/>
          <p:cNvSpPr>
            <a:spLocks noGrp="1"/>
          </p:cNvSpPr>
          <p:nvPr>
            <p:ph type="title"/>
          </p:nvPr>
        </p:nvSpPr>
        <p:spPr>
          <a:xfrm>
            <a:off x="457200" y="273050"/>
            <a:ext cx="7543800" cy="1143000"/>
          </a:xfrm>
        </p:spPr>
        <p:txBody>
          <a:bodyPr anchor="b"/>
          <a:lstStyle>
            <a:lvl1pPr>
              <a:defRPr/>
            </a:lvl1pPr>
          </a:lstStyle>
          <a:p>
            <a:r>
              <a:rPr kumimoji="0" lang="tr-TR"/>
              <a:t>Asıl başlık stili için tıklatın</a:t>
            </a:r>
            <a:endParaRPr kumimoji="0" lang="en-US"/>
          </a:p>
        </p:txBody>
      </p:sp>
      <p:sp>
        <p:nvSpPr>
          <p:cNvPr id="7" name="Veri Yer Tutucusu 6"/>
          <p:cNvSpPr>
            <a:spLocks noGrp="1"/>
          </p:cNvSpPr>
          <p:nvPr>
            <p:ph type="dt" sz="half" idx="10"/>
          </p:nvPr>
        </p:nvSpPr>
        <p:spPr/>
        <p:txBody>
          <a:bodyPr/>
          <a:lstStyle/>
          <a:p>
            <a:fld id="{A23720DD-5B6D-40BF-8493-A6B52D484E6B}" type="datetimeFigureOut">
              <a:rPr lang="tr-TR" smtClean="0"/>
              <a:t>10.10.2022</a:t>
            </a:fld>
            <a:endParaRPr lang="tr-TR"/>
          </a:p>
        </p:txBody>
      </p:sp>
      <p:sp>
        <p:nvSpPr>
          <p:cNvPr id="8" name="Altbilgi Yer Tutucusu 7"/>
          <p:cNvSpPr>
            <a:spLocks noGrp="1"/>
          </p:cNvSpPr>
          <p:nvPr>
            <p:ph type="ftr" sz="quarter" idx="11"/>
          </p:nvPr>
        </p:nvSpPr>
        <p:spPr/>
        <p:txBody>
          <a:bodyPr/>
          <a:lstStyle/>
          <a:p>
            <a:endParaRPr lang="tr-TR"/>
          </a:p>
        </p:txBody>
      </p:sp>
      <p:sp>
        <p:nvSpPr>
          <p:cNvPr id="9" name="Slayt Numarası Yer Tutucusu 8"/>
          <p:cNvSpPr>
            <a:spLocks noGrp="1"/>
          </p:cNvSpPr>
          <p:nvPr>
            <p:ph type="sldNum" sz="quarter" idx="12"/>
          </p:nvPr>
        </p:nvSpPr>
        <p:spPr/>
        <p:txBody>
          <a:bodyPr/>
          <a:lstStyle/>
          <a:p>
            <a:fld id="{F302176B-0E47-46AC-8F43-DAB4B8A37D06}" type="slidenum">
              <a:rPr lang="tr-TR" smtClean="0"/>
              <a:t>‹#›</a:t>
            </a:fld>
            <a:endParaRPr lang="tr-TR"/>
          </a:p>
        </p:txBody>
      </p:sp>
      <p:sp>
        <p:nvSpPr>
          <p:cNvPr id="11" name="İçerik Yer Tutucusu 10"/>
          <p:cNvSpPr>
            <a:spLocks noGrp="1"/>
          </p:cNvSpPr>
          <p:nvPr>
            <p:ph sz="quarter" idx="2"/>
          </p:nvPr>
        </p:nvSpPr>
        <p:spPr>
          <a:xfrm>
            <a:off x="457200" y="2362200"/>
            <a:ext cx="3657600" cy="3886200"/>
          </a:xfrm>
        </p:spPr>
        <p:txBody>
          <a:bodyPr/>
          <a:lstStyle/>
          <a:p>
            <a:pPr lvl="0" eaLnBrk="1" latinLnBrk="0" hangingPunct="1"/>
            <a:r>
              <a:rPr lang="tr-TR"/>
              <a:t>Asıl metin stillerini düzenlemek için tıklatın</a:t>
            </a:r>
          </a:p>
          <a:p>
            <a:pPr lvl="1" eaLnBrk="1" latinLnBrk="0" hangingPunct="1"/>
            <a:r>
              <a:rPr lang="tr-TR"/>
              <a:t>İkinci düzey</a:t>
            </a:r>
          </a:p>
          <a:p>
            <a:pPr lvl="2" eaLnBrk="1" latinLnBrk="0" hangingPunct="1"/>
            <a:r>
              <a:rPr lang="tr-TR"/>
              <a:t>Üçüncü düzey</a:t>
            </a:r>
          </a:p>
          <a:p>
            <a:pPr lvl="3" eaLnBrk="1" latinLnBrk="0" hangingPunct="1"/>
            <a:r>
              <a:rPr lang="tr-TR"/>
              <a:t>Dördüncü düzey</a:t>
            </a:r>
          </a:p>
          <a:p>
            <a:pPr lvl="4" eaLnBrk="1" latinLnBrk="0" hangingPunct="1"/>
            <a:r>
              <a:rPr lang="tr-TR"/>
              <a:t>Beşinci düzey</a:t>
            </a:r>
            <a:endParaRPr kumimoji="0" lang="en-US"/>
          </a:p>
        </p:txBody>
      </p:sp>
      <p:sp>
        <p:nvSpPr>
          <p:cNvPr id="13" name="İçerik Yer Tutucusu 12"/>
          <p:cNvSpPr>
            <a:spLocks noGrp="1"/>
          </p:cNvSpPr>
          <p:nvPr>
            <p:ph sz="quarter" idx="4"/>
          </p:nvPr>
        </p:nvSpPr>
        <p:spPr>
          <a:xfrm>
            <a:off x="4371975" y="2362200"/>
            <a:ext cx="3657600" cy="3886200"/>
          </a:xfrm>
        </p:spPr>
        <p:txBody>
          <a:bodyPr/>
          <a:lstStyle/>
          <a:p>
            <a:pPr lvl="0" eaLnBrk="1" latinLnBrk="0" hangingPunct="1"/>
            <a:r>
              <a:rPr lang="tr-TR"/>
              <a:t>Asıl metin stillerini düzenlemek için tıklatın</a:t>
            </a:r>
          </a:p>
          <a:p>
            <a:pPr lvl="1" eaLnBrk="1" latinLnBrk="0" hangingPunct="1"/>
            <a:r>
              <a:rPr lang="tr-TR"/>
              <a:t>İkinci düzey</a:t>
            </a:r>
          </a:p>
          <a:p>
            <a:pPr lvl="2" eaLnBrk="1" latinLnBrk="0" hangingPunct="1"/>
            <a:r>
              <a:rPr lang="tr-TR"/>
              <a:t>Üçüncü düzey</a:t>
            </a:r>
          </a:p>
          <a:p>
            <a:pPr lvl="3" eaLnBrk="1" latinLnBrk="0" hangingPunct="1"/>
            <a:r>
              <a:rPr lang="tr-TR"/>
              <a:t>Dördüncü düzey</a:t>
            </a:r>
          </a:p>
          <a:p>
            <a:pPr lvl="4" eaLnBrk="1" latinLnBrk="0" hangingPunct="1"/>
            <a:r>
              <a:rPr lang="tr-TR"/>
              <a:t>Beşinci düzey</a:t>
            </a:r>
            <a:endParaRPr kumimoji="0" lang="en-US"/>
          </a:p>
        </p:txBody>
      </p:sp>
      <p:sp>
        <p:nvSpPr>
          <p:cNvPr id="12" name="Metin Yer Tutucusu 11"/>
          <p:cNvSpPr>
            <a:spLocks noGrp="1"/>
          </p:cNvSpPr>
          <p:nvPr>
            <p:ph type="body" sz="quarter" idx="1"/>
          </p:nvPr>
        </p:nvSpPr>
        <p:spPr>
          <a:xfrm>
            <a:off x="457200" y="1569720"/>
            <a:ext cx="3657600" cy="658368"/>
          </a:xfrm>
          <a:prstGeom prst="roundRect">
            <a:avLst>
              <a:gd name="adj" fmla="val 16667"/>
            </a:avLst>
          </a:prstGeom>
          <a:solidFill>
            <a:schemeClr val="accent1"/>
          </a:solidFill>
        </p:spPr>
        <p:txBody>
          <a:bodyPr rtlCol="0" anchor="ctr">
            <a:noAutofit/>
          </a:bodyPr>
          <a:lstStyle>
            <a:lvl1pPr marL="0" indent="0">
              <a:buFontTx/>
              <a:buNone/>
              <a:defRPr sz="2000" b="1">
                <a:solidFill>
                  <a:srgbClr val="FFFFFF"/>
                </a:solidFill>
              </a:defRPr>
            </a:lvl1pPr>
          </a:lstStyle>
          <a:p>
            <a:pPr lvl="0" eaLnBrk="1" latinLnBrk="0" hangingPunct="1"/>
            <a:r>
              <a:rPr kumimoji="0" lang="tr-TR"/>
              <a:t>Asıl metin stillerini düzenlemek için tıklatın</a:t>
            </a:r>
          </a:p>
        </p:txBody>
      </p:sp>
      <p:sp>
        <p:nvSpPr>
          <p:cNvPr id="14" name="Metin Yer Tutucusu 13"/>
          <p:cNvSpPr>
            <a:spLocks noGrp="1"/>
          </p:cNvSpPr>
          <p:nvPr>
            <p:ph type="body" sz="quarter" idx="3"/>
          </p:nvPr>
        </p:nvSpPr>
        <p:spPr>
          <a:xfrm>
            <a:off x="4343400" y="1569720"/>
            <a:ext cx="3657600" cy="658368"/>
          </a:xfrm>
          <a:prstGeom prst="roundRect">
            <a:avLst>
              <a:gd name="adj" fmla="val 16667"/>
            </a:avLst>
          </a:prstGeom>
          <a:solidFill>
            <a:schemeClr val="accent1"/>
          </a:solidFill>
        </p:spPr>
        <p:txBody>
          <a:bodyPr rtlCol="0" anchor="ctr">
            <a:noAutofit/>
          </a:bodyPr>
          <a:lstStyle>
            <a:lvl1pPr marL="0" indent="0">
              <a:buFontTx/>
              <a:buNone/>
              <a:defRPr sz="2000" b="1">
                <a:solidFill>
                  <a:srgbClr val="FFFFFF"/>
                </a:solidFill>
              </a:defRPr>
            </a:lvl1pPr>
          </a:lstStyle>
          <a:p>
            <a:pPr lvl="0" eaLnBrk="1" latinLnBrk="0" hangingPunct="1"/>
            <a:r>
              <a:rPr kumimoji="0" lang="tr-TR"/>
              <a:t>Asıl metin stillerini düzenlemek için tıklatın</a:t>
            </a: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Yalnızca Başlık">
    <p:spTree>
      <p:nvGrpSpPr>
        <p:cNvPr id="1" name=""/>
        <p:cNvGrpSpPr/>
        <p:nvPr/>
      </p:nvGrpSpPr>
      <p:grpSpPr>
        <a:xfrm>
          <a:off x="0" y="0"/>
          <a:ext cx="0" cy="0"/>
          <a:chOff x="0" y="0"/>
          <a:chExt cx="0" cy="0"/>
        </a:xfrm>
      </p:grpSpPr>
      <p:sp>
        <p:nvSpPr>
          <p:cNvPr id="2" name="Başlık 1"/>
          <p:cNvSpPr>
            <a:spLocks noGrp="1"/>
          </p:cNvSpPr>
          <p:nvPr>
            <p:ph type="title"/>
          </p:nvPr>
        </p:nvSpPr>
        <p:spPr/>
        <p:txBody>
          <a:bodyPr/>
          <a:lstStyle/>
          <a:p>
            <a:r>
              <a:rPr kumimoji="0" lang="tr-TR"/>
              <a:t>Asıl başlık stili için tıklatın</a:t>
            </a:r>
            <a:endParaRPr kumimoji="0" lang="en-US"/>
          </a:p>
        </p:txBody>
      </p:sp>
      <p:sp>
        <p:nvSpPr>
          <p:cNvPr id="6" name="Veri Yer Tutucusu 5"/>
          <p:cNvSpPr>
            <a:spLocks noGrp="1"/>
          </p:cNvSpPr>
          <p:nvPr>
            <p:ph type="dt" sz="half" idx="10"/>
          </p:nvPr>
        </p:nvSpPr>
        <p:spPr/>
        <p:txBody>
          <a:bodyPr rtlCol="0"/>
          <a:lstStyle/>
          <a:p>
            <a:fld id="{A23720DD-5B6D-40BF-8493-A6B52D484E6B}" type="datetimeFigureOut">
              <a:rPr lang="tr-TR" smtClean="0"/>
              <a:t>10.10.2022</a:t>
            </a:fld>
            <a:endParaRPr lang="tr-TR"/>
          </a:p>
        </p:txBody>
      </p:sp>
      <p:sp>
        <p:nvSpPr>
          <p:cNvPr id="7" name="Slayt Numarası Yer Tutucusu 6"/>
          <p:cNvSpPr>
            <a:spLocks noGrp="1"/>
          </p:cNvSpPr>
          <p:nvPr>
            <p:ph type="sldNum" sz="quarter" idx="11"/>
          </p:nvPr>
        </p:nvSpPr>
        <p:spPr/>
        <p:txBody>
          <a:bodyPr rtlCol="0"/>
          <a:lstStyle/>
          <a:p>
            <a:fld id="{F302176B-0E47-46AC-8F43-DAB4B8A37D06}" type="slidenum">
              <a:rPr lang="tr-TR" smtClean="0"/>
              <a:t>‹#›</a:t>
            </a:fld>
            <a:endParaRPr lang="tr-TR"/>
          </a:p>
        </p:txBody>
      </p:sp>
      <p:sp>
        <p:nvSpPr>
          <p:cNvPr id="8" name="Altbilgi Yer Tutucusu 7"/>
          <p:cNvSpPr>
            <a:spLocks noGrp="1"/>
          </p:cNvSpPr>
          <p:nvPr>
            <p:ph type="ftr" sz="quarter" idx="12"/>
          </p:nvPr>
        </p:nvSpPr>
        <p:spPr/>
        <p:txBody>
          <a:bodyPr rtlCol="0"/>
          <a:lstStyle/>
          <a:p>
            <a:endParaRPr lang="tr-T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oş">
    <p:spTree>
      <p:nvGrpSpPr>
        <p:cNvPr id="1" name=""/>
        <p:cNvGrpSpPr/>
        <p:nvPr/>
      </p:nvGrpSpPr>
      <p:grpSpPr>
        <a:xfrm>
          <a:off x="0" y="0"/>
          <a:ext cx="0" cy="0"/>
          <a:chOff x="0" y="0"/>
          <a:chExt cx="0" cy="0"/>
        </a:xfrm>
      </p:grpSpPr>
      <p:sp>
        <p:nvSpPr>
          <p:cNvPr id="2" name="Veri Yer Tutucusu 1"/>
          <p:cNvSpPr>
            <a:spLocks noGrp="1"/>
          </p:cNvSpPr>
          <p:nvPr>
            <p:ph type="dt" sz="half" idx="10"/>
          </p:nvPr>
        </p:nvSpPr>
        <p:spPr/>
        <p:txBody>
          <a:bodyPr/>
          <a:lstStyle/>
          <a:p>
            <a:fld id="{A23720DD-5B6D-40BF-8493-A6B52D484E6B}" type="datetimeFigureOut">
              <a:rPr lang="tr-TR" smtClean="0"/>
              <a:t>10.10.2022</a:t>
            </a:fld>
            <a:endParaRPr lang="tr-TR"/>
          </a:p>
        </p:txBody>
      </p:sp>
      <p:sp>
        <p:nvSpPr>
          <p:cNvPr id="3" name="Altbilgi Yer Tutucusu 2"/>
          <p:cNvSpPr>
            <a:spLocks noGrp="1"/>
          </p:cNvSpPr>
          <p:nvPr>
            <p:ph type="ftr" sz="quarter" idx="11"/>
          </p:nvPr>
        </p:nvSpPr>
        <p:spPr/>
        <p:txBody>
          <a:bodyPr/>
          <a:lstStyle/>
          <a:p>
            <a:endParaRPr lang="tr-TR"/>
          </a:p>
        </p:txBody>
      </p:sp>
      <p:sp>
        <p:nvSpPr>
          <p:cNvPr id="4" name="Slayt Numarası Yer Tutucusu 3"/>
          <p:cNvSpPr>
            <a:spLocks noGrp="1"/>
          </p:cNvSpPr>
          <p:nvPr>
            <p:ph type="sldNum" sz="quarter" idx="12"/>
          </p:nvPr>
        </p:nvSpPr>
        <p:spPr/>
        <p:txBody>
          <a:bodyPr/>
          <a:lstStyle/>
          <a:p>
            <a:fld id="{F302176B-0E47-46AC-8F43-DAB4B8A37D06}" type="slidenum">
              <a:rPr lang="tr-TR" smtClean="0"/>
              <a:t>‹#›</a:t>
            </a:fld>
            <a:endParaRPr lang="tr-T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Başlıklı İçerik">
    <p:bg>
      <p:bgRef idx="1001">
        <a:schemeClr val="bg1"/>
      </p:bgRef>
    </p:bg>
    <p:spTree>
      <p:nvGrpSpPr>
        <p:cNvPr id="1" name=""/>
        <p:cNvGrpSpPr/>
        <p:nvPr/>
      </p:nvGrpSpPr>
      <p:grpSpPr>
        <a:xfrm>
          <a:off x="0" y="0"/>
          <a:ext cx="0" cy="0"/>
          <a:chOff x="0" y="0"/>
          <a:chExt cx="0" cy="0"/>
        </a:xfrm>
      </p:grpSpPr>
      <p:sp>
        <p:nvSpPr>
          <p:cNvPr id="10" name="Düz Bağlayıcı 9"/>
          <p:cNvSpPr>
            <a:spLocks noChangeShapeType="1"/>
          </p:cNvSpPr>
          <p:nvPr/>
        </p:nvSpPr>
        <p:spPr bwMode="auto">
          <a:xfrm>
            <a:off x="8763000" y="0"/>
            <a:ext cx="0" cy="6858000"/>
          </a:xfrm>
          <a:prstGeom prst="line">
            <a:avLst/>
          </a:prstGeom>
          <a:noFill/>
          <a:ln w="38100" cap="flat" cmpd="sng" algn="ctr">
            <a:solidFill>
              <a:schemeClr val="accent1">
                <a:tint val="60000"/>
                <a:alpha val="93000"/>
              </a:schemeClr>
            </a:solidFill>
            <a:prstDash val="solid"/>
            <a:round/>
            <a:headEnd type="none" w="med" len="med"/>
            <a:tailEnd type="none" w="med" len="med"/>
          </a:ln>
          <a:effectLst/>
        </p:spPr>
        <p:txBody>
          <a:bodyPr vert="horz" wrap="square" lIns="91440" tIns="45720" rIns="91440" bIns="45720" anchor="t" compatLnSpc="1"/>
          <a:lstStyle/>
          <a:p>
            <a:endParaRPr kumimoji="0" lang="en-US" dirty="0"/>
          </a:p>
        </p:txBody>
      </p:sp>
      <p:sp>
        <p:nvSpPr>
          <p:cNvPr id="2" name="Başlık 1"/>
          <p:cNvSpPr>
            <a:spLocks noGrp="1"/>
          </p:cNvSpPr>
          <p:nvPr>
            <p:ph type="title"/>
          </p:nvPr>
        </p:nvSpPr>
        <p:spPr>
          <a:xfrm rot="5400000">
            <a:off x="3371850" y="3200400"/>
            <a:ext cx="6309360" cy="457200"/>
          </a:xfrm>
        </p:spPr>
        <p:txBody>
          <a:bodyPr anchor="b"/>
          <a:lstStyle>
            <a:lvl1pPr algn="l">
              <a:buNone/>
              <a:defRPr sz="2000" b="1" cap="small" baseline="0"/>
            </a:lvl1pPr>
          </a:lstStyle>
          <a:p>
            <a:r>
              <a:rPr kumimoji="0" lang="tr-TR"/>
              <a:t>Asıl başlık stili için tıklatın</a:t>
            </a:r>
            <a:endParaRPr kumimoji="0" lang="en-US"/>
          </a:p>
        </p:txBody>
      </p:sp>
      <p:sp>
        <p:nvSpPr>
          <p:cNvPr id="3" name="Metin Yer Tutucusu 2"/>
          <p:cNvSpPr>
            <a:spLocks noGrp="1"/>
          </p:cNvSpPr>
          <p:nvPr>
            <p:ph type="body" idx="2"/>
          </p:nvPr>
        </p:nvSpPr>
        <p:spPr>
          <a:xfrm>
            <a:off x="6812280" y="274320"/>
            <a:ext cx="1527048" cy="4983480"/>
          </a:xfrm>
        </p:spPr>
        <p:txBody>
          <a:bodyPr/>
          <a:lstStyle>
            <a:lvl1pPr marL="0" indent="0">
              <a:spcBef>
                <a:spcPts val="400"/>
              </a:spcBef>
              <a:spcAft>
                <a:spcPts val="1000"/>
              </a:spcAft>
              <a:buNone/>
              <a:defRPr sz="1200"/>
            </a:lvl1pPr>
            <a:lvl2pPr>
              <a:buNone/>
              <a:defRPr sz="1200"/>
            </a:lvl2pPr>
            <a:lvl3pPr>
              <a:buNone/>
              <a:defRPr sz="1000"/>
            </a:lvl3pPr>
            <a:lvl4pPr>
              <a:buNone/>
              <a:defRPr sz="900"/>
            </a:lvl4pPr>
            <a:lvl5pPr>
              <a:buNone/>
              <a:defRPr sz="900"/>
            </a:lvl5pPr>
          </a:lstStyle>
          <a:p>
            <a:pPr lvl="0" eaLnBrk="1" latinLnBrk="0" hangingPunct="1"/>
            <a:r>
              <a:rPr kumimoji="0" lang="tr-TR"/>
              <a:t>Asıl metin stillerini düzenlemek için tıklatın</a:t>
            </a:r>
          </a:p>
        </p:txBody>
      </p:sp>
      <p:sp>
        <p:nvSpPr>
          <p:cNvPr id="8" name="Düz Bağlayıcı 7"/>
          <p:cNvSpPr>
            <a:spLocks noChangeShapeType="1"/>
          </p:cNvSpPr>
          <p:nvPr/>
        </p:nvSpPr>
        <p:spPr bwMode="auto">
          <a:xfrm>
            <a:off x="6248400" y="0"/>
            <a:ext cx="0" cy="6858000"/>
          </a:xfrm>
          <a:prstGeom prst="line">
            <a:avLst/>
          </a:prstGeom>
          <a:noFill/>
          <a:ln w="38100" cap="flat" cmpd="sng" algn="ctr">
            <a:solidFill>
              <a:schemeClr val="accent1">
                <a:tint val="60000"/>
              </a:schemeClr>
            </a:solidFill>
            <a:prstDash val="solid"/>
            <a:round/>
            <a:headEnd type="none" w="med" len="med"/>
            <a:tailEnd type="none" w="med" len="med"/>
          </a:ln>
          <a:effectLst/>
        </p:spPr>
        <p:txBody>
          <a:bodyPr vert="horz" wrap="square" lIns="91440" tIns="45720" rIns="91440" bIns="45720" anchor="t" compatLnSpc="1"/>
          <a:lstStyle/>
          <a:p>
            <a:endParaRPr kumimoji="0" lang="en-US" dirty="0"/>
          </a:p>
        </p:txBody>
      </p:sp>
      <p:sp>
        <p:nvSpPr>
          <p:cNvPr id="9" name="Düz Bağlayıcı 8"/>
          <p:cNvSpPr>
            <a:spLocks noChangeShapeType="1"/>
          </p:cNvSpPr>
          <p:nvPr/>
        </p:nvSpPr>
        <p:spPr bwMode="auto">
          <a:xfrm>
            <a:off x="6192296" y="0"/>
            <a:ext cx="0" cy="6858000"/>
          </a:xfrm>
          <a:prstGeom prst="line">
            <a:avLst/>
          </a:prstGeom>
          <a:noFill/>
          <a:ln w="12700" cap="flat" cmpd="sng" algn="ctr">
            <a:solidFill>
              <a:schemeClr val="accent1"/>
            </a:solidFill>
            <a:prstDash val="solid"/>
            <a:round/>
            <a:headEnd type="none" w="med" len="med"/>
            <a:tailEnd type="none" w="med" len="med"/>
          </a:ln>
          <a:effectLst/>
        </p:spPr>
        <p:txBody>
          <a:bodyPr vert="horz" wrap="square" lIns="91440" tIns="45720" rIns="91440" bIns="45720" anchor="t" compatLnSpc="1"/>
          <a:lstStyle/>
          <a:p>
            <a:endParaRPr kumimoji="0" lang="en-US" dirty="0"/>
          </a:p>
        </p:txBody>
      </p:sp>
      <p:sp>
        <p:nvSpPr>
          <p:cNvPr id="11" name="Düz Bağlayıcı 10"/>
          <p:cNvSpPr>
            <a:spLocks noChangeShapeType="1"/>
          </p:cNvSpPr>
          <p:nvPr/>
        </p:nvSpPr>
        <p:spPr bwMode="auto">
          <a:xfrm>
            <a:off x="8991600" y="0"/>
            <a:ext cx="0" cy="6858000"/>
          </a:xfrm>
          <a:prstGeom prst="line">
            <a:avLst/>
          </a:prstGeom>
          <a:noFill/>
          <a:ln w="19050" cap="flat" cmpd="sng" algn="ctr">
            <a:solidFill>
              <a:schemeClr val="accent1"/>
            </a:solid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12" name="Dikdörtgen 11"/>
          <p:cNvSpPr/>
          <p:nvPr/>
        </p:nvSpPr>
        <p:spPr bwMode="auto">
          <a:xfrm>
            <a:off x="8839200" y="0"/>
            <a:ext cx="304800" cy="6858000"/>
          </a:xfrm>
          <a:prstGeom prst="rect">
            <a:avLst/>
          </a:prstGeom>
          <a:solidFill>
            <a:schemeClr val="accent1">
              <a:tint val="60000"/>
              <a:alpha val="87000"/>
            </a:schemeClr>
          </a:solidFill>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3" name="Düz Bağlayıcı 12"/>
          <p:cNvSpPr>
            <a:spLocks noChangeShapeType="1"/>
          </p:cNvSpPr>
          <p:nvPr/>
        </p:nvSpPr>
        <p:spPr bwMode="auto">
          <a:xfrm>
            <a:off x="8915400" y="0"/>
            <a:ext cx="0" cy="6858000"/>
          </a:xfrm>
          <a:prstGeom prst="line">
            <a:avLst/>
          </a:prstGeom>
          <a:noFill/>
          <a:ln w="9525" cap="flat" cmpd="sng" algn="ctr">
            <a:solidFill>
              <a:schemeClr val="accent1"/>
            </a:solid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14" name="Oval 13"/>
          <p:cNvSpPr/>
          <p:nvPr/>
        </p:nvSpPr>
        <p:spPr>
          <a:xfrm>
            <a:off x="8156448" y="5715000"/>
            <a:ext cx="548640" cy="548640"/>
          </a:xfrm>
          <a:prstGeom prst="ellipse">
            <a:avLst/>
          </a:prstGeom>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18" name="İçerik Yer Tutucusu 17"/>
          <p:cNvSpPr>
            <a:spLocks noGrp="1"/>
          </p:cNvSpPr>
          <p:nvPr>
            <p:ph sz="quarter" idx="1"/>
          </p:nvPr>
        </p:nvSpPr>
        <p:spPr>
          <a:xfrm>
            <a:off x="304800" y="274320"/>
            <a:ext cx="5638800" cy="6327648"/>
          </a:xfrm>
        </p:spPr>
        <p:txBody>
          <a:bodyPr/>
          <a:lstStyle/>
          <a:p>
            <a:pPr lvl="0" eaLnBrk="1" latinLnBrk="0" hangingPunct="1"/>
            <a:r>
              <a:rPr lang="tr-TR"/>
              <a:t>Asıl metin stillerini düzenlemek için tıklatın</a:t>
            </a:r>
          </a:p>
          <a:p>
            <a:pPr lvl="1" eaLnBrk="1" latinLnBrk="0" hangingPunct="1"/>
            <a:r>
              <a:rPr lang="tr-TR"/>
              <a:t>İkinci düzey</a:t>
            </a:r>
          </a:p>
          <a:p>
            <a:pPr lvl="2" eaLnBrk="1" latinLnBrk="0" hangingPunct="1"/>
            <a:r>
              <a:rPr lang="tr-TR"/>
              <a:t>Üçüncü düzey</a:t>
            </a:r>
          </a:p>
          <a:p>
            <a:pPr lvl="3" eaLnBrk="1" latinLnBrk="0" hangingPunct="1"/>
            <a:r>
              <a:rPr lang="tr-TR"/>
              <a:t>Dördüncü düzey</a:t>
            </a:r>
          </a:p>
          <a:p>
            <a:pPr lvl="4" eaLnBrk="1" latinLnBrk="0" hangingPunct="1"/>
            <a:r>
              <a:rPr lang="tr-TR"/>
              <a:t>Beşinci düzey</a:t>
            </a:r>
            <a:endParaRPr kumimoji="0" lang="en-US"/>
          </a:p>
        </p:txBody>
      </p:sp>
      <p:sp>
        <p:nvSpPr>
          <p:cNvPr id="21" name="Veri Yer Tutucusu 20"/>
          <p:cNvSpPr>
            <a:spLocks noGrp="1"/>
          </p:cNvSpPr>
          <p:nvPr>
            <p:ph type="dt" sz="half" idx="14"/>
          </p:nvPr>
        </p:nvSpPr>
        <p:spPr/>
        <p:txBody>
          <a:bodyPr rtlCol="0"/>
          <a:lstStyle/>
          <a:p>
            <a:fld id="{A23720DD-5B6D-40BF-8493-A6B52D484E6B}" type="datetimeFigureOut">
              <a:rPr lang="tr-TR" smtClean="0"/>
              <a:t>10.10.2022</a:t>
            </a:fld>
            <a:endParaRPr lang="tr-TR"/>
          </a:p>
        </p:txBody>
      </p:sp>
      <p:sp>
        <p:nvSpPr>
          <p:cNvPr id="22" name="Slayt Numarası Yer Tutucusu 21"/>
          <p:cNvSpPr>
            <a:spLocks noGrp="1"/>
          </p:cNvSpPr>
          <p:nvPr>
            <p:ph type="sldNum" sz="quarter" idx="15"/>
          </p:nvPr>
        </p:nvSpPr>
        <p:spPr/>
        <p:txBody>
          <a:bodyPr rtlCol="0"/>
          <a:lstStyle/>
          <a:p>
            <a:fld id="{F302176B-0E47-46AC-8F43-DAB4B8A37D06}" type="slidenum">
              <a:rPr lang="tr-TR" smtClean="0"/>
              <a:t>‹#›</a:t>
            </a:fld>
            <a:endParaRPr lang="tr-TR"/>
          </a:p>
        </p:txBody>
      </p:sp>
      <p:sp>
        <p:nvSpPr>
          <p:cNvPr id="23" name="Altbilgi Yer Tutucusu 22"/>
          <p:cNvSpPr>
            <a:spLocks noGrp="1"/>
          </p:cNvSpPr>
          <p:nvPr>
            <p:ph type="ftr" sz="quarter" idx="16"/>
          </p:nvPr>
        </p:nvSpPr>
        <p:spPr/>
        <p:txBody>
          <a:bodyPr rtlCol="0"/>
          <a:lstStyle/>
          <a:p>
            <a:endParaRPr lang="tr-TR"/>
          </a:p>
        </p:txBody>
      </p:sp>
    </p:spTree>
  </p:cSld>
  <p:clrMapOvr>
    <a:overrideClrMapping bg1="lt1" tx1="dk1" bg2="lt2" tx2="dk2" accent1="accent1" accent2="accent2" accent3="accent3" accent4="accent4" accent5="accent5" accent6="accent6" hlink="hlink" folHlink="folHlink"/>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Başlıklı Resim">
    <p:spTree>
      <p:nvGrpSpPr>
        <p:cNvPr id="1" name=""/>
        <p:cNvGrpSpPr/>
        <p:nvPr/>
      </p:nvGrpSpPr>
      <p:grpSpPr>
        <a:xfrm>
          <a:off x="0" y="0"/>
          <a:ext cx="0" cy="0"/>
          <a:chOff x="0" y="0"/>
          <a:chExt cx="0" cy="0"/>
        </a:xfrm>
      </p:grpSpPr>
      <p:sp>
        <p:nvSpPr>
          <p:cNvPr id="9" name="Düz Bağlayıcı 8"/>
          <p:cNvSpPr>
            <a:spLocks noChangeShapeType="1"/>
          </p:cNvSpPr>
          <p:nvPr/>
        </p:nvSpPr>
        <p:spPr bwMode="auto">
          <a:xfrm>
            <a:off x="8763000" y="0"/>
            <a:ext cx="0" cy="6858000"/>
          </a:xfrm>
          <a:prstGeom prst="line">
            <a:avLst/>
          </a:prstGeom>
          <a:noFill/>
          <a:ln w="38100" cap="flat" cmpd="sng" algn="ctr">
            <a:solidFill>
              <a:schemeClr val="accent1">
                <a:tint val="60000"/>
              </a:schemeClr>
            </a:solid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13" name="Oval 12"/>
          <p:cNvSpPr/>
          <p:nvPr/>
        </p:nvSpPr>
        <p:spPr>
          <a:xfrm>
            <a:off x="8156448" y="5715000"/>
            <a:ext cx="548640" cy="548640"/>
          </a:xfrm>
          <a:prstGeom prst="ellipse">
            <a:avLst/>
          </a:prstGeom>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2" name="Başlık 1"/>
          <p:cNvSpPr>
            <a:spLocks noGrp="1"/>
          </p:cNvSpPr>
          <p:nvPr>
            <p:ph type="title"/>
          </p:nvPr>
        </p:nvSpPr>
        <p:spPr>
          <a:xfrm rot="5400000">
            <a:off x="3350133" y="3200400"/>
            <a:ext cx="6309360" cy="457200"/>
          </a:xfrm>
        </p:spPr>
        <p:txBody>
          <a:bodyPr anchor="b"/>
          <a:lstStyle>
            <a:lvl1pPr algn="l">
              <a:buNone/>
              <a:defRPr sz="2000" b="1"/>
            </a:lvl1pPr>
          </a:lstStyle>
          <a:p>
            <a:r>
              <a:rPr kumimoji="0" lang="tr-TR"/>
              <a:t>Asıl başlık stili için tıklatın</a:t>
            </a:r>
            <a:endParaRPr kumimoji="0" lang="en-US"/>
          </a:p>
        </p:txBody>
      </p:sp>
      <p:sp>
        <p:nvSpPr>
          <p:cNvPr id="3" name="Resim Yer Tutucusu 2"/>
          <p:cNvSpPr>
            <a:spLocks noGrp="1"/>
          </p:cNvSpPr>
          <p:nvPr>
            <p:ph type="pic" idx="1"/>
          </p:nvPr>
        </p:nvSpPr>
        <p:spPr>
          <a:xfrm>
            <a:off x="0" y="0"/>
            <a:ext cx="6172200" cy="6858000"/>
          </a:xfrm>
          <a:solidFill>
            <a:schemeClr val="bg2"/>
          </a:solidFill>
          <a:ln w="1270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lstStyle>
            <a:lvl1pPr marL="0" indent="0">
              <a:buNone/>
              <a:defRPr sz="3200"/>
            </a:lvl1pPr>
          </a:lstStyle>
          <a:p>
            <a:pPr algn="ctr" eaLnBrk="1" latinLnBrk="0" hangingPunct="1">
              <a:buFontTx/>
              <a:buNone/>
            </a:pPr>
            <a:r>
              <a:rPr kumimoji="0" lang="tr-TR"/>
              <a:t>Resim eklemek için simgeyi tıklatın</a:t>
            </a:r>
            <a:endParaRPr kumimoji="0" lang="en-US" dirty="0"/>
          </a:p>
        </p:txBody>
      </p:sp>
      <p:sp>
        <p:nvSpPr>
          <p:cNvPr id="4" name="Metin Yer Tutucusu 3"/>
          <p:cNvSpPr>
            <a:spLocks noGrp="1"/>
          </p:cNvSpPr>
          <p:nvPr>
            <p:ph type="body" sz="half" idx="2"/>
          </p:nvPr>
        </p:nvSpPr>
        <p:spPr>
          <a:xfrm>
            <a:off x="6765798" y="264795"/>
            <a:ext cx="1524000" cy="4956048"/>
          </a:xfrm>
        </p:spPr>
        <p:txBody>
          <a:bodyPr rot="0" spcFirstLastPara="0" vertOverflow="overflow" horzOverflow="overflow" vert="horz" wrap="square" lIns="91440" tIns="45720" rIns="91440" bIns="45720" numCol="1" spcCol="274320" rtlCol="0" fromWordArt="0" anchor="t" anchorCtr="0" forceAA="0" compatLnSpc="1">
            <a:normAutofit/>
          </a:bodyPr>
          <a:lstStyle>
            <a:lvl1pPr marL="0" indent="0">
              <a:spcBef>
                <a:spcPts val="100"/>
              </a:spcBef>
              <a:spcAft>
                <a:spcPts val="400"/>
              </a:spcAft>
              <a:buFontTx/>
              <a:buNone/>
              <a:defRPr sz="1200"/>
            </a:lvl1pPr>
            <a:lvl2pPr>
              <a:defRPr sz="1200"/>
            </a:lvl2pPr>
            <a:lvl3pPr>
              <a:defRPr sz="1000"/>
            </a:lvl3pPr>
            <a:lvl4pPr>
              <a:defRPr sz="900"/>
            </a:lvl4pPr>
            <a:lvl5pPr>
              <a:defRPr sz="900"/>
            </a:lvl5pPr>
          </a:lstStyle>
          <a:p>
            <a:pPr lvl="0" eaLnBrk="1" latinLnBrk="0" hangingPunct="1"/>
            <a:r>
              <a:rPr kumimoji="0" lang="tr-TR"/>
              <a:t>Asıl metin stillerini düzenlemek için tıklatın</a:t>
            </a:r>
          </a:p>
        </p:txBody>
      </p:sp>
      <p:sp>
        <p:nvSpPr>
          <p:cNvPr id="10" name="Düz Bağlayıcı 9"/>
          <p:cNvSpPr>
            <a:spLocks noChangeShapeType="1"/>
          </p:cNvSpPr>
          <p:nvPr/>
        </p:nvSpPr>
        <p:spPr bwMode="auto">
          <a:xfrm>
            <a:off x="8991600" y="0"/>
            <a:ext cx="0" cy="6858000"/>
          </a:xfrm>
          <a:prstGeom prst="line">
            <a:avLst/>
          </a:prstGeom>
          <a:noFill/>
          <a:ln w="9525" cap="flat" cmpd="sng" algn="ctr">
            <a:solidFill>
              <a:schemeClr val="tx1"/>
            </a:solid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11" name="Dikdörtgen 10"/>
          <p:cNvSpPr/>
          <p:nvPr/>
        </p:nvSpPr>
        <p:spPr bwMode="auto">
          <a:xfrm>
            <a:off x="8839200" y="0"/>
            <a:ext cx="304800" cy="6858000"/>
          </a:xfrm>
          <a:prstGeom prst="rect">
            <a:avLst/>
          </a:prstGeom>
          <a:solidFill>
            <a:schemeClr val="accent1">
              <a:tint val="60000"/>
            </a:schemeClr>
          </a:solidFill>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2" name="Düz Bağlayıcı 11"/>
          <p:cNvSpPr>
            <a:spLocks noChangeShapeType="1"/>
          </p:cNvSpPr>
          <p:nvPr/>
        </p:nvSpPr>
        <p:spPr bwMode="auto">
          <a:xfrm>
            <a:off x="8915400" y="0"/>
            <a:ext cx="0" cy="6858000"/>
          </a:xfrm>
          <a:prstGeom prst="line">
            <a:avLst/>
          </a:prstGeom>
          <a:noFill/>
          <a:ln w="9525" cap="flat" cmpd="sng" algn="ctr">
            <a:solidFill>
              <a:schemeClr val="accent1"/>
            </a:solid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19" name="Düz Bağlayıcı 18"/>
          <p:cNvSpPr>
            <a:spLocks noChangeShapeType="1"/>
          </p:cNvSpPr>
          <p:nvPr/>
        </p:nvSpPr>
        <p:spPr bwMode="auto">
          <a:xfrm>
            <a:off x="6248400" y="0"/>
            <a:ext cx="0" cy="6858000"/>
          </a:xfrm>
          <a:prstGeom prst="line">
            <a:avLst/>
          </a:prstGeom>
          <a:noFill/>
          <a:ln w="38100" cap="flat" cmpd="sng" algn="ctr">
            <a:solidFill>
              <a:schemeClr val="accent1">
                <a:tint val="60000"/>
              </a:schemeClr>
            </a:solidFill>
            <a:prstDash val="solid"/>
            <a:round/>
            <a:headEnd type="none" w="med" len="med"/>
            <a:tailEnd type="none" w="med" len="med"/>
          </a:ln>
          <a:effectLst/>
        </p:spPr>
        <p:txBody>
          <a:bodyPr vert="horz" wrap="square" lIns="91440" tIns="45720" rIns="91440" bIns="45720" anchor="t" compatLnSpc="1"/>
          <a:lstStyle/>
          <a:p>
            <a:endParaRPr kumimoji="0" lang="en-US" dirty="0"/>
          </a:p>
        </p:txBody>
      </p:sp>
      <p:sp>
        <p:nvSpPr>
          <p:cNvPr id="20" name="Düz Bağlayıcı 19"/>
          <p:cNvSpPr>
            <a:spLocks noChangeShapeType="1"/>
          </p:cNvSpPr>
          <p:nvPr/>
        </p:nvSpPr>
        <p:spPr bwMode="auto">
          <a:xfrm>
            <a:off x="6192296" y="0"/>
            <a:ext cx="0" cy="6858000"/>
          </a:xfrm>
          <a:prstGeom prst="line">
            <a:avLst/>
          </a:prstGeom>
          <a:noFill/>
          <a:ln w="12700" cap="flat" cmpd="sng" algn="ctr">
            <a:solidFill>
              <a:schemeClr val="accent1"/>
            </a:solidFill>
            <a:prstDash val="solid"/>
            <a:round/>
            <a:headEnd type="none" w="med" len="med"/>
            <a:tailEnd type="none" w="med" len="med"/>
          </a:ln>
          <a:effectLst/>
        </p:spPr>
        <p:txBody>
          <a:bodyPr vert="horz" wrap="square" lIns="91440" tIns="45720" rIns="91440" bIns="45720" anchor="t" compatLnSpc="1"/>
          <a:lstStyle/>
          <a:p>
            <a:endParaRPr kumimoji="0" lang="en-US" dirty="0"/>
          </a:p>
        </p:txBody>
      </p:sp>
      <p:sp>
        <p:nvSpPr>
          <p:cNvPr id="17" name="Veri Yer Tutucusu 16"/>
          <p:cNvSpPr>
            <a:spLocks noGrp="1"/>
          </p:cNvSpPr>
          <p:nvPr>
            <p:ph type="dt" sz="half" idx="10"/>
          </p:nvPr>
        </p:nvSpPr>
        <p:spPr/>
        <p:txBody>
          <a:bodyPr rtlCol="0"/>
          <a:lstStyle/>
          <a:p>
            <a:fld id="{A23720DD-5B6D-40BF-8493-A6B52D484E6B}" type="datetimeFigureOut">
              <a:rPr lang="tr-TR" smtClean="0"/>
              <a:t>10.10.2022</a:t>
            </a:fld>
            <a:endParaRPr lang="tr-TR"/>
          </a:p>
        </p:txBody>
      </p:sp>
      <p:sp>
        <p:nvSpPr>
          <p:cNvPr id="18" name="Slayt Numarası Yer Tutucusu 17"/>
          <p:cNvSpPr>
            <a:spLocks noGrp="1"/>
          </p:cNvSpPr>
          <p:nvPr>
            <p:ph type="sldNum" sz="quarter" idx="11"/>
          </p:nvPr>
        </p:nvSpPr>
        <p:spPr/>
        <p:txBody>
          <a:bodyPr rtlCol="0"/>
          <a:lstStyle/>
          <a:p>
            <a:fld id="{F302176B-0E47-46AC-8F43-DAB4B8A37D06}" type="slidenum">
              <a:rPr lang="tr-TR" smtClean="0"/>
              <a:t>‹#›</a:t>
            </a:fld>
            <a:endParaRPr lang="tr-TR"/>
          </a:p>
        </p:txBody>
      </p:sp>
      <p:sp>
        <p:nvSpPr>
          <p:cNvPr id="21" name="Altbilgi Yer Tutucusu 20"/>
          <p:cNvSpPr>
            <a:spLocks noGrp="1"/>
          </p:cNvSpPr>
          <p:nvPr>
            <p:ph type="ftr" sz="quarter" idx="12"/>
          </p:nvPr>
        </p:nvSpPr>
        <p:spPr/>
        <p:txBody>
          <a:bodyPr rtlCol="0"/>
          <a:lstStyle/>
          <a:p>
            <a:endParaRPr lang="tr-T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Başlık, Dikey Metin">
    <p:spTree>
      <p:nvGrpSpPr>
        <p:cNvPr id="1" name=""/>
        <p:cNvGrpSpPr/>
        <p:nvPr/>
      </p:nvGrpSpPr>
      <p:grpSpPr>
        <a:xfrm>
          <a:off x="0" y="0"/>
          <a:ext cx="0" cy="0"/>
          <a:chOff x="0" y="0"/>
          <a:chExt cx="0" cy="0"/>
        </a:xfrm>
      </p:grpSpPr>
      <p:sp>
        <p:nvSpPr>
          <p:cNvPr id="2" name="Başlık 1"/>
          <p:cNvSpPr>
            <a:spLocks noGrp="1"/>
          </p:cNvSpPr>
          <p:nvPr>
            <p:ph type="title"/>
          </p:nvPr>
        </p:nvSpPr>
        <p:spPr/>
        <p:txBody>
          <a:bodyPr/>
          <a:lstStyle/>
          <a:p>
            <a:r>
              <a:rPr kumimoji="0" lang="tr-TR"/>
              <a:t>Asıl başlık stili için tıklatın</a:t>
            </a:r>
            <a:endParaRPr kumimoji="0" lang="en-US"/>
          </a:p>
        </p:txBody>
      </p:sp>
      <p:sp>
        <p:nvSpPr>
          <p:cNvPr id="3" name="Dikey Metin Yer Tutucusu 2"/>
          <p:cNvSpPr>
            <a:spLocks noGrp="1"/>
          </p:cNvSpPr>
          <p:nvPr>
            <p:ph type="body" orient="vert" idx="1"/>
          </p:nvPr>
        </p:nvSpPr>
        <p:spPr/>
        <p:txBody>
          <a:bodyPr vert="eaVert"/>
          <a:lstStyle/>
          <a:p>
            <a:pPr lvl="0" eaLnBrk="1" latinLnBrk="0" hangingPunct="1"/>
            <a:r>
              <a:rPr lang="tr-TR"/>
              <a:t>Asıl metin stillerini düzenlemek için tıklatın</a:t>
            </a:r>
          </a:p>
          <a:p>
            <a:pPr lvl="1" eaLnBrk="1" latinLnBrk="0" hangingPunct="1"/>
            <a:r>
              <a:rPr lang="tr-TR"/>
              <a:t>İkinci düzey</a:t>
            </a:r>
          </a:p>
          <a:p>
            <a:pPr lvl="2" eaLnBrk="1" latinLnBrk="0" hangingPunct="1"/>
            <a:r>
              <a:rPr lang="tr-TR"/>
              <a:t>Üçüncü düzey</a:t>
            </a:r>
          </a:p>
          <a:p>
            <a:pPr lvl="3" eaLnBrk="1" latinLnBrk="0" hangingPunct="1"/>
            <a:r>
              <a:rPr lang="tr-TR"/>
              <a:t>Dördüncü düzey</a:t>
            </a:r>
          </a:p>
          <a:p>
            <a:pPr lvl="4" eaLnBrk="1" latinLnBrk="0" hangingPunct="1"/>
            <a:r>
              <a:rPr lang="tr-TR"/>
              <a:t>Beşinci düzey</a:t>
            </a:r>
            <a:endParaRPr kumimoji="0" lang="en-US"/>
          </a:p>
        </p:txBody>
      </p:sp>
      <p:sp>
        <p:nvSpPr>
          <p:cNvPr id="4" name="Veri Yer Tutucusu 3"/>
          <p:cNvSpPr>
            <a:spLocks noGrp="1"/>
          </p:cNvSpPr>
          <p:nvPr>
            <p:ph type="dt" sz="half" idx="10"/>
          </p:nvPr>
        </p:nvSpPr>
        <p:spPr/>
        <p:txBody>
          <a:bodyPr/>
          <a:lstStyle/>
          <a:p>
            <a:fld id="{A23720DD-5B6D-40BF-8493-A6B52D484E6B}" type="datetimeFigureOut">
              <a:rPr lang="tr-TR" smtClean="0"/>
              <a:t>10.10.2022</a:t>
            </a:fld>
            <a:endParaRPr lang="tr-TR"/>
          </a:p>
        </p:txBody>
      </p:sp>
      <p:sp>
        <p:nvSpPr>
          <p:cNvPr id="5" name="Altbilgi Yer Tutucusu 4"/>
          <p:cNvSpPr>
            <a:spLocks noGrp="1"/>
          </p:cNvSpPr>
          <p:nvPr>
            <p:ph type="ftr" sz="quarter" idx="11"/>
          </p:nvPr>
        </p:nvSpPr>
        <p:spPr/>
        <p:txBody>
          <a:bodyPr/>
          <a:lstStyle/>
          <a:p>
            <a:endParaRPr lang="tr-TR"/>
          </a:p>
        </p:txBody>
      </p:sp>
      <p:sp>
        <p:nvSpPr>
          <p:cNvPr id="6" name="Slayt Numarası Yer Tutucusu 5"/>
          <p:cNvSpPr>
            <a:spLocks noGrp="1"/>
          </p:cNvSpPr>
          <p:nvPr>
            <p:ph type="sldNum" sz="quarter" idx="12"/>
          </p:nvPr>
        </p:nvSpPr>
        <p:spPr/>
        <p:txBody>
          <a:bodyPr/>
          <a:lstStyle/>
          <a:p>
            <a:fld id="{F302176B-0E47-46AC-8F43-DAB4B8A37D06}" type="slidenum">
              <a:rPr lang="tr-TR" smtClean="0"/>
              <a:t>‹#›</a:t>
            </a:fld>
            <a:endParaRPr lang="tr-T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Dikey Başlık ve Metin">
    <p:spTree>
      <p:nvGrpSpPr>
        <p:cNvPr id="1" name=""/>
        <p:cNvGrpSpPr/>
        <p:nvPr/>
      </p:nvGrpSpPr>
      <p:grpSpPr>
        <a:xfrm>
          <a:off x="0" y="0"/>
          <a:ext cx="0" cy="0"/>
          <a:chOff x="0" y="0"/>
          <a:chExt cx="0" cy="0"/>
        </a:xfrm>
      </p:grpSpPr>
      <p:sp>
        <p:nvSpPr>
          <p:cNvPr id="2" name="Dikey Başlık 1"/>
          <p:cNvSpPr>
            <a:spLocks noGrp="1"/>
          </p:cNvSpPr>
          <p:nvPr>
            <p:ph type="title" orient="vert"/>
          </p:nvPr>
        </p:nvSpPr>
        <p:spPr>
          <a:xfrm>
            <a:off x="6629400" y="274639"/>
            <a:ext cx="1676400" cy="5851525"/>
          </a:xfrm>
        </p:spPr>
        <p:txBody>
          <a:bodyPr vert="eaVert"/>
          <a:lstStyle/>
          <a:p>
            <a:r>
              <a:rPr kumimoji="0" lang="tr-TR"/>
              <a:t>Asıl başlık stili için tıklatın</a:t>
            </a:r>
            <a:endParaRPr kumimoji="0" lang="en-US"/>
          </a:p>
        </p:txBody>
      </p:sp>
      <p:sp>
        <p:nvSpPr>
          <p:cNvPr id="3" name="Dikey Metin Yer Tutucusu 2"/>
          <p:cNvSpPr>
            <a:spLocks noGrp="1"/>
          </p:cNvSpPr>
          <p:nvPr>
            <p:ph type="body" orient="vert" idx="1"/>
          </p:nvPr>
        </p:nvSpPr>
        <p:spPr>
          <a:xfrm>
            <a:off x="457200" y="274638"/>
            <a:ext cx="6019800" cy="5851525"/>
          </a:xfrm>
        </p:spPr>
        <p:txBody>
          <a:bodyPr vert="eaVert"/>
          <a:lstStyle/>
          <a:p>
            <a:pPr lvl="0" eaLnBrk="1" latinLnBrk="0" hangingPunct="1"/>
            <a:r>
              <a:rPr lang="tr-TR"/>
              <a:t>Asıl metin stillerini düzenlemek için tıklatın</a:t>
            </a:r>
          </a:p>
          <a:p>
            <a:pPr lvl="1" eaLnBrk="1" latinLnBrk="0" hangingPunct="1"/>
            <a:r>
              <a:rPr lang="tr-TR"/>
              <a:t>İkinci düzey</a:t>
            </a:r>
          </a:p>
          <a:p>
            <a:pPr lvl="2" eaLnBrk="1" latinLnBrk="0" hangingPunct="1"/>
            <a:r>
              <a:rPr lang="tr-TR"/>
              <a:t>Üçüncü düzey</a:t>
            </a:r>
          </a:p>
          <a:p>
            <a:pPr lvl="3" eaLnBrk="1" latinLnBrk="0" hangingPunct="1"/>
            <a:r>
              <a:rPr lang="tr-TR"/>
              <a:t>Dördüncü düzey</a:t>
            </a:r>
          </a:p>
          <a:p>
            <a:pPr lvl="4" eaLnBrk="1" latinLnBrk="0" hangingPunct="1"/>
            <a:r>
              <a:rPr lang="tr-TR"/>
              <a:t>Beşinci düzey</a:t>
            </a:r>
            <a:endParaRPr kumimoji="0" lang="en-US"/>
          </a:p>
        </p:txBody>
      </p:sp>
      <p:sp>
        <p:nvSpPr>
          <p:cNvPr id="4" name="Veri Yer Tutucusu 3"/>
          <p:cNvSpPr>
            <a:spLocks noGrp="1"/>
          </p:cNvSpPr>
          <p:nvPr>
            <p:ph type="dt" sz="half" idx="10"/>
          </p:nvPr>
        </p:nvSpPr>
        <p:spPr/>
        <p:txBody>
          <a:bodyPr/>
          <a:lstStyle/>
          <a:p>
            <a:fld id="{A23720DD-5B6D-40BF-8493-A6B52D484E6B}" type="datetimeFigureOut">
              <a:rPr lang="tr-TR" smtClean="0"/>
              <a:t>10.10.2022</a:t>
            </a:fld>
            <a:endParaRPr lang="tr-TR"/>
          </a:p>
        </p:txBody>
      </p:sp>
      <p:sp>
        <p:nvSpPr>
          <p:cNvPr id="5" name="Altbilgi Yer Tutucusu 4"/>
          <p:cNvSpPr>
            <a:spLocks noGrp="1"/>
          </p:cNvSpPr>
          <p:nvPr>
            <p:ph type="ftr" sz="quarter" idx="11"/>
          </p:nvPr>
        </p:nvSpPr>
        <p:spPr/>
        <p:txBody>
          <a:bodyPr/>
          <a:lstStyle/>
          <a:p>
            <a:endParaRPr lang="tr-TR"/>
          </a:p>
        </p:txBody>
      </p:sp>
      <p:sp>
        <p:nvSpPr>
          <p:cNvPr id="6" name="Slayt Numarası Yer Tutucusu 5"/>
          <p:cNvSpPr>
            <a:spLocks noGrp="1"/>
          </p:cNvSpPr>
          <p:nvPr>
            <p:ph type="sldNum" sz="quarter" idx="12"/>
          </p:nvPr>
        </p:nvSpPr>
        <p:spPr/>
        <p:txBody>
          <a:bodyPr/>
          <a:lstStyle/>
          <a:p>
            <a:fld id="{F302176B-0E47-46AC-8F43-DAB4B8A37D06}" type="slidenum">
              <a:rPr lang="tr-TR" smtClean="0"/>
              <a:t>‹#›</a:t>
            </a:fld>
            <a:endParaRPr lang="tr-T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6" name="Düz Bağlayıcı 15"/>
          <p:cNvSpPr>
            <a:spLocks noChangeShapeType="1"/>
          </p:cNvSpPr>
          <p:nvPr/>
        </p:nvSpPr>
        <p:spPr bwMode="auto">
          <a:xfrm>
            <a:off x="8763000" y="0"/>
            <a:ext cx="0" cy="6858000"/>
          </a:xfrm>
          <a:prstGeom prst="line">
            <a:avLst/>
          </a:prstGeom>
          <a:noFill/>
          <a:ln w="38100" cap="flat" cmpd="sng" algn="ctr">
            <a:solidFill>
              <a:schemeClr val="accent1">
                <a:tint val="60000"/>
                <a:alpha val="93000"/>
              </a:schemeClr>
            </a:solidFill>
            <a:prstDash val="solid"/>
            <a:round/>
            <a:headEnd type="none" w="med" len="med"/>
            <a:tailEnd type="none" w="med" len="med"/>
          </a:ln>
          <a:effectLst/>
        </p:spPr>
        <p:txBody>
          <a:bodyPr vert="horz" wrap="square" lIns="91440" tIns="45720" rIns="91440" bIns="45720" anchor="t" compatLnSpc="1"/>
          <a:lstStyle/>
          <a:p>
            <a:endParaRPr kumimoji="0" lang="en-US" dirty="0"/>
          </a:p>
        </p:txBody>
      </p:sp>
      <p:sp>
        <p:nvSpPr>
          <p:cNvPr id="22" name="Başlık Yer Tutucusu 21"/>
          <p:cNvSpPr>
            <a:spLocks noGrp="1"/>
          </p:cNvSpPr>
          <p:nvPr>
            <p:ph type="title"/>
          </p:nvPr>
        </p:nvSpPr>
        <p:spPr>
          <a:xfrm>
            <a:off x="457200" y="274638"/>
            <a:ext cx="7467600" cy="1143000"/>
          </a:xfrm>
          <a:prstGeom prst="rect">
            <a:avLst/>
          </a:prstGeom>
        </p:spPr>
        <p:txBody>
          <a:bodyPr vert="horz" anchor="b">
            <a:normAutofit/>
          </a:bodyPr>
          <a:lstStyle/>
          <a:p>
            <a:r>
              <a:rPr kumimoji="0" lang="tr-TR"/>
              <a:t>Asıl başlık stili için tıklatın</a:t>
            </a:r>
            <a:endParaRPr kumimoji="0" lang="en-US"/>
          </a:p>
        </p:txBody>
      </p:sp>
      <p:sp>
        <p:nvSpPr>
          <p:cNvPr id="13" name="Metin Yer Tutucusu 12"/>
          <p:cNvSpPr>
            <a:spLocks noGrp="1"/>
          </p:cNvSpPr>
          <p:nvPr>
            <p:ph type="body" idx="1"/>
          </p:nvPr>
        </p:nvSpPr>
        <p:spPr>
          <a:xfrm>
            <a:off x="457200" y="1600200"/>
            <a:ext cx="7467600" cy="4873752"/>
          </a:xfrm>
          <a:prstGeom prst="rect">
            <a:avLst/>
          </a:prstGeom>
        </p:spPr>
        <p:txBody>
          <a:bodyPr vert="horz">
            <a:normAutofit/>
          </a:bodyPr>
          <a:lstStyle/>
          <a:p>
            <a:pPr lvl="0" eaLnBrk="1" latinLnBrk="0" hangingPunct="1"/>
            <a:r>
              <a:rPr kumimoji="0" lang="tr-TR"/>
              <a:t>Asıl metin stillerini düzenlemek için tıklatın</a:t>
            </a:r>
          </a:p>
          <a:p>
            <a:pPr lvl="1" eaLnBrk="1" latinLnBrk="0" hangingPunct="1"/>
            <a:r>
              <a:rPr kumimoji="0" lang="tr-TR"/>
              <a:t>İkinci düzey</a:t>
            </a:r>
          </a:p>
          <a:p>
            <a:pPr lvl="2" eaLnBrk="1" latinLnBrk="0" hangingPunct="1"/>
            <a:r>
              <a:rPr kumimoji="0" lang="tr-TR"/>
              <a:t>Üçüncü düzey</a:t>
            </a:r>
          </a:p>
          <a:p>
            <a:pPr lvl="3" eaLnBrk="1" latinLnBrk="0" hangingPunct="1"/>
            <a:r>
              <a:rPr kumimoji="0" lang="tr-TR"/>
              <a:t>Dördüncü düzey</a:t>
            </a:r>
          </a:p>
          <a:p>
            <a:pPr lvl="4" eaLnBrk="1" latinLnBrk="0" hangingPunct="1"/>
            <a:r>
              <a:rPr kumimoji="0" lang="tr-TR"/>
              <a:t>Beşinci düzey</a:t>
            </a:r>
            <a:endParaRPr kumimoji="0" lang="en-US"/>
          </a:p>
        </p:txBody>
      </p:sp>
      <p:sp>
        <p:nvSpPr>
          <p:cNvPr id="14" name="Veri Yer Tutucusu 13"/>
          <p:cNvSpPr>
            <a:spLocks noGrp="1"/>
          </p:cNvSpPr>
          <p:nvPr>
            <p:ph type="dt" sz="half" idx="2"/>
          </p:nvPr>
        </p:nvSpPr>
        <p:spPr>
          <a:xfrm rot="5400000">
            <a:off x="7589520" y="1081851"/>
            <a:ext cx="2011680" cy="384048"/>
          </a:xfrm>
          <a:prstGeom prst="rect">
            <a:avLst/>
          </a:prstGeom>
        </p:spPr>
        <p:txBody>
          <a:bodyPr vert="horz" anchor="ctr" anchorCtr="0"/>
          <a:lstStyle>
            <a:lvl1pPr algn="r" eaLnBrk="1" latinLnBrk="0" hangingPunct="1">
              <a:defRPr kumimoji="0" sz="1200">
                <a:solidFill>
                  <a:schemeClr val="tx2"/>
                </a:solidFill>
              </a:defRPr>
            </a:lvl1pPr>
          </a:lstStyle>
          <a:p>
            <a:fld id="{A23720DD-5B6D-40BF-8493-A6B52D484E6B}" type="datetimeFigureOut">
              <a:rPr lang="tr-TR" smtClean="0"/>
              <a:t>10.10.2022</a:t>
            </a:fld>
            <a:endParaRPr lang="tr-TR"/>
          </a:p>
        </p:txBody>
      </p:sp>
      <p:sp>
        <p:nvSpPr>
          <p:cNvPr id="3" name="Altbilgi Yer Tutucusu 2"/>
          <p:cNvSpPr>
            <a:spLocks noGrp="1"/>
          </p:cNvSpPr>
          <p:nvPr>
            <p:ph type="ftr" sz="quarter" idx="3"/>
          </p:nvPr>
        </p:nvSpPr>
        <p:spPr>
          <a:xfrm rot="5400000">
            <a:off x="6990186" y="3737240"/>
            <a:ext cx="3200400" cy="365760"/>
          </a:xfrm>
          <a:prstGeom prst="rect">
            <a:avLst/>
          </a:prstGeom>
        </p:spPr>
        <p:txBody>
          <a:bodyPr vert="horz" anchor="ctr" anchorCtr="0"/>
          <a:lstStyle>
            <a:lvl1pPr algn="l" eaLnBrk="1" latinLnBrk="0" hangingPunct="1">
              <a:defRPr kumimoji="0" sz="1200">
                <a:solidFill>
                  <a:schemeClr val="tx2"/>
                </a:solidFill>
              </a:defRPr>
            </a:lvl1pPr>
          </a:lstStyle>
          <a:p>
            <a:endParaRPr lang="tr-TR"/>
          </a:p>
        </p:txBody>
      </p:sp>
      <p:sp>
        <p:nvSpPr>
          <p:cNvPr id="7" name="Düz Bağlayıcı 6"/>
          <p:cNvSpPr>
            <a:spLocks noChangeShapeType="1"/>
          </p:cNvSpPr>
          <p:nvPr/>
        </p:nvSpPr>
        <p:spPr bwMode="auto">
          <a:xfrm>
            <a:off x="76200" y="0"/>
            <a:ext cx="0" cy="6858000"/>
          </a:xfrm>
          <a:prstGeom prst="line">
            <a:avLst/>
          </a:prstGeom>
          <a:noFill/>
          <a:ln w="57150" cap="flat" cmpd="thickThin" algn="ctr">
            <a:solidFill>
              <a:schemeClr val="accent1">
                <a:tint val="60000"/>
              </a:schemeClr>
            </a:solid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9" name="Düz Bağlayıcı 8"/>
          <p:cNvSpPr>
            <a:spLocks noChangeShapeType="1"/>
          </p:cNvSpPr>
          <p:nvPr/>
        </p:nvSpPr>
        <p:spPr bwMode="auto">
          <a:xfrm>
            <a:off x="8991600" y="0"/>
            <a:ext cx="0" cy="6858000"/>
          </a:xfrm>
          <a:prstGeom prst="line">
            <a:avLst/>
          </a:prstGeom>
          <a:noFill/>
          <a:ln w="19050" cap="flat" cmpd="sng" algn="ctr">
            <a:solidFill>
              <a:schemeClr val="accent1"/>
            </a:solid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10" name="Dikdörtgen 9"/>
          <p:cNvSpPr/>
          <p:nvPr/>
        </p:nvSpPr>
        <p:spPr bwMode="auto">
          <a:xfrm>
            <a:off x="8839200" y="0"/>
            <a:ext cx="304800" cy="6858000"/>
          </a:xfrm>
          <a:prstGeom prst="rect">
            <a:avLst/>
          </a:prstGeom>
          <a:solidFill>
            <a:schemeClr val="accent1">
              <a:tint val="60000"/>
              <a:alpha val="87000"/>
            </a:schemeClr>
          </a:solidFill>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1" name="Düz Bağlayıcı 10"/>
          <p:cNvSpPr>
            <a:spLocks noChangeShapeType="1"/>
          </p:cNvSpPr>
          <p:nvPr/>
        </p:nvSpPr>
        <p:spPr bwMode="auto">
          <a:xfrm>
            <a:off x="8915400" y="0"/>
            <a:ext cx="0" cy="6858000"/>
          </a:xfrm>
          <a:prstGeom prst="line">
            <a:avLst/>
          </a:prstGeom>
          <a:noFill/>
          <a:ln w="9525" cap="flat" cmpd="sng" algn="ctr">
            <a:solidFill>
              <a:schemeClr val="accent1"/>
            </a:solid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12" name="Oval 11"/>
          <p:cNvSpPr/>
          <p:nvPr/>
        </p:nvSpPr>
        <p:spPr>
          <a:xfrm>
            <a:off x="8156448" y="5715000"/>
            <a:ext cx="548640" cy="548640"/>
          </a:xfrm>
          <a:prstGeom prst="ellipse">
            <a:avLst/>
          </a:prstGeom>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dirty="0"/>
          </a:p>
        </p:txBody>
      </p:sp>
      <p:sp>
        <p:nvSpPr>
          <p:cNvPr id="23" name="Slayt Numarası Yer Tutucusu 22"/>
          <p:cNvSpPr>
            <a:spLocks noGrp="1"/>
          </p:cNvSpPr>
          <p:nvPr>
            <p:ph type="sldNum" sz="quarter" idx="4"/>
          </p:nvPr>
        </p:nvSpPr>
        <p:spPr>
          <a:xfrm>
            <a:off x="8129016" y="5734050"/>
            <a:ext cx="609600" cy="521208"/>
          </a:xfrm>
          <a:prstGeom prst="rect">
            <a:avLst/>
          </a:prstGeom>
        </p:spPr>
        <p:txBody>
          <a:bodyPr vert="horz" anchor="ctr"/>
          <a:lstStyle>
            <a:lvl1pPr algn="ctr" eaLnBrk="1" latinLnBrk="0" hangingPunct="1">
              <a:defRPr kumimoji="0" sz="1400" b="1">
                <a:solidFill>
                  <a:srgbClr val="FFFFFF"/>
                </a:solidFill>
              </a:defRPr>
            </a:lvl1pPr>
          </a:lstStyle>
          <a:p>
            <a:fld id="{F302176B-0E47-46AC-8F43-DAB4B8A37D06}" type="slidenum">
              <a:rPr lang="tr-TR" smtClean="0"/>
              <a:t>‹#›</a:t>
            </a:fld>
            <a:endParaRPr lang="tr-TR"/>
          </a:p>
        </p:txBody>
      </p:sp>
    </p:spTree>
  </p:cSld>
  <p:clrMap bg1="lt1" tx1="dk1" bg2="lt2" tx2="dk2" accent1="accent1" accent2="accent2" accent3="accent3" accent4="accent4" accent5="accent5" accent6="accent6" hlink="hlink" folHlink="folHlink"/>
  <p:sldLayoutIdLst>
    <p:sldLayoutId id="2147483685" r:id="rId1"/>
    <p:sldLayoutId id="2147483686" r:id="rId2"/>
    <p:sldLayoutId id="2147483687" r:id="rId3"/>
    <p:sldLayoutId id="2147483688" r:id="rId4"/>
    <p:sldLayoutId id="2147483689" r:id="rId5"/>
    <p:sldLayoutId id="2147483690" r:id="rId6"/>
    <p:sldLayoutId id="2147483691" r:id="rId7"/>
    <p:sldLayoutId id="2147483692" r:id="rId8"/>
    <p:sldLayoutId id="2147483693" r:id="rId9"/>
    <p:sldLayoutId id="2147483694" r:id="rId10"/>
    <p:sldLayoutId id="2147483695" r:id="rId11"/>
  </p:sldLayoutIdLst>
  <p:txStyles>
    <p:titleStyle>
      <a:lvl1pPr algn="l" rtl="0" eaLnBrk="1" latinLnBrk="0" hangingPunct="1">
        <a:spcBef>
          <a:spcPct val="0"/>
        </a:spcBef>
        <a:buNone/>
        <a:defRPr kumimoji="0" sz="3000" b="0" kern="1200" cap="small" baseline="0">
          <a:solidFill>
            <a:schemeClr val="tx2"/>
          </a:solidFill>
          <a:latin typeface="+mj-lt"/>
          <a:ea typeface="+mj-ea"/>
          <a:cs typeface="+mj-cs"/>
        </a:defRPr>
      </a:lvl1pPr>
    </p:titleStyle>
    <p:bodyStyle>
      <a:lvl1pPr marL="274320" indent="-274320" algn="l" rtl="0" eaLnBrk="1" latinLnBrk="0" hangingPunct="1">
        <a:spcBef>
          <a:spcPts val="600"/>
        </a:spcBef>
        <a:buClr>
          <a:schemeClr val="accent1"/>
        </a:buClr>
        <a:buSzPct val="70000"/>
        <a:buFont typeface="Wingdings"/>
        <a:buChar char=""/>
        <a:defRPr kumimoji="0" sz="2400" kern="1200">
          <a:solidFill>
            <a:schemeClr val="tx1"/>
          </a:solidFill>
          <a:latin typeface="+mn-lt"/>
          <a:ea typeface="+mn-ea"/>
          <a:cs typeface="+mn-cs"/>
        </a:defRPr>
      </a:lvl1pPr>
      <a:lvl2pPr marL="640080" indent="-274320" algn="l" rtl="0" eaLnBrk="1" latinLnBrk="0" hangingPunct="1">
        <a:spcBef>
          <a:spcPct val="20000"/>
        </a:spcBef>
        <a:buClr>
          <a:schemeClr val="accent1"/>
        </a:buClr>
        <a:buSzPct val="80000"/>
        <a:buFont typeface="Wingdings 2"/>
        <a:buChar char=""/>
        <a:defRPr kumimoji="0" sz="2100" kern="1200">
          <a:solidFill>
            <a:schemeClr val="tx1"/>
          </a:solidFill>
          <a:latin typeface="+mn-lt"/>
          <a:ea typeface="+mn-ea"/>
          <a:cs typeface="+mn-cs"/>
        </a:defRPr>
      </a:lvl2pPr>
      <a:lvl3pPr marL="914400" indent="-182880" algn="l" rtl="0" eaLnBrk="1" latinLnBrk="0" hangingPunct="1">
        <a:spcBef>
          <a:spcPct val="20000"/>
        </a:spcBef>
        <a:buClr>
          <a:schemeClr val="accent1">
            <a:shade val="75000"/>
          </a:schemeClr>
        </a:buClr>
        <a:buSzPct val="60000"/>
        <a:buFont typeface="Wingdings"/>
        <a:buChar char=""/>
        <a:defRPr kumimoji="0" sz="1800" kern="1200">
          <a:solidFill>
            <a:schemeClr val="tx1"/>
          </a:solidFill>
          <a:latin typeface="+mn-lt"/>
          <a:ea typeface="+mn-ea"/>
          <a:cs typeface="+mn-cs"/>
        </a:defRPr>
      </a:lvl3pPr>
      <a:lvl4pPr marL="1188720" indent="-182880" algn="l" rtl="0" eaLnBrk="1" latinLnBrk="0" hangingPunct="1">
        <a:spcBef>
          <a:spcPct val="20000"/>
        </a:spcBef>
        <a:buClr>
          <a:schemeClr val="accent1">
            <a:tint val="60000"/>
          </a:schemeClr>
        </a:buClr>
        <a:buSzPct val="60000"/>
        <a:buFont typeface="Wingdings"/>
        <a:buChar char=""/>
        <a:defRPr kumimoji="0" sz="1800" kern="1200">
          <a:solidFill>
            <a:schemeClr val="tx1"/>
          </a:solidFill>
          <a:latin typeface="+mn-lt"/>
          <a:ea typeface="+mn-ea"/>
          <a:cs typeface="+mn-cs"/>
        </a:defRPr>
      </a:lvl4pPr>
      <a:lvl5pPr marL="1463040" indent="-182880" algn="l" rtl="0" eaLnBrk="1" latinLnBrk="0" hangingPunct="1">
        <a:spcBef>
          <a:spcPct val="20000"/>
        </a:spcBef>
        <a:buClr>
          <a:schemeClr val="accent2">
            <a:tint val="60000"/>
          </a:schemeClr>
        </a:buClr>
        <a:buSzPct val="68000"/>
        <a:buFont typeface="Wingdings 2"/>
        <a:buChar char=""/>
        <a:defRPr kumimoji="0" sz="1600" kern="1200">
          <a:solidFill>
            <a:schemeClr val="tx1"/>
          </a:solidFill>
          <a:latin typeface="+mn-lt"/>
          <a:ea typeface="+mn-ea"/>
          <a:cs typeface="+mn-cs"/>
        </a:defRPr>
      </a:lvl5pPr>
      <a:lvl6pPr marL="1737360" indent="-182880" algn="l" rtl="0" eaLnBrk="1" latinLnBrk="0" hangingPunct="1">
        <a:spcBef>
          <a:spcPct val="20000"/>
        </a:spcBef>
        <a:buClr>
          <a:schemeClr val="accent1"/>
        </a:buClr>
        <a:buChar char="•"/>
        <a:defRPr kumimoji="0" sz="1600" kern="1200">
          <a:solidFill>
            <a:schemeClr val="tx2"/>
          </a:solidFill>
          <a:latin typeface="+mn-lt"/>
          <a:ea typeface="+mn-ea"/>
          <a:cs typeface="+mn-cs"/>
        </a:defRPr>
      </a:lvl6pPr>
      <a:lvl7pPr marL="2011680" indent="-182880" algn="l" rtl="0" eaLnBrk="1" latinLnBrk="0" hangingPunct="1">
        <a:spcBef>
          <a:spcPct val="20000"/>
        </a:spcBef>
        <a:buClr>
          <a:schemeClr val="accent1">
            <a:tint val="60000"/>
          </a:schemeClr>
        </a:buClr>
        <a:buSzPct val="60000"/>
        <a:buFont typeface="Wingdings"/>
        <a:buChar char=""/>
        <a:defRPr kumimoji="0" sz="1400" kern="1200" baseline="0">
          <a:solidFill>
            <a:schemeClr val="tx2"/>
          </a:solidFill>
          <a:latin typeface="+mn-lt"/>
          <a:ea typeface="+mn-ea"/>
          <a:cs typeface="+mn-cs"/>
        </a:defRPr>
      </a:lvl7pPr>
      <a:lvl8pPr marL="2286000" indent="-182880" algn="l" rtl="0" eaLnBrk="1" latinLnBrk="0" hangingPunct="1">
        <a:spcBef>
          <a:spcPct val="20000"/>
        </a:spcBef>
        <a:buClr>
          <a:schemeClr val="accent2"/>
        </a:buClr>
        <a:buChar char="•"/>
        <a:defRPr kumimoji="0" sz="1400" kern="1200" cap="small" baseline="0">
          <a:solidFill>
            <a:schemeClr val="tx2"/>
          </a:solidFill>
          <a:latin typeface="+mn-lt"/>
          <a:ea typeface="+mn-ea"/>
          <a:cs typeface="+mn-cs"/>
        </a:defRPr>
      </a:lvl8pPr>
      <a:lvl9pPr marL="2560320" indent="-182880" algn="l" rtl="0" eaLnBrk="1" latinLnBrk="0" hangingPunct="1">
        <a:spcBef>
          <a:spcPct val="20000"/>
        </a:spcBef>
        <a:buClr>
          <a:schemeClr val="accent1">
            <a:shade val="75000"/>
          </a:schemeClr>
        </a:buClr>
        <a:buChar char="•"/>
        <a:defRPr kumimoji="0" sz="1400" kern="1200" baseline="0">
          <a:solidFill>
            <a:schemeClr val="tx2"/>
          </a:solidFill>
          <a:latin typeface="+mn-lt"/>
          <a:ea typeface="+mn-ea"/>
          <a:cs typeface="+mn-cs"/>
        </a:defRPr>
      </a:lvl9pPr>
    </p:bodyStyle>
    <p:otherStyle>
      <a:lvl1pPr marL="0" algn="l" rtl="0" eaLnBrk="1" latinLnBrk="0" hangingPunct="1">
        <a:defRPr kumimoji="0" kern="1200">
          <a:solidFill>
            <a:schemeClr val="tx1"/>
          </a:solidFill>
          <a:latin typeface="+mn-lt"/>
          <a:ea typeface="+mn-ea"/>
          <a:cs typeface="+mn-cs"/>
        </a:defRPr>
      </a:lvl1pPr>
      <a:lvl2pPr marL="457200" algn="l" rtl="0" eaLnBrk="1" latinLnBrk="0" hangingPunct="1">
        <a:defRPr kumimoji="0" kern="1200">
          <a:solidFill>
            <a:schemeClr val="tx1"/>
          </a:solidFill>
          <a:latin typeface="+mn-lt"/>
          <a:ea typeface="+mn-ea"/>
          <a:cs typeface="+mn-cs"/>
        </a:defRPr>
      </a:lvl2pPr>
      <a:lvl3pPr marL="914400" algn="l" rtl="0" eaLnBrk="1" latinLnBrk="0" hangingPunct="1">
        <a:defRPr kumimoji="0" kern="1200">
          <a:solidFill>
            <a:schemeClr val="tx1"/>
          </a:solidFill>
          <a:latin typeface="+mn-lt"/>
          <a:ea typeface="+mn-ea"/>
          <a:cs typeface="+mn-cs"/>
        </a:defRPr>
      </a:lvl3pPr>
      <a:lvl4pPr marL="1371600" algn="l" rtl="0" eaLnBrk="1" latinLnBrk="0" hangingPunct="1">
        <a:defRPr kumimoji="0" kern="1200">
          <a:solidFill>
            <a:schemeClr val="tx1"/>
          </a:solidFill>
          <a:latin typeface="+mn-lt"/>
          <a:ea typeface="+mn-ea"/>
          <a:cs typeface="+mn-cs"/>
        </a:defRPr>
      </a:lvl4pPr>
      <a:lvl5pPr marL="1828800" algn="l" rtl="0" eaLnBrk="1" latinLnBrk="0" hangingPunct="1">
        <a:defRPr kumimoji="0" kern="1200">
          <a:solidFill>
            <a:schemeClr val="tx1"/>
          </a:solidFill>
          <a:latin typeface="+mn-lt"/>
          <a:ea typeface="+mn-ea"/>
          <a:cs typeface="+mn-cs"/>
        </a:defRPr>
      </a:lvl5pPr>
      <a:lvl6pPr marL="2286000" algn="l" rtl="0" eaLnBrk="1" latinLnBrk="0" hangingPunct="1">
        <a:defRPr kumimoji="0" kern="1200">
          <a:solidFill>
            <a:schemeClr val="tx1"/>
          </a:solidFill>
          <a:latin typeface="+mn-lt"/>
          <a:ea typeface="+mn-ea"/>
          <a:cs typeface="+mn-cs"/>
        </a:defRPr>
      </a:lvl6pPr>
      <a:lvl7pPr marL="2743200" algn="l" rtl="0" eaLnBrk="1" latinLnBrk="0" hangingPunct="1">
        <a:defRPr kumimoji="0" kern="1200">
          <a:solidFill>
            <a:schemeClr val="tx1"/>
          </a:solidFill>
          <a:latin typeface="+mn-lt"/>
          <a:ea typeface="+mn-ea"/>
          <a:cs typeface="+mn-cs"/>
        </a:defRPr>
      </a:lvl7pPr>
      <a:lvl8pPr marL="3200400" algn="l" rtl="0" eaLnBrk="1" latinLnBrk="0" hangingPunct="1">
        <a:defRPr kumimoji="0" kern="1200">
          <a:solidFill>
            <a:schemeClr val="tx1"/>
          </a:solidFill>
          <a:latin typeface="+mn-lt"/>
          <a:ea typeface="+mn-ea"/>
          <a:cs typeface="+mn-cs"/>
        </a:defRPr>
      </a:lvl8pPr>
      <a:lvl9pPr marL="3657600" algn="l" rtl="0" eaLnBrk="1" latinLnBrk="0" hangingPunct="1">
        <a:defRPr kumimoji="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Başlık 1"/>
          <p:cNvSpPr>
            <a:spLocks noGrp="1"/>
          </p:cNvSpPr>
          <p:nvPr>
            <p:ph type="ctrTitle"/>
          </p:nvPr>
        </p:nvSpPr>
        <p:spPr>
          <a:xfrm>
            <a:off x="2411760" y="2564904"/>
            <a:ext cx="6172200" cy="1894362"/>
          </a:xfrm>
        </p:spPr>
        <p:txBody>
          <a:bodyPr/>
          <a:lstStyle/>
          <a:p>
            <a:r>
              <a:rPr lang="tr-TR" sz="2800" dirty="0" smtClean="0"/>
              <a:t>Yönetim Bilişim Sistemleri</a:t>
            </a:r>
            <a:r>
              <a:rPr lang="tr-TR" sz="2800" dirty="0"/>
              <a:t/>
            </a:r>
            <a:br>
              <a:rPr lang="tr-TR" sz="2800" dirty="0"/>
            </a:br>
            <a:endParaRPr lang="tr-TR" dirty="0"/>
          </a:p>
        </p:txBody>
      </p:sp>
      <p:sp>
        <p:nvSpPr>
          <p:cNvPr id="3" name="Alt Başlık 2"/>
          <p:cNvSpPr>
            <a:spLocks noGrp="1"/>
          </p:cNvSpPr>
          <p:nvPr>
            <p:ph type="subTitle" idx="1"/>
          </p:nvPr>
        </p:nvSpPr>
        <p:spPr/>
        <p:txBody>
          <a:bodyPr>
            <a:normAutofit fontScale="85000" lnSpcReduction="20000"/>
          </a:bodyPr>
          <a:lstStyle/>
          <a:p>
            <a:pPr algn="ctr"/>
            <a:r>
              <a:rPr lang="tr-TR" b="0" dirty="0"/>
              <a:t>Prof. Dr. Tuncay YİĞİT</a:t>
            </a:r>
          </a:p>
          <a:p>
            <a:pPr algn="ctr"/>
            <a:r>
              <a:rPr lang="tr-TR" b="0" dirty="0"/>
              <a:t>Süleyman Demirel Üniversitesi</a:t>
            </a:r>
          </a:p>
          <a:p>
            <a:pPr algn="ctr"/>
            <a:r>
              <a:rPr lang="tr-TR" b="0" dirty="0"/>
              <a:t>Bilgisayar Mühendisliği Bölümü</a:t>
            </a:r>
          </a:p>
          <a:p>
            <a:pPr algn="ctr"/>
            <a:endParaRPr lang="tr-TR" b="0" dirty="0"/>
          </a:p>
          <a:p>
            <a:pPr algn="ctr"/>
            <a:r>
              <a:rPr lang="tr-TR" b="0" dirty="0"/>
              <a:t>ISPARTA 2022</a:t>
            </a:r>
          </a:p>
        </p:txBody>
      </p:sp>
    </p:spTree>
    <p:extLst>
      <p:ext uri="{BB962C8B-B14F-4D97-AF65-F5344CB8AC3E}">
        <p14:creationId xmlns:p14="http://schemas.microsoft.com/office/powerpoint/2010/main" val="192741946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Başlık 1"/>
          <p:cNvSpPr>
            <a:spLocks noGrp="1"/>
          </p:cNvSpPr>
          <p:nvPr>
            <p:ph type="title"/>
          </p:nvPr>
        </p:nvSpPr>
        <p:spPr/>
        <p:txBody>
          <a:bodyPr/>
          <a:lstStyle/>
          <a:p>
            <a:r>
              <a:rPr lang="tr-TR" dirty="0"/>
              <a:t>Örgütler ve Enformasyon Sistemleri</a:t>
            </a:r>
            <a:endParaRPr lang="tr-TR" dirty="0"/>
          </a:p>
        </p:txBody>
      </p:sp>
      <p:sp>
        <p:nvSpPr>
          <p:cNvPr id="3" name="İçerik Yer Tutucusu 2"/>
          <p:cNvSpPr>
            <a:spLocks noGrp="1"/>
          </p:cNvSpPr>
          <p:nvPr>
            <p:ph sz="quarter" idx="1"/>
          </p:nvPr>
        </p:nvSpPr>
        <p:spPr>
          <a:xfrm>
            <a:off x="457200" y="1600200"/>
            <a:ext cx="8507288" cy="2404864"/>
          </a:xfrm>
        </p:spPr>
        <p:txBody>
          <a:bodyPr>
            <a:normAutofit fontScale="85000" lnSpcReduction="20000"/>
          </a:bodyPr>
          <a:lstStyle/>
          <a:p>
            <a:r>
              <a:rPr lang="tr-TR" dirty="0"/>
              <a:t>ES, işletme çıkarlarını sağlamak için yöneticiler tarafından kurulmaktadır. </a:t>
            </a:r>
            <a:endParaRPr lang="tr-TR" dirty="0" smtClean="0"/>
          </a:p>
          <a:p>
            <a:r>
              <a:rPr lang="tr-TR" dirty="0" smtClean="0"/>
              <a:t>ES </a:t>
            </a:r>
            <a:r>
              <a:rPr lang="tr-TR" dirty="0"/>
              <a:t>ve örgütler karşılıklı olarak birbirlerini etkilemektedir. </a:t>
            </a:r>
            <a:endParaRPr lang="tr-TR" dirty="0" smtClean="0"/>
          </a:p>
          <a:p>
            <a:r>
              <a:rPr lang="tr-TR" dirty="0" smtClean="0"/>
              <a:t>Örgütler </a:t>
            </a:r>
            <a:r>
              <a:rPr lang="tr-TR" dirty="0"/>
              <a:t>yeni teknolojilerden faydalanabilmek için enformasyon sistemlerinin etkilerinin farkında olmalı ve yeniliklere açık olmalıdırlar. </a:t>
            </a:r>
            <a:endParaRPr lang="tr-TR" dirty="0" smtClean="0"/>
          </a:p>
          <a:p>
            <a:r>
              <a:rPr lang="tr-TR" dirty="0" smtClean="0"/>
              <a:t>Aşağıdaki </a:t>
            </a:r>
            <a:r>
              <a:rPr lang="tr-TR" dirty="0"/>
              <a:t>şekilde görüldüğü gibi karşılıklı etkileşime bir çok faktör aracılık etmektedir.</a:t>
            </a:r>
            <a:endParaRPr lang="tr-TR" dirty="0"/>
          </a:p>
        </p:txBody>
      </p:sp>
      <p:pic>
        <p:nvPicPr>
          <p:cNvPr id="4" name="Resim 3"/>
          <p:cNvPicPr>
            <a:picLocks noChangeAspect="1"/>
          </p:cNvPicPr>
          <p:nvPr/>
        </p:nvPicPr>
        <p:blipFill>
          <a:blip r:embed="rId2"/>
          <a:stretch>
            <a:fillRect/>
          </a:stretch>
        </p:blipFill>
        <p:spPr>
          <a:xfrm>
            <a:off x="2123728" y="3533775"/>
            <a:ext cx="5486400" cy="3324225"/>
          </a:xfrm>
          <a:prstGeom prst="rect">
            <a:avLst/>
          </a:prstGeom>
        </p:spPr>
      </p:pic>
    </p:spTree>
    <p:extLst>
      <p:ext uri="{BB962C8B-B14F-4D97-AF65-F5344CB8AC3E}">
        <p14:creationId xmlns:p14="http://schemas.microsoft.com/office/powerpoint/2010/main" val="278354571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Başlık 1"/>
          <p:cNvSpPr>
            <a:spLocks noGrp="1"/>
          </p:cNvSpPr>
          <p:nvPr>
            <p:ph type="title"/>
          </p:nvPr>
        </p:nvSpPr>
        <p:spPr/>
        <p:txBody>
          <a:bodyPr/>
          <a:lstStyle/>
          <a:p>
            <a:r>
              <a:rPr lang="tr-TR" dirty="0"/>
              <a:t>Örgüt nedir?</a:t>
            </a:r>
            <a:endParaRPr lang="tr-TR" dirty="0"/>
          </a:p>
        </p:txBody>
      </p:sp>
      <p:sp>
        <p:nvSpPr>
          <p:cNvPr id="4" name="Content Placeholder 2"/>
          <p:cNvSpPr>
            <a:spLocks noGrp="1"/>
          </p:cNvSpPr>
          <p:nvPr>
            <p:ph sz="quarter" idx="1"/>
          </p:nvPr>
        </p:nvSpPr>
        <p:spPr>
          <a:xfrm>
            <a:off x="457200" y="1628800"/>
            <a:ext cx="8219256" cy="3744416"/>
          </a:xfrm>
        </p:spPr>
        <p:txBody>
          <a:bodyPr>
            <a:normAutofit/>
          </a:bodyPr>
          <a:lstStyle/>
          <a:p>
            <a:r>
              <a:rPr lang="tr-TR" sz="1400" dirty="0"/>
              <a:t>Çevreden kaynakları girdi olarak alan ve onları çıktı üretmek üzere işleyen sabit, biçimsel ve sosyal bir </a:t>
            </a:r>
            <a:r>
              <a:rPr lang="tr-TR" sz="1400" dirty="0" smtClean="0"/>
              <a:t>yapıdır.</a:t>
            </a:r>
          </a:p>
          <a:p>
            <a:r>
              <a:rPr lang="tr-TR" sz="1400" dirty="0" smtClean="0"/>
              <a:t>Bu </a:t>
            </a:r>
            <a:r>
              <a:rPr lang="tr-TR" sz="1400" dirty="0"/>
              <a:t>tanıma göre örgütlerin üç temel unsuru bulunmaktadır</a:t>
            </a:r>
            <a:r>
              <a:rPr lang="tr-TR" sz="1400" dirty="0" smtClean="0"/>
              <a:t>:</a:t>
            </a:r>
          </a:p>
          <a:p>
            <a:pPr lvl="1"/>
            <a:r>
              <a:rPr lang="tr-TR" sz="1400" dirty="0" smtClean="0"/>
              <a:t> </a:t>
            </a:r>
            <a:r>
              <a:rPr lang="tr-TR" sz="1400" dirty="0"/>
              <a:t>1. </a:t>
            </a:r>
            <a:r>
              <a:rPr lang="tr-TR" sz="1400" dirty="0" smtClean="0"/>
              <a:t>Sermaye</a:t>
            </a:r>
          </a:p>
          <a:p>
            <a:pPr lvl="1"/>
            <a:r>
              <a:rPr lang="tr-TR" sz="1400" dirty="0" smtClean="0"/>
              <a:t>2</a:t>
            </a:r>
            <a:r>
              <a:rPr lang="tr-TR" sz="1400" dirty="0"/>
              <a:t>. İş gücü </a:t>
            </a:r>
            <a:endParaRPr lang="tr-TR" sz="1400" dirty="0" smtClean="0"/>
          </a:p>
          <a:p>
            <a:pPr lvl="1"/>
            <a:r>
              <a:rPr lang="tr-TR" sz="1400" dirty="0" smtClean="0"/>
              <a:t>3</a:t>
            </a:r>
            <a:r>
              <a:rPr lang="tr-TR" sz="1400" dirty="0"/>
              <a:t>. Temel üretim </a:t>
            </a:r>
            <a:r>
              <a:rPr lang="tr-TR" sz="1400" dirty="0" smtClean="0"/>
              <a:t>faktörleri</a:t>
            </a:r>
          </a:p>
          <a:p>
            <a:pPr lvl="1"/>
            <a:endParaRPr lang="tr-TR" sz="1400" dirty="0"/>
          </a:p>
          <a:p>
            <a:pPr marL="274320" lvl="1">
              <a:spcBef>
                <a:spcPts val="600"/>
              </a:spcBef>
              <a:buSzPct val="70000"/>
              <a:buFont typeface="Wingdings"/>
              <a:buChar char=""/>
            </a:pPr>
            <a:r>
              <a:rPr lang="tr-TR" sz="1400" dirty="0" smtClean="0"/>
              <a:t>Örgüt </a:t>
            </a:r>
            <a:r>
              <a:rPr lang="tr-TR" sz="1400" dirty="0"/>
              <a:t>bu girdileri alır ve temel faaliyetlerden geçirerek ürün ya da hizmet üretir. </a:t>
            </a:r>
            <a:endParaRPr lang="tr-TR" sz="1400" dirty="0" smtClean="0"/>
          </a:p>
          <a:p>
            <a:pPr marL="274320" lvl="1">
              <a:spcBef>
                <a:spcPts val="600"/>
              </a:spcBef>
              <a:buSzPct val="70000"/>
              <a:buFont typeface="Wingdings"/>
              <a:buChar char=""/>
            </a:pPr>
            <a:r>
              <a:rPr lang="tr-TR" sz="1400" dirty="0" smtClean="0"/>
              <a:t>Örgütler </a:t>
            </a:r>
            <a:r>
              <a:rPr lang="tr-TR" sz="1400" dirty="0"/>
              <a:t>yasalar ile bağlı olan içsel kural ve prosedürlere sahip yasal ve biçimsel varlıklardır. </a:t>
            </a:r>
            <a:endParaRPr lang="tr-TR" sz="1400" dirty="0" smtClean="0"/>
          </a:p>
          <a:p>
            <a:pPr marL="274320" lvl="1">
              <a:spcBef>
                <a:spcPts val="600"/>
              </a:spcBef>
              <a:buSzPct val="70000"/>
              <a:buFont typeface="Wingdings"/>
              <a:buChar char=""/>
            </a:pPr>
            <a:r>
              <a:rPr lang="tr-TR" sz="1400" dirty="0" smtClean="0"/>
              <a:t>Daha </a:t>
            </a:r>
            <a:r>
              <a:rPr lang="tr-TR" sz="1400" dirty="0"/>
              <a:t>geniş bir perspektiften bakıldığında örgütler, hassas bir şekilde dengelenmiş haklar, imtiyazlar, yükümlülükler ve sorumluluklar toplamıdır.</a:t>
            </a:r>
            <a:endParaRPr lang="en-US" sz="1400" dirty="0"/>
          </a:p>
        </p:txBody>
      </p:sp>
      <p:pic>
        <p:nvPicPr>
          <p:cNvPr id="5" name="Resim 4"/>
          <p:cNvPicPr>
            <a:picLocks noChangeAspect="1"/>
          </p:cNvPicPr>
          <p:nvPr/>
        </p:nvPicPr>
        <p:blipFill>
          <a:blip r:embed="rId2"/>
          <a:stretch>
            <a:fillRect/>
          </a:stretch>
        </p:blipFill>
        <p:spPr>
          <a:xfrm>
            <a:off x="1342615" y="4859610"/>
            <a:ext cx="6448425" cy="1809750"/>
          </a:xfrm>
          <a:prstGeom prst="rect">
            <a:avLst/>
          </a:prstGeom>
        </p:spPr>
      </p:pic>
    </p:spTree>
    <p:extLst>
      <p:ext uri="{BB962C8B-B14F-4D97-AF65-F5344CB8AC3E}">
        <p14:creationId xmlns:p14="http://schemas.microsoft.com/office/powerpoint/2010/main" val="21297579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Başlık 1"/>
          <p:cNvSpPr>
            <a:spLocks noGrp="1"/>
          </p:cNvSpPr>
          <p:nvPr>
            <p:ph type="title"/>
          </p:nvPr>
        </p:nvSpPr>
        <p:spPr/>
        <p:txBody>
          <a:bodyPr/>
          <a:lstStyle/>
          <a:p>
            <a:r>
              <a:rPr lang="tr-TR" dirty="0"/>
              <a:t>Bu örgüt tanımları ES teknolojisi ile nasıl ilişkilendirilir?</a:t>
            </a:r>
            <a:endParaRPr lang="tr-TR" dirty="0"/>
          </a:p>
        </p:txBody>
      </p:sp>
      <p:sp>
        <p:nvSpPr>
          <p:cNvPr id="3" name="İçerik Yer Tutucusu 2"/>
          <p:cNvSpPr>
            <a:spLocks noGrp="1"/>
          </p:cNvSpPr>
          <p:nvPr>
            <p:ph sz="quarter" idx="1"/>
          </p:nvPr>
        </p:nvSpPr>
        <p:spPr>
          <a:xfrm>
            <a:off x="35495" y="1600199"/>
            <a:ext cx="5616625" cy="2260849"/>
          </a:xfrm>
        </p:spPr>
        <p:txBody>
          <a:bodyPr>
            <a:noAutofit/>
          </a:bodyPr>
          <a:lstStyle/>
          <a:p>
            <a:r>
              <a:rPr lang="tr-TR" sz="1300" dirty="0" smtClean="0"/>
              <a:t>ES uygulamak için geçen süre işletmelerde genellikle beklenenden daha uzun sürer. Çünkü kurulum ve uygulama aşamasının teknik ve sosyal boyutta değişimler içerir. </a:t>
            </a:r>
          </a:p>
          <a:p>
            <a:r>
              <a:rPr lang="tr-TR" sz="1300" dirty="0" smtClean="0"/>
              <a:t>Teknolojik değişimleri uygulamak işletmede zaman alabilir, çok yıkıcı olabilir, eğitim ve destek süreci daha fazla kaynak gerektirebilir. </a:t>
            </a:r>
          </a:p>
          <a:p>
            <a:r>
              <a:rPr lang="tr-TR" sz="1300" dirty="0" smtClean="0"/>
              <a:t>ET ‘</a:t>
            </a:r>
            <a:r>
              <a:rPr lang="tr-TR" sz="1300" dirty="0" err="1" smtClean="0"/>
              <a:t>ni</a:t>
            </a:r>
            <a:r>
              <a:rPr lang="tr-TR" sz="1300" dirty="0" smtClean="0"/>
              <a:t> işletmede uygulamanın teknik ve sosyal boyutları vardır. </a:t>
            </a:r>
          </a:p>
          <a:p>
            <a:r>
              <a:rPr lang="tr-TR" sz="1300" dirty="0" smtClean="0"/>
              <a:t>Teknik yaklaşım, işletmenin sermaye, iş gücü ve enformasyon teknolojilerini yani sistemin girdilerini nasıl birleştirdiğine odaklanır. </a:t>
            </a:r>
          </a:p>
          <a:p>
            <a:r>
              <a:rPr lang="tr-TR" sz="1300" dirty="0" smtClean="0"/>
              <a:t>Teknolojik değişim enformasyona kimin sahip olduğu, kimin kontrol ettiği, kimin erişim yetkisi olduğu vb. konularda değişimleri beraberinde getirir. </a:t>
            </a:r>
            <a:endParaRPr lang="en-US" sz="1300" dirty="0" smtClean="0">
              <a:ea typeface="ＭＳ Ｐゴシック" pitchFamily="34" charset="-128"/>
            </a:endParaRPr>
          </a:p>
          <a:p>
            <a:endParaRPr lang="tr-TR" sz="1300" dirty="0"/>
          </a:p>
        </p:txBody>
      </p:sp>
      <p:sp>
        <p:nvSpPr>
          <p:cNvPr id="4" name="İçerik Yer Tutucusu 2"/>
          <p:cNvSpPr txBox="1">
            <a:spLocks/>
          </p:cNvSpPr>
          <p:nvPr/>
        </p:nvSpPr>
        <p:spPr>
          <a:xfrm>
            <a:off x="-21042" y="4575557"/>
            <a:ext cx="8784976" cy="2304256"/>
          </a:xfrm>
          <a:prstGeom prst="rect">
            <a:avLst/>
          </a:prstGeom>
        </p:spPr>
        <p:txBody>
          <a:bodyPr vert="horz">
            <a:normAutofit fontScale="70000" lnSpcReduction="20000"/>
          </a:bodyPr>
          <a:lstStyle>
            <a:lvl1pPr marL="274320" indent="-274320" algn="l" rtl="0" eaLnBrk="1" latinLnBrk="0" hangingPunct="1">
              <a:spcBef>
                <a:spcPts val="600"/>
              </a:spcBef>
              <a:buClr>
                <a:schemeClr val="accent1"/>
              </a:buClr>
              <a:buSzPct val="70000"/>
              <a:buFont typeface="Wingdings"/>
              <a:buChar char=""/>
              <a:defRPr kumimoji="0" sz="2400" kern="1200">
                <a:solidFill>
                  <a:schemeClr val="tx1"/>
                </a:solidFill>
                <a:latin typeface="+mn-lt"/>
                <a:ea typeface="+mn-ea"/>
                <a:cs typeface="+mn-cs"/>
              </a:defRPr>
            </a:lvl1pPr>
            <a:lvl2pPr marL="640080" indent="-274320" algn="l" rtl="0" eaLnBrk="1" latinLnBrk="0" hangingPunct="1">
              <a:spcBef>
                <a:spcPct val="20000"/>
              </a:spcBef>
              <a:buClr>
                <a:schemeClr val="accent1"/>
              </a:buClr>
              <a:buSzPct val="80000"/>
              <a:buFont typeface="Wingdings 2"/>
              <a:buChar char=""/>
              <a:defRPr kumimoji="0" sz="2100" kern="1200">
                <a:solidFill>
                  <a:schemeClr val="tx1"/>
                </a:solidFill>
                <a:latin typeface="+mn-lt"/>
                <a:ea typeface="+mn-ea"/>
                <a:cs typeface="+mn-cs"/>
              </a:defRPr>
            </a:lvl2pPr>
            <a:lvl3pPr marL="914400" indent="-182880" algn="l" rtl="0" eaLnBrk="1" latinLnBrk="0" hangingPunct="1">
              <a:spcBef>
                <a:spcPct val="20000"/>
              </a:spcBef>
              <a:buClr>
                <a:schemeClr val="accent1">
                  <a:shade val="75000"/>
                </a:schemeClr>
              </a:buClr>
              <a:buSzPct val="60000"/>
              <a:buFont typeface="Wingdings"/>
              <a:buChar char=""/>
              <a:defRPr kumimoji="0" sz="1800" kern="1200">
                <a:solidFill>
                  <a:schemeClr val="tx1"/>
                </a:solidFill>
                <a:latin typeface="+mn-lt"/>
                <a:ea typeface="+mn-ea"/>
                <a:cs typeface="+mn-cs"/>
              </a:defRPr>
            </a:lvl3pPr>
            <a:lvl4pPr marL="1188720" indent="-182880" algn="l" rtl="0" eaLnBrk="1" latinLnBrk="0" hangingPunct="1">
              <a:spcBef>
                <a:spcPct val="20000"/>
              </a:spcBef>
              <a:buClr>
                <a:schemeClr val="accent1">
                  <a:tint val="60000"/>
                </a:schemeClr>
              </a:buClr>
              <a:buSzPct val="60000"/>
              <a:buFont typeface="Wingdings"/>
              <a:buChar char=""/>
              <a:defRPr kumimoji="0" sz="1800" kern="1200">
                <a:solidFill>
                  <a:schemeClr val="tx1"/>
                </a:solidFill>
                <a:latin typeface="+mn-lt"/>
                <a:ea typeface="+mn-ea"/>
                <a:cs typeface="+mn-cs"/>
              </a:defRPr>
            </a:lvl4pPr>
            <a:lvl5pPr marL="1463040" indent="-182880" algn="l" rtl="0" eaLnBrk="1" latinLnBrk="0" hangingPunct="1">
              <a:spcBef>
                <a:spcPct val="20000"/>
              </a:spcBef>
              <a:buClr>
                <a:schemeClr val="accent2">
                  <a:tint val="60000"/>
                </a:schemeClr>
              </a:buClr>
              <a:buSzPct val="68000"/>
              <a:buFont typeface="Wingdings 2"/>
              <a:buChar char=""/>
              <a:defRPr kumimoji="0" sz="1600" kern="1200">
                <a:solidFill>
                  <a:schemeClr val="tx1"/>
                </a:solidFill>
                <a:latin typeface="+mn-lt"/>
                <a:ea typeface="+mn-ea"/>
                <a:cs typeface="+mn-cs"/>
              </a:defRPr>
            </a:lvl5pPr>
            <a:lvl6pPr marL="1737360" indent="-182880" algn="l" rtl="0" eaLnBrk="1" latinLnBrk="0" hangingPunct="1">
              <a:spcBef>
                <a:spcPct val="20000"/>
              </a:spcBef>
              <a:buClr>
                <a:schemeClr val="accent1"/>
              </a:buClr>
              <a:buChar char="•"/>
              <a:defRPr kumimoji="0" sz="1600" kern="1200">
                <a:solidFill>
                  <a:schemeClr val="tx2"/>
                </a:solidFill>
                <a:latin typeface="+mn-lt"/>
                <a:ea typeface="+mn-ea"/>
                <a:cs typeface="+mn-cs"/>
              </a:defRPr>
            </a:lvl6pPr>
            <a:lvl7pPr marL="2011680" indent="-182880" algn="l" rtl="0" eaLnBrk="1" latinLnBrk="0" hangingPunct="1">
              <a:spcBef>
                <a:spcPct val="20000"/>
              </a:spcBef>
              <a:buClr>
                <a:schemeClr val="accent1">
                  <a:tint val="60000"/>
                </a:schemeClr>
              </a:buClr>
              <a:buSzPct val="60000"/>
              <a:buFont typeface="Wingdings"/>
              <a:buChar char=""/>
              <a:defRPr kumimoji="0" sz="1400" kern="1200" baseline="0">
                <a:solidFill>
                  <a:schemeClr val="tx2"/>
                </a:solidFill>
                <a:latin typeface="+mn-lt"/>
                <a:ea typeface="+mn-ea"/>
                <a:cs typeface="+mn-cs"/>
              </a:defRPr>
            </a:lvl7pPr>
            <a:lvl8pPr marL="2286000" indent="-182880" algn="l" rtl="0" eaLnBrk="1" latinLnBrk="0" hangingPunct="1">
              <a:spcBef>
                <a:spcPct val="20000"/>
              </a:spcBef>
              <a:buClr>
                <a:schemeClr val="accent2"/>
              </a:buClr>
              <a:buChar char="•"/>
              <a:defRPr kumimoji="0" sz="1400" kern="1200" cap="small" baseline="0">
                <a:solidFill>
                  <a:schemeClr val="tx2"/>
                </a:solidFill>
                <a:latin typeface="+mn-lt"/>
                <a:ea typeface="+mn-ea"/>
                <a:cs typeface="+mn-cs"/>
              </a:defRPr>
            </a:lvl8pPr>
            <a:lvl9pPr marL="2560320" indent="-182880" algn="l" rtl="0" eaLnBrk="1" latinLnBrk="0" hangingPunct="1">
              <a:spcBef>
                <a:spcPct val="20000"/>
              </a:spcBef>
              <a:buClr>
                <a:schemeClr val="accent1">
                  <a:shade val="75000"/>
                </a:schemeClr>
              </a:buClr>
              <a:buChar char="•"/>
              <a:defRPr kumimoji="0" sz="1400" kern="1200" baseline="0">
                <a:solidFill>
                  <a:schemeClr val="tx2"/>
                </a:solidFill>
                <a:latin typeface="+mn-lt"/>
                <a:ea typeface="+mn-ea"/>
                <a:cs typeface="+mn-cs"/>
              </a:defRPr>
            </a:lvl9pPr>
          </a:lstStyle>
          <a:p>
            <a:r>
              <a:rPr lang="tr-TR" dirty="0"/>
              <a:t>Davranışsal yaklaşım : Yeni enformasyon sistemleri kurmanın, makinelerin ya da çalışanların teknik düzenlemesinden çok daha fazlasını içerir. </a:t>
            </a:r>
            <a:endParaRPr lang="tr-TR" dirty="0" smtClean="0"/>
          </a:p>
          <a:p>
            <a:r>
              <a:rPr lang="tr-TR" dirty="0" smtClean="0"/>
              <a:t>Bazı </a:t>
            </a:r>
            <a:r>
              <a:rPr lang="tr-TR" dirty="0"/>
              <a:t>enformasyon sistemlerinin kurulumu ile uzun bir süredir yerleşik olan hakları, imtiyazları, yükümlülükleri, sorumlulukları ve duyguları etkileyerek örgütsel dengeyi değiştirdiğini öne sürer. </a:t>
            </a:r>
            <a:endParaRPr lang="tr-TR" dirty="0" smtClean="0"/>
          </a:p>
          <a:p>
            <a:r>
              <a:rPr lang="tr-TR" dirty="0" smtClean="0"/>
              <a:t>Davranışsal </a:t>
            </a:r>
            <a:r>
              <a:rPr lang="tr-TR" dirty="0"/>
              <a:t>boyut , yönetici ve çalışanların </a:t>
            </a:r>
            <a:r>
              <a:rPr lang="tr-TR" dirty="0" err="1"/>
              <a:t>ES’yi</a:t>
            </a:r>
            <a:r>
              <a:rPr lang="tr-TR" dirty="0"/>
              <a:t> kullanmak için almaları gereken eğitim ve destekleri içerir. </a:t>
            </a:r>
            <a:endParaRPr lang="tr-TR" dirty="0" smtClean="0"/>
          </a:p>
          <a:p>
            <a:r>
              <a:rPr lang="tr-TR" dirty="0" smtClean="0"/>
              <a:t>Davranışsal </a:t>
            </a:r>
            <a:r>
              <a:rPr lang="tr-TR" dirty="0"/>
              <a:t>yaklaşım teknolojinin örgütün iç çalışmalarını nasıl etkilediği üzerine odaklanır</a:t>
            </a:r>
          </a:p>
        </p:txBody>
      </p:sp>
      <p:pic>
        <p:nvPicPr>
          <p:cNvPr id="5" name="Resim 4"/>
          <p:cNvPicPr>
            <a:picLocks noChangeAspect="1"/>
          </p:cNvPicPr>
          <p:nvPr/>
        </p:nvPicPr>
        <p:blipFill>
          <a:blip r:embed="rId2"/>
          <a:stretch>
            <a:fillRect/>
          </a:stretch>
        </p:blipFill>
        <p:spPr>
          <a:xfrm>
            <a:off x="5239684" y="1600199"/>
            <a:ext cx="3524250" cy="2962275"/>
          </a:xfrm>
          <a:prstGeom prst="rect">
            <a:avLst/>
          </a:prstGeom>
        </p:spPr>
      </p:pic>
    </p:spTree>
    <p:extLst>
      <p:ext uri="{BB962C8B-B14F-4D97-AF65-F5344CB8AC3E}">
        <p14:creationId xmlns:p14="http://schemas.microsoft.com/office/powerpoint/2010/main" val="114969561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Başlık 1"/>
          <p:cNvSpPr>
            <a:spLocks noGrp="1"/>
          </p:cNvSpPr>
          <p:nvPr>
            <p:ph type="title"/>
          </p:nvPr>
        </p:nvSpPr>
        <p:spPr/>
        <p:txBody>
          <a:bodyPr/>
          <a:lstStyle/>
          <a:p>
            <a:r>
              <a:rPr lang="tr-TR" dirty="0"/>
              <a:t>Örgütlerin Özellikleri</a:t>
            </a:r>
            <a:endParaRPr lang="tr-TR" dirty="0"/>
          </a:p>
        </p:txBody>
      </p:sp>
      <p:sp>
        <p:nvSpPr>
          <p:cNvPr id="3" name="İçerik Yer Tutucusu 2"/>
          <p:cNvSpPr>
            <a:spLocks noGrp="1"/>
          </p:cNvSpPr>
          <p:nvPr>
            <p:ph sz="quarter" idx="1"/>
          </p:nvPr>
        </p:nvSpPr>
        <p:spPr/>
        <p:txBody>
          <a:bodyPr>
            <a:normAutofit/>
          </a:bodyPr>
          <a:lstStyle/>
          <a:p>
            <a:r>
              <a:rPr lang="tr-TR" sz="2000" dirty="0" smtClean="0"/>
              <a:t>İş </a:t>
            </a:r>
            <a:r>
              <a:rPr lang="tr-TR" sz="2000" dirty="0"/>
              <a:t>bölümü ve uzmanlaşma ile açık biçimde tanımlanmış bürokrasilerdir. </a:t>
            </a:r>
            <a:endParaRPr lang="tr-TR" sz="2000" dirty="0" smtClean="0"/>
          </a:p>
          <a:p>
            <a:r>
              <a:rPr lang="tr-TR" sz="2000" dirty="0" smtClean="0"/>
              <a:t>Herkesin </a:t>
            </a:r>
            <a:r>
              <a:rPr lang="tr-TR" sz="2000" dirty="0"/>
              <a:t>birine karşı sorumlu olduğu ve otoritenin belirli kurallar ya da prosedürler ile belli eylemlerle sınırlı olduğu bir hiyerarşiye göre uzmanları sıralarlar. </a:t>
            </a:r>
            <a:endParaRPr lang="tr-TR" sz="2000" dirty="0" smtClean="0"/>
          </a:p>
          <a:p>
            <a:r>
              <a:rPr lang="tr-TR" sz="2000" dirty="0" smtClean="0"/>
              <a:t>Örgütler </a:t>
            </a:r>
            <a:r>
              <a:rPr lang="tr-TR" sz="2000" dirty="0"/>
              <a:t>çalışanlarını yeterlilikleri ve profesyonelliklerine göre işe alır ve terfi ettirirler. </a:t>
            </a:r>
            <a:endParaRPr lang="tr-TR" sz="2000" dirty="0" smtClean="0"/>
          </a:p>
          <a:p>
            <a:r>
              <a:rPr lang="tr-TR" sz="2000" dirty="0" smtClean="0"/>
              <a:t>Örgüt </a:t>
            </a:r>
            <a:r>
              <a:rPr lang="tr-TR" sz="2000" dirty="0"/>
              <a:t>verimlilik ilkesine bağlıdır. Yani minimum girdi ile maksimum çıktı elde etmek isterler. </a:t>
            </a:r>
            <a:endParaRPr lang="tr-TR" sz="2000" dirty="0" smtClean="0"/>
          </a:p>
          <a:p>
            <a:r>
              <a:rPr lang="tr-TR" sz="2000" dirty="0" smtClean="0"/>
              <a:t>Bütün </a:t>
            </a:r>
            <a:r>
              <a:rPr lang="tr-TR" sz="2000" dirty="0"/>
              <a:t>bu özellikler örgütler tarafından kullanılan enformasyon sistemlerinin türlerini etkilemektedir.</a:t>
            </a:r>
            <a:endParaRPr lang="tr-TR" sz="2000" dirty="0"/>
          </a:p>
        </p:txBody>
      </p:sp>
    </p:spTree>
    <p:extLst>
      <p:ext uri="{BB962C8B-B14F-4D97-AF65-F5344CB8AC3E}">
        <p14:creationId xmlns:p14="http://schemas.microsoft.com/office/powerpoint/2010/main" val="366239627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Başlık 1"/>
          <p:cNvSpPr>
            <a:spLocks noGrp="1"/>
          </p:cNvSpPr>
          <p:nvPr>
            <p:ph type="title"/>
          </p:nvPr>
        </p:nvSpPr>
        <p:spPr/>
        <p:txBody>
          <a:bodyPr/>
          <a:lstStyle/>
          <a:p>
            <a:r>
              <a:rPr lang="tr-TR" dirty="0"/>
              <a:t>Örgütlerin Özellikleri: Rutinler ve İş Süreçleri</a:t>
            </a:r>
            <a:endParaRPr lang="tr-TR" dirty="0"/>
          </a:p>
        </p:txBody>
      </p:sp>
      <p:sp>
        <p:nvSpPr>
          <p:cNvPr id="3" name="İçerik Yer Tutucusu 2"/>
          <p:cNvSpPr>
            <a:spLocks noGrp="1"/>
          </p:cNvSpPr>
          <p:nvPr>
            <p:ph sz="quarter" idx="1"/>
          </p:nvPr>
        </p:nvSpPr>
        <p:spPr>
          <a:xfrm>
            <a:off x="457200" y="1600200"/>
            <a:ext cx="3754760" cy="4873752"/>
          </a:xfrm>
        </p:spPr>
        <p:txBody>
          <a:bodyPr>
            <a:normAutofit fontScale="77500" lnSpcReduction="20000"/>
          </a:bodyPr>
          <a:lstStyle/>
          <a:p>
            <a:r>
              <a:rPr lang="tr-TR" dirty="0" smtClean="0"/>
              <a:t>Bütün </a:t>
            </a:r>
            <a:r>
              <a:rPr lang="tr-TR" dirty="0"/>
              <a:t>örgütler bireysel rutin ve davranışlardan oluşan iş süreçlerinin bir toplamıdır. </a:t>
            </a:r>
            <a:endParaRPr lang="tr-TR" dirty="0" smtClean="0"/>
          </a:p>
          <a:p>
            <a:r>
              <a:rPr lang="tr-TR" dirty="0" smtClean="0"/>
              <a:t>Standart </a:t>
            </a:r>
            <a:r>
              <a:rPr lang="tr-TR" dirty="0"/>
              <a:t>faaliyet prosedürleri de denilen rutinler, neredeyse bütün beklenen durumlarla başa çıkabilmek için geliştirilen kesin kurallar, prosedürler ve uygulamalardır. </a:t>
            </a:r>
            <a:endParaRPr lang="tr-TR" dirty="0" smtClean="0"/>
          </a:p>
          <a:p>
            <a:r>
              <a:rPr lang="tr-TR" dirty="0" smtClean="0"/>
              <a:t>Rutinler</a:t>
            </a:r>
            <a:r>
              <a:rPr lang="tr-TR" dirty="0"/>
              <a:t>, çalışanlar tarafından öğrenildikçe işletmede gitgide verimlilik artar. (Maliyetler azalır, çıktılar artar</a:t>
            </a:r>
            <a:r>
              <a:rPr lang="tr-TR" dirty="0" smtClean="0"/>
              <a:t>.)</a:t>
            </a:r>
          </a:p>
          <a:p>
            <a:r>
              <a:rPr lang="tr-TR" dirty="0" err="1" smtClean="0"/>
              <a:t>ES’leri</a:t>
            </a:r>
            <a:r>
              <a:rPr lang="tr-TR" dirty="0" smtClean="0"/>
              <a:t> </a:t>
            </a:r>
            <a:r>
              <a:rPr lang="tr-TR" dirty="0"/>
              <a:t>örgütsel performansı artırabilmek için rutin ve iş süreçlerini değiştirirler.</a:t>
            </a:r>
            <a:endParaRPr lang="tr-TR" dirty="0"/>
          </a:p>
        </p:txBody>
      </p:sp>
      <p:pic>
        <p:nvPicPr>
          <p:cNvPr id="4" name="Resim 3"/>
          <p:cNvPicPr>
            <a:picLocks noChangeAspect="1"/>
          </p:cNvPicPr>
          <p:nvPr/>
        </p:nvPicPr>
        <p:blipFill>
          <a:blip r:embed="rId2"/>
          <a:stretch>
            <a:fillRect/>
          </a:stretch>
        </p:blipFill>
        <p:spPr>
          <a:xfrm>
            <a:off x="4067944" y="1419308"/>
            <a:ext cx="4657725" cy="4876800"/>
          </a:xfrm>
          <a:prstGeom prst="rect">
            <a:avLst/>
          </a:prstGeom>
        </p:spPr>
      </p:pic>
    </p:spTree>
    <p:extLst>
      <p:ext uri="{BB962C8B-B14F-4D97-AF65-F5344CB8AC3E}">
        <p14:creationId xmlns:p14="http://schemas.microsoft.com/office/powerpoint/2010/main" val="29558346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Başlık 1"/>
          <p:cNvSpPr>
            <a:spLocks noGrp="1"/>
          </p:cNvSpPr>
          <p:nvPr>
            <p:ph type="title"/>
          </p:nvPr>
        </p:nvSpPr>
        <p:spPr/>
        <p:txBody>
          <a:bodyPr/>
          <a:lstStyle/>
          <a:p>
            <a:r>
              <a:rPr lang="tr-TR" dirty="0"/>
              <a:t>Örgütlerin Özellikleri: Örgüt Politikaları</a:t>
            </a:r>
            <a:endParaRPr lang="tr-TR" dirty="0"/>
          </a:p>
        </p:txBody>
      </p:sp>
      <p:sp>
        <p:nvSpPr>
          <p:cNvPr id="3" name="İçerik Yer Tutucusu 2"/>
          <p:cNvSpPr>
            <a:spLocks noGrp="1"/>
          </p:cNvSpPr>
          <p:nvPr>
            <p:ph sz="quarter" idx="1"/>
          </p:nvPr>
        </p:nvSpPr>
        <p:spPr/>
        <p:txBody>
          <a:bodyPr>
            <a:normAutofit/>
          </a:bodyPr>
          <a:lstStyle/>
          <a:p>
            <a:r>
              <a:rPr lang="tr-TR" dirty="0" smtClean="0"/>
              <a:t>Politik </a:t>
            </a:r>
            <a:r>
              <a:rPr lang="tr-TR" dirty="0"/>
              <a:t>direnç enformasyon sistemlerinin karşılaştığı en büyük zorluklardan biridir. </a:t>
            </a:r>
            <a:endParaRPr lang="tr-TR" dirty="0" smtClean="0"/>
          </a:p>
          <a:p>
            <a:r>
              <a:rPr lang="tr-TR" dirty="0" smtClean="0"/>
              <a:t>Stratejide</a:t>
            </a:r>
            <a:r>
              <a:rPr lang="tr-TR" dirty="0"/>
              <a:t>, işletme hedeflerinde, iş süreçlerinde ve prosedürlerde önemli değişimler meydana getiren bütün ES yatırımları işletmedeki büyük politik olaylardan biri haline gelirler. </a:t>
            </a:r>
            <a:endParaRPr lang="tr-TR" dirty="0" smtClean="0"/>
          </a:p>
          <a:p>
            <a:r>
              <a:rPr lang="tr-TR" dirty="0" smtClean="0"/>
              <a:t>Örgüt </a:t>
            </a:r>
            <a:r>
              <a:rPr lang="tr-TR" dirty="0"/>
              <a:t>politikalarını iyi bilen ve enformasyon sistemlerini iyi bilen yöneticiler az bilenlere nazaran daha kuvvetli bir pozisyona sahip olurlar.</a:t>
            </a:r>
            <a:endParaRPr lang="en-US" dirty="0">
              <a:ea typeface="ＭＳ Ｐゴシック" pitchFamily="34" charset="-128"/>
            </a:endParaRPr>
          </a:p>
          <a:p>
            <a:endParaRPr lang="en-US" dirty="0">
              <a:ea typeface="ＭＳ Ｐゴシック" pitchFamily="34" charset="-128"/>
            </a:endParaRPr>
          </a:p>
          <a:p>
            <a:endParaRPr lang="en-US" dirty="0">
              <a:ea typeface="ＭＳ Ｐゴシック" pitchFamily="34" charset="-128"/>
            </a:endParaRPr>
          </a:p>
          <a:p>
            <a:endParaRPr lang="en-US" dirty="0">
              <a:ea typeface="ＭＳ Ｐゴシック" pitchFamily="34" charset="-128"/>
            </a:endParaRPr>
          </a:p>
          <a:p>
            <a:endParaRPr lang="tr-TR" dirty="0"/>
          </a:p>
        </p:txBody>
      </p:sp>
    </p:spTree>
    <p:extLst>
      <p:ext uri="{BB962C8B-B14F-4D97-AF65-F5344CB8AC3E}">
        <p14:creationId xmlns:p14="http://schemas.microsoft.com/office/powerpoint/2010/main" val="413660568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Başlık 1"/>
          <p:cNvSpPr>
            <a:spLocks noGrp="1"/>
          </p:cNvSpPr>
          <p:nvPr>
            <p:ph type="title"/>
          </p:nvPr>
        </p:nvSpPr>
        <p:spPr/>
        <p:txBody>
          <a:bodyPr/>
          <a:lstStyle/>
          <a:p>
            <a:r>
              <a:rPr lang="tr-TR" dirty="0"/>
              <a:t>Örgütlerin Özellikleri: Örgüt kültürü </a:t>
            </a:r>
            <a:endParaRPr lang="tr-TR" dirty="0"/>
          </a:p>
        </p:txBody>
      </p:sp>
      <p:sp>
        <p:nvSpPr>
          <p:cNvPr id="3" name="İçerik Yer Tutucusu 2"/>
          <p:cNvSpPr>
            <a:spLocks noGrp="1"/>
          </p:cNvSpPr>
          <p:nvPr>
            <p:ph sz="quarter" idx="1"/>
          </p:nvPr>
        </p:nvSpPr>
        <p:spPr/>
        <p:txBody>
          <a:bodyPr>
            <a:normAutofit fontScale="92500" lnSpcReduction="20000"/>
          </a:bodyPr>
          <a:lstStyle/>
          <a:p>
            <a:r>
              <a:rPr lang="tr-TR" dirty="0" smtClean="0"/>
              <a:t>Bütün </a:t>
            </a:r>
            <a:r>
              <a:rPr lang="tr-TR" dirty="0"/>
              <a:t>örgütlerin amaçlarını ve ürünlerini tanımlayan, üyeler tarafından tartışma götürmeyen, sorgulanamayan varsayımları vardır. </a:t>
            </a:r>
            <a:endParaRPr lang="tr-TR" dirty="0" smtClean="0"/>
          </a:p>
          <a:p>
            <a:r>
              <a:rPr lang="tr-TR" dirty="0" smtClean="0"/>
              <a:t>Örgüt </a:t>
            </a:r>
            <a:r>
              <a:rPr lang="tr-TR" dirty="0"/>
              <a:t>kültürü işletmenin hangi ürünleri üretmesi gerektiği, bu ürünleri nasıl, nerede, kim için üretmesi gerektiği hakkındaki bir dizi varsayımı kapsar. </a:t>
            </a:r>
            <a:endParaRPr lang="tr-TR" dirty="0" smtClean="0"/>
          </a:p>
          <a:p>
            <a:r>
              <a:rPr lang="tr-TR" dirty="0" smtClean="0"/>
              <a:t>İşletmelerin </a:t>
            </a:r>
            <a:r>
              <a:rPr lang="tr-TR" dirty="0"/>
              <a:t>değer üretme yolu olan iş süreçleri de örgüt kültürü kapsamına girmektedir. </a:t>
            </a:r>
            <a:endParaRPr lang="tr-TR" dirty="0" smtClean="0"/>
          </a:p>
          <a:p>
            <a:r>
              <a:rPr lang="tr-TR" dirty="0" smtClean="0"/>
              <a:t>Örgüt </a:t>
            </a:r>
            <a:r>
              <a:rPr lang="tr-TR" dirty="0"/>
              <a:t>kültürü değişimler, özellikle de teknolojik değişimler üzerinde kısıtlayıcı olabilirler. </a:t>
            </a:r>
            <a:endParaRPr lang="tr-TR" dirty="0" smtClean="0"/>
          </a:p>
          <a:p>
            <a:r>
              <a:rPr lang="tr-TR" dirty="0" smtClean="0"/>
              <a:t>Çoğu </a:t>
            </a:r>
            <a:r>
              <a:rPr lang="tr-TR" dirty="0"/>
              <a:t>örgüt temel kültür öğelerinde değişim yapmamak için büyük direnç gösterir. </a:t>
            </a:r>
            <a:endParaRPr lang="tr-TR" dirty="0" smtClean="0"/>
          </a:p>
          <a:p>
            <a:r>
              <a:rPr lang="tr-TR" dirty="0" smtClean="0"/>
              <a:t>Bu </a:t>
            </a:r>
            <a:r>
              <a:rPr lang="tr-TR" dirty="0"/>
              <a:t>ise enformasyon sisteminin işletmeye yavaş bir şekilde adapte edilmesi ve bunun sonucunda adaptasyon sürecinin uzun olmasına neden olur.</a:t>
            </a:r>
            <a:endParaRPr lang="en-US" dirty="0">
              <a:ea typeface="ＭＳ Ｐゴシック" pitchFamily="34" charset="-128"/>
            </a:endParaRPr>
          </a:p>
          <a:p>
            <a:endParaRPr lang="en-US" dirty="0">
              <a:ea typeface="ＭＳ Ｐゴシック" pitchFamily="34" charset="-128"/>
            </a:endParaRPr>
          </a:p>
          <a:p>
            <a:endParaRPr lang="tr-TR" dirty="0"/>
          </a:p>
        </p:txBody>
      </p:sp>
    </p:spTree>
    <p:extLst>
      <p:ext uri="{BB962C8B-B14F-4D97-AF65-F5344CB8AC3E}">
        <p14:creationId xmlns:p14="http://schemas.microsoft.com/office/powerpoint/2010/main" val="247662463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Başlık 1"/>
          <p:cNvSpPr>
            <a:spLocks noGrp="1"/>
          </p:cNvSpPr>
          <p:nvPr>
            <p:ph type="title"/>
          </p:nvPr>
        </p:nvSpPr>
        <p:spPr/>
        <p:txBody>
          <a:bodyPr/>
          <a:lstStyle/>
          <a:p>
            <a:r>
              <a:rPr lang="tr-TR" dirty="0"/>
              <a:t>Örgütlerin Özellikleri: Örgüt Çevresi </a:t>
            </a:r>
            <a:endParaRPr lang="tr-TR" dirty="0"/>
          </a:p>
        </p:txBody>
      </p:sp>
      <p:sp>
        <p:nvSpPr>
          <p:cNvPr id="3" name="İçerik Yer Tutucusu 2"/>
          <p:cNvSpPr>
            <a:spLocks noGrp="1"/>
          </p:cNvSpPr>
          <p:nvPr>
            <p:ph sz="quarter" idx="1"/>
          </p:nvPr>
        </p:nvSpPr>
        <p:spPr/>
        <p:txBody>
          <a:bodyPr>
            <a:normAutofit fontScale="70000" lnSpcReduction="20000"/>
          </a:bodyPr>
          <a:lstStyle/>
          <a:p>
            <a:r>
              <a:rPr lang="tr-TR" dirty="0" smtClean="0"/>
              <a:t>Örgütler </a:t>
            </a:r>
            <a:r>
              <a:rPr lang="tr-TR" dirty="0"/>
              <a:t>ve çevreleri arasında karşılıklı bir etkileşim söz konusudur. </a:t>
            </a:r>
            <a:endParaRPr lang="tr-TR" dirty="0" smtClean="0"/>
          </a:p>
          <a:p>
            <a:r>
              <a:rPr lang="tr-TR" dirty="0" smtClean="0"/>
              <a:t>Bir </a:t>
            </a:r>
            <a:r>
              <a:rPr lang="tr-TR" dirty="0"/>
              <a:t>yanda, örgütler çevrelerini saran sosyal ve fiziksel çevreye açık ve bağımlıdır. </a:t>
            </a:r>
            <a:endParaRPr lang="tr-TR" dirty="0" smtClean="0"/>
          </a:p>
          <a:p>
            <a:r>
              <a:rPr lang="tr-TR" dirty="0" smtClean="0"/>
              <a:t>Diğer </a:t>
            </a:r>
            <a:r>
              <a:rPr lang="tr-TR" dirty="0"/>
              <a:t>yandan örgütler çevrelerini de etkileyebilirler. Örneğin, ticari işletmeler politik süreçleri etkilemek için diğer işletmelerle ittifak oluştururlar, ürünlerin müşteriler tarafından kabul edilmesi için müşteriyi etkilemek üzere reklam yaparlar. ES örgütün çevreyi anlamasında ve çevreyi etkilemesinde yardımcı olur. </a:t>
            </a:r>
            <a:endParaRPr lang="tr-TR" dirty="0" smtClean="0"/>
          </a:p>
          <a:p>
            <a:r>
              <a:rPr lang="tr-TR" dirty="0" smtClean="0"/>
              <a:t>Çevre </a:t>
            </a:r>
            <a:r>
              <a:rPr lang="tr-TR" dirty="0"/>
              <a:t>örgütlerden çok daha hızlı değişir. </a:t>
            </a:r>
            <a:endParaRPr lang="tr-TR" dirty="0" smtClean="0"/>
          </a:p>
          <a:p>
            <a:r>
              <a:rPr lang="tr-TR" dirty="0" smtClean="0"/>
              <a:t>Yeni </a:t>
            </a:r>
            <a:r>
              <a:rPr lang="tr-TR" dirty="0"/>
              <a:t>teknolojiler, yeni ürünler, değişen müşteri istekleri, her türlü örgütün kültür, politika ve bireyleri üzerinde baskı oluşturur. </a:t>
            </a:r>
            <a:endParaRPr lang="tr-TR" dirty="0" smtClean="0"/>
          </a:p>
          <a:p>
            <a:r>
              <a:rPr lang="tr-TR" dirty="0" smtClean="0"/>
              <a:t>Çoğu </a:t>
            </a:r>
            <a:r>
              <a:rPr lang="tr-TR" dirty="0"/>
              <a:t>örgüt hızlı değişen çevreye uyum sağlayamamaktadır. Örgütlerde değişime engelleyen temel unsurlar politika, kültür ve örgütsel </a:t>
            </a:r>
            <a:r>
              <a:rPr lang="tr-TR" dirty="0" err="1"/>
              <a:t>direç</a:t>
            </a:r>
            <a:r>
              <a:rPr lang="tr-TR" dirty="0"/>
              <a:t> olarak </a:t>
            </a:r>
            <a:r>
              <a:rPr lang="tr-TR" dirty="0" err="1"/>
              <a:t>olarak</a:t>
            </a:r>
            <a:r>
              <a:rPr lang="tr-TR" dirty="0"/>
              <a:t> özetlenebilir. </a:t>
            </a:r>
            <a:endParaRPr lang="tr-TR" dirty="0" smtClean="0"/>
          </a:p>
          <a:p>
            <a:r>
              <a:rPr lang="tr-TR" dirty="0" smtClean="0"/>
              <a:t>Enformasyon </a:t>
            </a:r>
            <a:r>
              <a:rPr lang="tr-TR" dirty="0"/>
              <a:t>sistemleri dış çevredeki değişimleri belirlemede yöneticilere yardımcı olarak çevre taraması ve analizi için temel araç görevini </a:t>
            </a:r>
            <a:r>
              <a:rPr lang="tr-TR" dirty="0" smtClean="0"/>
              <a:t>görürler.</a:t>
            </a:r>
          </a:p>
          <a:p>
            <a:r>
              <a:rPr lang="tr-TR" dirty="0" smtClean="0"/>
              <a:t>Sağladıkları </a:t>
            </a:r>
            <a:r>
              <a:rPr lang="tr-TR" dirty="0"/>
              <a:t>karar destekleri ile örgütlerin çevrelerini etkilemelerine yardımcı olurlar.</a:t>
            </a:r>
            <a:endParaRPr lang="en-US" dirty="0">
              <a:ea typeface="ＭＳ Ｐゴシック" pitchFamily="34" charset="-128"/>
            </a:endParaRPr>
          </a:p>
          <a:p>
            <a:endParaRPr lang="tr-TR" dirty="0"/>
          </a:p>
        </p:txBody>
      </p:sp>
    </p:spTree>
    <p:extLst>
      <p:ext uri="{BB962C8B-B14F-4D97-AF65-F5344CB8AC3E}">
        <p14:creationId xmlns:p14="http://schemas.microsoft.com/office/powerpoint/2010/main" val="13326446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Başlık 1"/>
          <p:cNvSpPr>
            <a:spLocks noGrp="1"/>
          </p:cNvSpPr>
          <p:nvPr>
            <p:ph type="title"/>
          </p:nvPr>
        </p:nvSpPr>
        <p:spPr/>
        <p:txBody>
          <a:bodyPr/>
          <a:lstStyle/>
          <a:p>
            <a:r>
              <a:rPr lang="tr-TR" dirty="0"/>
              <a:t>Örgüt Çevresinde Değişim : Yıkıcı Teknolojiler</a:t>
            </a:r>
            <a:endParaRPr lang="tr-TR" dirty="0"/>
          </a:p>
        </p:txBody>
      </p:sp>
      <p:sp>
        <p:nvSpPr>
          <p:cNvPr id="4" name="İçerik Yer Tutucusu 2"/>
          <p:cNvSpPr>
            <a:spLocks noGrp="1"/>
          </p:cNvSpPr>
          <p:nvPr>
            <p:ph sz="quarter" idx="1"/>
          </p:nvPr>
        </p:nvSpPr>
        <p:spPr>
          <a:xfrm>
            <a:off x="457200" y="1600200"/>
            <a:ext cx="7467600" cy="4873752"/>
          </a:xfrm>
        </p:spPr>
        <p:txBody>
          <a:bodyPr>
            <a:normAutofit fontScale="77500" lnSpcReduction="20000"/>
          </a:bodyPr>
          <a:lstStyle/>
          <a:p>
            <a:r>
              <a:rPr lang="tr-TR" dirty="0" smtClean="0"/>
              <a:t>Bazen </a:t>
            </a:r>
            <a:r>
              <a:rPr lang="tr-TR" dirty="0"/>
              <a:t>teknolojik bir değişim ve onun neticesindeki bir </a:t>
            </a:r>
            <a:r>
              <a:rPr lang="tr-TR" dirty="0" err="1"/>
              <a:t>inovasyon</a:t>
            </a:r>
            <a:r>
              <a:rPr lang="tr-TR" dirty="0"/>
              <a:t> işletme ve çevresinde büyük değişimler meydana getirebilir. Bu yenilikler yıkıcı olarak adlandırılır. </a:t>
            </a:r>
            <a:endParaRPr lang="tr-TR" dirty="0" smtClean="0"/>
          </a:p>
          <a:p>
            <a:r>
              <a:rPr lang="tr-TR" dirty="0" smtClean="0"/>
              <a:t>Yıkıcı </a:t>
            </a:r>
            <a:r>
              <a:rPr lang="tr-TR" dirty="0"/>
              <a:t>teknolojiler hali hazırda üretilen ürünlerden daha iyi ya da onlar kadar iyi performans ortaya koyan </a:t>
            </a:r>
            <a:r>
              <a:rPr lang="tr-TR" dirty="0" err="1"/>
              <a:t>ikâme</a:t>
            </a:r>
            <a:r>
              <a:rPr lang="tr-TR" dirty="0"/>
              <a:t> ürünlerdir. </a:t>
            </a:r>
            <a:endParaRPr lang="tr-TR" dirty="0" smtClean="0"/>
          </a:p>
          <a:p>
            <a:r>
              <a:rPr lang="tr-TR" dirty="0" err="1" smtClean="0"/>
              <a:t>Örn</a:t>
            </a:r>
            <a:r>
              <a:rPr lang="tr-TR" dirty="0"/>
              <a:t>: Dijital fotoğrafçılık film fotoğrafçılığının yerine geçmiştir. </a:t>
            </a:r>
            <a:endParaRPr lang="tr-TR" dirty="0" smtClean="0"/>
          </a:p>
          <a:p>
            <a:r>
              <a:rPr lang="tr-TR" dirty="0" smtClean="0"/>
              <a:t>Yıkıcı </a:t>
            </a:r>
            <a:r>
              <a:rPr lang="tr-TR" dirty="0"/>
              <a:t>teknolojiler genellikle daha çok işlevsellik ve az maliyetle pazarı rahatça genişletebilirler. </a:t>
            </a:r>
            <a:endParaRPr lang="tr-TR" dirty="0" smtClean="0"/>
          </a:p>
          <a:p>
            <a:r>
              <a:rPr lang="tr-TR" dirty="0" smtClean="0"/>
              <a:t>Sonuçta </a:t>
            </a:r>
            <a:r>
              <a:rPr lang="tr-TR" dirty="0"/>
              <a:t>değişime ayak uyduramayan firmalar piyasadan silinirler. </a:t>
            </a:r>
            <a:endParaRPr lang="tr-TR" dirty="0" smtClean="0"/>
          </a:p>
          <a:p>
            <a:r>
              <a:rPr lang="tr-TR" dirty="0" smtClean="0"/>
              <a:t>Bazı </a:t>
            </a:r>
            <a:r>
              <a:rPr lang="tr-TR" dirty="0"/>
              <a:t>durumlarda ise yıkıcı teknolojiler bir firma tarafından pazara sürülürken, pazardaki rakip firma bu teknolojiye çabuk uyum sağlayıp bu hususta daha ileri giderek liderliği ele geçirebilir. </a:t>
            </a:r>
            <a:endParaRPr lang="tr-TR" dirty="0" smtClean="0"/>
          </a:p>
          <a:p>
            <a:r>
              <a:rPr lang="tr-TR" dirty="0" smtClean="0"/>
              <a:t>MITS </a:t>
            </a:r>
            <a:r>
              <a:rPr lang="tr-TR" dirty="0"/>
              <a:t>Altair 8800 herkesçe ilk kişisel bilgisayar olarak bilinir. Ama pazara ikinci olarak giren IBM ve MICROSOFT gibi işletmeler ise ödülleri toplamıştır.</a:t>
            </a:r>
            <a:endParaRPr lang="tr-TR" dirty="0"/>
          </a:p>
        </p:txBody>
      </p:sp>
    </p:spTree>
    <p:extLst>
      <p:ext uri="{BB962C8B-B14F-4D97-AF65-F5344CB8AC3E}">
        <p14:creationId xmlns:p14="http://schemas.microsoft.com/office/powerpoint/2010/main" val="178272305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Başlık 1"/>
          <p:cNvSpPr>
            <a:spLocks noGrp="1"/>
          </p:cNvSpPr>
          <p:nvPr>
            <p:ph type="title"/>
          </p:nvPr>
        </p:nvSpPr>
        <p:spPr/>
        <p:txBody>
          <a:bodyPr/>
          <a:lstStyle/>
          <a:p>
            <a:r>
              <a:rPr lang="tr-TR" dirty="0"/>
              <a:t>Yıkıcı Teknoloji Örnekleri</a:t>
            </a:r>
            <a:endParaRPr lang="tr-TR" dirty="0"/>
          </a:p>
        </p:txBody>
      </p:sp>
      <p:pic>
        <p:nvPicPr>
          <p:cNvPr id="6" name="Resim 5"/>
          <p:cNvPicPr>
            <a:picLocks noChangeAspect="1"/>
          </p:cNvPicPr>
          <p:nvPr/>
        </p:nvPicPr>
        <p:blipFill>
          <a:blip r:embed="rId2"/>
          <a:stretch>
            <a:fillRect/>
          </a:stretch>
        </p:blipFill>
        <p:spPr>
          <a:xfrm>
            <a:off x="1475656" y="1396197"/>
            <a:ext cx="7272808" cy="5450116"/>
          </a:xfrm>
          <a:prstGeom prst="rect">
            <a:avLst/>
          </a:prstGeom>
        </p:spPr>
      </p:pic>
    </p:spTree>
    <p:extLst>
      <p:ext uri="{BB962C8B-B14F-4D97-AF65-F5344CB8AC3E}">
        <p14:creationId xmlns:p14="http://schemas.microsoft.com/office/powerpoint/2010/main" val="21483643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Başlık 1"/>
          <p:cNvSpPr>
            <a:spLocks noGrp="1"/>
          </p:cNvSpPr>
          <p:nvPr>
            <p:ph type="title"/>
          </p:nvPr>
        </p:nvSpPr>
        <p:spPr/>
        <p:txBody>
          <a:bodyPr/>
          <a:lstStyle/>
          <a:p>
            <a:r>
              <a:rPr lang="tr-TR" dirty="0"/>
              <a:t>Ekonomik Etkiler</a:t>
            </a:r>
            <a:endParaRPr lang="tr-TR" dirty="0"/>
          </a:p>
        </p:txBody>
      </p:sp>
      <p:sp>
        <p:nvSpPr>
          <p:cNvPr id="5" name="İçerik Yer Tutucusu 5"/>
          <p:cNvSpPr>
            <a:spLocks noGrp="1"/>
          </p:cNvSpPr>
          <p:nvPr>
            <p:ph sz="quarter" idx="1"/>
          </p:nvPr>
        </p:nvSpPr>
        <p:spPr>
          <a:xfrm>
            <a:off x="457200" y="1600200"/>
            <a:ext cx="8507288" cy="5257800"/>
          </a:xfrm>
        </p:spPr>
        <p:txBody>
          <a:bodyPr>
            <a:noAutofit/>
          </a:bodyPr>
          <a:lstStyle/>
          <a:p>
            <a:r>
              <a:rPr lang="tr-TR" sz="1600" dirty="0"/>
              <a:t>Ekonomi yaklaşımına göre ES, hem sermayenin göreceli maliyetini hem de enformasyon maliyetini değiştirir. </a:t>
            </a:r>
            <a:endParaRPr lang="tr-TR" sz="1600" dirty="0" smtClean="0"/>
          </a:p>
          <a:p>
            <a:r>
              <a:rPr lang="tr-TR" sz="1600" dirty="0" err="1" smtClean="0"/>
              <a:t>ES’ler</a:t>
            </a:r>
            <a:r>
              <a:rPr lang="tr-TR" sz="1600" dirty="0" smtClean="0"/>
              <a:t> </a:t>
            </a:r>
            <a:r>
              <a:rPr lang="tr-TR" sz="1600" dirty="0"/>
              <a:t>geleneksel emek ve sermaye gibi üretim faktörleri yerine geçmeye adaydır. ES maliyeti azaldıkça emek yerine geçmesi düşünülmektedir. Sonuç olarak ES emek yerine geçtikçe orta düzey çalışan ve yönetici sayılarında bir azalma yaşanacaktır. </a:t>
            </a:r>
            <a:endParaRPr lang="tr-TR" sz="1600" dirty="0" smtClean="0"/>
          </a:p>
          <a:p>
            <a:r>
              <a:rPr lang="tr-TR" sz="1600" dirty="0" smtClean="0"/>
              <a:t>Aynı </a:t>
            </a:r>
            <a:r>
              <a:rPr lang="tr-TR" sz="1600" dirty="0"/>
              <a:t>şekilde Enformasyon teknolojilerinin maliyeti azaldıkça, </a:t>
            </a:r>
            <a:r>
              <a:rPr lang="tr-TR" sz="1600" dirty="0" err="1"/>
              <a:t>nisbeten</a:t>
            </a:r>
            <a:r>
              <a:rPr lang="tr-TR" sz="1600" dirty="0"/>
              <a:t> pahalı sayılan binalar ve makineler gibi diğer sermaye şekillerinin de yerini alması beklenmektedir. </a:t>
            </a:r>
            <a:endParaRPr lang="tr-TR" sz="1600" dirty="0" smtClean="0"/>
          </a:p>
          <a:p>
            <a:r>
              <a:rPr lang="tr-TR" sz="1600" dirty="0" smtClean="0"/>
              <a:t>ET </a:t>
            </a:r>
            <a:r>
              <a:rPr lang="tr-TR" sz="1600" dirty="0"/>
              <a:t>işletmelerin fiziksel olarak küçülmelerine sebep olmaktadır, çünkü işlem maliyetlerini düşürmektedir. </a:t>
            </a:r>
            <a:endParaRPr lang="tr-TR" sz="1600" dirty="0" smtClean="0"/>
          </a:p>
          <a:p>
            <a:r>
              <a:rPr lang="tr-TR" sz="1600" dirty="0" smtClean="0"/>
              <a:t>İşlem </a:t>
            </a:r>
            <a:r>
              <a:rPr lang="tr-TR" sz="1600" dirty="0"/>
              <a:t>maliyeti, işletmenin kendi başına üretemeyeceği bir ürünü piyasadaki başka firmalardan sağlama maliyetidir. </a:t>
            </a:r>
            <a:endParaRPr lang="tr-TR" sz="1600" dirty="0" smtClean="0"/>
          </a:p>
          <a:p>
            <a:r>
              <a:rPr lang="tr-TR" sz="1600" dirty="0" smtClean="0"/>
              <a:t>Geleneksel </a:t>
            </a:r>
            <a:r>
              <a:rPr lang="tr-TR" sz="1600" dirty="0"/>
              <a:t>işletmeler, General </a:t>
            </a:r>
            <a:r>
              <a:rPr lang="tr-TR" sz="1600" dirty="0" err="1"/>
              <a:t>Motors</a:t>
            </a:r>
            <a:r>
              <a:rPr lang="tr-TR" sz="1600" dirty="0"/>
              <a:t> ve Ford’un eskiden yaptığı gibi üretim maliyetlerini dikey bütünleşme yoluyla, daha çok büyüyerek, daha fazla çalışanı işe alarak, kendi tedarikçi ve dağıtıcılarını satın alarak azaltmaya çalışmışlardır. </a:t>
            </a:r>
            <a:endParaRPr lang="tr-TR" sz="1600" dirty="0" smtClean="0"/>
          </a:p>
          <a:p>
            <a:r>
              <a:rPr lang="tr-TR" sz="1600" dirty="0" smtClean="0"/>
              <a:t>ET</a:t>
            </a:r>
            <a:r>
              <a:rPr lang="tr-TR" sz="1600" dirty="0"/>
              <a:t>, özellikle ağların kullanımı ile işletmelerin iç kaynaklarını kullanmak yerine dış tedarikçiler ile anlaşmasını sağlayarak işlem maliyetlerini aşağı çekmektedir. </a:t>
            </a:r>
            <a:endParaRPr lang="tr-TR" sz="1600" dirty="0" smtClean="0"/>
          </a:p>
          <a:p>
            <a:r>
              <a:rPr lang="tr-TR" sz="1600" dirty="0" smtClean="0"/>
              <a:t>İşletmeler </a:t>
            </a:r>
            <a:r>
              <a:rPr lang="tr-TR" sz="1600" dirty="0"/>
              <a:t>öz yetkinliklerini bünyelerinde tutmakta, diğer faaliyetleri </a:t>
            </a:r>
            <a:r>
              <a:rPr lang="tr-TR" sz="1600" dirty="0" err="1"/>
              <a:t>outsource</a:t>
            </a:r>
            <a:r>
              <a:rPr lang="tr-TR" sz="1600" dirty="0"/>
              <a:t> etmektedir. Burada da koordinasyonu sağlamak için </a:t>
            </a:r>
            <a:r>
              <a:rPr lang="tr-TR" sz="1600" dirty="0" err="1"/>
              <a:t>ET’den</a:t>
            </a:r>
            <a:r>
              <a:rPr lang="tr-TR" sz="1600" dirty="0"/>
              <a:t> istifade etmektedir.</a:t>
            </a:r>
            <a:endParaRPr lang="tr-TR" sz="1600" dirty="0"/>
          </a:p>
        </p:txBody>
      </p:sp>
    </p:spTree>
    <p:extLst>
      <p:ext uri="{BB962C8B-B14F-4D97-AF65-F5344CB8AC3E}">
        <p14:creationId xmlns:p14="http://schemas.microsoft.com/office/powerpoint/2010/main" val="254660705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Başlık 1"/>
          <p:cNvSpPr>
            <a:spLocks noGrp="1"/>
          </p:cNvSpPr>
          <p:nvPr>
            <p:ph type="title"/>
          </p:nvPr>
        </p:nvSpPr>
        <p:spPr/>
        <p:txBody>
          <a:bodyPr/>
          <a:lstStyle/>
          <a:p>
            <a:r>
              <a:rPr lang="tr-TR" dirty="0"/>
              <a:t>Ekonomik Etkiler</a:t>
            </a:r>
            <a:endParaRPr lang="tr-TR" dirty="0"/>
          </a:p>
        </p:txBody>
      </p:sp>
      <p:sp>
        <p:nvSpPr>
          <p:cNvPr id="5" name="İçerik Yer Tutucusu 5"/>
          <p:cNvSpPr>
            <a:spLocks noGrp="1"/>
          </p:cNvSpPr>
          <p:nvPr>
            <p:ph sz="quarter" idx="1"/>
          </p:nvPr>
        </p:nvSpPr>
        <p:spPr>
          <a:xfrm>
            <a:off x="457200" y="1600200"/>
            <a:ext cx="5338936" cy="5257800"/>
          </a:xfrm>
        </p:spPr>
        <p:txBody>
          <a:bodyPr>
            <a:noAutofit/>
          </a:bodyPr>
          <a:lstStyle/>
          <a:p>
            <a:r>
              <a:rPr lang="tr-TR" sz="1300" dirty="0"/>
              <a:t>Chrysler firması ES kullanarak üretimde kullanılacak parçaların %70 den fazlasını dışarıdan tedarik etmektedir</a:t>
            </a:r>
            <a:r>
              <a:rPr lang="tr-TR" sz="1300" dirty="0" smtClean="0"/>
              <a:t>.</a:t>
            </a:r>
          </a:p>
          <a:p>
            <a:r>
              <a:rPr lang="tr-TR" sz="1300" dirty="0" smtClean="0"/>
              <a:t>Yandaki </a:t>
            </a:r>
            <a:r>
              <a:rPr lang="tr-TR" sz="1300" dirty="0"/>
              <a:t>şekilde işlem maliyeti düştükçe, işletme büyüklüğünün küçülmesi gerektiğini ifade etmektedir. </a:t>
            </a:r>
            <a:endParaRPr lang="tr-TR" sz="1300" dirty="0" smtClean="0"/>
          </a:p>
          <a:p>
            <a:r>
              <a:rPr lang="tr-TR" sz="1300" dirty="0" smtClean="0"/>
              <a:t>Çünkü </a:t>
            </a:r>
            <a:r>
              <a:rPr lang="tr-TR" sz="1300" dirty="0"/>
              <a:t>ürünü üretmek için gerekli olan parça dışarıdan daha ucuza temin edilebilmektedir. </a:t>
            </a:r>
            <a:endParaRPr lang="tr-TR" sz="1300" dirty="0" smtClean="0"/>
          </a:p>
          <a:p>
            <a:r>
              <a:rPr lang="tr-TR" sz="1300" dirty="0" smtClean="0"/>
              <a:t>ET </a:t>
            </a:r>
            <a:r>
              <a:rPr lang="tr-TR" sz="1300" dirty="0"/>
              <a:t>aynı zamanda içsel yönetim maliyetlerini düşürebilir. </a:t>
            </a:r>
            <a:endParaRPr lang="tr-TR" sz="1300" dirty="0" smtClean="0"/>
          </a:p>
          <a:p>
            <a:r>
              <a:rPr lang="tr-TR" sz="1300" dirty="0" smtClean="0"/>
              <a:t>Vekâlet </a:t>
            </a:r>
            <a:r>
              <a:rPr lang="tr-TR" sz="1300" dirty="0"/>
              <a:t>teorisine göre; işletme, kârı maksimum yapacak bir kuruluştan çok, çıkarını düşünen bireyler arasındaki sözleşmeler bağı olarak görülür. </a:t>
            </a:r>
            <a:endParaRPr lang="tr-TR" sz="1300" dirty="0" smtClean="0"/>
          </a:p>
          <a:p>
            <a:r>
              <a:rPr lang="tr-TR" sz="1300" dirty="0" smtClean="0"/>
              <a:t>Bir </a:t>
            </a:r>
            <a:r>
              <a:rPr lang="tr-TR" sz="1300" dirty="0"/>
              <a:t>müdür iş yapmak için kendisine vekil olacak kişileri işe alır. </a:t>
            </a:r>
            <a:endParaRPr lang="tr-TR" sz="1300" dirty="0" smtClean="0"/>
          </a:p>
          <a:p>
            <a:r>
              <a:rPr lang="tr-TR" sz="1300" dirty="0" smtClean="0"/>
              <a:t>İşletmeler </a:t>
            </a:r>
            <a:r>
              <a:rPr lang="tr-TR" sz="1300" dirty="0"/>
              <a:t>büyüdükçe vekalet ve koordinasyon maliyetleri de artar. Çünkü işletme sahipleri, çalışanları denetlemek ve yönetmek için gitgide daha fazla çaba harcamak zorunda kalırlar. </a:t>
            </a:r>
            <a:endParaRPr lang="tr-TR" sz="1300" dirty="0" smtClean="0"/>
          </a:p>
          <a:p>
            <a:r>
              <a:rPr lang="tr-TR" sz="1300" dirty="0" smtClean="0"/>
              <a:t>ET</a:t>
            </a:r>
            <a:r>
              <a:rPr lang="tr-TR" sz="1300" dirty="0"/>
              <a:t>, enformasyonu elde etme ve analiz etme maliyetlerini düşürerek örgütlerin vekâlet maliyetlerini de düşürmelerini sağlar. Çünkü yöneticiler için daha fazla sayıda çalışanı gözetlemek daha kolay hale gelir. </a:t>
            </a:r>
            <a:endParaRPr lang="tr-TR" sz="1300" dirty="0" smtClean="0"/>
          </a:p>
          <a:p>
            <a:r>
              <a:rPr lang="tr-TR" sz="1300" dirty="0" smtClean="0"/>
              <a:t>Yandaki </a:t>
            </a:r>
            <a:r>
              <a:rPr lang="tr-TR" sz="1300" dirty="0"/>
              <a:t>şekil ET ‘</a:t>
            </a:r>
            <a:r>
              <a:rPr lang="tr-TR" sz="1300" dirty="0" err="1"/>
              <a:t>nin</a:t>
            </a:r>
            <a:r>
              <a:rPr lang="tr-TR" sz="1300" dirty="0"/>
              <a:t> toplam yönetim maliyetlerini azaltarak orta düzey yöneticilerin ve sekreterlik çalışanlarının sayısını azaltırken, işletmelerin kârlarını artırdığını göstermektedir.</a:t>
            </a:r>
            <a:endParaRPr lang="tr-TR" sz="1300" dirty="0"/>
          </a:p>
        </p:txBody>
      </p:sp>
      <p:pic>
        <p:nvPicPr>
          <p:cNvPr id="3" name="Resim 2"/>
          <p:cNvPicPr>
            <a:picLocks noChangeAspect="1"/>
          </p:cNvPicPr>
          <p:nvPr/>
        </p:nvPicPr>
        <p:blipFill>
          <a:blip r:embed="rId2"/>
          <a:stretch>
            <a:fillRect/>
          </a:stretch>
        </p:blipFill>
        <p:spPr>
          <a:xfrm>
            <a:off x="5796136" y="1480914"/>
            <a:ext cx="3025691" cy="5377086"/>
          </a:xfrm>
          <a:prstGeom prst="rect">
            <a:avLst/>
          </a:prstGeom>
        </p:spPr>
      </p:pic>
    </p:spTree>
    <p:extLst>
      <p:ext uri="{BB962C8B-B14F-4D97-AF65-F5344CB8AC3E}">
        <p14:creationId xmlns:p14="http://schemas.microsoft.com/office/powerpoint/2010/main" val="284814006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Başlık 1"/>
          <p:cNvSpPr>
            <a:spLocks noGrp="1"/>
          </p:cNvSpPr>
          <p:nvPr>
            <p:ph type="title"/>
          </p:nvPr>
        </p:nvSpPr>
        <p:spPr/>
        <p:txBody>
          <a:bodyPr/>
          <a:lstStyle/>
          <a:p>
            <a:r>
              <a:rPr lang="tr-TR" dirty="0"/>
              <a:t>Yeni ürün</a:t>
            </a:r>
            <a:r>
              <a:rPr lang="tr-TR" dirty="0" smtClean="0"/>
              <a:t>, Hizmet </a:t>
            </a:r>
            <a:r>
              <a:rPr lang="tr-TR" dirty="0"/>
              <a:t>ve İş Modelleri</a:t>
            </a:r>
          </a:p>
        </p:txBody>
      </p:sp>
      <p:sp>
        <p:nvSpPr>
          <p:cNvPr id="3" name="İçerik Yer Tutucusu 2"/>
          <p:cNvSpPr>
            <a:spLocks noGrp="1"/>
          </p:cNvSpPr>
          <p:nvPr>
            <p:ph sz="quarter" idx="1"/>
          </p:nvPr>
        </p:nvSpPr>
        <p:spPr>
          <a:xfrm>
            <a:off x="457200" y="1600200"/>
            <a:ext cx="7467600" cy="3340968"/>
          </a:xfrm>
        </p:spPr>
        <p:txBody>
          <a:bodyPr>
            <a:normAutofit lnSpcReduction="10000"/>
          </a:bodyPr>
          <a:lstStyle/>
          <a:p>
            <a:r>
              <a:rPr lang="tr-TR" dirty="0"/>
              <a:t>Enformasyon sistemleri yeni ürün ve hizmet geliştirme yanında iş modeli geliştirmekte de kullanılan etkili araçlardır. </a:t>
            </a:r>
            <a:endParaRPr lang="tr-TR" dirty="0" smtClean="0"/>
          </a:p>
          <a:p>
            <a:r>
              <a:rPr lang="tr-TR" dirty="0" smtClean="0"/>
              <a:t>İş </a:t>
            </a:r>
            <a:r>
              <a:rPr lang="tr-TR" dirty="0"/>
              <a:t>modeli, bir işletmenin bir ürün ya da hizmeti nasıl ürettiğini, sattığını ve teslim ettiğini tanımlamaktadır. </a:t>
            </a:r>
            <a:endParaRPr lang="tr-TR" dirty="0" smtClean="0"/>
          </a:p>
          <a:p>
            <a:r>
              <a:rPr lang="tr-TR" dirty="0" smtClean="0"/>
              <a:t>Müzik </a:t>
            </a:r>
            <a:r>
              <a:rPr lang="tr-TR" dirty="0"/>
              <a:t>kaset ve </a:t>
            </a:r>
            <a:r>
              <a:rPr lang="tr-TR" dirty="0" err="1"/>
              <a:t>Cd’leri</a:t>
            </a:r>
            <a:r>
              <a:rPr lang="tr-TR" dirty="0"/>
              <a:t> eskiden </a:t>
            </a:r>
            <a:r>
              <a:rPr lang="tr-TR" dirty="0" err="1"/>
              <a:t>mağazarda</a:t>
            </a:r>
            <a:r>
              <a:rPr lang="tr-TR" dirty="0"/>
              <a:t> satılırken günümüzde büyük oranda internet ortamından satışa sunulmaktadır</a:t>
            </a:r>
            <a:r>
              <a:rPr lang="tr-TR" dirty="0" smtClean="0"/>
              <a:t>.</a:t>
            </a:r>
          </a:p>
          <a:p>
            <a:endParaRPr lang="tr-TR" dirty="0">
              <a:ea typeface="ＭＳ Ｐゴシック" pitchFamily="34" charset="-128"/>
            </a:endParaRPr>
          </a:p>
          <a:p>
            <a:pPr marL="0" indent="0">
              <a:buNone/>
            </a:pPr>
            <a:endParaRPr lang="en-US" dirty="0">
              <a:ea typeface="ＭＳ Ｐゴシック" pitchFamily="34" charset="-128"/>
            </a:endParaRPr>
          </a:p>
        </p:txBody>
      </p:sp>
      <p:pic>
        <p:nvPicPr>
          <p:cNvPr id="5" name="Resim 4"/>
          <p:cNvPicPr>
            <a:picLocks noChangeAspect="1"/>
          </p:cNvPicPr>
          <p:nvPr/>
        </p:nvPicPr>
        <p:blipFill>
          <a:blip r:embed="rId2"/>
          <a:stretch>
            <a:fillRect/>
          </a:stretch>
        </p:blipFill>
        <p:spPr>
          <a:xfrm>
            <a:off x="1403648" y="4941168"/>
            <a:ext cx="5848350" cy="1590675"/>
          </a:xfrm>
          <a:prstGeom prst="rect">
            <a:avLst/>
          </a:prstGeom>
        </p:spPr>
      </p:pic>
    </p:spTree>
    <p:extLst>
      <p:ext uri="{BB962C8B-B14F-4D97-AF65-F5344CB8AC3E}">
        <p14:creationId xmlns:p14="http://schemas.microsoft.com/office/powerpoint/2010/main" val="1034514057"/>
      </p:ext>
    </p:extLst>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Başlık 1"/>
          <p:cNvSpPr>
            <a:spLocks noGrp="1"/>
          </p:cNvSpPr>
          <p:nvPr>
            <p:ph type="title"/>
          </p:nvPr>
        </p:nvSpPr>
        <p:spPr/>
        <p:txBody>
          <a:bodyPr/>
          <a:lstStyle/>
          <a:p>
            <a:r>
              <a:rPr lang="tr-TR" dirty="0"/>
              <a:t>3. Müşteri ve Tedarikçilerle İlişkiler</a:t>
            </a:r>
          </a:p>
        </p:txBody>
      </p:sp>
      <p:sp>
        <p:nvSpPr>
          <p:cNvPr id="3" name="İçerik Yer Tutucusu 2"/>
          <p:cNvSpPr>
            <a:spLocks noGrp="1"/>
          </p:cNvSpPr>
          <p:nvPr>
            <p:ph sz="quarter" idx="1"/>
          </p:nvPr>
        </p:nvSpPr>
        <p:spPr/>
        <p:txBody>
          <a:bodyPr>
            <a:normAutofit fontScale="92500"/>
          </a:bodyPr>
          <a:lstStyle/>
          <a:p>
            <a:r>
              <a:rPr lang="tr-TR" dirty="0" smtClean="0"/>
              <a:t>Bir </a:t>
            </a:r>
            <a:r>
              <a:rPr lang="tr-TR" dirty="0"/>
              <a:t>işletme müşteri ve tedarikçilerini iş süreçlerine ne kadar dahil eder ve onlarla ne kadar fazla entegre olursa o kadar fazla getiri elde eder. </a:t>
            </a:r>
            <a:endParaRPr lang="tr-TR" dirty="0" smtClean="0"/>
          </a:p>
          <a:p>
            <a:r>
              <a:rPr lang="tr-TR" dirty="0" smtClean="0"/>
              <a:t>Maliyetleri </a:t>
            </a:r>
            <a:r>
              <a:rPr lang="tr-TR" dirty="0"/>
              <a:t>düşer ve pazarda rekabet avantajı sağlar. </a:t>
            </a:r>
            <a:endParaRPr lang="tr-TR" dirty="0" smtClean="0"/>
          </a:p>
          <a:p>
            <a:r>
              <a:rPr lang="tr-TR" dirty="0" smtClean="0"/>
              <a:t>Günümüzde </a:t>
            </a:r>
            <a:r>
              <a:rPr lang="tr-TR" dirty="0"/>
              <a:t>bazı firmalar müşterilerinin alış veriş verilerinin analiz ederek onlara uygun reklam ve ürün önerileri sunmaktadır. </a:t>
            </a:r>
            <a:endParaRPr lang="tr-TR" dirty="0" smtClean="0"/>
          </a:p>
          <a:p>
            <a:r>
              <a:rPr lang="tr-TR" dirty="0" smtClean="0"/>
              <a:t>Bu </a:t>
            </a:r>
            <a:r>
              <a:rPr lang="tr-TR" dirty="0"/>
              <a:t>durum müşteri memnuniyetini artırmaktadır. </a:t>
            </a:r>
            <a:endParaRPr lang="tr-TR" dirty="0" smtClean="0"/>
          </a:p>
          <a:p>
            <a:r>
              <a:rPr lang="tr-TR" dirty="0" smtClean="0"/>
              <a:t>Günümüzde </a:t>
            </a:r>
            <a:r>
              <a:rPr lang="tr-TR" dirty="0"/>
              <a:t>YBS kullanılarak müşterilerin sosyal paylaşım sitelerindeki paylaşımları, beğenileri vs. takip edilerek müşteriye özel ürünler ve reklamlar yapılmaktadır.</a:t>
            </a:r>
            <a:endParaRPr lang="en-US" dirty="0">
              <a:ea typeface="ＭＳ Ｐゴシック" pitchFamily="34" charset="-128"/>
            </a:endParaRPr>
          </a:p>
        </p:txBody>
      </p:sp>
    </p:spTree>
    <p:extLst>
      <p:ext uri="{BB962C8B-B14F-4D97-AF65-F5344CB8AC3E}">
        <p14:creationId xmlns:p14="http://schemas.microsoft.com/office/powerpoint/2010/main" val="1692678841"/>
      </p:ext>
    </p:extLst>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p:cNvSpPr txBox="1">
            <a:spLocks/>
          </p:cNvSpPr>
          <p:nvPr/>
        </p:nvSpPr>
        <p:spPr>
          <a:xfrm>
            <a:off x="495300" y="692696"/>
            <a:ext cx="6096000" cy="549275"/>
          </a:xfrm>
          <a:prstGeom prst="rect">
            <a:avLst/>
          </a:prstGeom>
        </p:spPr>
        <p:txBody>
          <a:bodyPr vert="horz" anchor="b">
            <a:normAutofit/>
          </a:bodyPr>
          <a:lstStyle>
            <a:lvl1pPr algn="l" rtl="0" eaLnBrk="1" latinLnBrk="0" hangingPunct="1">
              <a:spcBef>
                <a:spcPct val="0"/>
              </a:spcBef>
              <a:buNone/>
              <a:defRPr kumimoji="0" sz="3000" b="0" kern="1200" cap="small" baseline="0">
                <a:solidFill>
                  <a:schemeClr val="tx2"/>
                </a:solidFill>
                <a:latin typeface="+mj-lt"/>
                <a:ea typeface="+mj-ea"/>
                <a:cs typeface="+mj-cs"/>
              </a:defRPr>
            </a:lvl1pPr>
          </a:lstStyle>
          <a:p>
            <a:r>
              <a:rPr lang="tr-TR" dirty="0"/>
              <a:t>Etkinleştirilmiş Karar Verme</a:t>
            </a:r>
            <a:endParaRPr lang="en-US" dirty="0">
              <a:ea typeface="ＭＳ Ｐゴシック" pitchFamily="34" charset="-128"/>
            </a:endParaRPr>
          </a:p>
        </p:txBody>
      </p:sp>
      <p:sp>
        <p:nvSpPr>
          <p:cNvPr id="14" name="İçerik Yer Tutucusu 2"/>
          <p:cNvSpPr>
            <a:spLocks noGrp="1"/>
          </p:cNvSpPr>
          <p:nvPr>
            <p:ph sz="quarter" idx="1"/>
          </p:nvPr>
        </p:nvSpPr>
        <p:spPr>
          <a:xfrm>
            <a:off x="457200" y="1600200"/>
            <a:ext cx="7467600" cy="4873752"/>
          </a:xfrm>
        </p:spPr>
        <p:txBody>
          <a:bodyPr>
            <a:normAutofit fontScale="77500" lnSpcReduction="20000"/>
          </a:bodyPr>
          <a:lstStyle/>
          <a:p>
            <a:r>
              <a:rPr lang="tr-TR" dirty="0"/>
              <a:t>Yöneticiler doğru zamanda doğru karar verebilmek için doğru enformasyona ihtiyaç duyarlar. </a:t>
            </a:r>
            <a:endParaRPr lang="tr-TR" dirty="0" smtClean="0"/>
          </a:p>
          <a:p>
            <a:r>
              <a:rPr lang="tr-TR" dirty="0" smtClean="0"/>
              <a:t>Fakat </a:t>
            </a:r>
            <a:r>
              <a:rPr lang="tr-TR" dirty="0"/>
              <a:t>birçok yönetici enformasyon yığını içinde zan ve tahminlere göre karar vermek durumunda kalmaktadır. </a:t>
            </a:r>
            <a:endParaRPr lang="tr-TR" dirty="0" smtClean="0"/>
          </a:p>
          <a:p>
            <a:r>
              <a:rPr lang="tr-TR" dirty="0" smtClean="0"/>
              <a:t>Bunun </a:t>
            </a:r>
            <a:r>
              <a:rPr lang="tr-TR" dirty="0"/>
              <a:t>sonucu olarak yanlış ürün yada hizmetler üretilmekte ve yanlış yatırımlar yapılabilmektedir. </a:t>
            </a:r>
            <a:endParaRPr lang="tr-TR" dirty="0" smtClean="0"/>
          </a:p>
          <a:p>
            <a:r>
              <a:rPr lang="tr-TR" dirty="0" smtClean="0"/>
              <a:t>Her </a:t>
            </a:r>
            <a:r>
              <a:rPr lang="tr-TR" dirty="0"/>
              <a:t>hareket kendi cinsinden bir sonuç doğurduğu için yanlış karar yanlış sonuçlar doğurmaktadır. (müşteri kaybı, maliyet artışı vb.) </a:t>
            </a:r>
            <a:endParaRPr lang="tr-TR" dirty="0" smtClean="0"/>
          </a:p>
          <a:p>
            <a:r>
              <a:rPr lang="tr-TR" dirty="0" smtClean="0"/>
              <a:t>Enformasyon </a:t>
            </a:r>
            <a:r>
              <a:rPr lang="tr-TR" dirty="0"/>
              <a:t>sistemleri ise veri yığını yerine analiz edilerek süzgeçten geçirilmiş özet enformasyonu yöneticilere sunmaktadır. Aynı zamanda karar aşamalarında yöneticilere yapısındaki bazı sistemlerle destek vermektedir. </a:t>
            </a:r>
            <a:endParaRPr lang="tr-TR" dirty="0" smtClean="0"/>
          </a:p>
          <a:p>
            <a:r>
              <a:rPr lang="tr-TR" dirty="0" smtClean="0"/>
              <a:t>Böylece </a:t>
            </a:r>
            <a:r>
              <a:rPr lang="tr-TR" dirty="0"/>
              <a:t>daha kısa sürede daha riskli konularda daha etkili ve doğru kararlar verilmesini sağlamaktadır. </a:t>
            </a:r>
            <a:endParaRPr lang="tr-TR" dirty="0" smtClean="0"/>
          </a:p>
          <a:p>
            <a:r>
              <a:rPr lang="tr-TR" dirty="0" err="1" smtClean="0"/>
              <a:t>Boing</a:t>
            </a:r>
            <a:r>
              <a:rPr lang="tr-TR" dirty="0" smtClean="0"/>
              <a:t> </a:t>
            </a:r>
            <a:r>
              <a:rPr lang="tr-TR" dirty="0"/>
              <a:t>firması uçak modeli üretim kararında </a:t>
            </a:r>
            <a:r>
              <a:rPr lang="tr-TR" dirty="0" err="1"/>
              <a:t>YBS’den</a:t>
            </a:r>
            <a:r>
              <a:rPr lang="tr-TR" dirty="0"/>
              <a:t> faydalanmıştır.</a:t>
            </a:r>
            <a:endParaRPr lang="en-US" dirty="0">
              <a:ea typeface="ＭＳ Ｐゴシック" pitchFamily="34" charset="-128"/>
            </a:endParaRPr>
          </a:p>
        </p:txBody>
      </p:sp>
    </p:spTree>
    <p:extLst>
      <p:ext uri="{BB962C8B-B14F-4D97-AF65-F5344CB8AC3E}">
        <p14:creationId xmlns:p14="http://schemas.microsoft.com/office/powerpoint/2010/main" val="3503871560"/>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Başlık 1"/>
          <p:cNvSpPr>
            <a:spLocks noGrp="1"/>
          </p:cNvSpPr>
          <p:nvPr>
            <p:ph type="title"/>
          </p:nvPr>
        </p:nvSpPr>
        <p:spPr/>
        <p:txBody>
          <a:bodyPr/>
          <a:lstStyle/>
          <a:p>
            <a:r>
              <a:rPr lang="tr-TR" dirty="0"/>
              <a:t>Rekabetçi Avantaj </a:t>
            </a:r>
          </a:p>
        </p:txBody>
      </p:sp>
      <p:sp>
        <p:nvSpPr>
          <p:cNvPr id="3" name="İçerik Yer Tutucusu 2"/>
          <p:cNvSpPr>
            <a:spLocks noGrp="1"/>
          </p:cNvSpPr>
          <p:nvPr>
            <p:ph sz="quarter" idx="1"/>
          </p:nvPr>
        </p:nvSpPr>
        <p:spPr/>
        <p:txBody>
          <a:bodyPr/>
          <a:lstStyle/>
          <a:p>
            <a:r>
              <a:rPr lang="tr-TR" dirty="0"/>
              <a:t>İşletmeler; verimlilik artışı, yeni ürünler hizmetler ve iş modelleri oluşturmak, tüketici ve tedarikçi yakınlaşmasını sağlamak veya karar vermeyi geliştirmek gibi hedeflerden bir veya daha fazlasını elde ettiğinde rakip firmalara nispeten pazarda rekabet avantaj sağlamış olur</a:t>
            </a:r>
          </a:p>
        </p:txBody>
      </p:sp>
    </p:spTree>
    <p:extLst>
      <p:ext uri="{BB962C8B-B14F-4D97-AF65-F5344CB8AC3E}">
        <p14:creationId xmlns:p14="http://schemas.microsoft.com/office/powerpoint/2010/main" val="4008924425"/>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Başlık 1"/>
          <p:cNvSpPr>
            <a:spLocks noGrp="1"/>
          </p:cNvSpPr>
          <p:nvPr>
            <p:ph type="title"/>
          </p:nvPr>
        </p:nvSpPr>
        <p:spPr>
          <a:xfrm>
            <a:off x="524689" y="18601"/>
            <a:ext cx="7467600" cy="1143000"/>
          </a:xfrm>
        </p:spPr>
        <p:txBody>
          <a:bodyPr/>
          <a:lstStyle/>
          <a:p>
            <a:r>
              <a:rPr lang="tr-TR" dirty="0"/>
              <a:t>Ayakta Kalabilme</a:t>
            </a:r>
          </a:p>
        </p:txBody>
      </p:sp>
      <p:sp>
        <p:nvSpPr>
          <p:cNvPr id="3" name="İçerik Yer Tutucusu 2"/>
          <p:cNvSpPr>
            <a:spLocks noGrp="1"/>
          </p:cNvSpPr>
          <p:nvPr>
            <p:ph sz="quarter" idx="1"/>
          </p:nvPr>
        </p:nvSpPr>
        <p:spPr>
          <a:xfrm>
            <a:off x="533400" y="1156138"/>
            <a:ext cx="7467600" cy="2488886"/>
          </a:xfrm>
        </p:spPr>
        <p:txBody>
          <a:bodyPr/>
          <a:lstStyle/>
          <a:p>
            <a:r>
              <a:rPr lang="tr-TR" sz="1800" dirty="0" err="1" smtClean="0"/>
              <a:t>Citibank</a:t>
            </a:r>
            <a:r>
              <a:rPr lang="tr-TR" sz="1800" dirty="0" smtClean="0"/>
              <a:t> </a:t>
            </a:r>
            <a:r>
              <a:rPr lang="tr-TR" sz="1800" dirty="0"/>
              <a:t>ilk olarak 1977 yılında ATM (</a:t>
            </a:r>
            <a:r>
              <a:rPr lang="tr-TR" sz="1800" dirty="0" err="1"/>
              <a:t>Automatic</a:t>
            </a:r>
            <a:r>
              <a:rPr lang="tr-TR" sz="1800" dirty="0"/>
              <a:t> Teller Machine)kullanmaya başladı. </a:t>
            </a:r>
            <a:endParaRPr lang="tr-TR" sz="1800" dirty="0" smtClean="0"/>
          </a:p>
          <a:p>
            <a:r>
              <a:rPr lang="tr-TR" sz="1800" dirty="0" smtClean="0"/>
              <a:t>Rakipleri </a:t>
            </a:r>
            <a:r>
              <a:rPr lang="tr-TR" sz="1800" dirty="0" err="1"/>
              <a:t>Citibank’a</a:t>
            </a:r>
            <a:r>
              <a:rPr lang="tr-TR" sz="1800" dirty="0"/>
              <a:t> yetişebilmek için ATM’leri kullanmaya başladılar. </a:t>
            </a:r>
            <a:endParaRPr lang="tr-TR" sz="1800" dirty="0" smtClean="0"/>
          </a:p>
          <a:p>
            <a:r>
              <a:rPr lang="tr-TR" sz="1800" dirty="0" smtClean="0"/>
              <a:t>Rakip </a:t>
            </a:r>
            <a:r>
              <a:rPr lang="tr-TR" sz="1800" dirty="0"/>
              <a:t>işletmelerin hamleleri ve enformasyon sistemleri işletmeleri tetiklemektedir. </a:t>
            </a:r>
            <a:endParaRPr lang="en-US" sz="2000" dirty="0">
              <a:ea typeface="ＭＳ Ｐゴシック" pitchFamily="34" charset="-128"/>
            </a:endParaRPr>
          </a:p>
          <a:p>
            <a:endParaRPr lang="tr-TR" dirty="0"/>
          </a:p>
        </p:txBody>
      </p:sp>
      <p:pic>
        <p:nvPicPr>
          <p:cNvPr id="5" name="Resim 4"/>
          <p:cNvPicPr>
            <a:picLocks noChangeAspect="1"/>
          </p:cNvPicPr>
          <p:nvPr/>
        </p:nvPicPr>
        <p:blipFill>
          <a:blip r:embed="rId2"/>
          <a:stretch>
            <a:fillRect/>
          </a:stretch>
        </p:blipFill>
        <p:spPr>
          <a:xfrm>
            <a:off x="179512" y="3933056"/>
            <a:ext cx="8496300" cy="1619250"/>
          </a:xfrm>
          <a:prstGeom prst="rect">
            <a:avLst/>
          </a:prstGeom>
        </p:spPr>
      </p:pic>
    </p:spTree>
    <p:extLst>
      <p:ext uri="{BB962C8B-B14F-4D97-AF65-F5344CB8AC3E}">
        <p14:creationId xmlns:p14="http://schemas.microsoft.com/office/powerpoint/2010/main" val="2330046616"/>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Başlık 1"/>
          <p:cNvSpPr>
            <a:spLocks noGrp="1"/>
          </p:cNvSpPr>
          <p:nvPr>
            <p:ph type="title"/>
          </p:nvPr>
        </p:nvSpPr>
        <p:spPr/>
        <p:txBody>
          <a:bodyPr/>
          <a:lstStyle/>
          <a:p>
            <a:r>
              <a:rPr lang="tr-TR" dirty="0"/>
              <a:t>Enformasyon Teknolojisi (ET) Nedir? </a:t>
            </a:r>
          </a:p>
        </p:txBody>
      </p:sp>
      <p:sp>
        <p:nvSpPr>
          <p:cNvPr id="3" name="İçerik Yer Tutucusu 2"/>
          <p:cNvSpPr>
            <a:spLocks noGrp="1"/>
          </p:cNvSpPr>
          <p:nvPr>
            <p:ph sz="quarter" idx="1"/>
          </p:nvPr>
        </p:nvSpPr>
        <p:spPr>
          <a:xfrm>
            <a:off x="457200" y="1600200"/>
            <a:ext cx="7467600" cy="1036712"/>
          </a:xfrm>
        </p:spPr>
        <p:txBody>
          <a:bodyPr/>
          <a:lstStyle/>
          <a:p>
            <a:r>
              <a:rPr lang="tr-TR" dirty="0"/>
              <a:t>ET, bir işletmenin hedeflerine ulaşmak için kullandığı tüm yazılım ve donanımlardır.</a:t>
            </a:r>
          </a:p>
        </p:txBody>
      </p:sp>
      <p:cxnSp>
        <p:nvCxnSpPr>
          <p:cNvPr id="5" name="Straight Arrow Connector 5"/>
          <p:cNvCxnSpPr>
            <a:cxnSpLocks noChangeShapeType="1"/>
          </p:cNvCxnSpPr>
          <p:nvPr/>
        </p:nvCxnSpPr>
        <p:spPr bwMode="auto">
          <a:xfrm>
            <a:off x="2133600" y="3733800"/>
            <a:ext cx="3505200" cy="457200"/>
          </a:xfrm>
          <a:prstGeom prst="straightConnector1">
            <a:avLst/>
          </a:prstGeom>
          <a:noFill/>
          <a:ln w="9525">
            <a:solidFill>
              <a:schemeClr val="bg1"/>
            </a:solidFill>
            <a:round/>
            <a:headEnd/>
            <a:tailEnd type="arrow" w="med" len="med"/>
          </a:ln>
          <a:extLst>
            <a:ext uri="{909E8E84-426E-40DD-AFC4-6F175D3DCCD1}">
              <a14:hiddenFill xmlns:a14="http://schemas.microsoft.com/office/drawing/2010/main">
                <a:noFill/>
              </a14:hiddenFill>
            </a:ext>
          </a:extLst>
        </p:spPr>
      </p:cxnSp>
      <p:pic>
        <p:nvPicPr>
          <p:cNvPr id="7" name="Resim 6"/>
          <p:cNvPicPr>
            <a:picLocks noChangeAspect="1"/>
          </p:cNvPicPr>
          <p:nvPr/>
        </p:nvPicPr>
        <p:blipFill>
          <a:blip r:embed="rId2"/>
          <a:stretch>
            <a:fillRect/>
          </a:stretch>
        </p:blipFill>
        <p:spPr>
          <a:xfrm>
            <a:off x="1914525" y="2492896"/>
            <a:ext cx="4552950" cy="4048125"/>
          </a:xfrm>
          <a:prstGeom prst="rect">
            <a:avLst/>
          </a:prstGeom>
        </p:spPr>
      </p:pic>
    </p:spTree>
    <p:extLst>
      <p:ext uri="{BB962C8B-B14F-4D97-AF65-F5344CB8AC3E}">
        <p14:creationId xmlns:p14="http://schemas.microsoft.com/office/powerpoint/2010/main" val="3246766935"/>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Başlık 1"/>
          <p:cNvSpPr>
            <a:spLocks noGrp="1"/>
          </p:cNvSpPr>
          <p:nvPr>
            <p:ph type="title"/>
          </p:nvPr>
        </p:nvSpPr>
        <p:spPr/>
        <p:txBody>
          <a:bodyPr/>
          <a:lstStyle/>
          <a:p>
            <a:r>
              <a:rPr lang="tr-TR" dirty="0"/>
              <a:t>Veri-Enformasyon-Bilgi-Hikmet</a:t>
            </a:r>
          </a:p>
        </p:txBody>
      </p:sp>
      <p:sp>
        <p:nvSpPr>
          <p:cNvPr id="3" name="İçerik Yer Tutucusu 2"/>
          <p:cNvSpPr>
            <a:spLocks noGrp="1"/>
          </p:cNvSpPr>
          <p:nvPr>
            <p:ph sz="quarter" idx="1"/>
          </p:nvPr>
        </p:nvSpPr>
        <p:spPr>
          <a:xfrm>
            <a:off x="457200" y="1600199"/>
            <a:ext cx="7467600" cy="1762209"/>
          </a:xfrm>
        </p:spPr>
        <p:txBody>
          <a:bodyPr>
            <a:normAutofit fontScale="85000" lnSpcReduction="20000"/>
          </a:bodyPr>
          <a:lstStyle/>
          <a:p>
            <a:r>
              <a:rPr lang="tr-TR" dirty="0"/>
              <a:t>Veri: İşletmelerde veya fiziksel çevrelerinde gerçekleşen olayları temsil eden, insanların anlayabileceği ve kullanabileceği şekilde işlenip düzenlenmeden önceki ham gerçekler yığınıdır. </a:t>
            </a:r>
            <a:endParaRPr lang="tr-TR" dirty="0" smtClean="0"/>
          </a:p>
          <a:p>
            <a:r>
              <a:rPr lang="tr-TR" dirty="0" smtClean="0"/>
              <a:t>Enformasyon</a:t>
            </a:r>
            <a:r>
              <a:rPr lang="tr-TR" dirty="0"/>
              <a:t>: İnsanlar için anlamlı ve kullanılabilir bir şekle getirilen veriye denir.</a:t>
            </a:r>
          </a:p>
        </p:txBody>
      </p:sp>
      <p:pic>
        <p:nvPicPr>
          <p:cNvPr id="4" name="Resim 3"/>
          <p:cNvPicPr>
            <a:picLocks noChangeAspect="1"/>
          </p:cNvPicPr>
          <p:nvPr/>
        </p:nvPicPr>
        <p:blipFill>
          <a:blip r:embed="rId2"/>
          <a:stretch>
            <a:fillRect/>
          </a:stretch>
        </p:blipFill>
        <p:spPr>
          <a:xfrm>
            <a:off x="539552" y="3362409"/>
            <a:ext cx="7467600" cy="3467100"/>
          </a:xfrm>
          <a:prstGeom prst="rect">
            <a:avLst/>
          </a:prstGeom>
        </p:spPr>
      </p:pic>
    </p:spTree>
    <p:extLst>
      <p:ext uri="{BB962C8B-B14F-4D97-AF65-F5344CB8AC3E}">
        <p14:creationId xmlns:p14="http://schemas.microsoft.com/office/powerpoint/2010/main" val="759639179"/>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Başlık 1"/>
          <p:cNvSpPr>
            <a:spLocks noGrp="1"/>
          </p:cNvSpPr>
          <p:nvPr>
            <p:ph type="title"/>
          </p:nvPr>
        </p:nvSpPr>
        <p:spPr/>
        <p:txBody>
          <a:bodyPr/>
          <a:lstStyle/>
          <a:p>
            <a:r>
              <a:rPr lang="tr-TR" dirty="0"/>
              <a:t>Bilgi Piramidi</a:t>
            </a:r>
          </a:p>
        </p:txBody>
      </p:sp>
      <p:pic>
        <p:nvPicPr>
          <p:cNvPr id="5" name="Resim 4"/>
          <p:cNvPicPr>
            <a:picLocks noChangeAspect="1"/>
          </p:cNvPicPr>
          <p:nvPr/>
        </p:nvPicPr>
        <p:blipFill>
          <a:blip r:embed="rId2"/>
          <a:stretch>
            <a:fillRect/>
          </a:stretch>
        </p:blipFill>
        <p:spPr>
          <a:xfrm>
            <a:off x="371475" y="1628800"/>
            <a:ext cx="7639050" cy="4905375"/>
          </a:xfrm>
          <a:prstGeom prst="rect">
            <a:avLst/>
          </a:prstGeom>
        </p:spPr>
      </p:pic>
    </p:spTree>
    <p:extLst>
      <p:ext uri="{BB962C8B-B14F-4D97-AF65-F5344CB8AC3E}">
        <p14:creationId xmlns:p14="http://schemas.microsoft.com/office/powerpoint/2010/main" val="1040938014"/>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Başlık 1"/>
          <p:cNvSpPr>
            <a:spLocks noGrp="1"/>
          </p:cNvSpPr>
          <p:nvPr>
            <p:ph type="title"/>
          </p:nvPr>
        </p:nvSpPr>
        <p:spPr/>
        <p:txBody>
          <a:bodyPr/>
          <a:lstStyle/>
          <a:p>
            <a:r>
              <a:rPr lang="tr-TR" dirty="0"/>
              <a:t>Sistem Nedir?</a:t>
            </a:r>
          </a:p>
        </p:txBody>
      </p:sp>
      <p:pic>
        <p:nvPicPr>
          <p:cNvPr id="5" name="Resim 4"/>
          <p:cNvPicPr>
            <a:picLocks noChangeAspect="1"/>
          </p:cNvPicPr>
          <p:nvPr/>
        </p:nvPicPr>
        <p:blipFill>
          <a:blip r:embed="rId2"/>
          <a:stretch>
            <a:fillRect/>
          </a:stretch>
        </p:blipFill>
        <p:spPr>
          <a:xfrm>
            <a:off x="683568" y="1700808"/>
            <a:ext cx="7315200" cy="4486275"/>
          </a:xfrm>
          <a:prstGeom prst="rect">
            <a:avLst/>
          </a:prstGeom>
        </p:spPr>
      </p:pic>
    </p:spTree>
    <p:extLst>
      <p:ext uri="{BB962C8B-B14F-4D97-AF65-F5344CB8AC3E}">
        <p14:creationId xmlns:p14="http://schemas.microsoft.com/office/powerpoint/2010/main" val="435404911"/>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Başlık 1"/>
          <p:cNvSpPr>
            <a:spLocks noGrp="1"/>
          </p:cNvSpPr>
          <p:nvPr>
            <p:ph type="title"/>
          </p:nvPr>
        </p:nvSpPr>
        <p:spPr/>
        <p:txBody>
          <a:bodyPr/>
          <a:lstStyle/>
          <a:p>
            <a:r>
              <a:rPr lang="tr-TR" dirty="0"/>
              <a:t>Enformasyon Sistemlerinin Temel Faaliyetleri</a:t>
            </a:r>
          </a:p>
        </p:txBody>
      </p:sp>
      <p:sp>
        <p:nvSpPr>
          <p:cNvPr id="3" name="İçerik Yer Tutucusu 2"/>
          <p:cNvSpPr>
            <a:spLocks noGrp="1"/>
          </p:cNvSpPr>
          <p:nvPr>
            <p:ph sz="quarter" idx="1"/>
          </p:nvPr>
        </p:nvSpPr>
        <p:spPr>
          <a:xfrm>
            <a:off x="457200" y="1600200"/>
            <a:ext cx="8075240" cy="1540768"/>
          </a:xfrm>
        </p:spPr>
        <p:txBody>
          <a:bodyPr>
            <a:normAutofit fontScale="62500" lnSpcReduction="20000"/>
          </a:bodyPr>
          <a:lstStyle/>
          <a:p>
            <a:r>
              <a:rPr lang="tr-TR" dirty="0"/>
              <a:t>Girdi: İşletme veya çevreden ham verinin toplanması </a:t>
            </a:r>
            <a:endParaRPr lang="tr-TR" dirty="0" smtClean="0"/>
          </a:p>
          <a:p>
            <a:r>
              <a:rPr lang="tr-TR" dirty="0" smtClean="0"/>
              <a:t> </a:t>
            </a:r>
            <a:r>
              <a:rPr lang="tr-TR" dirty="0"/>
              <a:t>İşleme/Süreç: ham veriyi ihtiyaç duyulan anlamlı bir şekle dönüştürür. </a:t>
            </a:r>
            <a:endParaRPr lang="tr-TR" dirty="0" smtClean="0"/>
          </a:p>
          <a:p>
            <a:r>
              <a:rPr lang="tr-TR" dirty="0" smtClean="0"/>
              <a:t> </a:t>
            </a:r>
            <a:r>
              <a:rPr lang="tr-TR" dirty="0"/>
              <a:t>Çıktı: İşlenmiş enformasyonu kullanacak kişilere veya kullanılacağı faaliyetlere iletir. </a:t>
            </a:r>
          </a:p>
          <a:p>
            <a:r>
              <a:rPr lang="tr-TR" dirty="0" smtClean="0"/>
              <a:t> </a:t>
            </a:r>
            <a:r>
              <a:rPr lang="tr-TR" dirty="0"/>
              <a:t>Geri bildirim: Enformasyon sistemleri aynı zamanda kullanıcılara girdi aşamasına gerekli düzeltmelerin yapılabilmesi için geri dönüş ve kontrol imkânı sunarlar.</a:t>
            </a:r>
          </a:p>
        </p:txBody>
      </p:sp>
      <p:pic>
        <p:nvPicPr>
          <p:cNvPr id="4" name="Resim 3"/>
          <p:cNvPicPr>
            <a:picLocks noChangeAspect="1"/>
          </p:cNvPicPr>
          <p:nvPr/>
        </p:nvPicPr>
        <p:blipFill>
          <a:blip r:embed="rId2"/>
          <a:stretch>
            <a:fillRect/>
          </a:stretch>
        </p:blipFill>
        <p:spPr>
          <a:xfrm>
            <a:off x="1187624" y="2996952"/>
            <a:ext cx="6448425" cy="3686175"/>
          </a:xfrm>
          <a:prstGeom prst="rect">
            <a:avLst/>
          </a:prstGeom>
        </p:spPr>
      </p:pic>
    </p:spTree>
    <p:extLst>
      <p:ext uri="{BB962C8B-B14F-4D97-AF65-F5344CB8AC3E}">
        <p14:creationId xmlns:p14="http://schemas.microsoft.com/office/powerpoint/2010/main" val="2934668212"/>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Başlık 1"/>
          <p:cNvSpPr>
            <a:spLocks noGrp="1"/>
          </p:cNvSpPr>
          <p:nvPr>
            <p:ph type="title"/>
          </p:nvPr>
        </p:nvSpPr>
        <p:spPr/>
        <p:txBody>
          <a:bodyPr/>
          <a:lstStyle/>
          <a:p>
            <a:r>
              <a:rPr lang="tr-TR" dirty="0"/>
              <a:t>Enformasyon Sistemlerinin (ES) Boyutları</a:t>
            </a:r>
          </a:p>
        </p:txBody>
      </p:sp>
      <p:sp>
        <p:nvSpPr>
          <p:cNvPr id="3" name="İçerik Yer Tutucusu 2"/>
          <p:cNvSpPr>
            <a:spLocks noGrp="1"/>
          </p:cNvSpPr>
          <p:nvPr>
            <p:ph sz="quarter" idx="1"/>
          </p:nvPr>
        </p:nvSpPr>
        <p:spPr>
          <a:xfrm>
            <a:off x="457200" y="1600200"/>
            <a:ext cx="7467600" cy="2116832"/>
          </a:xfrm>
        </p:spPr>
        <p:txBody>
          <a:bodyPr>
            <a:normAutofit fontScale="70000" lnSpcReduction="20000"/>
          </a:bodyPr>
          <a:lstStyle/>
          <a:p>
            <a:r>
              <a:rPr lang="tr-TR" dirty="0" smtClean="0"/>
              <a:t>Enformasyon </a:t>
            </a:r>
            <a:r>
              <a:rPr lang="tr-TR" dirty="0"/>
              <a:t>sistemlerini tam olarak anlayabilmek için sistemlerin organizasyon ve yönetim sınırlarını, bilgi teknolojileri boyutunu, işletme içindeki ve çevresindeki sorunlara ve zorluklara çözüm sağlama gücünü anlamak gerekir. </a:t>
            </a:r>
            <a:endParaRPr lang="tr-TR" dirty="0" smtClean="0"/>
          </a:p>
          <a:p>
            <a:r>
              <a:rPr lang="tr-TR" dirty="0" smtClean="0"/>
              <a:t> </a:t>
            </a:r>
            <a:r>
              <a:rPr lang="tr-TR" dirty="0"/>
              <a:t>Bu anlayış Enformasyon sistemi okuryazarlığı olarak ifade edilir. </a:t>
            </a:r>
            <a:endParaRPr lang="tr-TR" dirty="0" smtClean="0"/>
          </a:p>
          <a:p>
            <a:r>
              <a:rPr lang="tr-TR" dirty="0" smtClean="0"/>
              <a:t> </a:t>
            </a:r>
            <a:r>
              <a:rPr lang="tr-TR" dirty="0"/>
              <a:t>Bilgisayar okuryazarlığı ise sadece bilgi teknolojilerini bilmeye odaklanır.</a:t>
            </a:r>
          </a:p>
        </p:txBody>
      </p:sp>
      <p:pic>
        <p:nvPicPr>
          <p:cNvPr id="4" name="Resim 3"/>
          <p:cNvPicPr>
            <a:picLocks noChangeAspect="1"/>
          </p:cNvPicPr>
          <p:nvPr/>
        </p:nvPicPr>
        <p:blipFill>
          <a:blip r:embed="rId2"/>
          <a:stretch>
            <a:fillRect/>
          </a:stretch>
        </p:blipFill>
        <p:spPr>
          <a:xfrm>
            <a:off x="1763688" y="3140968"/>
            <a:ext cx="4968552" cy="3527495"/>
          </a:xfrm>
          <a:prstGeom prst="rect">
            <a:avLst/>
          </a:prstGeom>
        </p:spPr>
      </p:pic>
    </p:spTree>
    <p:extLst>
      <p:ext uri="{BB962C8B-B14F-4D97-AF65-F5344CB8AC3E}">
        <p14:creationId xmlns:p14="http://schemas.microsoft.com/office/powerpoint/2010/main" val="181774981"/>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Başlık 1"/>
          <p:cNvSpPr>
            <a:spLocks noGrp="1"/>
          </p:cNvSpPr>
          <p:nvPr>
            <p:ph type="title"/>
          </p:nvPr>
        </p:nvSpPr>
        <p:spPr/>
        <p:txBody>
          <a:bodyPr/>
          <a:lstStyle/>
          <a:p>
            <a:r>
              <a:rPr lang="tr-TR" dirty="0"/>
              <a:t>Organizasyon </a:t>
            </a:r>
          </a:p>
        </p:txBody>
      </p:sp>
      <p:sp>
        <p:nvSpPr>
          <p:cNvPr id="3" name="İçerik Yer Tutucusu 2"/>
          <p:cNvSpPr>
            <a:spLocks noGrp="1"/>
          </p:cNvSpPr>
          <p:nvPr>
            <p:ph sz="quarter" idx="1"/>
          </p:nvPr>
        </p:nvSpPr>
        <p:spPr>
          <a:xfrm>
            <a:off x="457200" y="1600200"/>
            <a:ext cx="7467600" cy="1252736"/>
          </a:xfrm>
        </p:spPr>
        <p:txBody>
          <a:bodyPr>
            <a:normAutofit fontScale="62500" lnSpcReduction="20000"/>
          </a:bodyPr>
          <a:lstStyle/>
          <a:p>
            <a:r>
              <a:rPr lang="tr-TR" dirty="0"/>
              <a:t>Bir örgütün anahtar elemanları insanlar, yapı, süreç, politika ve kültürdür. </a:t>
            </a:r>
            <a:endParaRPr lang="tr-TR" dirty="0" smtClean="0"/>
          </a:p>
          <a:p>
            <a:r>
              <a:rPr lang="tr-TR" dirty="0" smtClean="0"/>
              <a:t>Bir </a:t>
            </a:r>
            <a:r>
              <a:rPr lang="tr-TR" dirty="0"/>
              <a:t>işletmedeki yetki ve sorumluluk hiyerarşik olarak düzenlenir. </a:t>
            </a:r>
            <a:endParaRPr lang="tr-TR" dirty="0" smtClean="0"/>
          </a:p>
          <a:p>
            <a:r>
              <a:rPr lang="tr-TR" dirty="0" smtClean="0"/>
              <a:t>Her bir </a:t>
            </a:r>
            <a:r>
              <a:rPr lang="tr-TR" dirty="0"/>
              <a:t>seviyedeki çalışanın ihtiyaç duyduğu enformasyon ve buna bağlı olarak aldığı kararlar farklıdır.</a:t>
            </a:r>
          </a:p>
        </p:txBody>
      </p:sp>
      <p:pic>
        <p:nvPicPr>
          <p:cNvPr id="4" name="Resim 3"/>
          <p:cNvPicPr>
            <a:picLocks noChangeAspect="1"/>
          </p:cNvPicPr>
          <p:nvPr/>
        </p:nvPicPr>
        <p:blipFill>
          <a:blip r:embed="rId2"/>
          <a:stretch>
            <a:fillRect/>
          </a:stretch>
        </p:blipFill>
        <p:spPr>
          <a:xfrm>
            <a:off x="611560" y="2780928"/>
            <a:ext cx="6898159" cy="3848692"/>
          </a:xfrm>
          <a:prstGeom prst="rect">
            <a:avLst/>
          </a:prstGeom>
        </p:spPr>
      </p:pic>
    </p:spTree>
    <p:extLst>
      <p:ext uri="{BB962C8B-B14F-4D97-AF65-F5344CB8AC3E}">
        <p14:creationId xmlns:p14="http://schemas.microsoft.com/office/powerpoint/2010/main" val="1834728756"/>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Başlık 1"/>
          <p:cNvSpPr>
            <a:spLocks noGrp="1"/>
          </p:cNvSpPr>
          <p:nvPr>
            <p:ph type="title"/>
          </p:nvPr>
        </p:nvSpPr>
        <p:spPr/>
        <p:txBody>
          <a:bodyPr/>
          <a:lstStyle/>
          <a:p>
            <a:r>
              <a:rPr lang="tr-TR" dirty="0"/>
              <a:t>Hiyerarşik Yapı ve ES</a:t>
            </a:r>
          </a:p>
        </p:txBody>
      </p:sp>
      <p:pic>
        <p:nvPicPr>
          <p:cNvPr id="5" name="İçerik Yer Tutucusu 4"/>
          <p:cNvPicPr>
            <a:picLocks noGrp="1" noChangeAspect="1"/>
          </p:cNvPicPr>
          <p:nvPr>
            <p:ph sz="quarter" idx="1"/>
          </p:nvPr>
        </p:nvPicPr>
        <p:blipFill>
          <a:blip r:embed="rId2"/>
          <a:stretch>
            <a:fillRect/>
          </a:stretch>
        </p:blipFill>
        <p:spPr>
          <a:xfrm>
            <a:off x="1382864" y="1600200"/>
            <a:ext cx="5616272" cy="4873625"/>
          </a:xfrm>
          <a:prstGeom prst="rect">
            <a:avLst/>
          </a:prstGeom>
        </p:spPr>
      </p:pic>
    </p:spTree>
    <p:extLst>
      <p:ext uri="{BB962C8B-B14F-4D97-AF65-F5344CB8AC3E}">
        <p14:creationId xmlns:p14="http://schemas.microsoft.com/office/powerpoint/2010/main" val="1109803852"/>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Başlık 1"/>
          <p:cNvSpPr>
            <a:spLocks noGrp="1"/>
          </p:cNvSpPr>
          <p:nvPr>
            <p:ph type="title"/>
          </p:nvPr>
        </p:nvSpPr>
        <p:spPr/>
        <p:txBody>
          <a:bodyPr/>
          <a:lstStyle/>
          <a:p>
            <a:r>
              <a:rPr lang="tr-TR" dirty="0" smtClean="0"/>
              <a:t>1.Organizasyonel </a:t>
            </a:r>
            <a:r>
              <a:rPr lang="tr-TR" dirty="0"/>
              <a:t>Kültür ve YBS</a:t>
            </a:r>
          </a:p>
        </p:txBody>
      </p:sp>
      <p:sp>
        <p:nvSpPr>
          <p:cNvPr id="3" name="İçerik Yer Tutucusu 2"/>
          <p:cNvSpPr>
            <a:spLocks noGrp="1"/>
          </p:cNvSpPr>
          <p:nvPr>
            <p:ph sz="quarter" idx="1"/>
          </p:nvPr>
        </p:nvSpPr>
        <p:spPr>
          <a:xfrm>
            <a:off x="457200" y="1600200"/>
            <a:ext cx="7467600" cy="2548880"/>
          </a:xfrm>
        </p:spPr>
        <p:txBody>
          <a:bodyPr/>
          <a:lstStyle/>
          <a:p>
            <a:r>
              <a:rPr lang="tr-TR" dirty="0" smtClean="0"/>
              <a:t>Her </a:t>
            </a:r>
            <a:r>
              <a:rPr lang="tr-TR" dirty="0"/>
              <a:t>örgütün kendine has bir kültürü ve iş yapma şekli vardır. </a:t>
            </a:r>
            <a:endParaRPr lang="tr-TR" dirty="0" smtClean="0"/>
          </a:p>
          <a:p>
            <a:r>
              <a:rPr lang="tr-TR" dirty="0" smtClean="0"/>
              <a:t>Enformasyon </a:t>
            </a:r>
            <a:r>
              <a:rPr lang="tr-TR" dirty="0"/>
              <a:t>sistemlerinin bu </a:t>
            </a:r>
            <a:r>
              <a:rPr lang="tr-TR" dirty="0" err="1"/>
              <a:t>külterle</a:t>
            </a:r>
            <a:r>
              <a:rPr lang="tr-TR" dirty="0"/>
              <a:t> çatışması söz konusu olabilmektedir. </a:t>
            </a:r>
            <a:endParaRPr lang="tr-TR" dirty="0" smtClean="0"/>
          </a:p>
          <a:p>
            <a:r>
              <a:rPr lang="tr-TR" dirty="0" smtClean="0"/>
              <a:t>Fakat </a:t>
            </a:r>
            <a:r>
              <a:rPr lang="tr-TR" dirty="0"/>
              <a:t>bu çatışmalar yeni iş politikalarının üretilmesini sağlamaktadır</a:t>
            </a:r>
          </a:p>
        </p:txBody>
      </p:sp>
    </p:spTree>
    <p:extLst>
      <p:ext uri="{BB962C8B-B14F-4D97-AF65-F5344CB8AC3E}">
        <p14:creationId xmlns:p14="http://schemas.microsoft.com/office/powerpoint/2010/main" val="3513534464"/>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Başlık 1"/>
          <p:cNvSpPr>
            <a:spLocks noGrp="1"/>
          </p:cNvSpPr>
          <p:nvPr>
            <p:ph type="title"/>
          </p:nvPr>
        </p:nvSpPr>
        <p:spPr/>
        <p:txBody>
          <a:bodyPr/>
          <a:lstStyle/>
          <a:p>
            <a:r>
              <a:rPr lang="tr-TR" dirty="0"/>
              <a:t>2. Yönetim</a:t>
            </a:r>
          </a:p>
        </p:txBody>
      </p:sp>
      <p:sp>
        <p:nvSpPr>
          <p:cNvPr id="3" name="İçerik Yer Tutucusu 2"/>
          <p:cNvSpPr>
            <a:spLocks noGrp="1"/>
          </p:cNvSpPr>
          <p:nvPr>
            <p:ph sz="quarter" idx="1"/>
          </p:nvPr>
        </p:nvSpPr>
        <p:spPr/>
        <p:txBody>
          <a:bodyPr>
            <a:normAutofit fontScale="92500"/>
          </a:bodyPr>
          <a:lstStyle/>
          <a:p>
            <a:r>
              <a:rPr lang="tr-TR" dirty="0"/>
              <a:t>Yönetimin görevi, işletmelerin karşı karşıya kalabilecekleri durumları keşfetmek, karar vermek ve örgüt problemlerini çözmek için hareket planları hazırlamaktır. </a:t>
            </a:r>
            <a:endParaRPr lang="tr-TR" dirty="0" smtClean="0"/>
          </a:p>
          <a:p>
            <a:r>
              <a:rPr lang="tr-TR" dirty="0" smtClean="0"/>
              <a:t>Yöneticiler </a:t>
            </a:r>
            <a:r>
              <a:rPr lang="tr-TR" dirty="0"/>
              <a:t>vakitlerinin büyük kısmını yeni iş, hizmet ve stratejiler geliştirmekle harcamaktadırlar. </a:t>
            </a:r>
            <a:endParaRPr lang="tr-TR" dirty="0" smtClean="0"/>
          </a:p>
          <a:p>
            <a:r>
              <a:rPr lang="tr-TR" dirty="0" err="1" smtClean="0"/>
              <a:t>Herşeyin</a:t>
            </a:r>
            <a:r>
              <a:rPr lang="tr-TR" dirty="0" smtClean="0"/>
              <a:t> </a:t>
            </a:r>
            <a:r>
              <a:rPr lang="tr-TR" dirty="0"/>
              <a:t>çok hızlı değiştiği günümüz dünyasında ise eskiye nazaran karar aşamasını negatif etkileyecek olan belirsizlikler büyük rol oynamaktadır. </a:t>
            </a:r>
            <a:endParaRPr lang="tr-TR" dirty="0" smtClean="0"/>
          </a:p>
          <a:p>
            <a:r>
              <a:rPr lang="tr-TR" dirty="0" smtClean="0"/>
              <a:t>Böyle </a:t>
            </a:r>
            <a:r>
              <a:rPr lang="tr-TR" dirty="0"/>
              <a:t>bir durumda ise yöneticilerin bilgi eksikliklerinin giderilip etkili karar vermelerinde enformasyon sistemlerinin rolü çok büyük olmaktadır</a:t>
            </a:r>
          </a:p>
        </p:txBody>
      </p:sp>
    </p:spTree>
    <p:extLst>
      <p:ext uri="{BB962C8B-B14F-4D97-AF65-F5344CB8AC3E}">
        <p14:creationId xmlns:p14="http://schemas.microsoft.com/office/powerpoint/2010/main" val="1218474909"/>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Başlık 1"/>
          <p:cNvSpPr>
            <a:spLocks noGrp="1"/>
          </p:cNvSpPr>
          <p:nvPr>
            <p:ph type="title"/>
          </p:nvPr>
        </p:nvSpPr>
        <p:spPr/>
        <p:txBody>
          <a:bodyPr/>
          <a:lstStyle/>
          <a:p>
            <a:r>
              <a:rPr lang="tr-TR" dirty="0"/>
              <a:t>3. Enformasyon Teknolojisi</a:t>
            </a:r>
          </a:p>
        </p:txBody>
      </p:sp>
      <p:sp>
        <p:nvSpPr>
          <p:cNvPr id="3" name="İçerik Yer Tutucusu 2"/>
          <p:cNvSpPr>
            <a:spLocks noGrp="1"/>
          </p:cNvSpPr>
          <p:nvPr>
            <p:ph sz="quarter" idx="1"/>
          </p:nvPr>
        </p:nvSpPr>
        <p:spPr/>
        <p:txBody>
          <a:bodyPr>
            <a:normAutofit fontScale="62500" lnSpcReduction="20000"/>
          </a:bodyPr>
          <a:lstStyle/>
          <a:p>
            <a:r>
              <a:rPr lang="tr-TR" dirty="0" smtClean="0"/>
              <a:t>Donanım</a:t>
            </a:r>
            <a:r>
              <a:rPr lang="tr-TR" dirty="0"/>
              <a:t>: Bir enformasyon sisteminde girdi, süreç ve çıktı faaliyetleri için kullanılan fiziksel ekipmandır. (Bilgisayar, depolama aygıtları ve telekomünikasyon cihazları) </a:t>
            </a:r>
            <a:endParaRPr lang="tr-TR" dirty="0" smtClean="0"/>
          </a:p>
          <a:p>
            <a:r>
              <a:rPr lang="tr-TR" dirty="0" smtClean="0"/>
              <a:t>Yazılım</a:t>
            </a:r>
            <a:r>
              <a:rPr lang="tr-TR" dirty="0"/>
              <a:t>: Bilgisayar donanımı bileşenlerini kontrol ve koordine eden detaylı, daha önceden programlanmış komutlardır. </a:t>
            </a:r>
            <a:endParaRPr lang="tr-TR" dirty="0" smtClean="0"/>
          </a:p>
          <a:p>
            <a:r>
              <a:rPr lang="tr-TR" dirty="0" smtClean="0"/>
              <a:t>Veri </a:t>
            </a:r>
            <a:r>
              <a:rPr lang="tr-TR" dirty="0"/>
              <a:t>Yönetim Teknolojisi: Fiziksel depolama ortamında verinin düzenlenmesini yöneten yazılımı içermektedir. </a:t>
            </a:r>
            <a:endParaRPr lang="tr-TR" dirty="0" smtClean="0"/>
          </a:p>
          <a:p>
            <a:r>
              <a:rPr lang="tr-TR" dirty="0" smtClean="0"/>
              <a:t>Ağ </a:t>
            </a:r>
            <a:r>
              <a:rPr lang="tr-TR" dirty="0"/>
              <a:t>ve Telekomünikasyon Teknolojisi: Fiziksel aygıt ve yazılımların tümünü içermekte ve donanımın farklı parçalarını bağlamakta, veri bir fiziksel konumdan diğerine aktarmaktadır. </a:t>
            </a:r>
            <a:endParaRPr lang="tr-TR" dirty="0" smtClean="0"/>
          </a:p>
          <a:p>
            <a:r>
              <a:rPr lang="tr-TR" dirty="0" smtClean="0"/>
              <a:t>Bilgisayarlar </a:t>
            </a:r>
            <a:r>
              <a:rPr lang="tr-TR" dirty="0"/>
              <a:t>arasında veri, görüntü, ses vs. ağlar üzerinden aktarılmaktadır. </a:t>
            </a:r>
            <a:endParaRPr lang="tr-TR" dirty="0" smtClean="0"/>
          </a:p>
          <a:p>
            <a:r>
              <a:rPr lang="tr-TR" dirty="0" smtClean="0"/>
              <a:t>Dünyanın </a:t>
            </a:r>
            <a:r>
              <a:rPr lang="tr-TR" dirty="0"/>
              <a:t>en büyük ve en çok kullanılan ağı internettir. </a:t>
            </a:r>
            <a:endParaRPr lang="tr-TR" dirty="0" smtClean="0"/>
          </a:p>
          <a:p>
            <a:r>
              <a:rPr lang="tr-TR" dirty="0" smtClean="0"/>
              <a:t>İnternet </a:t>
            </a:r>
            <a:r>
              <a:rPr lang="tr-TR" dirty="0"/>
              <a:t>230’dan fazla ülkede 1,4 milyardan fazla kullanıcıyı birbirine bağlamaktadır. </a:t>
            </a:r>
            <a:endParaRPr lang="tr-TR" dirty="0" smtClean="0"/>
          </a:p>
          <a:p>
            <a:r>
              <a:rPr lang="tr-TR" dirty="0" smtClean="0"/>
              <a:t>İnternetin </a:t>
            </a:r>
            <a:r>
              <a:rPr lang="tr-TR" dirty="0"/>
              <a:t>işletme içi kullanılan sınırlı versiyonu intranettir. Kullanıcılar arasına işletmenin tedarikçi ve müşteriler de eklenip ağ dışa açılırsa buna </a:t>
            </a:r>
            <a:r>
              <a:rPr lang="tr-TR" dirty="0" err="1"/>
              <a:t>exranet</a:t>
            </a:r>
            <a:r>
              <a:rPr lang="tr-TR" dirty="0"/>
              <a:t> adı verilir</a:t>
            </a:r>
            <a:r>
              <a:rPr lang="tr-TR" dirty="0" smtClean="0"/>
              <a:t>.</a:t>
            </a:r>
          </a:p>
          <a:p>
            <a:r>
              <a:rPr lang="tr-TR" dirty="0" smtClean="0"/>
              <a:t>World </a:t>
            </a:r>
            <a:r>
              <a:rPr lang="tr-TR" dirty="0" err="1"/>
              <a:t>Wide</a:t>
            </a:r>
            <a:r>
              <a:rPr lang="tr-TR" dirty="0"/>
              <a:t> Web: İnternette enformasyonun bir sayfa düzeninde depolanması, elde edilmesi, düzenlenmesi ve görüntülenmesi için evrensel olarak kabul gören standartlar kullanan ve internet tarafından sağlanan bir hizmettir. </a:t>
            </a:r>
            <a:endParaRPr lang="tr-TR" dirty="0" smtClean="0"/>
          </a:p>
          <a:p>
            <a:r>
              <a:rPr lang="tr-TR" dirty="0" smtClean="0"/>
              <a:t>Bir </a:t>
            </a:r>
            <a:r>
              <a:rPr lang="tr-TR" dirty="0"/>
              <a:t>işletmenin etkili bir enformasyon sistemine sahip olması için enformasyon teknolojisi alt yapısının iyi bir şekilde tasarlanması gerekmektedir.</a:t>
            </a:r>
          </a:p>
        </p:txBody>
      </p:sp>
    </p:spTree>
    <p:extLst>
      <p:ext uri="{BB962C8B-B14F-4D97-AF65-F5344CB8AC3E}">
        <p14:creationId xmlns:p14="http://schemas.microsoft.com/office/powerpoint/2010/main" val="1741342581"/>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Başlık 1"/>
          <p:cNvSpPr>
            <a:spLocks noGrp="1"/>
          </p:cNvSpPr>
          <p:nvPr>
            <p:ph type="title"/>
          </p:nvPr>
        </p:nvSpPr>
        <p:spPr/>
        <p:txBody>
          <a:bodyPr/>
          <a:lstStyle/>
          <a:p>
            <a:r>
              <a:rPr lang="tr-TR" dirty="0"/>
              <a:t>Enformasyon Sistemlerine Yönelik İşletme Bakış Açısı</a:t>
            </a:r>
          </a:p>
        </p:txBody>
      </p:sp>
      <p:sp>
        <p:nvSpPr>
          <p:cNvPr id="3" name="İçerik Yer Tutucusu 2"/>
          <p:cNvSpPr>
            <a:spLocks noGrp="1"/>
          </p:cNvSpPr>
          <p:nvPr>
            <p:ph sz="quarter" idx="1"/>
          </p:nvPr>
        </p:nvSpPr>
        <p:spPr/>
        <p:txBody>
          <a:bodyPr>
            <a:normAutofit fontScale="92500"/>
          </a:bodyPr>
          <a:lstStyle/>
          <a:p>
            <a:r>
              <a:rPr lang="tr-TR" dirty="0" smtClean="0"/>
              <a:t>İşletmelerin </a:t>
            </a:r>
            <a:r>
              <a:rPr lang="tr-TR" dirty="0"/>
              <a:t>enformasyon sistemlerine yatırım yapmalarının sebebi ekonomik fayda sağlamaktır. </a:t>
            </a:r>
            <a:endParaRPr lang="tr-TR" dirty="0" smtClean="0"/>
          </a:p>
          <a:p>
            <a:r>
              <a:rPr lang="tr-TR" dirty="0" smtClean="0"/>
              <a:t>İşletme </a:t>
            </a:r>
            <a:r>
              <a:rPr lang="tr-TR" dirty="0"/>
              <a:t>enformasyon sistem ve teknolojilerine yatırım kararı alırken geri dönüş oranının yüksek olmasını ummaktadır. </a:t>
            </a:r>
            <a:endParaRPr lang="tr-TR" dirty="0" smtClean="0"/>
          </a:p>
          <a:p>
            <a:r>
              <a:rPr lang="tr-TR" dirty="0" smtClean="0"/>
              <a:t>Yüksek </a:t>
            </a:r>
            <a:r>
              <a:rPr lang="tr-TR" dirty="0"/>
              <a:t>geri dönüş, verimlilik artışı, kâr artışı, pazar payında büyüme gibi performans kriterlerinde artış şeklinde kendisini gösterebilir. </a:t>
            </a:r>
          </a:p>
          <a:p>
            <a:r>
              <a:rPr lang="tr-TR" dirty="0" smtClean="0"/>
              <a:t>Enformasyon </a:t>
            </a:r>
            <a:r>
              <a:rPr lang="tr-TR" dirty="0"/>
              <a:t>sistemleri yöneticilerin daha iyi karar vermelerinde gerekli enformasyon desteği ile yardımcı olarak işletmelerin kârlarının artmasına, maliyetlerinin azalmasına yardım ederler.</a:t>
            </a:r>
          </a:p>
        </p:txBody>
      </p:sp>
    </p:spTree>
    <p:extLst>
      <p:ext uri="{BB962C8B-B14F-4D97-AF65-F5344CB8AC3E}">
        <p14:creationId xmlns:p14="http://schemas.microsoft.com/office/powerpoint/2010/main" val="40677469"/>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Başlık 1"/>
          <p:cNvSpPr>
            <a:spLocks noGrp="1"/>
          </p:cNvSpPr>
          <p:nvPr>
            <p:ph type="title"/>
          </p:nvPr>
        </p:nvSpPr>
        <p:spPr/>
        <p:txBody>
          <a:bodyPr/>
          <a:lstStyle/>
          <a:p>
            <a:r>
              <a:rPr lang="tr-TR" dirty="0"/>
              <a:t>Enformasyon Değer Zinciri</a:t>
            </a:r>
          </a:p>
        </p:txBody>
      </p:sp>
      <p:sp>
        <p:nvSpPr>
          <p:cNvPr id="3" name="İçerik Yer Tutucusu 2"/>
          <p:cNvSpPr>
            <a:spLocks noGrp="1"/>
          </p:cNvSpPr>
          <p:nvPr>
            <p:ph sz="quarter" idx="1"/>
          </p:nvPr>
        </p:nvSpPr>
        <p:spPr>
          <a:xfrm>
            <a:off x="457200" y="1600200"/>
            <a:ext cx="7467600" cy="1540768"/>
          </a:xfrm>
        </p:spPr>
        <p:txBody>
          <a:bodyPr>
            <a:normAutofit fontScale="85000" lnSpcReduction="10000"/>
          </a:bodyPr>
          <a:lstStyle/>
          <a:p>
            <a:r>
              <a:rPr lang="tr-TR" dirty="0"/>
              <a:t>İşletme bakış açısına göre enformasyon sistemleri, yöneticilerin karar vermelerini etkinleştirmek, örgüt performansını artırmak ve sonuç olarak işletme kârını artırmak için enformasyon elde edilen, dönüştüren, dağıtan ve değer katan bir faaliyetler serisinin parçasıdır.</a:t>
            </a:r>
          </a:p>
        </p:txBody>
      </p:sp>
      <p:pic>
        <p:nvPicPr>
          <p:cNvPr id="4" name="Resim 3"/>
          <p:cNvPicPr>
            <a:picLocks noChangeAspect="1"/>
          </p:cNvPicPr>
          <p:nvPr/>
        </p:nvPicPr>
        <p:blipFill>
          <a:blip r:embed="rId2"/>
          <a:stretch>
            <a:fillRect/>
          </a:stretch>
        </p:blipFill>
        <p:spPr>
          <a:xfrm>
            <a:off x="1043608" y="3068960"/>
            <a:ext cx="6264696" cy="3678736"/>
          </a:xfrm>
          <a:prstGeom prst="rect">
            <a:avLst/>
          </a:prstGeom>
        </p:spPr>
      </p:pic>
    </p:spTree>
    <p:extLst>
      <p:ext uri="{BB962C8B-B14F-4D97-AF65-F5344CB8AC3E}">
        <p14:creationId xmlns:p14="http://schemas.microsoft.com/office/powerpoint/2010/main" val="1687173498"/>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Başlık 1"/>
          <p:cNvSpPr>
            <a:spLocks noGrp="1"/>
          </p:cNvSpPr>
          <p:nvPr>
            <p:ph type="title"/>
          </p:nvPr>
        </p:nvSpPr>
        <p:spPr/>
        <p:txBody>
          <a:bodyPr/>
          <a:lstStyle/>
          <a:p>
            <a:r>
              <a:rPr lang="tr-TR" dirty="0"/>
              <a:t>Tamamlayıcı Varlıklar</a:t>
            </a:r>
          </a:p>
        </p:txBody>
      </p:sp>
      <p:sp>
        <p:nvSpPr>
          <p:cNvPr id="3" name="İçerik Yer Tutucusu 2"/>
          <p:cNvSpPr>
            <a:spLocks noGrp="1"/>
          </p:cNvSpPr>
          <p:nvPr>
            <p:ph sz="quarter" idx="1"/>
          </p:nvPr>
        </p:nvSpPr>
        <p:spPr>
          <a:xfrm>
            <a:off x="457200" y="1600200"/>
            <a:ext cx="7643192" cy="1468760"/>
          </a:xfrm>
        </p:spPr>
        <p:txBody>
          <a:bodyPr>
            <a:normAutofit lnSpcReduction="10000"/>
          </a:bodyPr>
          <a:lstStyle/>
          <a:p>
            <a:r>
              <a:rPr lang="tr-TR" dirty="0"/>
              <a:t> Enformasyon teknolojilerinin geri dönüşü ile ilgili çalışmalar işletmelerin bu yatırımlardan elde ettikleri geri dönüşlerin farklılık gösterdiğini ortaya koymaktadır.</a:t>
            </a:r>
          </a:p>
        </p:txBody>
      </p:sp>
      <p:pic>
        <p:nvPicPr>
          <p:cNvPr id="5" name="Resim 4"/>
          <p:cNvPicPr>
            <a:picLocks noChangeAspect="1"/>
          </p:cNvPicPr>
          <p:nvPr/>
        </p:nvPicPr>
        <p:blipFill>
          <a:blip r:embed="rId2"/>
          <a:stretch>
            <a:fillRect/>
          </a:stretch>
        </p:blipFill>
        <p:spPr>
          <a:xfrm>
            <a:off x="1835696" y="2924944"/>
            <a:ext cx="5124450" cy="3867150"/>
          </a:xfrm>
          <a:prstGeom prst="rect">
            <a:avLst/>
          </a:prstGeom>
        </p:spPr>
      </p:pic>
    </p:spTree>
    <p:extLst>
      <p:ext uri="{BB962C8B-B14F-4D97-AF65-F5344CB8AC3E}">
        <p14:creationId xmlns:p14="http://schemas.microsoft.com/office/powerpoint/2010/main" val="2985161263"/>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Başlık 1"/>
          <p:cNvSpPr>
            <a:spLocks noGrp="1"/>
          </p:cNvSpPr>
          <p:nvPr>
            <p:ph type="title"/>
          </p:nvPr>
        </p:nvSpPr>
        <p:spPr/>
        <p:txBody>
          <a:bodyPr/>
          <a:lstStyle/>
          <a:p>
            <a:r>
              <a:rPr lang="tr-TR" dirty="0"/>
              <a:t>Tamamlayıcı Varlıklar</a:t>
            </a:r>
          </a:p>
        </p:txBody>
      </p:sp>
      <p:sp>
        <p:nvSpPr>
          <p:cNvPr id="3" name="İçerik Yer Tutucusu 2"/>
          <p:cNvSpPr>
            <a:spLocks noGrp="1"/>
          </p:cNvSpPr>
          <p:nvPr>
            <p:ph sz="quarter" idx="1"/>
          </p:nvPr>
        </p:nvSpPr>
        <p:spPr/>
        <p:txBody>
          <a:bodyPr>
            <a:normAutofit fontScale="92500" lnSpcReduction="20000"/>
          </a:bodyPr>
          <a:lstStyle/>
          <a:p>
            <a:r>
              <a:rPr lang="tr-TR" dirty="0"/>
              <a:t>İşletmeler arasındaki bu farklılığın sebebi nedir? </a:t>
            </a:r>
            <a:endParaRPr lang="tr-TR" dirty="0" smtClean="0"/>
          </a:p>
          <a:p>
            <a:r>
              <a:rPr lang="tr-TR" dirty="0" smtClean="0"/>
              <a:t>Enformasyon </a:t>
            </a:r>
            <a:r>
              <a:rPr lang="tr-TR" dirty="0"/>
              <a:t>teknolojisi yatırımları destekleyici değerler, yapılar, örgütteki davranış yolları ve diğer tamamlayıcı varlıklarla tamamlanmadığında istenen başarıyı sağlayamazlar. </a:t>
            </a:r>
            <a:endParaRPr lang="tr-TR" dirty="0" smtClean="0"/>
          </a:p>
          <a:p>
            <a:r>
              <a:rPr lang="tr-TR" dirty="0" smtClean="0"/>
              <a:t>İşletmeler </a:t>
            </a:r>
            <a:r>
              <a:rPr lang="tr-TR" dirty="0"/>
              <a:t>enformasyon sistemlerini uygulamaya geçirdiklerinde eski iş yapış şekillerini değiştirmek zorunda kalırlar. </a:t>
            </a:r>
            <a:endParaRPr lang="tr-TR" dirty="0" smtClean="0"/>
          </a:p>
          <a:p>
            <a:r>
              <a:rPr lang="tr-TR" dirty="0" smtClean="0"/>
              <a:t>Bazı </a:t>
            </a:r>
            <a:r>
              <a:rPr lang="tr-TR" dirty="0"/>
              <a:t>işletmeler yeni teknolojiye uygun iş modelini geliştiremediklerinden başarısız olurlar. </a:t>
            </a:r>
            <a:endParaRPr lang="tr-TR" dirty="0" smtClean="0"/>
          </a:p>
          <a:p>
            <a:r>
              <a:rPr lang="tr-TR" dirty="0" smtClean="0"/>
              <a:t>Tamamlayıcı </a:t>
            </a:r>
            <a:r>
              <a:rPr lang="tr-TR" dirty="0"/>
              <a:t>varlıklar, herhangi bir yatırımdan değer elde etmek için gerekli varlıklardır. </a:t>
            </a:r>
            <a:endParaRPr lang="tr-TR" dirty="0" smtClean="0"/>
          </a:p>
          <a:p>
            <a:r>
              <a:rPr lang="tr-TR" dirty="0" smtClean="0"/>
              <a:t>Örneğin </a:t>
            </a:r>
            <a:r>
              <a:rPr lang="tr-TR" dirty="0"/>
              <a:t>otomobilden değer elde etmek için yol, benzin istasyonu, servis vs. tamamlayıcı varlıklara ihtiyaç duyulur</a:t>
            </a:r>
          </a:p>
        </p:txBody>
      </p:sp>
    </p:spTree>
    <p:extLst>
      <p:ext uri="{BB962C8B-B14F-4D97-AF65-F5344CB8AC3E}">
        <p14:creationId xmlns:p14="http://schemas.microsoft.com/office/powerpoint/2010/main" val="2534492496"/>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Başlık 1"/>
          <p:cNvSpPr>
            <a:spLocks noGrp="1"/>
          </p:cNvSpPr>
          <p:nvPr>
            <p:ph type="title"/>
          </p:nvPr>
        </p:nvSpPr>
        <p:spPr/>
        <p:txBody>
          <a:bodyPr/>
          <a:lstStyle/>
          <a:p>
            <a:r>
              <a:rPr lang="tr-TR" dirty="0"/>
              <a:t>Tamamlayıcı Varlıklar</a:t>
            </a:r>
          </a:p>
        </p:txBody>
      </p:sp>
      <p:sp>
        <p:nvSpPr>
          <p:cNvPr id="3" name="İçerik Yer Tutucusu 2"/>
          <p:cNvSpPr>
            <a:spLocks noGrp="1"/>
          </p:cNvSpPr>
          <p:nvPr>
            <p:ph sz="quarter" idx="1"/>
          </p:nvPr>
        </p:nvSpPr>
        <p:spPr/>
        <p:txBody>
          <a:bodyPr>
            <a:normAutofit/>
          </a:bodyPr>
          <a:lstStyle/>
          <a:p>
            <a:r>
              <a:rPr lang="tr-TR" dirty="0" smtClean="0"/>
              <a:t>İşletme </a:t>
            </a:r>
            <a:r>
              <a:rPr lang="tr-TR" dirty="0"/>
              <a:t>enformasyon teknolojisi yatırımları konusunda yapılan araştırmalar teknoloji yatırımlarını, </a:t>
            </a:r>
            <a:endParaRPr lang="tr-TR" dirty="0" smtClean="0"/>
          </a:p>
          <a:p>
            <a:pPr lvl="1"/>
            <a:r>
              <a:rPr lang="tr-TR" dirty="0" smtClean="0"/>
              <a:t> </a:t>
            </a:r>
            <a:r>
              <a:rPr lang="tr-TR" dirty="0"/>
              <a:t>yeni iş modelleri, </a:t>
            </a:r>
            <a:endParaRPr lang="tr-TR" dirty="0" smtClean="0"/>
          </a:p>
          <a:p>
            <a:pPr lvl="1"/>
            <a:r>
              <a:rPr lang="tr-TR" dirty="0" smtClean="0"/>
              <a:t> </a:t>
            </a:r>
            <a:r>
              <a:rPr lang="tr-TR" dirty="0"/>
              <a:t>yeni işletme süreçleri, </a:t>
            </a:r>
            <a:endParaRPr lang="tr-TR" dirty="0" smtClean="0"/>
          </a:p>
          <a:p>
            <a:pPr lvl="1"/>
            <a:r>
              <a:rPr lang="tr-TR" dirty="0" smtClean="0"/>
              <a:t> </a:t>
            </a:r>
            <a:r>
              <a:rPr lang="tr-TR" dirty="0"/>
              <a:t>yönetim davranışı, </a:t>
            </a:r>
            <a:endParaRPr lang="tr-TR" dirty="0" smtClean="0"/>
          </a:p>
          <a:p>
            <a:pPr lvl="1"/>
            <a:r>
              <a:rPr lang="tr-TR" dirty="0" smtClean="0"/>
              <a:t> </a:t>
            </a:r>
            <a:r>
              <a:rPr lang="tr-TR" dirty="0"/>
              <a:t>örgüt kültürü veya eğitime yatırım ile tamamlayan işletmelerin yüksek miktarda getiri elde ettiklerini göstermektedir. </a:t>
            </a:r>
            <a:endParaRPr lang="tr-TR" dirty="0" smtClean="0"/>
          </a:p>
          <a:p>
            <a:pPr marL="365760" lvl="1" indent="0">
              <a:buNone/>
            </a:pPr>
            <a:r>
              <a:rPr lang="tr-TR" sz="2400" dirty="0"/>
              <a:t>Bu yatırımlar kısaca örgüt ve yönetim sermayesi olarak bilinmektedir</a:t>
            </a:r>
          </a:p>
        </p:txBody>
      </p:sp>
    </p:spTree>
    <p:extLst>
      <p:ext uri="{BB962C8B-B14F-4D97-AF65-F5344CB8AC3E}">
        <p14:creationId xmlns:p14="http://schemas.microsoft.com/office/powerpoint/2010/main" val="4163009777"/>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Başlık 1"/>
          <p:cNvSpPr>
            <a:spLocks noGrp="1"/>
          </p:cNvSpPr>
          <p:nvPr>
            <p:ph type="title"/>
          </p:nvPr>
        </p:nvSpPr>
        <p:spPr/>
        <p:txBody>
          <a:bodyPr/>
          <a:lstStyle/>
          <a:p>
            <a:r>
              <a:rPr lang="tr-TR" dirty="0"/>
              <a:t>Tamamlayıcı Varlıklar</a:t>
            </a:r>
          </a:p>
        </p:txBody>
      </p:sp>
      <p:pic>
        <p:nvPicPr>
          <p:cNvPr id="5" name="Resim 4"/>
          <p:cNvPicPr>
            <a:picLocks noChangeAspect="1"/>
          </p:cNvPicPr>
          <p:nvPr/>
        </p:nvPicPr>
        <p:blipFill>
          <a:blip r:embed="rId2"/>
          <a:stretch>
            <a:fillRect/>
          </a:stretch>
        </p:blipFill>
        <p:spPr>
          <a:xfrm>
            <a:off x="610358" y="1556792"/>
            <a:ext cx="7334250" cy="4924425"/>
          </a:xfrm>
          <a:prstGeom prst="rect">
            <a:avLst/>
          </a:prstGeom>
        </p:spPr>
      </p:pic>
    </p:spTree>
    <p:extLst>
      <p:ext uri="{BB962C8B-B14F-4D97-AF65-F5344CB8AC3E}">
        <p14:creationId xmlns:p14="http://schemas.microsoft.com/office/powerpoint/2010/main" val="1350246312"/>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Başlık 1"/>
          <p:cNvSpPr>
            <a:spLocks noGrp="1"/>
          </p:cNvSpPr>
          <p:nvPr>
            <p:ph type="title"/>
          </p:nvPr>
        </p:nvSpPr>
        <p:spPr/>
        <p:txBody>
          <a:bodyPr/>
          <a:lstStyle/>
          <a:p>
            <a:r>
              <a:rPr lang="tr-TR" dirty="0"/>
              <a:t>Enformasyon Sistemlerine Çağdaş Yaklaşımlar</a:t>
            </a:r>
          </a:p>
        </p:txBody>
      </p:sp>
      <p:sp>
        <p:nvSpPr>
          <p:cNvPr id="3" name="İçerik Yer Tutucusu 2"/>
          <p:cNvSpPr>
            <a:spLocks noGrp="1"/>
          </p:cNvSpPr>
          <p:nvPr>
            <p:ph sz="quarter" idx="1"/>
          </p:nvPr>
        </p:nvSpPr>
        <p:spPr>
          <a:xfrm>
            <a:off x="457200" y="1600200"/>
            <a:ext cx="7467600" cy="1180728"/>
          </a:xfrm>
        </p:spPr>
        <p:txBody>
          <a:bodyPr>
            <a:normAutofit lnSpcReduction="10000"/>
          </a:bodyPr>
          <a:lstStyle/>
          <a:p>
            <a:r>
              <a:rPr lang="tr-TR" dirty="0"/>
              <a:t>Enformasyon sistemleri sadece teknik değil sosyal kavramları da içeren </a:t>
            </a:r>
            <a:r>
              <a:rPr lang="tr-TR" dirty="0" err="1"/>
              <a:t>sosyo</a:t>
            </a:r>
            <a:r>
              <a:rPr lang="tr-TR" dirty="0"/>
              <a:t>-teknik sistemlerdir.</a:t>
            </a:r>
          </a:p>
        </p:txBody>
      </p:sp>
      <p:pic>
        <p:nvPicPr>
          <p:cNvPr id="4" name="Resim 3"/>
          <p:cNvPicPr>
            <a:picLocks noChangeAspect="1"/>
          </p:cNvPicPr>
          <p:nvPr/>
        </p:nvPicPr>
        <p:blipFill>
          <a:blip r:embed="rId2"/>
          <a:stretch>
            <a:fillRect/>
          </a:stretch>
        </p:blipFill>
        <p:spPr>
          <a:xfrm>
            <a:off x="1403648" y="2571702"/>
            <a:ext cx="6276975" cy="4276725"/>
          </a:xfrm>
          <a:prstGeom prst="rect">
            <a:avLst/>
          </a:prstGeom>
        </p:spPr>
      </p:pic>
    </p:spTree>
    <p:extLst>
      <p:ext uri="{BB962C8B-B14F-4D97-AF65-F5344CB8AC3E}">
        <p14:creationId xmlns:p14="http://schemas.microsoft.com/office/powerpoint/2010/main" val="3212715725"/>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Başlık 1"/>
          <p:cNvSpPr>
            <a:spLocks noGrp="1"/>
          </p:cNvSpPr>
          <p:nvPr>
            <p:ph type="title"/>
          </p:nvPr>
        </p:nvSpPr>
        <p:spPr/>
        <p:txBody>
          <a:bodyPr/>
          <a:lstStyle/>
          <a:p>
            <a:r>
              <a:rPr lang="tr-TR" dirty="0"/>
              <a:t>Teknik Yaklaşım</a:t>
            </a:r>
          </a:p>
        </p:txBody>
      </p:sp>
      <p:sp>
        <p:nvSpPr>
          <p:cNvPr id="3" name="İçerik Yer Tutucusu 2"/>
          <p:cNvSpPr>
            <a:spLocks noGrp="1"/>
          </p:cNvSpPr>
          <p:nvPr>
            <p:ph sz="quarter" idx="1"/>
          </p:nvPr>
        </p:nvSpPr>
        <p:spPr/>
        <p:txBody>
          <a:bodyPr/>
          <a:lstStyle/>
          <a:p>
            <a:r>
              <a:rPr lang="tr-TR" dirty="0"/>
              <a:t>Matematik tabanlı modeli vurgulamanın yanında sistemin fiziksel teknoloji ve biçimsel kapasitesi ile ilgilenir. </a:t>
            </a:r>
            <a:endParaRPr lang="tr-TR" dirty="0" smtClean="0"/>
          </a:p>
          <a:p>
            <a:r>
              <a:rPr lang="tr-TR" dirty="0" smtClean="0"/>
              <a:t>Teknik </a:t>
            </a:r>
            <a:r>
              <a:rPr lang="tr-TR" dirty="0"/>
              <a:t>yaklaşıma katkısı olan birimler: </a:t>
            </a:r>
            <a:endParaRPr lang="tr-TR" dirty="0" smtClean="0"/>
          </a:p>
          <a:p>
            <a:pPr lvl="1"/>
            <a:r>
              <a:rPr lang="tr-TR" dirty="0" smtClean="0"/>
              <a:t>1</a:t>
            </a:r>
            <a:r>
              <a:rPr lang="tr-TR" dirty="0"/>
              <a:t>. Bilgisayar bilimi: Bilgisayar ile işlem yapma, hesaplama teorileri, etkin veri depolama ve erişim yöntemleri uygulamak ile ilgilenir. </a:t>
            </a:r>
            <a:endParaRPr lang="tr-TR" dirty="0" smtClean="0"/>
          </a:p>
          <a:p>
            <a:pPr lvl="1"/>
            <a:r>
              <a:rPr lang="tr-TR" dirty="0" smtClean="0"/>
              <a:t>2</a:t>
            </a:r>
            <a:r>
              <a:rPr lang="tr-TR" dirty="0"/>
              <a:t>. Yönetim bilimi: Karar verme ve yönetim uygulamaları ile ilgili model geliştirmeyi vurgular. </a:t>
            </a:r>
            <a:endParaRPr lang="tr-TR" dirty="0" smtClean="0"/>
          </a:p>
          <a:p>
            <a:pPr lvl="1"/>
            <a:r>
              <a:rPr lang="tr-TR" dirty="0" smtClean="0"/>
              <a:t>3</a:t>
            </a:r>
            <a:r>
              <a:rPr lang="tr-TR" dirty="0"/>
              <a:t>. Yöneylem araştırması: Örgütlerin taşıma, stok kontrol, işlem maliyetleri vb. optimizasyon modelleri üzerine odaklanır</a:t>
            </a:r>
          </a:p>
        </p:txBody>
      </p:sp>
    </p:spTree>
    <p:extLst>
      <p:ext uri="{BB962C8B-B14F-4D97-AF65-F5344CB8AC3E}">
        <p14:creationId xmlns:p14="http://schemas.microsoft.com/office/powerpoint/2010/main" val="2049670084"/>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Başlık 1"/>
          <p:cNvSpPr>
            <a:spLocks noGrp="1"/>
          </p:cNvSpPr>
          <p:nvPr>
            <p:ph type="title"/>
          </p:nvPr>
        </p:nvSpPr>
        <p:spPr/>
        <p:txBody>
          <a:bodyPr/>
          <a:lstStyle/>
          <a:p>
            <a:r>
              <a:rPr lang="tr-TR" dirty="0"/>
              <a:t>Davranışsal Yaklaşım</a:t>
            </a:r>
          </a:p>
        </p:txBody>
      </p:sp>
      <p:sp>
        <p:nvSpPr>
          <p:cNvPr id="3" name="İçerik Yer Tutucusu 2"/>
          <p:cNvSpPr>
            <a:spLocks noGrp="1"/>
          </p:cNvSpPr>
          <p:nvPr>
            <p:ph sz="quarter" idx="1"/>
          </p:nvPr>
        </p:nvSpPr>
        <p:spPr/>
        <p:txBody>
          <a:bodyPr>
            <a:normAutofit fontScale="92500" lnSpcReduction="10000"/>
          </a:bodyPr>
          <a:lstStyle/>
          <a:p>
            <a:r>
              <a:rPr lang="tr-TR" dirty="0" smtClean="0"/>
              <a:t>Enformasyon </a:t>
            </a:r>
            <a:r>
              <a:rPr lang="tr-TR" dirty="0"/>
              <a:t>sistemleri, geliştirilme ve uzun dönemli bakımında ortaya çıkan davranışsal konuları da içermektedir. </a:t>
            </a:r>
            <a:endParaRPr lang="tr-TR" dirty="0" smtClean="0"/>
          </a:p>
          <a:p>
            <a:r>
              <a:rPr lang="tr-TR" dirty="0" smtClean="0"/>
              <a:t>Sosyologlar </a:t>
            </a:r>
            <a:r>
              <a:rPr lang="tr-TR" dirty="0"/>
              <a:t>grup ve örgütlerin sistem geliştirmeyi nasıl etkilediği ve bunun yanında sistemlerin birey, grup ve örgütleri nasıl etkilediğini inceler. </a:t>
            </a:r>
            <a:endParaRPr lang="tr-TR" dirty="0" smtClean="0"/>
          </a:p>
          <a:p>
            <a:r>
              <a:rPr lang="tr-TR" dirty="0" smtClean="0"/>
              <a:t>Psikologlar</a:t>
            </a:r>
            <a:r>
              <a:rPr lang="tr-TR" dirty="0"/>
              <a:t>, karar vericilerin resmi enformasyonu nasıl algıladığı ve kullandığı konusu ile ilgilenir. </a:t>
            </a:r>
            <a:endParaRPr lang="tr-TR" dirty="0" smtClean="0"/>
          </a:p>
          <a:p>
            <a:r>
              <a:rPr lang="tr-TR" dirty="0" smtClean="0"/>
              <a:t>Ekonomistler</a:t>
            </a:r>
            <a:r>
              <a:rPr lang="tr-TR" dirty="0"/>
              <a:t>, enformasyon sistemlerinin dijital ürünler, dijital pazarların dinamikleri ve yeni enformasyon sistemlerinin işletmede kontrol ve maliyet yapılarını nasıl değiştirdiği ile ilgilenirler. </a:t>
            </a:r>
            <a:endParaRPr lang="tr-TR" dirty="0" smtClean="0"/>
          </a:p>
          <a:p>
            <a:r>
              <a:rPr lang="tr-TR" dirty="0" smtClean="0"/>
              <a:t>Enformasyon </a:t>
            </a:r>
            <a:r>
              <a:rPr lang="tr-TR" dirty="0"/>
              <a:t>sistem teknolojisi çoğunlukla davranışsal bir problem ortaya çıkarmaktadır.</a:t>
            </a:r>
          </a:p>
        </p:txBody>
      </p:sp>
    </p:spTree>
    <p:extLst>
      <p:ext uri="{BB962C8B-B14F-4D97-AF65-F5344CB8AC3E}">
        <p14:creationId xmlns:p14="http://schemas.microsoft.com/office/powerpoint/2010/main" val="1657065138"/>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Başlık 1"/>
          <p:cNvSpPr>
            <a:spLocks noGrp="1"/>
          </p:cNvSpPr>
          <p:nvPr>
            <p:ph type="title"/>
          </p:nvPr>
        </p:nvSpPr>
        <p:spPr/>
        <p:txBody>
          <a:bodyPr/>
          <a:lstStyle/>
          <a:p>
            <a:r>
              <a:rPr lang="tr-TR" dirty="0" err="1"/>
              <a:t>Sosyo</a:t>
            </a:r>
            <a:r>
              <a:rPr lang="tr-TR" dirty="0"/>
              <a:t>-Teknik Sistemler</a:t>
            </a:r>
          </a:p>
        </p:txBody>
      </p:sp>
      <p:sp>
        <p:nvSpPr>
          <p:cNvPr id="3" name="İçerik Yer Tutucusu 2"/>
          <p:cNvSpPr>
            <a:spLocks noGrp="1"/>
          </p:cNvSpPr>
          <p:nvPr>
            <p:ph sz="quarter" idx="1"/>
          </p:nvPr>
        </p:nvSpPr>
        <p:spPr/>
        <p:txBody>
          <a:bodyPr>
            <a:normAutofit fontScale="77500" lnSpcReduction="20000"/>
          </a:bodyPr>
          <a:lstStyle/>
          <a:p>
            <a:r>
              <a:rPr lang="tr-TR" dirty="0"/>
              <a:t>Yönetim bilişim sistemlerinde yönetici ve çalışanlar, yasal, sosyal ve kültürel kapsam olmak üzere 4 aktör bulunmaktadır. </a:t>
            </a:r>
            <a:endParaRPr lang="tr-TR" dirty="0" smtClean="0"/>
          </a:p>
          <a:p>
            <a:r>
              <a:rPr lang="tr-TR" dirty="0" smtClean="0"/>
              <a:t>Yönetim </a:t>
            </a:r>
            <a:r>
              <a:rPr lang="tr-TR" dirty="0"/>
              <a:t>bilişim sistemleri, bilgisayar bilimi, yönetim bilimi ve yöneylem araştırmasını </a:t>
            </a:r>
            <a:r>
              <a:rPr lang="tr-TR" dirty="0" err="1"/>
              <a:t>biraraya</a:t>
            </a:r>
            <a:r>
              <a:rPr lang="tr-TR" dirty="0"/>
              <a:t> getirerek gerçek problemlere ve enformasyon teknolojisi kaynaklarını yönetmeye yönelik uygulamalı sistem geliştirme çözümleri sunar. </a:t>
            </a:r>
            <a:endParaRPr lang="tr-TR" dirty="0" smtClean="0"/>
          </a:p>
          <a:p>
            <a:r>
              <a:rPr lang="tr-TR" dirty="0" smtClean="0"/>
              <a:t>Aynı </a:t>
            </a:r>
            <a:r>
              <a:rPr lang="tr-TR" dirty="0"/>
              <a:t>zamanda enformasyon sistemlerinin geliştirilmesi, kullanımı, etkisi ve tipik olarak sosyoloji, ekonomi ve psikoloji alanlarında tartışılan davranış konuları ile ilgilenir. </a:t>
            </a:r>
            <a:endParaRPr lang="tr-TR" dirty="0" smtClean="0"/>
          </a:p>
          <a:p>
            <a:r>
              <a:rPr lang="tr-TR" dirty="0" err="1" smtClean="0"/>
              <a:t>Sosyo</a:t>
            </a:r>
            <a:r>
              <a:rPr lang="tr-TR" dirty="0" smtClean="0"/>
              <a:t>-teknik </a:t>
            </a:r>
            <a:r>
              <a:rPr lang="tr-TR" dirty="0"/>
              <a:t>bakış açısına göre enformasyon teknolojisi maliyetlerin hızla düşmesi ve verimlilik ve kâr artışı sonucunu getirmeyebilir. Enformasyon sisteminin iyi olması işletmede bunun etkin kullanılacağı anlamına gelmemektedir. </a:t>
            </a:r>
            <a:endParaRPr lang="tr-TR" dirty="0" smtClean="0"/>
          </a:p>
          <a:p>
            <a:r>
              <a:rPr lang="tr-TR" dirty="0" smtClean="0"/>
              <a:t> </a:t>
            </a:r>
            <a:r>
              <a:rPr lang="tr-TR" dirty="0"/>
              <a:t>Dolayısıyla sistemin teknik ve sosyal boyutların her ikisini de göz önüne alarak geliştirilmesi gerekmektedir.</a:t>
            </a:r>
          </a:p>
        </p:txBody>
      </p:sp>
    </p:spTree>
    <p:extLst>
      <p:ext uri="{BB962C8B-B14F-4D97-AF65-F5344CB8AC3E}">
        <p14:creationId xmlns:p14="http://schemas.microsoft.com/office/powerpoint/2010/main" val="1917972602"/>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Başlık 1"/>
          <p:cNvSpPr>
            <a:spLocks noGrp="1"/>
          </p:cNvSpPr>
          <p:nvPr>
            <p:ph type="title"/>
          </p:nvPr>
        </p:nvSpPr>
        <p:spPr/>
        <p:txBody>
          <a:bodyPr/>
          <a:lstStyle/>
          <a:p>
            <a:r>
              <a:rPr lang="tr-TR" dirty="0" err="1"/>
              <a:t>Sosyo</a:t>
            </a:r>
            <a:r>
              <a:rPr lang="tr-TR" dirty="0"/>
              <a:t>-Teknik Sistemler</a:t>
            </a:r>
          </a:p>
        </p:txBody>
      </p:sp>
      <p:pic>
        <p:nvPicPr>
          <p:cNvPr id="5" name="Resim 4"/>
          <p:cNvPicPr>
            <a:picLocks noChangeAspect="1"/>
          </p:cNvPicPr>
          <p:nvPr/>
        </p:nvPicPr>
        <p:blipFill>
          <a:blip r:embed="rId2"/>
          <a:stretch>
            <a:fillRect/>
          </a:stretch>
        </p:blipFill>
        <p:spPr>
          <a:xfrm>
            <a:off x="985837" y="1538287"/>
            <a:ext cx="7172325" cy="3781425"/>
          </a:xfrm>
          <a:prstGeom prst="rect">
            <a:avLst/>
          </a:prstGeom>
        </p:spPr>
      </p:pic>
    </p:spTree>
    <p:extLst>
      <p:ext uri="{BB962C8B-B14F-4D97-AF65-F5344CB8AC3E}">
        <p14:creationId xmlns:p14="http://schemas.microsoft.com/office/powerpoint/2010/main" val="532155320"/>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Cumba">
  <a:themeElements>
    <a:clrScheme name="Cumba">
      <a:dk1>
        <a:sysClr val="windowText" lastClr="000000"/>
      </a:dk1>
      <a:lt1>
        <a:sysClr val="window" lastClr="FFFFFF"/>
      </a:lt1>
      <a:dk2>
        <a:srgbClr val="575F6D"/>
      </a:dk2>
      <a:lt2>
        <a:srgbClr val="FFF39D"/>
      </a:lt2>
      <a:accent1>
        <a:srgbClr val="FE8637"/>
      </a:accent1>
      <a:accent2>
        <a:srgbClr val="7598D9"/>
      </a:accent2>
      <a:accent3>
        <a:srgbClr val="B32C16"/>
      </a:accent3>
      <a:accent4>
        <a:srgbClr val="F5CD2D"/>
      </a:accent4>
      <a:accent5>
        <a:srgbClr val="AEBAD5"/>
      </a:accent5>
      <a:accent6>
        <a:srgbClr val="777C84"/>
      </a:accent6>
      <a:hlink>
        <a:srgbClr val="D2611C"/>
      </a:hlink>
      <a:folHlink>
        <a:srgbClr val="3B435B"/>
      </a:folHlink>
    </a:clrScheme>
    <a:fontScheme name="Cumba">
      <a:majorFont>
        <a:latin typeface="Century Schoolbook"/>
        <a:ea typeface=""/>
        <a:cs typeface=""/>
        <a:font script="Jpan" typeface="ＭＳ Ｐ明朝"/>
        <a:font script="Hang" typeface="휴먼매직체"/>
        <a:font script="Hans" typeface="华文楷体"/>
        <a:font script="Hant" typeface="新細明體"/>
        <a:font script="Arab" typeface="Times New Roman"/>
        <a:font script="Hebr" typeface="Times New Roman"/>
        <a:font script="Thai" typeface="KodchiangUPC"/>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entury Schoolbook"/>
        <a:ea typeface=""/>
        <a:cs typeface=""/>
        <a:font script="Jpan" typeface="ＭＳ Ｐ明朝"/>
        <a:font script="Hang" typeface="휴먼매직체"/>
        <a:font script="Hans" typeface="宋体"/>
        <a:font script="Hant" typeface="新細明體"/>
        <a:font script="Arab" typeface="Times New Roman"/>
        <a:font script="Hebr" typeface="Times New Roman"/>
        <a:font script="Thai" typeface="KodchiangUPC"/>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inorFont>
    </a:fontScheme>
    <a:fmtScheme name="Cumba">
      <a:fillStyleLst>
        <a:solidFill>
          <a:schemeClr val="phClr"/>
        </a:solidFill>
        <a:gradFill rotWithShape="1">
          <a:gsLst>
            <a:gs pos="0">
              <a:schemeClr val="phClr">
                <a:tint val="35000"/>
                <a:satMod val="260000"/>
              </a:schemeClr>
            </a:gs>
            <a:gs pos="30000">
              <a:schemeClr val="phClr">
                <a:tint val="38000"/>
                <a:satMod val="260000"/>
              </a:schemeClr>
            </a:gs>
            <a:gs pos="75000">
              <a:schemeClr val="phClr">
                <a:tint val="55000"/>
                <a:satMod val="255000"/>
              </a:schemeClr>
            </a:gs>
            <a:gs pos="100000">
              <a:schemeClr val="phClr">
                <a:tint val="70000"/>
                <a:satMod val="255000"/>
              </a:schemeClr>
            </a:gs>
          </a:gsLst>
          <a:path path="circle">
            <a:fillToRect l="5000" t="100000" r="120000" b="10000"/>
          </a:path>
        </a:gradFill>
        <a:gradFill rotWithShape="1">
          <a:gsLst>
            <a:gs pos="0">
              <a:schemeClr val="phClr">
                <a:shade val="63000"/>
                <a:satMod val="165000"/>
              </a:schemeClr>
            </a:gs>
            <a:gs pos="30000">
              <a:schemeClr val="phClr">
                <a:shade val="58000"/>
                <a:satMod val="165000"/>
              </a:schemeClr>
            </a:gs>
            <a:gs pos="75000">
              <a:schemeClr val="phClr">
                <a:shade val="30000"/>
                <a:satMod val="175000"/>
              </a:schemeClr>
            </a:gs>
            <a:gs pos="100000">
              <a:schemeClr val="phClr">
                <a:shade val="15000"/>
                <a:satMod val="175000"/>
              </a:schemeClr>
            </a:gs>
          </a:gsLst>
          <a:path path="circle">
            <a:fillToRect l="5000" t="100000" r="120000" b="10000"/>
          </a:path>
        </a:gradFill>
      </a:fillStyleLst>
      <a:lnStyleLst>
        <a:ln w="12700" cap="flat" cmpd="sng" algn="ctr">
          <a:solidFill>
            <a:schemeClr val="phClr">
              <a:shade val="70000"/>
              <a:satMod val="150000"/>
            </a:schemeClr>
          </a:solidFill>
          <a:prstDash val="solid"/>
        </a:ln>
        <a:ln w="25400" cap="flat" cmpd="sng" algn="ctr">
          <a:solidFill>
            <a:schemeClr val="phClr"/>
          </a:solidFill>
          <a:prstDash val="solid"/>
        </a:ln>
        <a:ln w="34925" cap="flat" cmpd="sng" algn="ctr">
          <a:solidFill>
            <a:schemeClr val="phClr"/>
          </a:solidFill>
          <a:prstDash val="solid"/>
        </a:ln>
      </a:lnStyleLst>
      <a:effectStyleLst>
        <a:effectStyle>
          <a:effectLst>
            <a:outerShdw blurRad="50800" dist="25000" dir="5400000" rotWithShape="0">
              <a:srgbClr val="000000">
                <a:alpha val="40000"/>
              </a:srgbClr>
            </a:outerShdw>
          </a:effectLst>
        </a:effectStyle>
        <a:effectStyle>
          <a:effectLst>
            <a:outerShdw blurRad="50800" dist="20000" dir="5400000" rotWithShape="0">
              <a:srgbClr val="000000">
                <a:alpha val="42000"/>
              </a:srgbClr>
            </a:outerShdw>
          </a:effectLst>
        </a:effectStyle>
        <a:effectStyle>
          <a:effectLst>
            <a:outerShdw blurRad="50800" dist="20000" dir="5400000" rotWithShape="0">
              <a:srgbClr val="000000">
                <a:alpha val="42000"/>
              </a:srgbClr>
            </a:outerShdw>
          </a:effectLst>
          <a:scene3d>
            <a:camera prst="orthographicFront">
              <a:rot lat="0" lon="0" rev="0"/>
            </a:camera>
            <a:lightRig rig="balanced" dir="t">
              <a:rot lat="0" lon="0" rev="0"/>
            </a:lightRig>
          </a:scene3d>
          <a:sp3d>
            <a:bevelT w="47625" h="69850"/>
            <a:contourClr>
              <a:schemeClr val="lt1"/>
            </a:contourClr>
          </a:sp3d>
        </a:effectStyle>
      </a:effectStyleLst>
      <a:bgFillStyleLst>
        <a:solidFill>
          <a:schemeClr val="phClr"/>
        </a:solidFill>
        <a:gradFill rotWithShape="1">
          <a:gsLst>
            <a:gs pos="0">
              <a:schemeClr val="phClr">
                <a:shade val="58000"/>
                <a:satMod val="125000"/>
              </a:schemeClr>
            </a:gs>
            <a:gs pos="40000">
              <a:schemeClr val="phClr">
                <a:tint val="90000"/>
                <a:shade val="90000"/>
                <a:satMod val="120000"/>
              </a:schemeClr>
            </a:gs>
            <a:gs pos="100000">
              <a:schemeClr val="phClr">
                <a:tint val="50000"/>
              </a:schemeClr>
            </a:gs>
          </a:gsLst>
          <a:lin ang="16200000" scaled="1"/>
        </a:gradFill>
        <a:blipFill>
          <a:blip xmlns:r="http://schemas.openxmlformats.org/officeDocument/2006/relationships" r:embed="rId1">
            <a:duotone>
              <a:schemeClr val="phClr">
                <a:shade val="80000"/>
              </a:schemeClr>
              <a:schemeClr val="phClr">
                <a:tint val="91000"/>
              </a:schemeClr>
            </a:duotone>
          </a:blip>
          <a:tile tx="0" ty="0" sx="40000" sy="50000" flip="y" algn="tl"/>
        </a:blip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Oriel</Template>
  <TotalTime>125</TotalTime>
  <Words>2680</Words>
  <Application>Microsoft Office PowerPoint</Application>
  <PresentationFormat>Ekran Gösterisi (4:3)</PresentationFormat>
  <Paragraphs>202</Paragraphs>
  <Slides>40</Slides>
  <Notes>0</Notes>
  <HiddenSlides>0</HiddenSlides>
  <MMClips>0</MMClips>
  <ScaleCrop>false</ScaleCrop>
  <HeadingPairs>
    <vt:vector size="6" baseType="variant">
      <vt:variant>
        <vt:lpstr>Kullanılan Yazı Tipleri</vt:lpstr>
      </vt:variant>
      <vt:variant>
        <vt:i4>4</vt:i4>
      </vt:variant>
      <vt:variant>
        <vt:lpstr>Tema</vt:lpstr>
      </vt:variant>
      <vt:variant>
        <vt:i4>1</vt:i4>
      </vt:variant>
      <vt:variant>
        <vt:lpstr>Slayt Başlıkları</vt:lpstr>
      </vt:variant>
      <vt:variant>
        <vt:i4>40</vt:i4>
      </vt:variant>
    </vt:vector>
  </HeadingPairs>
  <TitlesOfParts>
    <vt:vector size="45" baseType="lpstr">
      <vt:lpstr>ＭＳ Ｐゴシック</vt:lpstr>
      <vt:lpstr>Century Schoolbook</vt:lpstr>
      <vt:lpstr>Wingdings</vt:lpstr>
      <vt:lpstr>Wingdings 2</vt:lpstr>
      <vt:lpstr>Cumba</vt:lpstr>
      <vt:lpstr>Yönetim Bilişim Sistemleri </vt:lpstr>
      <vt:lpstr>Örgütler ve Enformasyon Sistemleri</vt:lpstr>
      <vt:lpstr>Örgüt nedir?</vt:lpstr>
      <vt:lpstr>Bu örgüt tanımları ES teknolojisi ile nasıl ilişkilendirilir?</vt:lpstr>
      <vt:lpstr>Örgütlerin Özellikleri</vt:lpstr>
      <vt:lpstr>Örgütlerin Özellikleri: Rutinler ve İş Süreçleri</vt:lpstr>
      <vt:lpstr>Örgütlerin Özellikleri: Örgüt Politikaları</vt:lpstr>
      <vt:lpstr>Örgütlerin Özellikleri: Örgüt kültürü </vt:lpstr>
      <vt:lpstr>Örgütlerin Özellikleri: Örgüt Çevresi </vt:lpstr>
      <vt:lpstr>Örgüt Çevresinde Değişim : Yıkıcı Teknolojiler</vt:lpstr>
      <vt:lpstr>Yıkıcı Teknoloji Örnekleri</vt:lpstr>
      <vt:lpstr>Ekonomik Etkiler</vt:lpstr>
      <vt:lpstr>Ekonomik Etkiler</vt:lpstr>
      <vt:lpstr>Yeni ürün, Hizmet ve İş Modelleri</vt:lpstr>
      <vt:lpstr>3. Müşteri ve Tedarikçilerle İlişkiler</vt:lpstr>
      <vt:lpstr>PowerPoint Sunusu</vt:lpstr>
      <vt:lpstr>Rekabetçi Avantaj </vt:lpstr>
      <vt:lpstr>Ayakta Kalabilme</vt:lpstr>
      <vt:lpstr>Enformasyon Teknolojisi (ET) Nedir? </vt:lpstr>
      <vt:lpstr>Veri-Enformasyon-Bilgi-Hikmet</vt:lpstr>
      <vt:lpstr>Bilgi Piramidi</vt:lpstr>
      <vt:lpstr>Sistem Nedir?</vt:lpstr>
      <vt:lpstr>Enformasyon Sistemlerinin Temel Faaliyetleri</vt:lpstr>
      <vt:lpstr>Enformasyon Sistemlerinin (ES) Boyutları</vt:lpstr>
      <vt:lpstr>Organizasyon </vt:lpstr>
      <vt:lpstr>Hiyerarşik Yapı ve ES</vt:lpstr>
      <vt:lpstr>1.Organizasyonel Kültür ve YBS</vt:lpstr>
      <vt:lpstr>2. Yönetim</vt:lpstr>
      <vt:lpstr>3. Enformasyon Teknolojisi</vt:lpstr>
      <vt:lpstr>Enformasyon Sistemlerine Yönelik İşletme Bakış Açısı</vt:lpstr>
      <vt:lpstr>Enformasyon Değer Zinciri</vt:lpstr>
      <vt:lpstr>Tamamlayıcı Varlıklar</vt:lpstr>
      <vt:lpstr>Tamamlayıcı Varlıklar</vt:lpstr>
      <vt:lpstr>Tamamlayıcı Varlıklar</vt:lpstr>
      <vt:lpstr>Tamamlayıcı Varlıklar</vt:lpstr>
      <vt:lpstr>Enformasyon Sistemlerine Çağdaş Yaklaşımlar</vt:lpstr>
      <vt:lpstr>Teknik Yaklaşım</vt:lpstr>
      <vt:lpstr>Davranışsal Yaklaşım</vt:lpstr>
      <vt:lpstr>Sosyo-Teknik Sistemler</vt:lpstr>
      <vt:lpstr>Sosyo-Teknik Sistemler</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İLERİ PROGRAMLAMA</dc:title>
  <dc:creator>SFuat</dc:creator>
  <cp:lastModifiedBy>Windows Kullanıcısı</cp:lastModifiedBy>
  <cp:revision>39</cp:revision>
  <dcterms:created xsi:type="dcterms:W3CDTF">2020-02-18T10:38:04Z</dcterms:created>
  <dcterms:modified xsi:type="dcterms:W3CDTF">2022-10-10T08:31:41Z</dcterms:modified>
</cp:coreProperties>
</file>