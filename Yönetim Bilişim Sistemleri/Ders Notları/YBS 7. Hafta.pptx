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316" r:id="rId4"/>
    <p:sldId id="317" r:id="rId5"/>
    <p:sldId id="318" r:id="rId6"/>
    <p:sldId id="261" r:id="rId7"/>
    <p:sldId id="262" r:id="rId8"/>
    <p:sldId id="263" r:id="rId9"/>
    <p:sldId id="264" r:id="rId10"/>
    <p:sldId id="265" r:id="rId11"/>
    <p:sldId id="266" r:id="rId12"/>
    <p:sldId id="267" r:id="rId13"/>
    <p:sldId id="268" r:id="rId14"/>
    <p:sldId id="269" r:id="rId15"/>
    <p:sldId id="270" r:id="rId16"/>
    <p:sldId id="315" r:id="rId17"/>
    <p:sldId id="312" r:id="rId18"/>
    <p:sldId id="314" r:id="rId19"/>
    <p:sldId id="313" r:id="rId20"/>
    <p:sldId id="271" r:id="rId21"/>
    <p:sldId id="273" r:id="rId22"/>
    <p:sldId id="319" r:id="rId2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4"/>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Başlık 7"/>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Alt Başlık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Veri Yer Tutucusu 27"/>
          <p:cNvSpPr>
            <a:spLocks noGrp="1"/>
          </p:cNvSpPr>
          <p:nvPr>
            <p:ph type="dt" sz="half" idx="10"/>
          </p:nvPr>
        </p:nvSpPr>
        <p:spPr bwMode="auto">
          <a:xfrm rot="5400000">
            <a:off x="7764621" y="1174097"/>
            <a:ext cx="2286000" cy="381000"/>
          </a:xfrm>
        </p:spPr>
        <p:txBody>
          <a:bodyPr/>
          <a:lstStyle/>
          <a:p>
            <a:fld id="{A23720DD-5B6D-40BF-8493-A6B52D484E6B}" type="datetimeFigureOut">
              <a:rPr lang="tr-TR" smtClean="0"/>
              <a:t>28.11.2022</a:t>
            </a:fld>
            <a:endParaRPr lang="tr-TR"/>
          </a:p>
        </p:txBody>
      </p:sp>
      <p:sp>
        <p:nvSpPr>
          <p:cNvPr id="17" name="Altbilgi Yer Tutucusu 16"/>
          <p:cNvSpPr>
            <a:spLocks noGrp="1"/>
          </p:cNvSpPr>
          <p:nvPr>
            <p:ph type="ftr" sz="quarter" idx="11"/>
          </p:nvPr>
        </p:nvSpPr>
        <p:spPr bwMode="auto">
          <a:xfrm rot="5400000">
            <a:off x="7077269" y="4181669"/>
            <a:ext cx="3657600" cy="384048"/>
          </a:xfrm>
        </p:spPr>
        <p:txBody>
          <a:bodyPr/>
          <a:lstStyle/>
          <a:p>
            <a:endParaRPr lang="tr-TR"/>
          </a:p>
        </p:txBody>
      </p:sp>
      <p:sp>
        <p:nvSpPr>
          <p:cNvPr id="10" name="Dikdörtgen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Dikdörtgen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Dikdörtgen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üz Bağlayıcı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Düz Bağlayıcı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Düz Bağlayıcı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Dikdörtgen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ayt Numarası Yer Tutucusu 28"/>
          <p:cNvSpPr>
            <a:spLocks noGrp="1"/>
          </p:cNvSpPr>
          <p:nvPr>
            <p:ph type="sldNum" sz="quarter" idx="12"/>
          </p:nvPr>
        </p:nvSpPr>
        <p:spPr bwMode="auto">
          <a:xfrm>
            <a:off x="1325544" y="4928702"/>
            <a:ext cx="609600" cy="517524"/>
          </a:xfrm>
        </p:spPr>
        <p:txBody>
          <a:bodyPr/>
          <a:lstStyle/>
          <a:p>
            <a:fld id="{F302176B-0E47-46AC-8F43-DAB4B8A37D06}" type="slidenum">
              <a:rPr lang="tr-TR" smtClean="0"/>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8" name="İçerik Yer Tutucusu 7"/>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Veri Yer Tutucusu 6"/>
          <p:cNvSpPr>
            <a:spLocks noGrp="1"/>
          </p:cNvSpPr>
          <p:nvPr>
            <p:ph type="dt" sz="half" idx="14"/>
          </p:nvPr>
        </p:nvSpPr>
        <p:spPr/>
        <p:txBody>
          <a:bodyPr rtlCol="0"/>
          <a:lstStyle/>
          <a:p>
            <a:fld id="{A23720DD-5B6D-40BF-8493-A6B52D484E6B}" type="datetimeFigureOut">
              <a:rPr lang="tr-TR" smtClean="0"/>
              <a:t>28.11.2022</a:t>
            </a:fld>
            <a:endParaRPr lang="tr-TR"/>
          </a:p>
        </p:txBody>
      </p:sp>
      <p:sp>
        <p:nvSpPr>
          <p:cNvPr id="9" name="Slayt Numarası Yer Tutucusu 8"/>
          <p:cNvSpPr>
            <a:spLocks noGrp="1"/>
          </p:cNvSpPr>
          <p:nvPr>
            <p:ph type="sldNum" sz="quarter" idx="15"/>
          </p:nvPr>
        </p:nvSpPr>
        <p:spPr/>
        <p:txBody>
          <a:bodyPr rtlCol="0"/>
          <a:lstStyle/>
          <a:p>
            <a:fld id="{F302176B-0E47-46AC-8F43-DAB4B8A37D06}" type="slidenum">
              <a:rPr lang="tr-TR" smtClean="0"/>
              <a:t>‹#›</a:t>
            </a:fld>
            <a:endParaRPr lang="tr-TR"/>
          </a:p>
        </p:txBody>
      </p:sp>
      <p:sp>
        <p:nvSpPr>
          <p:cNvPr id="10" name="Altbilgi Yer Tutucusu 9"/>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Metin Yer Tutucusu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Veri Yer Tutucusu 3"/>
          <p:cNvSpPr>
            <a:spLocks noGrp="1"/>
          </p:cNvSpPr>
          <p:nvPr>
            <p:ph type="dt" sz="half" idx="10"/>
          </p:nvPr>
        </p:nvSpPr>
        <p:spPr bwMode="auto">
          <a:xfrm rot="5400000">
            <a:off x="7763256" y="1170432"/>
            <a:ext cx="2286000" cy="381000"/>
          </a:xfrm>
        </p:spPr>
        <p:txBody>
          <a:bodyPr/>
          <a:lstStyle/>
          <a:p>
            <a:fld id="{A23720DD-5B6D-40BF-8493-A6B52D484E6B}" type="datetimeFigureOut">
              <a:rPr lang="tr-TR" smtClean="0"/>
              <a:t>28.11.2022</a:t>
            </a:fld>
            <a:endParaRPr lang="tr-TR"/>
          </a:p>
        </p:txBody>
      </p:sp>
      <p:sp>
        <p:nvSpPr>
          <p:cNvPr id="5" name="Altbilgi Yer Tutucusu 4"/>
          <p:cNvSpPr>
            <a:spLocks noGrp="1"/>
          </p:cNvSpPr>
          <p:nvPr>
            <p:ph type="ftr" sz="quarter" idx="11"/>
          </p:nvPr>
        </p:nvSpPr>
        <p:spPr bwMode="auto">
          <a:xfrm rot="5400000">
            <a:off x="7077456" y="4178808"/>
            <a:ext cx="3657600" cy="384048"/>
          </a:xfrm>
        </p:spPr>
        <p:txBody>
          <a:bodyPr/>
          <a:lstStyle/>
          <a:p>
            <a:endParaRPr lang="tr-TR"/>
          </a:p>
        </p:txBody>
      </p:sp>
      <p:sp>
        <p:nvSpPr>
          <p:cNvPr id="9" name="Dikdörtgen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Dikdörtgen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ikdörtgen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Düz Bağlayıcı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üz Bağlayıcı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ikdörtgen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Düz Bağlayıcı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ayt Numarası Yer Tutucusu 5"/>
          <p:cNvSpPr>
            <a:spLocks noGrp="1"/>
          </p:cNvSpPr>
          <p:nvPr>
            <p:ph type="sldNum" sz="quarter" idx="12"/>
          </p:nvPr>
        </p:nvSpPr>
        <p:spPr bwMode="auto">
          <a:xfrm>
            <a:off x="1340616" y="4928702"/>
            <a:ext cx="609600" cy="517524"/>
          </a:xfrm>
        </p:spPr>
        <p:txBody>
          <a:bodyPr/>
          <a:lstStyle/>
          <a:p>
            <a:fld id="{F302176B-0E47-46AC-8F43-DAB4B8A37D06}" type="slidenum">
              <a:rPr lang="tr-TR" smtClean="0"/>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5" name="Veri Yer Tutucusu 4"/>
          <p:cNvSpPr>
            <a:spLocks noGrp="1"/>
          </p:cNvSpPr>
          <p:nvPr>
            <p:ph type="dt" sz="half" idx="10"/>
          </p:nvPr>
        </p:nvSpPr>
        <p:spPr/>
        <p:txBody>
          <a:bodyPr/>
          <a:lstStyle/>
          <a:p>
            <a:fld id="{A23720DD-5B6D-40BF-8493-A6B52D484E6B}" type="datetimeFigureOut">
              <a:rPr lang="tr-TR" smtClean="0"/>
              <a:t>28.11.2022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F302176B-0E47-46AC-8F43-DAB4B8A37D06}" type="slidenum">
              <a:rPr lang="tr-TR" smtClean="0"/>
              <a:t>‹#›</a:t>
            </a:fld>
            <a:endParaRPr lang="tr-TR"/>
          </a:p>
        </p:txBody>
      </p:sp>
      <p:sp>
        <p:nvSpPr>
          <p:cNvPr id="9" name="İçerik Yer Tutucusu 8"/>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İçerik Yer Tutucusu 10"/>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Veri Yer Tutucusu 6"/>
          <p:cNvSpPr>
            <a:spLocks noGrp="1"/>
          </p:cNvSpPr>
          <p:nvPr>
            <p:ph type="dt" sz="half" idx="10"/>
          </p:nvPr>
        </p:nvSpPr>
        <p:spPr/>
        <p:txBody>
          <a:bodyPr/>
          <a:lstStyle/>
          <a:p>
            <a:fld id="{A23720DD-5B6D-40BF-8493-A6B52D484E6B}" type="datetimeFigureOut">
              <a:rPr lang="tr-TR" smtClean="0"/>
              <a:t>28.11.2022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F302176B-0E47-46AC-8F43-DAB4B8A37D06}" type="slidenum">
              <a:rPr lang="tr-TR" smtClean="0"/>
              <a:t>‹#›</a:t>
            </a:fld>
            <a:endParaRPr lang="tr-TR"/>
          </a:p>
        </p:txBody>
      </p:sp>
      <p:sp>
        <p:nvSpPr>
          <p:cNvPr id="11" name="İçerik Yer Tutucusu 10"/>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İçerik Yer Tutucusu 12"/>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Metin Yer Tutucusu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Metin Yer Tutucusu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6" name="Veri Yer Tutucusu 5"/>
          <p:cNvSpPr>
            <a:spLocks noGrp="1"/>
          </p:cNvSpPr>
          <p:nvPr>
            <p:ph type="dt" sz="half" idx="10"/>
          </p:nvPr>
        </p:nvSpPr>
        <p:spPr/>
        <p:txBody>
          <a:bodyPr rtlCol="0"/>
          <a:lstStyle/>
          <a:p>
            <a:fld id="{A23720DD-5B6D-40BF-8493-A6B52D484E6B}" type="datetimeFigureOut">
              <a:rPr lang="tr-TR" smtClean="0"/>
              <a:t>28.11.2022</a:t>
            </a:fld>
            <a:endParaRPr lang="tr-TR"/>
          </a:p>
        </p:txBody>
      </p:sp>
      <p:sp>
        <p:nvSpPr>
          <p:cNvPr id="7" name="Slayt Numarası Yer Tutucusu 6"/>
          <p:cNvSpPr>
            <a:spLocks noGrp="1"/>
          </p:cNvSpPr>
          <p:nvPr>
            <p:ph type="sldNum" sz="quarter" idx="11"/>
          </p:nvPr>
        </p:nvSpPr>
        <p:spPr/>
        <p:txBody>
          <a:bodyPr rtlCol="0"/>
          <a:lstStyle/>
          <a:p>
            <a:fld id="{F302176B-0E47-46AC-8F43-DAB4B8A37D06}" type="slidenum">
              <a:rPr lang="tr-TR" smtClean="0"/>
              <a:t>‹#›</a:t>
            </a:fld>
            <a:endParaRPr lang="tr-TR"/>
          </a:p>
        </p:txBody>
      </p:sp>
      <p:sp>
        <p:nvSpPr>
          <p:cNvPr id="8" name="Altbilgi Yer Tutucusu 7"/>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A23720DD-5B6D-40BF-8493-A6B52D484E6B}" type="datetimeFigureOut">
              <a:rPr lang="tr-TR" smtClean="0"/>
              <a:t>28.11.2022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Düz Bağlayıcı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Başlık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Metin Yer Tutucusu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Düz Bağlayıcı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Düz Bağlayıcı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Düz Bağlayıcı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Dikdörtgen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çerik Yer Tutucusu 17"/>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Veri Yer Tutucusu 20"/>
          <p:cNvSpPr>
            <a:spLocks noGrp="1"/>
          </p:cNvSpPr>
          <p:nvPr>
            <p:ph type="dt" sz="half" idx="14"/>
          </p:nvPr>
        </p:nvSpPr>
        <p:spPr/>
        <p:txBody>
          <a:bodyPr rtlCol="0"/>
          <a:lstStyle/>
          <a:p>
            <a:fld id="{A23720DD-5B6D-40BF-8493-A6B52D484E6B}" type="datetimeFigureOut">
              <a:rPr lang="tr-TR" smtClean="0"/>
              <a:t>28.11.2022</a:t>
            </a:fld>
            <a:endParaRPr lang="tr-TR"/>
          </a:p>
        </p:txBody>
      </p:sp>
      <p:sp>
        <p:nvSpPr>
          <p:cNvPr id="22" name="Slayt Numarası Yer Tutucusu 21"/>
          <p:cNvSpPr>
            <a:spLocks noGrp="1"/>
          </p:cNvSpPr>
          <p:nvPr>
            <p:ph type="sldNum" sz="quarter" idx="15"/>
          </p:nvPr>
        </p:nvSpPr>
        <p:spPr/>
        <p:txBody>
          <a:bodyPr rtlCol="0"/>
          <a:lstStyle/>
          <a:p>
            <a:fld id="{F302176B-0E47-46AC-8F43-DAB4B8A37D06}" type="slidenum">
              <a:rPr lang="tr-TR" smtClean="0"/>
              <a:t>‹#›</a:t>
            </a:fld>
            <a:endParaRPr lang="tr-TR"/>
          </a:p>
        </p:txBody>
      </p:sp>
      <p:sp>
        <p:nvSpPr>
          <p:cNvPr id="23" name="Altbilgi Yer Tutucusu 22"/>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Düz Bağlayıcı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Başlık 1"/>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Resim Yer Tutucusu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Metin Yer Tutucusu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Düz Bağlayıcı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Dikdörtgen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üz Bağlayıcı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Düz Bağlayıcı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Düz Bağlayıcı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Veri Yer Tutucusu 16"/>
          <p:cNvSpPr>
            <a:spLocks noGrp="1"/>
          </p:cNvSpPr>
          <p:nvPr>
            <p:ph type="dt" sz="half" idx="10"/>
          </p:nvPr>
        </p:nvSpPr>
        <p:spPr/>
        <p:txBody>
          <a:bodyPr rtlCol="0"/>
          <a:lstStyle/>
          <a:p>
            <a:fld id="{A23720DD-5B6D-40BF-8493-A6B52D484E6B}" type="datetimeFigureOut">
              <a:rPr lang="tr-TR" smtClean="0"/>
              <a:t>28.11.2022</a:t>
            </a:fld>
            <a:endParaRPr lang="tr-TR"/>
          </a:p>
        </p:txBody>
      </p:sp>
      <p:sp>
        <p:nvSpPr>
          <p:cNvPr id="18" name="Slayt Numarası Yer Tutucusu 17"/>
          <p:cNvSpPr>
            <a:spLocks noGrp="1"/>
          </p:cNvSpPr>
          <p:nvPr>
            <p:ph type="sldNum" sz="quarter" idx="11"/>
          </p:nvPr>
        </p:nvSpPr>
        <p:spPr/>
        <p:txBody>
          <a:bodyPr rtlCol="0"/>
          <a:lstStyle/>
          <a:p>
            <a:fld id="{F302176B-0E47-46AC-8F43-DAB4B8A37D06}" type="slidenum">
              <a:rPr lang="tr-TR" smtClean="0"/>
              <a:t>‹#›</a:t>
            </a:fld>
            <a:endParaRPr lang="tr-TR"/>
          </a:p>
        </p:txBody>
      </p:sp>
      <p:sp>
        <p:nvSpPr>
          <p:cNvPr id="21" name="Altbilgi Yer Tutucusu 20"/>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3" name="Dikey Metin Yer Tutucusu 2"/>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28.11.2022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Dikey Metin Yer Tutucusu 2"/>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28.11.2022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Düz Bağlayıcı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Başlık Yer Tutucusu 21"/>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Metin Yer Tutucusu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Veri Yer Tutucusu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3720DD-5B6D-40BF-8493-A6B52D484E6B}" type="datetimeFigureOut">
              <a:rPr lang="tr-TR" smtClean="0"/>
              <a:t>28.11.2022</a:t>
            </a:fld>
            <a:endParaRPr lang="tr-TR"/>
          </a:p>
        </p:txBody>
      </p:sp>
      <p:sp>
        <p:nvSpPr>
          <p:cNvPr id="3" name="Altbilgi Yer Tutucusu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Düz Bağlayıcı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Düz Bağlayıcı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Dikdörtgen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ayt Numarası Yer Tutucusu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2411760" y="2564904"/>
            <a:ext cx="6172200" cy="1894362"/>
          </a:xfrm>
        </p:spPr>
        <p:txBody>
          <a:bodyPr/>
          <a:lstStyle/>
          <a:p>
            <a:r>
              <a:rPr lang="tr-TR" sz="2800" dirty="0" smtClean="0"/>
              <a:t>Yönetim Bilişim Sistemleri</a:t>
            </a:r>
            <a:r>
              <a:rPr lang="tr-TR" sz="2800" dirty="0"/>
              <a:t/>
            </a:r>
            <a:br>
              <a:rPr lang="tr-TR" sz="2800" dirty="0"/>
            </a:br>
            <a:endParaRPr lang="tr-TR" dirty="0"/>
          </a:p>
        </p:txBody>
      </p:sp>
      <p:sp>
        <p:nvSpPr>
          <p:cNvPr id="3" name="Alt Başlık 2"/>
          <p:cNvSpPr>
            <a:spLocks noGrp="1"/>
          </p:cNvSpPr>
          <p:nvPr>
            <p:ph type="subTitle" idx="1"/>
          </p:nvPr>
        </p:nvSpPr>
        <p:spPr/>
        <p:txBody>
          <a:bodyPr>
            <a:normAutofit fontScale="85000" lnSpcReduction="20000"/>
          </a:bodyPr>
          <a:lstStyle/>
          <a:p>
            <a:pPr algn="ctr"/>
            <a:r>
              <a:rPr lang="tr-TR" b="0" dirty="0"/>
              <a:t>Prof. Dr. Tuncay YİĞİT</a:t>
            </a:r>
          </a:p>
          <a:p>
            <a:pPr algn="ctr"/>
            <a:r>
              <a:rPr lang="tr-TR" b="0" dirty="0"/>
              <a:t>Süleyman Demirel Üniversitesi</a:t>
            </a:r>
          </a:p>
          <a:p>
            <a:pPr algn="ctr"/>
            <a:r>
              <a:rPr lang="tr-TR" b="0" dirty="0"/>
              <a:t>Bilgisayar Mühendisliği Bölümü</a:t>
            </a:r>
          </a:p>
          <a:p>
            <a:pPr algn="ctr"/>
            <a:endParaRPr lang="tr-TR" b="0" dirty="0"/>
          </a:p>
          <a:p>
            <a:pPr algn="ctr"/>
            <a:r>
              <a:rPr lang="tr-TR" b="0" dirty="0"/>
              <a:t>ISPARTA 2022</a:t>
            </a:r>
          </a:p>
        </p:txBody>
      </p:sp>
    </p:spTree>
    <p:extLst>
      <p:ext uri="{BB962C8B-B14F-4D97-AF65-F5344CB8AC3E}">
        <p14:creationId xmlns:p14="http://schemas.microsoft.com/office/powerpoint/2010/main" val="19274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MÜŞTERİ İLİŞKİLERİ YÖNETİMİ </a:t>
            </a:r>
            <a:r>
              <a:rPr lang="tr-TR" dirty="0" smtClean="0"/>
              <a:t>SİSTEMLERİ (CRM)</a:t>
            </a:r>
            <a:endParaRPr lang="tr-TR" dirty="0"/>
          </a:p>
        </p:txBody>
      </p:sp>
      <p:sp>
        <p:nvSpPr>
          <p:cNvPr id="3" name="İçerik Yer Tutucusu 2"/>
          <p:cNvSpPr>
            <a:spLocks noGrp="1"/>
          </p:cNvSpPr>
          <p:nvPr>
            <p:ph sz="quarter" idx="1"/>
          </p:nvPr>
        </p:nvSpPr>
        <p:spPr>
          <a:xfrm>
            <a:off x="457200" y="1600200"/>
            <a:ext cx="8507288" cy="4709120"/>
          </a:xfrm>
        </p:spPr>
        <p:txBody>
          <a:bodyPr>
            <a:normAutofit fontScale="77500" lnSpcReduction="20000"/>
          </a:bodyPr>
          <a:lstStyle/>
          <a:p>
            <a:r>
              <a:rPr lang="tr-TR" dirty="0"/>
              <a:t>Yenilikçi ürün ve hizmetlere dayanan rekabetçi avantaj çok kısa süreli olduğundan, işletmeler kalıcı tek rekabet gücünün müşteri ilişkileri olduğunu fark etmişlerdir. </a:t>
            </a:r>
            <a:r>
              <a:rPr lang="tr-TR" dirty="0" smtClean="0"/>
              <a:t> </a:t>
            </a:r>
          </a:p>
          <a:p>
            <a:r>
              <a:rPr lang="tr-TR" dirty="0" smtClean="0"/>
              <a:t>Bazıları </a:t>
            </a:r>
            <a:r>
              <a:rPr lang="tr-TR" dirty="0"/>
              <a:t>rekabetin temelinin kimin daha fazla ürün ve hizmet sattığından, kimin müşteriye sahip olduğuna dönüştüğünü ve bu müşteri ilişkilerinin işletmenin en değerli varlığını temsil ettiğini belirtmektedirler. </a:t>
            </a:r>
            <a:endParaRPr lang="tr-TR" dirty="0" smtClean="0"/>
          </a:p>
          <a:p>
            <a:r>
              <a:rPr lang="tr-TR" dirty="0" smtClean="0"/>
              <a:t>Bir </a:t>
            </a:r>
            <a:r>
              <a:rPr lang="tr-TR" dirty="0"/>
              <a:t>şirketin müşterileri ile olan ilişkilerini düzenli bir şekilde yönetmesine yardımcı olan CRM, yazılım ve internet yetenekleri için kullanılmış bir bilişim endüstrisi terimidir. </a:t>
            </a:r>
            <a:endParaRPr lang="tr-TR" dirty="0" smtClean="0"/>
          </a:p>
          <a:p>
            <a:r>
              <a:rPr lang="tr-TR" smtClean="0"/>
              <a:t>Son </a:t>
            </a:r>
            <a:r>
              <a:rPr lang="tr-TR" dirty="0"/>
              <a:t>yıllarda hızla ilerleyen teknoloji sayesinde üretim maliyetlerinin düşmesi, mal ve hizmetlerin kolayca taklit edilebilmesi, müşteri sadakatinin azalması, marka bağımlılığının giderek azalması gibi unsurlar rekabet unsurunu daha da körüklemiştir</a:t>
            </a:r>
            <a:r>
              <a:rPr lang="tr-TR"/>
              <a:t>. </a:t>
            </a:r>
            <a:endParaRPr lang="tr-TR" smtClean="0"/>
          </a:p>
          <a:p>
            <a:r>
              <a:rPr lang="tr-TR" smtClean="0"/>
              <a:t>Bu </a:t>
            </a:r>
            <a:r>
              <a:rPr lang="tr-TR" dirty="0"/>
              <a:t>sebeple yoğun rekabet koşullarında yaşayan işletmelerde insan unsuru daha da ön plana çıkmaktadır. Satış noktasında satılan mal ve hizmetin kalitesi ya da satış sonrası verilen hizmetlerle birlikte müşteri ilişkileri çok daha fazla önem kazanmıştır.</a:t>
            </a:r>
          </a:p>
        </p:txBody>
      </p:sp>
    </p:spTree>
    <p:extLst>
      <p:ext uri="{BB962C8B-B14F-4D97-AF65-F5344CB8AC3E}">
        <p14:creationId xmlns:p14="http://schemas.microsoft.com/office/powerpoint/2010/main" val="278354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MÜŞTERİ İLİŞKİLERİ YÖNETİMİ </a:t>
            </a:r>
            <a:r>
              <a:rPr lang="tr-TR" dirty="0" smtClean="0"/>
              <a:t>SİSTEMLERİ (CRM)</a:t>
            </a:r>
            <a:endParaRPr lang="tr-TR" dirty="0"/>
          </a:p>
        </p:txBody>
      </p:sp>
      <p:sp>
        <p:nvSpPr>
          <p:cNvPr id="3" name="İçerik Yer Tutucusu 2"/>
          <p:cNvSpPr>
            <a:spLocks noGrp="1"/>
          </p:cNvSpPr>
          <p:nvPr>
            <p:ph sz="quarter" idx="1"/>
          </p:nvPr>
        </p:nvSpPr>
        <p:spPr>
          <a:xfrm>
            <a:off x="457200" y="1600200"/>
            <a:ext cx="8507288" cy="4709120"/>
          </a:xfrm>
        </p:spPr>
        <p:txBody>
          <a:bodyPr>
            <a:normAutofit fontScale="70000" lnSpcReduction="20000"/>
          </a:bodyPr>
          <a:lstStyle/>
          <a:p>
            <a:r>
              <a:rPr lang="tr-TR" dirty="0"/>
              <a:t>Müşterilerle uzun dönemli, güçlü bir ilişki kurmak ve beslemek için ne tür enformasyona ihtiyaç duyabilirsiniz? </a:t>
            </a:r>
            <a:endParaRPr lang="tr-TR" dirty="0" smtClean="0"/>
          </a:p>
          <a:p>
            <a:r>
              <a:rPr lang="tr-TR" dirty="0" smtClean="0"/>
              <a:t>Müşterilerinizin </a:t>
            </a:r>
            <a:r>
              <a:rPr lang="tr-TR" dirty="0"/>
              <a:t>tam olarak kim olduğunu, onlarla nasıl ilişki kuracağınızı, onlara hizmet vermenin veya satış yapmanın maliyetli olup olmadığını, ne tür ürünler ve hizmetlerle ilgilendiklerini ve sizin işletmeniz için ne kadar para harcadıklarını bilmek isteyebilirsiniz. </a:t>
            </a:r>
            <a:endParaRPr lang="tr-TR" dirty="0" smtClean="0"/>
          </a:p>
          <a:p>
            <a:r>
              <a:rPr lang="tr-TR" dirty="0" smtClean="0"/>
              <a:t>Eğer </a:t>
            </a:r>
            <a:r>
              <a:rPr lang="tr-TR" dirty="0"/>
              <a:t>yapabilirseniz, sanki küçük bir kasaba dükkânı işletiyormuş gibi her bir müşterinizi çok iyi tanıdığınızdan emin olmak isterseniz. </a:t>
            </a:r>
            <a:endParaRPr lang="tr-TR" dirty="0" smtClean="0"/>
          </a:p>
          <a:p>
            <a:r>
              <a:rPr lang="tr-TR" dirty="0" smtClean="0"/>
              <a:t>Ayrıca </a:t>
            </a:r>
            <a:r>
              <a:rPr lang="tr-TR" dirty="0"/>
              <a:t>iyi müşterilerinize onların özel olduklarını hissettirmek istersiniz. </a:t>
            </a:r>
            <a:endParaRPr lang="tr-TR" dirty="0" smtClean="0"/>
          </a:p>
          <a:p>
            <a:r>
              <a:rPr lang="tr-TR" dirty="0" smtClean="0"/>
              <a:t>Mahallede </a:t>
            </a:r>
            <a:r>
              <a:rPr lang="tr-TR" dirty="0"/>
              <a:t>faaliyette bulunan küçük bir işletmenin işletme sahipleri ve yöneticileri için, müşterilerini gerçekten kişisel olarak, yüz yüze bilebilme olanağı vardır. </a:t>
            </a:r>
            <a:endParaRPr lang="tr-TR" dirty="0" smtClean="0"/>
          </a:p>
          <a:p>
            <a:r>
              <a:rPr lang="tr-TR" dirty="0" smtClean="0"/>
              <a:t>Ancak</a:t>
            </a:r>
            <a:r>
              <a:rPr lang="tr-TR" dirty="0"/>
              <a:t>, şehirlerde, bölgelerde, ülkelerde veya küresel olarak faaliyette bulunan bir işletmede, yakın bir şekilde “müşterilerini bilmek” olanaksızdır. </a:t>
            </a:r>
            <a:endParaRPr lang="tr-TR" dirty="0" smtClean="0"/>
          </a:p>
          <a:p>
            <a:r>
              <a:rPr lang="tr-TR" dirty="0" smtClean="0"/>
              <a:t>Bu </a:t>
            </a:r>
            <a:r>
              <a:rPr lang="tr-TR" dirty="0"/>
              <a:t>tür işletmelerde çok fazla sayıda müşteri ve müşterinin işletmeyle irtibata geçebileceği çok sayıda yol vardır (Web üzerinden, telefon, faks ve bireysel). </a:t>
            </a:r>
            <a:endParaRPr lang="tr-TR" dirty="0" smtClean="0"/>
          </a:p>
          <a:p>
            <a:r>
              <a:rPr lang="tr-TR" dirty="0" smtClean="0"/>
              <a:t>Tüm </a:t>
            </a:r>
            <a:r>
              <a:rPr lang="tr-TR" dirty="0"/>
              <a:t>bu kaynaklardan gelen enformasyonları birleştirmek ve çok fazla sayıdaki müşteriyle ilgilenmek özellikle zorlaşmıştır.</a:t>
            </a:r>
            <a:endParaRPr lang="tr-TR" dirty="0"/>
          </a:p>
        </p:txBody>
      </p:sp>
    </p:spTree>
    <p:extLst>
      <p:ext uri="{BB962C8B-B14F-4D97-AF65-F5344CB8AC3E}">
        <p14:creationId xmlns:p14="http://schemas.microsoft.com/office/powerpoint/2010/main" val="116088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MÜŞTERİ İLİŞKİLERİ YÖNETİMİ </a:t>
            </a:r>
            <a:r>
              <a:rPr lang="tr-TR" dirty="0" smtClean="0"/>
              <a:t>SİSTEMLERİ (CRM)</a:t>
            </a:r>
            <a:endParaRPr lang="tr-TR" dirty="0"/>
          </a:p>
        </p:txBody>
      </p:sp>
      <p:sp>
        <p:nvSpPr>
          <p:cNvPr id="3" name="İçerik Yer Tutucusu 2"/>
          <p:cNvSpPr>
            <a:spLocks noGrp="1"/>
          </p:cNvSpPr>
          <p:nvPr>
            <p:ph sz="quarter" idx="1"/>
          </p:nvPr>
        </p:nvSpPr>
        <p:spPr>
          <a:xfrm>
            <a:off x="457200" y="1600200"/>
            <a:ext cx="8507288" cy="4709120"/>
          </a:xfrm>
        </p:spPr>
        <p:txBody>
          <a:bodyPr>
            <a:normAutofit fontScale="85000" lnSpcReduction="20000"/>
          </a:bodyPr>
          <a:lstStyle/>
          <a:p>
            <a:r>
              <a:rPr lang="tr-TR" dirty="0"/>
              <a:t>Büyük bir işletme satışlar, hizmet ve pazarlama gibi süreçleri bölümlere ayırma eğiliminde olacaktır ve bu bölümler önemli müşteri enformasyonunu paylaşmazlar. </a:t>
            </a:r>
            <a:endParaRPr lang="tr-TR" dirty="0" smtClean="0"/>
          </a:p>
          <a:p>
            <a:r>
              <a:rPr lang="tr-TR" dirty="0" err="1" smtClean="0"/>
              <a:t>Müşterler</a:t>
            </a:r>
            <a:r>
              <a:rPr lang="tr-TR" dirty="0" smtClean="0"/>
              <a:t> </a:t>
            </a:r>
            <a:r>
              <a:rPr lang="tr-TR" dirty="0"/>
              <a:t>hakkında enformasyonun farklı bölümler tarafından farklı şekillerde düzenlenmiş olabilir. </a:t>
            </a:r>
            <a:endParaRPr lang="tr-TR" dirty="0" smtClean="0"/>
          </a:p>
          <a:p>
            <a:r>
              <a:rPr lang="tr-TR" dirty="0" smtClean="0"/>
              <a:t>İşletmede </a:t>
            </a:r>
            <a:r>
              <a:rPr lang="tr-TR" dirty="0"/>
              <a:t>bir müşterinin tek bir görüntüsünü sağlamak için bu enformasyonu birleştirme yolu yoktur. </a:t>
            </a:r>
            <a:endParaRPr lang="tr-TR" dirty="0" smtClean="0"/>
          </a:p>
          <a:p>
            <a:r>
              <a:rPr lang="tr-TR" dirty="0" smtClean="0"/>
              <a:t>Bu</a:t>
            </a:r>
            <a:r>
              <a:rPr lang="tr-TR" dirty="0"/>
              <a:t>, müşteri ilişkileri sisteminin yardım edeceği bir noktadır. </a:t>
            </a:r>
            <a:endParaRPr lang="tr-TR" dirty="0" smtClean="0"/>
          </a:p>
          <a:p>
            <a:r>
              <a:rPr lang="tr-TR" dirty="0" smtClean="0"/>
              <a:t>Müşteri </a:t>
            </a:r>
            <a:r>
              <a:rPr lang="tr-TR" dirty="0"/>
              <a:t>İlişkileri Yönetimi (MİY) sistemleri tüm işletme üzerinden verileri elde eder ve bütünleştirir, verileri birleştirir, analiz eder ve sonra sonuçları işletme içindeki tüm farklı sistemlere ve müşteri iletişim hesaplarına dağıtır. </a:t>
            </a:r>
            <a:endParaRPr lang="tr-TR" dirty="0" smtClean="0"/>
          </a:p>
          <a:p>
            <a:r>
              <a:rPr lang="tr-TR" dirty="0" smtClean="0"/>
              <a:t>Temas </a:t>
            </a:r>
            <a:r>
              <a:rPr lang="tr-TR" dirty="0"/>
              <a:t>noktası (ayrıca iletişim noktası olarak bilinir), telefon, e-posta, müşteri hizmetleri merkezi, geleneksel posta, Web sitesi, kablosuz aygıt veya perakende mağazaları vb. müşterilerle iletişim kurmak için bir yöntemdir.</a:t>
            </a:r>
            <a:endParaRPr lang="tr-TR" dirty="0"/>
          </a:p>
        </p:txBody>
      </p:sp>
    </p:spTree>
    <p:extLst>
      <p:ext uri="{BB962C8B-B14F-4D97-AF65-F5344CB8AC3E}">
        <p14:creationId xmlns:p14="http://schemas.microsoft.com/office/powerpoint/2010/main" val="450204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MÜŞTERİ İLİŞKİLERİ YÖNETİMİ </a:t>
            </a:r>
            <a:r>
              <a:rPr lang="tr-TR" dirty="0" smtClean="0"/>
              <a:t>SİSTEMLERİ (CRM)</a:t>
            </a:r>
            <a:endParaRPr lang="tr-TR" dirty="0"/>
          </a:p>
        </p:txBody>
      </p:sp>
      <p:sp>
        <p:nvSpPr>
          <p:cNvPr id="3" name="İçerik Yer Tutucusu 2"/>
          <p:cNvSpPr>
            <a:spLocks noGrp="1"/>
          </p:cNvSpPr>
          <p:nvPr>
            <p:ph sz="quarter" idx="1"/>
          </p:nvPr>
        </p:nvSpPr>
        <p:spPr>
          <a:xfrm>
            <a:off x="457200" y="1600200"/>
            <a:ext cx="8075240" cy="4709120"/>
          </a:xfrm>
        </p:spPr>
        <p:txBody>
          <a:bodyPr>
            <a:normAutofit fontScale="92500" lnSpcReduction="20000"/>
          </a:bodyPr>
          <a:lstStyle/>
          <a:p>
            <a:r>
              <a:rPr lang="tr-TR" dirty="0"/>
              <a:t>İyi tasarlanmış MİY sistemleri, müşteri hizmetlerini veya satışları geliştirmek için yararlı olan, müşterilerine tek bir kurum görüntüsü sağlar. </a:t>
            </a:r>
            <a:endParaRPr lang="tr-TR" dirty="0" smtClean="0"/>
          </a:p>
          <a:p>
            <a:r>
              <a:rPr lang="tr-TR" dirty="0"/>
              <a:t>İ</a:t>
            </a:r>
            <a:r>
              <a:rPr lang="tr-TR" dirty="0" smtClean="0"/>
              <a:t>yi </a:t>
            </a:r>
            <a:r>
              <a:rPr lang="tr-TR" dirty="0"/>
              <a:t>MİY sistemleri ‘belirli bir müşterinin ömrü boyunca işletme için değeri nedir?, En sadık müşterilerimiz kimlerdir? , Kimler en karlı müşterilerimizdir? ve Bu karlı müşteriler ne satın almak istemektedirler?" gibi soruların cevaplandırılması için veri ve çözümleme araçları sağlar. </a:t>
            </a:r>
            <a:endParaRPr lang="tr-TR" dirty="0" smtClean="0"/>
          </a:p>
          <a:p>
            <a:r>
              <a:rPr lang="tr-TR" dirty="0" smtClean="0"/>
              <a:t>İşletmeler </a:t>
            </a:r>
            <a:r>
              <a:rPr lang="tr-TR" dirty="0"/>
              <a:t>bu sorulara verilen cevapları: </a:t>
            </a:r>
            <a:endParaRPr lang="tr-TR" dirty="0" smtClean="0"/>
          </a:p>
          <a:p>
            <a:pPr lvl="1"/>
            <a:r>
              <a:rPr lang="tr-TR" dirty="0" smtClean="0"/>
              <a:t>1</a:t>
            </a:r>
            <a:r>
              <a:rPr lang="tr-TR" dirty="0"/>
              <a:t>. Yeni müşterileri ele geçirmek, </a:t>
            </a:r>
          </a:p>
          <a:p>
            <a:pPr lvl="1"/>
            <a:r>
              <a:rPr lang="tr-TR" dirty="0" smtClean="0"/>
              <a:t>2</a:t>
            </a:r>
            <a:r>
              <a:rPr lang="tr-TR" dirty="0"/>
              <a:t>. Daha iyi hizmet sağlamak ve var olan müşterileri desteklemek, </a:t>
            </a:r>
            <a:endParaRPr lang="tr-TR" dirty="0" smtClean="0"/>
          </a:p>
          <a:p>
            <a:pPr lvl="1"/>
            <a:r>
              <a:rPr lang="tr-TR" dirty="0" smtClean="0"/>
              <a:t>3</a:t>
            </a:r>
            <a:r>
              <a:rPr lang="tr-TR" dirty="0"/>
              <a:t>. Tekliflerini müşteri tercihlerine göre daha uygun hale getirmek, </a:t>
            </a:r>
            <a:endParaRPr lang="tr-TR" dirty="0" smtClean="0"/>
          </a:p>
          <a:p>
            <a:pPr lvl="1"/>
            <a:r>
              <a:rPr lang="tr-TR" dirty="0" smtClean="0"/>
              <a:t>4</a:t>
            </a:r>
            <a:r>
              <a:rPr lang="tr-TR" dirty="0"/>
              <a:t>. Karlı müşterilerini korumak için devam eden değerler sağlamak amacıyla kullanırlar.</a:t>
            </a:r>
            <a:endParaRPr lang="tr-TR" dirty="0"/>
          </a:p>
        </p:txBody>
      </p:sp>
    </p:spTree>
    <p:extLst>
      <p:ext uri="{BB962C8B-B14F-4D97-AF65-F5344CB8AC3E}">
        <p14:creationId xmlns:p14="http://schemas.microsoft.com/office/powerpoint/2010/main" val="2189448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MÜŞTERİ İLİŞKİLERİ YÖNETİMİ YAZILIMI</a:t>
            </a:r>
            <a:endParaRPr lang="tr-TR" dirty="0"/>
          </a:p>
        </p:txBody>
      </p:sp>
      <p:sp>
        <p:nvSpPr>
          <p:cNvPr id="4" name="Content Placeholder 2"/>
          <p:cNvSpPr>
            <a:spLocks noGrp="1"/>
          </p:cNvSpPr>
          <p:nvPr>
            <p:ph sz="quarter" idx="1"/>
          </p:nvPr>
        </p:nvSpPr>
        <p:spPr>
          <a:xfrm>
            <a:off x="457200" y="1628800"/>
            <a:ext cx="8219256" cy="4968552"/>
          </a:xfrm>
        </p:spPr>
        <p:txBody>
          <a:bodyPr>
            <a:normAutofit/>
          </a:bodyPr>
          <a:lstStyle/>
          <a:p>
            <a:r>
              <a:rPr lang="tr-TR" sz="1800" dirty="0" smtClean="0"/>
              <a:t>Bazı </a:t>
            </a:r>
            <a:r>
              <a:rPr lang="tr-TR" sz="1800" dirty="0"/>
              <a:t>ticari MİY yazılım paketleri, belirli müşteriler için Web sitelerinin özelleştirilmesi gibi sınırlı fonksiyonları yerine getiren niş araçlardan, müşterilerle etkileşimi yakalayan büyük-ölçekli kurumsal uygulamalara, karmaşık sorgulama araçlarıyla onları analiz eden ve tedarik zincir yönetimi ve kurumsal sistemler gibi diğer temel uygulamalarla bağlantı sağlamaya kadar ki bir aralıkta yer alır. </a:t>
            </a:r>
            <a:endParaRPr lang="tr-TR" sz="1800" dirty="0" smtClean="0"/>
          </a:p>
          <a:p>
            <a:r>
              <a:rPr lang="tr-TR" sz="1800" dirty="0" smtClean="0"/>
              <a:t>Daha </a:t>
            </a:r>
            <a:r>
              <a:rPr lang="tr-TR" sz="1800" dirty="0"/>
              <a:t>karmaşık MİY yazılımları İş Ortakları İlişkileri Yönetimi (PRM: Partner </a:t>
            </a:r>
            <a:r>
              <a:rPr lang="tr-TR" sz="1800" dirty="0" err="1"/>
              <a:t>Relationship</a:t>
            </a:r>
            <a:r>
              <a:rPr lang="tr-TR" sz="1800" dirty="0"/>
              <a:t> Management) ve Çalışan İlişkileri Yönetimi (RM: </a:t>
            </a:r>
            <a:r>
              <a:rPr lang="tr-TR" sz="1800" dirty="0" err="1"/>
              <a:t>Employee</a:t>
            </a:r>
            <a:r>
              <a:rPr lang="tr-TR" sz="1800" dirty="0"/>
              <a:t> </a:t>
            </a:r>
            <a:r>
              <a:rPr lang="tr-TR" sz="1800" dirty="0" err="1"/>
              <a:t>Relationship</a:t>
            </a:r>
            <a:r>
              <a:rPr lang="tr-TR" sz="1800" dirty="0"/>
              <a:t> Management) için modülleri içerir.</a:t>
            </a:r>
            <a:endParaRPr lang="en-US" sz="1800" dirty="0"/>
          </a:p>
        </p:txBody>
      </p:sp>
    </p:spTree>
    <p:extLst>
      <p:ext uri="{BB962C8B-B14F-4D97-AF65-F5344CB8AC3E}">
        <p14:creationId xmlns:p14="http://schemas.microsoft.com/office/powerpoint/2010/main" val="21297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İş Ortakları İlişkileri Yönetimi : PRM</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PRM, işletme ve onun satış ortakları arasındaki işbirliğini güçlendirmek için MİY ’deki aynı verilerin, araçların ve sistemlerin birçoğunu kullanır. </a:t>
            </a:r>
            <a:endParaRPr lang="tr-TR" dirty="0" smtClean="0"/>
          </a:p>
          <a:p>
            <a:r>
              <a:rPr lang="tr-TR" dirty="0" smtClean="0"/>
              <a:t>Eğer </a:t>
            </a:r>
            <a:r>
              <a:rPr lang="tr-TR" dirty="0"/>
              <a:t>işletme müşterilere doğrudan satıştan ziyade perakendeciler ve dağıtımcılarla çalışıyorsa, PRM bu kanallara müşterilere doğrudan satış için yardım eder. </a:t>
            </a:r>
            <a:endParaRPr lang="tr-TR" dirty="0" smtClean="0"/>
          </a:p>
          <a:p>
            <a:r>
              <a:rPr lang="tr-TR" dirty="0" smtClean="0"/>
              <a:t>PRM </a:t>
            </a:r>
            <a:r>
              <a:rPr lang="tr-TR" dirty="0"/>
              <a:t>işletmeye ve onun satış ortaklarına, enformasyon değiştirme, teslimatlar ve müşteriler hakkında verilerin bütünleşik üretimi, fiyatlama, promosyon, sipariş yapılandırma olanakları sağlar. </a:t>
            </a:r>
            <a:endParaRPr lang="tr-TR" dirty="0" smtClean="0"/>
          </a:p>
          <a:p>
            <a:r>
              <a:rPr lang="tr-TR" dirty="0" smtClean="0"/>
              <a:t>PRM </a:t>
            </a:r>
            <a:r>
              <a:rPr lang="tr-TR" dirty="0"/>
              <a:t>ayrıca ortakların performansını değerlendirecek araçları sunar, böylece işletme en iyi iş ortaklarına daha fazla iş yapabilmesi için destek sağladığından emin olur.</a:t>
            </a:r>
            <a:endParaRPr lang="tr-TR" dirty="0"/>
          </a:p>
        </p:txBody>
      </p:sp>
    </p:spTree>
    <p:extLst>
      <p:ext uri="{BB962C8B-B14F-4D97-AF65-F5344CB8AC3E}">
        <p14:creationId xmlns:p14="http://schemas.microsoft.com/office/powerpoint/2010/main" val="1149695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7467600" cy="634082"/>
          </a:xfrm>
        </p:spPr>
        <p:txBody>
          <a:bodyPr>
            <a:normAutofit/>
          </a:bodyPr>
          <a:lstStyle/>
          <a:p>
            <a:r>
              <a:rPr lang="tr-TR" dirty="0"/>
              <a:t>Çalışan İlişkileri Yönetimi : ERM</a:t>
            </a:r>
            <a:endParaRPr lang="tr-TR" dirty="0"/>
          </a:p>
        </p:txBody>
      </p:sp>
      <p:sp>
        <p:nvSpPr>
          <p:cNvPr id="4" name="Content Placeholder 2"/>
          <p:cNvSpPr>
            <a:spLocks noGrp="1"/>
          </p:cNvSpPr>
          <p:nvPr>
            <p:ph sz="quarter" idx="1"/>
          </p:nvPr>
        </p:nvSpPr>
        <p:spPr>
          <a:xfrm>
            <a:off x="457200" y="1628800"/>
            <a:ext cx="8219256" cy="4968552"/>
          </a:xfrm>
        </p:spPr>
        <p:txBody>
          <a:bodyPr>
            <a:normAutofit/>
          </a:bodyPr>
          <a:lstStyle/>
          <a:p>
            <a:r>
              <a:rPr lang="tr-TR" sz="1800" dirty="0"/>
              <a:t>ERM yazılımı, çalışanlarla ilgili olarak amaçların belirlenmesi, performans yönetimi, performansa dayalı ödeme ve çalışan eğitimi gibi MİY ile çok yakından ilişkili konularla ilgilenir. </a:t>
            </a:r>
            <a:endParaRPr lang="tr-TR" sz="1800" dirty="0" smtClean="0"/>
          </a:p>
          <a:p>
            <a:r>
              <a:rPr lang="tr-TR" sz="1800" dirty="0" smtClean="0"/>
              <a:t>Başlıca </a:t>
            </a:r>
            <a:r>
              <a:rPr lang="tr-TR" sz="1800" dirty="0"/>
              <a:t>MİY uygulama yazılım tedarikçileri </a:t>
            </a:r>
            <a:r>
              <a:rPr lang="tr-TR" sz="1800" dirty="0" err="1"/>
              <a:t>Oracle'ın</a:t>
            </a:r>
            <a:r>
              <a:rPr lang="tr-TR" sz="1800" dirty="0"/>
              <a:t> sahip olduğu </a:t>
            </a:r>
            <a:r>
              <a:rPr lang="tr-TR" sz="1800" dirty="0" err="1"/>
              <a:t>Siebel</a:t>
            </a:r>
            <a:r>
              <a:rPr lang="tr-TR" sz="1800" dirty="0"/>
              <a:t> </a:t>
            </a:r>
            <a:r>
              <a:rPr lang="tr-TR" sz="1800" dirty="0" err="1"/>
              <a:t>Systems</a:t>
            </a:r>
            <a:r>
              <a:rPr lang="tr-TR" sz="1800" dirty="0"/>
              <a:t> ve </a:t>
            </a:r>
            <a:r>
              <a:rPr lang="tr-TR" sz="1800" dirty="0" err="1"/>
              <a:t>PeopleSoft</a:t>
            </a:r>
            <a:r>
              <a:rPr lang="tr-TR" sz="1800" dirty="0"/>
              <a:t>, SAP, Salesforce.com ve Microsoft Dynamics </a:t>
            </a:r>
            <a:r>
              <a:rPr lang="tr-TR" sz="1800" dirty="0" err="1"/>
              <a:t>CRM’dir</a:t>
            </a:r>
            <a:r>
              <a:rPr lang="tr-TR" sz="1800" dirty="0"/>
              <a:t>. </a:t>
            </a:r>
            <a:endParaRPr lang="tr-TR" sz="1800" dirty="0" smtClean="0"/>
          </a:p>
          <a:p>
            <a:r>
              <a:rPr lang="tr-TR" sz="1800" dirty="0" smtClean="0"/>
              <a:t>Müşteri </a:t>
            </a:r>
            <a:r>
              <a:rPr lang="tr-TR" sz="1800" dirty="0"/>
              <a:t>İlişkileri yönetim sistemleri satışlar, müşteri hizmetleri ve pazarlama için çevrimiçi araçlar ve yazılım sağlar.</a:t>
            </a:r>
            <a:endParaRPr lang="en-US" sz="1800" dirty="0"/>
          </a:p>
        </p:txBody>
      </p:sp>
    </p:spTree>
    <p:extLst>
      <p:ext uri="{BB962C8B-B14F-4D97-AF65-F5344CB8AC3E}">
        <p14:creationId xmlns:p14="http://schemas.microsoft.com/office/powerpoint/2010/main" val="3662396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Satış Gücünün Otomasyonu (SGO)</a:t>
            </a:r>
            <a:endParaRPr lang="tr-TR" dirty="0"/>
          </a:p>
        </p:txBody>
      </p:sp>
      <p:sp>
        <p:nvSpPr>
          <p:cNvPr id="3" name="İçerik Yer Tutucusu 2"/>
          <p:cNvSpPr>
            <a:spLocks noGrp="1"/>
          </p:cNvSpPr>
          <p:nvPr>
            <p:ph sz="quarter" idx="1"/>
          </p:nvPr>
        </p:nvSpPr>
        <p:spPr>
          <a:xfrm>
            <a:off x="457200" y="1600200"/>
            <a:ext cx="8147248" cy="4873752"/>
          </a:xfrm>
        </p:spPr>
        <p:txBody>
          <a:bodyPr>
            <a:normAutofit fontScale="85000" lnSpcReduction="10000"/>
          </a:bodyPr>
          <a:lstStyle/>
          <a:p>
            <a:r>
              <a:rPr lang="tr-TR" dirty="0"/>
              <a:t>MİY sistemlerindeki satış gücü otomasyon modülleri, satışlar ve hizmetler için en iyi aday olan, en karlı müşteriler üzerine satış güçlerini odaklayarak kendi üretkenliğini artırmada satış elemanlarına yardım eder. </a:t>
            </a:r>
            <a:endParaRPr lang="tr-TR" dirty="0" smtClean="0"/>
          </a:p>
          <a:p>
            <a:r>
              <a:rPr lang="tr-TR" dirty="0" smtClean="0"/>
              <a:t>Bu </a:t>
            </a:r>
            <a:r>
              <a:rPr lang="tr-TR" dirty="0"/>
              <a:t>gibi bir yazılım, belirli bir müşterinin geçmiş satışları hakkındaki enformasyonları sağlayarak, satış elemanlarına kişiselleştirilmiş önerilerde bulunmaları konusunda yardımcı olur. </a:t>
            </a:r>
            <a:endParaRPr lang="tr-TR" dirty="0" smtClean="0"/>
          </a:p>
          <a:p>
            <a:r>
              <a:rPr lang="tr-TR" dirty="0" smtClean="0"/>
              <a:t>MİY </a:t>
            </a:r>
            <a:r>
              <a:rPr lang="tr-TR" dirty="0"/>
              <a:t>yazılımı satış, pazarlama ve sevkiyat bölümlerine müşteri ve olası enformasyonları kolayca paylaşma olanağını sağlar. </a:t>
            </a:r>
            <a:endParaRPr lang="tr-TR" dirty="0" smtClean="0"/>
          </a:p>
          <a:p>
            <a:r>
              <a:rPr lang="tr-TR" dirty="0" smtClean="0"/>
              <a:t>MİY </a:t>
            </a:r>
            <a:r>
              <a:rPr lang="tr-TR" dirty="0"/>
              <a:t>yazılımı her bir satış maliyetini düşürmesinin yanı sıra yeni müşterilerin kazanılması ve eski olanların elde tutulması maliyetlerini de düşürerek her bir satış elemanın etkinliğini artırır. </a:t>
            </a:r>
            <a:endParaRPr lang="tr-TR" dirty="0" smtClean="0"/>
          </a:p>
          <a:p>
            <a:r>
              <a:rPr lang="tr-TR" dirty="0" smtClean="0"/>
              <a:t>MİY </a:t>
            </a:r>
            <a:r>
              <a:rPr lang="tr-TR" dirty="0"/>
              <a:t>yazılımının satış tahmini, bölge yönetimi ve grup satış yetenekleri de vardır.</a:t>
            </a:r>
            <a:endParaRPr lang="tr-TR" dirty="0"/>
          </a:p>
        </p:txBody>
      </p:sp>
    </p:spTree>
    <p:extLst>
      <p:ext uri="{BB962C8B-B14F-4D97-AF65-F5344CB8AC3E}">
        <p14:creationId xmlns:p14="http://schemas.microsoft.com/office/powerpoint/2010/main" val="295583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Müşteri Hizmeti</a:t>
            </a:r>
            <a:endParaRPr lang="tr-TR" dirty="0"/>
          </a:p>
        </p:txBody>
      </p:sp>
      <p:sp>
        <p:nvSpPr>
          <p:cNvPr id="3" name="İçerik Yer Tutucusu 2"/>
          <p:cNvSpPr>
            <a:spLocks noGrp="1"/>
          </p:cNvSpPr>
          <p:nvPr>
            <p:ph sz="quarter" idx="1"/>
          </p:nvPr>
        </p:nvSpPr>
        <p:spPr>
          <a:xfrm>
            <a:off x="457200" y="1600200"/>
            <a:ext cx="8147248" cy="4873752"/>
          </a:xfrm>
        </p:spPr>
        <p:txBody>
          <a:bodyPr>
            <a:normAutofit fontScale="77500" lnSpcReduction="20000"/>
          </a:bodyPr>
          <a:lstStyle/>
          <a:p>
            <a:r>
              <a:rPr lang="tr-TR" dirty="0" smtClean="0"/>
              <a:t>MİY </a:t>
            </a:r>
            <a:r>
              <a:rPr lang="tr-TR" dirty="0"/>
              <a:t>sistemlerinin içindeki müşteri hizmetleri modülleri çağrı merkezlerinin, yardım masalarının ve müşteri destek elemanının etkinliğini artıracak araçlar ve enformasyon sağlayan araçları vardır. </a:t>
            </a:r>
            <a:endParaRPr lang="tr-TR" dirty="0" smtClean="0"/>
          </a:p>
          <a:p>
            <a:r>
              <a:rPr lang="tr-TR" dirty="0" smtClean="0"/>
              <a:t>Örnek</a:t>
            </a:r>
            <a:r>
              <a:rPr lang="tr-TR" dirty="0"/>
              <a:t>: Müşteri standart bir telefon numarasını aradığı zaman sistem, çağrıyı o müşteri hakkında enformasyonu sisteme sadece bir defa girecek olan doğru hizmet personeline yönlendirir. </a:t>
            </a:r>
            <a:endParaRPr lang="tr-TR" dirty="0" smtClean="0"/>
          </a:p>
          <a:p>
            <a:r>
              <a:rPr lang="tr-TR" dirty="0" smtClean="0"/>
              <a:t>Müşteri </a:t>
            </a:r>
            <a:r>
              <a:rPr lang="tr-TR" dirty="0"/>
              <a:t>enformasyonları sistemde bir kez yer aldıktan sonra herhangi bir hizmet temsilcisi müşteriyle ilişkiyi yürütebilir. </a:t>
            </a:r>
            <a:endParaRPr lang="tr-TR" dirty="0" smtClean="0"/>
          </a:p>
          <a:p>
            <a:r>
              <a:rPr lang="tr-TR" dirty="0" smtClean="0"/>
              <a:t>Tutarlı </a:t>
            </a:r>
            <a:r>
              <a:rPr lang="tr-TR" dirty="0"/>
              <a:t>ve doğru müşteri enformasyonuna erişimin geliştirilmesi çağrı merkezlerine her gün daha fazla çağrıyı idare etme ve her bir çağrının süresini azaltma konusunda yardım eder. </a:t>
            </a:r>
            <a:endParaRPr lang="tr-TR" dirty="0" smtClean="0"/>
          </a:p>
          <a:p>
            <a:r>
              <a:rPr lang="tr-TR" dirty="0" smtClean="0"/>
              <a:t>Böylece </a:t>
            </a:r>
            <a:r>
              <a:rPr lang="tr-TR" dirty="0"/>
              <a:t>çağrı merkezleri ve müşteri hizmet grupları, daha az maliyetle daha fazla etkinlik, azaltılmış işlem zamanı ve daha yüksek hizmet kalitesini başarır. </a:t>
            </a:r>
            <a:endParaRPr lang="tr-TR" dirty="0" smtClean="0"/>
          </a:p>
          <a:p>
            <a:r>
              <a:rPr lang="tr-TR" dirty="0" smtClean="0"/>
              <a:t>Müşteri</a:t>
            </a:r>
            <a:r>
              <a:rPr lang="tr-TR" dirty="0"/>
              <a:t>, problemini müşteri hizmet temsilcisine telefonda daha az zaman harcayarak ifade ettiğinden dolayı daha mutludur. </a:t>
            </a:r>
            <a:endParaRPr lang="tr-TR" dirty="0" smtClean="0"/>
          </a:p>
          <a:p>
            <a:r>
              <a:rPr lang="tr-TR" dirty="0" smtClean="0"/>
              <a:t>MİY </a:t>
            </a:r>
            <a:r>
              <a:rPr lang="tr-TR" dirty="0"/>
              <a:t>sistemleri ayrıca web tabanlı self-servis yeteneklerini içerebilir</a:t>
            </a:r>
            <a:endParaRPr lang="tr-TR" dirty="0"/>
          </a:p>
        </p:txBody>
      </p:sp>
    </p:spTree>
    <p:extLst>
      <p:ext uri="{BB962C8B-B14F-4D97-AF65-F5344CB8AC3E}">
        <p14:creationId xmlns:p14="http://schemas.microsoft.com/office/powerpoint/2010/main" val="413660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7499176" cy="1143000"/>
          </a:xfrm>
        </p:spPr>
        <p:txBody>
          <a:bodyPr>
            <a:normAutofit/>
          </a:bodyPr>
          <a:lstStyle/>
          <a:p>
            <a:r>
              <a:rPr lang="tr-TR" dirty="0"/>
              <a:t>Pazarlama</a:t>
            </a:r>
            <a:endParaRPr lang="tr-TR" dirty="0"/>
          </a:p>
        </p:txBody>
      </p:sp>
      <p:sp>
        <p:nvSpPr>
          <p:cNvPr id="3" name="İçerik Yer Tutucusu 2"/>
          <p:cNvSpPr>
            <a:spLocks noGrp="1"/>
          </p:cNvSpPr>
          <p:nvPr>
            <p:ph sz="quarter" idx="1"/>
          </p:nvPr>
        </p:nvSpPr>
        <p:spPr>
          <a:xfrm>
            <a:off x="611560" y="1556792"/>
            <a:ext cx="7787208" cy="5256584"/>
          </a:xfrm>
        </p:spPr>
        <p:txBody>
          <a:bodyPr>
            <a:normAutofit lnSpcReduction="10000"/>
          </a:bodyPr>
          <a:lstStyle/>
          <a:p>
            <a:r>
              <a:rPr lang="tr-TR" sz="2000" dirty="0"/>
              <a:t>MİY sistemleri, beklentileri ve müşteri verilerini ele geçirerek, ürün ve hizmet enformasyonu sağlayarak, hedeflenen pazar için önderlik niteliklerini belirleyerek ve doğrudan pazarlama postalarını veya e-postaları programlama ve takip etme olanaklarını sağlayarak doğrudan-pazarlama kampanyalarını destekler . </a:t>
            </a:r>
            <a:endParaRPr lang="tr-TR" sz="2000" dirty="0" smtClean="0"/>
          </a:p>
          <a:p>
            <a:r>
              <a:rPr lang="tr-TR" sz="2000" dirty="0" smtClean="0"/>
              <a:t>Pazarlama </a:t>
            </a:r>
            <a:r>
              <a:rPr lang="tr-TR" sz="2000" dirty="0"/>
              <a:t>modülleri ayrıca pazarlama ve müşteri enformasyonunun analizi, karlı ve karlı olmayan müşterilerin belirlenmesi müşterinin belirli ihtiyaç ve ilgi alanlarını tatmin edecek ürün ve hizmetlerin tasarımı, çapraz satış için olanakların tanımlanması için araçlar içerir. </a:t>
            </a:r>
            <a:endParaRPr lang="tr-TR" sz="2000" dirty="0" smtClean="0"/>
          </a:p>
          <a:p>
            <a:r>
              <a:rPr lang="tr-TR" sz="2000" dirty="0" smtClean="0"/>
              <a:t>Çapraz </a:t>
            </a:r>
            <a:r>
              <a:rPr lang="tr-TR" sz="2000" dirty="0"/>
              <a:t>satış (</a:t>
            </a:r>
            <a:r>
              <a:rPr lang="tr-TR" sz="2000" dirty="0" err="1"/>
              <a:t>cross</a:t>
            </a:r>
            <a:r>
              <a:rPr lang="tr-TR" sz="2000" dirty="0"/>
              <a:t> </a:t>
            </a:r>
            <a:r>
              <a:rPr lang="tr-TR" sz="2000" dirty="0" err="1"/>
              <a:t>selling</a:t>
            </a:r>
            <a:r>
              <a:rPr lang="tr-TR" sz="2000" dirty="0"/>
              <a:t>), müşterilere tamamlayıcı ürünlerin pazarlanmasıdır. </a:t>
            </a:r>
            <a:endParaRPr lang="tr-TR" sz="2000" dirty="0" smtClean="0"/>
          </a:p>
          <a:p>
            <a:r>
              <a:rPr lang="tr-TR" sz="2000" dirty="0" smtClean="0"/>
              <a:t>MİY </a:t>
            </a:r>
            <a:r>
              <a:rPr lang="tr-TR" sz="2000" dirty="0"/>
              <a:t>araçları ayrıca işletmelere planlamadan her bir kampanyanın başarı derecesine karar verilmesine kadar pazarlama kampanyalarının tüm aşamalarının yönetimi ve uygulamasında yardım eder.</a:t>
            </a:r>
            <a:endParaRPr lang="tr-TR" sz="2000" dirty="0"/>
          </a:p>
        </p:txBody>
      </p:sp>
    </p:spTree>
    <p:extLst>
      <p:ext uri="{BB962C8B-B14F-4D97-AF65-F5344CB8AC3E}">
        <p14:creationId xmlns:p14="http://schemas.microsoft.com/office/powerpoint/2010/main" val="2476624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MİY yazılım ürünlerinin yetenekleri </a:t>
            </a:r>
            <a:endParaRPr lang="tr-TR" dirty="0"/>
          </a:p>
        </p:txBody>
      </p:sp>
      <p:sp>
        <p:nvSpPr>
          <p:cNvPr id="3" name="İçerik Yer Tutucusu 2"/>
          <p:cNvSpPr>
            <a:spLocks noGrp="1"/>
          </p:cNvSpPr>
          <p:nvPr>
            <p:ph sz="quarter" idx="1"/>
          </p:nvPr>
        </p:nvSpPr>
        <p:spPr>
          <a:xfrm>
            <a:off x="457200" y="1600200"/>
            <a:ext cx="8363272" cy="604664"/>
          </a:xfrm>
        </p:spPr>
        <p:txBody>
          <a:bodyPr>
            <a:normAutofit fontScale="70000" lnSpcReduction="20000"/>
          </a:bodyPr>
          <a:lstStyle/>
          <a:p>
            <a:r>
              <a:rPr lang="tr-TR" dirty="0"/>
              <a:t>Şekilde belli başlı MİY yazılım ürünlerinde bulunabilecek satış, hizmet ve pazarlama süreçleri için en önemli yetenekleri göstermektedir</a:t>
            </a:r>
            <a:endParaRPr lang="tr-TR" dirty="0"/>
          </a:p>
        </p:txBody>
      </p:sp>
      <p:pic>
        <p:nvPicPr>
          <p:cNvPr id="4" name="Resim 3"/>
          <p:cNvPicPr>
            <a:picLocks noChangeAspect="1"/>
          </p:cNvPicPr>
          <p:nvPr/>
        </p:nvPicPr>
        <p:blipFill>
          <a:blip r:embed="rId2"/>
          <a:stretch>
            <a:fillRect/>
          </a:stretch>
        </p:blipFill>
        <p:spPr>
          <a:xfrm>
            <a:off x="914400" y="2091172"/>
            <a:ext cx="7010400" cy="4766828"/>
          </a:xfrm>
          <a:prstGeom prst="rect">
            <a:avLst/>
          </a:prstGeom>
        </p:spPr>
      </p:pic>
    </p:spTree>
    <p:extLst>
      <p:ext uri="{BB962C8B-B14F-4D97-AF65-F5344CB8AC3E}">
        <p14:creationId xmlns:p14="http://schemas.microsoft.com/office/powerpoint/2010/main" val="133264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MİY yazılım ürünlerinin yetenekleri</a:t>
            </a:r>
            <a:endParaRPr lang="tr-TR" dirty="0"/>
          </a:p>
        </p:txBody>
      </p:sp>
      <p:sp>
        <p:nvSpPr>
          <p:cNvPr id="4" name="İçerik Yer Tutucusu 2"/>
          <p:cNvSpPr>
            <a:spLocks noGrp="1"/>
          </p:cNvSpPr>
          <p:nvPr>
            <p:ph sz="quarter" idx="1"/>
          </p:nvPr>
        </p:nvSpPr>
        <p:spPr>
          <a:xfrm>
            <a:off x="457200" y="1600200"/>
            <a:ext cx="8291264" cy="2836912"/>
          </a:xfrm>
        </p:spPr>
        <p:txBody>
          <a:bodyPr>
            <a:normAutofit fontScale="62500" lnSpcReduction="20000"/>
          </a:bodyPr>
          <a:lstStyle/>
          <a:p>
            <a:r>
              <a:rPr lang="tr-TR" dirty="0" smtClean="0"/>
              <a:t>Şekilde </a:t>
            </a:r>
            <a:r>
              <a:rPr lang="tr-TR" dirty="0"/>
              <a:t>müşteri hizmetleri aracılığıyla müşteri sadakatinin artırılması için MİY yazılımı tarafından en iyi uygulamanın nasıl modellenebileceğini göstermektedir. </a:t>
            </a:r>
            <a:endParaRPr lang="tr-TR" dirty="0" smtClean="0"/>
          </a:p>
          <a:p>
            <a:r>
              <a:rPr lang="tr-TR" dirty="0" smtClean="0"/>
              <a:t>Doğrudan </a:t>
            </a:r>
            <a:r>
              <a:rPr lang="tr-TR" dirty="0"/>
              <a:t>müşteri hizmetleri, işletmelere karlı uzun dönemli müşterilerini diğerlerinden ayırıp tercih ettikleri şekilde davranarak müşteri sürdürülebilirliği olasılığını artırma fırsatı sağlar. </a:t>
            </a:r>
            <a:endParaRPr lang="tr-TR" dirty="0" smtClean="0"/>
          </a:p>
          <a:p>
            <a:r>
              <a:rPr lang="tr-TR" dirty="0" smtClean="0"/>
              <a:t>MİY </a:t>
            </a:r>
            <a:r>
              <a:rPr lang="tr-TR" dirty="0"/>
              <a:t>yazılımı, kişinin işletme için değerine ve işletmeye bağlılığına dayalı olarak her bir müşteriye bir puan atar ve bu enformasyonu çağrı merkezlerine aktararak her bir müşterinin gereksinimini en iyi karşılayan müşteri temsilcisine yönlendirilmesinde yardımcı olmasını sağlar. </a:t>
            </a:r>
            <a:endParaRPr lang="tr-TR" dirty="0" smtClean="0"/>
          </a:p>
          <a:p>
            <a:r>
              <a:rPr lang="tr-TR" dirty="0" smtClean="0"/>
              <a:t>Sistem </a:t>
            </a:r>
            <a:r>
              <a:rPr lang="tr-TR" dirty="0"/>
              <a:t>otomatik olarak müşteri temsilcisine müşterinin işletme için değeri ve bağlılık puanını da içeren detaylı profilini sunar. </a:t>
            </a:r>
            <a:endParaRPr lang="tr-TR" dirty="0" smtClean="0"/>
          </a:p>
          <a:p>
            <a:r>
              <a:rPr lang="tr-TR" dirty="0" smtClean="0"/>
              <a:t>Müşteri </a:t>
            </a:r>
            <a:r>
              <a:rPr lang="tr-TR" dirty="0"/>
              <a:t>temsilcisi bu enformasyonu kullanarak müşteriye yeni ürünler ve ek hizmetler sunarak işletmeyle çalışmaya devam etmesi hususunda özendirir.</a:t>
            </a:r>
            <a:endParaRPr lang="tr-TR" dirty="0"/>
          </a:p>
        </p:txBody>
      </p:sp>
      <p:pic>
        <p:nvPicPr>
          <p:cNvPr id="3" name="Resim 2"/>
          <p:cNvPicPr>
            <a:picLocks noChangeAspect="1"/>
          </p:cNvPicPr>
          <p:nvPr/>
        </p:nvPicPr>
        <p:blipFill>
          <a:blip r:embed="rId2"/>
          <a:stretch>
            <a:fillRect/>
          </a:stretch>
        </p:blipFill>
        <p:spPr>
          <a:xfrm>
            <a:off x="165048" y="4365104"/>
            <a:ext cx="8574850" cy="2448272"/>
          </a:xfrm>
          <a:prstGeom prst="rect">
            <a:avLst/>
          </a:prstGeom>
        </p:spPr>
      </p:pic>
    </p:spTree>
    <p:extLst>
      <p:ext uri="{BB962C8B-B14F-4D97-AF65-F5344CB8AC3E}">
        <p14:creationId xmlns:p14="http://schemas.microsoft.com/office/powerpoint/2010/main" val="1782723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a:t>FAALİYETLERE VE ÇÖZÜMLEMELERE İLİŞKİN MÜŞTERİ İLİŞKİLERİ YÖNETİMİ (MİY)</a:t>
            </a:r>
            <a:endParaRPr lang="tr-TR" dirty="0"/>
          </a:p>
        </p:txBody>
      </p:sp>
      <p:sp>
        <p:nvSpPr>
          <p:cNvPr id="4" name="İçerik Yer Tutucusu 2"/>
          <p:cNvSpPr>
            <a:spLocks noGrp="1"/>
          </p:cNvSpPr>
          <p:nvPr>
            <p:ph sz="quarter" idx="1"/>
          </p:nvPr>
        </p:nvSpPr>
        <p:spPr>
          <a:xfrm>
            <a:off x="5076056" y="980728"/>
            <a:ext cx="3754760" cy="5877272"/>
          </a:xfrm>
        </p:spPr>
        <p:txBody>
          <a:bodyPr>
            <a:normAutofit fontScale="62500" lnSpcReduction="20000"/>
          </a:bodyPr>
          <a:lstStyle/>
          <a:p>
            <a:r>
              <a:rPr lang="tr-TR" dirty="0"/>
              <a:t>Faaliyetlere ilişkin MİY, satış ekibi otomasyonu, çağrı merkezi, müşteri hizmetleri desteği ve pazarlama otomasyonundaki araçlar gibi müşteriyle yüz yüze olunan uygulamaları içerir. </a:t>
            </a:r>
            <a:endParaRPr lang="tr-TR" dirty="0" smtClean="0"/>
          </a:p>
          <a:p>
            <a:r>
              <a:rPr lang="tr-TR" dirty="0" smtClean="0"/>
              <a:t>Çözümlemelere </a:t>
            </a:r>
            <a:r>
              <a:rPr lang="tr-TR" dirty="0"/>
              <a:t>ilişkin (analitik) MİY, işletme performansını geliştirmek için enformasyon sağlamak amacıyla faaliyetlere ilişkin MİY uygulamaları tarafından üretilen müşteri verisini analiz eden uygulamaları içerir. </a:t>
            </a:r>
            <a:endParaRPr lang="tr-TR" dirty="0" smtClean="0"/>
          </a:p>
          <a:p>
            <a:r>
              <a:rPr lang="tr-TR" dirty="0" smtClean="0"/>
              <a:t>Çözümlemelere </a:t>
            </a:r>
            <a:r>
              <a:rPr lang="tr-TR" dirty="0"/>
              <a:t>ilişkin MİY, faaliyetlere ilişkin MİY sistemlerinden ve müşteri iletişim noktalarından gelen verileri OLAP, veri madenciliği ve diğer veri analiz tekniklerini kullanarak birleştiren veri ambarlarına dayalıdır. </a:t>
            </a:r>
            <a:endParaRPr lang="tr-TR" dirty="0" smtClean="0"/>
          </a:p>
          <a:p>
            <a:r>
              <a:rPr lang="tr-TR" dirty="0" smtClean="0"/>
              <a:t>Örgüt </a:t>
            </a:r>
            <a:r>
              <a:rPr lang="tr-TR" dirty="0"/>
              <a:t>tarafından toplanan müşteri verileri, diğer işletmelerden satın alınan müşteri listeleri veya demografik verilerle birleştirilebilir. </a:t>
            </a:r>
            <a:endParaRPr lang="tr-TR" dirty="0" smtClean="0"/>
          </a:p>
          <a:p>
            <a:r>
              <a:rPr lang="tr-TR" dirty="0" smtClean="0"/>
              <a:t>Bu </a:t>
            </a:r>
            <a:r>
              <a:rPr lang="tr-TR" dirty="0"/>
              <a:t>gibi veriler satın alma davranışını tanımlamak, hedef pazar için bölümler oluşturmak ve karlı ve karlı olmayan müşterileri belirlemek için analiz edilir.</a:t>
            </a:r>
            <a:endParaRPr lang="tr-TR" dirty="0"/>
          </a:p>
        </p:txBody>
      </p:sp>
      <p:pic>
        <p:nvPicPr>
          <p:cNvPr id="3" name="Resim 2"/>
          <p:cNvPicPr>
            <a:picLocks noChangeAspect="1"/>
          </p:cNvPicPr>
          <p:nvPr/>
        </p:nvPicPr>
        <p:blipFill>
          <a:blip r:embed="rId2"/>
          <a:stretch>
            <a:fillRect/>
          </a:stretch>
        </p:blipFill>
        <p:spPr>
          <a:xfrm>
            <a:off x="245849" y="1556792"/>
            <a:ext cx="4800600" cy="4514850"/>
          </a:xfrm>
          <a:prstGeom prst="rect">
            <a:avLst/>
          </a:prstGeom>
        </p:spPr>
      </p:pic>
    </p:spTree>
    <p:extLst>
      <p:ext uri="{BB962C8B-B14F-4D97-AF65-F5344CB8AC3E}">
        <p14:creationId xmlns:p14="http://schemas.microsoft.com/office/powerpoint/2010/main" val="214836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a:t>FAALİYETLERE VE ÇÖZÜMLEMELERE İLİŞKİN MÜŞTERİ İLİŞKİLERİ YÖNETİMİ (MİY) </a:t>
            </a:r>
            <a:endParaRPr lang="tr-TR" dirty="0"/>
          </a:p>
        </p:txBody>
      </p:sp>
      <p:sp>
        <p:nvSpPr>
          <p:cNvPr id="5" name="İçerik Yer Tutucusu 5"/>
          <p:cNvSpPr>
            <a:spLocks noGrp="1"/>
          </p:cNvSpPr>
          <p:nvPr>
            <p:ph sz="quarter" idx="1"/>
          </p:nvPr>
        </p:nvSpPr>
        <p:spPr>
          <a:xfrm>
            <a:off x="457200" y="1446238"/>
            <a:ext cx="8291264" cy="2126778"/>
          </a:xfrm>
        </p:spPr>
        <p:txBody>
          <a:bodyPr>
            <a:noAutofit/>
          </a:bodyPr>
          <a:lstStyle/>
          <a:p>
            <a:r>
              <a:rPr lang="tr-TR" sz="1600" dirty="0" smtClean="0"/>
              <a:t>Çözümlemelere </a:t>
            </a:r>
            <a:r>
              <a:rPr lang="tr-TR" sz="1600" dirty="0"/>
              <a:t>ilişkin </a:t>
            </a:r>
            <a:r>
              <a:rPr lang="tr-TR" sz="1600" dirty="0" err="1"/>
              <a:t>MİY'in</a:t>
            </a:r>
            <a:r>
              <a:rPr lang="tr-TR" sz="1600" dirty="0"/>
              <a:t> diğer bir önemli çıktısı müşterinin işletme için ömür boyu değeridir. </a:t>
            </a:r>
            <a:endParaRPr lang="tr-TR" sz="1600" dirty="0" smtClean="0"/>
          </a:p>
          <a:p>
            <a:r>
              <a:rPr lang="tr-TR" sz="1600" dirty="0" smtClean="0"/>
              <a:t>Müşteri </a:t>
            </a:r>
            <a:r>
              <a:rPr lang="tr-TR" sz="1600" dirty="0"/>
              <a:t>yaşam boyu değeri : Belirli bir müşteriden elde edilen getiri, o müşteriyi elde ederken veya hizmet verirken meydana gelen harcamalar ile müşteri ve işletme arasında ilişkinin beklenen ömrü arasındaki ilişkiye dayanır.</a:t>
            </a:r>
            <a:endParaRPr lang="tr-TR" sz="1600" dirty="0"/>
          </a:p>
        </p:txBody>
      </p:sp>
    </p:spTree>
    <p:extLst>
      <p:ext uri="{BB962C8B-B14F-4D97-AF65-F5344CB8AC3E}">
        <p14:creationId xmlns:p14="http://schemas.microsoft.com/office/powerpoint/2010/main" val="2546607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MÜŞTERİ İLİŞKİLERİ YÖNETİMİ SİSTEMLERİNİN İŞLETME DEĞERİ </a:t>
            </a:r>
            <a:endParaRPr lang="tr-TR" dirty="0"/>
          </a:p>
        </p:txBody>
      </p:sp>
      <p:sp>
        <p:nvSpPr>
          <p:cNvPr id="5" name="İçerik Yer Tutucusu 5"/>
          <p:cNvSpPr>
            <a:spLocks noGrp="1"/>
          </p:cNvSpPr>
          <p:nvPr>
            <p:ph sz="quarter" idx="1"/>
          </p:nvPr>
        </p:nvSpPr>
        <p:spPr>
          <a:xfrm>
            <a:off x="457200" y="1446238"/>
            <a:ext cx="8507288" cy="5257800"/>
          </a:xfrm>
        </p:spPr>
        <p:txBody>
          <a:bodyPr>
            <a:noAutofit/>
          </a:bodyPr>
          <a:lstStyle/>
          <a:p>
            <a:r>
              <a:rPr lang="tr-TR" sz="2000" dirty="0"/>
              <a:t>Etkin müşteri ilişkileri yönetimine sahip işletmeler artan müşteri tatmini, azalan doğrudan pazarlama maliyetleri, daha etkin pazarlama ve müşterinin ele geçirilmesi ve elde tutulması için daha düşük maliyeti içeren birçok faydadan yararlanır. </a:t>
            </a:r>
            <a:endParaRPr lang="tr-TR" sz="2000" dirty="0" smtClean="0"/>
          </a:p>
          <a:p>
            <a:r>
              <a:rPr lang="tr-TR" sz="2000" dirty="0" smtClean="0"/>
              <a:t>MİY </a:t>
            </a:r>
            <a:r>
              <a:rPr lang="tr-TR" sz="2000" dirty="0"/>
              <a:t>sisteminden elde edilen enformasyonlar, yoğunlaştırılmış pazarlama ve çapraz satış için en karlı müşterileri ve kesimleri tanımlayarak satış gelirlerini artırır. </a:t>
            </a:r>
            <a:endParaRPr lang="tr-TR" sz="2000" dirty="0" smtClean="0"/>
          </a:p>
          <a:p>
            <a:r>
              <a:rPr lang="tr-TR" sz="2000" dirty="0" smtClean="0"/>
              <a:t>Müşterinin </a:t>
            </a:r>
            <a:r>
              <a:rPr lang="tr-TR" sz="2000" dirty="0"/>
              <a:t>ayrılma-terk etme oranı (</a:t>
            </a:r>
            <a:r>
              <a:rPr lang="tr-TR" sz="2000" dirty="0" err="1"/>
              <a:t>churn</a:t>
            </a:r>
            <a:r>
              <a:rPr lang="tr-TR" sz="2000" dirty="0"/>
              <a:t> rate), satışlar, hizmet ve pazarlama olarak müşteri ihtiyaçlarına daha iyi cevaplanmasıyla azaltılır. </a:t>
            </a:r>
            <a:endParaRPr lang="tr-TR" sz="2000" dirty="0" smtClean="0"/>
          </a:p>
          <a:p>
            <a:r>
              <a:rPr lang="tr-TR" sz="2000" dirty="0" smtClean="0"/>
              <a:t>Müşterinin </a:t>
            </a:r>
            <a:r>
              <a:rPr lang="tr-TR" sz="2000" dirty="0"/>
              <a:t>ayrılma oranı, işletmeden ürün ve hizmet satın almayan ve kullanımını durduran müşterilerin sayısını ölçer. </a:t>
            </a:r>
            <a:endParaRPr lang="tr-TR" sz="2000" dirty="0" smtClean="0"/>
          </a:p>
          <a:p>
            <a:r>
              <a:rPr lang="tr-TR" sz="2000" dirty="0" smtClean="0"/>
              <a:t>İşletmenin </a:t>
            </a:r>
            <a:r>
              <a:rPr lang="tr-TR" sz="2000" dirty="0"/>
              <a:t>müşteri alt yapısındaki büyüme veya azalmasının önemli bir göstergesidir.</a:t>
            </a:r>
            <a:endParaRPr lang="tr-TR" sz="2000" dirty="0"/>
          </a:p>
        </p:txBody>
      </p:sp>
    </p:spTree>
    <p:extLst>
      <p:ext uri="{BB962C8B-B14F-4D97-AF65-F5344CB8AC3E}">
        <p14:creationId xmlns:p14="http://schemas.microsoft.com/office/powerpoint/2010/main" val="3810510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KURUMSAL UYGULAMA ZORLUKLARI</a:t>
            </a:r>
            <a:endParaRPr lang="tr-TR" dirty="0"/>
          </a:p>
        </p:txBody>
      </p:sp>
      <p:sp>
        <p:nvSpPr>
          <p:cNvPr id="5" name="İçerik Yer Tutucusu 5"/>
          <p:cNvSpPr>
            <a:spLocks noGrp="1"/>
          </p:cNvSpPr>
          <p:nvPr>
            <p:ph sz="quarter" idx="1"/>
          </p:nvPr>
        </p:nvSpPr>
        <p:spPr>
          <a:xfrm>
            <a:off x="457200" y="1600200"/>
            <a:ext cx="8003232" cy="5257800"/>
          </a:xfrm>
        </p:spPr>
        <p:txBody>
          <a:bodyPr>
            <a:noAutofit/>
          </a:bodyPr>
          <a:lstStyle/>
          <a:p>
            <a:r>
              <a:rPr lang="tr-TR" sz="1600" dirty="0"/>
              <a:t>Daha etkin müşteri cevaplarının, daha yüksek ürün ve müşteri karlılığının yanı sıra stok maliyetlerinde, sipariş teslim sürelerinde dramatik azalmalar sağlaması kurumsal sistemleri, tedarik zinciri ve müşteri ilişkileri yönetim sistemlerini çok çekici yapmıştır. </a:t>
            </a:r>
            <a:endParaRPr lang="tr-TR" sz="1600" dirty="0" smtClean="0"/>
          </a:p>
          <a:p>
            <a:r>
              <a:rPr lang="tr-TR" sz="1600" dirty="0" smtClean="0"/>
              <a:t>Fakat </a:t>
            </a:r>
            <a:r>
              <a:rPr lang="tr-TR" sz="1600" dirty="0"/>
              <a:t>bu değeri elde etmek, bu sistemleri etkin kullanmak için işletmenizi nasıl değiştireceğinizi çok açık şekilde anlamalısınız. </a:t>
            </a:r>
            <a:endParaRPr lang="tr-TR" sz="1600" dirty="0" smtClean="0"/>
          </a:p>
          <a:p>
            <a:r>
              <a:rPr lang="tr-TR" sz="1600" dirty="0" smtClean="0"/>
              <a:t>Kurumsal </a:t>
            </a:r>
            <a:r>
              <a:rPr lang="tr-TR" sz="1600" dirty="0"/>
              <a:t>uygulamalar satın almak ve uygulamak için çok pahalı olan karmaşık yazılım parçalarını içerir. </a:t>
            </a:r>
            <a:endParaRPr lang="tr-TR" sz="1600" dirty="0" smtClean="0"/>
          </a:p>
          <a:p>
            <a:r>
              <a:rPr lang="tr-TR" sz="1600" dirty="0" smtClean="0"/>
              <a:t>Kurumsal </a:t>
            </a:r>
            <a:r>
              <a:rPr lang="tr-TR" sz="1600" dirty="0"/>
              <a:t>sistemin veya TZY ve MİY için bir sistemin büyük-ölçekli uygulamalarını tamamlamak büyük 500 </a:t>
            </a:r>
            <a:r>
              <a:rPr lang="tr-TR" sz="1600" dirty="0" err="1"/>
              <a:t>Fortune</a:t>
            </a:r>
            <a:r>
              <a:rPr lang="tr-TR" sz="1600" dirty="0"/>
              <a:t> işletmelerinin yıllarını almıştır. </a:t>
            </a:r>
            <a:endParaRPr lang="tr-TR" sz="1600" dirty="0" smtClean="0"/>
          </a:p>
          <a:p>
            <a:r>
              <a:rPr lang="tr-TR" sz="1600" dirty="0" smtClean="0"/>
              <a:t>Yazılımı</a:t>
            </a:r>
            <a:r>
              <a:rPr lang="tr-TR" sz="1600" dirty="0"/>
              <a:t>, </a:t>
            </a:r>
            <a:r>
              <a:rPr lang="tr-TR" sz="1600" dirty="0" err="1"/>
              <a:t>veritabanı</a:t>
            </a:r>
            <a:r>
              <a:rPr lang="tr-TR" sz="1600" dirty="0"/>
              <a:t> araçlarını, danışma ücretlerini, personel maliyetini, eğitim ve belki de donanım maliyetlerini içeren SAP veya </a:t>
            </a:r>
            <a:r>
              <a:rPr lang="tr-TR" sz="1600" dirty="0" err="1"/>
              <a:t>Oracle</a:t>
            </a:r>
            <a:r>
              <a:rPr lang="tr-TR" sz="1600" dirty="0"/>
              <a:t> tabanlı bir yazılıma dayalı bir büyük sistemin uygulanmasının ortalama toplam maliyeti 12 milyon ABD dolarını geçebilir. </a:t>
            </a:r>
            <a:endParaRPr lang="tr-TR" sz="1600" dirty="0" smtClean="0"/>
          </a:p>
          <a:p>
            <a:r>
              <a:rPr lang="tr-TR" sz="1600" dirty="0" smtClean="0"/>
              <a:t>Kurumsal </a:t>
            </a:r>
            <a:r>
              <a:rPr lang="tr-TR" sz="1600" dirty="0"/>
              <a:t>uygulamalar sadece teknolojik değişikliklerin değil aynı zamanda iş yapış şeklinin de değiştirilmesini gerektirir. </a:t>
            </a:r>
            <a:endParaRPr lang="tr-TR" sz="1600" dirty="0" smtClean="0"/>
          </a:p>
          <a:p>
            <a:r>
              <a:rPr lang="tr-TR" sz="1600" dirty="0" smtClean="0"/>
              <a:t>Çalışanlar </a:t>
            </a:r>
            <a:r>
              <a:rPr lang="tr-TR" sz="1600" dirty="0"/>
              <a:t>yeni iş fonksiyonları ve sorumlulukları kabul etmek zorundadırlar.</a:t>
            </a:r>
            <a:endParaRPr lang="tr-TR" sz="1600" dirty="0"/>
          </a:p>
        </p:txBody>
      </p:sp>
    </p:spTree>
    <p:extLst>
      <p:ext uri="{BB962C8B-B14F-4D97-AF65-F5344CB8AC3E}">
        <p14:creationId xmlns:p14="http://schemas.microsoft.com/office/powerpoint/2010/main" val="2848140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KURUMSAL UYGULAMA ZORLUKLARI</a:t>
            </a:r>
            <a:endParaRPr lang="tr-TR" dirty="0"/>
          </a:p>
        </p:txBody>
      </p:sp>
      <p:sp>
        <p:nvSpPr>
          <p:cNvPr id="5" name="İçerik Yer Tutucusu 5"/>
          <p:cNvSpPr>
            <a:spLocks noGrp="1"/>
          </p:cNvSpPr>
          <p:nvPr>
            <p:ph sz="quarter" idx="1"/>
          </p:nvPr>
        </p:nvSpPr>
        <p:spPr>
          <a:xfrm>
            <a:off x="457200" y="1340768"/>
            <a:ext cx="8507288" cy="4205064"/>
          </a:xfrm>
        </p:spPr>
        <p:txBody>
          <a:bodyPr>
            <a:noAutofit/>
          </a:bodyPr>
          <a:lstStyle/>
          <a:p>
            <a:r>
              <a:rPr lang="tr-TR" sz="1500" dirty="0"/>
              <a:t>Tedarik zinciri yönetimi sistemleri, enformasyonu ve iş süreçlerini paylaşmak için birden çok örgüt gerektirir. Sistemdeki her bir katılımcı iş süreçlerinden bir kısmını ve bir bütün olarak tedarik zincirine en iyi hizmeti sunacak bir sistemi oluşturmak için enformasyonu kullanma şeklini değiştirme durumunda kalabilir. </a:t>
            </a:r>
            <a:endParaRPr lang="tr-TR" sz="1500" dirty="0" smtClean="0"/>
          </a:p>
          <a:p>
            <a:r>
              <a:rPr lang="tr-TR" sz="1500" dirty="0" smtClean="0"/>
              <a:t>Bazı </a:t>
            </a:r>
            <a:r>
              <a:rPr lang="tr-TR" sz="1500" dirty="0"/>
              <a:t>işletmeler, ne oranda bir örgütsel değişim gerektiğini anlamadıkları için kurumsal uygulamaları ilk defa hayata geçirirken faaliyetlere ilişkin inanılmaz problemler ve kayıplar yaşamışlardır. </a:t>
            </a:r>
            <a:endParaRPr lang="tr-TR" sz="1500" dirty="0" smtClean="0"/>
          </a:p>
          <a:p>
            <a:r>
              <a:rPr lang="tr-TR" sz="1500" dirty="0" smtClean="0"/>
              <a:t>Kurumsal </a:t>
            </a:r>
            <a:r>
              <a:rPr lang="tr-TR" sz="1500" dirty="0"/>
              <a:t>uygulamalar ayrıca "değiştirme maliyetlerini (</a:t>
            </a:r>
            <a:r>
              <a:rPr lang="tr-TR" sz="1500" dirty="0" err="1"/>
              <a:t>switching</a:t>
            </a:r>
            <a:r>
              <a:rPr lang="tr-TR" sz="1500" dirty="0"/>
              <a:t> </a:t>
            </a:r>
            <a:r>
              <a:rPr lang="tr-TR" sz="1500" dirty="0" err="1"/>
              <a:t>costs</a:t>
            </a:r>
            <a:r>
              <a:rPr lang="tr-TR" sz="1500" dirty="0"/>
              <a:t>) de başlatır. SAP, </a:t>
            </a:r>
            <a:r>
              <a:rPr lang="tr-TR" sz="1500" dirty="0" err="1"/>
              <a:t>Oracle</a:t>
            </a:r>
            <a:r>
              <a:rPr lang="tr-TR" sz="1500" dirty="0"/>
              <a:t> veya diğer tek bir tedarikçinin kurumsal uygulamasını adapte ettiyseniz, diğer satıcılara geçmek çok maliyetlidir ve onların kurulumunu korumak ve ürününü güncellemek için o satıcıya bağımlı hale gelirsiniz. </a:t>
            </a:r>
            <a:endParaRPr lang="tr-TR" sz="1500" dirty="0" smtClean="0"/>
          </a:p>
          <a:p>
            <a:r>
              <a:rPr lang="tr-TR" sz="1500" dirty="0" smtClean="0"/>
              <a:t>Kurumsal </a:t>
            </a:r>
            <a:r>
              <a:rPr lang="tr-TR" sz="1500" dirty="0"/>
              <a:t>uygulamalar verinin örgüt bütünündeki tanımlarına dayalıdır. İşletmenizin veriyi tam olarak nasıl kullandığını ve verinin müşteri ilişkileri yönetiminde, tedarik zinciri yönetiminde veya kurumsal sistemde nasıl düzenlendiğini anlama ihtiyacı duyacaksınız. MİY sistemleri genellikle veri temizleme çalışması yapılmasını gerektirir. </a:t>
            </a:r>
            <a:endParaRPr lang="tr-TR" sz="1500" dirty="0" smtClean="0"/>
          </a:p>
          <a:p>
            <a:r>
              <a:rPr lang="tr-TR" sz="1500" dirty="0" smtClean="0"/>
              <a:t>Kurumsal </a:t>
            </a:r>
            <a:r>
              <a:rPr lang="tr-TR" sz="1500" dirty="0"/>
              <a:t>yazılım satıcıları, küçük ve orta ölçekli işletmeler için “hızlı başlama” programları ve kendi yazılımlarının kısmi sürümlerini (versiyonlarını) teklif etmekte, daha büyük işletmeler için de en iyi uygulamalar yönergelerini sunmaktadırlar. </a:t>
            </a:r>
            <a:endParaRPr lang="tr-TR" sz="1500" dirty="0" smtClean="0"/>
          </a:p>
          <a:p>
            <a:r>
              <a:rPr lang="tr-TR" sz="1500" dirty="0" smtClean="0"/>
              <a:t>Kurumsal </a:t>
            </a:r>
            <a:r>
              <a:rPr lang="tr-TR" sz="1500" dirty="0"/>
              <a:t>uygulamaları adapte eden işletmeler özgünleştirmeyi en düşük düzeyde tutarak zaman ve paradan tasarruf sağlayabilirler.</a:t>
            </a:r>
            <a:endParaRPr lang="tr-TR" sz="1500" dirty="0"/>
          </a:p>
        </p:txBody>
      </p:sp>
    </p:spTree>
    <p:extLst>
      <p:ext uri="{BB962C8B-B14F-4D97-AF65-F5344CB8AC3E}">
        <p14:creationId xmlns:p14="http://schemas.microsoft.com/office/powerpoint/2010/main" val="1427311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GELECEK NESİL KURUMSAL UYGULAMALAR </a:t>
            </a:r>
            <a:endParaRPr lang="tr-TR" dirty="0"/>
          </a:p>
        </p:txBody>
      </p:sp>
      <p:sp>
        <p:nvSpPr>
          <p:cNvPr id="3" name="İçerik Yer Tutucusu 2"/>
          <p:cNvSpPr>
            <a:spLocks noGrp="1"/>
          </p:cNvSpPr>
          <p:nvPr>
            <p:ph sz="quarter" idx="1"/>
          </p:nvPr>
        </p:nvSpPr>
        <p:spPr>
          <a:xfrm>
            <a:off x="457200" y="1600200"/>
            <a:ext cx="8219256" cy="5069160"/>
          </a:xfrm>
        </p:spPr>
        <p:txBody>
          <a:bodyPr>
            <a:normAutofit/>
          </a:bodyPr>
          <a:lstStyle/>
          <a:p>
            <a:r>
              <a:rPr lang="tr-TR" dirty="0" smtClean="0"/>
              <a:t>Tek </a:t>
            </a:r>
            <a:r>
              <a:rPr lang="tr-TR" dirty="0"/>
              <a:t>başına çalışan kurumsal uygulamalar, müşteri ilişkileri ve tedarik zinciri yönetimi sistemleri geçmişte kalıyor. </a:t>
            </a:r>
            <a:endParaRPr lang="tr-TR" dirty="0" smtClean="0"/>
          </a:p>
          <a:p>
            <a:r>
              <a:rPr lang="tr-TR" dirty="0" smtClean="0"/>
              <a:t>Önemli </a:t>
            </a:r>
            <a:r>
              <a:rPr lang="tr-TR" dirty="0"/>
              <a:t>kurumsal yazılım satıcıları, kendi müşteri ilişkileri yönetimi, tedarik zincir yönetimi ve kurumsal sistemlerin birbirleriyle çalışabilmeleri, müşteri ve tedarikçi sistemleri ile bağlantı kurmak için kurumsal çözüm, kurumsal sürüm veya e-işletme sürümü olarak adlandırdıkları ürünleri oluşturdular.</a:t>
            </a:r>
            <a:endParaRPr lang="en-US" dirty="0">
              <a:ea typeface="ＭＳ Ｐゴシック" pitchFamily="34" charset="-128"/>
            </a:endParaRPr>
          </a:p>
        </p:txBody>
      </p:sp>
    </p:spTree>
    <p:extLst>
      <p:ext uri="{BB962C8B-B14F-4D97-AF65-F5344CB8AC3E}">
        <p14:creationId xmlns:p14="http://schemas.microsoft.com/office/powerpoint/2010/main" val="26048701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GELECEK NESİL KURUMSAL UYGULAMALAR </a:t>
            </a:r>
            <a:endParaRPr lang="tr-TR" sz="3600" dirty="0"/>
          </a:p>
        </p:txBody>
      </p:sp>
      <p:sp>
        <p:nvSpPr>
          <p:cNvPr id="3" name="İçerik Yer Tutucusu 2"/>
          <p:cNvSpPr>
            <a:spLocks noGrp="1"/>
          </p:cNvSpPr>
          <p:nvPr>
            <p:ph sz="quarter" idx="1"/>
          </p:nvPr>
        </p:nvSpPr>
        <p:spPr>
          <a:xfrm>
            <a:off x="457200" y="1600200"/>
            <a:ext cx="8507288" cy="5257800"/>
          </a:xfrm>
        </p:spPr>
        <p:txBody>
          <a:bodyPr>
            <a:normAutofit fontScale="92500" lnSpcReduction="10000"/>
          </a:bodyPr>
          <a:lstStyle/>
          <a:p>
            <a:r>
              <a:rPr lang="tr-TR" dirty="0" err="1"/>
              <a:t>SAP’ın</a:t>
            </a:r>
            <a:r>
              <a:rPr lang="tr-TR" dirty="0"/>
              <a:t> gelecek-nesil kurumsal uygulamaları kurumsal hizmet odaklı mimariye dayandırılmıştır. Amaç kurumsal uygulamaları daha kolay yürürlüğe koymak ve yönetmektir</a:t>
            </a:r>
            <a:r>
              <a:rPr lang="tr-TR" dirty="0" smtClean="0"/>
              <a:t>.</a:t>
            </a:r>
          </a:p>
          <a:p>
            <a:r>
              <a:rPr lang="tr-TR" dirty="0" smtClean="0"/>
              <a:t>Örneğin</a:t>
            </a:r>
            <a:r>
              <a:rPr lang="tr-TR" dirty="0"/>
              <a:t>, SAP kurumsal yazılımın şu andaki sürümü finansman, lojistik, satın alma ve insan kaynakları yönetimindeki anahtar uygulamaları ana KKP bileşeniyle birleştirmektedir. </a:t>
            </a:r>
            <a:endParaRPr lang="tr-TR" dirty="0" smtClean="0"/>
          </a:p>
          <a:p>
            <a:r>
              <a:rPr lang="tr-TR" dirty="0" smtClean="0"/>
              <a:t>İşletmeler</a:t>
            </a:r>
            <a:r>
              <a:rPr lang="tr-TR" dirty="0"/>
              <a:t>, daha sonra bu uygulamaları, SAP veya diğer satıcılar tarafından sağlanan personel alımı veya tahsilât yönetimi gibi belirli faaliyetleri Web hizmetlerine bağlayarak genişletmişlerdir. </a:t>
            </a:r>
            <a:endParaRPr lang="tr-TR" dirty="0" smtClean="0"/>
          </a:p>
          <a:p>
            <a:r>
              <a:rPr lang="tr-TR" dirty="0" smtClean="0"/>
              <a:t>SAP </a:t>
            </a:r>
            <a:r>
              <a:rPr lang="tr-TR" dirty="0"/>
              <a:t>Web sitesi üzerinden 500 Web hizmeti sağlamaktadır. </a:t>
            </a:r>
            <a:endParaRPr lang="tr-TR" dirty="0" smtClean="0"/>
          </a:p>
          <a:p>
            <a:r>
              <a:rPr lang="tr-TR" dirty="0" smtClean="0"/>
              <a:t>Gelecek-nesil </a:t>
            </a:r>
            <a:r>
              <a:rPr lang="tr-TR" dirty="0"/>
              <a:t>kurumsal uygulamalar ayrıca açık kaynak ve talebe dayalı çözümleri de içerir. Ancak, küçük üreticiler gibi işletmeler bu seçeneği seçmektedirler çünkü yazılım kullanım ücreti ve kullanıma dayalı ücretlendirme yoktur</a:t>
            </a:r>
            <a:endParaRPr lang="en-US" dirty="0">
              <a:ea typeface="ＭＳ Ｐゴシック" pitchFamily="34" charset="-128"/>
            </a:endParaRPr>
          </a:p>
        </p:txBody>
      </p:sp>
    </p:spTree>
    <p:extLst>
      <p:ext uri="{BB962C8B-B14F-4D97-AF65-F5344CB8AC3E}">
        <p14:creationId xmlns:p14="http://schemas.microsoft.com/office/powerpoint/2010/main" val="10345140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GELECEK NESİL KURUMSAL UYGULAMALAR</a:t>
            </a:r>
            <a:endParaRPr lang="tr-TR" dirty="0"/>
          </a:p>
        </p:txBody>
      </p:sp>
      <p:sp>
        <p:nvSpPr>
          <p:cNvPr id="3" name="İçerik Yer Tutucusu 2"/>
          <p:cNvSpPr>
            <a:spLocks noGrp="1"/>
          </p:cNvSpPr>
          <p:nvPr>
            <p:ph sz="quarter" idx="1"/>
          </p:nvPr>
        </p:nvSpPr>
        <p:spPr>
          <a:xfrm>
            <a:off x="457200" y="1600200"/>
            <a:ext cx="8363272" cy="5257800"/>
          </a:xfrm>
        </p:spPr>
        <p:txBody>
          <a:bodyPr>
            <a:normAutofit fontScale="85000" lnSpcReduction="20000"/>
          </a:bodyPr>
          <a:lstStyle/>
          <a:p>
            <a:r>
              <a:rPr lang="tr-TR" sz="1800" dirty="0"/>
              <a:t>SAP şimdi seçilmiş ülkelerde küçük-orta ölçekli işletmeler için Business </a:t>
            </a:r>
            <a:r>
              <a:rPr lang="tr-TR" sz="1800" dirty="0" err="1"/>
              <a:t>By</a:t>
            </a:r>
            <a:r>
              <a:rPr lang="tr-TR" sz="1800" dirty="0"/>
              <a:t> Design olarak adlandırılan talebe dayalı kurumsal yazılım çözümü önermektedir. </a:t>
            </a:r>
            <a:endParaRPr lang="tr-TR" sz="1800" dirty="0" smtClean="0"/>
          </a:p>
          <a:p>
            <a:r>
              <a:rPr lang="tr-TR" sz="1800" dirty="0" smtClean="0"/>
              <a:t>Hizmet </a:t>
            </a:r>
            <a:r>
              <a:rPr lang="tr-TR" sz="1800" dirty="0"/>
              <a:t>olarak yazılım (</a:t>
            </a:r>
            <a:r>
              <a:rPr lang="tr-TR" sz="1800" dirty="0" err="1"/>
              <a:t>SaaS</a:t>
            </a:r>
            <a:r>
              <a:rPr lang="tr-TR" sz="1800" dirty="0"/>
              <a:t>: Software as a Service)'da en fazla büyüme müşteri ilişkileri yönetiminde gerçekleşmiştir. </a:t>
            </a:r>
            <a:endParaRPr lang="tr-TR" sz="1800" dirty="0" smtClean="0"/>
          </a:p>
          <a:p>
            <a:r>
              <a:rPr lang="tr-TR" sz="1800" dirty="0" smtClean="0"/>
              <a:t>Salesforce.com</a:t>
            </a:r>
            <a:r>
              <a:rPr lang="tr-TR" sz="1800" dirty="0"/>
              <a:t>, MİY çözümleri üretiminde liderdir, ancak </a:t>
            </a:r>
            <a:r>
              <a:rPr lang="tr-TR" sz="1800" dirty="0" err="1"/>
              <a:t>Oracle</a:t>
            </a:r>
            <a:r>
              <a:rPr lang="tr-TR" sz="1800" dirty="0"/>
              <a:t> ve </a:t>
            </a:r>
            <a:r>
              <a:rPr lang="tr-TR" sz="1800" dirty="0" err="1"/>
              <a:t>SAP'de</a:t>
            </a:r>
            <a:r>
              <a:rPr lang="tr-TR" sz="1800" dirty="0"/>
              <a:t> </a:t>
            </a:r>
            <a:r>
              <a:rPr lang="tr-TR" sz="1800" dirty="0" err="1"/>
              <a:t>SaaS</a:t>
            </a:r>
            <a:r>
              <a:rPr lang="tr-TR" sz="1800" dirty="0"/>
              <a:t> yeteneklerini geliştirmektedir. </a:t>
            </a:r>
            <a:endParaRPr lang="tr-TR" sz="1800" dirty="0" smtClean="0"/>
          </a:p>
          <a:p>
            <a:r>
              <a:rPr lang="tr-TR" sz="1800" dirty="0" smtClean="0"/>
              <a:t>Kurumsal </a:t>
            </a:r>
            <a:r>
              <a:rPr lang="tr-TR" sz="1800" dirty="0"/>
              <a:t>sistemlerin </a:t>
            </a:r>
            <a:r>
              <a:rPr lang="tr-TR" sz="1800" dirty="0" err="1"/>
              <a:t>SaaS</a:t>
            </a:r>
            <a:r>
              <a:rPr lang="tr-TR" sz="1800" dirty="0"/>
              <a:t> ve bulut-tabanlı versiyonları önerilmeye başlanmıştır. </a:t>
            </a:r>
            <a:endParaRPr lang="tr-TR" sz="1800" dirty="0" smtClean="0"/>
          </a:p>
          <a:p>
            <a:r>
              <a:rPr lang="tr-TR" sz="1800" dirty="0" smtClean="0"/>
              <a:t>Büyük </a:t>
            </a:r>
            <a:r>
              <a:rPr lang="tr-TR" sz="1800" dirty="0"/>
              <a:t>kurumsal uygulama satıcıları ürünlerinin mobil elde taşınabilir cihazlarda çalışan parçalarını da önermektedir. </a:t>
            </a:r>
            <a:endParaRPr lang="tr-TR" sz="1800" dirty="0" smtClean="0"/>
          </a:p>
          <a:p>
            <a:r>
              <a:rPr lang="tr-TR" sz="1800" dirty="0" smtClean="0"/>
              <a:t>Salesforce.com </a:t>
            </a:r>
            <a:r>
              <a:rPr lang="tr-TR" sz="1800" dirty="0"/>
              <a:t>ve </a:t>
            </a:r>
            <a:r>
              <a:rPr lang="tr-TR" sz="1800" dirty="0" err="1"/>
              <a:t>Oracle</a:t>
            </a:r>
            <a:r>
              <a:rPr lang="tr-TR" sz="1800" dirty="0"/>
              <a:t> yeni fikirleri daha hızlı teşhis etmek, grup verimliliğini geliştirmek ve müşterilerle daha derin ilişki kuracak imkânları veren Web 2.0 olanaklarını eklemiştir. </a:t>
            </a:r>
            <a:endParaRPr lang="tr-TR" sz="1800" dirty="0" smtClean="0"/>
          </a:p>
          <a:p>
            <a:r>
              <a:rPr lang="tr-TR" sz="1800" dirty="0" smtClean="0"/>
              <a:t>Örneğin</a:t>
            </a:r>
            <a:r>
              <a:rPr lang="tr-TR" sz="1800" dirty="0"/>
              <a:t>, </a:t>
            </a:r>
            <a:r>
              <a:rPr lang="tr-TR" sz="1800" dirty="0" err="1"/>
              <a:t>Salesforce</a:t>
            </a:r>
            <a:r>
              <a:rPr lang="tr-TR" sz="1800" dirty="0"/>
              <a:t> </a:t>
            </a:r>
            <a:r>
              <a:rPr lang="tr-TR" sz="1800" dirty="0" err="1"/>
              <a:t>Ideas</a:t>
            </a:r>
            <a:r>
              <a:rPr lang="tr-TR" sz="1800" dirty="0"/>
              <a:t> müşterilerinin yeni fikirleri sunmak ve tartışmasına izin vererek üyelerine "kalabalığın bilgeliğini (</a:t>
            </a:r>
            <a:r>
              <a:rPr lang="tr-TR" sz="1800" dirty="0" err="1"/>
              <a:t>wisdom</a:t>
            </a:r>
            <a:r>
              <a:rPr lang="tr-TR" sz="1800" dirty="0"/>
              <a:t> of </a:t>
            </a:r>
            <a:r>
              <a:rPr lang="tr-TR" sz="1800" dirty="0" err="1"/>
              <a:t>crowd</a:t>
            </a:r>
            <a:r>
              <a:rPr lang="tr-TR" sz="1800" dirty="0"/>
              <a:t>)"</a:t>
            </a:r>
            <a:r>
              <a:rPr lang="tr-TR" sz="1800" dirty="0" err="1"/>
              <a:t>ni</a:t>
            </a:r>
            <a:r>
              <a:rPr lang="tr-TR" sz="1800" dirty="0"/>
              <a:t> kullanma olanağı sağlar. </a:t>
            </a:r>
            <a:endParaRPr lang="tr-TR" sz="1800" dirty="0" smtClean="0"/>
          </a:p>
          <a:p>
            <a:r>
              <a:rPr lang="tr-TR" sz="1800" dirty="0" err="1" smtClean="0"/>
              <a:t>Dell</a:t>
            </a:r>
            <a:r>
              <a:rPr lang="tr-TR" sz="1800" dirty="0" smtClean="0"/>
              <a:t> </a:t>
            </a:r>
            <a:r>
              <a:rPr lang="tr-TR" sz="1800" dirty="0" err="1"/>
              <a:t>Computer</a:t>
            </a:r>
            <a:r>
              <a:rPr lang="tr-TR" sz="1800" dirty="0"/>
              <a:t>, </a:t>
            </a:r>
            <a:r>
              <a:rPr lang="tr-TR" sz="1800" dirty="0" err="1"/>
              <a:t>Dell</a:t>
            </a:r>
            <a:r>
              <a:rPr lang="tr-TR" sz="1800" dirty="0"/>
              <a:t> ürünleri üzerindeki özellik değişimlerini ve yeni fikirleri oylamak ve müşterilerini cesaretlendirmek için bu teknolojiyi </a:t>
            </a:r>
            <a:r>
              <a:rPr lang="tr-TR" sz="1800" dirty="0" err="1"/>
              <a:t>Dell</a:t>
            </a:r>
            <a:r>
              <a:rPr lang="tr-TR" sz="1800" dirty="0"/>
              <a:t> </a:t>
            </a:r>
            <a:r>
              <a:rPr lang="tr-TR" sz="1800" dirty="0" err="1"/>
              <a:t>IdeaStorm</a:t>
            </a:r>
            <a:r>
              <a:rPr lang="tr-TR" sz="1800" dirty="0"/>
              <a:t> (dellideastorm.com) olarak kullanmıştır. </a:t>
            </a:r>
            <a:endParaRPr lang="tr-TR" sz="1800" dirty="0" smtClean="0"/>
          </a:p>
          <a:p>
            <a:r>
              <a:rPr lang="tr-TR" sz="1800" dirty="0" smtClean="0"/>
              <a:t>Kurumsal </a:t>
            </a:r>
            <a:r>
              <a:rPr lang="tr-TR" sz="1800" dirty="0"/>
              <a:t>uygulama satıcıları ayrıca bu sistemler tarafından üretilen çok sayıdaki veriden daha anlamlı enformasyon edinmede yöneticilere yardımcı olmak için kendi iş zekâsı özelliklerini güçlendirmededirler. Kullanıcıların uygulamadan ayrılıp ayrı raporlama ve analiz araçları başlatmalarını gerekli kılmadan ziyade, satıcılar uygulamanın kendi içeriğinin içine analizleri yerleşilmeye başladılar. </a:t>
            </a:r>
            <a:endParaRPr lang="tr-TR" sz="1800" dirty="0" smtClean="0"/>
          </a:p>
          <a:p>
            <a:r>
              <a:rPr lang="tr-TR" sz="1800" dirty="0" smtClean="0"/>
              <a:t>Ayrıca</a:t>
            </a:r>
            <a:r>
              <a:rPr lang="tr-TR" sz="1800" dirty="0"/>
              <a:t>, SAP Business Objects ve </a:t>
            </a:r>
            <a:r>
              <a:rPr lang="tr-TR" sz="1800" dirty="0" err="1"/>
              <a:t>Oracle</a:t>
            </a:r>
            <a:r>
              <a:rPr lang="tr-TR" sz="1800" dirty="0"/>
              <a:t> Business </a:t>
            </a:r>
            <a:r>
              <a:rPr lang="tr-TR" sz="1800" dirty="0" err="1"/>
              <a:t>Intelligence</a:t>
            </a:r>
            <a:r>
              <a:rPr lang="tr-TR" sz="1800" dirty="0"/>
              <a:t> </a:t>
            </a:r>
            <a:r>
              <a:rPr lang="tr-TR" sz="1800" dirty="0" err="1"/>
              <a:t>Enterurise</a:t>
            </a:r>
            <a:r>
              <a:rPr lang="tr-TR" sz="1800" dirty="0"/>
              <a:t> Edition gibi tamamlayıcı analiz ürünleri sunmaktadırlar.</a:t>
            </a:r>
            <a:endParaRPr lang="en-US" sz="1800" dirty="0">
              <a:ea typeface="ＭＳ Ｐゴシック" pitchFamily="34" charset="-128"/>
            </a:endParaRPr>
          </a:p>
        </p:txBody>
      </p:sp>
    </p:spTree>
    <p:extLst>
      <p:ext uri="{BB962C8B-B14F-4D97-AF65-F5344CB8AC3E}">
        <p14:creationId xmlns:p14="http://schemas.microsoft.com/office/powerpoint/2010/main" val="16926788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Hizmet Platformları</a:t>
            </a:r>
            <a:endParaRPr lang="tr-TR" dirty="0"/>
          </a:p>
        </p:txBody>
      </p:sp>
      <p:sp>
        <p:nvSpPr>
          <p:cNvPr id="3" name="İçerik Yer Tutucusu 2"/>
          <p:cNvSpPr>
            <a:spLocks noGrp="1"/>
          </p:cNvSpPr>
          <p:nvPr>
            <p:ph sz="quarter" idx="1"/>
          </p:nvPr>
        </p:nvSpPr>
        <p:spPr>
          <a:xfrm>
            <a:off x="457200" y="1600200"/>
            <a:ext cx="8363272" cy="5257800"/>
          </a:xfrm>
        </p:spPr>
        <p:txBody>
          <a:bodyPr>
            <a:normAutofit lnSpcReduction="10000"/>
          </a:bodyPr>
          <a:lstStyle/>
          <a:p>
            <a:r>
              <a:rPr lang="tr-TR" sz="1800" dirty="0" smtClean="0"/>
              <a:t>Kurumsal </a:t>
            </a:r>
            <a:r>
              <a:rPr lang="tr-TR" sz="1800" dirty="0"/>
              <a:t>uygulamaları genişletmenin diğer bir yolu, çeşitli faaliyet alanlarından gelen enformasyonun bütünleştirilmesini sağlayan yeni veya geliştirilmiş iş süreçleri için hizmet platformları oluşturmada onları kullanmaktır. </a:t>
            </a:r>
            <a:endParaRPr lang="tr-TR" sz="1800" dirty="0" smtClean="0"/>
          </a:p>
          <a:p>
            <a:r>
              <a:rPr lang="tr-TR" sz="1800" dirty="0" smtClean="0"/>
              <a:t>Kurumsal </a:t>
            </a:r>
            <a:r>
              <a:rPr lang="tr-TR" sz="1800" dirty="0"/>
              <a:t>boyuttaki bu hizmet platformları geleneksel kurumsal uygulamalardan daha çok fazla faaliyetler arası bütünleştirme sağlamaktadır. </a:t>
            </a:r>
            <a:endParaRPr lang="tr-TR" sz="1800" dirty="0" smtClean="0"/>
          </a:p>
          <a:p>
            <a:r>
              <a:rPr lang="tr-TR" sz="1800" dirty="0" smtClean="0"/>
              <a:t>Hizmet </a:t>
            </a:r>
            <a:r>
              <a:rPr lang="tr-TR" sz="1800" dirty="0"/>
              <a:t>platformu müşteri, çalışan, yönetici veya iş ortakları için görülmez bir deneyim sağlayarak birçok faaliyetinden, iş birimlerinden veya iş ortaklıklarından elde edilen çoklu uygulamaları birleştirmektedir. </a:t>
            </a:r>
            <a:endParaRPr lang="tr-TR" sz="1800" dirty="0" smtClean="0"/>
          </a:p>
          <a:p>
            <a:r>
              <a:rPr lang="tr-TR" sz="1800" dirty="0" smtClean="0"/>
              <a:t>Kurumsal </a:t>
            </a:r>
            <a:r>
              <a:rPr lang="tr-TR" sz="1800" dirty="0"/>
              <a:t>uygulama satıcıları, eski kullanılan uygulamalar ve diğer satıcılardan alınan sistemlerle birlikte bütünleşik kurumsal uygulamaları için XML ve Web hizmetlerini kullanan araçları ve ara yazılımları sağlar. </a:t>
            </a:r>
            <a:endParaRPr lang="tr-TR" sz="1800" dirty="0" smtClean="0"/>
          </a:p>
          <a:p>
            <a:r>
              <a:rPr lang="tr-TR" sz="1800" dirty="0" smtClean="0"/>
              <a:t>Bu </a:t>
            </a:r>
            <a:r>
              <a:rPr lang="tr-TR" sz="1800" dirty="0"/>
              <a:t>yeni hizmetler artan oranda </a:t>
            </a:r>
            <a:r>
              <a:rPr lang="tr-TR" sz="1800" dirty="0" err="1"/>
              <a:t>portallar</a:t>
            </a:r>
            <a:r>
              <a:rPr lang="tr-TR" sz="1800" dirty="0"/>
              <a:t> aracılığıyla dağıtılmaktadır</a:t>
            </a:r>
            <a:r>
              <a:rPr lang="tr-TR" sz="1800"/>
              <a:t>. </a:t>
            </a:r>
            <a:endParaRPr lang="tr-TR" sz="1800" smtClean="0"/>
          </a:p>
          <a:p>
            <a:r>
              <a:rPr lang="tr-TR" sz="1800" smtClean="0"/>
              <a:t>Portal </a:t>
            </a:r>
            <a:r>
              <a:rPr lang="tr-TR" sz="1800" dirty="0"/>
              <a:t>yazılımları enformasyonun tek bir kaynaktan geliyor gibi görünebilmesi için kurumsal uygulamalardan ve işletme içinde farklı üretilmiş eski sistemlerden enformasyonları birleştirerek web ara yüzü aracılığıyla kullanıcılara sunabilir.</a:t>
            </a:r>
            <a:endParaRPr lang="en-US" sz="1800" dirty="0">
              <a:ea typeface="ＭＳ Ｐゴシック" pitchFamily="34" charset="-128"/>
            </a:endParaRPr>
          </a:p>
        </p:txBody>
      </p:sp>
    </p:spTree>
    <p:extLst>
      <p:ext uri="{BB962C8B-B14F-4D97-AF65-F5344CB8AC3E}">
        <p14:creationId xmlns:p14="http://schemas.microsoft.com/office/powerpoint/2010/main" val="189678255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274</TotalTime>
  <Words>2584</Words>
  <Application>Microsoft Office PowerPoint</Application>
  <PresentationFormat>Ekran Gösterisi (4:3)</PresentationFormat>
  <Paragraphs>132</Paragraphs>
  <Slides>22</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22</vt:i4>
      </vt:variant>
    </vt:vector>
  </HeadingPairs>
  <TitlesOfParts>
    <vt:vector size="27" baseType="lpstr">
      <vt:lpstr>ＭＳ Ｐゴシック</vt:lpstr>
      <vt:lpstr>Century Schoolbook</vt:lpstr>
      <vt:lpstr>Wingdings</vt:lpstr>
      <vt:lpstr>Wingdings 2</vt:lpstr>
      <vt:lpstr>Cumba</vt:lpstr>
      <vt:lpstr>Yönetim Bilişim Sistemleri </vt:lpstr>
      <vt:lpstr>MÜŞTERİ İLİŞKİLERİ YÖNETİMİ SİSTEMLERİ (CRM)</vt:lpstr>
      <vt:lpstr>MÜŞTERİ İLİŞKİLERİ YÖNETİMİ SİSTEMLERİ (CRM)</vt:lpstr>
      <vt:lpstr>MÜŞTERİ İLİŞKİLERİ YÖNETİMİ SİSTEMLERİ (CRM)</vt:lpstr>
      <vt:lpstr>MÜŞTERİ İLİŞKİLERİ YÖNETİMİ SİSTEMLERİ (CRM)</vt:lpstr>
      <vt:lpstr>MÜŞTERİ İLİŞKİLERİ YÖNETİMİ YAZILIMI</vt:lpstr>
      <vt:lpstr>İş Ortakları İlişkileri Yönetimi : PRM</vt:lpstr>
      <vt:lpstr>Çalışan İlişkileri Yönetimi : ERM</vt:lpstr>
      <vt:lpstr>Satış Gücünün Otomasyonu (SGO)</vt:lpstr>
      <vt:lpstr>Müşteri Hizmeti</vt:lpstr>
      <vt:lpstr>Pazarlama</vt:lpstr>
      <vt:lpstr>MİY yazılım ürünlerinin yetenekleri </vt:lpstr>
      <vt:lpstr>MİY yazılım ürünlerinin yetenekleri</vt:lpstr>
      <vt:lpstr>FAALİYETLERE VE ÇÖZÜMLEMELERE İLİŞKİN MÜŞTERİ İLİŞKİLERİ YÖNETİMİ (MİY)</vt:lpstr>
      <vt:lpstr>FAALİYETLERE VE ÇÖZÜMLEMELERE İLİŞKİN MÜŞTERİ İLİŞKİLERİ YÖNETİMİ (MİY) </vt:lpstr>
      <vt:lpstr>MÜŞTERİ İLİŞKİLERİ YÖNETİMİ SİSTEMLERİNİN İŞLETME DEĞERİ </vt:lpstr>
      <vt:lpstr>KURUMSAL UYGULAMA ZORLUKLARI</vt:lpstr>
      <vt:lpstr>KURUMSAL UYGULAMA ZORLUKLARI</vt:lpstr>
      <vt:lpstr>GELECEK NESİL KURUMSAL UYGULAMALAR </vt:lpstr>
      <vt:lpstr>GELECEK NESİL KURUMSAL UYGULAMALAR </vt:lpstr>
      <vt:lpstr>GELECEK NESİL KURUMSAL UYGULAMALAR</vt:lpstr>
      <vt:lpstr>Hizmet Platformları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İLERİ PROGRAMLAMA</dc:title>
  <dc:creator>SFuat</dc:creator>
  <cp:lastModifiedBy>Windows Kullanıcısı</cp:lastModifiedBy>
  <cp:revision>129</cp:revision>
  <dcterms:created xsi:type="dcterms:W3CDTF">2020-02-18T10:38:04Z</dcterms:created>
  <dcterms:modified xsi:type="dcterms:W3CDTF">2022-11-28T07:39:55Z</dcterms:modified>
</cp:coreProperties>
</file>