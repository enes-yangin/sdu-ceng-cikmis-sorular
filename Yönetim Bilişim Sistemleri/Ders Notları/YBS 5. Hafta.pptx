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312" r:id="rId14"/>
    <p:sldId id="271" r:id="rId15"/>
    <p:sldId id="273" r:id="rId16"/>
    <p:sldId id="313" r:id="rId17"/>
    <p:sldId id="314" r:id="rId18"/>
    <p:sldId id="276" r:id="rId19"/>
    <p:sldId id="277" r:id="rId20"/>
    <p:sldId id="278" r:id="rId21"/>
    <p:sldId id="296" r:id="rId22"/>
    <p:sldId id="280" r:id="rId23"/>
    <p:sldId id="281" r:id="rId24"/>
    <p:sldId id="282" r:id="rId25"/>
    <p:sldId id="315" r:id="rId26"/>
    <p:sldId id="316" r:id="rId27"/>
    <p:sldId id="317" r:id="rId28"/>
    <p:sldId id="318" r:id="rId29"/>
    <p:sldId id="319" r:id="rId30"/>
    <p:sldId id="322" r:id="rId31"/>
    <p:sldId id="323" r:id="rId32"/>
    <p:sldId id="320" r:id="rId33"/>
    <p:sldId id="321" r:id="rId3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4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Dikdörtgen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Dikdörtgen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Dikdörtgen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üz Bağlayıcı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Düz Bağlayıcı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Dikdörtgen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Altbilgi Yer Tutucusu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Dikdörtgen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Düz Bağlayıcı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Düz Bağlayıcı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ikdörtgen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Düz Bağlayıcı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2" name="Metin Yer Tutucusu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6" name="Veri Yer Tutucusu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İçerik Yer Tutucus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21" name="Veri Yer Tutucusu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22" name="Slayt Numarası Yer Tutucusu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3" name="Altbilgi Yer Tutucusu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üz Bağlayıcı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üz Bağlayıcı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Veri Yer Tutucusu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18" name="Slayt Numarası Yer Tutucusu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1" name="Altbilgi Yer Tutucusu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14.11.2022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411760" y="2564904"/>
            <a:ext cx="6172200" cy="1894362"/>
          </a:xfrm>
        </p:spPr>
        <p:txBody>
          <a:bodyPr/>
          <a:lstStyle/>
          <a:p>
            <a:r>
              <a:rPr lang="tr-TR" sz="2800" dirty="0" smtClean="0"/>
              <a:t>Yönetim Bilişim Sistemleri</a:t>
            </a:r>
            <a:r>
              <a:rPr lang="tr-TR" sz="2800" dirty="0"/>
              <a:t/>
            </a:r>
            <a:br>
              <a:rPr lang="tr-TR" sz="2800" dirty="0"/>
            </a:b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tr-TR" b="0" dirty="0"/>
              <a:t>Prof. Dr. Tuncay YİĞİT</a:t>
            </a:r>
          </a:p>
          <a:p>
            <a:pPr algn="ctr"/>
            <a:r>
              <a:rPr lang="tr-TR" b="0" dirty="0"/>
              <a:t>Süleyman Demirel Üniversitesi</a:t>
            </a:r>
          </a:p>
          <a:p>
            <a:pPr algn="ctr"/>
            <a:r>
              <a:rPr lang="tr-TR" b="0" dirty="0"/>
              <a:t>Bilgisayar Mühendisliği Bölümü</a:t>
            </a:r>
          </a:p>
          <a:p>
            <a:pPr algn="ctr"/>
            <a:endParaRPr lang="tr-TR" b="0" dirty="0"/>
          </a:p>
          <a:p>
            <a:pPr algn="ctr"/>
            <a:r>
              <a:rPr lang="tr-TR" b="0" dirty="0"/>
              <a:t>ISPARTA 2022</a:t>
            </a:r>
          </a:p>
        </p:txBody>
      </p:sp>
    </p:spTree>
    <p:extLst>
      <p:ext uri="{BB962C8B-B14F-4D97-AF65-F5344CB8AC3E}">
        <p14:creationId xmlns:p14="http://schemas.microsoft.com/office/powerpoint/2010/main" val="192741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Enformasyon </a:t>
            </a:r>
            <a:r>
              <a:rPr lang="tr-TR" dirty="0"/>
              <a:t>Teknolojisi Altyapısı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507288" cy="1036712"/>
          </a:xfrm>
        </p:spPr>
        <p:txBody>
          <a:bodyPr>
            <a:normAutofit fontScale="70000" lnSpcReduction="20000"/>
          </a:bodyPr>
          <a:lstStyle/>
          <a:p>
            <a:r>
              <a:rPr lang="tr-TR" dirty="0"/>
              <a:t>ET altyapısı; kurumların belirli enformasyon sistemleri uygulamaları için bir platform sağlayan, paylaşılan teknoloji kaynaklarıdır. </a:t>
            </a:r>
            <a:r>
              <a:rPr lang="tr-TR" dirty="0" smtClean="0"/>
              <a:t>E</a:t>
            </a:r>
          </a:p>
          <a:p>
            <a:r>
              <a:rPr lang="tr-TR" dirty="0"/>
              <a:t>E</a:t>
            </a:r>
            <a:r>
              <a:rPr lang="tr-TR" dirty="0" smtClean="0"/>
              <a:t>T </a:t>
            </a:r>
            <a:r>
              <a:rPr lang="tr-TR" dirty="0"/>
              <a:t>altyapısı donanım, yazılım, danışmanlık ve bakım hizmeti, eğitim ve öğretim vb. alanlardaki yatırımları içermektedir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636912"/>
            <a:ext cx="6696744" cy="42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4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Enformasyon </a:t>
            </a:r>
            <a:r>
              <a:rPr lang="tr-TR" dirty="0"/>
              <a:t>Teknolojisi (ET) Altyapı Hizmetleri</a:t>
            </a:r>
            <a:endParaRPr lang="tr-TR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28800"/>
            <a:ext cx="8219256" cy="4968552"/>
          </a:xfrm>
        </p:spPr>
        <p:txBody>
          <a:bodyPr>
            <a:normAutofit fontScale="85000" lnSpcReduction="20000"/>
          </a:bodyPr>
          <a:lstStyle/>
          <a:p>
            <a:r>
              <a:rPr lang="tr-TR" sz="1800" dirty="0"/>
              <a:t>Bilgi işlem platformları, çalışanların, müşterileri ve tedarikçileri dijital ortamda bağlayan büyük ana bilgisayarlar, masaüstü bilgisayarlara, dizüstü </a:t>
            </a:r>
            <a:r>
              <a:rPr lang="tr-TR" sz="1800" dirty="0" err="1"/>
              <a:t>bilgisayarlara,mobil</a:t>
            </a:r>
            <a:r>
              <a:rPr lang="tr-TR" sz="1800" dirty="0"/>
              <a:t> cihazlar vb. bilgi işlem hizmetleri. </a:t>
            </a:r>
            <a:endParaRPr lang="tr-TR" sz="1800" dirty="0" smtClean="0"/>
          </a:p>
          <a:p>
            <a:r>
              <a:rPr lang="tr-TR" sz="1800" dirty="0" smtClean="0"/>
              <a:t>Çalışanlara</a:t>
            </a:r>
            <a:r>
              <a:rPr lang="tr-TR" sz="1800" dirty="0"/>
              <a:t>, müşterilere, tedarikçilere video, veri, ses bağlantısı sağlayan iletişim hizmetleri, </a:t>
            </a:r>
            <a:endParaRPr lang="tr-TR" sz="1800" dirty="0" smtClean="0"/>
          </a:p>
          <a:p>
            <a:r>
              <a:rPr lang="tr-TR" sz="1800" dirty="0" smtClean="0"/>
              <a:t>Kurumsal </a:t>
            </a:r>
            <a:r>
              <a:rPr lang="tr-TR" sz="1800" dirty="0"/>
              <a:t>verileri saklayan ve yöneten, veri analizine imkan sağlayan, veri yönetim hizmetleri. </a:t>
            </a:r>
            <a:endParaRPr lang="tr-TR" sz="1800" dirty="0" smtClean="0"/>
          </a:p>
          <a:p>
            <a:r>
              <a:rPr lang="tr-TR" sz="1800" dirty="0" smtClean="0"/>
              <a:t>Kurumsal </a:t>
            </a:r>
            <a:r>
              <a:rPr lang="tr-TR" sz="1800" dirty="0"/>
              <a:t>kaynak planlama, müşteri ilişkileri yönetim sistemi, tedarik zinciri yönetim sistemi, bilgi yönetim sistemi gibi işletme becerileri sağlayan kurumsal uygulama yazılım hizmetleri. </a:t>
            </a:r>
            <a:endParaRPr lang="tr-TR" sz="1800" dirty="0" smtClean="0"/>
          </a:p>
          <a:p>
            <a:r>
              <a:rPr lang="tr-TR" sz="1800" dirty="0" smtClean="0"/>
              <a:t>Bilgi </a:t>
            </a:r>
            <a:r>
              <a:rPr lang="tr-TR" sz="1800" dirty="0"/>
              <a:t>işleme, veri yönetimi ve telekomünikasyon için zorunlu fiziksel kurumların geliştirilmesi ve yönetilmesini sağlayan fiziksel tesislerin yönetim hizmetleri. </a:t>
            </a:r>
            <a:endParaRPr lang="tr-TR" sz="1800" dirty="0" smtClean="0"/>
          </a:p>
          <a:p>
            <a:r>
              <a:rPr lang="tr-TR" sz="1800" dirty="0" smtClean="0"/>
              <a:t>Alt </a:t>
            </a:r>
            <a:r>
              <a:rPr lang="tr-TR" sz="1800" dirty="0"/>
              <a:t>yapıların planlanması ve geliştirilmesi, ET hizmetlerinin iş birimleriyle koordinasyonu, ET giderlerinin hesaplamalarının yönetilmesi ve proje yönetim hizmetlerini sağlayan ET yönetim hizmetleri. </a:t>
            </a:r>
            <a:endParaRPr lang="tr-TR" sz="1800" dirty="0" smtClean="0"/>
          </a:p>
          <a:p>
            <a:r>
              <a:rPr lang="tr-TR" sz="1800" dirty="0" smtClean="0"/>
              <a:t>Hangi </a:t>
            </a:r>
            <a:r>
              <a:rPr lang="tr-TR" sz="1800" dirty="0" err="1"/>
              <a:t>ET’nin</a:t>
            </a:r>
            <a:r>
              <a:rPr lang="tr-TR" sz="1800" dirty="0"/>
              <a:t> ne zaman ve nasıl kullanılacağını belirleyen işletme standartları ve politikalarını sağlayan ET standartları hizmetleri. </a:t>
            </a:r>
            <a:endParaRPr lang="tr-TR" sz="1800" dirty="0" smtClean="0"/>
          </a:p>
          <a:p>
            <a:r>
              <a:rPr lang="tr-TR" sz="1800" dirty="0" smtClean="0"/>
              <a:t>Bilgi </a:t>
            </a:r>
            <a:r>
              <a:rPr lang="tr-TR" sz="1800" dirty="0"/>
              <a:t>teknolojileri yatırımlarının planlanması ve yönetilmesinde sistemi kullanacak olan çalışan ve yöneticilerin eğitilmesini sağlayan ET eğitim hizmetleri. </a:t>
            </a:r>
            <a:endParaRPr lang="tr-TR" sz="1800" dirty="0" smtClean="0"/>
          </a:p>
          <a:p>
            <a:r>
              <a:rPr lang="tr-TR" sz="1800" dirty="0" smtClean="0"/>
              <a:t>Gelecekte </a:t>
            </a:r>
            <a:r>
              <a:rPr lang="tr-TR" sz="1800" dirty="0"/>
              <a:t>pazarda fark meydana getirecek potansiyel ET projelerinin ve yatırımlarının araştırılmasını sağlayan ET ARGE hizmetleri.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97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ET </a:t>
            </a:r>
            <a:r>
              <a:rPr lang="tr-TR" dirty="0"/>
              <a:t>Altyapısının Gelişimi 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4" name="İçerik Yer Tutucusu 2"/>
          <p:cNvSpPr txBox="1">
            <a:spLocks/>
          </p:cNvSpPr>
          <p:nvPr/>
        </p:nvSpPr>
        <p:spPr>
          <a:xfrm>
            <a:off x="107504" y="1426766"/>
            <a:ext cx="8784976" cy="473853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Günümüzde </a:t>
            </a:r>
            <a:r>
              <a:rPr lang="tr-TR" dirty="0"/>
              <a:t>işletmelerde kullanılan ET altyapısı, bilgi işlem platformlarındaki 50 yıllık gelişimin bir </a:t>
            </a:r>
            <a:r>
              <a:rPr lang="tr-TR" dirty="0" smtClean="0"/>
              <a:t>sonucudur.</a:t>
            </a:r>
          </a:p>
          <a:p>
            <a:r>
              <a:rPr lang="tr-TR" dirty="0" smtClean="0"/>
              <a:t>Bu </a:t>
            </a:r>
            <a:r>
              <a:rPr lang="tr-TR" dirty="0"/>
              <a:t>gelişmede, her biri farklı hesaplama ve işleme gücüne, özellik ve altyapı elemanlarına sahip olan beş aşama bulunmaktadır. </a:t>
            </a:r>
            <a:endParaRPr lang="tr-TR" dirty="0" smtClean="0"/>
          </a:p>
          <a:p>
            <a:r>
              <a:rPr lang="tr-TR" dirty="0" smtClean="0"/>
              <a:t>Bir </a:t>
            </a:r>
            <a:r>
              <a:rPr lang="tr-TR" dirty="0"/>
              <a:t>dönemi karakterize eden bir teknoloji bir başka dönemde farklı maksatlarla kullanılabilmektedir. </a:t>
            </a:r>
            <a:endParaRPr lang="tr-TR" dirty="0" smtClean="0"/>
          </a:p>
          <a:p>
            <a:r>
              <a:rPr lang="tr-TR" dirty="0" err="1" smtClean="0"/>
              <a:t>Örn</a:t>
            </a:r>
            <a:r>
              <a:rPr lang="tr-TR" dirty="0"/>
              <a:t>: Ana bilgisayarlar bazı işletmeler tarafından hala kullanılmaktadır.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969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>
            <a:normAutofit/>
          </a:bodyPr>
          <a:lstStyle/>
          <a:p>
            <a:r>
              <a:rPr lang="tr-TR" dirty="0" smtClean="0"/>
              <a:t>ET </a:t>
            </a:r>
            <a:r>
              <a:rPr lang="tr-TR" dirty="0"/>
              <a:t>Altyapısının Gelişim Dönemleri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210" y="836712"/>
            <a:ext cx="5730094" cy="603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96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Ana </a:t>
            </a:r>
            <a:r>
              <a:rPr lang="tr-TR" dirty="0"/>
              <a:t>bilgisayar ve Mini bilgisayar dönemi (1959-Devam ediyor)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4873752"/>
          </a:xfrm>
        </p:spPr>
        <p:txBody>
          <a:bodyPr>
            <a:normAutofit fontScale="85000" lnSpcReduction="10000"/>
          </a:bodyPr>
          <a:lstStyle/>
          <a:p>
            <a:r>
              <a:rPr lang="tr-TR" dirty="0" smtClean="0"/>
              <a:t>1959 </a:t>
            </a:r>
            <a:r>
              <a:rPr lang="tr-TR" dirty="0"/>
              <a:t>yılında IBM 1401 ve 7090 transistörlü makineleri ana bilgisayarların ticari amaçlı kullanımının başlangıcıdır. </a:t>
            </a:r>
            <a:endParaRPr lang="tr-TR" dirty="0" smtClean="0"/>
          </a:p>
          <a:p>
            <a:r>
              <a:rPr lang="tr-TR" dirty="0" smtClean="0"/>
              <a:t>1965’te </a:t>
            </a:r>
            <a:r>
              <a:rPr lang="tr-TR" dirty="0"/>
              <a:t>pazara sunulan IBM 360 zaman paylaşımına, çoklu görev yapabilme yeteneğine ve sanal hafızaya sahip güçlü işletim sistemli ilk ticari bilgisayardır. </a:t>
            </a:r>
            <a:endParaRPr lang="tr-TR" dirty="0" smtClean="0"/>
          </a:p>
          <a:p>
            <a:r>
              <a:rPr lang="tr-TR" dirty="0" smtClean="0"/>
              <a:t>Ana </a:t>
            </a:r>
            <a:r>
              <a:rPr lang="tr-TR" dirty="0"/>
              <a:t>bilgisayar dönemi tekil satıcı, donanım ve yazılım üreticileri tarafından birçok altyapı elemanı desteği ile profesyonel programcılar ve sistem operatörlerinin kontrolü altında yüksek merkezileşmiş işlemler periyodu olmuştur. </a:t>
            </a:r>
            <a:endParaRPr lang="tr-TR" dirty="0" smtClean="0"/>
          </a:p>
          <a:p>
            <a:r>
              <a:rPr lang="tr-TR" dirty="0" smtClean="0"/>
              <a:t>Ana </a:t>
            </a:r>
            <a:r>
              <a:rPr lang="tr-TR" dirty="0"/>
              <a:t>bilgisayar sistemleri, özel iletişim hatları ve özel iletişim protokolleri kullanarak ana bilgisayara bağlanan binlerce terminalleri desteklemekteydi. </a:t>
            </a:r>
            <a:endParaRPr lang="tr-TR" dirty="0" smtClean="0"/>
          </a:p>
          <a:p>
            <a:r>
              <a:rPr lang="tr-TR" dirty="0" smtClean="0"/>
              <a:t>İlk </a:t>
            </a:r>
            <a:r>
              <a:rPr lang="tr-TR" dirty="0"/>
              <a:t>olarak 1959 yılında, havayolları rezervasyon sistemi için kullanıldı. </a:t>
            </a:r>
            <a:endParaRPr lang="tr-TR" dirty="0" smtClean="0"/>
          </a:p>
          <a:p>
            <a:r>
              <a:rPr lang="tr-TR" dirty="0" smtClean="0"/>
              <a:t>Bu </a:t>
            </a:r>
            <a:r>
              <a:rPr lang="tr-TR" dirty="0"/>
              <a:t>sistem ulusal çapta , gerçek zamanlı, etkileşimli işlem yapan binlerce makinenin bağlanmasından oluşmaktaydı.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5583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İstemci </a:t>
            </a:r>
            <a:r>
              <a:rPr lang="tr-TR" dirty="0"/>
              <a:t>/Sunucu Dönemi (1983-halen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4873752"/>
          </a:xfrm>
        </p:spPr>
        <p:txBody>
          <a:bodyPr>
            <a:normAutofit fontScale="85000" lnSpcReduction="20000"/>
          </a:bodyPr>
          <a:lstStyle/>
          <a:p>
            <a:r>
              <a:rPr lang="tr-TR" dirty="0"/>
              <a:t>İstemci/sunucu bilgi-işlemde, masaüstü veya dizüstü bilgisayar olarak ifade edilen istemciler, çeşitli hizmet ve kabiliyetler sağlayan güçlü sunucu bilgisayarlara bağlanmaktadır. </a:t>
            </a:r>
            <a:endParaRPr lang="tr-TR" dirty="0" smtClean="0"/>
          </a:p>
          <a:p>
            <a:r>
              <a:rPr lang="tr-TR" dirty="0" smtClean="0"/>
              <a:t>Bilgisayar </a:t>
            </a:r>
            <a:r>
              <a:rPr lang="tr-TR" dirty="0"/>
              <a:t>işleme süreci bu iki makine arasında bölüşülmektedir. </a:t>
            </a:r>
            <a:endParaRPr lang="tr-TR" dirty="0" smtClean="0"/>
          </a:p>
          <a:p>
            <a:r>
              <a:rPr lang="tr-TR" dirty="0" smtClean="0"/>
              <a:t>Sunucu </a:t>
            </a:r>
            <a:r>
              <a:rPr lang="tr-TR" dirty="0"/>
              <a:t>kelimesi ağ yazılımlarının çalıştığı, yazılım uygulamalarının ve fiziksel bilgisayarların bulunduğu yeri belirtir. </a:t>
            </a:r>
            <a:endParaRPr lang="tr-TR" dirty="0" smtClean="0"/>
          </a:p>
          <a:p>
            <a:r>
              <a:rPr lang="tr-TR" dirty="0" smtClean="0"/>
              <a:t>Sunucular</a:t>
            </a:r>
            <a:r>
              <a:rPr lang="tr-TR" dirty="0"/>
              <a:t>, paylaşılan verileri işleyen ve depolayan, web sayfalarına hizmet eden veya ağ faaliyetlerini yöneten bilgisayarlardır. </a:t>
            </a:r>
            <a:endParaRPr lang="tr-TR" dirty="0" smtClean="0"/>
          </a:p>
          <a:p>
            <a:r>
              <a:rPr lang="tr-TR" dirty="0" smtClean="0"/>
              <a:t>En </a:t>
            </a:r>
            <a:r>
              <a:rPr lang="tr-TR" dirty="0"/>
              <a:t>basit istemci/sunucu ağı iki bilgisayar arasında işlem paylaşılan, bir sunucu bilgisayarına bağlanan bir istemci bilgisayarından oluşmaktadır. </a:t>
            </a:r>
            <a:endParaRPr lang="tr-TR" dirty="0" smtClean="0"/>
          </a:p>
          <a:p>
            <a:r>
              <a:rPr lang="tr-TR" dirty="0" smtClean="0"/>
              <a:t>Buna </a:t>
            </a:r>
            <a:r>
              <a:rPr lang="tr-TR" dirty="0"/>
              <a:t>iki katmanlı istemci/sunucu mimarisi denilmektedir. </a:t>
            </a:r>
            <a:endParaRPr lang="tr-TR" dirty="0" smtClean="0"/>
          </a:p>
          <a:p>
            <a:r>
              <a:rPr lang="tr-TR" dirty="0" smtClean="0"/>
              <a:t>İşletmelerde </a:t>
            </a:r>
            <a:r>
              <a:rPr lang="tr-TR" dirty="0"/>
              <a:t>istemciler farklı uygulamalar için farklı seviyedeki sunuculardan talepte bulunduğundan çok katmanlı yapılar kullanılır.</a:t>
            </a:r>
            <a:endParaRPr lang="en-US" dirty="0">
              <a:ea typeface="ＭＳ Ｐゴシック" pitchFamily="34" charset="-128"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3660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99176" cy="1143000"/>
          </a:xfrm>
        </p:spPr>
        <p:txBody>
          <a:bodyPr>
            <a:normAutofit/>
          </a:bodyPr>
          <a:lstStyle/>
          <a:p>
            <a:r>
              <a:rPr lang="tr-TR" dirty="0" smtClean="0"/>
              <a:t>Kurumsal </a:t>
            </a:r>
            <a:r>
              <a:rPr lang="tr-TR" dirty="0"/>
              <a:t>bilgi işlem dönemi (1992-halen)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611560" y="1556792"/>
            <a:ext cx="7787208" cy="4968552"/>
          </a:xfrm>
        </p:spPr>
        <p:txBody>
          <a:bodyPr>
            <a:normAutofit/>
          </a:bodyPr>
          <a:lstStyle/>
          <a:p>
            <a:r>
              <a:rPr lang="tr-TR" sz="2000" dirty="0" smtClean="0"/>
              <a:t>1990’ların </a:t>
            </a:r>
            <a:r>
              <a:rPr lang="tr-TR" sz="2000" dirty="0"/>
              <a:t>başında işletmeler, işletme genelini kapsayan, altyapısı birbirinden farklı ağları birbirine bağlayan ağ standartları ve yazılım araçlarını kullanmaya başladılar. </a:t>
            </a:r>
            <a:endParaRPr lang="tr-TR" sz="2000" dirty="0" smtClean="0"/>
          </a:p>
          <a:p>
            <a:r>
              <a:rPr lang="tr-TR" sz="2000" dirty="0" smtClean="0"/>
              <a:t>1995’te </a:t>
            </a:r>
            <a:r>
              <a:rPr lang="tr-TR" sz="2000" dirty="0"/>
              <a:t>internetin güvenilir iletişim ortamı olarak gelişmesiyle işletmeler iletim denetimi protokolü/internet protokolü (TCP/IP) ağ standardını birbirinden bağımsız ağlarını bağlamak için kullanmaya başladılar. </a:t>
            </a:r>
            <a:endParaRPr lang="tr-TR" sz="2000" dirty="0" smtClean="0"/>
          </a:p>
          <a:p>
            <a:r>
              <a:rPr lang="tr-TR" sz="2000" dirty="0" smtClean="0"/>
              <a:t>Bu </a:t>
            </a:r>
            <a:r>
              <a:rPr lang="tr-TR" sz="2000" dirty="0"/>
              <a:t>dönemde ET altyapısı ile işletme genelindeki ağ içerisinde farklı bilgisayarlar birbirine bağlanarak, aralarında veri ve enformasyon akışları rahatlıkla yapılabilir hale gelmiştir. </a:t>
            </a:r>
            <a:endParaRPr lang="tr-TR" sz="2000" dirty="0" smtClean="0"/>
          </a:p>
          <a:p>
            <a:r>
              <a:rPr lang="tr-TR" sz="2000" dirty="0" smtClean="0"/>
              <a:t>Ana </a:t>
            </a:r>
            <a:r>
              <a:rPr lang="tr-TR" sz="2000" dirty="0"/>
              <a:t>bilgisayar, sunucu, PC, mobil telefonlar ve diğer taşınabilir cihazlar dahil farklı bilgisayar donanımlarını birbirine bağlayabilmekte ve telefon sistemi, internet ve yerel ağ hizmetleri gibi yerel altyapıyı içine almaktadırlar.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47662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Bulut </a:t>
            </a:r>
            <a:r>
              <a:rPr lang="tr-TR" dirty="0"/>
              <a:t>ve mobil bilgi işlem dönemi (2000 ve Sonrası)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 smtClean="0"/>
              <a:t>Bulut </a:t>
            </a:r>
            <a:r>
              <a:rPr lang="tr-TR" dirty="0"/>
              <a:t>bilgi işlem, bilgi işlem kaynakları (bilgisayar, depolama cihazları, uygulamalar ve hizmetler) havuzuna ağ üzerinden ulaşılmasını sağlayan bir bilgi işlem modelini ifade etmektedir. </a:t>
            </a:r>
            <a:endParaRPr lang="tr-TR" dirty="0" smtClean="0"/>
          </a:p>
          <a:p>
            <a:r>
              <a:rPr lang="tr-TR" dirty="0" smtClean="0"/>
              <a:t>Buluta </a:t>
            </a:r>
            <a:r>
              <a:rPr lang="tr-TR" dirty="0"/>
              <a:t>herhangi bir cihazla ulaşılabilir. </a:t>
            </a:r>
            <a:endParaRPr lang="tr-TR" dirty="0" smtClean="0"/>
          </a:p>
          <a:p>
            <a:r>
              <a:rPr lang="tr-TR" dirty="0" smtClean="0"/>
              <a:t>Şu </a:t>
            </a:r>
            <a:r>
              <a:rPr lang="tr-TR" dirty="0"/>
              <a:t>an Dünya’da bilgi işlemin en hızlı gelişen şeklidir. </a:t>
            </a:r>
            <a:endParaRPr lang="tr-TR" dirty="0" smtClean="0"/>
          </a:p>
          <a:p>
            <a:r>
              <a:rPr lang="tr-TR" dirty="0" smtClean="0"/>
              <a:t>Binlerce </a:t>
            </a:r>
            <a:r>
              <a:rPr lang="tr-TR" dirty="0"/>
              <a:t>bilgisayar (masaüstü- dizüstü bilgisayar, </a:t>
            </a:r>
            <a:r>
              <a:rPr lang="tr-TR" dirty="0" err="1"/>
              <a:t>netbooklar</a:t>
            </a:r>
            <a:r>
              <a:rPr lang="tr-TR" dirty="0"/>
              <a:t>, mobil cihazlar ve internete bağlantısı olan diğer istemci makinelerle bağlanarak) bulut veri merkezlerinde gerek kişisel ve gerekse kurumsal bilgi işlem amaçlı mobil platforma taşınarak yer almaktadır</a:t>
            </a:r>
            <a:r>
              <a:rPr lang="tr-TR" dirty="0" smtClean="0"/>
              <a:t>.</a:t>
            </a:r>
          </a:p>
          <a:p>
            <a:r>
              <a:rPr lang="tr-TR" dirty="0"/>
              <a:t>IBM, HP, </a:t>
            </a:r>
            <a:r>
              <a:rPr lang="tr-TR" dirty="0" err="1"/>
              <a:t>Dell</a:t>
            </a:r>
            <a:r>
              <a:rPr lang="tr-TR" dirty="0"/>
              <a:t>, Amazon güçlü işleme, veri depolama ve yüksek hızlı internet bağlantısıyla sürdürdükleri ET altyapılarının olduğu büyük bulut sistemleri yönetmektedirler. </a:t>
            </a:r>
            <a:endParaRPr lang="tr-TR" dirty="0" smtClean="0"/>
          </a:p>
          <a:p>
            <a:r>
              <a:rPr lang="tr-TR" dirty="0" smtClean="0"/>
              <a:t>Google</a:t>
            </a:r>
            <a:r>
              <a:rPr lang="tr-TR" dirty="0"/>
              <a:t>, Microsoft, SAP, </a:t>
            </a:r>
            <a:r>
              <a:rPr lang="tr-TR" dirty="0" err="1"/>
              <a:t>Oracle</a:t>
            </a:r>
            <a:r>
              <a:rPr lang="tr-TR" dirty="0"/>
              <a:t> ve Salesforce.com gibi yazılım işletmeleri internet üzerinden yazılım uygulamaları satışı hizmeti vermektedir.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326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Altyapı </a:t>
            </a:r>
            <a:r>
              <a:rPr lang="tr-TR" dirty="0"/>
              <a:t>Gelişiminde Teknoloji Desteği Sağlayanlar</a:t>
            </a:r>
            <a:endParaRPr lang="tr-TR" dirty="0"/>
          </a:p>
        </p:txBody>
      </p:sp>
      <p:sp>
        <p:nvSpPr>
          <p:cNvPr id="4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>
            <a:normAutofit/>
          </a:bodyPr>
          <a:lstStyle/>
          <a:p>
            <a:r>
              <a:rPr lang="tr-TR" dirty="0"/>
              <a:t>1. </a:t>
            </a:r>
            <a:r>
              <a:rPr lang="tr-TR" dirty="0" err="1"/>
              <a:t>Moore</a:t>
            </a:r>
            <a:r>
              <a:rPr lang="tr-TR" dirty="0"/>
              <a:t> Kuralı ve İşlemci Gücü </a:t>
            </a:r>
            <a:endParaRPr lang="tr-TR" dirty="0" smtClean="0"/>
          </a:p>
          <a:p>
            <a:r>
              <a:rPr lang="tr-TR" dirty="0" smtClean="0"/>
              <a:t>2</a:t>
            </a:r>
            <a:r>
              <a:rPr lang="tr-TR" dirty="0"/>
              <a:t>. Yığın Depolama Yasası </a:t>
            </a:r>
            <a:endParaRPr lang="tr-TR" dirty="0" smtClean="0"/>
          </a:p>
          <a:p>
            <a:r>
              <a:rPr lang="tr-TR" dirty="0" smtClean="0"/>
              <a:t>3</a:t>
            </a:r>
            <a:r>
              <a:rPr lang="tr-TR" dirty="0"/>
              <a:t>. </a:t>
            </a:r>
            <a:r>
              <a:rPr lang="tr-TR" dirty="0" err="1"/>
              <a:t>Metcalfe'nin</a:t>
            </a:r>
            <a:r>
              <a:rPr lang="tr-TR" dirty="0"/>
              <a:t> Kuralı ve Ağ Ekonomisi </a:t>
            </a:r>
            <a:endParaRPr lang="tr-TR" dirty="0" smtClean="0"/>
          </a:p>
          <a:p>
            <a:r>
              <a:rPr lang="tr-TR" dirty="0" smtClean="0"/>
              <a:t>4</a:t>
            </a:r>
            <a:r>
              <a:rPr lang="tr-TR" dirty="0"/>
              <a:t>. Azalan İletişim Maliyeti ve Internet </a:t>
            </a:r>
            <a:endParaRPr lang="tr-TR" dirty="0" smtClean="0"/>
          </a:p>
          <a:p>
            <a:r>
              <a:rPr lang="tr-TR" dirty="0" smtClean="0"/>
              <a:t>5</a:t>
            </a:r>
            <a:r>
              <a:rPr lang="tr-TR" dirty="0"/>
              <a:t>. Standartlar ve Ağ Etkileri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2723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</a:t>
            </a:r>
            <a:r>
              <a:rPr lang="tr-TR" dirty="0"/>
              <a:t>. </a:t>
            </a:r>
            <a:r>
              <a:rPr lang="tr-TR" dirty="0" err="1"/>
              <a:t>Moore</a:t>
            </a:r>
            <a:r>
              <a:rPr lang="tr-TR" dirty="0"/>
              <a:t> Kuralı ve İşlemci Gücü</a:t>
            </a:r>
            <a:endParaRPr lang="tr-TR" dirty="0"/>
          </a:p>
        </p:txBody>
      </p:sp>
      <p:sp>
        <p:nvSpPr>
          <p:cNvPr id="4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>
            <a:normAutofit/>
          </a:bodyPr>
          <a:lstStyle/>
          <a:p>
            <a:r>
              <a:rPr lang="tr-TR" dirty="0"/>
              <a:t>Gordon </a:t>
            </a:r>
            <a:r>
              <a:rPr lang="tr-TR" dirty="0" err="1"/>
              <a:t>Moore</a:t>
            </a:r>
            <a:r>
              <a:rPr lang="tr-TR" dirty="0"/>
              <a:t>, </a:t>
            </a:r>
            <a:r>
              <a:rPr lang="tr-TR" dirty="0" err="1"/>
              <a:t>Elektronics</a:t>
            </a:r>
            <a:r>
              <a:rPr lang="tr-TR" dirty="0"/>
              <a:t> dergisinde ilk mikroişlemci çiplerinin sunulduğu 1959 yılından beri her bileşen için en küçük üretim maliyetleriyle çiplerin bileşen sayısının her sene iki ile çarpılmakta olduğunu yazmıştır. </a:t>
            </a:r>
            <a:endParaRPr lang="tr-TR" dirty="0" smtClean="0"/>
          </a:p>
          <a:p>
            <a:r>
              <a:rPr lang="tr-TR" dirty="0" smtClean="0"/>
              <a:t>Bu </a:t>
            </a:r>
            <a:r>
              <a:rPr lang="tr-TR" dirty="0"/>
              <a:t>iddia </a:t>
            </a:r>
            <a:r>
              <a:rPr lang="tr-TR" dirty="0" err="1"/>
              <a:t>Moore</a:t>
            </a:r>
            <a:r>
              <a:rPr lang="tr-TR" dirty="0"/>
              <a:t> kanunu haline gelmiştir. </a:t>
            </a:r>
            <a:r>
              <a:rPr lang="tr-TR" dirty="0" err="1"/>
              <a:t>Moore</a:t>
            </a:r>
            <a:r>
              <a:rPr lang="tr-TR" dirty="0"/>
              <a:t> daha sonra büyüme oranını düşürerek her iki ayda bir iki ile çarpıldığını söylemiştir. </a:t>
            </a:r>
            <a:endParaRPr lang="tr-TR" dirty="0" smtClean="0"/>
          </a:p>
          <a:p>
            <a:r>
              <a:rPr lang="tr-TR" dirty="0" err="1" smtClean="0"/>
              <a:t>Moore</a:t>
            </a:r>
            <a:r>
              <a:rPr lang="tr-TR" dirty="0" smtClean="0"/>
              <a:t> </a:t>
            </a:r>
            <a:r>
              <a:rPr lang="tr-TR" dirty="0"/>
              <a:t>kanunu farklı versiyonları şu şekildedir</a:t>
            </a:r>
            <a:r>
              <a:rPr lang="tr-TR" dirty="0" smtClean="0"/>
              <a:t>:</a:t>
            </a:r>
          </a:p>
          <a:p>
            <a:pPr lvl="1"/>
            <a:r>
              <a:rPr lang="tr-TR" dirty="0" smtClean="0"/>
              <a:t>Mikroişlemcilerin </a:t>
            </a:r>
            <a:r>
              <a:rPr lang="tr-TR" dirty="0"/>
              <a:t>gücü her 18 ayda iki katına çıkar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İşleme </a:t>
            </a:r>
            <a:r>
              <a:rPr lang="tr-TR" dirty="0"/>
              <a:t>gücü her 18 ayda iki katına çıkar. </a:t>
            </a:r>
            <a:endParaRPr lang="tr-TR" dirty="0" smtClean="0"/>
          </a:p>
          <a:p>
            <a:pPr lvl="1"/>
            <a:r>
              <a:rPr lang="tr-TR" dirty="0" smtClean="0"/>
              <a:t>İşleme </a:t>
            </a:r>
            <a:r>
              <a:rPr lang="tr-TR" dirty="0"/>
              <a:t>ücretleri her 18 ayda yarıya düşer.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836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2</a:t>
            </a:r>
            <a:r>
              <a:rPr lang="tr-TR" dirty="0"/>
              <a:t>. Yığın Depolama Yasası</a:t>
            </a:r>
            <a:endParaRPr lang="tr-TR" dirty="0"/>
          </a:p>
        </p:txBody>
      </p:sp>
      <p:sp>
        <p:nvSpPr>
          <p:cNvPr id="5" name="İçerik Yer Tutucusu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507288" cy="5257800"/>
          </a:xfrm>
        </p:spPr>
        <p:txBody>
          <a:bodyPr>
            <a:noAutofit/>
          </a:bodyPr>
          <a:lstStyle/>
          <a:p>
            <a:r>
              <a:rPr lang="tr-TR" dirty="0" smtClean="0"/>
              <a:t>Dünyada </a:t>
            </a:r>
            <a:r>
              <a:rPr lang="tr-TR" dirty="0"/>
              <a:t>yılda 5 </a:t>
            </a:r>
            <a:r>
              <a:rPr lang="tr-TR" dirty="0" err="1"/>
              <a:t>exabit</a:t>
            </a:r>
            <a:r>
              <a:rPr lang="tr-TR" dirty="0"/>
              <a:t> veri üretilmektedir. (1 </a:t>
            </a:r>
            <a:r>
              <a:rPr lang="tr-TR" dirty="0" err="1"/>
              <a:t>exabit</a:t>
            </a:r>
            <a:r>
              <a:rPr lang="tr-TR" dirty="0"/>
              <a:t>: 1 milyar </a:t>
            </a:r>
            <a:r>
              <a:rPr lang="tr-TR" dirty="0" err="1"/>
              <a:t>giga</a:t>
            </a:r>
            <a:r>
              <a:rPr lang="tr-TR" dirty="0"/>
              <a:t> bite) </a:t>
            </a:r>
            <a:endParaRPr lang="tr-TR" dirty="0" smtClean="0"/>
          </a:p>
          <a:p>
            <a:r>
              <a:rPr lang="tr-TR" dirty="0" smtClean="0"/>
              <a:t>Depolama </a:t>
            </a:r>
            <a:r>
              <a:rPr lang="tr-TR" dirty="0"/>
              <a:t>cihaz kapasiteleri hızla artmaktadır. </a:t>
            </a:r>
            <a:endParaRPr lang="tr-TR" dirty="0" smtClean="0"/>
          </a:p>
          <a:p>
            <a:r>
              <a:rPr lang="tr-TR" dirty="0" smtClean="0"/>
              <a:t>Enformasyon </a:t>
            </a:r>
            <a:r>
              <a:rPr lang="tr-TR" dirty="0"/>
              <a:t>depolama maliyetleri </a:t>
            </a:r>
            <a:r>
              <a:rPr lang="tr-TR" dirty="0" err="1"/>
              <a:t>üstsel</a:t>
            </a:r>
            <a:r>
              <a:rPr lang="tr-TR" dirty="0"/>
              <a:t> olarak azalmaktadır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4660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3</a:t>
            </a:r>
            <a:r>
              <a:rPr lang="tr-TR" dirty="0"/>
              <a:t>. </a:t>
            </a:r>
            <a:r>
              <a:rPr lang="tr-TR" dirty="0" err="1"/>
              <a:t>Metcalfe'nin</a:t>
            </a:r>
            <a:r>
              <a:rPr lang="tr-TR" dirty="0"/>
              <a:t> Kuralı ve Ağ Ekonomisi 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5" name="İçerik Yer Tutucusu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3232" cy="5257800"/>
          </a:xfrm>
        </p:spPr>
        <p:txBody>
          <a:bodyPr>
            <a:noAutofit/>
          </a:bodyPr>
          <a:lstStyle/>
          <a:p>
            <a:r>
              <a:rPr lang="tr-TR" dirty="0" smtClean="0"/>
              <a:t>Robert </a:t>
            </a:r>
            <a:r>
              <a:rPr lang="tr-TR" dirty="0" err="1"/>
              <a:t>Metcalfe</a:t>
            </a:r>
            <a:r>
              <a:rPr lang="tr-TR" dirty="0"/>
              <a:t>, </a:t>
            </a:r>
            <a:r>
              <a:rPr lang="tr-TR" dirty="0" err="1"/>
              <a:t>ethernet</a:t>
            </a:r>
            <a:r>
              <a:rPr lang="tr-TR" dirty="0"/>
              <a:t> yerel ağ teknolojisini ortaya çıkaran kişi, 1970’de ağın değeri ve gücünün ağ üyelerinin sayısının </a:t>
            </a:r>
            <a:r>
              <a:rPr lang="tr-TR" dirty="0" err="1"/>
              <a:t>üstsel</a:t>
            </a:r>
            <a:r>
              <a:rPr lang="tr-TR" dirty="0"/>
              <a:t> bir fonksiyonu olduğunu iddia etmiştir. </a:t>
            </a:r>
            <a:endParaRPr lang="tr-TR" dirty="0" smtClean="0"/>
          </a:p>
          <a:p>
            <a:r>
              <a:rPr lang="tr-TR" dirty="0" err="1" smtClean="0"/>
              <a:t>Metcalfe</a:t>
            </a:r>
            <a:r>
              <a:rPr lang="tr-TR" dirty="0" smtClean="0"/>
              <a:t> </a:t>
            </a:r>
            <a:r>
              <a:rPr lang="tr-TR" dirty="0"/>
              <a:t>ve diğerleri ölçek ekonomisine dikkat çekerek ağ üyelerinin ağa çok fazla kişiyi dahil ettiğini ifade etmişlerdir. </a:t>
            </a:r>
            <a:endParaRPr lang="tr-TR" dirty="0" smtClean="0"/>
          </a:p>
          <a:p>
            <a:r>
              <a:rPr lang="tr-TR" dirty="0" smtClean="0"/>
              <a:t>Ağdaki </a:t>
            </a:r>
            <a:r>
              <a:rPr lang="tr-TR" dirty="0"/>
              <a:t>üye sayısının büyümesiyle orantılı olarak tüm sistemin değeri üstel ve üye sayısı artışına bağlı olarak sürekli büyümektedir.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48140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4</a:t>
            </a:r>
            <a:r>
              <a:rPr lang="tr-TR" dirty="0"/>
              <a:t>. Azalan İletişim Maliyeti ve Internet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3340968"/>
          </a:xfrm>
        </p:spPr>
        <p:txBody>
          <a:bodyPr>
            <a:normAutofit/>
          </a:bodyPr>
          <a:lstStyle/>
          <a:p>
            <a:r>
              <a:rPr lang="tr-TR" dirty="0" smtClean="0"/>
              <a:t>ET </a:t>
            </a:r>
            <a:r>
              <a:rPr lang="tr-TR" dirty="0"/>
              <a:t>altyapısındaki dönüşüme 4.destek iletişim maliyetlerinde hızlı azalış ve internetin boyutunda katlanarak büyüme gelmektedir. </a:t>
            </a:r>
            <a:endParaRPr lang="tr-TR" dirty="0" smtClean="0"/>
          </a:p>
          <a:p>
            <a:r>
              <a:rPr lang="tr-TR" dirty="0" smtClean="0"/>
              <a:t>İletişim </a:t>
            </a:r>
            <a:r>
              <a:rPr lang="tr-TR" dirty="0"/>
              <a:t>maliyetlerinde üstel bir azalış söz konusudur. </a:t>
            </a:r>
            <a:endParaRPr lang="tr-TR" dirty="0" smtClean="0"/>
          </a:p>
          <a:p>
            <a:r>
              <a:rPr lang="tr-TR" dirty="0" smtClean="0"/>
              <a:t>İşletmeler </a:t>
            </a:r>
            <a:r>
              <a:rPr lang="tr-TR" dirty="0"/>
              <a:t>işletme değerlerini artırmak için internet bağlantılarını genişletmek zorundadırlar.</a:t>
            </a:r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451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5</a:t>
            </a:r>
            <a:r>
              <a:rPr lang="tr-TR" dirty="0"/>
              <a:t>. Standartlar ve Ağ İletişimi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Teknoloji standartları, ürünlerin uygunluğunu ve ağla iletişim sağlama becerilerini belirleyen özelliklerdir. </a:t>
            </a:r>
            <a:endParaRPr lang="tr-TR" dirty="0" smtClean="0"/>
          </a:p>
          <a:p>
            <a:r>
              <a:rPr lang="tr-TR" dirty="0" smtClean="0"/>
              <a:t>Teknoloji </a:t>
            </a:r>
            <a:r>
              <a:rPr lang="tr-TR" dirty="0"/>
              <a:t>standartları güçlü ölçek ekonomileri serbest bırakır ve üreticilerin bir standarda bağlı ürünlere odaklanarak fiyatların düşmesi ile sonuçlanır. </a:t>
            </a:r>
            <a:endParaRPr lang="tr-TR" dirty="0" smtClean="0"/>
          </a:p>
          <a:p>
            <a:r>
              <a:rPr lang="tr-TR" dirty="0" smtClean="0"/>
              <a:t>Bu </a:t>
            </a:r>
            <a:r>
              <a:rPr lang="tr-TR" dirty="0"/>
              <a:t>ölçek ekonomileri olmadan herhangi bir işlem şimdikinden çok daha pahalı olacaktı.</a:t>
            </a:r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267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ET Altyapı </a:t>
            </a:r>
            <a:r>
              <a:rPr lang="tr-TR" dirty="0"/>
              <a:t>Bileşenleri </a:t>
            </a:r>
            <a:endParaRPr lang="tr-TR" dirty="0"/>
          </a:p>
        </p:txBody>
      </p:sp>
      <p:sp>
        <p:nvSpPr>
          <p:cNvPr id="6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>
            <a:normAutofit/>
          </a:bodyPr>
          <a:lstStyle/>
          <a:p>
            <a:r>
              <a:rPr lang="tr-TR" dirty="0"/>
              <a:t>ET altyapısı 7 ana bileşenden oluşmaktadır. </a:t>
            </a:r>
            <a:endParaRPr lang="tr-TR" dirty="0" smtClean="0"/>
          </a:p>
          <a:p>
            <a:pPr lvl="1"/>
            <a:r>
              <a:rPr lang="tr-TR" sz="2400" dirty="0" smtClean="0"/>
              <a:t>1</a:t>
            </a:r>
            <a:r>
              <a:rPr lang="tr-TR" sz="2400" dirty="0"/>
              <a:t>. Bilgisayar Donanım Platformları </a:t>
            </a:r>
            <a:endParaRPr lang="tr-TR" sz="2400" dirty="0" smtClean="0"/>
          </a:p>
          <a:p>
            <a:pPr lvl="1"/>
            <a:r>
              <a:rPr lang="tr-TR" sz="2400" dirty="0" smtClean="0"/>
              <a:t>2</a:t>
            </a:r>
            <a:r>
              <a:rPr lang="tr-TR" sz="2400" dirty="0"/>
              <a:t>. İşletim Sistemi Platformları </a:t>
            </a:r>
            <a:endParaRPr lang="tr-TR" sz="2400" dirty="0" smtClean="0"/>
          </a:p>
          <a:p>
            <a:pPr lvl="1"/>
            <a:r>
              <a:rPr lang="tr-TR" sz="2400" dirty="0" smtClean="0"/>
              <a:t>3</a:t>
            </a:r>
            <a:r>
              <a:rPr lang="tr-TR" sz="2400" dirty="0"/>
              <a:t>. Kurumsal Yazılım Uygulamaları </a:t>
            </a:r>
            <a:endParaRPr lang="tr-TR" sz="2400" dirty="0" smtClean="0"/>
          </a:p>
          <a:p>
            <a:pPr lvl="1"/>
            <a:r>
              <a:rPr lang="tr-TR" sz="2400" dirty="0" smtClean="0"/>
              <a:t>4</a:t>
            </a:r>
            <a:r>
              <a:rPr lang="tr-TR" sz="2400" dirty="0"/>
              <a:t>. Veri Yönetimi ve Saklama </a:t>
            </a:r>
            <a:endParaRPr lang="tr-TR" sz="2400" dirty="0" smtClean="0"/>
          </a:p>
          <a:p>
            <a:pPr lvl="1"/>
            <a:r>
              <a:rPr lang="tr-TR" sz="2400" dirty="0" smtClean="0"/>
              <a:t>5</a:t>
            </a:r>
            <a:r>
              <a:rPr lang="tr-TR" sz="2400" dirty="0"/>
              <a:t>. Ağ/Telekomünikasyon Platformları </a:t>
            </a:r>
            <a:endParaRPr lang="tr-TR" sz="2400" dirty="0" smtClean="0"/>
          </a:p>
          <a:p>
            <a:pPr lvl="1"/>
            <a:r>
              <a:rPr lang="tr-TR" sz="2400" dirty="0" smtClean="0"/>
              <a:t>6</a:t>
            </a:r>
            <a:r>
              <a:rPr lang="tr-TR" sz="2400" dirty="0"/>
              <a:t>. Internet Platformları </a:t>
            </a:r>
            <a:endParaRPr lang="tr-TR" sz="2400" dirty="0" smtClean="0"/>
          </a:p>
          <a:p>
            <a:pPr lvl="1"/>
            <a:r>
              <a:rPr lang="tr-TR" sz="2400" dirty="0" smtClean="0"/>
              <a:t>7</a:t>
            </a:r>
            <a:r>
              <a:rPr lang="tr-TR" sz="2400" dirty="0"/>
              <a:t>. Sistem Entegrasyonu</a:t>
            </a:r>
            <a:endParaRPr lang="en-US" sz="24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052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</a:t>
            </a:r>
            <a:r>
              <a:rPr lang="tr-TR" dirty="0"/>
              <a:t>. Bilgisayar Donanım Platformları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435280" cy="3629000"/>
          </a:xfrm>
        </p:spPr>
        <p:txBody>
          <a:bodyPr>
            <a:normAutofit lnSpcReduction="10000"/>
          </a:bodyPr>
          <a:lstStyle/>
          <a:p>
            <a:r>
              <a:rPr lang="tr-TR" dirty="0" smtClean="0"/>
              <a:t>İstemci </a:t>
            </a:r>
            <a:r>
              <a:rPr lang="tr-TR" dirty="0"/>
              <a:t>ve sunucu makineleri kapsamaktadır. (masaüstü-dizüstü bilgisayarlar, mobil cihazlar vs.) </a:t>
            </a:r>
            <a:endParaRPr lang="tr-TR" dirty="0" smtClean="0"/>
          </a:p>
          <a:p>
            <a:r>
              <a:rPr lang="tr-TR" dirty="0" smtClean="0"/>
              <a:t>Kullanıcı </a:t>
            </a:r>
            <a:r>
              <a:rPr lang="tr-TR" dirty="0"/>
              <a:t>bilgisayarları (İstemci) genellikle AMD ya da İntel mikroişlemci kullanırlar. </a:t>
            </a:r>
            <a:endParaRPr lang="tr-TR" dirty="0" smtClean="0"/>
          </a:p>
          <a:p>
            <a:r>
              <a:rPr lang="tr-TR" dirty="0" smtClean="0"/>
              <a:t>Sunucularda </a:t>
            </a:r>
            <a:r>
              <a:rPr lang="tr-TR" dirty="0"/>
              <a:t>ise genellikle AMD ve Intel işlemciler ile Sun SPARC işlemci, IBM </a:t>
            </a:r>
            <a:r>
              <a:rPr lang="tr-TR" dirty="0" err="1"/>
              <a:t>PovverPC</a:t>
            </a:r>
            <a:r>
              <a:rPr lang="tr-TR" dirty="0"/>
              <a:t> mikroişlemcileri de kullanılmaktadır. </a:t>
            </a:r>
            <a:endParaRPr lang="tr-TR" dirty="0" smtClean="0"/>
          </a:p>
          <a:p>
            <a:r>
              <a:rPr lang="tr-TR" dirty="0" smtClean="0"/>
              <a:t>Donanım </a:t>
            </a:r>
            <a:r>
              <a:rPr lang="tr-TR" dirty="0"/>
              <a:t>pazarında IBM, HP, </a:t>
            </a:r>
            <a:r>
              <a:rPr lang="tr-TR" dirty="0" err="1"/>
              <a:t>Dell</a:t>
            </a:r>
            <a:r>
              <a:rPr lang="tr-TR" dirty="0"/>
              <a:t>, Sun </a:t>
            </a:r>
            <a:r>
              <a:rPr lang="tr-TR" dirty="0" err="1"/>
              <a:t>Microsystems</a:t>
            </a:r>
            <a:r>
              <a:rPr lang="tr-TR" dirty="0"/>
              <a:t> (</a:t>
            </a:r>
            <a:r>
              <a:rPr lang="tr-TR" dirty="0" err="1"/>
              <a:t>Oracle</a:t>
            </a:r>
            <a:r>
              <a:rPr lang="tr-TR" dirty="0"/>
              <a:t>) gibi üst seviyedeki işletmeler ile 3 çip üretici işletme İntel, AMD ve IBM bulunmaktadır.</a:t>
            </a:r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188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2</a:t>
            </a:r>
            <a:r>
              <a:rPr lang="tr-TR" dirty="0"/>
              <a:t>. İşletim Sistemi Platformları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2010 yılı verilerine göre işletim sistemi pazarının %75’i Microsoft, %25’i ise Unix ve Linux’un elindedir. </a:t>
            </a:r>
            <a:endParaRPr lang="tr-TR" dirty="0" smtClean="0"/>
          </a:p>
          <a:p>
            <a:r>
              <a:rPr lang="tr-TR" dirty="0" smtClean="0"/>
              <a:t>Unix </a:t>
            </a:r>
            <a:r>
              <a:rPr lang="tr-TR" dirty="0"/>
              <a:t>ve Linux, ölçeklenebilir, güvenilir ve ana bilgisayar iletişim sistemlerine oranla daha ucuzdur. </a:t>
            </a:r>
            <a:endParaRPr lang="tr-TR" dirty="0" smtClean="0"/>
          </a:p>
          <a:p>
            <a:r>
              <a:rPr lang="tr-TR" dirty="0" smtClean="0"/>
              <a:t>Günümüzde </a:t>
            </a:r>
            <a:r>
              <a:rPr lang="tr-TR" dirty="0"/>
              <a:t>özellikle mobil cihazların gelişmesiyle pazara Google’ın </a:t>
            </a:r>
            <a:r>
              <a:rPr lang="tr-TR" dirty="0" err="1"/>
              <a:t>Chrome</a:t>
            </a:r>
            <a:r>
              <a:rPr lang="tr-TR" dirty="0"/>
              <a:t> OS’i , </a:t>
            </a:r>
            <a:r>
              <a:rPr lang="tr-TR" dirty="0" err="1"/>
              <a:t>Android</a:t>
            </a:r>
            <a:r>
              <a:rPr lang="tr-TR" dirty="0"/>
              <a:t>, Apple İOS gibi işletim sistemleri de dahil olmuştur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08924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24689" y="18601"/>
            <a:ext cx="7467600" cy="1143000"/>
          </a:xfrm>
        </p:spPr>
        <p:txBody>
          <a:bodyPr/>
          <a:lstStyle/>
          <a:p>
            <a:r>
              <a:rPr lang="tr-TR" dirty="0" smtClean="0"/>
              <a:t>3</a:t>
            </a:r>
            <a:r>
              <a:rPr lang="tr-TR" dirty="0"/>
              <a:t>. Kurumsal Yazılım Uygulamaları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533400" y="1156138"/>
            <a:ext cx="7467600" cy="5081174"/>
          </a:xfrm>
        </p:spPr>
        <p:txBody>
          <a:bodyPr>
            <a:noAutofit/>
          </a:bodyPr>
          <a:lstStyle/>
          <a:p>
            <a:r>
              <a:rPr lang="tr-TR" sz="2000" dirty="0"/>
              <a:t>En büyük </a:t>
            </a:r>
            <a:r>
              <a:rPr lang="tr-TR" dirty="0"/>
              <a:t>kurumsal</a:t>
            </a:r>
            <a:r>
              <a:rPr lang="tr-TR" sz="2000" dirty="0"/>
              <a:t> yazılım sağlayıcısı SAP ve </a:t>
            </a:r>
            <a:r>
              <a:rPr lang="tr-TR" sz="2000" dirty="0" err="1"/>
              <a:t>Oracle'dır</a:t>
            </a:r>
            <a:r>
              <a:rPr lang="tr-TR" sz="2000" dirty="0"/>
              <a:t>. </a:t>
            </a:r>
            <a:endParaRPr lang="tr-TR" sz="2000" dirty="0" smtClean="0"/>
          </a:p>
          <a:p>
            <a:r>
              <a:rPr lang="tr-TR" sz="2000" dirty="0" smtClean="0"/>
              <a:t>Ancak </a:t>
            </a:r>
            <a:r>
              <a:rPr lang="tr-TR" sz="2000" dirty="0"/>
              <a:t>küçük ölçekli bazı yazılım firmaları da vardır. </a:t>
            </a:r>
            <a:endParaRPr lang="tr-TR" sz="2000" dirty="0" smtClean="0"/>
          </a:p>
          <a:p>
            <a:r>
              <a:rPr lang="tr-TR" sz="2000" dirty="0" smtClean="0"/>
              <a:t>Bu </a:t>
            </a:r>
            <a:r>
              <a:rPr lang="tr-TR" sz="2000" dirty="0"/>
              <a:t>kategori ayrıca BEA gibi satıcılar tarafından sağlanan, işletmenin mevcut sistemleri arasında bağlantı kurmakla işletme çapında bütünleşme sağlayan </a:t>
            </a:r>
            <a:r>
              <a:rPr lang="tr-TR" sz="2000" dirty="0" err="1"/>
              <a:t>Middleware</a:t>
            </a:r>
            <a:r>
              <a:rPr lang="tr-TR" sz="2000" dirty="0"/>
              <a:t> (ara yazılım) yazılımlarını da içermektedir. </a:t>
            </a:r>
            <a:endParaRPr lang="tr-TR" sz="2000" dirty="0" smtClean="0"/>
          </a:p>
          <a:p>
            <a:r>
              <a:rPr lang="tr-TR" sz="2000" dirty="0" smtClean="0"/>
              <a:t>Microsoft </a:t>
            </a:r>
            <a:r>
              <a:rPr lang="tr-TR" sz="2000" dirty="0"/>
              <a:t>küçük ve orta ölçekli işletmelere odaklanarak bu pazarın alt uçlarını kendisine hedef kitle olarak seçmiştir.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330046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4</a:t>
            </a:r>
            <a:r>
              <a:rPr lang="tr-TR" dirty="0"/>
              <a:t>. Veri Yönetimi ve Saklama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069160"/>
          </a:xfrm>
        </p:spPr>
        <p:txBody>
          <a:bodyPr>
            <a:noAutofit/>
          </a:bodyPr>
          <a:lstStyle/>
          <a:p>
            <a:r>
              <a:rPr lang="tr-TR" sz="2000" dirty="0" smtClean="0"/>
              <a:t>İşletmenin </a:t>
            </a:r>
            <a:r>
              <a:rPr lang="tr-TR" sz="2000" dirty="0"/>
              <a:t>verilerine etkin bir şekilde erişmek ve kullanmak amacıyla verilerini düzenlemek ve yönetmek kurumsal veri tabanı yönetim yazılımının sorumluluğundadır. </a:t>
            </a:r>
            <a:endParaRPr lang="tr-TR" sz="2000" dirty="0" smtClean="0"/>
          </a:p>
          <a:p>
            <a:r>
              <a:rPr lang="tr-TR" sz="2000" dirty="0" smtClean="0"/>
              <a:t>Veri </a:t>
            </a:r>
            <a:r>
              <a:rPr lang="tr-TR" sz="2000" dirty="0"/>
              <a:t>tabanı yazılımı sağlayıcılarının liderleri, piyasanın %90'ınından fazlasını elinde tutan IBM (DB2), </a:t>
            </a:r>
            <a:r>
              <a:rPr lang="tr-TR" sz="2000" dirty="0" err="1"/>
              <a:t>Oracle</a:t>
            </a:r>
            <a:r>
              <a:rPr lang="tr-TR" sz="2000" dirty="0"/>
              <a:t>, Microsoft (SQL Server) ve </a:t>
            </a:r>
            <a:r>
              <a:rPr lang="tr-TR" sz="2000" dirty="0" err="1"/>
              <a:t>Sybase</a:t>
            </a:r>
            <a:r>
              <a:rPr lang="tr-TR" sz="2000" dirty="0"/>
              <a:t> (</a:t>
            </a:r>
            <a:r>
              <a:rPr lang="tr-TR" sz="2000" dirty="0" err="1"/>
              <a:t>Adaptive</a:t>
            </a:r>
            <a:r>
              <a:rPr lang="tr-TR" sz="2000" dirty="0"/>
              <a:t> Server Enterprise) firmalarıdır</a:t>
            </a:r>
            <a:r>
              <a:rPr lang="tr-TR" sz="2000" dirty="0" smtClean="0"/>
              <a:t>.</a:t>
            </a:r>
          </a:p>
          <a:p>
            <a:r>
              <a:rPr lang="tr-TR" sz="2000" dirty="0" smtClean="0"/>
              <a:t>Yeni </a:t>
            </a:r>
            <a:r>
              <a:rPr lang="tr-TR" sz="2000" dirty="0"/>
              <a:t>piyasaya giren </a:t>
            </a:r>
            <a:r>
              <a:rPr lang="tr-TR" sz="2000" dirty="0" err="1"/>
              <a:t>MySQL</a:t>
            </a:r>
            <a:r>
              <a:rPr lang="tr-TR" sz="2000" dirty="0"/>
              <a:t> </a:t>
            </a:r>
            <a:r>
              <a:rPr lang="tr-TR" sz="2000" dirty="0" err="1"/>
              <a:t>Oracle’ın</a:t>
            </a:r>
            <a:r>
              <a:rPr lang="tr-TR" sz="2000" dirty="0"/>
              <a:t> sahip olduğu açık kaynak kodlu ilişkisel bir veri tabanı yazılımıdır</a:t>
            </a:r>
            <a:r>
              <a:rPr lang="tr-TR" sz="2000" dirty="0" smtClean="0"/>
              <a:t>.</a:t>
            </a:r>
          </a:p>
          <a:p>
            <a:r>
              <a:rPr lang="tr-TR" sz="2000" dirty="0"/>
              <a:t>Depolama alanı ağları (DAA) depolama için ayrılmış bir yüksek hızlı ağ üzerinde birden fazla depolama aygıtlarına bağlanmaktadır. </a:t>
            </a:r>
            <a:endParaRPr lang="tr-TR" sz="2000" dirty="0" smtClean="0"/>
          </a:p>
          <a:p>
            <a:r>
              <a:rPr lang="tr-TR" sz="2000" dirty="0" smtClean="0"/>
              <a:t>DAA </a:t>
            </a:r>
            <a:r>
              <a:rPr lang="tr-TR" sz="2000" dirty="0"/>
              <a:t>birçok sunucunun hızla erişebilme ve paylaşabilme imkanının bulunduğu büyük bir depolama merkezi havuzu oluşturur.</a:t>
            </a:r>
            <a:endParaRPr lang="tr-TR" sz="2000" dirty="0"/>
          </a:p>
        </p:txBody>
      </p:sp>
      <p:cxnSp>
        <p:nvCxnSpPr>
          <p:cNvPr id="5" name="Straight Arrow Connector 5"/>
          <p:cNvCxnSpPr>
            <a:cxnSpLocks noChangeShapeType="1"/>
          </p:cNvCxnSpPr>
          <p:nvPr/>
        </p:nvCxnSpPr>
        <p:spPr bwMode="auto">
          <a:xfrm>
            <a:off x="2133600" y="3733800"/>
            <a:ext cx="3505200" cy="457200"/>
          </a:xfrm>
          <a:prstGeom prst="straightConnector1">
            <a:avLst/>
          </a:prstGeom>
          <a:noFill/>
          <a:ln w="9525">
            <a:solidFill>
              <a:schemeClr val="bg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246766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5</a:t>
            </a:r>
            <a:r>
              <a:rPr lang="tr-TR" dirty="0"/>
              <a:t>. Ağ/Telekomünikasyon Platformları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199"/>
            <a:ext cx="8003232" cy="4997153"/>
          </a:xfrm>
        </p:spPr>
        <p:txBody>
          <a:bodyPr>
            <a:normAutofit/>
          </a:bodyPr>
          <a:lstStyle/>
          <a:p>
            <a:r>
              <a:rPr lang="tr-TR" dirty="0" smtClean="0"/>
              <a:t>ET </a:t>
            </a:r>
            <a:r>
              <a:rPr lang="tr-TR" dirty="0"/>
              <a:t>araçlarını birbirine bağlayarak, farklı donanımlar arasında iletişim ve veri akışı sağlamakta kullanılan platformlardır. </a:t>
            </a:r>
            <a:endParaRPr lang="tr-TR" dirty="0" smtClean="0"/>
          </a:p>
          <a:p>
            <a:r>
              <a:rPr lang="tr-TR" dirty="0" smtClean="0"/>
              <a:t>Windows </a:t>
            </a:r>
            <a:r>
              <a:rPr lang="tr-TR" dirty="0"/>
              <a:t>Server işletim sistemi, Linux ve Unix tarafından da takip edilen yerel alan ağı işletim sistemi olarak kullanılmaktadır. </a:t>
            </a:r>
            <a:endParaRPr lang="tr-TR" dirty="0" smtClean="0"/>
          </a:p>
          <a:p>
            <a:r>
              <a:rPr lang="tr-TR" dirty="0" smtClean="0"/>
              <a:t>Yerel </a:t>
            </a:r>
            <a:r>
              <a:rPr lang="tr-TR" dirty="0"/>
              <a:t>alan ağlarının neredeyse tamamında olduğu gibi kurumsal genişlikteki ağlarda da standart olarak TCP/IP protokolü kullanılır. </a:t>
            </a:r>
            <a:endParaRPr lang="tr-TR" dirty="0" smtClean="0"/>
          </a:p>
          <a:p>
            <a:r>
              <a:rPr lang="tr-TR" dirty="0" smtClean="0"/>
              <a:t>Cisco</a:t>
            </a:r>
            <a:r>
              <a:rPr lang="tr-TR" dirty="0"/>
              <a:t>, </a:t>
            </a:r>
            <a:r>
              <a:rPr lang="tr-TR" dirty="0" err="1"/>
              <a:t>Nortel</a:t>
            </a:r>
            <a:r>
              <a:rPr lang="tr-TR" dirty="0"/>
              <a:t>, </a:t>
            </a:r>
            <a:r>
              <a:rPr lang="tr-TR" dirty="0" err="1"/>
              <a:t>Lucent</a:t>
            </a:r>
            <a:r>
              <a:rPr lang="tr-TR" dirty="0"/>
              <a:t> ve </a:t>
            </a:r>
            <a:r>
              <a:rPr lang="tr-TR" dirty="0" err="1"/>
              <a:t>Juniper</a:t>
            </a:r>
            <a:r>
              <a:rPr lang="tr-TR" dirty="0"/>
              <a:t> Networks önde gelen ağ donanım sağlayıcılarıdır.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59639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6</a:t>
            </a:r>
            <a:r>
              <a:rPr lang="tr-TR" dirty="0"/>
              <a:t>. İnternet Platformları</a:t>
            </a:r>
            <a:endParaRPr lang="tr-TR" dirty="0"/>
          </a:p>
        </p:txBody>
      </p:sp>
      <p:sp>
        <p:nvSpPr>
          <p:cNvPr id="4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199"/>
            <a:ext cx="8003232" cy="4997153"/>
          </a:xfrm>
        </p:spPr>
        <p:txBody>
          <a:bodyPr>
            <a:normAutofit fontScale="92500" lnSpcReduction="20000"/>
          </a:bodyPr>
          <a:lstStyle/>
          <a:p>
            <a:r>
              <a:rPr lang="tr-TR" dirty="0" smtClean="0"/>
              <a:t>Internet </a:t>
            </a:r>
            <a:r>
              <a:rPr lang="tr-TR" dirty="0"/>
              <a:t>platformları, genellikle işletmenin ağ ve iletişim platformları ile yazılım ve donanım platformları için alt yapı sağlayan bir platformdur. </a:t>
            </a:r>
            <a:endParaRPr lang="tr-TR" dirty="0" smtClean="0"/>
          </a:p>
          <a:p>
            <a:r>
              <a:rPr lang="tr-TR" dirty="0" smtClean="0"/>
              <a:t>İşletmeler </a:t>
            </a:r>
            <a:r>
              <a:rPr lang="tr-TR" dirty="0"/>
              <a:t>internet altyapılarına büyük paralar harcamaktadır. Bu harcamalar; donanım, yazılım, şirket web sitelerinin yönetimi, web sayfası sunucuları için ödemeler, intranet ve </a:t>
            </a:r>
            <a:r>
              <a:rPr lang="tr-TR" dirty="0" err="1"/>
              <a:t>extranet</a:t>
            </a:r>
            <a:r>
              <a:rPr lang="tr-TR" dirty="0"/>
              <a:t> için yapılan harcamalardır. </a:t>
            </a:r>
            <a:endParaRPr lang="tr-TR" dirty="0" smtClean="0"/>
          </a:p>
          <a:p>
            <a:r>
              <a:rPr lang="tr-TR" dirty="0" smtClean="0"/>
              <a:t>En </a:t>
            </a:r>
            <a:r>
              <a:rPr lang="tr-TR" dirty="0"/>
              <a:t>önemli web yazılım uygulama geliştirme araçları ve paketleri Microsoft (Microsoft </a:t>
            </a:r>
            <a:r>
              <a:rPr lang="tr-TR" dirty="0" err="1"/>
              <a:t>Expression</a:t>
            </a:r>
            <a:r>
              <a:rPr lang="tr-TR" dirty="0"/>
              <a:t> Web, SharePoint Designer ve geliştirme araçları için Microsoft .NET ailesi), </a:t>
            </a:r>
            <a:r>
              <a:rPr lang="tr-TR" dirty="0" err="1"/>
              <a:t>Oracle</a:t>
            </a:r>
            <a:r>
              <a:rPr lang="tr-TR" dirty="0"/>
              <a:t>-Sun (</a:t>
            </a:r>
            <a:r>
              <a:rPr lang="tr-TR" dirty="0" err="1"/>
              <a:t>Sun’ın</a:t>
            </a:r>
            <a:r>
              <a:rPr lang="tr-TR" dirty="0"/>
              <a:t> </a:t>
            </a:r>
            <a:r>
              <a:rPr lang="tr-TR" dirty="0" err="1"/>
              <a:t>JAVA’sı</a:t>
            </a:r>
            <a:r>
              <a:rPr lang="tr-TR" dirty="0"/>
              <a:t> hem sunucu hem istemci tarafı için etkileşimli web uygulamaları geliştirmek amacıyla kullanılan en yaygın araçtır.), bağımsız araç geliştiriciler , </a:t>
            </a:r>
            <a:r>
              <a:rPr lang="tr-TR" dirty="0" err="1"/>
              <a:t>Adope</a:t>
            </a:r>
            <a:r>
              <a:rPr lang="tr-TR" dirty="0"/>
              <a:t> (Flash ve </a:t>
            </a:r>
            <a:r>
              <a:rPr lang="tr-TR" dirty="0" err="1"/>
              <a:t>Acrobat</a:t>
            </a:r>
            <a:r>
              <a:rPr lang="tr-TR" dirty="0"/>
              <a:t> gibi metin araçları) ve Real Media (Medya Yazılımı).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40938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7</a:t>
            </a:r>
            <a:r>
              <a:rPr lang="tr-TR" dirty="0"/>
              <a:t>. Sistem Entegrasyonu</a:t>
            </a:r>
            <a:endParaRPr lang="tr-TR" dirty="0"/>
          </a:p>
        </p:txBody>
      </p:sp>
      <p:sp>
        <p:nvSpPr>
          <p:cNvPr id="6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199"/>
            <a:ext cx="8003232" cy="4997153"/>
          </a:xfrm>
        </p:spPr>
        <p:txBody>
          <a:bodyPr>
            <a:normAutofit/>
          </a:bodyPr>
          <a:lstStyle/>
          <a:p>
            <a:r>
              <a:rPr lang="tr-TR" dirty="0" smtClean="0"/>
              <a:t>Yazılım </a:t>
            </a:r>
            <a:r>
              <a:rPr lang="tr-TR" dirty="0"/>
              <a:t>entegrasyonu, işletmenin yeni altyapısı ile miras kalan sistem olarak adlandırılan eski altyapısının birlikte çalışmasını sağlamayı ifade eder.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35404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Modern </a:t>
            </a:r>
            <a:r>
              <a:rPr lang="tr-TR" dirty="0"/>
              <a:t>Donanım Platformu Eğilimleri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925144"/>
          </a:xfrm>
        </p:spPr>
        <p:txBody>
          <a:bodyPr>
            <a:normAutofit/>
          </a:bodyPr>
          <a:lstStyle/>
          <a:p>
            <a:r>
              <a:rPr lang="tr-TR" dirty="0" smtClean="0"/>
              <a:t>Bu </a:t>
            </a:r>
            <a:r>
              <a:rPr lang="tr-TR" dirty="0"/>
              <a:t>kapsamda 7 donanım eğilimi bulunmaktadır. </a:t>
            </a:r>
            <a:endParaRPr lang="tr-TR" dirty="0" smtClean="0"/>
          </a:p>
          <a:p>
            <a:pPr lvl="1"/>
            <a:r>
              <a:rPr lang="tr-TR" sz="2400" dirty="0" smtClean="0"/>
              <a:t>1</a:t>
            </a:r>
            <a:r>
              <a:rPr lang="tr-TR" sz="2400" dirty="0"/>
              <a:t>. Gelişmekte olan mobil dijital platform </a:t>
            </a:r>
            <a:endParaRPr lang="tr-TR" sz="2400" dirty="0" smtClean="0"/>
          </a:p>
          <a:p>
            <a:pPr lvl="1"/>
            <a:r>
              <a:rPr lang="tr-TR" sz="2400" dirty="0" smtClean="0"/>
              <a:t>2</a:t>
            </a:r>
            <a:r>
              <a:rPr lang="tr-TR" sz="2400" dirty="0"/>
              <a:t>. Şebeke bilgi işlem </a:t>
            </a:r>
            <a:endParaRPr lang="tr-TR" sz="2400" dirty="0" smtClean="0"/>
          </a:p>
          <a:p>
            <a:pPr lvl="1"/>
            <a:r>
              <a:rPr lang="tr-TR" sz="2400" dirty="0" smtClean="0"/>
              <a:t>3</a:t>
            </a:r>
            <a:r>
              <a:rPr lang="tr-TR" sz="2400" dirty="0"/>
              <a:t>. Sanallaştırma </a:t>
            </a:r>
            <a:endParaRPr lang="tr-TR" sz="2400" dirty="0" smtClean="0"/>
          </a:p>
          <a:p>
            <a:pPr lvl="1"/>
            <a:r>
              <a:rPr lang="tr-TR" sz="2400" dirty="0" smtClean="0"/>
              <a:t>4</a:t>
            </a:r>
            <a:r>
              <a:rPr lang="tr-TR" sz="2400" dirty="0"/>
              <a:t>. Bulut bilgi işlem </a:t>
            </a:r>
            <a:endParaRPr lang="tr-TR" sz="2400" dirty="0" smtClean="0"/>
          </a:p>
          <a:p>
            <a:pPr lvl="1"/>
            <a:r>
              <a:rPr lang="tr-TR" sz="2400" dirty="0" smtClean="0"/>
              <a:t>5</a:t>
            </a:r>
            <a:r>
              <a:rPr lang="tr-TR" sz="2400" dirty="0"/>
              <a:t>. Yeşil bilgi işlem </a:t>
            </a:r>
            <a:endParaRPr lang="tr-TR" sz="2400" dirty="0" smtClean="0"/>
          </a:p>
          <a:p>
            <a:pPr lvl="1"/>
            <a:r>
              <a:rPr lang="tr-TR" sz="2400" dirty="0" smtClean="0"/>
              <a:t>6</a:t>
            </a:r>
            <a:r>
              <a:rPr lang="tr-TR" sz="2400" dirty="0"/>
              <a:t>. Güç </a:t>
            </a:r>
            <a:r>
              <a:rPr lang="tr-TR" sz="2400" dirty="0" err="1"/>
              <a:t>taasrruflu</a:t>
            </a:r>
            <a:r>
              <a:rPr lang="tr-TR" sz="2400" dirty="0"/>
              <a:t>/yüksek performanslı işlemciler </a:t>
            </a:r>
            <a:endParaRPr lang="tr-TR" sz="2400" dirty="0" smtClean="0"/>
          </a:p>
          <a:p>
            <a:pPr lvl="1"/>
            <a:r>
              <a:rPr lang="tr-TR" sz="2400" dirty="0" smtClean="0"/>
              <a:t>7</a:t>
            </a:r>
            <a:r>
              <a:rPr lang="tr-TR" sz="2400" dirty="0"/>
              <a:t>. Otonom bilgi işlem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934668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1</a:t>
            </a:r>
            <a:r>
              <a:rPr lang="tr-TR" dirty="0"/>
              <a:t>. Gelişmekte Olan Mobil Dijital Platform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925144"/>
          </a:xfrm>
        </p:spPr>
        <p:txBody>
          <a:bodyPr>
            <a:normAutofit/>
          </a:bodyPr>
          <a:lstStyle/>
          <a:p>
            <a:r>
              <a:rPr lang="tr-TR" dirty="0" err="1" smtClean="0"/>
              <a:t>BlackBerry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err="1"/>
              <a:t>İphone</a:t>
            </a:r>
            <a:r>
              <a:rPr lang="tr-TR" dirty="0"/>
              <a:t> vb. cep telefonu ve akıllı telefonlar, bilgisayarların elinden veri transferi, internette gezinme, e-mail ve anlık mesaj gönderme, dijital içerik görüntüleme ve kurum içi sistemlerde veri dönüşümü dahil pek çok özelliklerini almışlardır. </a:t>
            </a:r>
            <a:endParaRPr lang="tr-TR" dirty="0" smtClean="0"/>
          </a:p>
          <a:p>
            <a:r>
              <a:rPr lang="tr-TR" dirty="0" smtClean="0"/>
              <a:t> </a:t>
            </a:r>
            <a:r>
              <a:rPr lang="tr-TR" dirty="0" err="1"/>
              <a:t>Netbooklar</a:t>
            </a:r>
            <a:r>
              <a:rPr lang="tr-TR" dirty="0"/>
              <a:t>, </a:t>
            </a:r>
            <a:r>
              <a:rPr lang="tr-TR" dirty="0" err="1"/>
              <a:t>İpad</a:t>
            </a:r>
            <a:r>
              <a:rPr lang="tr-TR" dirty="0"/>
              <a:t> gibi tablet bilgisayarlar, Amazon’un </a:t>
            </a:r>
            <a:r>
              <a:rPr lang="tr-TR" dirty="0" err="1"/>
              <a:t>Kindle’i</a:t>
            </a:r>
            <a:r>
              <a:rPr lang="tr-TR" dirty="0"/>
              <a:t> dijital e-kitap okuyucuları yeni mobil platformlar olarak ifade edilebilir. </a:t>
            </a:r>
            <a:endParaRPr lang="tr-TR" dirty="0" smtClean="0"/>
          </a:p>
          <a:p>
            <a:r>
              <a:rPr lang="tr-TR" dirty="0" smtClean="0"/>
              <a:t>Günümüzde </a:t>
            </a:r>
            <a:r>
              <a:rPr lang="tr-TR" dirty="0"/>
              <a:t>bir çok yöneticiye gerekli özet raporlar mobil teknoloji ile iletilmektedir.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55450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2</a:t>
            </a:r>
            <a:r>
              <a:rPr lang="tr-TR" dirty="0"/>
              <a:t>. Şebeke (</a:t>
            </a:r>
            <a:r>
              <a:rPr lang="tr-TR" dirty="0" err="1"/>
              <a:t>Grid</a:t>
            </a:r>
            <a:r>
              <a:rPr lang="tr-TR" dirty="0"/>
              <a:t>) Bilgi İşlem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925144"/>
          </a:xfrm>
        </p:spPr>
        <p:txBody>
          <a:bodyPr>
            <a:normAutofit fontScale="85000" lnSpcReduction="10000"/>
          </a:bodyPr>
          <a:lstStyle/>
          <a:p>
            <a:r>
              <a:rPr lang="tr-TR" dirty="0" smtClean="0"/>
              <a:t>Şebeke </a:t>
            </a:r>
            <a:r>
              <a:rPr lang="tr-TR" dirty="0"/>
              <a:t>(</a:t>
            </a:r>
            <a:r>
              <a:rPr lang="tr-TR" dirty="0" err="1"/>
              <a:t>Grid</a:t>
            </a:r>
            <a:r>
              <a:rPr lang="tr-TR" dirty="0"/>
              <a:t>) Bilgi İşlem, sanal süper bilgisayar meydana getirmek için coğrafi olarak birbirinden uzak olan bilgisayarların tek bir ağ üzerinden işlem güçlerinin birleştirilmesidir. </a:t>
            </a:r>
            <a:endParaRPr lang="tr-TR" dirty="0" smtClean="0"/>
          </a:p>
          <a:p>
            <a:r>
              <a:rPr lang="tr-TR" dirty="0" smtClean="0"/>
              <a:t>Bilgisayarların </a:t>
            </a:r>
            <a:r>
              <a:rPr lang="tr-TR" dirty="0"/>
              <a:t>çoğu çalışma zamanlarında atanmış oldukları iş için merkezi işlem ünitesinin ortalama sadece %25’ini kullanmaktadırlar. </a:t>
            </a:r>
            <a:endParaRPr lang="tr-TR" dirty="0" smtClean="0"/>
          </a:p>
          <a:p>
            <a:r>
              <a:rPr lang="tr-TR" dirty="0" smtClean="0"/>
              <a:t>Bu </a:t>
            </a:r>
            <a:r>
              <a:rPr lang="tr-TR" dirty="0"/>
              <a:t>gerçekten yola çıkarak Şebeke (</a:t>
            </a:r>
            <a:r>
              <a:rPr lang="tr-TR" dirty="0" err="1"/>
              <a:t>Grid</a:t>
            </a:r>
            <a:r>
              <a:rPr lang="tr-TR" dirty="0"/>
              <a:t>) Bilgi İşlem bu kullanılmayan kaynakları gerek duyulan başka işlemler için kullanır. </a:t>
            </a:r>
            <a:endParaRPr lang="tr-TR" dirty="0" smtClean="0"/>
          </a:p>
          <a:p>
            <a:r>
              <a:rPr lang="tr-TR" dirty="0" smtClean="0"/>
              <a:t>İstemci </a:t>
            </a:r>
            <a:r>
              <a:rPr lang="tr-TR" dirty="0"/>
              <a:t>bilgisayarları geleneksel görevlerini gerçekleştirirken şebeke uygulamalarını da arka planda çalıştırırlar. </a:t>
            </a:r>
            <a:endParaRPr lang="tr-TR" dirty="0" smtClean="0"/>
          </a:p>
          <a:p>
            <a:r>
              <a:rPr lang="tr-TR" dirty="0" smtClean="0"/>
              <a:t>Şebeke </a:t>
            </a:r>
            <a:r>
              <a:rPr lang="tr-TR" dirty="0"/>
              <a:t>(</a:t>
            </a:r>
            <a:r>
              <a:rPr lang="tr-TR" dirty="0" err="1"/>
              <a:t>Grid</a:t>
            </a:r>
            <a:r>
              <a:rPr lang="tr-TR" dirty="0"/>
              <a:t>) Bilgi İşlem, maliyet tasarrufu, işlem hızı ve çeviklik sağlamaktadır. </a:t>
            </a:r>
            <a:endParaRPr lang="tr-TR" dirty="0" smtClean="0"/>
          </a:p>
          <a:p>
            <a:r>
              <a:rPr lang="tr-TR" dirty="0" smtClean="0"/>
              <a:t>Aynı </a:t>
            </a:r>
            <a:r>
              <a:rPr lang="tr-TR" dirty="0"/>
              <a:t>şekilde mevcut kaynakların daha verimli kullanılmasını sağlar ve güç tüketimini azaltır.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302983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3</a:t>
            </a:r>
            <a:r>
              <a:rPr lang="tr-TR" dirty="0"/>
              <a:t>. Sanallaştırma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925144"/>
          </a:xfrm>
        </p:spPr>
        <p:txBody>
          <a:bodyPr>
            <a:normAutofit/>
          </a:bodyPr>
          <a:lstStyle/>
          <a:p>
            <a:r>
              <a:rPr lang="tr-TR" dirty="0" smtClean="0"/>
              <a:t>Sanallaştırma</a:t>
            </a:r>
            <a:r>
              <a:rPr lang="tr-TR" dirty="0"/>
              <a:t>: bir fiziksel kaynağın, yazılım ile mantıksal birçok bölüme ayrılarak her birini ayrı bir parça gibi kullanmaktır. </a:t>
            </a:r>
            <a:endParaRPr lang="tr-TR" dirty="0" smtClean="0"/>
          </a:p>
          <a:p>
            <a:r>
              <a:rPr lang="tr-TR" dirty="0" smtClean="0"/>
              <a:t>Sunucuların </a:t>
            </a:r>
            <a:r>
              <a:rPr lang="tr-TR" dirty="0"/>
              <a:t>sanallaştırılması, işletmelerin bir bilgisayarda aynı anda birden fazla işletim sistemi çalıştırılabilmesini sağlar. </a:t>
            </a:r>
            <a:endParaRPr lang="tr-TR" dirty="0" smtClean="0"/>
          </a:p>
          <a:p>
            <a:r>
              <a:rPr lang="tr-TR" dirty="0" smtClean="0"/>
              <a:t>Tek </a:t>
            </a:r>
            <a:r>
              <a:rPr lang="tr-TR" dirty="0"/>
              <a:t>bir fiziksel kaynağın kullanıcıya birden çok mantıksal kaynak olarak görünmesine imkan verir. </a:t>
            </a:r>
            <a:endParaRPr lang="tr-TR" dirty="0" smtClean="0"/>
          </a:p>
          <a:p>
            <a:r>
              <a:rPr lang="tr-TR" dirty="0" smtClean="0"/>
              <a:t>Çoklu </a:t>
            </a:r>
            <a:r>
              <a:rPr lang="tr-TR" dirty="0"/>
              <a:t>fiziksel kaynakların tek bir yapı gibi hareket etmesini de sağlamaktadır. </a:t>
            </a:r>
            <a:endParaRPr lang="tr-TR" dirty="0" smtClean="0"/>
          </a:p>
          <a:p>
            <a:r>
              <a:rPr lang="tr-TR" dirty="0" smtClean="0"/>
              <a:t>İşletmelere </a:t>
            </a:r>
            <a:r>
              <a:rPr lang="tr-TR" dirty="0"/>
              <a:t>maliyet ve güç tasarrufu sağlar.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493966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4.Bulut </a:t>
            </a:r>
            <a:r>
              <a:rPr lang="tr-TR" dirty="0"/>
              <a:t>Bilgi İşlem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925144"/>
          </a:xfrm>
        </p:spPr>
        <p:txBody>
          <a:bodyPr>
            <a:normAutofit fontScale="92500"/>
          </a:bodyPr>
          <a:lstStyle/>
          <a:p>
            <a:r>
              <a:rPr lang="tr-TR" dirty="0" smtClean="0"/>
              <a:t>İşletmelerin </a:t>
            </a:r>
            <a:r>
              <a:rPr lang="tr-TR" dirty="0"/>
              <a:t>ve bireylerin bilgi işleme, depolama, yazılım ve diğer hizmetleri almak için, başta internet olmak üzere bir ağ üzerinden sanal kaynak havuzu oluşturulmasıdır. </a:t>
            </a:r>
            <a:endParaRPr lang="tr-TR" dirty="0" smtClean="0"/>
          </a:p>
          <a:p>
            <a:r>
              <a:rPr lang="tr-TR" dirty="0" smtClean="0"/>
              <a:t>Başka </a:t>
            </a:r>
            <a:r>
              <a:rPr lang="tr-TR" dirty="0"/>
              <a:t>bir deyişle Bulut Hesaplama ( </a:t>
            </a:r>
            <a:r>
              <a:rPr lang="tr-TR" dirty="0" err="1"/>
              <a:t>Cloud</a:t>
            </a:r>
            <a:r>
              <a:rPr lang="tr-TR" dirty="0"/>
              <a:t> Computing ), kısaca, ihtiyaç duyduğunuz verilerin ve hesaplamaların sizin bilgisayarınızda </a:t>
            </a:r>
            <a:r>
              <a:rPr lang="tr-TR" dirty="0" err="1"/>
              <a:t>değilde</a:t>
            </a:r>
            <a:r>
              <a:rPr lang="tr-TR" dirty="0"/>
              <a:t>, uzaktaki birçok bilgisayarda tutulması ve hesaplanması mantığına dayanıyor. (www.bitdunyasi.com) </a:t>
            </a:r>
            <a:endParaRPr lang="tr-TR" dirty="0" smtClean="0"/>
          </a:p>
          <a:p>
            <a:r>
              <a:rPr lang="tr-TR" dirty="0" smtClean="0"/>
              <a:t>Bu </a:t>
            </a:r>
            <a:r>
              <a:rPr lang="tr-TR" dirty="0"/>
              <a:t>sistemler ihtiyaç duyulan kaynağın fiziksel konumuna veya kullanıcıların kendi konumlarına bağlı kalmaksızın kullanıcılar tarafından elde edilmesine imkan tanır. </a:t>
            </a:r>
            <a:endParaRPr lang="tr-TR" dirty="0" smtClean="0"/>
          </a:p>
          <a:p>
            <a:r>
              <a:rPr lang="tr-TR" dirty="0" smtClean="0"/>
              <a:t>Bazı </a:t>
            </a:r>
            <a:r>
              <a:rPr lang="tr-TR" dirty="0"/>
              <a:t>dosyaların saklanması için kullanılan sunucular da Bulut Sunucu (</a:t>
            </a:r>
            <a:r>
              <a:rPr lang="tr-TR" dirty="0" err="1"/>
              <a:t>Cloud</a:t>
            </a:r>
            <a:r>
              <a:rPr lang="tr-TR" dirty="0"/>
              <a:t> Server) olarak adlandırılır.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448066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4.1.Bulut </a:t>
            </a:r>
            <a:r>
              <a:rPr lang="tr-TR" dirty="0"/>
              <a:t>Bilgi İşlemin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925144"/>
          </a:xfrm>
        </p:spPr>
        <p:txBody>
          <a:bodyPr>
            <a:normAutofit/>
          </a:bodyPr>
          <a:lstStyle/>
          <a:p>
            <a:r>
              <a:rPr lang="tr-TR" dirty="0"/>
              <a:t>ABD ulusal standartlar ve teknoloji enstitüsü Bulut Bilgi İşlemi aşağıdaki temel özelliklere sahip olarak tanımlamaktadır. </a:t>
            </a:r>
            <a:endParaRPr lang="tr-TR" dirty="0" smtClean="0"/>
          </a:p>
          <a:p>
            <a:pPr lvl="1"/>
            <a:r>
              <a:rPr lang="tr-TR" sz="2400" dirty="0" smtClean="0"/>
              <a:t>1</a:t>
            </a:r>
            <a:r>
              <a:rPr lang="tr-TR" sz="2400" dirty="0"/>
              <a:t>. Talep durumunda bireysel </a:t>
            </a:r>
            <a:r>
              <a:rPr lang="tr-TR" sz="2400" dirty="0" smtClean="0"/>
              <a:t>hizmet</a:t>
            </a:r>
          </a:p>
          <a:p>
            <a:pPr lvl="1"/>
            <a:r>
              <a:rPr lang="tr-TR" sz="2400" dirty="0" smtClean="0"/>
              <a:t>2</a:t>
            </a:r>
            <a:r>
              <a:rPr lang="tr-TR" sz="2400" dirty="0"/>
              <a:t>. Her yerde bulunan ağ erişimi </a:t>
            </a:r>
            <a:endParaRPr lang="tr-TR" sz="2400" dirty="0" smtClean="0"/>
          </a:p>
          <a:p>
            <a:pPr lvl="1"/>
            <a:r>
              <a:rPr lang="tr-TR" sz="2400" dirty="0" smtClean="0"/>
              <a:t>3</a:t>
            </a:r>
            <a:r>
              <a:rPr lang="tr-TR" sz="2400" dirty="0"/>
              <a:t>. Yer bağımsız kaynak havuzu </a:t>
            </a:r>
            <a:endParaRPr lang="tr-TR" sz="2400" dirty="0" smtClean="0"/>
          </a:p>
          <a:p>
            <a:pPr lvl="1"/>
            <a:r>
              <a:rPr lang="tr-TR" sz="2400" dirty="0" smtClean="0"/>
              <a:t>4</a:t>
            </a:r>
            <a:r>
              <a:rPr lang="tr-TR" sz="2400" dirty="0"/>
              <a:t>. Kullanıcı talebindeki değişime hızlı cevap verebilme </a:t>
            </a:r>
            <a:endParaRPr lang="tr-TR" sz="2400" dirty="0" smtClean="0"/>
          </a:p>
          <a:p>
            <a:pPr lvl="1"/>
            <a:r>
              <a:rPr lang="tr-TR" sz="2400" dirty="0" smtClean="0"/>
              <a:t>5</a:t>
            </a:r>
            <a:r>
              <a:rPr lang="tr-TR" sz="2400" dirty="0"/>
              <a:t>. Bulut kaynakların ücretleri gerçekte kullanılan kaynak miktarına bağlıdır.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648732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4.2.Bulut </a:t>
            </a:r>
            <a:r>
              <a:rPr lang="tr-TR" dirty="0"/>
              <a:t>Bilgi İşlemin </a:t>
            </a:r>
            <a:r>
              <a:rPr lang="tr-TR" dirty="0" smtClean="0"/>
              <a:t>Hizmet </a:t>
            </a:r>
            <a:r>
              <a:rPr lang="tr-TR" dirty="0"/>
              <a:t>Kapsamı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925144"/>
          </a:xfrm>
        </p:spPr>
        <p:txBody>
          <a:bodyPr>
            <a:normAutofit fontScale="77500" lnSpcReduction="20000"/>
          </a:bodyPr>
          <a:lstStyle/>
          <a:p>
            <a:r>
              <a:rPr lang="tr-TR" dirty="0" smtClean="0"/>
              <a:t>Bulut </a:t>
            </a:r>
            <a:r>
              <a:rPr lang="tr-TR" dirty="0"/>
              <a:t>Altyapısı: müşteri kendi enformasyon sistemini çalıştırmak için bulut hizmet sağlayıcının işlem, depolama, ağ ve diğer bilgi işlem kaynaklarını kullanır. </a:t>
            </a:r>
            <a:endParaRPr lang="tr-TR" dirty="0" smtClean="0"/>
          </a:p>
          <a:p>
            <a:r>
              <a:rPr lang="tr-TR" dirty="0" smtClean="0"/>
              <a:t>Bulut </a:t>
            </a:r>
            <a:r>
              <a:rPr lang="tr-TR" dirty="0"/>
              <a:t>Platformu: Müşteri kendi uygulamalarını gerçekleştirmek için hizmet sağlayıcı tarafından sağlanan altyapı ve programlama araçlarını kullanır. </a:t>
            </a:r>
            <a:endParaRPr lang="tr-TR" dirty="0" smtClean="0"/>
          </a:p>
          <a:p>
            <a:r>
              <a:rPr lang="tr-TR" dirty="0" smtClean="0"/>
              <a:t>Bulut </a:t>
            </a:r>
            <a:r>
              <a:rPr lang="tr-TR" dirty="0"/>
              <a:t>Yazılımı: Müşteriler hizmet sağlayıcının sahip olduğu donanım üzerinde yazılımı kullanır ve bir ağ üzerinden dağıtır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Bulut </a:t>
            </a:r>
            <a:r>
              <a:rPr lang="tr-TR" dirty="0"/>
              <a:t>özel yada kamu olabilir. </a:t>
            </a:r>
            <a:endParaRPr lang="tr-TR" dirty="0" smtClean="0"/>
          </a:p>
          <a:p>
            <a:r>
              <a:rPr lang="tr-TR" dirty="0" smtClean="0"/>
              <a:t>Kamu </a:t>
            </a:r>
            <a:r>
              <a:rPr lang="tr-TR" dirty="0"/>
              <a:t>bulut tüm herkese açıktır. </a:t>
            </a:r>
            <a:endParaRPr lang="tr-TR" dirty="0" smtClean="0"/>
          </a:p>
          <a:p>
            <a:r>
              <a:rPr lang="tr-TR" dirty="0" smtClean="0"/>
              <a:t>Özel </a:t>
            </a:r>
            <a:r>
              <a:rPr lang="tr-TR" dirty="0"/>
              <a:t>bulut ise bir işletme içindeki kullanıcılar tarafından paylaşılan sunucular, depolama alanları, ağlar, veri ve uygulamalar gibi bir dizi sanallaştırılmış hizmetlerin birbirine bağlandığı özel bir ağ veya veri merkezidir. </a:t>
            </a:r>
            <a:endParaRPr lang="tr-TR" dirty="0" smtClean="0"/>
          </a:p>
          <a:p>
            <a:r>
              <a:rPr lang="tr-TR" dirty="0" smtClean="0"/>
              <a:t>Bulut </a:t>
            </a:r>
            <a:r>
              <a:rPr lang="tr-TR" dirty="0"/>
              <a:t>kullanan işletmeler genelde altyapıya sahip olmak zorunda olmadığı için büyük yatırımlar yapmak zorunda </a:t>
            </a:r>
            <a:r>
              <a:rPr lang="tr-TR" dirty="0" err="1"/>
              <a:t>değilleridir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 smtClean="0"/>
              <a:t>Sadece </a:t>
            </a:r>
            <a:r>
              <a:rPr lang="tr-TR" dirty="0" err="1"/>
              <a:t>kullanıdıkları</a:t>
            </a:r>
            <a:r>
              <a:rPr lang="tr-TR" dirty="0"/>
              <a:t> bilgi işlem kadar hizmet sağlayıcıya ödeme yaparlar.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03407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4.3.Bulut </a:t>
            </a:r>
            <a:r>
              <a:rPr lang="tr-TR" dirty="0"/>
              <a:t>Bilgi İşlemin </a:t>
            </a:r>
            <a:r>
              <a:rPr lang="tr-TR" sz="2800" dirty="0" smtClean="0"/>
              <a:t>SAKINCALARI</a:t>
            </a:r>
            <a:endParaRPr lang="tr-TR" sz="2800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925144"/>
          </a:xfrm>
        </p:spPr>
        <p:txBody>
          <a:bodyPr>
            <a:normAutofit/>
          </a:bodyPr>
          <a:lstStyle/>
          <a:p>
            <a:r>
              <a:rPr lang="tr-TR" dirty="0" smtClean="0"/>
              <a:t>Veri </a:t>
            </a:r>
            <a:r>
              <a:rPr lang="tr-TR" dirty="0"/>
              <a:t>depolama ve kontrolü hizmet sağlayıcının elindedir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Güvenlik </a:t>
            </a:r>
            <a:r>
              <a:rPr lang="tr-TR" dirty="0"/>
              <a:t>ve gizlilik riski söz konusudur. </a:t>
            </a:r>
            <a:endParaRPr lang="tr-TR" dirty="0" smtClean="0"/>
          </a:p>
          <a:p>
            <a:r>
              <a:rPr lang="tr-TR" dirty="0" smtClean="0"/>
              <a:t>Sistemin </a:t>
            </a:r>
            <a:r>
              <a:rPr lang="tr-TR" dirty="0"/>
              <a:t>güvenliği riski vardır. 2009 yılında Amazon’un bulutu çöktü ve ABD’nin doğu sahilindeki aboneler birkaç saat kendi sistemlerini kullanamadılar. (mali kayıp) </a:t>
            </a:r>
            <a:endParaRPr lang="tr-TR" dirty="0" smtClean="0"/>
          </a:p>
          <a:p>
            <a:r>
              <a:rPr lang="tr-TR" dirty="0" smtClean="0"/>
              <a:t>Kullanıcıların </a:t>
            </a:r>
            <a:r>
              <a:rPr lang="tr-TR" dirty="0"/>
              <a:t>Bulut Bilgi İşlemin sağlayıcısına bağımlılıkları sistemin dezavantajlarından biridir.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7303827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5</a:t>
            </a:r>
            <a:r>
              <a:rPr lang="tr-TR" dirty="0"/>
              <a:t>. Yeşil Bilgi İşlem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925144"/>
          </a:xfrm>
        </p:spPr>
        <p:txBody>
          <a:bodyPr>
            <a:normAutofit fontScale="92500" lnSpcReduction="10000"/>
          </a:bodyPr>
          <a:lstStyle/>
          <a:p>
            <a:r>
              <a:rPr lang="tr-TR" dirty="0" smtClean="0"/>
              <a:t>Yeşil </a:t>
            </a:r>
            <a:r>
              <a:rPr lang="tr-TR" dirty="0"/>
              <a:t>bilgi işlem; bilgisayar, sunucular, monitörler, yazıcılar, depolama aygıtları, ağ ve iletişim sistemleri gibi araçların tasarımı, üretimi, kullanımı ve atılmasının çevre üzerindeki etkisini en aza indirmeyi pratik ve teknolojik olarak ifade eden kavramdır. </a:t>
            </a:r>
            <a:endParaRPr lang="tr-TR" dirty="0" smtClean="0"/>
          </a:p>
          <a:p>
            <a:r>
              <a:rPr lang="tr-TR" dirty="0" smtClean="0"/>
              <a:t>Donanımın </a:t>
            </a:r>
            <a:r>
              <a:rPr lang="tr-TR" dirty="0"/>
              <a:t>çoğalması ve enerji tüketiminin sınıflandırılması sebebiyle sanallaştırma yeşil bilgi işlemi teşvik için başlıca teknolojilerden biri haline gelmiştir. </a:t>
            </a:r>
            <a:endParaRPr lang="tr-TR" dirty="0" smtClean="0"/>
          </a:p>
          <a:p>
            <a:r>
              <a:rPr lang="tr-TR" dirty="0" smtClean="0"/>
              <a:t>Bilgisayarın </a:t>
            </a:r>
            <a:r>
              <a:rPr lang="tr-TR" dirty="0"/>
              <a:t>enerji tüketimini azaltmak, yeşil öncelik haline gelmiştir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İşletmelerde </a:t>
            </a:r>
            <a:r>
              <a:rPr lang="tr-TR" dirty="0"/>
              <a:t>çok sayıdaki donanımı çalıştırmak için gereken enerji ve soğutma maliyeti neredeyse donanım maliyeti kadar olabilmektedir. </a:t>
            </a:r>
            <a:endParaRPr lang="tr-TR" dirty="0" smtClean="0"/>
          </a:p>
          <a:p>
            <a:r>
              <a:rPr lang="tr-TR" dirty="0" err="1" smtClean="0"/>
              <a:t>ET’nin</a:t>
            </a:r>
            <a:r>
              <a:rPr lang="tr-TR" dirty="0" smtClean="0"/>
              <a:t> </a:t>
            </a:r>
            <a:r>
              <a:rPr lang="tr-TR" dirty="0"/>
              <a:t>Dünya’nın sera gazlarının %2 ‘sini oluşturduğu düşünülmektedir.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9109629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6</a:t>
            </a:r>
            <a:r>
              <a:rPr lang="tr-TR" dirty="0"/>
              <a:t>. Otonom Bilgi İşlem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925144"/>
          </a:xfrm>
        </p:spPr>
        <p:txBody>
          <a:bodyPr>
            <a:normAutofit/>
          </a:bodyPr>
          <a:lstStyle/>
          <a:p>
            <a:r>
              <a:rPr lang="tr-TR" dirty="0" smtClean="0"/>
              <a:t>Otonom </a:t>
            </a:r>
            <a:r>
              <a:rPr lang="tr-TR" dirty="0"/>
              <a:t>Bilgi İşlem; kendi kendini yapılandıran, optimize eden ve ayarlayan, bozulduğunda kendini onarabilen, dışarıdan girişlere karşı sistemi koruyabilen ve kendi kendini yok etme düzeneğine sahip sistemler geliştirmek için endüstri çapındaki bir çabadır. </a:t>
            </a:r>
            <a:endParaRPr lang="tr-TR" dirty="0" smtClean="0"/>
          </a:p>
          <a:p>
            <a:r>
              <a:rPr lang="tr-TR" smtClean="0"/>
              <a:t>IBM </a:t>
            </a:r>
            <a:r>
              <a:rPr lang="tr-TR" dirty="0"/>
              <a:t>bu tarz ürünler geliştirmek için çalışmalar yapmaktadır</a:t>
            </a:r>
            <a:r>
              <a:rPr lang="tr-TR"/>
              <a:t>. </a:t>
            </a:r>
            <a:endParaRPr lang="tr-TR" smtClean="0"/>
          </a:p>
          <a:p>
            <a:r>
              <a:rPr lang="tr-TR" smtClean="0"/>
              <a:t>Bunun </a:t>
            </a:r>
            <a:r>
              <a:rPr lang="tr-TR" dirty="0"/>
              <a:t>basit örneği virüs yazılımlarıdır.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7307645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219</TotalTime>
  <Words>2514</Words>
  <Application>Microsoft Office PowerPoint</Application>
  <PresentationFormat>Ekran Gösterisi (4:3)</PresentationFormat>
  <Paragraphs>183</Paragraphs>
  <Slides>33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33</vt:i4>
      </vt:variant>
    </vt:vector>
  </HeadingPairs>
  <TitlesOfParts>
    <vt:vector size="38" baseType="lpstr">
      <vt:lpstr>ＭＳ Ｐゴシック</vt:lpstr>
      <vt:lpstr>Century Schoolbook</vt:lpstr>
      <vt:lpstr>Wingdings</vt:lpstr>
      <vt:lpstr>Wingdings 2</vt:lpstr>
      <vt:lpstr>Cumba</vt:lpstr>
      <vt:lpstr>Yönetim Bilişim Sistemleri </vt:lpstr>
      <vt:lpstr>Enformasyon Teknolojisi Altyapısı</vt:lpstr>
      <vt:lpstr>Enformasyon Teknolojisi (ET) Altyapı Hizmetleri</vt:lpstr>
      <vt:lpstr>ET Altyapısının Gelişimi  </vt:lpstr>
      <vt:lpstr>ET Altyapısının Gelişim Dönemleri</vt:lpstr>
      <vt:lpstr>Ana bilgisayar ve Mini bilgisayar dönemi (1959-Devam ediyor) </vt:lpstr>
      <vt:lpstr>İstemci /Sunucu Dönemi (1983-halen</vt:lpstr>
      <vt:lpstr>Kurumsal bilgi işlem dönemi (1992-halen)</vt:lpstr>
      <vt:lpstr>Bulut ve mobil bilgi işlem dönemi (2000 ve Sonrası)</vt:lpstr>
      <vt:lpstr>Altyapı Gelişiminde Teknoloji Desteği Sağlayanlar</vt:lpstr>
      <vt:lpstr>1. Moore Kuralı ve İşlemci Gücü</vt:lpstr>
      <vt:lpstr>2. Yığın Depolama Yasası</vt:lpstr>
      <vt:lpstr>3. Metcalfe'nin Kuralı ve Ağ Ekonomisi  </vt:lpstr>
      <vt:lpstr>4. Azalan İletişim Maliyeti ve Internet </vt:lpstr>
      <vt:lpstr>5. Standartlar ve Ağ İletişimi </vt:lpstr>
      <vt:lpstr>ET Altyapı Bileşenleri </vt:lpstr>
      <vt:lpstr>1. Bilgisayar Donanım Platformları</vt:lpstr>
      <vt:lpstr>2. İşletim Sistemi Platformları </vt:lpstr>
      <vt:lpstr>3. Kurumsal Yazılım Uygulamaları </vt:lpstr>
      <vt:lpstr>4. Veri Yönetimi ve Saklama</vt:lpstr>
      <vt:lpstr>5. Ağ/Telekomünikasyon Platformları</vt:lpstr>
      <vt:lpstr>6. İnternet Platformları</vt:lpstr>
      <vt:lpstr>7. Sistem Entegrasyonu</vt:lpstr>
      <vt:lpstr>Modern Donanım Platformu Eğilimleri</vt:lpstr>
      <vt:lpstr>1. Gelişmekte Olan Mobil Dijital Platform </vt:lpstr>
      <vt:lpstr>2. Şebeke (Grid) Bilgi İşlem</vt:lpstr>
      <vt:lpstr>3. Sanallaştırma</vt:lpstr>
      <vt:lpstr>4.Bulut Bilgi İşlem</vt:lpstr>
      <vt:lpstr>4.1.Bulut Bilgi İşlemin Özellikleri</vt:lpstr>
      <vt:lpstr>4.2.Bulut Bilgi İşlemin Hizmet Kapsamı</vt:lpstr>
      <vt:lpstr>4.3.Bulut Bilgi İşlemin SAKINCALARI</vt:lpstr>
      <vt:lpstr>5. Yeşil Bilgi İşlem</vt:lpstr>
      <vt:lpstr>6. Otonom Bilgi İşlem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İLERİ PROGRAMLAMA</dc:title>
  <dc:creator>SFuat</dc:creator>
  <cp:lastModifiedBy>Windows Kullanıcısı</cp:lastModifiedBy>
  <cp:revision>91</cp:revision>
  <dcterms:created xsi:type="dcterms:W3CDTF">2020-02-18T10:38:04Z</dcterms:created>
  <dcterms:modified xsi:type="dcterms:W3CDTF">2022-11-14T06:48:55Z</dcterms:modified>
</cp:coreProperties>
</file>