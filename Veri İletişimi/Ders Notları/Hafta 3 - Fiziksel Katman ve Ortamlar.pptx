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6"/>
  </p:notesMasterIdLst>
  <p:sldIdLst>
    <p:sldId id="256" r:id="rId2"/>
    <p:sldId id="257" r:id="rId3"/>
    <p:sldId id="259" r:id="rId4"/>
    <p:sldId id="260" r:id="rId5"/>
    <p:sldId id="287" r:id="rId6"/>
    <p:sldId id="262" r:id="rId7"/>
    <p:sldId id="263" r:id="rId8"/>
    <p:sldId id="264" r:id="rId9"/>
    <p:sldId id="261" r:id="rId10"/>
    <p:sldId id="265" r:id="rId11"/>
    <p:sldId id="266" r:id="rId12"/>
    <p:sldId id="267" r:id="rId13"/>
    <p:sldId id="268" r:id="rId14"/>
    <p:sldId id="269" r:id="rId15"/>
    <p:sldId id="270" r:id="rId16"/>
    <p:sldId id="288" r:id="rId17"/>
    <p:sldId id="271" r:id="rId18"/>
    <p:sldId id="272" r:id="rId19"/>
    <p:sldId id="273" r:id="rId20"/>
    <p:sldId id="274" r:id="rId21"/>
    <p:sldId id="284" r:id="rId22"/>
    <p:sldId id="275" r:id="rId23"/>
    <p:sldId id="290" r:id="rId24"/>
    <p:sldId id="276" r:id="rId25"/>
    <p:sldId id="289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5" r:id="rId34"/>
    <p:sldId id="286" r:id="rId35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7B173-5008-4D7F-950B-33F63ABDEC04}" type="datetimeFigureOut">
              <a:rPr lang="tr-TR" smtClean="0"/>
              <a:t>31.10.2018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8CAA7A-356A-4D29-8885-1B4FDA50399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79400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Composite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sinyal çok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sayıda sinüs sinyalinin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birleşimiyle oluşur.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1900lerde Jean‐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Baptiste</a:t>
            </a:r>
            <a:endParaRPr lang="tr-TR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Fourier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herhangi bir</a:t>
            </a:r>
          </a:p>
          <a:p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composite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sinyalin,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genliği, frekansı ve fazı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farklı basit sinüs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sinyallerinin birleşimi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olduğunu göstermiştir.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f, </a:t>
            </a:r>
            <a:r>
              <a:rPr lang="tr-TR" sz="1200" b="0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fundemantal</a:t>
            </a:r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(temel)</a:t>
            </a:r>
          </a:p>
          <a:p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frekans 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veya 1.harmonik,</a:t>
            </a:r>
          </a:p>
          <a:p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3f, 3.harmonik, 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 </a:t>
            </a:r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9f,</a:t>
            </a:r>
          </a:p>
          <a:p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9.harmoniktir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8CAA7A-356A-4D29-8885-1B4FDA50399F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4886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 periyodik sinyalin bant genişliği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20Hz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En yüksek 60Hz ise en düşük frekans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nedir ? Sinyalin tüm bileşenleri aynı genlikte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olduğuna göre spektrumu çiziniz.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8CAA7A-356A-4D29-8885-1B4FDA50399F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0479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Sayısal sinyallerin çoğu periyodik değildir.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Bit rate saniyede gönderilen bit sayısıdır (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bps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Bit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length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bir bit için iletim ortamında alınan yoldur.</a:t>
            </a:r>
          </a:p>
          <a:p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bit length = propagation speed * bit duration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Örnek: 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 sayfada 24 satır ve 80 sütun olan 100 sayfalık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dosya 1 saniyede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download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edilmiştir. Her karakter 8 bit</a:t>
            </a:r>
          </a:p>
          <a:p>
            <a:r>
              <a:rPr lang="sv-S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olduğuna göre bit rate nedir?</a:t>
            </a:r>
          </a:p>
          <a:p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Bit rate = 100*24*80*8 = 1.536.000 bps = 1,536 Mbps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Örnek: 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HDTV için bit rate nedir ?</a:t>
            </a:r>
          </a:p>
          <a:p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HDTV ekranı 16:9 boyutundadır. Ekranda 1920*1080 piksel</a:t>
            </a:r>
          </a:p>
          <a:p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vardır. Her piksel 24 bitle gösterilir ve ekran saniyede 30 defa</a:t>
            </a:r>
          </a:p>
          <a:p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yenilenir.</a:t>
            </a:r>
          </a:p>
          <a:p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Bit rate = 1920*1080*30*24 = 1.492.992.000 bps = 1,5 </a:t>
            </a:r>
            <a:r>
              <a:rPr lang="en-US" sz="1200" b="0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Gbps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8CAA7A-356A-4D29-8885-1B4FDA50399F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979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Genişbant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genişliğine sahip iletim ortamıyla iki cihaz çok iyi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haberleşebilir.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Şekilde f1 sıfıra yakın f2 ise çok yüksek bir frekanstır.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Sayısal sinyalin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baseband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iletiminde orijinal şekli korunur.</a:t>
            </a:r>
          </a:p>
          <a:p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Low‐pass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kanalın 0 ile yüksek bir bant genişliğine sahip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olması gerekir.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LAN ağlarda bir kanal oluşturulur ve tüm bant genişliği iki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cihaz arasındaki iletişime ayrılır.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8CAA7A-356A-4D29-8885-1B4FDA50399F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28645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Örnek: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Baseband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iletişimle 1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Mbps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hızla veri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göndermek için gerekli bant genişliği ne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olmalıdır ?</a:t>
            </a:r>
          </a:p>
          <a:p>
            <a:r>
              <a:rPr lang="tr-TR" sz="1200" b="0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Low‐pass</a:t>
            </a:r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kanal için minimum BW = N / 2 = 1Mbps / 2 = 500KHz ( sadece 1.harmonik)</a:t>
            </a:r>
          </a:p>
          <a:p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Daha iyi BW = 3 * 500 KHz = 1.5 MHz (1. ve 3. </a:t>
            </a:r>
            <a:r>
              <a:rPr lang="tr-TR" sz="1200" b="0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harmonik</a:t>
            </a:r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5.Harmonik kullanılırsa BW = 5 * 500 KHz = 2.5 MHz (1., 3., 5. </a:t>
            </a:r>
            <a:r>
              <a:rPr lang="tr-TR" sz="1200" b="0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harmonik</a:t>
            </a:r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Örnek: 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 KHz bant genişliğinde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low‐pass</a:t>
            </a:r>
            <a:endParaRPr lang="tr-TR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kanal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ile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maksimum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bit rate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nedir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?</a:t>
            </a:r>
          </a:p>
          <a:p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</a:t>
            </a:r>
            <a:r>
              <a:rPr lang="tr-TR" sz="1200" b="0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Harmonik</a:t>
            </a:r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kullanılır maksimum bit rate elde edilir.</a:t>
            </a:r>
          </a:p>
          <a:p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BW = N/2, N (Bit rate) = 100 KHz * 2 = 200 Kbps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8CAA7A-356A-4D29-8885-1B4FDA50399F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2050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Örnek: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Baseband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iletişimle 1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Mbps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hızla veri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göndermek için gerekli bant genişliği ne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olmalıdır ?</a:t>
            </a:r>
          </a:p>
          <a:p>
            <a:r>
              <a:rPr lang="tr-TR" sz="1200" b="0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Low‐pass</a:t>
            </a:r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kanal için minimum BW = N / 2 = 1Mbps / 2 = 500KHz ( sadece 1.harmonik)</a:t>
            </a:r>
          </a:p>
          <a:p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Daha iyi BW = 3 * 500 KHz = 1.5 MHz (1. ve 3. </a:t>
            </a:r>
            <a:r>
              <a:rPr lang="tr-TR" sz="1200" b="0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harmonik</a:t>
            </a:r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5.Harmonik kullanılırsa BW = 5 * 500 KHz = 2.5 MHz (1., 3., 5. </a:t>
            </a:r>
            <a:r>
              <a:rPr lang="tr-TR" sz="1200" b="0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harmonik</a:t>
            </a:r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Örnek: 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 KHz bant genişliğinde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low‐pass</a:t>
            </a:r>
            <a:endParaRPr lang="tr-TR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kanal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ile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maksimum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bit rate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nedir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?</a:t>
            </a:r>
          </a:p>
          <a:p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</a:t>
            </a:r>
            <a:r>
              <a:rPr lang="tr-TR" sz="1200" b="0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Harmonik</a:t>
            </a:r>
            <a:r>
              <a:rPr lang="tr-T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kullanılır maksimum bit rate elde edilir.</a:t>
            </a:r>
          </a:p>
          <a:p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BW = N/2, N (Bit rate) = 100 KHz * 2 = 200 Kbps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8CAA7A-356A-4D29-8885-1B4FDA50399F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0604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Broadband iletişim yapılırsa sayısal sinyali analog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sinyale dönüştürmek gerekir. Bunun için modem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tr-TR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modulator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tr-TR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demodulator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kullanılır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8CAA7A-356A-4D29-8885-1B4FDA50399F}" type="slidenum">
              <a:rPr lang="tr-TR" smtClean="0"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5173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İletim ortamında sinyal zayıflar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 gönderilenle aynı olmaz.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Sinyal zayıflamasının</a:t>
            </a:r>
          </a:p>
          <a:p>
            <a:r>
              <a:rPr lang="tr-TR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attenuation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tr-TR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distortion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ve</a:t>
            </a:r>
          </a:p>
          <a:p>
            <a:r>
              <a:rPr lang="fi-FI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noise </a:t>
            </a:r>
            <a:r>
              <a:rPr lang="fi-FI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olarak 3 nedeni vardır.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Attenuation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sinyalin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enerjisinin ortamın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direncinden dolayı azalmasıdır.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Sinyaldeki zayıflama ve kazanç</a:t>
            </a:r>
          </a:p>
          <a:p>
            <a:r>
              <a:rPr lang="it-IT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decibel (dB) ile ifade edilir.</a:t>
            </a:r>
            <a:endParaRPr lang="tr-TR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Örnek: 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P2 = ½ P1 ise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attenuation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nedir?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10*log10(P2/P1) = 10*log10(0.5 P1/P1) =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10*(‐0.3) = ‐3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</a:t>
            </a:r>
            <a:endParaRPr lang="tr-TR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Örnek: 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P2 = 10P1 ise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attenuation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nedir ?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10*log10(P2/P1) = 10*log10(10) = 10*(1) = 10</a:t>
            </a:r>
          </a:p>
          <a:p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8CAA7A-356A-4D29-8885-1B4FDA50399F}" type="slidenum">
              <a:rPr lang="tr-TR" smtClean="0"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037891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Noise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sinyalde bozulma yapan etkilerdir. </a:t>
            </a:r>
            <a:r>
              <a:rPr lang="tr-TR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Thermal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noise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</a:p>
          <a:p>
            <a:r>
              <a:rPr lang="tr-TR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induced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noise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tr-TR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crosstalk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ve </a:t>
            </a:r>
            <a:r>
              <a:rPr lang="tr-TR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impulse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noise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sinyali bozabilir.</a:t>
            </a:r>
          </a:p>
          <a:p>
            <a:r>
              <a:rPr lang="da-DK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Thermal noise, telde elektron hareketlerinden oluşur.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Induced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noise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motor veya diğer cihazlardan oluşabilir.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Crosstalk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bir kablonun diğerini etkilemesiyle oluşur.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Impulse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noise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öngörülemeyen ve aniden oluşan (şimşek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vb.) etkilerdir.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8CAA7A-356A-4D29-8885-1B4FDA50399F}" type="slidenum">
              <a:rPr lang="tr-TR" smtClean="0"/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8445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SNRdB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10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10 SNR olarak ifade edilir.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Örnek: 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Sinyal gücü 10mW ve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noise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gücü 1</a:t>
            </a:r>
            <a:r>
              <a:rPr lang="el-G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μ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 ise SNR ve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SNRdB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nedir?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SNR = 10.000</a:t>
            </a:r>
            <a:r>
              <a:rPr lang="el-G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μ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W/1</a:t>
            </a:r>
            <a:r>
              <a:rPr lang="el-G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μ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 = 10.000,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SNRdB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10log10SNR =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10log1010.000 = 40dB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8CAA7A-356A-4D29-8885-1B4FDA50399F}" type="slidenum">
              <a:rPr lang="tr-TR" smtClean="0"/>
              <a:t>29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910866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Örnek: 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BW = 3000 Hz olan bir sistemde L=2 ise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maksimum bit rate nedir?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Bit rate = 2 * BW * log2L = 6000 * log2 2 = 6000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bps</a:t>
            </a:r>
            <a:endParaRPr lang="tr-TR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Sinyal seviye sayısı 4 olursa,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Bit rate = 2 * BW * log24 = 6000 * 2 = 12000 bps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Örnek: 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265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kbps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bit rate için, BW=20 kHz olan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gürültüsüz ortamda kaç seviyeli, sinyal kullanılmalıdır.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265000 = 2*20000*log2L → 265000/40000 = log2L → L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 98.7 seviye gereklidir.</a:t>
            </a:r>
            <a:endParaRPr lang="tr-TR" dirty="0" smtClean="0"/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8CAA7A-356A-4D29-8885-1B4FDA50399F}" type="slidenum">
              <a:rPr lang="tr-TR" smtClean="0"/>
              <a:t>30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46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Örnek: 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SNR değeri yaklaşık 0 olan çok gürültülü bir kanalda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kapasite ne kadardır ?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 = BW*log2(1+SNR) = BW*log21 = 0 olur.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Örnek: 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Telefon hatlarında BW=3000Hz (3300‐300Hz)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SNR değeri genellikle 3162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Kanal kapasitesi nedir ?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 =BW*log2(1+SNR)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 3000*log2(1+3162) = 3000*11.62 = 34.860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bps</a:t>
            </a:r>
            <a:endParaRPr lang="tr-TR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Örnek: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SNRdB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36 ve BW = 2 MHz olan kanalda teorik kanal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kapasitesi nedir ?</a:t>
            </a:r>
          </a:p>
          <a:p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SNRdB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10log10SNR → SNR = 3981</a:t>
            </a:r>
          </a:p>
          <a:p>
            <a:r>
              <a:rPr lang="sv-S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 = BW * log2(1+SNR) = 2*106*log2(3982) = 24 Mbps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8CAA7A-356A-4D29-8885-1B4FDA50399F}" type="slidenum">
              <a:rPr lang="tr-TR" smtClean="0"/>
              <a:t>31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43223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Örnek: 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2.5kbyte bir e‐mail için 1Gbps bant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genişliği olan ağda PT ve TT değerleri nedir?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Alıcı verici arasında 12000km mesafe var ve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yayılım hızı 2.4*108m/s.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 = (12000*103)/2.4*108 = 50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</a:t>
            </a:r>
            <a:endParaRPr lang="tr-TR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sv-S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TT = (2500*8)/109 = 0.02 ms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8CAA7A-356A-4D29-8885-1B4FDA50399F}" type="slidenum">
              <a:rPr lang="tr-TR" smtClean="0"/>
              <a:t>32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2211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/>
              <a:t>Asıl alt başlık stilini düzenlemek için tıklatın</a:t>
            </a:r>
            <a:endParaRPr kumimoji="0" lang="en-US"/>
          </a:p>
        </p:txBody>
      </p:sp>
      <p:sp>
        <p:nvSpPr>
          <p:cNvPr id="28" name="Veri Yer Tutucusu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7091AC1B-5A1E-4AA8-95A3-B6E4C5E3713E}" type="datetimeFigureOut">
              <a:rPr lang="tr-TR" smtClean="0"/>
              <a:t>31.10.2018</a:t>
            </a:fld>
            <a:endParaRPr lang="tr-TR"/>
          </a:p>
        </p:txBody>
      </p:sp>
      <p:sp>
        <p:nvSpPr>
          <p:cNvPr id="17" name="Altbilgi Yer Tutucusu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tr-TR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AADF7F02-F250-43CE-A9AB-E177FF74AB62}" type="slidenum">
              <a:rPr lang="tr-TR" smtClean="0"/>
              <a:t>‹#›</a:t>
            </a:fld>
            <a:endParaRPr lang="tr-TR"/>
          </a:p>
        </p:txBody>
      </p:sp>
      <p:sp>
        <p:nvSpPr>
          <p:cNvPr id="21" name="Dikdörtgen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Dikdörtgen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Dikdörtgen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Dikdörtgen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AC1B-5A1E-4AA8-95A3-B6E4C5E3713E}" type="datetimeFigureOut">
              <a:rPr lang="tr-TR" smtClean="0"/>
              <a:t>31.10.2018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7F02-F250-43CE-A9AB-E177FF74AB62}" type="slidenum">
              <a:rPr lang="tr-TR" smtClean="0"/>
              <a:t>‹#›</a:t>
            </a:fld>
            <a:endParaRPr lang="tr-TR"/>
          </a:p>
        </p:txBody>
      </p:sp>
      <p:sp>
        <p:nvSpPr>
          <p:cNvPr id="8" name="İçerik Yer Tutucusu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7091AC1B-5A1E-4AA8-95A3-B6E4C5E3713E}" type="datetimeFigureOut">
              <a:rPr lang="tr-TR" smtClean="0"/>
              <a:t>31.10.2018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AADF7F02-F250-43CE-A9AB-E177FF74AB62}" type="slidenum">
              <a:rPr lang="tr-TR" smtClean="0"/>
              <a:t>‹#›</a:t>
            </a:fld>
            <a:endParaRPr lang="tr-TR"/>
          </a:p>
        </p:txBody>
      </p:sp>
      <p:sp>
        <p:nvSpPr>
          <p:cNvPr id="7" name="Dikdörtgen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Dikdörtgen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AC1B-5A1E-4AA8-95A3-B6E4C5E3713E}" type="datetimeFigureOut">
              <a:rPr lang="tr-TR" smtClean="0"/>
              <a:t>31.10.2018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7F02-F250-43CE-A9AB-E177FF74AB62}" type="slidenum">
              <a:rPr lang="tr-TR" smtClean="0"/>
              <a:t>‹#›</a:t>
            </a:fld>
            <a:endParaRPr lang="tr-TR"/>
          </a:p>
        </p:txBody>
      </p:sp>
      <p:sp>
        <p:nvSpPr>
          <p:cNvPr id="9" name="İçerik Yer Tutucusu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AC1B-5A1E-4AA8-95A3-B6E4C5E3713E}" type="datetimeFigureOut">
              <a:rPr lang="tr-TR" smtClean="0"/>
              <a:t>31.10.2018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7F02-F250-43CE-A9AB-E177FF74AB62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3" name="İçerik Yer Tutucusu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AC1B-5A1E-4AA8-95A3-B6E4C5E3713E}" type="datetimeFigureOut">
              <a:rPr lang="tr-TR" smtClean="0"/>
              <a:t>31.10.2018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7F02-F250-43CE-A9AB-E177FF74AB62}" type="slidenum">
              <a:rPr lang="tr-TR" smtClean="0"/>
              <a:t>‹#›</a:t>
            </a:fld>
            <a:endParaRPr lang="tr-TR"/>
          </a:p>
        </p:txBody>
      </p:sp>
      <p:sp>
        <p:nvSpPr>
          <p:cNvPr id="6" name="İkizkenar Üçgen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AC1B-5A1E-4AA8-95A3-B6E4C5E3713E}" type="datetimeFigureOut">
              <a:rPr lang="tr-TR" smtClean="0"/>
              <a:t>31.10.2018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7F02-F250-43CE-A9AB-E177FF74AB62}" type="slidenum">
              <a:rPr lang="tr-TR" smtClean="0"/>
              <a:t>‹#›</a:t>
            </a:fld>
            <a:endParaRPr lang="tr-TR"/>
          </a:p>
        </p:txBody>
      </p:sp>
      <p:sp>
        <p:nvSpPr>
          <p:cNvPr id="5" name="Düz Bağlayıcı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İkizkenar Üçgen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AC1B-5A1E-4AA8-95A3-B6E4C5E3713E}" type="datetimeFigureOut">
              <a:rPr lang="tr-TR" smtClean="0"/>
              <a:t>31.10.2018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7F02-F250-43CE-A9AB-E177FF74AB62}" type="slidenum">
              <a:rPr lang="tr-TR" smtClean="0"/>
              <a:t>‹#›</a:t>
            </a:fld>
            <a:endParaRPr lang="tr-TR"/>
          </a:p>
        </p:txBody>
      </p:sp>
      <p:sp>
        <p:nvSpPr>
          <p:cNvPr id="8" name="Düz Bağlayıcı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Düz Bağlayıcı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İkizkenar Üçgen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İçerik Yer Tutucusu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tr-TR"/>
              <a:t>Resim eklemek için simgeyi tıklatın</a:t>
            </a:r>
            <a:endParaRPr kumimoji="0" lang="en-US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AC1B-5A1E-4AA8-95A3-B6E4C5E3713E}" type="datetimeFigureOut">
              <a:rPr lang="tr-TR" smtClean="0"/>
              <a:t>31.10.2018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7F02-F250-43CE-A9AB-E177FF74AB62}" type="slidenum">
              <a:rPr lang="tr-TR" smtClean="0"/>
              <a:t>‹#›</a:t>
            </a:fld>
            <a:endParaRPr lang="tr-TR"/>
          </a:p>
        </p:txBody>
      </p:sp>
      <p:sp>
        <p:nvSpPr>
          <p:cNvPr id="8" name="Düz Bağlayıcı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İkizkenar Üçgen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Dikdörtgen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AC1B-5A1E-4AA8-95A3-B6E4C5E3713E}" type="datetimeFigureOut">
              <a:rPr lang="tr-TR" smtClean="0"/>
              <a:t>31.10.2018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7F02-F250-43CE-A9AB-E177FF74AB62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AC1B-5A1E-4AA8-95A3-B6E4C5E3713E}" type="datetimeFigureOut">
              <a:rPr lang="tr-TR" smtClean="0"/>
              <a:t>31.10.2018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7F02-F250-43CE-A9AB-E177FF74AB62}" type="slidenum">
              <a:rPr lang="tr-TR" smtClean="0"/>
              <a:t>‹#›</a:t>
            </a:fld>
            <a:endParaRPr lang="tr-TR"/>
          </a:p>
        </p:txBody>
      </p:sp>
      <p:sp>
        <p:nvSpPr>
          <p:cNvPr id="7" name="Düz Bağlayıcı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İkizkenar Üçgen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Düz Bağlayıcı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/>
              <a:t>Asıl metin stillerini düzenlemek için tıklatın</a:t>
            </a:r>
          </a:p>
          <a:p>
            <a:pPr lvl="1" eaLnBrk="1" latinLnBrk="0" hangingPunct="1"/>
            <a:r>
              <a:rPr kumimoji="0" lang="tr-TR"/>
              <a:t>İkinci düzey</a:t>
            </a:r>
          </a:p>
          <a:p>
            <a:pPr lvl="2" eaLnBrk="1" latinLnBrk="0" hangingPunct="1"/>
            <a:r>
              <a:rPr kumimoji="0" lang="tr-TR"/>
              <a:t>Üçüncü düzey</a:t>
            </a:r>
          </a:p>
          <a:p>
            <a:pPr lvl="3" eaLnBrk="1" latinLnBrk="0" hangingPunct="1"/>
            <a:r>
              <a:rPr kumimoji="0" lang="tr-TR"/>
              <a:t>Dördüncü düzey</a:t>
            </a:r>
          </a:p>
          <a:p>
            <a:pPr lvl="4" eaLnBrk="1" latinLnBrk="0" hangingPunct="1"/>
            <a:r>
              <a:rPr kumimoji="0" lang="tr-TR"/>
              <a:t>Beşinci düzey</a:t>
            </a:r>
            <a:endParaRPr kumimoji="0" lang="en-US"/>
          </a:p>
        </p:txBody>
      </p:sp>
      <p:sp>
        <p:nvSpPr>
          <p:cNvPr id="14" name="Veri Yer Tutucusu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091AC1B-5A1E-4AA8-95A3-B6E4C5E3713E}" type="datetimeFigureOut">
              <a:rPr lang="tr-TR" smtClean="0"/>
              <a:t>31.10.2018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ADF7F02-F250-43CE-A9AB-E177FF74AB62}" type="slidenum">
              <a:rPr lang="tr-TR" smtClean="0"/>
              <a:t>‹#›</a:t>
            </a:fld>
            <a:endParaRPr lang="tr-TR"/>
          </a:p>
        </p:txBody>
      </p:sp>
      <p:sp>
        <p:nvSpPr>
          <p:cNvPr id="28" name="Düz Bağlayıcı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Düz Bağlayıcı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İkizkenar Üçgen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Fiziksel Katman ve Ortamlar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443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Analog ve Sayısal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Veri analog veya dijital olabilir.</a:t>
            </a:r>
          </a:p>
          <a:p>
            <a:r>
              <a:rPr lang="tr-TR" dirty="0"/>
              <a:t>Analog veri sürekli bilgiyi, sayısal veri ayrık veriyi gösterir.</a:t>
            </a:r>
          </a:p>
          <a:p>
            <a:r>
              <a:rPr lang="tr-TR" b="1" dirty="0"/>
              <a:t>Analog sinyal </a:t>
            </a:r>
            <a:r>
              <a:rPr lang="tr-TR" dirty="0"/>
              <a:t>belli bir zaman periyodu aralığında sonsuz seviyedeki bilgiyi gösterir. </a:t>
            </a:r>
            <a:r>
              <a:rPr lang="tr-TR" b="1" dirty="0"/>
              <a:t>Sayısal sinyal</a:t>
            </a:r>
            <a:r>
              <a:rPr lang="tr-TR" dirty="0"/>
              <a:t>, sınırlı sayıda veriyi ifade etmek içindir. Genellikle 0 ve 1 değerini ifade eder.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61048"/>
            <a:ext cx="7200900" cy="258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6818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Analog ve Sayısal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Analog ve sayısal sinyalin iki formu vardır</a:t>
            </a:r>
          </a:p>
          <a:p>
            <a:pPr lvl="1"/>
            <a:r>
              <a:rPr lang="tr-TR" b="1" dirty="0"/>
              <a:t>Periyodik Sinyal</a:t>
            </a:r>
            <a:r>
              <a:rPr lang="tr-TR" dirty="0"/>
              <a:t>, belirli bir zaman aralığında sürekli aynı işareti tekrarlar</a:t>
            </a:r>
          </a:p>
          <a:p>
            <a:pPr lvl="2"/>
            <a:r>
              <a:rPr lang="tr-TR" dirty="0"/>
              <a:t>Periyodik sinyallerde bir zaman aralığı </a:t>
            </a:r>
            <a:r>
              <a:rPr lang="tr-TR" b="1" dirty="0"/>
              <a:t>periyod</a:t>
            </a:r>
            <a:r>
              <a:rPr lang="tr-TR" dirty="0"/>
              <a:t>, tekrar edilen işaret </a:t>
            </a:r>
            <a:r>
              <a:rPr lang="tr-TR" b="1" dirty="0" err="1"/>
              <a:t>saykıl</a:t>
            </a:r>
            <a:r>
              <a:rPr lang="tr-TR" b="1" dirty="0"/>
              <a:t> (</a:t>
            </a:r>
            <a:r>
              <a:rPr lang="tr-TR" b="1" dirty="0" err="1"/>
              <a:t>cycle</a:t>
            </a:r>
            <a:r>
              <a:rPr lang="tr-TR" b="1" dirty="0"/>
              <a:t>) </a:t>
            </a:r>
            <a:r>
              <a:rPr lang="tr-TR" dirty="0"/>
              <a:t>olarak </a:t>
            </a:r>
            <a:r>
              <a:rPr lang="tr-TR" dirty="0" smtClean="0"/>
              <a:t>adlandırılır. Frekans 1 saniyedeki tekrar sayısıdır.</a:t>
            </a:r>
            <a:endParaRPr lang="tr-TR" dirty="0"/>
          </a:p>
          <a:p>
            <a:pPr lvl="1"/>
            <a:r>
              <a:rPr lang="tr-TR" b="1" dirty="0" err="1"/>
              <a:t>Aperiyodik</a:t>
            </a:r>
            <a:r>
              <a:rPr lang="tr-TR" b="1" dirty="0"/>
              <a:t> Sinyal</a:t>
            </a:r>
            <a:r>
              <a:rPr lang="tr-TR" dirty="0"/>
              <a:t>, tekrarlayan işaret bulundurmaz.</a:t>
            </a:r>
          </a:p>
          <a:p>
            <a:pPr lvl="2"/>
            <a:r>
              <a:rPr lang="tr-TR" b="1" dirty="0" smtClean="0"/>
              <a:t>Periyodu sonsuzdur</a:t>
            </a:r>
            <a:r>
              <a:rPr lang="tr-TR" dirty="0" smtClean="0"/>
              <a:t> </a:t>
            </a:r>
            <a:r>
              <a:rPr lang="tr-TR" dirty="0"/>
              <a:t>ve </a:t>
            </a:r>
            <a:r>
              <a:rPr lang="tr-TR" dirty="0" smtClean="0"/>
              <a:t>frekans değeri sıfırdır.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36566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Periyodik Analog Sinyaller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/>
              <a:t>İkiye ayrılır.</a:t>
            </a:r>
          </a:p>
          <a:p>
            <a:pPr lvl="1"/>
            <a:r>
              <a:rPr lang="tr-TR" dirty="0"/>
              <a:t>Basit </a:t>
            </a:r>
            <a:r>
              <a:rPr lang="tr-TR" dirty="0" smtClean="0"/>
              <a:t>ve Birleşik periyodik </a:t>
            </a:r>
            <a:r>
              <a:rPr lang="tr-TR" dirty="0"/>
              <a:t>analog sinyaller</a:t>
            </a:r>
          </a:p>
          <a:p>
            <a:pPr lvl="2"/>
            <a:r>
              <a:rPr lang="tr-TR" sz="2300" dirty="0">
                <a:solidFill>
                  <a:schemeClr val="tx2"/>
                </a:solidFill>
              </a:rPr>
              <a:t>Basit analog sinyal olan sinüs sinyali daha basit sinyallere ayrıştırılamaz.</a:t>
            </a:r>
          </a:p>
          <a:p>
            <a:pPr lvl="2"/>
            <a:r>
              <a:rPr lang="tr-TR" sz="2300" dirty="0">
                <a:solidFill>
                  <a:schemeClr val="tx2"/>
                </a:solidFill>
              </a:rPr>
              <a:t>Birleşik analog sinyaller basit sinüs sinyalleriyle oluşturulabilir.</a:t>
            </a:r>
          </a:p>
          <a:p>
            <a:pPr lvl="2"/>
            <a:r>
              <a:rPr lang="tr-TR" sz="2300" dirty="0">
                <a:solidFill>
                  <a:schemeClr val="tx2"/>
                </a:solidFill>
              </a:rPr>
              <a:t>Bir sinüs sinyali genlik (</a:t>
            </a:r>
            <a:r>
              <a:rPr lang="tr-TR" sz="2300" dirty="0" err="1">
                <a:solidFill>
                  <a:schemeClr val="tx2"/>
                </a:solidFill>
              </a:rPr>
              <a:t>peak</a:t>
            </a:r>
            <a:r>
              <a:rPr lang="tr-TR" sz="2300" dirty="0">
                <a:solidFill>
                  <a:schemeClr val="tx2"/>
                </a:solidFill>
              </a:rPr>
              <a:t> </a:t>
            </a:r>
            <a:r>
              <a:rPr lang="tr-TR" sz="2300" dirty="0" err="1">
                <a:solidFill>
                  <a:schemeClr val="tx2"/>
                </a:solidFill>
              </a:rPr>
              <a:t>amplitude</a:t>
            </a:r>
            <a:r>
              <a:rPr lang="tr-TR" sz="2300" dirty="0">
                <a:solidFill>
                  <a:schemeClr val="tx2"/>
                </a:solidFill>
              </a:rPr>
              <a:t> - Volt), frekans (</a:t>
            </a:r>
            <a:r>
              <a:rPr lang="tr-TR" sz="2300" dirty="0" err="1">
                <a:solidFill>
                  <a:schemeClr val="tx2"/>
                </a:solidFill>
              </a:rPr>
              <a:t>frequency</a:t>
            </a:r>
            <a:r>
              <a:rPr lang="tr-TR" sz="2300" dirty="0">
                <a:solidFill>
                  <a:schemeClr val="tx2"/>
                </a:solidFill>
              </a:rPr>
              <a:t> - Hertz) ve faz (</a:t>
            </a:r>
            <a:r>
              <a:rPr lang="tr-TR" sz="2300" dirty="0" err="1">
                <a:solidFill>
                  <a:schemeClr val="tx2"/>
                </a:solidFill>
              </a:rPr>
              <a:t>phase</a:t>
            </a:r>
            <a:r>
              <a:rPr lang="tr-TR" sz="2300" dirty="0">
                <a:solidFill>
                  <a:schemeClr val="tx2"/>
                </a:solidFill>
              </a:rPr>
              <a:t> - derece) ile ifade edilir.</a:t>
            </a:r>
          </a:p>
          <a:p>
            <a:pPr lvl="3"/>
            <a:endParaRPr lang="tr-TR" sz="2300" dirty="0">
              <a:solidFill>
                <a:schemeClr val="tx2"/>
              </a:solidFill>
            </a:endParaRPr>
          </a:p>
          <a:p>
            <a:pPr lvl="3"/>
            <a:endParaRPr lang="tr-TR" dirty="0"/>
          </a:p>
          <a:p>
            <a:pPr lvl="3"/>
            <a:endParaRPr lang="tr-TR" dirty="0"/>
          </a:p>
          <a:p>
            <a:pPr lvl="3"/>
            <a:endParaRPr lang="tr-TR" dirty="0"/>
          </a:p>
          <a:p>
            <a:pPr lvl="3"/>
            <a:endParaRPr lang="tr-TR" dirty="0"/>
          </a:p>
          <a:p>
            <a:pPr lvl="1"/>
            <a:endParaRPr lang="tr-TR" dirty="0"/>
          </a:p>
        </p:txBody>
      </p:sp>
      <p:pic>
        <p:nvPicPr>
          <p:cNvPr id="7" name="İçerik Yer Tutucusu 6"/>
          <p:cNvPicPr>
            <a:picLocks noGrp="1" noChangeAspect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4498848" y="1150867"/>
            <a:ext cx="4256566" cy="500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57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Periyod sinyalin bir </a:t>
            </a:r>
            <a:r>
              <a:rPr lang="tr-TR" dirty="0" err="1" smtClean="0"/>
              <a:t>cycle</a:t>
            </a:r>
            <a:r>
              <a:rPr lang="tr-TR" dirty="0"/>
              <a:t> </a:t>
            </a:r>
            <a:r>
              <a:rPr lang="tr-TR" dirty="0" smtClean="0"/>
              <a:t>tamamlaması </a:t>
            </a:r>
            <a:r>
              <a:rPr lang="tr-TR" dirty="0"/>
              <a:t>için </a:t>
            </a:r>
            <a:r>
              <a:rPr lang="tr-TR" dirty="0" smtClean="0"/>
              <a:t>geçen süreyi </a:t>
            </a:r>
            <a:r>
              <a:rPr lang="tr-TR" dirty="0"/>
              <a:t>ve frekans 1 </a:t>
            </a:r>
            <a:r>
              <a:rPr lang="tr-TR" dirty="0" smtClean="0"/>
              <a:t>saniyedeki periyod </a:t>
            </a:r>
            <a:r>
              <a:rPr lang="tr-TR" dirty="0"/>
              <a:t>sayısını gösterir.</a:t>
            </a:r>
          </a:p>
          <a:p>
            <a:pPr marL="0" indent="0">
              <a:buNone/>
            </a:pPr>
            <a:r>
              <a:rPr lang="tr-TR" i="1" dirty="0" smtClean="0"/>
              <a:t>	f </a:t>
            </a:r>
            <a:r>
              <a:rPr lang="tr-TR" i="1" dirty="0"/>
              <a:t>= 1 / T , T = 1 / f</a:t>
            </a:r>
          </a:p>
          <a:p>
            <a:r>
              <a:rPr lang="da-DK" dirty="0" smtClean="0"/>
              <a:t>Periyod </a:t>
            </a:r>
            <a:r>
              <a:rPr lang="da-DK" dirty="0"/>
              <a:t>(s) ile frekans </a:t>
            </a:r>
            <a:r>
              <a:rPr lang="da-DK" dirty="0" smtClean="0"/>
              <a:t>Hertz</a:t>
            </a:r>
            <a:r>
              <a:rPr lang="tr-TR" dirty="0" smtClean="0"/>
              <a:t> (Hz</a:t>
            </a:r>
            <a:r>
              <a:rPr lang="tr-TR" dirty="0"/>
              <a:t>) ile ifade edilir.</a:t>
            </a:r>
          </a:p>
          <a:p>
            <a:r>
              <a:rPr lang="tr-TR" dirty="0" smtClean="0"/>
              <a:t>Hiç </a:t>
            </a:r>
            <a:r>
              <a:rPr lang="tr-TR" dirty="0"/>
              <a:t>değişmeyen </a:t>
            </a:r>
            <a:r>
              <a:rPr lang="tr-TR" dirty="0" smtClean="0"/>
              <a:t>sinyalin frekansı </a:t>
            </a:r>
            <a:r>
              <a:rPr lang="tr-TR" dirty="0"/>
              <a:t>0 ve </a:t>
            </a:r>
            <a:r>
              <a:rPr lang="tr-TR" dirty="0" smtClean="0"/>
              <a:t>periyodu sonsuzdur</a:t>
            </a:r>
            <a:r>
              <a:rPr lang="tr-TR" dirty="0"/>
              <a:t>.</a:t>
            </a:r>
          </a:p>
          <a:p>
            <a:r>
              <a:rPr lang="tr-TR" dirty="0" smtClean="0"/>
              <a:t>Ani </a:t>
            </a:r>
            <a:r>
              <a:rPr lang="tr-TR" dirty="0"/>
              <a:t>değişen sinyalin </a:t>
            </a:r>
            <a:r>
              <a:rPr lang="tr-TR" dirty="0" smtClean="0"/>
              <a:t>periyodu 0 </a:t>
            </a:r>
            <a:r>
              <a:rPr lang="tr-TR" dirty="0"/>
              <a:t>ve frekansı sonsuzdur</a:t>
            </a:r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4430117" y="1700808"/>
            <a:ext cx="4680296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818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5 </a:t>
            </a:r>
            <a:r>
              <a:rPr lang="tr-TR" dirty="0" err="1"/>
              <a:t>sn</a:t>
            </a:r>
            <a:r>
              <a:rPr lang="tr-TR" dirty="0"/>
              <a:t> </a:t>
            </a:r>
            <a:r>
              <a:rPr lang="tr-TR" dirty="0" err="1"/>
              <a:t>lik</a:t>
            </a:r>
            <a:r>
              <a:rPr lang="tr-TR" dirty="0"/>
              <a:t> periyodik analog sinyal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Picture 7" descr="C:\Users\mevlut\Desktop\veriiletisişim\sinüseğrisi5Hz5sn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0" t="4646" r="8060" b="5654"/>
          <a:stretch/>
        </p:blipFill>
        <p:spPr bwMode="auto">
          <a:xfrm>
            <a:off x="27624" y="1266824"/>
            <a:ext cx="9116376" cy="497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913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10 Hz sinyal</a:t>
            </a:r>
          </a:p>
        </p:txBody>
      </p:sp>
      <p:pic>
        <p:nvPicPr>
          <p:cNvPr id="4" name="Picture 5" descr="C:\Users\mevlut\Desktop\veriiletisişim\sinüseğris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84784"/>
            <a:ext cx="6195392" cy="464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6831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50 Hz 220 V</a:t>
            </a:r>
          </a:p>
        </p:txBody>
      </p:sp>
      <p:pic>
        <p:nvPicPr>
          <p:cNvPr id="3074" name="Picture 2" descr="C:\Users\mevlut\Desktop\veriiletisişim\sinüseğrisi50Hz220V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9" t="5445" r="8897" b="5701"/>
          <a:stretch/>
        </p:blipFill>
        <p:spPr bwMode="auto">
          <a:xfrm>
            <a:off x="107504" y="1196752"/>
            <a:ext cx="8909745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677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Faz 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Zaman sıfır iken sinyalin pozisyonunu gösterir.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113" y="1700808"/>
            <a:ext cx="5057775" cy="500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5861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Dalga Boyu (</a:t>
            </a:r>
            <a:r>
              <a:rPr lang="tr-TR" dirty="0" err="1"/>
              <a:t>Wavelength</a:t>
            </a:r>
            <a:r>
              <a:rPr lang="tr-TR" dirty="0"/>
              <a:t>)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Sinyalin bir periyotta aldığı yolun uzunluğudur.</a:t>
            </a:r>
          </a:p>
          <a:p>
            <a:r>
              <a:rPr lang="tr-TR" dirty="0"/>
              <a:t>Birimi metredir.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Sinyalin frekansı ortamdan bağımsız iken, dalga boyu hem frekansa hem de ortama bağlıdır.</a:t>
            </a:r>
          </a:p>
          <a:p>
            <a:r>
              <a:rPr lang="tr-TR" dirty="0"/>
              <a:t>Veri iletişiminde genellikle fiber optik iletimlerde ışığın dalga boyu terimi kullanılır.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204864"/>
            <a:ext cx="7058025" cy="194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5326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Zaman ve Frekans Düzlemi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Zaman düzlemi grafiği sinyalin zamana göre değişimini gösterir.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Frekans Düzlemi, frekans ve genlik arasındaki ilişkiyi gösterir</a:t>
            </a:r>
          </a:p>
          <a:p>
            <a:endParaRPr lang="tr-T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682" y="1772816"/>
            <a:ext cx="5788694" cy="2018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682" y="4763789"/>
            <a:ext cx="6104780" cy="1877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3631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Periyodik analog sinyal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Şekilde iki sinüs sinyali ile DC sinyalin </a:t>
            </a:r>
            <a:r>
              <a:rPr lang="tr-TR" dirty="0" smtClean="0"/>
              <a:t>frekans düzleminde </a:t>
            </a:r>
            <a:r>
              <a:rPr lang="tr-TR" dirty="0"/>
              <a:t>gösterimi verilmiştir</a:t>
            </a:r>
            <a:r>
              <a:rPr lang="tr-TR" dirty="0" smtClean="0"/>
              <a:t>.</a:t>
            </a:r>
          </a:p>
          <a:p>
            <a:r>
              <a:rPr lang="tr-TR" dirty="0"/>
              <a:t>Şekildeki DC sinyalin frekansı 0 ve genliği 15 tir.</a:t>
            </a: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3235"/>
            <a:ext cx="8118318" cy="32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8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52128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Composite</a:t>
            </a:r>
            <a:r>
              <a:rPr lang="tr-TR" dirty="0"/>
              <a:t> </a:t>
            </a:r>
            <a:r>
              <a:rPr lang="tr-TR" dirty="0" smtClean="0"/>
              <a:t>Sinyal – Periyodik Analog sinyal</a:t>
            </a:r>
            <a:endParaRPr lang="tr-T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196752"/>
            <a:ext cx="4546079" cy="1727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609" y="3013448"/>
            <a:ext cx="5500663" cy="2038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4941168"/>
            <a:ext cx="5644679" cy="1678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1172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Aperiyodik</a:t>
            </a:r>
            <a:r>
              <a:rPr lang="tr-TR" dirty="0"/>
              <a:t> Sinyaller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2005013"/>
            <a:ext cx="8439150" cy="284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7124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Band</a:t>
            </a:r>
            <a:r>
              <a:rPr lang="tr-TR" dirty="0"/>
              <a:t> Genişliği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 err="1"/>
              <a:t>Composite</a:t>
            </a:r>
            <a:r>
              <a:rPr lang="tr-TR" dirty="0"/>
              <a:t> sinyali oluşturan sinyallerin frekans aralığı </a:t>
            </a:r>
            <a:r>
              <a:rPr lang="tr-TR" dirty="0" err="1"/>
              <a:t>band</a:t>
            </a:r>
            <a:r>
              <a:rPr lang="tr-TR" dirty="0"/>
              <a:t> genişliği olarak adlandırılır.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239940"/>
            <a:ext cx="5344443" cy="441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2881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Örnek: 100,300,500,700 ve </a:t>
            </a:r>
            <a:r>
              <a:rPr lang="tr-TR" dirty="0" smtClean="0"/>
              <a:t>900Hz </a:t>
            </a:r>
            <a:r>
              <a:rPr lang="nn-NO" dirty="0" smtClean="0"/>
              <a:t>frekanslarında </a:t>
            </a:r>
            <a:r>
              <a:rPr lang="nn-NO" dirty="0"/>
              <a:t>10V genlikli 5 tane </a:t>
            </a:r>
            <a:r>
              <a:rPr lang="nn-NO" dirty="0" smtClean="0"/>
              <a:t>sinüs</a:t>
            </a:r>
            <a:r>
              <a:rPr lang="tr-TR" dirty="0" smtClean="0"/>
              <a:t> sinyalinden </a:t>
            </a:r>
            <a:r>
              <a:rPr lang="tr-TR" dirty="0"/>
              <a:t>oluşan periyodik sinyalin </a:t>
            </a:r>
            <a:r>
              <a:rPr lang="tr-TR" dirty="0" smtClean="0"/>
              <a:t>frekans düzlemi </a:t>
            </a:r>
            <a:r>
              <a:rPr lang="tr-TR" dirty="0"/>
              <a:t>grafiğini çiziniz.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442" y="2869452"/>
            <a:ext cx="6447771" cy="257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544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Sayısal Sinyaller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Sayısal </a:t>
            </a:r>
            <a:r>
              <a:rPr lang="tr-TR" dirty="0"/>
              <a:t>sinyal </a:t>
            </a:r>
            <a:r>
              <a:rPr lang="tr-TR" dirty="0" smtClean="0"/>
              <a:t>ikiden fazla </a:t>
            </a:r>
            <a:r>
              <a:rPr lang="tr-TR" dirty="0"/>
              <a:t>genliğe </a:t>
            </a:r>
            <a:r>
              <a:rPr lang="tr-TR" dirty="0" smtClean="0"/>
              <a:t>sahip olabilir</a:t>
            </a:r>
            <a:r>
              <a:rPr lang="tr-TR" dirty="0"/>
              <a:t>. </a:t>
            </a:r>
            <a:r>
              <a:rPr lang="tr-TR" i="1" dirty="0"/>
              <a:t>L tane </a:t>
            </a:r>
            <a:r>
              <a:rPr lang="tr-TR" i="1" dirty="0" smtClean="0"/>
              <a:t>seviyeye sahip </a:t>
            </a:r>
            <a:r>
              <a:rPr lang="tr-TR" dirty="0"/>
              <a:t>sinyalin </a:t>
            </a:r>
            <a:r>
              <a:rPr lang="tr-TR" dirty="0" smtClean="0"/>
              <a:t>her seviyesinde </a:t>
            </a:r>
            <a:r>
              <a:rPr lang="tr-TR" b="1" i="1" dirty="0" smtClean="0"/>
              <a:t>log</a:t>
            </a:r>
            <a:r>
              <a:rPr lang="tr-TR" b="1" i="1" baseline="-25000" dirty="0" smtClean="0"/>
              <a:t>2</a:t>
            </a:r>
            <a:r>
              <a:rPr lang="tr-TR" b="1" i="1" dirty="0" smtClean="0"/>
              <a:t> L bit ifade edilir</a:t>
            </a:r>
            <a:endParaRPr lang="tr-TR" baseline="-25000" dirty="0"/>
          </a:p>
        </p:txBody>
      </p:sp>
      <p:sp>
        <p:nvSpPr>
          <p:cNvPr id="4" name="İçerik Yer Tutucusu 3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949" y="1216152"/>
            <a:ext cx="4520152" cy="4129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6159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Sayısal Sinyaller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Sayısal Sinyallerin çoğu periyodik değildir.</a:t>
            </a:r>
          </a:p>
          <a:p>
            <a:pPr lvl="1"/>
            <a:r>
              <a:rPr lang="tr-TR" dirty="0"/>
              <a:t>Bit rate saniyede gönderilen bit sayısıdır (</a:t>
            </a:r>
            <a:r>
              <a:rPr lang="tr-TR" dirty="0" err="1"/>
              <a:t>bps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Bit </a:t>
            </a:r>
            <a:r>
              <a:rPr lang="tr-TR" dirty="0" err="1"/>
              <a:t>length</a:t>
            </a:r>
            <a:r>
              <a:rPr lang="tr-TR" dirty="0"/>
              <a:t> bir bit için iletim ortamında alınan yoldur.</a:t>
            </a:r>
          </a:p>
          <a:p>
            <a:pPr lvl="1"/>
            <a:r>
              <a:rPr lang="tr-TR" dirty="0"/>
              <a:t>Bit </a:t>
            </a:r>
            <a:r>
              <a:rPr lang="tr-TR" dirty="0" err="1"/>
              <a:t>length</a:t>
            </a:r>
            <a:r>
              <a:rPr lang="tr-TR" dirty="0"/>
              <a:t>=</a:t>
            </a:r>
            <a:r>
              <a:rPr lang="tr-TR" dirty="0" err="1"/>
              <a:t>propagation</a:t>
            </a:r>
            <a:r>
              <a:rPr lang="tr-TR" dirty="0"/>
              <a:t> </a:t>
            </a:r>
            <a:r>
              <a:rPr lang="tr-TR" dirty="0" err="1"/>
              <a:t>speed</a:t>
            </a:r>
            <a:r>
              <a:rPr lang="tr-TR" dirty="0"/>
              <a:t>*bit </a:t>
            </a:r>
            <a:r>
              <a:rPr lang="tr-TR" dirty="0" err="1"/>
              <a:t>duration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4853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Sayısal Sinyalin iletimi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sz="2400" dirty="0" err="1"/>
              <a:t>Baseband</a:t>
            </a:r>
            <a:r>
              <a:rPr lang="tr-TR" sz="2400" dirty="0"/>
              <a:t> veya </a:t>
            </a:r>
            <a:r>
              <a:rPr lang="tr-TR" sz="2400" dirty="0" err="1"/>
              <a:t>broadband</a:t>
            </a:r>
            <a:r>
              <a:rPr lang="tr-TR" sz="2400" dirty="0"/>
              <a:t> (modülasyon kullanılarak) iletilir.</a:t>
            </a:r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r>
              <a:rPr lang="tr-TR" sz="2400" dirty="0" err="1"/>
              <a:t>Baseband</a:t>
            </a:r>
            <a:r>
              <a:rPr lang="tr-TR" sz="2400" dirty="0"/>
              <a:t> iletişimde sayısal sinyal kullanılır.</a:t>
            </a:r>
          </a:p>
          <a:p>
            <a:r>
              <a:rPr lang="tr-TR" sz="2400" dirty="0" err="1"/>
              <a:t>Baseband</a:t>
            </a:r>
            <a:r>
              <a:rPr lang="tr-TR" sz="2400" dirty="0"/>
              <a:t> iletişimde bir alçak geçiren kanal kullanılır. İletim ortamı sadece bir kanal oluşturur.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205" y="1844824"/>
            <a:ext cx="3601964" cy="1007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223446"/>
            <a:ext cx="4238799" cy="2229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76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Sayısal Sinyaller (</a:t>
            </a:r>
            <a:r>
              <a:rPr lang="tr-TR" dirty="0" err="1"/>
              <a:t>Baseband</a:t>
            </a:r>
            <a:r>
              <a:rPr lang="tr-TR" dirty="0"/>
              <a:t> İletişim)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Alçak geçiren kanal, Geniş bant genişliği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2166938"/>
            <a:ext cx="8524875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082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Sayısal Sinyaller (</a:t>
            </a:r>
            <a:r>
              <a:rPr lang="tr-TR" dirty="0" err="1"/>
              <a:t>Baseband</a:t>
            </a:r>
            <a:r>
              <a:rPr lang="tr-TR" dirty="0"/>
              <a:t> İletişim)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222283"/>
            <a:ext cx="5702535" cy="458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107504" y="1198846"/>
            <a:ext cx="3514776" cy="4937760"/>
          </a:xfrm>
        </p:spPr>
        <p:txBody>
          <a:bodyPr>
            <a:noAutofit/>
          </a:bodyPr>
          <a:lstStyle/>
          <a:p>
            <a:r>
              <a:rPr lang="tr-TR" sz="1800" dirty="0"/>
              <a:t>Sınırlı bant </a:t>
            </a:r>
            <a:r>
              <a:rPr lang="tr-TR" sz="1800" dirty="0" smtClean="0"/>
              <a:t>genişliğine sahip </a:t>
            </a:r>
            <a:r>
              <a:rPr lang="tr-TR" sz="1800" dirty="0"/>
              <a:t>iletim </a:t>
            </a:r>
            <a:r>
              <a:rPr lang="tr-TR" sz="1800" dirty="0" smtClean="0"/>
              <a:t>ortamıyla yapılan </a:t>
            </a:r>
            <a:r>
              <a:rPr lang="tr-TR" sz="1800" dirty="0"/>
              <a:t>iletişimde </a:t>
            </a:r>
            <a:r>
              <a:rPr lang="tr-TR" sz="1800" dirty="0" smtClean="0"/>
              <a:t>analog sinyal </a:t>
            </a:r>
            <a:r>
              <a:rPr lang="tr-TR" sz="1800" dirty="0"/>
              <a:t>ile sayısal </a:t>
            </a:r>
            <a:r>
              <a:rPr lang="tr-TR" sz="1800" dirty="0" smtClean="0"/>
              <a:t>sinyal yaklaşık </a:t>
            </a:r>
            <a:r>
              <a:rPr lang="tr-TR" sz="1800" dirty="0"/>
              <a:t>elde edilir.</a:t>
            </a:r>
          </a:p>
          <a:p>
            <a:r>
              <a:rPr lang="tr-TR" sz="1800" b="1" dirty="0" smtClean="0"/>
              <a:t> Elde </a:t>
            </a:r>
            <a:r>
              <a:rPr lang="tr-TR" sz="1800" b="1" dirty="0"/>
              <a:t>edilen </a:t>
            </a:r>
            <a:r>
              <a:rPr lang="tr-TR" sz="1800" b="1" dirty="0" smtClean="0"/>
              <a:t>sinyalin, orijinal </a:t>
            </a:r>
            <a:r>
              <a:rPr lang="tr-TR" sz="1800" b="1" dirty="0"/>
              <a:t>sayısal </a:t>
            </a:r>
            <a:r>
              <a:rPr lang="tr-TR" sz="1800" b="1" dirty="0" smtClean="0"/>
              <a:t>sinyale benzeme </a:t>
            </a:r>
            <a:r>
              <a:rPr lang="tr-TR" sz="1800" b="1" dirty="0"/>
              <a:t>oranı </a:t>
            </a:r>
            <a:r>
              <a:rPr lang="tr-TR" sz="1800" b="1" dirty="0" smtClean="0"/>
              <a:t>bant genişliğine </a:t>
            </a:r>
            <a:r>
              <a:rPr lang="tr-TR" sz="1800" b="1" dirty="0"/>
              <a:t>bağlıdır.</a:t>
            </a:r>
          </a:p>
          <a:p>
            <a:r>
              <a:rPr lang="tr-TR" sz="1800" dirty="0" smtClean="0"/>
              <a:t>Şekilde </a:t>
            </a:r>
            <a:r>
              <a:rPr lang="tr-TR" sz="1800" dirty="0"/>
              <a:t>N bit </a:t>
            </a:r>
            <a:r>
              <a:rPr lang="tr-TR" sz="1800" dirty="0" smtClean="0"/>
              <a:t>oranını gösterir</a:t>
            </a:r>
            <a:r>
              <a:rPr lang="tr-TR" sz="1800" dirty="0"/>
              <a:t>. Analog </a:t>
            </a:r>
            <a:r>
              <a:rPr lang="tr-TR" sz="1800" dirty="0" smtClean="0"/>
              <a:t>sinyalin maksimum </a:t>
            </a:r>
            <a:r>
              <a:rPr lang="tr-TR" sz="1800" dirty="0"/>
              <a:t>frekansı </a:t>
            </a:r>
            <a:r>
              <a:rPr lang="tr-TR" sz="1800" dirty="0" smtClean="0"/>
              <a:t>en kötü </a:t>
            </a:r>
            <a:r>
              <a:rPr lang="tr-TR" sz="1800" dirty="0"/>
              <a:t>durum olan </a:t>
            </a:r>
            <a:r>
              <a:rPr lang="tr-TR" sz="1800" dirty="0" smtClean="0"/>
              <a:t>1010 </a:t>
            </a:r>
            <a:r>
              <a:rPr lang="pt-BR" sz="1800" dirty="0" smtClean="0"/>
              <a:t>veya </a:t>
            </a:r>
            <a:r>
              <a:rPr lang="pt-BR" sz="1800" dirty="0"/>
              <a:t>0101 için N/2 </a:t>
            </a:r>
            <a:r>
              <a:rPr lang="pt-BR" sz="1800" dirty="0" smtClean="0"/>
              <a:t>dir.</a:t>
            </a:r>
            <a:r>
              <a:rPr lang="tr-TR" sz="1800" dirty="0" smtClean="0"/>
              <a:t> Diğerleri </a:t>
            </a:r>
            <a:r>
              <a:rPr lang="tr-TR" sz="1800" dirty="0"/>
              <a:t>için N/4 tür</a:t>
            </a:r>
            <a:r>
              <a:rPr lang="tr-TR" sz="1800" dirty="0" smtClean="0"/>
              <a:t>.</a:t>
            </a:r>
          </a:p>
          <a:p>
            <a:r>
              <a:rPr lang="tr-TR" b="1" i="1" dirty="0"/>
              <a:t>Bant genişliği = </a:t>
            </a:r>
            <a:r>
              <a:rPr lang="tr-TR" b="1" i="1" dirty="0" smtClean="0"/>
              <a:t>N/2-0=N/2</a:t>
            </a:r>
            <a:endParaRPr lang="tr-TR" sz="1800" dirty="0"/>
          </a:p>
        </p:txBody>
      </p:sp>
    </p:spTree>
    <p:extLst>
      <p:ext uri="{BB962C8B-B14F-4D97-AF65-F5344CB8AC3E}">
        <p14:creationId xmlns:p14="http://schemas.microsoft.com/office/powerpoint/2010/main" val="3462808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Sayısal Sinyal (</a:t>
            </a:r>
            <a:r>
              <a:rPr lang="tr-TR" dirty="0" err="1"/>
              <a:t>Baseband</a:t>
            </a:r>
            <a:r>
              <a:rPr lang="tr-TR" dirty="0"/>
              <a:t> İletişim)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412776"/>
            <a:ext cx="5507439" cy="4504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ikdörtgen 2"/>
          <p:cNvSpPr/>
          <p:nvPr/>
        </p:nvSpPr>
        <p:spPr>
          <a:xfrm>
            <a:off x="457200" y="1556792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dirty="0"/>
              <a:t>Analog sinyali, orijinal</a:t>
            </a:r>
          </a:p>
          <a:p>
            <a:r>
              <a:rPr lang="tr-TR" dirty="0"/>
              <a:t>sayısal sinyale daha çok</a:t>
            </a:r>
          </a:p>
          <a:p>
            <a:r>
              <a:rPr lang="tr-TR" dirty="0"/>
              <a:t>benzetmek için daha fazla</a:t>
            </a:r>
          </a:p>
          <a:p>
            <a:r>
              <a:rPr lang="tr-TR" dirty="0" err="1"/>
              <a:t>harmonik</a:t>
            </a:r>
            <a:r>
              <a:rPr lang="tr-TR" dirty="0"/>
              <a:t> kullanılması</a:t>
            </a:r>
          </a:p>
          <a:p>
            <a:r>
              <a:rPr lang="tr-TR" dirty="0"/>
              <a:t>gerekir. (Bant genişliğinin</a:t>
            </a:r>
          </a:p>
          <a:p>
            <a:r>
              <a:rPr lang="tr-TR" dirty="0"/>
              <a:t>artırılması gerekir.)</a:t>
            </a:r>
          </a:p>
          <a:p>
            <a:r>
              <a:rPr lang="tr-TR" dirty="0"/>
              <a:t>• </a:t>
            </a:r>
            <a:r>
              <a:rPr lang="tr-TR" b="1" dirty="0" err="1"/>
              <a:t>Baseband</a:t>
            </a:r>
            <a:r>
              <a:rPr lang="tr-TR" b="1" dirty="0"/>
              <a:t> iletişimde</a:t>
            </a:r>
          </a:p>
          <a:p>
            <a:r>
              <a:rPr lang="tr-TR" b="1" dirty="0"/>
              <a:t>gereken bant genişliği bit</a:t>
            </a:r>
          </a:p>
          <a:p>
            <a:r>
              <a:rPr lang="tr-TR" b="1" dirty="0"/>
              <a:t>rate değerine bağlıdır.</a:t>
            </a:r>
          </a:p>
          <a:p>
            <a:r>
              <a:rPr lang="tr-TR" dirty="0"/>
              <a:t>• </a:t>
            </a:r>
            <a:r>
              <a:rPr lang="tr-TR" dirty="0" err="1"/>
              <a:t>Baseband</a:t>
            </a:r>
            <a:r>
              <a:rPr lang="tr-TR" dirty="0"/>
              <a:t> iletişimde,</a:t>
            </a:r>
          </a:p>
          <a:p>
            <a:r>
              <a:rPr lang="tr-TR" dirty="0"/>
              <a:t>daha hızlı veri göndermek</a:t>
            </a:r>
          </a:p>
          <a:p>
            <a:r>
              <a:rPr lang="tr-TR" dirty="0"/>
              <a:t>için bant genişliğini</a:t>
            </a:r>
          </a:p>
          <a:p>
            <a:r>
              <a:rPr lang="tr-TR" dirty="0"/>
              <a:t>artırmak gerekir.</a:t>
            </a:r>
          </a:p>
        </p:txBody>
      </p:sp>
    </p:spTree>
    <p:extLst>
      <p:ext uri="{BB962C8B-B14F-4D97-AF65-F5344CB8AC3E}">
        <p14:creationId xmlns:p14="http://schemas.microsoft.com/office/powerpoint/2010/main" val="146088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van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Sayısal Sinyal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1115616" y="3360156"/>
            <a:ext cx="7107123" cy="1978218"/>
          </a:xfrm>
          <a:prstGeom prst="rect">
            <a:avLst/>
          </a:prstGeom>
        </p:spPr>
      </p:pic>
      <p:sp>
        <p:nvSpPr>
          <p:cNvPr id="7" name="Metin kutusu 6"/>
          <p:cNvSpPr txBox="1"/>
          <p:nvPr/>
        </p:nvSpPr>
        <p:spPr>
          <a:xfrm>
            <a:off x="251520" y="1916832"/>
            <a:ext cx="813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Tabloda farklı hızlarda (N) veri göndermek </a:t>
            </a:r>
            <a:r>
              <a:rPr lang="tr-TR" dirty="0" smtClean="0"/>
              <a:t>için gereken </a:t>
            </a:r>
            <a:r>
              <a:rPr lang="tr-TR" dirty="0"/>
              <a:t>bant genişlikleri (B) verilmiştir.</a:t>
            </a:r>
          </a:p>
          <a:p>
            <a:r>
              <a:rPr lang="tr-TR" dirty="0" smtClean="0"/>
              <a:t> </a:t>
            </a:r>
            <a:r>
              <a:rPr lang="tr-TR" dirty="0" err="1"/>
              <a:t>Baseband</a:t>
            </a:r>
            <a:r>
              <a:rPr lang="tr-TR" dirty="0"/>
              <a:t> iletişimde gereken bant genişliği </a:t>
            </a:r>
            <a:r>
              <a:rPr lang="tr-TR" dirty="0" smtClean="0"/>
              <a:t>bit rate </a:t>
            </a:r>
            <a:r>
              <a:rPr lang="tr-TR" dirty="0"/>
              <a:t>değerine bağlıdır.</a:t>
            </a:r>
          </a:p>
        </p:txBody>
      </p:sp>
    </p:spTree>
    <p:extLst>
      <p:ext uri="{BB962C8B-B14F-4D97-AF65-F5344CB8AC3E}">
        <p14:creationId xmlns:p14="http://schemas.microsoft.com/office/powerpoint/2010/main" val="302344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Sayısal Sinyaller (Broadband İletişim)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• Broadband iletişimde sayısal sinyal </a:t>
            </a:r>
            <a:r>
              <a:rPr lang="tr-TR" dirty="0" smtClean="0"/>
              <a:t>modüle edilerek </a:t>
            </a:r>
            <a:r>
              <a:rPr lang="tr-TR" dirty="0"/>
              <a:t>analog sinyale çevrilir.</a:t>
            </a:r>
          </a:p>
          <a:p>
            <a:r>
              <a:rPr lang="tr-TR" dirty="0" smtClean="0"/>
              <a:t>Modülasyon </a:t>
            </a:r>
            <a:r>
              <a:rPr lang="tr-TR" dirty="0"/>
              <a:t>bant geçiren kanal </a:t>
            </a:r>
            <a:r>
              <a:rPr lang="tr-TR" dirty="0" smtClean="0"/>
              <a:t>oluşturmayı sağlar</a:t>
            </a:r>
            <a:r>
              <a:rPr lang="tr-TR" dirty="0"/>
              <a:t>.</a:t>
            </a:r>
          </a:p>
          <a:p>
            <a:r>
              <a:rPr lang="tr-TR" dirty="0" smtClean="0"/>
              <a:t>Telefon </a:t>
            </a:r>
            <a:r>
              <a:rPr lang="tr-TR" dirty="0"/>
              <a:t>hatları 0‐4KHz bant genişliğinde </a:t>
            </a:r>
            <a:r>
              <a:rPr lang="tr-TR" dirty="0" smtClean="0"/>
              <a:t>ses sinyalleri </a:t>
            </a:r>
            <a:r>
              <a:rPr lang="tr-TR" dirty="0"/>
              <a:t>için tasarlanmıştır.</a:t>
            </a:r>
          </a:p>
          <a:p>
            <a:r>
              <a:rPr lang="tr-TR" dirty="0" err="1" smtClean="0"/>
              <a:t>Baseband</a:t>
            </a:r>
            <a:r>
              <a:rPr lang="tr-TR" dirty="0" smtClean="0"/>
              <a:t> </a:t>
            </a:r>
            <a:r>
              <a:rPr lang="tr-TR" dirty="0"/>
              <a:t>iletişim yapılırsa maksimum bit </a:t>
            </a:r>
            <a:r>
              <a:rPr lang="tr-TR" dirty="0" smtClean="0"/>
              <a:t>rate 8 </a:t>
            </a:r>
            <a:r>
              <a:rPr lang="tr-TR" dirty="0" err="1"/>
              <a:t>Kbps</a:t>
            </a:r>
            <a:r>
              <a:rPr lang="tr-TR" dirty="0"/>
              <a:t> olur.</a:t>
            </a:r>
          </a:p>
        </p:txBody>
      </p:sp>
    </p:spTree>
    <p:extLst>
      <p:ext uri="{BB962C8B-B14F-4D97-AF65-F5344CB8AC3E}">
        <p14:creationId xmlns:p14="http://schemas.microsoft.com/office/powerpoint/2010/main" val="131668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Sayısal Sinyaller (Broadband İletişim)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312673"/>
            <a:ext cx="7190571" cy="4926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012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İletişimin Zayıflaması 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 err="1"/>
              <a:t>Attenution</a:t>
            </a:r>
            <a:r>
              <a:rPr lang="tr-TR" dirty="0"/>
              <a:t> (Gücünde Azalma)</a:t>
            </a:r>
          </a:p>
          <a:p>
            <a:endParaRPr lang="tr-T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132856"/>
            <a:ext cx="7352877" cy="413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880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İletişimin Zayıflaması 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 err="1" smtClean="0"/>
              <a:t>Distortion</a:t>
            </a:r>
            <a:r>
              <a:rPr lang="tr-TR" dirty="0" smtClean="0"/>
              <a:t>,</a:t>
            </a:r>
            <a:r>
              <a:rPr lang="tr-TR" dirty="0"/>
              <a:t> sinyalin şeklinin değişmesini </a:t>
            </a:r>
            <a:r>
              <a:rPr lang="tr-TR" dirty="0" smtClean="0"/>
              <a:t>ifade eder</a:t>
            </a:r>
            <a:r>
              <a:rPr lang="tr-TR" dirty="0"/>
              <a:t>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04" y="2588481"/>
            <a:ext cx="8442499" cy="3568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230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İletişimin Zayıflaması 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 err="1"/>
              <a:t>Noise</a:t>
            </a:r>
            <a:r>
              <a:rPr lang="tr-TR" dirty="0"/>
              <a:t> (</a:t>
            </a:r>
            <a:r>
              <a:rPr lang="tr-TR" dirty="0" err="1"/>
              <a:t>thermal</a:t>
            </a:r>
            <a:r>
              <a:rPr lang="tr-TR" dirty="0"/>
              <a:t>, </a:t>
            </a:r>
            <a:r>
              <a:rPr lang="tr-TR" dirty="0" err="1"/>
              <a:t>induced</a:t>
            </a:r>
            <a:r>
              <a:rPr lang="tr-TR" dirty="0"/>
              <a:t>, </a:t>
            </a:r>
            <a:r>
              <a:rPr lang="tr-TR" dirty="0" err="1"/>
              <a:t>crosstalk</a:t>
            </a:r>
            <a:r>
              <a:rPr lang="tr-TR" dirty="0"/>
              <a:t>, </a:t>
            </a:r>
            <a:r>
              <a:rPr lang="tr-TR" dirty="0" err="1"/>
              <a:t>impulse</a:t>
            </a:r>
            <a:r>
              <a:rPr lang="tr-TR" dirty="0"/>
              <a:t>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974791"/>
            <a:ext cx="7392820" cy="3110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649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İletişimin Zayıflaması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 err="1"/>
              <a:t>Signal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Noise</a:t>
            </a:r>
            <a:r>
              <a:rPr lang="tr-TR" dirty="0"/>
              <a:t> </a:t>
            </a:r>
            <a:r>
              <a:rPr lang="tr-TR" dirty="0" err="1"/>
              <a:t>Ratio</a:t>
            </a:r>
            <a:r>
              <a:rPr lang="tr-TR" dirty="0"/>
              <a:t> (SNR) Sinyal gücünün gürültü gücüne oranı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060848"/>
            <a:ext cx="6523008" cy="3793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9655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İletişiminin Sınırlılıkları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Veri Hızına etki eden 3 faktör vardır</a:t>
            </a:r>
          </a:p>
          <a:p>
            <a:pPr lvl="1"/>
            <a:r>
              <a:rPr lang="tr-TR" dirty="0"/>
              <a:t>Bant genişliği uygunluğu</a:t>
            </a:r>
          </a:p>
          <a:p>
            <a:pPr lvl="1"/>
            <a:r>
              <a:rPr lang="tr-TR" dirty="0"/>
              <a:t>Kullanılan sinyaldeki seviye sayısı</a:t>
            </a:r>
          </a:p>
          <a:p>
            <a:pPr lvl="1"/>
            <a:r>
              <a:rPr lang="tr-TR" dirty="0"/>
              <a:t>Kanal Kalitesi (</a:t>
            </a:r>
            <a:r>
              <a:rPr lang="tr-TR" dirty="0" err="1"/>
              <a:t>Noise</a:t>
            </a:r>
            <a:r>
              <a:rPr lang="tr-TR" dirty="0"/>
              <a:t> Seviyesi)</a:t>
            </a:r>
          </a:p>
          <a:p>
            <a:r>
              <a:rPr lang="tr-TR" dirty="0" err="1"/>
              <a:t>Nyquist</a:t>
            </a:r>
            <a:r>
              <a:rPr lang="tr-TR" dirty="0"/>
              <a:t> tarafından gürültüsüz, </a:t>
            </a:r>
            <a:r>
              <a:rPr lang="tr-TR" dirty="0" err="1"/>
              <a:t>Shannon</a:t>
            </a:r>
            <a:r>
              <a:rPr lang="tr-TR" dirty="0"/>
              <a:t> tarafından gürültülü kanal için data rate oranı belirlenmiştir.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L arttıkça sistemin güvenilirliği azalır</a:t>
            </a:r>
          </a:p>
          <a:p>
            <a:endParaRPr lang="tr-T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933056"/>
            <a:ext cx="5447057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8524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İletişiminin Sınırlılıkları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 err="1"/>
              <a:t>Shannon</a:t>
            </a:r>
            <a:r>
              <a:rPr lang="tr-TR" dirty="0"/>
              <a:t> gürültülü kanal için en yüksek bit rate;</a:t>
            </a:r>
          </a:p>
          <a:p>
            <a:endParaRPr lang="tr-TR" dirty="0"/>
          </a:p>
          <a:p>
            <a:endParaRPr lang="tr-TR" dirty="0"/>
          </a:p>
          <a:p>
            <a:r>
              <a:rPr lang="tr-TR" dirty="0" err="1"/>
              <a:t>Kapasitebir</a:t>
            </a:r>
            <a:r>
              <a:rPr lang="tr-TR" dirty="0"/>
              <a:t> kanalın özelliğini belirler. </a:t>
            </a:r>
            <a:r>
              <a:rPr lang="tr-TR" dirty="0" smtClean="0"/>
              <a:t>İletişim metodunu </a:t>
            </a:r>
            <a:r>
              <a:rPr lang="tr-TR" dirty="0"/>
              <a:t>değil </a:t>
            </a:r>
            <a:r>
              <a:rPr lang="tr-TR" dirty="0" smtClean="0"/>
              <a:t>!</a:t>
            </a:r>
          </a:p>
          <a:p>
            <a:r>
              <a:rPr lang="tr-TR" dirty="0" smtClean="0"/>
              <a:t>Kapasite</a:t>
            </a:r>
            <a:r>
              <a:rPr lang="tr-TR" dirty="0"/>
              <a:t>,  kaç seviye kullanılırsa kullanılsın maksimum bit rate değerini gösterir</a:t>
            </a:r>
          </a:p>
          <a:p>
            <a:endParaRPr lang="tr-T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060848"/>
            <a:ext cx="5267189" cy="589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0257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Performans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179512" y="1219200"/>
            <a:ext cx="8856984" cy="4937760"/>
          </a:xfrm>
        </p:spPr>
        <p:txBody>
          <a:bodyPr/>
          <a:lstStyle/>
          <a:p>
            <a:r>
              <a:rPr lang="tr-TR" dirty="0"/>
              <a:t>Bant genişliği (Hz , </a:t>
            </a:r>
            <a:r>
              <a:rPr lang="tr-TR" dirty="0" err="1"/>
              <a:t>bps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Hertzde bant genişliği </a:t>
            </a:r>
            <a:r>
              <a:rPr lang="tr-TR" dirty="0" err="1"/>
              <a:t>kompozit</a:t>
            </a:r>
            <a:r>
              <a:rPr lang="tr-TR" dirty="0"/>
              <a:t> bir sinyalde veya kanal geçiren bir kanalda frekans aralığını gösterir.</a:t>
            </a:r>
          </a:p>
          <a:p>
            <a:pPr lvl="1"/>
            <a:r>
              <a:rPr lang="tr-TR" dirty="0" err="1"/>
              <a:t>Bpsde</a:t>
            </a:r>
            <a:r>
              <a:rPr lang="tr-TR" dirty="0"/>
              <a:t> bant genişliği kanaldaki veya bağlantıdaki bit iletim hızını gösterir.</a:t>
            </a:r>
          </a:p>
          <a:p>
            <a:r>
              <a:rPr lang="tr-TR" dirty="0" err="1"/>
              <a:t>Throughput</a:t>
            </a:r>
            <a:r>
              <a:rPr lang="tr-TR" dirty="0"/>
              <a:t> (bir bağlantının gerçek </a:t>
            </a:r>
            <a:r>
              <a:rPr lang="tr-TR" dirty="0" err="1"/>
              <a:t>bps</a:t>
            </a:r>
            <a:r>
              <a:rPr lang="tr-TR" dirty="0"/>
              <a:t> değeridir)</a:t>
            </a:r>
          </a:p>
          <a:p>
            <a:r>
              <a:rPr lang="tr-TR" dirty="0" err="1"/>
              <a:t>Latency</a:t>
            </a:r>
            <a:r>
              <a:rPr lang="tr-TR" dirty="0"/>
              <a:t> (</a:t>
            </a:r>
            <a:r>
              <a:rPr lang="tr-TR" dirty="0" err="1"/>
              <a:t>delay</a:t>
            </a:r>
            <a:r>
              <a:rPr lang="tr-TR" dirty="0"/>
              <a:t>)</a:t>
            </a:r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en-US" sz="2000" dirty="0"/>
              <a:t>Latency =propagation time +transmission time +queuing </a:t>
            </a:r>
            <a:r>
              <a:rPr lang="tr-TR" sz="2000" dirty="0"/>
              <a:t> </a:t>
            </a:r>
            <a:r>
              <a:rPr lang="en-US" sz="2000" dirty="0"/>
              <a:t>time + processing delay</a:t>
            </a:r>
            <a:endParaRPr lang="tr-TR" sz="2000" dirty="0"/>
          </a:p>
          <a:p>
            <a:endParaRPr lang="tr-TR" dirty="0"/>
          </a:p>
        </p:txBody>
      </p:sp>
      <p:sp>
        <p:nvSpPr>
          <p:cNvPr id="47" name="SMARTInkShape-42"/>
          <p:cNvSpPr/>
          <p:nvPr/>
        </p:nvSpPr>
        <p:spPr>
          <a:xfrm>
            <a:off x="7768828" y="4938117"/>
            <a:ext cx="759025" cy="98229"/>
          </a:xfrm>
          <a:custGeom>
            <a:avLst/>
            <a:gdLst/>
            <a:ahLst/>
            <a:cxnLst/>
            <a:rect l="0" t="0" r="0" b="0"/>
            <a:pathLst>
              <a:path w="759025" h="98229">
                <a:moveTo>
                  <a:pt x="0" y="98228"/>
                </a:moveTo>
                <a:lnTo>
                  <a:pt x="34339" y="93486"/>
                </a:lnTo>
                <a:lnTo>
                  <a:pt x="76320" y="81057"/>
                </a:lnTo>
                <a:lnTo>
                  <a:pt x="111972" y="73067"/>
                </a:lnTo>
                <a:lnTo>
                  <a:pt x="150969" y="65216"/>
                </a:lnTo>
                <a:lnTo>
                  <a:pt x="191451" y="55112"/>
                </a:lnTo>
                <a:lnTo>
                  <a:pt x="232594" y="46653"/>
                </a:lnTo>
                <a:lnTo>
                  <a:pt x="274031" y="38594"/>
                </a:lnTo>
                <a:lnTo>
                  <a:pt x="315599" y="28398"/>
                </a:lnTo>
                <a:lnTo>
                  <a:pt x="357225" y="22543"/>
                </a:lnTo>
                <a:lnTo>
                  <a:pt x="398876" y="18949"/>
                </a:lnTo>
                <a:lnTo>
                  <a:pt x="440538" y="14044"/>
                </a:lnTo>
                <a:lnTo>
                  <a:pt x="479561" y="11203"/>
                </a:lnTo>
                <a:lnTo>
                  <a:pt x="515755" y="9940"/>
                </a:lnTo>
                <a:lnTo>
                  <a:pt x="548378" y="9379"/>
                </a:lnTo>
                <a:lnTo>
                  <a:pt x="589895" y="9063"/>
                </a:lnTo>
                <a:lnTo>
                  <a:pt x="627331" y="8969"/>
                </a:lnTo>
                <a:lnTo>
                  <a:pt x="669400" y="8938"/>
                </a:lnTo>
                <a:lnTo>
                  <a:pt x="712252" y="8931"/>
                </a:lnTo>
                <a:lnTo>
                  <a:pt x="737888" y="6285"/>
                </a:lnTo>
                <a:lnTo>
                  <a:pt x="759024" y="0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pSp>
        <p:nvGrpSpPr>
          <p:cNvPr id="71" name="SMARTInkShape-Group5"/>
          <p:cNvGrpSpPr/>
          <p:nvPr/>
        </p:nvGrpSpPr>
        <p:grpSpPr>
          <a:xfrm>
            <a:off x="2223492" y="5491758"/>
            <a:ext cx="1647942" cy="377786"/>
            <a:chOff x="2223492" y="5491758"/>
            <a:chExt cx="1647942" cy="377786"/>
          </a:xfrm>
        </p:grpSpPr>
        <p:sp>
          <p:nvSpPr>
            <p:cNvPr id="48" name="SMARTInkShape-43"/>
            <p:cNvSpPr/>
            <p:nvPr/>
          </p:nvSpPr>
          <p:spPr>
            <a:xfrm>
              <a:off x="3161109" y="5491758"/>
              <a:ext cx="571501" cy="75335"/>
            </a:xfrm>
            <a:custGeom>
              <a:avLst/>
              <a:gdLst/>
              <a:ahLst/>
              <a:cxnLst/>
              <a:rect l="0" t="0" r="0" b="0"/>
              <a:pathLst>
                <a:path w="571501" h="75335">
                  <a:moveTo>
                    <a:pt x="0" y="0"/>
                  </a:moveTo>
                  <a:lnTo>
                    <a:pt x="4741" y="0"/>
                  </a:lnTo>
                  <a:lnTo>
                    <a:pt x="48261" y="15231"/>
                  </a:lnTo>
                  <a:lnTo>
                    <a:pt x="87170" y="23915"/>
                  </a:lnTo>
                  <a:lnTo>
                    <a:pt x="119110" y="29811"/>
                  </a:lnTo>
                  <a:lnTo>
                    <a:pt x="155795" y="38385"/>
                  </a:lnTo>
                  <a:lnTo>
                    <a:pt x="196242" y="47817"/>
                  </a:lnTo>
                  <a:lnTo>
                    <a:pt x="240678" y="55317"/>
                  </a:lnTo>
                  <a:lnTo>
                    <a:pt x="264632" y="58706"/>
                  </a:lnTo>
                  <a:lnTo>
                    <a:pt x="289530" y="61958"/>
                  </a:lnTo>
                  <a:lnTo>
                    <a:pt x="315059" y="65118"/>
                  </a:lnTo>
                  <a:lnTo>
                    <a:pt x="340016" y="68216"/>
                  </a:lnTo>
                  <a:lnTo>
                    <a:pt x="364592" y="71275"/>
                  </a:lnTo>
                  <a:lnTo>
                    <a:pt x="388913" y="74305"/>
                  </a:lnTo>
                  <a:lnTo>
                    <a:pt x="413064" y="75334"/>
                  </a:lnTo>
                  <a:lnTo>
                    <a:pt x="437103" y="75027"/>
                  </a:lnTo>
                  <a:lnTo>
                    <a:pt x="461066" y="73830"/>
                  </a:lnTo>
                  <a:lnTo>
                    <a:pt x="483987" y="72040"/>
                  </a:lnTo>
                  <a:lnTo>
                    <a:pt x="527976" y="67406"/>
                  </a:lnTo>
                  <a:lnTo>
                    <a:pt x="571500" y="6250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9" name="SMARTInkShape-44"/>
            <p:cNvSpPr/>
            <p:nvPr/>
          </p:nvSpPr>
          <p:spPr>
            <a:xfrm>
              <a:off x="3848695" y="5661422"/>
              <a:ext cx="22739" cy="133946"/>
            </a:xfrm>
            <a:custGeom>
              <a:avLst/>
              <a:gdLst/>
              <a:ahLst/>
              <a:cxnLst/>
              <a:rect l="0" t="0" r="0" b="0"/>
              <a:pathLst>
                <a:path w="22739" h="133946">
                  <a:moveTo>
                    <a:pt x="0" y="0"/>
                  </a:moveTo>
                  <a:lnTo>
                    <a:pt x="0" y="4740"/>
                  </a:lnTo>
                  <a:lnTo>
                    <a:pt x="11024" y="47595"/>
                  </a:lnTo>
                  <a:lnTo>
                    <a:pt x="17952" y="88692"/>
                  </a:lnTo>
                  <a:lnTo>
                    <a:pt x="22738" y="109072"/>
                  </a:lnTo>
                  <a:lnTo>
                    <a:pt x="17860" y="13394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50" name="SMARTInkShape-45"/>
            <p:cNvSpPr/>
            <p:nvPr/>
          </p:nvSpPr>
          <p:spPr>
            <a:xfrm>
              <a:off x="3723680" y="5732859"/>
              <a:ext cx="89298" cy="35720"/>
            </a:xfrm>
            <a:custGeom>
              <a:avLst/>
              <a:gdLst/>
              <a:ahLst/>
              <a:cxnLst/>
              <a:rect l="0" t="0" r="0" b="0"/>
              <a:pathLst>
                <a:path w="89298" h="35720">
                  <a:moveTo>
                    <a:pt x="0" y="35719"/>
                  </a:moveTo>
                  <a:lnTo>
                    <a:pt x="31044" y="34727"/>
                  </a:lnTo>
                  <a:lnTo>
                    <a:pt x="42240" y="30979"/>
                  </a:lnTo>
                  <a:lnTo>
                    <a:pt x="89297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51" name="SMARTInkShape-46"/>
            <p:cNvSpPr/>
            <p:nvPr/>
          </p:nvSpPr>
          <p:spPr>
            <a:xfrm>
              <a:off x="3732609" y="5795367"/>
              <a:ext cx="34328" cy="35611"/>
            </a:xfrm>
            <a:custGeom>
              <a:avLst/>
              <a:gdLst/>
              <a:ahLst/>
              <a:cxnLst/>
              <a:rect l="0" t="0" r="0" b="0"/>
              <a:pathLst>
                <a:path w="34328" h="35611">
                  <a:moveTo>
                    <a:pt x="0" y="26788"/>
                  </a:moveTo>
                  <a:lnTo>
                    <a:pt x="0" y="31530"/>
                  </a:lnTo>
                  <a:lnTo>
                    <a:pt x="993" y="32926"/>
                  </a:lnTo>
                  <a:lnTo>
                    <a:pt x="2646" y="33857"/>
                  </a:lnTo>
                  <a:lnTo>
                    <a:pt x="12429" y="35351"/>
                  </a:lnTo>
                  <a:lnTo>
                    <a:pt x="20991" y="35610"/>
                  </a:lnTo>
                  <a:lnTo>
                    <a:pt x="22924" y="34654"/>
                  </a:lnTo>
                  <a:lnTo>
                    <a:pt x="24212" y="33025"/>
                  </a:lnTo>
                  <a:lnTo>
                    <a:pt x="26636" y="28567"/>
                  </a:lnTo>
                  <a:lnTo>
                    <a:pt x="32587" y="20481"/>
                  </a:lnTo>
                  <a:lnTo>
                    <a:pt x="34327" y="14726"/>
                  </a:lnTo>
                  <a:lnTo>
                    <a:pt x="33799" y="11801"/>
                  </a:lnTo>
                  <a:lnTo>
                    <a:pt x="2678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52" name="SMARTInkShape-47"/>
            <p:cNvSpPr/>
            <p:nvPr/>
          </p:nvSpPr>
          <p:spPr>
            <a:xfrm>
              <a:off x="3670102" y="5665207"/>
              <a:ext cx="62508" cy="85514"/>
            </a:xfrm>
            <a:custGeom>
              <a:avLst/>
              <a:gdLst/>
              <a:ahLst/>
              <a:cxnLst/>
              <a:rect l="0" t="0" r="0" b="0"/>
              <a:pathLst>
                <a:path w="62508" h="85514">
                  <a:moveTo>
                    <a:pt x="0" y="5145"/>
                  </a:moveTo>
                  <a:lnTo>
                    <a:pt x="4740" y="5145"/>
                  </a:lnTo>
                  <a:lnTo>
                    <a:pt x="9713" y="2499"/>
                  </a:lnTo>
                  <a:lnTo>
                    <a:pt x="12428" y="404"/>
                  </a:lnTo>
                  <a:lnTo>
                    <a:pt x="16223" y="0"/>
                  </a:lnTo>
                  <a:lnTo>
                    <a:pt x="25731" y="2197"/>
                  </a:lnTo>
                  <a:lnTo>
                    <a:pt x="37500" y="9011"/>
                  </a:lnTo>
                  <a:lnTo>
                    <a:pt x="47270" y="17315"/>
                  </a:lnTo>
                  <a:lnTo>
                    <a:pt x="56449" y="30799"/>
                  </a:lnTo>
                  <a:lnTo>
                    <a:pt x="60713" y="52102"/>
                  </a:lnTo>
                  <a:lnTo>
                    <a:pt x="62507" y="8551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53" name="SMARTInkShape-48"/>
            <p:cNvSpPr/>
            <p:nvPr/>
          </p:nvSpPr>
          <p:spPr>
            <a:xfrm>
              <a:off x="3589734" y="5732859"/>
              <a:ext cx="26790" cy="58131"/>
            </a:xfrm>
            <a:custGeom>
              <a:avLst/>
              <a:gdLst/>
              <a:ahLst/>
              <a:cxnLst/>
              <a:rect l="0" t="0" r="0" b="0"/>
              <a:pathLst>
                <a:path w="26790" h="58131">
                  <a:moveTo>
                    <a:pt x="0" y="0"/>
                  </a:moveTo>
                  <a:lnTo>
                    <a:pt x="0" y="4741"/>
                  </a:lnTo>
                  <a:lnTo>
                    <a:pt x="2646" y="9715"/>
                  </a:lnTo>
                  <a:lnTo>
                    <a:pt x="6137" y="15231"/>
                  </a:lnTo>
                  <a:lnTo>
                    <a:pt x="8379" y="26858"/>
                  </a:lnTo>
                  <a:lnTo>
                    <a:pt x="9677" y="33765"/>
                  </a:lnTo>
                  <a:lnTo>
                    <a:pt x="17011" y="52570"/>
                  </a:lnTo>
                  <a:lnTo>
                    <a:pt x="17482" y="57429"/>
                  </a:lnTo>
                  <a:lnTo>
                    <a:pt x="18600" y="58130"/>
                  </a:lnTo>
                  <a:lnTo>
                    <a:pt x="20338" y="57605"/>
                  </a:lnTo>
                  <a:lnTo>
                    <a:pt x="26789" y="5357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54" name="SMARTInkShape-49"/>
            <p:cNvSpPr/>
            <p:nvPr/>
          </p:nvSpPr>
          <p:spPr>
            <a:xfrm>
              <a:off x="3455789" y="5652492"/>
              <a:ext cx="116087" cy="124494"/>
            </a:xfrm>
            <a:custGeom>
              <a:avLst/>
              <a:gdLst/>
              <a:ahLst/>
              <a:cxnLst/>
              <a:rect l="0" t="0" r="0" b="0"/>
              <a:pathLst>
                <a:path w="116087" h="124494">
                  <a:moveTo>
                    <a:pt x="0" y="0"/>
                  </a:moveTo>
                  <a:lnTo>
                    <a:pt x="4740" y="4741"/>
                  </a:lnTo>
                  <a:lnTo>
                    <a:pt x="7068" y="12359"/>
                  </a:lnTo>
                  <a:lnTo>
                    <a:pt x="11412" y="54663"/>
                  </a:lnTo>
                  <a:lnTo>
                    <a:pt x="17482" y="98980"/>
                  </a:lnTo>
                  <a:lnTo>
                    <a:pt x="17856" y="124476"/>
                  </a:lnTo>
                  <a:lnTo>
                    <a:pt x="17859" y="120115"/>
                  </a:lnTo>
                  <a:lnTo>
                    <a:pt x="18851" y="118772"/>
                  </a:lnTo>
                  <a:lnTo>
                    <a:pt x="22599" y="117280"/>
                  </a:lnTo>
                  <a:lnTo>
                    <a:pt x="23996" y="114898"/>
                  </a:lnTo>
                  <a:lnTo>
                    <a:pt x="27536" y="92822"/>
                  </a:lnTo>
                  <a:lnTo>
                    <a:pt x="31421" y="86565"/>
                  </a:lnTo>
                  <a:lnTo>
                    <a:pt x="36454" y="83121"/>
                  </a:lnTo>
                  <a:lnTo>
                    <a:pt x="41999" y="80599"/>
                  </a:lnTo>
                  <a:lnTo>
                    <a:pt x="50699" y="74593"/>
                  </a:lnTo>
                  <a:lnTo>
                    <a:pt x="56598" y="72840"/>
                  </a:lnTo>
                  <a:lnTo>
                    <a:pt x="59560" y="73365"/>
                  </a:lnTo>
                  <a:lnTo>
                    <a:pt x="68470" y="78843"/>
                  </a:lnTo>
                  <a:lnTo>
                    <a:pt x="101204" y="110150"/>
                  </a:lnTo>
                  <a:lnTo>
                    <a:pt x="104511" y="116093"/>
                  </a:lnTo>
                  <a:lnTo>
                    <a:pt x="105392" y="119067"/>
                  </a:lnTo>
                  <a:lnTo>
                    <a:pt x="106973" y="121050"/>
                  </a:lnTo>
                  <a:lnTo>
                    <a:pt x="114690" y="124493"/>
                  </a:lnTo>
                  <a:lnTo>
                    <a:pt x="115155" y="123675"/>
                  </a:lnTo>
                  <a:lnTo>
                    <a:pt x="116086" y="11608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55" name="SMARTInkShape-50"/>
            <p:cNvSpPr/>
            <p:nvPr/>
          </p:nvSpPr>
          <p:spPr>
            <a:xfrm>
              <a:off x="3312914" y="5723930"/>
              <a:ext cx="53579" cy="80368"/>
            </a:xfrm>
            <a:custGeom>
              <a:avLst/>
              <a:gdLst/>
              <a:ahLst/>
              <a:cxnLst/>
              <a:rect l="0" t="0" r="0" b="0"/>
              <a:pathLst>
                <a:path w="53579" h="80368">
                  <a:moveTo>
                    <a:pt x="0" y="0"/>
                  </a:moveTo>
                  <a:lnTo>
                    <a:pt x="0" y="43190"/>
                  </a:lnTo>
                  <a:lnTo>
                    <a:pt x="2646" y="51607"/>
                  </a:lnTo>
                  <a:lnTo>
                    <a:pt x="6137" y="58655"/>
                  </a:lnTo>
                  <a:lnTo>
                    <a:pt x="8821" y="78569"/>
                  </a:lnTo>
                  <a:lnTo>
                    <a:pt x="7865" y="79168"/>
                  </a:lnTo>
                  <a:lnTo>
                    <a:pt x="4157" y="79834"/>
                  </a:lnTo>
                  <a:lnTo>
                    <a:pt x="2771" y="79019"/>
                  </a:lnTo>
                  <a:lnTo>
                    <a:pt x="1848" y="77484"/>
                  </a:lnTo>
                  <a:lnTo>
                    <a:pt x="243" y="71241"/>
                  </a:lnTo>
                  <a:lnTo>
                    <a:pt x="3" y="33073"/>
                  </a:lnTo>
                  <a:lnTo>
                    <a:pt x="2647" y="26936"/>
                  </a:lnTo>
                  <a:lnTo>
                    <a:pt x="4741" y="23911"/>
                  </a:lnTo>
                  <a:lnTo>
                    <a:pt x="9714" y="20548"/>
                  </a:lnTo>
                  <a:lnTo>
                    <a:pt x="18092" y="18656"/>
                  </a:lnTo>
                  <a:lnTo>
                    <a:pt x="20991" y="18390"/>
                  </a:lnTo>
                  <a:lnTo>
                    <a:pt x="26858" y="20741"/>
                  </a:lnTo>
                  <a:lnTo>
                    <a:pt x="29811" y="22757"/>
                  </a:lnTo>
                  <a:lnTo>
                    <a:pt x="41681" y="40250"/>
                  </a:lnTo>
                  <a:lnTo>
                    <a:pt x="49612" y="57015"/>
                  </a:lnTo>
                  <a:lnTo>
                    <a:pt x="53578" y="8036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56" name="SMARTInkShape-51"/>
            <p:cNvSpPr/>
            <p:nvPr/>
          </p:nvSpPr>
          <p:spPr>
            <a:xfrm>
              <a:off x="3216116" y="5706070"/>
              <a:ext cx="70010" cy="93171"/>
            </a:xfrm>
            <a:custGeom>
              <a:avLst/>
              <a:gdLst/>
              <a:ahLst/>
              <a:cxnLst/>
              <a:rect l="0" t="0" r="0" b="0"/>
              <a:pathLst>
                <a:path w="70010" h="93171">
                  <a:moveTo>
                    <a:pt x="70009" y="0"/>
                  </a:moveTo>
                  <a:lnTo>
                    <a:pt x="49018" y="0"/>
                  </a:lnTo>
                  <a:lnTo>
                    <a:pt x="43151" y="2646"/>
                  </a:lnTo>
                  <a:lnTo>
                    <a:pt x="14691" y="28679"/>
                  </a:lnTo>
                  <a:lnTo>
                    <a:pt x="10697" y="37882"/>
                  </a:lnTo>
                  <a:lnTo>
                    <a:pt x="0" y="72776"/>
                  </a:lnTo>
                  <a:lnTo>
                    <a:pt x="516" y="76299"/>
                  </a:lnTo>
                  <a:lnTo>
                    <a:pt x="3735" y="82859"/>
                  </a:lnTo>
                  <a:lnTo>
                    <a:pt x="11126" y="92130"/>
                  </a:lnTo>
                  <a:lnTo>
                    <a:pt x="13886" y="93170"/>
                  </a:lnTo>
                  <a:lnTo>
                    <a:pt x="16719" y="92871"/>
                  </a:lnTo>
                  <a:lnTo>
                    <a:pt x="25446" y="90356"/>
                  </a:lnTo>
                  <a:lnTo>
                    <a:pt x="28394" y="90003"/>
                  </a:lnTo>
                  <a:lnTo>
                    <a:pt x="34315" y="86966"/>
                  </a:lnTo>
                  <a:lnTo>
                    <a:pt x="40255" y="81315"/>
                  </a:lnTo>
                  <a:lnTo>
                    <a:pt x="52150" y="6250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57" name="SMARTInkShape-52"/>
            <p:cNvSpPr/>
            <p:nvPr/>
          </p:nvSpPr>
          <p:spPr>
            <a:xfrm>
              <a:off x="3205758" y="5670352"/>
              <a:ext cx="44649" cy="35719"/>
            </a:xfrm>
            <a:custGeom>
              <a:avLst/>
              <a:gdLst/>
              <a:ahLst/>
              <a:cxnLst/>
              <a:rect l="0" t="0" r="0" b="0"/>
              <a:pathLst>
                <a:path w="44649" h="35719">
                  <a:moveTo>
                    <a:pt x="0" y="0"/>
                  </a:moveTo>
                  <a:lnTo>
                    <a:pt x="0" y="4740"/>
                  </a:lnTo>
                  <a:lnTo>
                    <a:pt x="992" y="6136"/>
                  </a:lnTo>
                  <a:lnTo>
                    <a:pt x="2646" y="7067"/>
                  </a:lnTo>
                  <a:lnTo>
                    <a:pt x="4740" y="7688"/>
                  </a:lnTo>
                  <a:lnTo>
                    <a:pt x="6137" y="9094"/>
                  </a:lnTo>
                  <a:lnTo>
                    <a:pt x="7688" y="13302"/>
                  </a:lnTo>
                  <a:lnTo>
                    <a:pt x="9094" y="14821"/>
                  </a:lnTo>
                  <a:lnTo>
                    <a:pt x="44648" y="3571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58" name="SMARTInkShape-53"/>
            <p:cNvSpPr/>
            <p:nvPr/>
          </p:nvSpPr>
          <p:spPr>
            <a:xfrm>
              <a:off x="3071813" y="5701346"/>
              <a:ext cx="151805" cy="67233"/>
            </a:xfrm>
            <a:custGeom>
              <a:avLst/>
              <a:gdLst/>
              <a:ahLst/>
              <a:cxnLst/>
              <a:rect l="0" t="0" r="0" b="0"/>
              <a:pathLst>
                <a:path w="151805" h="67233">
                  <a:moveTo>
                    <a:pt x="0" y="67232"/>
                  </a:moveTo>
                  <a:lnTo>
                    <a:pt x="20990" y="67232"/>
                  </a:lnTo>
                  <a:lnTo>
                    <a:pt x="62746" y="56208"/>
                  </a:lnTo>
                  <a:lnTo>
                    <a:pt x="77792" y="48752"/>
                  </a:lnTo>
                  <a:lnTo>
                    <a:pt x="91764" y="37344"/>
                  </a:lnTo>
                  <a:lnTo>
                    <a:pt x="120300" y="614"/>
                  </a:lnTo>
                  <a:lnTo>
                    <a:pt x="121872" y="0"/>
                  </a:lnTo>
                  <a:lnTo>
                    <a:pt x="122919" y="583"/>
                  </a:lnTo>
                  <a:lnTo>
                    <a:pt x="124601" y="3907"/>
                  </a:lnTo>
                  <a:lnTo>
                    <a:pt x="125983" y="26045"/>
                  </a:lnTo>
                  <a:lnTo>
                    <a:pt x="136037" y="49227"/>
                  </a:lnTo>
                  <a:lnTo>
                    <a:pt x="138317" y="52252"/>
                  </a:lnTo>
                  <a:lnTo>
                    <a:pt x="143495" y="55613"/>
                  </a:lnTo>
                  <a:lnTo>
                    <a:pt x="146264" y="56510"/>
                  </a:lnTo>
                  <a:lnTo>
                    <a:pt x="148111" y="56115"/>
                  </a:lnTo>
                  <a:lnTo>
                    <a:pt x="149342" y="54860"/>
                  </a:lnTo>
                  <a:lnTo>
                    <a:pt x="150710" y="50819"/>
                  </a:lnTo>
                  <a:lnTo>
                    <a:pt x="151804" y="2258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59" name="SMARTInkShape-54"/>
            <p:cNvSpPr/>
            <p:nvPr/>
          </p:nvSpPr>
          <p:spPr>
            <a:xfrm>
              <a:off x="3071813" y="5644804"/>
              <a:ext cx="26671" cy="132705"/>
            </a:xfrm>
            <a:custGeom>
              <a:avLst/>
              <a:gdLst/>
              <a:ahLst/>
              <a:cxnLst/>
              <a:rect l="0" t="0" r="0" b="0"/>
              <a:pathLst>
                <a:path w="26671" h="132705">
                  <a:moveTo>
                    <a:pt x="0" y="7688"/>
                  </a:moveTo>
                  <a:lnTo>
                    <a:pt x="0" y="2948"/>
                  </a:lnTo>
                  <a:lnTo>
                    <a:pt x="992" y="1551"/>
                  </a:lnTo>
                  <a:lnTo>
                    <a:pt x="2645" y="620"/>
                  </a:lnTo>
                  <a:lnTo>
                    <a:pt x="4740" y="0"/>
                  </a:lnTo>
                  <a:lnTo>
                    <a:pt x="6136" y="578"/>
                  </a:lnTo>
                  <a:lnTo>
                    <a:pt x="7067" y="1956"/>
                  </a:lnTo>
                  <a:lnTo>
                    <a:pt x="8561" y="6556"/>
                  </a:lnTo>
                  <a:lnTo>
                    <a:pt x="11561" y="35449"/>
                  </a:lnTo>
                  <a:lnTo>
                    <a:pt x="15060" y="47808"/>
                  </a:lnTo>
                  <a:lnTo>
                    <a:pt x="23750" y="90242"/>
                  </a:lnTo>
                  <a:lnTo>
                    <a:pt x="26670" y="126196"/>
                  </a:lnTo>
                  <a:lnTo>
                    <a:pt x="25717" y="128366"/>
                  </a:lnTo>
                  <a:lnTo>
                    <a:pt x="24090" y="129812"/>
                  </a:lnTo>
                  <a:lnTo>
                    <a:pt x="17859" y="13270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60" name="SMARTInkShape-55"/>
            <p:cNvSpPr/>
            <p:nvPr/>
          </p:nvSpPr>
          <p:spPr>
            <a:xfrm>
              <a:off x="2966307" y="5697141"/>
              <a:ext cx="69788" cy="62462"/>
            </a:xfrm>
            <a:custGeom>
              <a:avLst/>
              <a:gdLst/>
              <a:ahLst/>
              <a:cxnLst/>
              <a:rect l="0" t="0" r="0" b="0"/>
              <a:pathLst>
                <a:path w="69788" h="62462">
                  <a:moveTo>
                    <a:pt x="34068" y="0"/>
                  </a:moveTo>
                  <a:lnTo>
                    <a:pt x="29328" y="4740"/>
                  </a:lnTo>
                  <a:lnTo>
                    <a:pt x="24354" y="7067"/>
                  </a:lnTo>
                  <a:lnTo>
                    <a:pt x="21639" y="7688"/>
                  </a:lnTo>
                  <a:lnTo>
                    <a:pt x="19829" y="9094"/>
                  </a:lnTo>
                  <a:lnTo>
                    <a:pt x="825" y="44151"/>
                  </a:lnTo>
                  <a:lnTo>
                    <a:pt x="0" y="47293"/>
                  </a:lnTo>
                  <a:lnTo>
                    <a:pt x="442" y="50379"/>
                  </a:lnTo>
                  <a:lnTo>
                    <a:pt x="6182" y="60715"/>
                  </a:lnTo>
                  <a:lnTo>
                    <a:pt x="9438" y="61711"/>
                  </a:lnTo>
                  <a:lnTo>
                    <a:pt x="23501" y="62461"/>
                  </a:lnTo>
                  <a:lnTo>
                    <a:pt x="32683" y="54815"/>
                  </a:lnTo>
                  <a:lnTo>
                    <a:pt x="33453" y="51482"/>
                  </a:lnTo>
                  <a:lnTo>
                    <a:pt x="33946" y="45998"/>
                  </a:lnTo>
                  <a:lnTo>
                    <a:pt x="34979" y="45548"/>
                  </a:lnTo>
                  <a:lnTo>
                    <a:pt x="42627" y="44683"/>
                  </a:lnTo>
                  <a:lnTo>
                    <a:pt x="42965" y="52339"/>
                  </a:lnTo>
                  <a:lnTo>
                    <a:pt x="43968" y="52751"/>
                  </a:lnTo>
                  <a:lnTo>
                    <a:pt x="47728" y="53211"/>
                  </a:lnTo>
                  <a:lnTo>
                    <a:pt x="49128" y="54325"/>
                  </a:lnTo>
                  <a:lnTo>
                    <a:pt x="50683" y="58209"/>
                  </a:lnTo>
                  <a:lnTo>
                    <a:pt x="52090" y="58650"/>
                  </a:lnTo>
                  <a:lnTo>
                    <a:pt x="56299" y="56493"/>
                  </a:lnTo>
                  <a:lnTo>
                    <a:pt x="69787" y="4464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61" name="SMARTInkShape-56"/>
            <p:cNvSpPr/>
            <p:nvPr/>
          </p:nvSpPr>
          <p:spPr>
            <a:xfrm>
              <a:off x="2794992" y="5670764"/>
              <a:ext cx="160062" cy="186543"/>
            </a:xfrm>
            <a:custGeom>
              <a:avLst/>
              <a:gdLst/>
              <a:ahLst/>
              <a:cxnLst/>
              <a:rect l="0" t="0" r="0" b="0"/>
              <a:pathLst>
                <a:path w="160062" h="186543">
                  <a:moveTo>
                    <a:pt x="0" y="62095"/>
                  </a:moveTo>
                  <a:lnTo>
                    <a:pt x="4741" y="57355"/>
                  </a:lnTo>
                  <a:lnTo>
                    <a:pt x="7068" y="52381"/>
                  </a:lnTo>
                  <a:lnTo>
                    <a:pt x="8562" y="45844"/>
                  </a:lnTo>
                  <a:lnTo>
                    <a:pt x="17748" y="35428"/>
                  </a:lnTo>
                  <a:lnTo>
                    <a:pt x="22567" y="35342"/>
                  </a:lnTo>
                  <a:lnTo>
                    <a:pt x="23974" y="36322"/>
                  </a:lnTo>
                  <a:lnTo>
                    <a:pt x="24913" y="37968"/>
                  </a:lnTo>
                  <a:lnTo>
                    <a:pt x="25538" y="40057"/>
                  </a:lnTo>
                  <a:lnTo>
                    <a:pt x="27940" y="41450"/>
                  </a:lnTo>
                  <a:lnTo>
                    <a:pt x="46797" y="43869"/>
                  </a:lnTo>
                  <a:lnTo>
                    <a:pt x="87695" y="30924"/>
                  </a:lnTo>
                  <a:lnTo>
                    <a:pt x="91206" y="28416"/>
                  </a:lnTo>
                  <a:lnTo>
                    <a:pt x="102042" y="14346"/>
                  </a:lnTo>
                  <a:lnTo>
                    <a:pt x="107530" y="11109"/>
                  </a:lnTo>
                  <a:lnTo>
                    <a:pt x="110382" y="10244"/>
                  </a:lnTo>
                  <a:lnTo>
                    <a:pt x="112283" y="8677"/>
                  </a:lnTo>
                  <a:lnTo>
                    <a:pt x="115585" y="981"/>
                  </a:lnTo>
                  <a:lnTo>
                    <a:pt x="114760" y="516"/>
                  </a:lnTo>
                  <a:lnTo>
                    <a:pt x="111197" y="0"/>
                  </a:lnTo>
                  <a:lnTo>
                    <a:pt x="106307" y="2416"/>
                  </a:lnTo>
                  <a:lnTo>
                    <a:pt x="100826" y="5807"/>
                  </a:lnTo>
                  <a:lnTo>
                    <a:pt x="92162" y="8706"/>
                  </a:lnTo>
                  <a:lnTo>
                    <a:pt x="77376" y="20841"/>
                  </a:lnTo>
                  <a:lnTo>
                    <a:pt x="68457" y="34217"/>
                  </a:lnTo>
                  <a:lnTo>
                    <a:pt x="64271" y="46007"/>
                  </a:lnTo>
                  <a:lnTo>
                    <a:pt x="64675" y="49386"/>
                  </a:lnTo>
                  <a:lnTo>
                    <a:pt x="67771" y="55785"/>
                  </a:lnTo>
                  <a:lnTo>
                    <a:pt x="79832" y="64966"/>
                  </a:lnTo>
                  <a:lnTo>
                    <a:pt x="111103" y="76807"/>
                  </a:lnTo>
                  <a:lnTo>
                    <a:pt x="155615" y="80865"/>
                  </a:lnTo>
                  <a:lnTo>
                    <a:pt x="157322" y="82546"/>
                  </a:lnTo>
                  <a:lnTo>
                    <a:pt x="159218" y="87060"/>
                  </a:lnTo>
                  <a:lnTo>
                    <a:pt x="160061" y="92373"/>
                  </a:lnTo>
                  <a:lnTo>
                    <a:pt x="153472" y="110997"/>
                  </a:lnTo>
                  <a:lnTo>
                    <a:pt x="144472" y="127958"/>
                  </a:lnTo>
                  <a:lnTo>
                    <a:pt x="112727" y="162339"/>
                  </a:lnTo>
                  <a:lnTo>
                    <a:pt x="86576" y="177403"/>
                  </a:lnTo>
                  <a:lnTo>
                    <a:pt x="62522" y="185193"/>
                  </a:lnTo>
                  <a:lnTo>
                    <a:pt x="46747" y="186542"/>
                  </a:lnTo>
                  <a:lnTo>
                    <a:pt x="37975" y="184212"/>
                  </a:lnTo>
                  <a:lnTo>
                    <a:pt x="26789" y="17818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62" name="SMARTInkShape-57"/>
            <p:cNvSpPr/>
            <p:nvPr/>
          </p:nvSpPr>
          <p:spPr>
            <a:xfrm>
              <a:off x="2759806" y="5625703"/>
              <a:ext cx="79836" cy="119709"/>
            </a:xfrm>
            <a:custGeom>
              <a:avLst/>
              <a:gdLst/>
              <a:ahLst/>
              <a:cxnLst/>
              <a:rect l="0" t="0" r="0" b="0"/>
              <a:pathLst>
                <a:path w="79836" h="119709">
                  <a:moveTo>
                    <a:pt x="79835" y="0"/>
                  </a:moveTo>
                  <a:lnTo>
                    <a:pt x="79835" y="4741"/>
                  </a:lnTo>
                  <a:lnTo>
                    <a:pt x="77850" y="6137"/>
                  </a:lnTo>
                  <a:lnTo>
                    <a:pt x="56501" y="9677"/>
                  </a:lnTo>
                  <a:lnTo>
                    <a:pt x="46242" y="16978"/>
                  </a:lnTo>
                  <a:lnTo>
                    <a:pt x="28147" y="36720"/>
                  </a:lnTo>
                  <a:lnTo>
                    <a:pt x="5531" y="77450"/>
                  </a:lnTo>
                  <a:lnTo>
                    <a:pt x="665" y="100223"/>
                  </a:lnTo>
                  <a:lnTo>
                    <a:pt x="0" y="108374"/>
                  </a:lnTo>
                  <a:lnTo>
                    <a:pt x="2350" y="115305"/>
                  </a:lnTo>
                  <a:lnTo>
                    <a:pt x="4366" y="118543"/>
                  </a:lnTo>
                  <a:lnTo>
                    <a:pt x="6702" y="119708"/>
                  </a:lnTo>
                  <a:lnTo>
                    <a:pt x="9251" y="119492"/>
                  </a:lnTo>
                  <a:lnTo>
                    <a:pt x="17327" y="11608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63" name="SMARTInkShape-58"/>
            <p:cNvSpPr/>
            <p:nvPr/>
          </p:nvSpPr>
          <p:spPr>
            <a:xfrm>
              <a:off x="2634258" y="5661590"/>
              <a:ext cx="87534" cy="89131"/>
            </a:xfrm>
            <a:custGeom>
              <a:avLst/>
              <a:gdLst/>
              <a:ahLst/>
              <a:cxnLst/>
              <a:rect l="0" t="0" r="0" b="0"/>
              <a:pathLst>
                <a:path w="87534" h="89131">
                  <a:moveTo>
                    <a:pt x="0" y="89130"/>
                  </a:moveTo>
                  <a:lnTo>
                    <a:pt x="0" y="76700"/>
                  </a:lnTo>
                  <a:lnTo>
                    <a:pt x="18091" y="35298"/>
                  </a:lnTo>
                  <a:lnTo>
                    <a:pt x="29811" y="16429"/>
                  </a:lnTo>
                  <a:lnTo>
                    <a:pt x="38709" y="6293"/>
                  </a:lnTo>
                  <a:lnTo>
                    <a:pt x="44654" y="2703"/>
                  </a:lnTo>
                  <a:lnTo>
                    <a:pt x="56556" y="399"/>
                  </a:lnTo>
                  <a:lnTo>
                    <a:pt x="65485" y="0"/>
                  </a:lnTo>
                  <a:lnTo>
                    <a:pt x="71438" y="2552"/>
                  </a:lnTo>
                  <a:lnTo>
                    <a:pt x="83344" y="12275"/>
                  </a:lnTo>
                  <a:lnTo>
                    <a:pt x="86651" y="17930"/>
                  </a:lnTo>
                  <a:lnTo>
                    <a:pt x="87533" y="20827"/>
                  </a:lnTo>
                  <a:lnTo>
                    <a:pt x="87129" y="23750"/>
                  </a:lnTo>
                  <a:lnTo>
                    <a:pt x="84034" y="29645"/>
                  </a:lnTo>
                  <a:lnTo>
                    <a:pt x="81819" y="31613"/>
                  </a:lnTo>
                  <a:lnTo>
                    <a:pt x="64358" y="41342"/>
                  </a:lnTo>
                  <a:lnTo>
                    <a:pt x="50378" y="44542"/>
                  </a:lnTo>
                  <a:lnTo>
                    <a:pt x="36262" y="51364"/>
                  </a:lnTo>
                  <a:lnTo>
                    <a:pt x="19655" y="53290"/>
                  </a:lnTo>
                  <a:lnTo>
                    <a:pt x="23132" y="53374"/>
                  </a:lnTo>
                  <a:lnTo>
                    <a:pt x="27809" y="50748"/>
                  </a:lnTo>
                  <a:lnTo>
                    <a:pt x="35719" y="4448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64" name="SMARTInkShape-59"/>
            <p:cNvSpPr/>
            <p:nvPr/>
          </p:nvSpPr>
          <p:spPr>
            <a:xfrm>
              <a:off x="2661047" y="5679280"/>
              <a:ext cx="17749" cy="160737"/>
            </a:xfrm>
            <a:custGeom>
              <a:avLst/>
              <a:gdLst/>
              <a:ahLst/>
              <a:cxnLst/>
              <a:rect l="0" t="0" r="0" b="0"/>
              <a:pathLst>
                <a:path w="17749" h="160737">
                  <a:moveTo>
                    <a:pt x="0" y="0"/>
                  </a:moveTo>
                  <a:lnTo>
                    <a:pt x="0" y="4742"/>
                  </a:lnTo>
                  <a:lnTo>
                    <a:pt x="2646" y="9715"/>
                  </a:lnTo>
                  <a:lnTo>
                    <a:pt x="4741" y="12430"/>
                  </a:lnTo>
                  <a:lnTo>
                    <a:pt x="7068" y="20739"/>
                  </a:lnTo>
                  <a:lnTo>
                    <a:pt x="11412" y="63545"/>
                  </a:lnTo>
                  <a:lnTo>
                    <a:pt x="17010" y="107294"/>
                  </a:lnTo>
                  <a:lnTo>
                    <a:pt x="17748" y="147083"/>
                  </a:lnTo>
                  <a:lnTo>
                    <a:pt x="16793" y="151634"/>
                  </a:lnTo>
                  <a:lnTo>
                    <a:pt x="15164" y="154668"/>
                  </a:lnTo>
                  <a:lnTo>
                    <a:pt x="8930" y="16073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65" name="SMARTInkShape-60"/>
            <p:cNvSpPr/>
            <p:nvPr/>
          </p:nvSpPr>
          <p:spPr>
            <a:xfrm>
              <a:off x="2510480" y="5616773"/>
              <a:ext cx="70043" cy="151084"/>
            </a:xfrm>
            <a:custGeom>
              <a:avLst/>
              <a:gdLst/>
              <a:ahLst/>
              <a:cxnLst/>
              <a:rect l="0" t="0" r="0" b="0"/>
              <a:pathLst>
                <a:path w="70043" h="151084">
                  <a:moveTo>
                    <a:pt x="7692" y="0"/>
                  </a:moveTo>
                  <a:lnTo>
                    <a:pt x="6700" y="40312"/>
                  </a:lnTo>
                  <a:lnTo>
                    <a:pt x="3" y="80971"/>
                  </a:lnTo>
                  <a:lnTo>
                    <a:pt x="0" y="115214"/>
                  </a:lnTo>
                  <a:lnTo>
                    <a:pt x="5964" y="134789"/>
                  </a:lnTo>
                  <a:lnTo>
                    <a:pt x="11223" y="143581"/>
                  </a:lnTo>
                  <a:lnTo>
                    <a:pt x="16868" y="148150"/>
                  </a:lnTo>
                  <a:lnTo>
                    <a:pt x="23677" y="150180"/>
                  </a:lnTo>
                  <a:lnTo>
                    <a:pt x="33317" y="151083"/>
                  </a:lnTo>
                  <a:lnTo>
                    <a:pt x="41570" y="148838"/>
                  </a:lnTo>
                  <a:lnTo>
                    <a:pt x="45161" y="146850"/>
                  </a:lnTo>
                  <a:lnTo>
                    <a:pt x="64139" y="123107"/>
                  </a:lnTo>
                  <a:lnTo>
                    <a:pt x="67506" y="113915"/>
                  </a:lnTo>
                  <a:lnTo>
                    <a:pt x="70042" y="86716"/>
                  </a:lnTo>
                  <a:lnTo>
                    <a:pt x="56893" y="46239"/>
                  </a:lnTo>
                  <a:lnTo>
                    <a:pt x="49072" y="37749"/>
                  </a:lnTo>
                  <a:lnTo>
                    <a:pt x="40966" y="30668"/>
                  </a:lnTo>
                  <a:lnTo>
                    <a:pt x="35410" y="22096"/>
                  </a:lnTo>
                  <a:lnTo>
                    <a:pt x="30595" y="19742"/>
                  </a:lnTo>
                  <a:lnTo>
                    <a:pt x="18306" y="18025"/>
                  </a:lnTo>
                  <a:lnTo>
                    <a:pt x="17744" y="18962"/>
                  </a:lnTo>
                  <a:lnTo>
                    <a:pt x="16622" y="3571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66" name="SMARTInkShape-61"/>
            <p:cNvSpPr/>
            <p:nvPr/>
          </p:nvSpPr>
          <p:spPr>
            <a:xfrm>
              <a:off x="2379349" y="5607845"/>
              <a:ext cx="94175" cy="132552"/>
            </a:xfrm>
            <a:custGeom>
              <a:avLst/>
              <a:gdLst/>
              <a:ahLst/>
              <a:cxnLst/>
              <a:rect l="0" t="0" r="0" b="0"/>
              <a:pathLst>
                <a:path w="94175" h="132552">
                  <a:moveTo>
                    <a:pt x="4878" y="89296"/>
                  </a:moveTo>
                  <a:lnTo>
                    <a:pt x="12566" y="96984"/>
                  </a:lnTo>
                  <a:lnTo>
                    <a:pt x="14554" y="105109"/>
                  </a:lnTo>
                  <a:lnTo>
                    <a:pt x="19872" y="113384"/>
                  </a:lnTo>
                  <a:lnTo>
                    <a:pt x="22360" y="123287"/>
                  </a:lnTo>
                  <a:lnTo>
                    <a:pt x="22704" y="132551"/>
                  </a:lnTo>
                  <a:lnTo>
                    <a:pt x="20076" y="130679"/>
                  </a:lnTo>
                  <a:lnTo>
                    <a:pt x="9434" y="120605"/>
                  </a:lnTo>
                  <a:lnTo>
                    <a:pt x="6902" y="115448"/>
                  </a:lnTo>
                  <a:lnTo>
                    <a:pt x="6227" y="112684"/>
                  </a:lnTo>
                  <a:lnTo>
                    <a:pt x="537" y="104053"/>
                  </a:lnTo>
                  <a:lnTo>
                    <a:pt x="0" y="100126"/>
                  </a:lnTo>
                  <a:lnTo>
                    <a:pt x="7151" y="62269"/>
                  </a:lnTo>
                  <a:lnTo>
                    <a:pt x="20060" y="33702"/>
                  </a:lnTo>
                  <a:lnTo>
                    <a:pt x="34683" y="15399"/>
                  </a:lnTo>
                  <a:lnTo>
                    <a:pt x="48325" y="6105"/>
                  </a:lnTo>
                  <a:lnTo>
                    <a:pt x="64935" y="1808"/>
                  </a:lnTo>
                  <a:lnTo>
                    <a:pt x="9417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67" name="SMARTInkShape-62"/>
            <p:cNvSpPr/>
            <p:nvPr/>
          </p:nvSpPr>
          <p:spPr>
            <a:xfrm>
              <a:off x="2223492" y="5634741"/>
              <a:ext cx="106631" cy="114605"/>
            </a:xfrm>
            <a:custGeom>
              <a:avLst/>
              <a:gdLst/>
              <a:ahLst/>
              <a:cxnLst/>
              <a:rect l="0" t="0" r="0" b="0"/>
              <a:pathLst>
                <a:path w="106631" h="114605">
                  <a:moveTo>
                    <a:pt x="0" y="8822"/>
                  </a:moveTo>
                  <a:lnTo>
                    <a:pt x="4741" y="8822"/>
                  </a:lnTo>
                  <a:lnTo>
                    <a:pt x="9714" y="6176"/>
                  </a:lnTo>
                  <a:lnTo>
                    <a:pt x="15231" y="2685"/>
                  </a:lnTo>
                  <a:lnTo>
                    <a:pt x="26858" y="444"/>
                  </a:lnTo>
                  <a:lnTo>
                    <a:pt x="43449" y="0"/>
                  </a:lnTo>
                  <a:lnTo>
                    <a:pt x="54368" y="5232"/>
                  </a:lnTo>
                  <a:lnTo>
                    <a:pt x="72807" y="20018"/>
                  </a:lnTo>
                  <a:lnTo>
                    <a:pt x="101162" y="63748"/>
                  </a:lnTo>
                  <a:lnTo>
                    <a:pt x="104492" y="70606"/>
                  </a:lnTo>
                  <a:lnTo>
                    <a:pt x="106630" y="87833"/>
                  </a:lnTo>
                  <a:lnTo>
                    <a:pt x="105813" y="91261"/>
                  </a:lnTo>
                  <a:lnTo>
                    <a:pt x="104277" y="93547"/>
                  </a:lnTo>
                  <a:lnTo>
                    <a:pt x="91895" y="103653"/>
                  </a:lnTo>
                  <a:lnTo>
                    <a:pt x="80293" y="109023"/>
                  </a:lnTo>
                  <a:lnTo>
                    <a:pt x="77341" y="111342"/>
                  </a:lnTo>
                  <a:lnTo>
                    <a:pt x="68770" y="113917"/>
                  </a:lnTo>
                  <a:lnTo>
                    <a:pt x="63706" y="114604"/>
                  </a:lnTo>
                  <a:lnTo>
                    <a:pt x="60330" y="114070"/>
                  </a:lnTo>
                  <a:lnTo>
                    <a:pt x="58080" y="112721"/>
                  </a:lnTo>
                  <a:lnTo>
                    <a:pt x="54467" y="108168"/>
                  </a:lnTo>
                  <a:lnTo>
                    <a:pt x="53842" y="102640"/>
                  </a:lnTo>
                  <a:lnTo>
                    <a:pt x="62508" y="8025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68" name="SMARTInkShape-63"/>
            <p:cNvSpPr/>
            <p:nvPr/>
          </p:nvSpPr>
          <p:spPr>
            <a:xfrm>
              <a:off x="2268141" y="5706070"/>
              <a:ext cx="34327" cy="163474"/>
            </a:xfrm>
            <a:custGeom>
              <a:avLst/>
              <a:gdLst/>
              <a:ahLst/>
              <a:cxnLst/>
              <a:rect l="0" t="0" r="0" b="0"/>
              <a:pathLst>
                <a:path w="34327" h="163474">
                  <a:moveTo>
                    <a:pt x="0" y="0"/>
                  </a:moveTo>
                  <a:lnTo>
                    <a:pt x="992" y="9114"/>
                  </a:lnTo>
                  <a:lnTo>
                    <a:pt x="12429" y="45849"/>
                  </a:lnTo>
                  <a:lnTo>
                    <a:pt x="22923" y="81596"/>
                  </a:lnTo>
                  <a:lnTo>
                    <a:pt x="28671" y="120555"/>
                  </a:lnTo>
                  <a:lnTo>
                    <a:pt x="34326" y="147947"/>
                  </a:lnTo>
                  <a:lnTo>
                    <a:pt x="32454" y="157697"/>
                  </a:lnTo>
                  <a:lnTo>
                    <a:pt x="30566" y="161687"/>
                  </a:lnTo>
                  <a:lnTo>
                    <a:pt x="28315" y="163353"/>
                  </a:lnTo>
                  <a:lnTo>
                    <a:pt x="25821" y="163473"/>
                  </a:lnTo>
                  <a:lnTo>
                    <a:pt x="17859" y="16073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69" name="SMARTInkShape-64"/>
            <p:cNvSpPr/>
            <p:nvPr/>
          </p:nvSpPr>
          <p:spPr>
            <a:xfrm>
              <a:off x="2303968" y="5652492"/>
              <a:ext cx="17752" cy="53565"/>
            </a:xfrm>
            <a:custGeom>
              <a:avLst/>
              <a:gdLst/>
              <a:ahLst/>
              <a:cxnLst/>
              <a:rect l="0" t="0" r="0" b="0"/>
              <a:pathLst>
                <a:path w="17752" h="53565">
                  <a:moveTo>
                    <a:pt x="8821" y="0"/>
                  </a:moveTo>
                  <a:lnTo>
                    <a:pt x="0" y="0"/>
                  </a:lnTo>
                  <a:lnTo>
                    <a:pt x="4664" y="0"/>
                  </a:lnTo>
                  <a:lnTo>
                    <a:pt x="6050" y="992"/>
                  </a:lnTo>
                  <a:lnTo>
                    <a:pt x="7589" y="4741"/>
                  </a:lnTo>
                  <a:lnTo>
                    <a:pt x="9792" y="32773"/>
                  </a:lnTo>
                  <a:lnTo>
                    <a:pt x="15885" y="44654"/>
                  </a:lnTo>
                  <a:lnTo>
                    <a:pt x="17748" y="53564"/>
                  </a:lnTo>
                  <a:lnTo>
                    <a:pt x="17751" y="4464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70" name="SMARTInkShape-65"/>
            <p:cNvSpPr/>
            <p:nvPr/>
          </p:nvSpPr>
          <p:spPr>
            <a:xfrm>
              <a:off x="2250281" y="5670352"/>
              <a:ext cx="17861" cy="8929"/>
            </a:xfrm>
            <a:custGeom>
              <a:avLst/>
              <a:gdLst/>
              <a:ahLst/>
              <a:cxnLst/>
              <a:rect l="0" t="0" r="0" b="0"/>
              <a:pathLst>
                <a:path w="17861" h="8929">
                  <a:moveTo>
                    <a:pt x="0" y="8928"/>
                  </a:moveTo>
                  <a:lnTo>
                    <a:pt x="7689" y="8928"/>
                  </a:lnTo>
                  <a:lnTo>
                    <a:pt x="8102" y="7937"/>
                  </a:lnTo>
                  <a:lnTo>
                    <a:pt x="8562" y="4189"/>
                  </a:lnTo>
                  <a:lnTo>
                    <a:pt x="9677" y="2792"/>
                  </a:lnTo>
                  <a:lnTo>
                    <a:pt x="1786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grpSp>
        <p:nvGrpSpPr>
          <p:cNvPr id="89" name="SMARTInkShape-Group6"/>
          <p:cNvGrpSpPr/>
          <p:nvPr/>
        </p:nvGrpSpPr>
        <p:grpSpPr>
          <a:xfrm>
            <a:off x="1437680" y="4947047"/>
            <a:ext cx="1777009" cy="678574"/>
            <a:chOff x="1437680" y="4947047"/>
            <a:chExt cx="1777009" cy="678574"/>
          </a:xfrm>
        </p:grpSpPr>
        <p:sp>
          <p:nvSpPr>
            <p:cNvPr id="72" name="SMARTInkShape-66"/>
            <p:cNvSpPr/>
            <p:nvPr/>
          </p:nvSpPr>
          <p:spPr>
            <a:xfrm>
              <a:off x="2803922" y="5456410"/>
              <a:ext cx="410767" cy="42938"/>
            </a:xfrm>
            <a:custGeom>
              <a:avLst/>
              <a:gdLst/>
              <a:ahLst/>
              <a:cxnLst/>
              <a:rect l="0" t="0" r="0" b="0"/>
              <a:pathLst>
                <a:path w="410767" h="42938">
                  <a:moveTo>
                    <a:pt x="0" y="17488"/>
                  </a:moveTo>
                  <a:lnTo>
                    <a:pt x="0" y="12748"/>
                  </a:lnTo>
                  <a:lnTo>
                    <a:pt x="992" y="11352"/>
                  </a:lnTo>
                  <a:lnTo>
                    <a:pt x="2646" y="10420"/>
                  </a:lnTo>
                  <a:lnTo>
                    <a:pt x="12429" y="8926"/>
                  </a:lnTo>
                  <a:lnTo>
                    <a:pt x="37182" y="7639"/>
                  </a:lnTo>
                  <a:lnTo>
                    <a:pt x="77742" y="879"/>
                  </a:lnTo>
                  <a:lnTo>
                    <a:pt x="111119" y="0"/>
                  </a:lnTo>
                  <a:lnTo>
                    <a:pt x="150884" y="4479"/>
                  </a:lnTo>
                  <a:lnTo>
                    <a:pt x="189345" y="12090"/>
                  </a:lnTo>
                  <a:lnTo>
                    <a:pt x="225876" y="20629"/>
                  </a:lnTo>
                  <a:lnTo>
                    <a:pt x="266577" y="29444"/>
                  </a:lnTo>
                  <a:lnTo>
                    <a:pt x="305315" y="38339"/>
                  </a:lnTo>
                  <a:lnTo>
                    <a:pt x="341928" y="42518"/>
                  </a:lnTo>
                  <a:lnTo>
                    <a:pt x="381734" y="42937"/>
                  </a:lnTo>
                  <a:lnTo>
                    <a:pt x="410766" y="3534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73" name="SMARTInkShape-67"/>
            <p:cNvSpPr/>
            <p:nvPr/>
          </p:nvSpPr>
          <p:spPr>
            <a:xfrm>
              <a:off x="3063392" y="5125641"/>
              <a:ext cx="53070" cy="129515"/>
            </a:xfrm>
            <a:custGeom>
              <a:avLst/>
              <a:gdLst/>
              <a:ahLst/>
              <a:cxnLst/>
              <a:rect l="0" t="0" r="0" b="0"/>
              <a:pathLst>
                <a:path w="53070" h="129515">
                  <a:moveTo>
                    <a:pt x="26280" y="0"/>
                  </a:moveTo>
                  <a:lnTo>
                    <a:pt x="26280" y="13302"/>
                  </a:lnTo>
                  <a:lnTo>
                    <a:pt x="8188" y="53865"/>
                  </a:lnTo>
                  <a:lnTo>
                    <a:pt x="3356" y="66604"/>
                  </a:lnTo>
                  <a:lnTo>
                    <a:pt x="0" y="98215"/>
                  </a:lnTo>
                  <a:lnTo>
                    <a:pt x="4382" y="113987"/>
                  </a:lnTo>
                  <a:lnTo>
                    <a:pt x="6721" y="117663"/>
                  </a:lnTo>
                  <a:lnTo>
                    <a:pt x="20495" y="128788"/>
                  </a:lnTo>
                  <a:lnTo>
                    <a:pt x="23416" y="129514"/>
                  </a:lnTo>
                  <a:lnTo>
                    <a:pt x="26355" y="129007"/>
                  </a:lnTo>
                  <a:lnTo>
                    <a:pt x="33259" y="126789"/>
                  </a:lnTo>
                  <a:lnTo>
                    <a:pt x="53069" y="12501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74" name="SMARTInkShape-68"/>
            <p:cNvSpPr/>
            <p:nvPr/>
          </p:nvSpPr>
          <p:spPr>
            <a:xfrm>
              <a:off x="2982516" y="4947047"/>
              <a:ext cx="35719" cy="285751"/>
            </a:xfrm>
            <a:custGeom>
              <a:avLst/>
              <a:gdLst/>
              <a:ahLst/>
              <a:cxnLst/>
              <a:rect l="0" t="0" r="0" b="0"/>
              <a:pathLst>
                <a:path w="35719" h="285751">
                  <a:moveTo>
                    <a:pt x="0" y="0"/>
                  </a:moveTo>
                  <a:lnTo>
                    <a:pt x="0" y="42900"/>
                  </a:lnTo>
                  <a:lnTo>
                    <a:pt x="4740" y="75660"/>
                  </a:lnTo>
                  <a:lnTo>
                    <a:pt x="7688" y="115242"/>
                  </a:lnTo>
                  <a:lnTo>
                    <a:pt x="8562" y="158389"/>
                  </a:lnTo>
                  <a:lnTo>
                    <a:pt x="13561" y="202593"/>
                  </a:lnTo>
                  <a:lnTo>
                    <a:pt x="18002" y="246724"/>
                  </a:lnTo>
                  <a:lnTo>
                    <a:pt x="24736" y="268013"/>
                  </a:lnTo>
                  <a:lnTo>
                    <a:pt x="35718" y="28575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75" name="SMARTInkShape-69"/>
            <p:cNvSpPr/>
            <p:nvPr/>
          </p:nvSpPr>
          <p:spPr>
            <a:xfrm>
              <a:off x="2884289" y="5188195"/>
              <a:ext cx="53579" cy="62461"/>
            </a:xfrm>
            <a:custGeom>
              <a:avLst/>
              <a:gdLst/>
              <a:ahLst/>
              <a:cxnLst/>
              <a:rect l="0" t="0" r="0" b="0"/>
              <a:pathLst>
                <a:path w="53579" h="62461">
                  <a:moveTo>
                    <a:pt x="0" y="62460"/>
                  </a:moveTo>
                  <a:lnTo>
                    <a:pt x="12429" y="62460"/>
                  </a:lnTo>
                  <a:lnTo>
                    <a:pt x="18092" y="59816"/>
                  </a:lnTo>
                  <a:lnTo>
                    <a:pt x="20991" y="57721"/>
                  </a:lnTo>
                  <a:lnTo>
                    <a:pt x="24212" y="52747"/>
                  </a:lnTo>
                  <a:lnTo>
                    <a:pt x="31021" y="36729"/>
                  </a:lnTo>
                  <a:lnTo>
                    <a:pt x="42168" y="18344"/>
                  </a:lnTo>
                  <a:lnTo>
                    <a:pt x="44645" y="0"/>
                  </a:lnTo>
                  <a:lnTo>
                    <a:pt x="44649" y="44459"/>
                  </a:lnTo>
                  <a:lnTo>
                    <a:pt x="44649" y="47483"/>
                  </a:lnTo>
                  <a:lnTo>
                    <a:pt x="45641" y="48507"/>
                  </a:lnTo>
                  <a:lnTo>
                    <a:pt x="47294" y="48198"/>
                  </a:lnTo>
                  <a:lnTo>
                    <a:pt x="49389" y="46999"/>
                  </a:lnTo>
                  <a:lnTo>
                    <a:pt x="50785" y="45208"/>
                  </a:lnTo>
                  <a:lnTo>
                    <a:pt x="53578" y="3567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76" name="SMARTInkShape-70"/>
            <p:cNvSpPr/>
            <p:nvPr/>
          </p:nvSpPr>
          <p:spPr>
            <a:xfrm>
              <a:off x="2795219" y="4983493"/>
              <a:ext cx="71212" cy="266886"/>
            </a:xfrm>
            <a:custGeom>
              <a:avLst/>
              <a:gdLst/>
              <a:ahLst/>
              <a:cxnLst/>
              <a:rect l="0" t="0" r="0" b="0"/>
              <a:pathLst>
                <a:path w="71212" h="266886">
                  <a:moveTo>
                    <a:pt x="26562" y="124287"/>
                  </a:moveTo>
                  <a:lnTo>
                    <a:pt x="26562" y="129029"/>
                  </a:lnTo>
                  <a:lnTo>
                    <a:pt x="23916" y="134002"/>
                  </a:lnTo>
                  <a:lnTo>
                    <a:pt x="14133" y="150018"/>
                  </a:lnTo>
                  <a:lnTo>
                    <a:pt x="3639" y="178429"/>
                  </a:lnTo>
                  <a:lnTo>
                    <a:pt x="0" y="222373"/>
                  </a:lnTo>
                  <a:lnTo>
                    <a:pt x="866" y="233366"/>
                  </a:lnTo>
                  <a:lnTo>
                    <a:pt x="12215" y="256489"/>
                  </a:lnTo>
                  <a:lnTo>
                    <a:pt x="17871" y="262419"/>
                  </a:lnTo>
                  <a:lnTo>
                    <a:pt x="23691" y="265055"/>
                  </a:lnTo>
                  <a:lnTo>
                    <a:pt x="38482" y="266885"/>
                  </a:lnTo>
                  <a:lnTo>
                    <a:pt x="44428" y="264394"/>
                  </a:lnTo>
                  <a:lnTo>
                    <a:pt x="47402" y="262340"/>
                  </a:lnTo>
                  <a:lnTo>
                    <a:pt x="56329" y="249970"/>
                  </a:lnTo>
                  <a:lnTo>
                    <a:pt x="60518" y="228996"/>
                  </a:lnTo>
                  <a:lnTo>
                    <a:pt x="62049" y="186474"/>
                  </a:lnTo>
                  <a:lnTo>
                    <a:pt x="62212" y="154620"/>
                  </a:lnTo>
                  <a:lnTo>
                    <a:pt x="62261" y="116408"/>
                  </a:lnTo>
                  <a:lnTo>
                    <a:pt x="57537" y="72681"/>
                  </a:lnTo>
                  <a:lnTo>
                    <a:pt x="53902" y="28967"/>
                  </a:lnTo>
                  <a:lnTo>
                    <a:pt x="53361" y="0"/>
                  </a:lnTo>
                  <a:lnTo>
                    <a:pt x="48614" y="4229"/>
                  </a:lnTo>
                  <a:lnTo>
                    <a:pt x="45664" y="21246"/>
                  </a:lnTo>
                  <a:lnTo>
                    <a:pt x="44667" y="60792"/>
                  </a:lnTo>
                  <a:lnTo>
                    <a:pt x="45487" y="96104"/>
                  </a:lnTo>
                  <a:lnTo>
                    <a:pt x="51572" y="137545"/>
                  </a:lnTo>
                  <a:lnTo>
                    <a:pt x="59659" y="180251"/>
                  </a:lnTo>
                  <a:lnTo>
                    <a:pt x="71211" y="23144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77" name="SMARTInkShape-71"/>
            <p:cNvSpPr/>
            <p:nvPr/>
          </p:nvSpPr>
          <p:spPr>
            <a:xfrm>
              <a:off x="2759273" y="4955977"/>
              <a:ext cx="8931" cy="276821"/>
            </a:xfrm>
            <a:custGeom>
              <a:avLst/>
              <a:gdLst/>
              <a:ahLst/>
              <a:cxnLst/>
              <a:rect l="0" t="0" r="0" b="0"/>
              <a:pathLst>
                <a:path w="8931" h="276821">
                  <a:moveTo>
                    <a:pt x="0" y="0"/>
                  </a:moveTo>
                  <a:lnTo>
                    <a:pt x="0" y="39575"/>
                  </a:lnTo>
                  <a:lnTo>
                    <a:pt x="0" y="78312"/>
                  </a:lnTo>
                  <a:lnTo>
                    <a:pt x="0" y="110211"/>
                  </a:lnTo>
                  <a:lnTo>
                    <a:pt x="0" y="141587"/>
                  </a:lnTo>
                  <a:lnTo>
                    <a:pt x="0" y="172067"/>
                  </a:lnTo>
                  <a:lnTo>
                    <a:pt x="0" y="215134"/>
                  </a:lnTo>
                  <a:lnTo>
                    <a:pt x="2646" y="254713"/>
                  </a:lnTo>
                  <a:lnTo>
                    <a:pt x="8930" y="27682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78" name="SMARTInkShape-72"/>
            <p:cNvSpPr/>
            <p:nvPr/>
          </p:nvSpPr>
          <p:spPr>
            <a:xfrm>
              <a:off x="2555664" y="5171672"/>
              <a:ext cx="114314" cy="118010"/>
            </a:xfrm>
            <a:custGeom>
              <a:avLst/>
              <a:gdLst/>
              <a:ahLst/>
              <a:cxnLst/>
              <a:rect l="0" t="0" r="0" b="0"/>
              <a:pathLst>
                <a:path w="114314" h="118010">
                  <a:moveTo>
                    <a:pt x="78594" y="25406"/>
                  </a:moveTo>
                  <a:lnTo>
                    <a:pt x="78594" y="12977"/>
                  </a:lnTo>
                  <a:lnTo>
                    <a:pt x="77602" y="11167"/>
                  </a:lnTo>
                  <a:lnTo>
                    <a:pt x="75948" y="9960"/>
                  </a:lnTo>
                  <a:lnTo>
                    <a:pt x="71465" y="7627"/>
                  </a:lnTo>
                  <a:lnTo>
                    <a:pt x="63363" y="1727"/>
                  </a:lnTo>
                  <a:lnTo>
                    <a:pt x="57603" y="0"/>
                  </a:lnTo>
                  <a:lnTo>
                    <a:pt x="44042" y="3767"/>
                  </a:lnTo>
                  <a:lnTo>
                    <a:pt x="28811" y="13929"/>
                  </a:lnTo>
                  <a:lnTo>
                    <a:pt x="19305" y="23549"/>
                  </a:lnTo>
                  <a:lnTo>
                    <a:pt x="4212" y="49758"/>
                  </a:lnTo>
                  <a:lnTo>
                    <a:pt x="0" y="67238"/>
                  </a:lnTo>
                  <a:lnTo>
                    <a:pt x="1661" y="76409"/>
                  </a:lnTo>
                  <a:lnTo>
                    <a:pt x="3493" y="80244"/>
                  </a:lnTo>
                  <a:lnTo>
                    <a:pt x="5706" y="82801"/>
                  </a:lnTo>
                  <a:lnTo>
                    <a:pt x="10811" y="85641"/>
                  </a:lnTo>
                  <a:lnTo>
                    <a:pt x="19033" y="84258"/>
                  </a:lnTo>
                  <a:lnTo>
                    <a:pt x="29302" y="79344"/>
                  </a:lnTo>
                  <a:lnTo>
                    <a:pt x="62834" y="48727"/>
                  </a:lnTo>
                  <a:lnTo>
                    <a:pt x="96406" y="7596"/>
                  </a:lnTo>
                  <a:lnTo>
                    <a:pt x="96453" y="47687"/>
                  </a:lnTo>
                  <a:lnTo>
                    <a:pt x="96453" y="88496"/>
                  </a:lnTo>
                  <a:lnTo>
                    <a:pt x="99099" y="100740"/>
                  </a:lnTo>
                  <a:lnTo>
                    <a:pt x="103521" y="113212"/>
                  </a:lnTo>
                  <a:lnTo>
                    <a:pt x="104142" y="116685"/>
                  </a:lnTo>
                  <a:lnTo>
                    <a:pt x="105547" y="118009"/>
                  </a:lnTo>
                  <a:lnTo>
                    <a:pt x="107477" y="117899"/>
                  </a:lnTo>
                  <a:lnTo>
                    <a:pt x="109755" y="116834"/>
                  </a:lnTo>
                  <a:lnTo>
                    <a:pt x="111275" y="114139"/>
                  </a:lnTo>
                  <a:lnTo>
                    <a:pt x="114313" y="9684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79" name="SMARTInkShape-73"/>
            <p:cNvSpPr/>
            <p:nvPr/>
          </p:nvSpPr>
          <p:spPr>
            <a:xfrm>
              <a:off x="2446734" y="5241727"/>
              <a:ext cx="107158" cy="1"/>
            </a:xfrm>
            <a:custGeom>
              <a:avLst/>
              <a:gdLst/>
              <a:ahLst/>
              <a:cxnLst/>
              <a:rect l="0" t="0" r="0" b="0"/>
              <a:pathLst>
                <a:path w="107158" h="1">
                  <a:moveTo>
                    <a:pt x="0" y="0"/>
                  </a:moveTo>
                  <a:lnTo>
                    <a:pt x="40722" y="0"/>
                  </a:lnTo>
                  <a:lnTo>
                    <a:pt x="82608" y="0"/>
                  </a:lnTo>
                  <a:lnTo>
                    <a:pt x="107157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0" name="SMARTInkShape-74"/>
            <p:cNvSpPr/>
            <p:nvPr/>
          </p:nvSpPr>
          <p:spPr>
            <a:xfrm>
              <a:off x="2446734" y="5143868"/>
              <a:ext cx="107158" cy="150866"/>
            </a:xfrm>
            <a:custGeom>
              <a:avLst/>
              <a:gdLst/>
              <a:ahLst/>
              <a:cxnLst/>
              <a:rect l="0" t="0" r="0" b="0"/>
              <a:pathLst>
                <a:path w="107158" h="150866">
                  <a:moveTo>
                    <a:pt x="0" y="8562"/>
                  </a:moveTo>
                  <a:lnTo>
                    <a:pt x="0" y="873"/>
                  </a:lnTo>
                  <a:lnTo>
                    <a:pt x="993" y="459"/>
                  </a:lnTo>
                  <a:lnTo>
                    <a:pt x="4741" y="0"/>
                  </a:lnTo>
                  <a:lnTo>
                    <a:pt x="9714" y="2441"/>
                  </a:lnTo>
                  <a:lnTo>
                    <a:pt x="16251" y="7352"/>
                  </a:lnTo>
                  <a:lnTo>
                    <a:pt x="22123" y="17684"/>
                  </a:lnTo>
                  <a:lnTo>
                    <a:pt x="31120" y="58200"/>
                  </a:lnTo>
                  <a:lnTo>
                    <a:pt x="35315" y="102485"/>
                  </a:lnTo>
                  <a:lnTo>
                    <a:pt x="36631" y="126370"/>
                  </a:lnTo>
                  <a:lnTo>
                    <a:pt x="42825" y="138276"/>
                  </a:lnTo>
                  <a:lnTo>
                    <a:pt x="48138" y="144926"/>
                  </a:lnTo>
                  <a:lnTo>
                    <a:pt x="56452" y="148543"/>
                  </a:lnTo>
                  <a:lnTo>
                    <a:pt x="73218" y="150865"/>
                  </a:lnTo>
                  <a:lnTo>
                    <a:pt x="99857" y="143698"/>
                  </a:lnTo>
                  <a:lnTo>
                    <a:pt x="102290" y="142309"/>
                  </a:lnTo>
                  <a:lnTo>
                    <a:pt x="103912" y="140390"/>
                  </a:lnTo>
                  <a:lnTo>
                    <a:pt x="105715" y="135613"/>
                  </a:lnTo>
                  <a:lnTo>
                    <a:pt x="107157" y="12464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1" name="SMARTInkShape-75"/>
            <p:cNvSpPr/>
            <p:nvPr/>
          </p:nvSpPr>
          <p:spPr>
            <a:xfrm>
              <a:off x="2286000" y="5144741"/>
              <a:ext cx="133946" cy="149337"/>
            </a:xfrm>
            <a:custGeom>
              <a:avLst/>
              <a:gdLst/>
              <a:ahLst/>
              <a:cxnLst/>
              <a:rect l="0" t="0" r="0" b="0"/>
              <a:pathLst>
                <a:path w="133946" h="149337">
                  <a:moveTo>
                    <a:pt x="0" y="7689"/>
                  </a:moveTo>
                  <a:lnTo>
                    <a:pt x="0" y="0"/>
                  </a:lnTo>
                  <a:lnTo>
                    <a:pt x="992" y="39077"/>
                  </a:lnTo>
                  <a:lnTo>
                    <a:pt x="9714" y="73751"/>
                  </a:lnTo>
                  <a:lnTo>
                    <a:pt x="20991" y="113783"/>
                  </a:lnTo>
                  <a:lnTo>
                    <a:pt x="29812" y="136579"/>
                  </a:lnTo>
                  <a:lnTo>
                    <a:pt x="33765" y="141240"/>
                  </a:lnTo>
                  <a:lnTo>
                    <a:pt x="43449" y="146421"/>
                  </a:lnTo>
                  <a:lnTo>
                    <a:pt x="55318" y="149336"/>
                  </a:lnTo>
                  <a:lnTo>
                    <a:pt x="64604" y="144726"/>
                  </a:lnTo>
                  <a:lnTo>
                    <a:pt x="91557" y="120030"/>
                  </a:lnTo>
                  <a:lnTo>
                    <a:pt x="99562" y="108550"/>
                  </a:lnTo>
                  <a:lnTo>
                    <a:pt x="111230" y="65454"/>
                  </a:lnTo>
                  <a:lnTo>
                    <a:pt x="115127" y="46806"/>
                  </a:lnTo>
                  <a:lnTo>
                    <a:pt x="116083" y="8248"/>
                  </a:lnTo>
                  <a:lnTo>
                    <a:pt x="117078" y="39735"/>
                  </a:lnTo>
                  <a:lnTo>
                    <a:pt x="124188" y="80396"/>
                  </a:lnTo>
                  <a:lnTo>
                    <a:pt x="124648" y="88951"/>
                  </a:lnTo>
                  <a:lnTo>
                    <a:pt x="127498" y="96061"/>
                  </a:lnTo>
                  <a:lnTo>
                    <a:pt x="133945" y="10591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2" name="SMARTInkShape-76"/>
            <p:cNvSpPr/>
            <p:nvPr/>
          </p:nvSpPr>
          <p:spPr>
            <a:xfrm>
              <a:off x="2250281" y="5429250"/>
              <a:ext cx="741165" cy="34370"/>
            </a:xfrm>
            <a:custGeom>
              <a:avLst/>
              <a:gdLst/>
              <a:ahLst/>
              <a:cxnLst/>
              <a:rect l="0" t="0" r="0" b="0"/>
              <a:pathLst>
                <a:path w="741165" h="34370">
                  <a:moveTo>
                    <a:pt x="0" y="26789"/>
                  </a:moveTo>
                  <a:lnTo>
                    <a:pt x="40312" y="25797"/>
                  </a:lnTo>
                  <a:lnTo>
                    <a:pt x="74991" y="19721"/>
                  </a:lnTo>
                  <a:lnTo>
                    <a:pt x="110855" y="18411"/>
                  </a:lnTo>
                  <a:lnTo>
                    <a:pt x="139558" y="18105"/>
                  </a:lnTo>
                  <a:lnTo>
                    <a:pt x="172159" y="17968"/>
                  </a:lnTo>
                  <a:lnTo>
                    <a:pt x="206492" y="20553"/>
                  </a:lnTo>
                  <a:lnTo>
                    <a:pt x="241594" y="24018"/>
                  </a:lnTo>
                  <a:lnTo>
                    <a:pt x="277040" y="25557"/>
                  </a:lnTo>
                  <a:lnTo>
                    <a:pt x="312637" y="28887"/>
                  </a:lnTo>
                  <a:lnTo>
                    <a:pt x="349293" y="32683"/>
                  </a:lnTo>
                  <a:lnTo>
                    <a:pt x="388737" y="34369"/>
                  </a:lnTo>
                  <a:lnTo>
                    <a:pt x="426772" y="32473"/>
                  </a:lnTo>
                  <a:lnTo>
                    <a:pt x="463520" y="29315"/>
                  </a:lnTo>
                  <a:lnTo>
                    <a:pt x="499697" y="27911"/>
                  </a:lnTo>
                  <a:lnTo>
                    <a:pt x="535619" y="24642"/>
                  </a:lnTo>
                  <a:lnTo>
                    <a:pt x="571428" y="19882"/>
                  </a:lnTo>
                  <a:lnTo>
                    <a:pt x="607187" y="14458"/>
                  </a:lnTo>
                  <a:lnTo>
                    <a:pt x="651307" y="5828"/>
                  </a:lnTo>
                  <a:lnTo>
                    <a:pt x="689515" y="1727"/>
                  </a:lnTo>
                  <a:lnTo>
                    <a:pt x="74116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3" name="SMARTInkShape-77"/>
            <p:cNvSpPr/>
            <p:nvPr/>
          </p:nvSpPr>
          <p:spPr>
            <a:xfrm>
              <a:off x="1866305" y="5500688"/>
              <a:ext cx="178595" cy="80368"/>
            </a:xfrm>
            <a:custGeom>
              <a:avLst/>
              <a:gdLst/>
              <a:ahLst/>
              <a:cxnLst/>
              <a:rect l="0" t="0" r="0" b="0"/>
              <a:pathLst>
                <a:path w="178595" h="80368">
                  <a:moveTo>
                    <a:pt x="0" y="80367"/>
                  </a:moveTo>
                  <a:lnTo>
                    <a:pt x="0" y="75626"/>
                  </a:lnTo>
                  <a:lnTo>
                    <a:pt x="1984" y="74230"/>
                  </a:lnTo>
                  <a:lnTo>
                    <a:pt x="41981" y="59117"/>
                  </a:lnTo>
                  <a:lnTo>
                    <a:pt x="81192" y="44593"/>
                  </a:lnTo>
                  <a:lnTo>
                    <a:pt x="118987" y="29757"/>
                  </a:lnTo>
                  <a:lnTo>
                    <a:pt x="161116" y="10142"/>
                  </a:lnTo>
                  <a:lnTo>
                    <a:pt x="17859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4" name="SMARTInkShape-78"/>
            <p:cNvSpPr/>
            <p:nvPr/>
          </p:nvSpPr>
          <p:spPr>
            <a:xfrm>
              <a:off x="1839516" y="5438180"/>
              <a:ext cx="142876" cy="17860"/>
            </a:xfrm>
            <a:custGeom>
              <a:avLst/>
              <a:gdLst/>
              <a:ahLst/>
              <a:cxnLst/>
              <a:rect l="0" t="0" r="0" b="0"/>
              <a:pathLst>
                <a:path w="142876" h="17860">
                  <a:moveTo>
                    <a:pt x="0" y="0"/>
                  </a:moveTo>
                  <a:lnTo>
                    <a:pt x="12429" y="0"/>
                  </a:lnTo>
                  <a:lnTo>
                    <a:pt x="53830" y="8377"/>
                  </a:lnTo>
                  <a:lnTo>
                    <a:pt x="65596" y="9677"/>
                  </a:lnTo>
                  <a:lnTo>
                    <a:pt x="100005" y="16585"/>
                  </a:lnTo>
                  <a:lnTo>
                    <a:pt x="142875" y="1785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5" name="SMARTInkShape-79"/>
            <p:cNvSpPr/>
            <p:nvPr/>
          </p:nvSpPr>
          <p:spPr>
            <a:xfrm>
              <a:off x="1625203" y="5473898"/>
              <a:ext cx="133947" cy="17861"/>
            </a:xfrm>
            <a:custGeom>
              <a:avLst/>
              <a:gdLst/>
              <a:ahLst/>
              <a:cxnLst/>
              <a:rect l="0" t="0" r="0" b="0"/>
              <a:pathLst>
                <a:path w="133947" h="17861">
                  <a:moveTo>
                    <a:pt x="0" y="17860"/>
                  </a:moveTo>
                  <a:lnTo>
                    <a:pt x="42241" y="17860"/>
                  </a:lnTo>
                  <a:lnTo>
                    <a:pt x="82181" y="17860"/>
                  </a:lnTo>
                  <a:lnTo>
                    <a:pt x="93741" y="15214"/>
                  </a:lnTo>
                  <a:lnTo>
                    <a:pt x="103179" y="11723"/>
                  </a:lnTo>
                  <a:lnTo>
                    <a:pt x="118656" y="8765"/>
                  </a:lnTo>
                  <a:lnTo>
                    <a:pt x="133946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6" name="SMARTInkShape-80"/>
            <p:cNvSpPr/>
            <p:nvPr/>
          </p:nvSpPr>
          <p:spPr>
            <a:xfrm>
              <a:off x="1678781" y="5206008"/>
              <a:ext cx="53580" cy="392748"/>
            </a:xfrm>
            <a:custGeom>
              <a:avLst/>
              <a:gdLst/>
              <a:ahLst/>
              <a:cxnLst/>
              <a:rect l="0" t="0" r="0" b="0"/>
              <a:pathLst>
                <a:path w="53580" h="392748">
                  <a:moveTo>
                    <a:pt x="53579" y="0"/>
                  </a:moveTo>
                  <a:lnTo>
                    <a:pt x="53579" y="4740"/>
                  </a:lnTo>
                  <a:lnTo>
                    <a:pt x="50933" y="9713"/>
                  </a:lnTo>
                  <a:lnTo>
                    <a:pt x="47442" y="15231"/>
                  </a:lnTo>
                  <a:lnTo>
                    <a:pt x="45890" y="20990"/>
                  </a:lnTo>
                  <a:lnTo>
                    <a:pt x="44758" y="63566"/>
                  </a:lnTo>
                  <a:lnTo>
                    <a:pt x="44670" y="105564"/>
                  </a:lnTo>
                  <a:lnTo>
                    <a:pt x="44655" y="141300"/>
                  </a:lnTo>
                  <a:lnTo>
                    <a:pt x="43658" y="181876"/>
                  </a:lnTo>
                  <a:lnTo>
                    <a:pt x="38512" y="219474"/>
                  </a:lnTo>
                  <a:lnTo>
                    <a:pt x="36547" y="255749"/>
                  </a:lnTo>
                  <a:lnTo>
                    <a:pt x="35964" y="290641"/>
                  </a:lnTo>
                  <a:lnTo>
                    <a:pt x="35751" y="334055"/>
                  </a:lnTo>
                  <a:lnTo>
                    <a:pt x="35720" y="377441"/>
                  </a:lnTo>
                  <a:lnTo>
                    <a:pt x="33074" y="383717"/>
                  </a:lnTo>
                  <a:lnTo>
                    <a:pt x="27157" y="392368"/>
                  </a:lnTo>
                  <a:lnTo>
                    <a:pt x="22158" y="392747"/>
                  </a:lnTo>
                  <a:lnTo>
                    <a:pt x="0" y="38397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7" name="SMARTInkShape-81"/>
            <p:cNvSpPr/>
            <p:nvPr/>
          </p:nvSpPr>
          <p:spPr>
            <a:xfrm>
              <a:off x="1437680" y="5161909"/>
              <a:ext cx="195344" cy="463712"/>
            </a:xfrm>
            <a:custGeom>
              <a:avLst/>
              <a:gdLst/>
              <a:ahLst/>
              <a:cxnLst/>
              <a:rect l="0" t="0" r="0" b="0"/>
              <a:pathLst>
                <a:path w="195344" h="463712">
                  <a:moveTo>
                    <a:pt x="98226" y="88746"/>
                  </a:moveTo>
                  <a:lnTo>
                    <a:pt x="98226" y="130729"/>
                  </a:lnTo>
                  <a:lnTo>
                    <a:pt x="98226" y="168551"/>
                  </a:lnTo>
                  <a:lnTo>
                    <a:pt x="97234" y="202572"/>
                  </a:lnTo>
                  <a:lnTo>
                    <a:pt x="92090" y="237787"/>
                  </a:lnTo>
                  <a:lnTo>
                    <a:pt x="90124" y="273357"/>
                  </a:lnTo>
                  <a:lnTo>
                    <a:pt x="88550" y="308039"/>
                  </a:lnTo>
                  <a:lnTo>
                    <a:pt x="82277" y="346928"/>
                  </a:lnTo>
                  <a:lnTo>
                    <a:pt x="80618" y="391261"/>
                  </a:lnTo>
                  <a:lnTo>
                    <a:pt x="80382" y="434121"/>
                  </a:lnTo>
                  <a:lnTo>
                    <a:pt x="80368" y="460620"/>
                  </a:lnTo>
                  <a:lnTo>
                    <a:pt x="79375" y="461678"/>
                  </a:lnTo>
                  <a:lnTo>
                    <a:pt x="71805" y="463711"/>
                  </a:lnTo>
                  <a:lnTo>
                    <a:pt x="77647" y="448527"/>
                  </a:lnTo>
                  <a:lnTo>
                    <a:pt x="80009" y="409381"/>
                  </a:lnTo>
                  <a:lnTo>
                    <a:pt x="80296" y="373340"/>
                  </a:lnTo>
                  <a:lnTo>
                    <a:pt x="80353" y="331678"/>
                  </a:lnTo>
                  <a:lnTo>
                    <a:pt x="80364" y="289750"/>
                  </a:lnTo>
                  <a:lnTo>
                    <a:pt x="80366" y="249388"/>
                  </a:lnTo>
                  <a:lnTo>
                    <a:pt x="80367" y="206873"/>
                  </a:lnTo>
                  <a:lnTo>
                    <a:pt x="80367" y="164777"/>
                  </a:lnTo>
                  <a:lnTo>
                    <a:pt x="85107" y="130016"/>
                  </a:lnTo>
                  <a:lnTo>
                    <a:pt x="89461" y="89843"/>
                  </a:lnTo>
                  <a:lnTo>
                    <a:pt x="98847" y="53246"/>
                  </a:lnTo>
                  <a:lnTo>
                    <a:pt x="107340" y="31595"/>
                  </a:lnTo>
                  <a:lnTo>
                    <a:pt x="128003" y="5717"/>
                  </a:lnTo>
                  <a:lnTo>
                    <a:pt x="133950" y="2235"/>
                  </a:lnTo>
                  <a:lnTo>
                    <a:pt x="145852" y="0"/>
                  </a:lnTo>
                  <a:lnTo>
                    <a:pt x="159522" y="4354"/>
                  </a:lnTo>
                  <a:lnTo>
                    <a:pt x="171399" y="11928"/>
                  </a:lnTo>
                  <a:lnTo>
                    <a:pt x="173797" y="15706"/>
                  </a:lnTo>
                  <a:lnTo>
                    <a:pt x="180292" y="33382"/>
                  </a:lnTo>
                  <a:lnTo>
                    <a:pt x="190835" y="51463"/>
                  </a:lnTo>
                  <a:lnTo>
                    <a:pt x="195343" y="80280"/>
                  </a:lnTo>
                  <a:lnTo>
                    <a:pt x="195132" y="99908"/>
                  </a:lnTo>
                  <a:lnTo>
                    <a:pt x="181193" y="137299"/>
                  </a:lnTo>
                  <a:lnTo>
                    <a:pt x="171537" y="160349"/>
                  </a:lnTo>
                  <a:lnTo>
                    <a:pt x="155556" y="180187"/>
                  </a:lnTo>
                  <a:lnTo>
                    <a:pt x="115404" y="210676"/>
                  </a:lnTo>
                  <a:lnTo>
                    <a:pt x="71347" y="237892"/>
                  </a:lnTo>
                  <a:lnTo>
                    <a:pt x="27769" y="254092"/>
                  </a:lnTo>
                  <a:lnTo>
                    <a:pt x="0" y="25841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8" name="SMARTInkShape-82"/>
            <p:cNvSpPr/>
            <p:nvPr/>
          </p:nvSpPr>
          <p:spPr>
            <a:xfrm>
              <a:off x="1518047" y="5366742"/>
              <a:ext cx="1" cy="8931"/>
            </a:xfrm>
            <a:custGeom>
              <a:avLst/>
              <a:gdLst/>
              <a:ahLst/>
              <a:cxnLst/>
              <a:rect l="0" t="0" r="0" b="0"/>
              <a:pathLst>
                <a:path w="1" h="8931">
                  <a:moveTo>
                    <a:pt x="0" y="0"/>
                  </a:moveTo>
                  <a:lnTo>
                    <a:pt x="0" y="893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val="1220158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Sorular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Periyot, frekans </a:t>
            </a:r>
            <a:r>
              <a:rPr lang="tr-TR" dirty="0" smtClean="0"/>
              <a:t>genlik </a:t>
            </a:r>
            <a:r>
              <a:rPr lang="tr-TR" dirty="0"/>
              <a:t>nedir?</a:t>
            </a:r>
          </a:p>
          <a:p>
            <a:r>
              <a:rPr lang="tr-TR" dirty="0"/>
              <a:t>İletimi zayıflatan 3 tür nedir</a:t>
            </a:r>
          </a:p>
          <a:p>
            <a:r>
              <a:rPr lang="tr-TR" dirty="0" err="1"/>
              <a:t>Baseband</a:t>
            </a:r>
            <a:r>
              <a:rPr lang="tr-TR" dirty="0"/>
              <a:t> iletişim </a:t>
            </a:r>
            <a:r>
              <a:rPr lang="tr-TR" dirty="0" err="1"/>
              <a:t>broadband</a:t>
            </a:r>
            <a:r>
              <a:rPr lang="tr-TR" dirty="0"/>
              <a:t> iletişim arasındaki farklar</a:t>
            </a:r>
          </a:p>
          <a:p>
            <a:r>
              <a:rPr lang="tr-TR" dirty="0" err="1"/>
              <a:t>Low</a:t>
            </a:r>
            <a:r>
              <a:rPr lang="tr-TR" dirty="0"/>
              <a:t> </a:t>
            </a:r>
            <a:r>
              <a:rPr lang="tr-TR" dirty="0" err="1"/>
              <a:t>pass</a:t>
            </a:r>
            <a:r>
              <a:rPr lang="tr-TR" dirty="0"/>
              <a:t> </a:t>
            </a:r>
            <a:r>
              <a:rPr lang="tr-TR" dirty="0" err="1"/>
              <a:t>channel</a:t>
            </a:r>
            <a:r>
              <a:rPr lang="tr-TR" dirty="0"/>
              <a:t>, </a:t>
            </a:r>
            <a:r>
              <a:rPr lang="tr-TR" dirty="0" err="1"/>
              <a:t>band</a:t>
            </a:r>
            <a:r>
              <a:rPr lang="tr-TR" dirty="0"/>
              <a:t> </a:t>
            </a:r>
            <a:r>
              <a:rPr lang="tr-TR" dirty="0" err="1"/>
              <a:t>pass</a:t>
            </a:r>
            <a:r>
              <a:rPr lang="tr-TR" dirty="0"/>
              <a:t> </a:t>
            </a:r>
            <a:r>
              <a:rPr lang="tr-TR" dirty="0" err="1"/>
              <a:t>channel</a:t>
            </a:r>
            <a:endParaRPr lang="tr-TR" dirty="0"/>
          </a:p>
          <a:p>
            <a:r>
              <a:rPr lang="tr-TR" dirty="0"/>
              <a:t>8 MHz, 140 </a:t>
            </a:r>
            <a:r>
              <a:rPr lang="tr-TR" dirty="0" smtClean="0"/>
              <a:t>KHz sinyalin </a:t>
            </a:r>
            <a:r>
              <a:rPr lang="tr-TR" dirty="0"/>
              <a:t>periyod?</a:t>
            </a:r>
          </a:p>
          <a:p>
            <a:r>
              <a:rPr lang="tr-TR" dirty="0"/>
              <a:t>12 </a:t>
            </a:r>
            <a:r>
              <a:rPr lang="tr-TR" dirty="0" err="1"/>
              <a:t>mikrosn</a:t>
            </a:r>
            <a:r>
              <a:rPr lang="tr-TR" dirty="0"/>
              <a:t>, 220 </a:t>
            </a:r>
            <a:r>
              <a:rPr lang="tr-TR" dirty="0" err="1"/>
              <a:t>ns</a:t>
            </a:r>
            <a:r>
              <a:rPr lang="tr-TR" dirty="0"/>
              <a:t> frekans nedir</a:t>
            </a:r>
          </a:p>
          <a:p>
            <a:r>
              <a:rPr lang="tr-TR" dirty="0"/>
              <a:t>0,20,50,100,200 HZ frekanslara sahip 5 sinüs dalgasının </a:t>
            </a:r>
            <a:r>
              <a:rPr lang="tr-TR" dirty="0" err="1"/>
              <a:t>band</a:t>
            </a:r>
            <a:r>
              <a:rPr lang="tr-TR" dirty="0"/>
              <a:t> </a:t>
            </a:r>
            <a:r>
              <a:rPr lang="tr-TR" dirty="0" err="1"/>
              <a:t>genişlği</a:t>
            </a:r>
            <a:r>
              <a:rPr lang="tr-TR" dirty="0"/>
              <a:t>? Genlikleri aynı ise </a:t>
            </a:r>
            <a:r>
              <a:rPr lang="tr-TR" dirty="0" err="1"/>
              <a:t>band</a:t>
            </a:r>
            <a:r>
              <a:rPr lang="tr-TR" dirty="0"/>
              <a:t> </a:t>
            </a:r>
            <a:r>
              <a:rPr lang="tr-TR" dirty="0" smtClean="0"/>
              <a:t>genişliğini frekans </a:t>
            </a:r>
            <a:r>
              <a:rPr lang="tr-TR" dirty="0"/>
              <a:t>düzleminde gösteriniz. </a:t>
            </a:r>
          </a:p>
        </p:txBody>
      </p:sp>
    </p:spTree>
    <p:extLst>
      <p:ext uri="{BB962C8B-B14F-4D97-AF65-F5344CB8AC3E}">
        <p14:creationId xmlns:p14="http://schemas.microsoft.com/office/powerpoint/2010/main" val="4175678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Ödev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Kablosuz ortamda iletişimin zayıflamasının nedenleri nelerdir? Kablosuz ortamlarda Yol kayıplarının (</a:t>
            </a:r>
            <a:r>
              <a:rPr lang="tr-TR" dirty="0" err="1"/>
              <a:t>Path</a:t>
            </a:r>
            <a:r>
              <a:rPr lang="tr-TR" dirty="0"/>
              <a:t> </a:t>
            </a:r>
            <a:r>
              <a:rPr lang="tr-TR"/>
              <a:t>Loss) </a:t>
            </a:r>
            <a:r>
              <a:rPr lang="tr-TR" dirty="0"/>
              <a:t>hesaplanması için kullanılan modellerden en az 3 tanesini araştırarak </a:t>
            </a:r>
            <a:r>
              <a:rPr lang="tr-TR"/>
              <a:t>örneklerle açıklayınız.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06965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Kaynak">
  <a:themeElements>
    <a:clrScheme name="Kaynak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Kaynak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ynak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1000</TotalTime>
  <Words>1843</Words>
  <Application>Microsoft Office PowerPoint</Application>
  <PresentationFormat>Ekran Gösterisi (4:3)</PresentationFormat>
  <Paragraphs>271</Paragraphs>
  <Slides>34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34</vt:i4>
      </vt:variant>
    </vt:vector>
  </HeadingPairs>
  <TitlesOfParts>
    <vt:vector size="40" baseType="lpstr">
      <vt:lpstr>Bookman Old Style</vt:lpstr>
      <vt:lpstr>Calibri</vt:lpstr>
      <vt:lpstr>Gill Sans MT</vt:lpstr>
      <vt:lpstr>Wingdings</vt:lpstr>
      <vt:lpstr>Wingdings 3</vt:lpstr>
      <vt:lpstr>Kaynak</vt:lpstr>
      <vt:lpstr>Fiziksel Katman ve Ortamlar</vt:lpstr>
      <vt:lpstr>Analog ve Sayısal</vt:lpstr>
      <vt:lpstr>Analog ve Sayısal</vt:lpstr>
      <vt:lpstr>Periyodik Analog Sinyaller</vt:lpstr>
      <vt:lpstr>PowerPoint Sunusu</vt:lpstr>
      <vt:lpstr>5 sn lik periyodik analog sinyal</vt:lpstr>
      <vt:lpstr>10 Hz sinyal</vt:lpstr>
      <vt:lpstr>50 Hz 220 V</vt:lpstr>
      <vt:lpstr>Faz </vt:lpstr>
      <vt:lpstr>Dalga Boyu (Wavelength)</vt:lpstr>
      <vt:lpstr>Zaman ve Frekans Düzlemi</vt:lpstr>
      <vt:lpstr>Periyodik analog sinyal</vt:lpstr>
      <vt:lpstr>Composite Sinyal – Periyodik Analog sinyal</vt:lpstr>
      <vt:lpstr>Aperiyodik Sinyaller</vt:lpstr>
      <vt:lpstr>Band Genişliği</vt:lpstr>
      <vt:lpstr>PowerPoint Sunusu</vt:lpstr>
      <vt:lpstr>Sayısal Sinyaller</vt:lpstr>
      <vt:lpstr>Sayısal Sinyaller</vt:lpstr>
      <vt:lpstr>Sayısal Sinyalin iletimi</vt:lpstr>
      <vt:lpstr>Sayısal Sinyaller (Baseband İletişim)</vt:lpstr>
      <vt:lpstr>Sayısal Sinyaller (Baseband İletişim)</vt:lpstr>
      <vt:lpstr>Sayısal Sinyal (Baseband İletişim)</vt:lpstr>
      <vt:lpstr>Sayısal Sinyal</vt:lpstr>
      <vt:lpstr>Sayısal Sinyaller (Broadband İletişim)</vt:lpstr>
      <vt:lpstr>Sayısal Sinyaller (Broadband İletişim)</vt:lpstr>
      <vt:lpstr>İletişimin Zayıflaması </vt:lpstr>
      <vt:lpstr>İletişimin Zayıflaması </vt:lpstr>
      <vt:lpstr>İletişimin Zayıflaması </vt:lpstr>
      <vt:lpstr>İletişimin Zayıflaması</vt:lpstr>
      <vt:lpstr>Veri İletişiminin Sınırlılıkları</vt:lpstr>
      <vt:lpstr>Veri İletişiminin Sınırlılıkları</vt:lpstr>
      <vt:lpstr>Performans</vt:lpstr>
      <vt:lpstr>Sorular</vt:lpstr>
      <vt:lpstr>Ödev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Fiziksel Katman ve Ortamlar</dc:title>
  <dc:creator>mevlut</dc:creator>
  <cp:lastModifiedBy>mevlut ersoy</cp:lastModifiedBy>
  <cp:revision>33</cp:revision>
  <dcterms:created xsi:type="dcterms:W3CDTF">2016-10-10T06:35:52Z</dcterms:created>
  <dcterms:modified xsi:type="dcterms:W3CDTF">2018-10-30T21:43:38Z</dcterms:modified>
</cp:coreProperties>
</file>