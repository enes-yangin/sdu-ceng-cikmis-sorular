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72" r:id="rId10"/>
    <p:sldId id="273" r:id="rId11"/>
    <p:sldId id="263" r:id="rId12"/>
    <p:sldId id="274" r:id="rId13"/>
    <p:sldId id="275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A9575-7FD4-4748-8EA3-8DD7F4F8FA51}" type="datetimeFigureOut">
              <a:rPr lang="tr-TR" smtClean="0"/>
              <a:t>28.11.2018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E64E2-1E18-4559-9958-B7D31E2C06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0319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element, en küçük bilgidir (bit).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</a:t>
            </a:r>
            <a:endParaRPr lang="tr-TR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element, en küçük sabit sinyaldir.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Carrier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(taşıyıcı sinyal), gönderen cihaz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tarafından üretilen yüksek frekanslı sinyaldir.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Bant genişliği sinyal rate ile doğru orantılıdır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FSK hariç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Örnek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Bit rate 8000bps. Baud rate 1000 baud.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 sinyal elementinde kaç bit var? Kaç farklı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sinyal elementine ihtiyaç vardır?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r= N/S = 8000/1000=8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r=log2L L=256</a:t>
            </a:r>
            <a:endParaRPr lang="tr-TR" dirty="0" smtClean="0"/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E64E2-1E18-4559-9958-B7D31E2C064F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3474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Eğer sayısal data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unipolar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NRZ ile ifade edilirse, NRZ ile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taşıyıcı sinyal çarpılarak ASK oluşturulur.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İki seviye yerine 4, 8 veya daha fazla seviye kullanılabilir.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E64E2-1E18-4559-9958-B7D31E2C064F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3775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Taşıyıcı sinyalin frekansı değiştirilir.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Binary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FSK ile iki farklı frekansta sinyal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kullanılır.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E64E2-1E18-4559-9958-B7D31E2C064F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38896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Voltage‐controlled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oscillator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(VCO) tarafından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oluşturulabilir.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NRZ ile VCO kullanılarak BFSK oluşturulması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şekilde görülmektedir.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E64E2-1E18-4559-9958-B7D31E2C064F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95230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Taşıyıcı sinyalin fazı değiştirilir.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BPSK’da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0° ve 180° faz farklı iki sinyal kullanılır.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PSK gürültüden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ASK’ya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göre az etkilenir.</a:t>
            </a:r>
          </a:p>
          <a:p>
            <a:r>
              <a:rPr lang="nn-NO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PSK sadece bir tane taşıyıcı frekans gerektirir, FSK</a:t>
            </a: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seviye sayısı kadar gerektirir.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E64E2-1E18-4559-9958-B7D31E2C064F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11488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 smtClean="0"/>
              <a:t>Asıl alt başlık stilini düzenlemek için tıklatın</a:t>
            </a:r>
            <a:endParaRPr kumimoji="0" lang="en-US"/>
          </a:p>
        </p:txBody>
      </p:sp>
      <p:sp>
        <p:nvSpPr>
          <p:cNvPr id="28" name="Veri Yer Tutucusu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66FA2569-0EA0-4BAA-8DC6-979F69F26921}" type="datetimeFigureOut">
              <a:rPr lang="tr-TR" smtClean="0"/>
              <a:t>28.11.2018</a:t>
            </a:fld>
            <a:endParaRPr lang="tr-TR"/>
          </a:p>
        </p:txBody>
      </p:sp>
      <p:sp>
        <p:nvSpPr>
          <p:cNvPr id="17" name="Altbilgi Yer Tutucusu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tr-TR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D801652C-697D-4556-A811-0522E3D117F9}" type="slidenum">
              <a:rPr lang="tr-TR" smtClean="0"/>
              <a:t>‹#›</a:t>
            </a:fld>
            <a:endParaRPr lang="tr-TR"/>
          </a:p>
        </p:txBody>
      </p:sp>
      <p:sp>
        <p:nvSpPr>
          <p:cNvPr id="21" name="Dikdörtgen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Dikdörtgen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Dikdörtgen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Dikdörtgen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A2569-0EA0-4BAA-8DC6-979F69F26921}" type="datetimeFigureOut">
              <a:rPr lang="tr-TR" smtClean="0"/>
              <a:t>28.11.2018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1652C-697D-4556-A811-0522E3D117F9}" type="slidenum">
              <a:rPr lang="tr-TR" smtClean="0"/>
              <a:t>‹#›</a:t>
            </a:fld>
            <a:endParaRPr lang="tr-TR"/>
          </a:p>
        </p:txBody>
      </p:sp>
      <p:sp>
        <p:nvSpPr>
          <p:cNvPr id="8" name="İçerik Yer Tutucusu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66FA2569-0EA0-4BAA-8DC6-979F69F26921}" type="datetimeFigureOut">
              <a:rPr lang="tr-TR" smtClean="0"/>
              <a:t>28.11.2018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D801652C-697D-4556-A811-0522E3D117F9}" type="slidenum">
              <a:rPr lang="tr-TR" smtClean="0"/>
              <a:t>‹#›</a:t>
            </a:fld>
            <a:endParaRPr lang="tr-TR"/>
          </a:p>
        </p:txBody>
      </p:sp>
      <p:sp>
        <p:nvSpPr>
          <p:cNvPr id="7" name="Dikdörtgen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Dikdörtgen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A2569-0EA0-4BAA-8DC6-979F69F26921}" type="datetimeFigureOut">
              <a:rPr lang="tr-TR" smtClean="0"/>
              <a:t>28.11.2018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1652C-697D-4556-A811-0522E3D117F9}" type="slidenum">
              <a:rPr lang="tr-TR" smtClean="0"/>
              <a:t>‹#›</a:t>
            </a:fld>
            <a:endParaRPr lang="tr-TR"/>
          </a:p>
        </p:txBody>
      </p:sp>
      <p:sp>
        <p:nvSpPr>
          <p:cNvPr id="9" name="İçerik Yer Tutucusu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A2569-0EA0-4BAA-8DC6-979F69F26921}" type="datetimeFigureOut">
              <a:rPr lang="tr-TR" smtClean="0"/>
              <a:t>28.11.2018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1652C-697D-4556-A811-0522E3D117F9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13" name="İçerik Yer Tutucusu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A2569-0EA0-4BAA-8DC6-979F69F26921}" type="datetimeFigureOut">
              <a:rPr lang="tr-TR" smtClean="0"/>
              <a:t>28.11.2018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1652C-697D-4556-A811-0522E3D117F9}" type="slidenum">
              <a:rPr lang="tr-TR" smtClean="0"/>
              <a:t>‹#›</a:t>
            </a:fld>
            <a:endParaRPr lang="tr-TR"/>
          </a:p>
        </p:txBody>
      </p:sp>
      <p:sp>
        <p:nvSpPr>
          <p:cNvPr id="6" name="İkizkenar Üçgen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A2569-0EA0-4BAA-8DC6-979F69F26921}" type="datetimeFigureOut">
              <a:rPr lang="tr-TR" smtClean="0"/>
              <a:t>28.11.2018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1652C-697D-4556-A811-0522E3D117F9}" type="slidenum">
              <a:rPr lang="tr-TR" smtClean="0"/>
              <a:t>‹#›</a:t>
            </a:fld>
            <a:endParaRPr lang="tr-TR"/>
          </a:p>
        </p:txBody>
      </p:sp>
      <p:sp>
        <p:nvSpPr>
          <p:cNvPr id="5" name="Düz Bağlayıcı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İkizkenar Üçgen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A2569-0EA0-4BAA-8DC6-979F69F26921}" type="datetimeFigureOut">
              <a:rPr lang="tr-TR" smtClean="0"/>
              <a:t>28.11.2018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1652C-697D-4556-A811-0522E3D117F9}" type="slidenum">
              <a:rPr lang="tr-TR" smtClean="0"/>
              <a:t>‹#›</a:t>
            </a:fld>
            <a:endParaRPr lang="tr-TR"/>
          </a:p>
        </p:txBody>
      </p:sp>
      <p:sp>
        <p:nvSpPr>
          <p:cNvPr id="8" name="Düz Bağlayıcı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Düz Bağlayıcı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İkizkenar Üçgen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İçerik Yer Tutucusu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tr-TR" smtClean="0"/>
              <a:t>Resim eklemek için simgeyi tıklatın</a:t>
            </a:r>
            <a:endParaRPr kumimoji="0" lang="en-US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A2569-0EA0-4BAA-8DC6-979F69F26921}" type="datetimeFigureOut">
              <a:rPr lang="tr-TR" smtClean="0"/>
              <a:t>28.11.2018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1652C-697D-4556-A811-0522E3D117F9}" type="slidenum">
              <a:rPr lang="tr-TR" smtClean="0"/>
              <a:t>‹#›</a:t>
            </a:fld>
            <a:endParaRPr lang="tr-TR"/>
          </a:p>
        </p:txBody>
      </p:sp>
      <p:sp>
        <p:nvSpPr>
          <p:cNvPr id="8" name="Düz Bağlayıcı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İkizkenar Üçgen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Dikdörtgen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A2569-0EA0-4BAA-8DC6-979F69F26921}" type="datetimeFigureOut">
              <a:rPr lang="tr-TR" smtClean="0"/>
              <a:t>28.11.2018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1652C-697D-4556-A811-0522E3D117F9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A2569-0EA0-4BAA-8DC6-979F69F26921}" type="datetimeFigureOut">
              <a:rPr lang="tr-TR" smtClean="0"/>
              <a:t>28.11.2018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1652C-697D-4556-A811-0522E3D117F9}" type="slidenum">
              <a:rPr lang="tr-TR" smtClean="0"/>
              <a:t>‹#›</a:t>
            </a:fld>
            <a:endParaRPr lang="tr-TR"/>
          </a:p>
        </p:txBody>
      </p:sp>
      <p:sp>
        <p:nvSpPr>
          <p:cNvPr id="7" name="Düz Bağlayıcı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İkizkenar Üçgen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Düz Bağlayıcı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  <a:p>
            <a:pPr lvl="1" eaLnBrk="1" latinLnBrk="0" hangingPunct="1"/>
            <a:r>
              <a:rPr kumimoji="0" lang="tr-TR" smtClean="0"/>
              <a:t>İkinci düzey</a:t>
            </a:r>
          </a:p>
          <a:p>
            <a:pPr lvl="2" eaLnBrk="1" latinLnBrk="0" hangingPunct="1"/>
            <a:r>
              <a:rPr kumimoji="0" lang="tr-TR" smtClean="0"/>
              <a:t>Üçüncü düzey</a:t>
            </a:r>
          </a:p>
          <a:p>
            <a:pPr lvl="3" eaLnBrk="1" latinLnBrk="0" hangingPunct="1"/>
            <a:r>
              <a:rPr kumimoji="0" lang="tr-TR" smtClean="0"/>
              <a:t>Dördüncü düzey</a:t>
            </a:r>
          </a:p>
          <a:p>
            <a:pPr lvl="4" eaLnBrk="1" latinLnBrk="0" hangingPunct="1"/>
            <a:r>
              <a:rPr kumimoji="0" lang="tr-TR" smtClean="0"/>
              <a:t>Beşinci düzey</a:t>
            </a:r>
            <a:endParaRPr kumimoji="0" lang="en-US"/>
          </a:p>
        </p:txBody>
      </p:sp>
      <p:sp>
        <p:nvSpPr>
          <p:cNvPr id="14" name="Veri Yer Tutucusu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6FA2569-0EA0-4BAA-8DC6-979F69F26921}" type="datetimeFigureOut">
              <a:rPr lang="tr-TR" smtClean="0"/>
              <a:t>28.11.2018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801652C-697D-4556-A811-0522E3D117F9}" type="slidenum">
              <a:rPr lang="tr-TR" smtClean="0"/>
              <a:t>‹#›</a:t>
            </a:fld>
            <a:endParaRPr lang="tr-TR"/>
          </a:p>
        </p:txBody>
      </p:sp>
      <p:sp>
        <p:nvSpPr>
          <p:cNvPr id="28" name="Düz Bağlayıcı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Düz Bağlayıcı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İkizkenar Üçgen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Analog İletişim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48865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Sayısal Analog Dönüşüm</a:t>
            </a:r>
            <a:endParaRPr lang="tr-T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998763"/>
            <a:ext cx="9036600" cy="2942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9957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1938338"/>
            <a:ext cx="7715250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Başlık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tr-TR" dirty="0" smtClean="0"/>
              <a:t>Sayısal Analog Dönüşüm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04377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Genlik Kaydırmalı Anahtarlama </a:t>
            </a:r>
            <a:br>
              <a:rPr lang="tr-TR" dirty="0" smtClean="0"/>
            </a:br>
            <a:r>
              <a:rPr lang="tr-TR" dirty="0" err="1" smtClean="0"/>
              <a:t>Amplitude</a:t>
            </a:r>
            <a:r>
              <a:rPr lang="tr-TR" dirty="0" smtClean="0"/>
              <a:t> </a:t>
            </a:r>
            <a:r>
              <a:rPr lang="tr-TR" dirty="0" err="1" smtClean="0"/>
              <a:t>Shift</a:t>
            </a:r>
            <a:r>
              <a:rPr lang="tr-TR" dirty="0" smtClean="0"/>
              <a:t> </a:t>
            </a:r>
            <a:r>
              <a:rPr lang="tr-TR" dirty="0" err="1" smtClean="0"/>
              <a:t>Keying</a:t>
            </a:r>
            <a:r>
              <a:rPr lang="tr-TR" dirty="0" smtClean="0"/>
              <a:t> - ASK</a:t>
            </a:r>
            <a:endParaRPr lang="tr-T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4829" y="1844824"/>
            <a:ext cx="9296161" cy="2741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3617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ASK</a:t>
            </a:r>
            <a:endParaRPr lang="tr-T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1738313"/>
            <a:ext cx="7486650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0860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Ani güç değişikliklerinden etkilenir</a:t>
            </a:r>
          </a:p>
          <a:p>
            <a:r>
              <a:rPr lang="tr-TR" dirty="0" smtClean="0"/>
              <a:t>Kolay </a:t>
            </a:r>
            <a:r>
              <a:rPr lang="tr-TR" dirty="0"/>
              <a:t>ama verimsiz bir modülasyon tekniğidir</a:t>
            </a:r>
          </a:p>
          <a:p>
            <a:r>
              <a:rPr lang="tr-TR" dirty="0" smtClean="0"/>
              <a:t>Ses </a:t>
            </a:r>
            <a:r>
              <a:rPr lang="tr-TR" dirty="0"/>
              <a:t>hatlarında (</a:t>
            </a:r>
            <a:r>
              <a:rPr lang="tr-TR" dirty="0" err="1"/>
              <a:t>voice‐grade</a:t>
            </a:r>
            <a:r>
              <a:rPr lang="tr-TR" dirty="0"/>
              <a:t> </a:t>
            </a:r>
            <a:r>
              <a:rPr lang="tr-TR" dirty="0" err="1"/>
              <a:t>line</a:t>
            </a:r>
            <a:r>
              <a:rPr lang="tr-TR" dirty="0"/>
              <a:t>), 1200 </a:t>
            </a:r>
            <a:r>
              <a:rPr lang="tr-TR" dirty="0" err="1" smtClean="0"/>
              <a:t>bps</a:t>
            </a:r>
            <a:r>
              <a:rPr lang="tr-TR" dirty="0"/>
              <a:t> </a:t>
            </a:r>
            <a:r>
              <a:rPr lang="tr-TR" dirty="0" smtClean="0"/>
              <a:t>data </a:t>
            </a:r>
            <a:r>
              <a:rPr lang="tr-TR" dirty="0" err="1"/>
              <a:t>rate’e</a:t>
            </a:r>
            <a:r>
              <a:rPr lang="tr-TR" dirty="0"/>
              <a:t> kadar </a:t>
            </a:r>
            <a:r>
              <a:rPr lang="tr-TR" dirty="0" err="1"/>
              <a:t>kullanilir</a:t>
            </a:r>
            <a:endParaRPr lang="tr-TR" dirty="0"/>
          </a:p>
          <a:p>
            <a:r>
              <a:rPr lang="tr-TR" dirty="0" smtClean="0"/>
              <a:t>Sayısal </a:t>
            </a:r>
            <a:r>
              <a:rPr lang="tr-TR" dirty="0"/>
              <a:t>veriyi optik fiber üzerinde iletmek </a:t>
            </a:r>
            <a:r>
              <a:rPr lang="tr-TR" dirty="0" smtClean="0"/>
              <a:t>için kullanılabilir</a:t>
            </a:r>
            <a:endParaRPr lang="tr-TR" dirty="0"/>
          </a:p>
        </p:txBody>
      </p:sp>
      <p:sp>
        <p:nvSpPr>
          <p:cNvPr id="5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ASK Özellikleri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62162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Frekans Kaydırmalı Anahtarlama</a:t>
            </a:r>
            <a:br>
              <a:rPr lang="tr-TR" dirty="0" smtClean="0"/>
            </a:br>
            <a:r>
              <a:rPr lang="tr-TR" dirty="0" err="1" smtClean="0"/>
              <a:t>Frequency</a:t>
            </a:r>
            <a:r>
              <a:rPr lang="tr-TR" dirty="0" smtClean="0"/>
              <a:t> </a:t>
            </a:r>
            <a:r>
              <a:rPr lang="tr-TR" dirty="0" err="1" smtClean="0"/>
              <a:t>Shift</a:t>
            </a:r>
            <a:r>
              <a:rPr lang="tr-TR" dirty="0" smtClean="0"/>
              <a:t> </a:t>
            </a:r>
            <a:r>
              <a:rPr lang="tr-TR" dirty="0" err="1" smtClean="0"/>
              <a:t>Keying</a:t>
            </a:r>
            <a:r>
              <a:rPr lang="tr-TR" dirty="0" smtClean="0"/>
              <a:t> - FSK</a:t>
            </a:r>
            <a:endParaRPr lang="tr-T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3" y="1700808"/>
            <a:ext cx="9074583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7795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FSK</a:t>
            </a:r>
            <a:endParaRPr lang="tr-T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72" y="2038350"/>
            <a:ext cx="8231278" cy="2902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7877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van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Binary</a:t>
            </a:r>
            <a:r>
              <a:rPr lang="tr-TR" dirty="0"/>
              <a:t> </a:t>
            </a:r>
            <a:r>
              <a:rPr lang="tr-TR" dirty="0" err="1"/>
              <a:t>Frequency‐Shift</a:t>
            </a:r>
            <a:r>
              <a:rPr lang="tr-TR" dirty="0"/>
              <a:t> </a:t>
            </a:r>
            <a:r>
              <a:rPr lang="tr-TR" dirty="0" err="1"/>
              <a:t>Keying</a:t>
            </a:r>
            <a:r>
              <a:rPr lang="tr-TR" dirty="0"/>
              <a:t> (BFSK)</a:t>
            </a:r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 smtClean="0"/>
              <a:t>ASK </a:t>
            </a:r>
            <a:r>
              <a:rPr lang="tr-TR" dirty="0"/>
              <a:t>dan daha az hata </a:t>
            </a:r>
            <a:r>
              <a:rPr lang="tr-TR" dirty="0" err="1"/>
              <a:t>olusur</a:t>
            </a:r>
            <a:endParaRPr lang="tr-TR" dirty="0"/>
          </a:p>
          <a:p>
            <a:r>
              <a:rPr lang="tr-TR" dirty="0" smtClean="0"/>
              <a:t>Ses </a:t>
            </a:r>
            <a:r>
              <a:rPr lang="tr-TR" dirty="0" err="1"/>
              <a:t>hatlarinda</a:t>
            </a:r>
            <a:r>
              <a:rPr lang="tr-TR" dirty="0"/>
              <a:t> (</a:t>
            </a:r>
            <a:r>
              <a:rPr lang="tr-TR" dirty="0" err="1"/>
              <a:t>voice‐grade</a:t>
            </a:r>
            <a:r>
              <a:rPr lang="tr-TR" dirty="0"/>
              <a:t> </a:t>
            </a:r>
            <a:r>
              <a:rPr lang="tr-TR" dirty="0" err="1"/>
              <a:t>line</a:t>
            </a:r>
            <a:r>
              <a:rPr lang="tr-TR" dirty="0"/>
              <a:t>), 1200 </a:t>
            </a:r>
            <a:r>
              <a:rPr lang="tr-TR" dirty="0" err="1" smtClean="0"/>
              <a:t>bps</a:t>
            </a:r>
            <a:r>
              <a:rPr lang="tr-TR" dirty="0"/>
              <a:t> </a:t>
            </a:r>
            <a:r>
              <a:rPr lang="tr-TR" dirty="0" smtClean="0"/>
              <a:t>data </a:t>
            </a:r>
            <a:r>
              <a:rPr lang="tr-TR" dirty="0" err="1"/>
              <a:t>rate’e</a:t>
            </a:r>
            <a:r>
              <a:rPr lang="tr-TR" dirty="0"/>
              <a:t> kadar kullanılır</a:t>
            </a:r>
          </a:p>
          <a:p>
            <a:r>
              <a:rPr lang="tr-TR" dirty="0" smtClean="0"/>
              <a:t>Yüksek </a:t>
            </a:r>
            <a:r>
              <a:rPr lang="tr-TR" dirty="0" err="1"/>
              <a:t>frekansli</a:t>
            </a:r>
            <a:r>
              <a:rPr lang="tr-TR" dirty="0"/>
              <a:t> (3 </a:t>
            </a:r>
            <a:r>
              <a:rPr lang="tr-TR" dirty="0" err="1"/>
              <a:t>to</a:t>
            </a:r>
            <a:r>
              <a:rPr lang="tr-TR" dirty="0"/>
              <a:t> 30 MHz) </a:t>
            </a:r>
            <a:r>
              <a:rPr lang="tr-TR" dirty="0" err="1"/>
              <a:t>radio</a:t>
            </a:r>
            <a:r>
              <a:rPr lang="tr-TR" dirty="0"/>
              <a:t> </a:t>
            </a:r>
            <a:r>
              <a:rPr lang="tr-TR" dirty="0" smtClean="0"/>
              <a:t>iletişimi için </a:t>
            </a:r>
            <a:r>
              <a:rPr lang="tr-TR" dirty="0"/>
              <a:t>kullanılabilir</a:t>
            </a:r>
          </a:p>
          <a:p>
            <a:r>
              <a:rPr lang="tr-TR" dirty="0" err="1" smtClean="0"/>
              <a:t>Coaxial</a:t>
            </a:r>
            <a:r>
              <a:rPr lang="tr-TR" dirty="0" smtClean="0"/>
              <a:t> </a:t>
            </a:r>
            <a:r>
              <a:rPr lang="tr-TR" dirty="0"/>
              <a:t>kablo kullanan </a:t>
            </a:r>
            <a:r>
              <a:rPr lang="tr-TR" dirty="0" err="1"/>
              <a:t>LAN’larda</a:t>
            </a:r>
            <a:r>
              <a:rPr lang="tr-TR" dirty="0"/>
              <a:t> daha </a:t>
            </a:r>
            <a:r>
              <a:rPr lang="tr-TR" dirty="0" smtClean="0"/>
              <a:t>yüksek frekanslarda </a:t>
            </a:r>
            <a:r>
              <a:rPr lang="tr-TR" dirty="0"/>
              <a:t>kullanılabilir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68578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Multiple</a:t>
            </a:r>
            <a:r>
              <a:rPr lang="tr-TR" dirty="0"/>
              <a:t> </a:t>
            </a:r>
            <a:r>
              <a:rPr lang="tr-TR" dirty="0" err="1"/>
              <a:t>Frequency‐Shift</a:t>
            </a:r>
            <a:r>
              <a:rPr lang="tr-TR" dirty="0"/>
              <a:t> </a:t>
            </a:r>
            <a:r>
              <a:rPr lang="tr-TR" dirty="0" err="1"/>
              <a:t>Keying</a:t>
            </a:r>
            <a:r>
              <a:rPr lang="tr-TR" dirty="0"/>
              <a:t/>
            </a:r>
            <a:br>
              <a:rPr lang="tr-TR" dirty="0"/>
            </a:br>
            <a:r>
              <a:rPr lang="tr-TR" dirty="0"/>
              <a:t>(MFSK)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İki </a:t>
            </a:r>
            <a:r>
              <a:rPr lang="tr-TR" dirty="0" err="1"/>
              <a:t>frekansdan</a:t>
            </a:r>
            <a:r>
              <a:rPr lang="tr-TR" dirty="0"/>
              <a:t> fazlası kullanılıyor</a:t>
            </a:r>
          </a:p>
          <a:p>
            <a:r>
              <a:rPr lang="tr-TR" dirty="0" err="1" smtClean="0"/>
              <a:t>Bantgenişliği</a:t>
            </a:r>
            <a:r>
              <a:rPr lang="tr-TR" dirty="0" smtClean="0"/>
              <a:t> </a:t>
            </a:r>
            <a:r>
              <a:rPr lang="tr-TR" dirty="0"/>
              <a:t>olarak daha iyi ama hata </a:t>
            </a:r>
            <a:r>
              <a:rPr lang="tr-TR" dirty="0" smtClean="0"/>
              <a:t>oluşturmaya daha müsait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552" y="2395145"/>
            <a:ext cx="4794896" cy="258587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 rotWithShape="1">
          <a:blip r:embed="rId3"/>
          <a:srcRect t="7082" b="32920"/>
          <a:stretch/>
        </p:blipFill>
        <p:spPr>
          <a:xfrm>
            <a:off x="921704" y="4941168"/>
            <a:ext cx="6890101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805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Faz Kaydırmalı Anahtarlama</a:t>
            </a:r>
            <a:br>
              <a:rPr lang="tr-TR" dirty="0" smtClean="0"/>
            </a:br>
            <a:r>
              <a:rPr lang="tr-TR" dirty="0" err="1" smtClean="0"/>
              <a:t>Phase</a:t>
            </a:r>
            <a:r>
              <a:rPr lang="tr-TR" dirty="0" smtClean="0"/>
              <a:t> </a:t>
            </a:r>
            <a:r>
              <a:rPr lang="tr-TR" dirty="0" err="1" smtClean="0"/>
              <a:t>Shift</a:t>
            </a:r>
            <a:r>
              <a:rPr lang="tr-TR" dirty="0" smtClean="0"/>
              <a:t> </a:t>
            </a:r>
            <a:r>
              <a:rPr lang="tr-TR" dirty="0" err="1" smtClean="0"/>
              <a:t>Keying</a:t>
            </a:r>
            <a:r>
              <a:rPr lang="tr-TR" dirty="0" smtClean="0"/>
              <a:t> - PSK</a:t>
            </a:r>
            <a:endParaRPr lang="tr-TR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8233" y="1988841"/>
            <a:ext cx="9278745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7926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348880"/>
            <a:ext cx="5856239" cy="27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241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Phase‐Shift</a:t>
            </a:r>
            <a:r>
              <a:rPr lang="tr-TR" dirty="0"/>
              <a:t> </a:t>
            </a:r>
            <a:r>
              <a:rPr lang="tr-TR" dirty="0" err="1"/>
              <a:t>Keying</a:t>
            </a:r>
            <a:r>
              <a:rPr lang="tr-TR" dirty="0"/>
              <a:t> (PSK) ‐</a:t>
            </a:r>
            <a:br>
              <a:rPr lang="tr-TR" dirty="0"/>
            </a:br>
            <a:r>
              <a:rPr lang="tr-TR" dirty="0" err="1"/>
              <a:t>Differential</a:t>
            </a:r>
            <a:r>
              <a:rPr lang="tr-TR" dirty="0"/>
              <a:t> PSK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49850" y="1268760"/>
            <a:ext cx="8229600" cy="4937760"/>
          </a:xfrm>
        </p:spPr>
        <p:txBody>
          <a:bodyPr/>
          <a:lstStyle/>
          <a:p>
            <a:r>
              <a:rPr lang="tr-TR" dirty="0" err="1"/>
              <a:t>Phase</a:t>
            </a:r>
            <a:r>
              <a:rPr lang="tr-TR" dirty="0"/>
              <a:t> kaydırması referans sinyale göre </a:t>
            </a:r>
            <a:r>
              <a:rPr lang="tr-TR" dirty="0" err="1" smtClean="0"/>
              <a:t>degil</a:t>
            </a:r>
            <a:r>
              <a:rPr lang="tr-TR" dirty="0" smtClean="0"/>
              <a:t>, </a:t>
            </a:r>
            <a:r>
              <a:rPr lang="tr-TR" dirty="0" err="1" smtClean="0"/>
              <a:t>transmit</a:t>
            </a:r>
            <a:r>
              <a:rPr lang="tr-TR" dirty="0" smtClean="0"/>
              <a:t> </a:t>
            </a:r>
            <a:r>
              <a:rPr lang="tr-TR" dirty="0"/>
              <a:t>edilen önceki bite </a:t>
            </a:r>
            <a:r>
              <a:rPr lang="tr-TR" dirty="0" smtClean="0"/>
              <a:t>göre yapılır</a:t>
            </a:r>
            <a:endParaRPr lang="tr-TR" dirty="0"/>
          </a:p>
          <a:p>
            <a:r>
              <a:rPr lang="tr-TR" dirty="0" smtClean="0"/>
              <a:t>Zamanlama </a:t>
            </a:r>
            <a:r>
              <a:rPr lang="tr-TR" dirty="0"/>
              <a:t>mekanizmasına ihtiyaç duymaz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350" y="3501008"/>
            <a:ext cx="4605300" cy="172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013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QPSK (</a:t>
            </a:r>
            <a:r>
              <a:rPr lang="tr-TR" dirty="0" err="1" smtClean="0"/>
              <a:t>Karesel</a:t>
            </a:r>
            <a:r>
              <a:rPr lang="tr-TR" dirty="0" smtClean="0"/>
              <a:t> PSK)</a:t>
            </a:r>
            <a:endParaRPr lang="tr-T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866" y="1196752"/>
            <a:ext cx="6789586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6000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Yıldız </a:t>
            </a:r>
            <a:r>
              <a:rPr lang="tr-TR" smtClean="0"/>
              <a:t>Diagramı</a:t>
            </a:r>
            <a:endParaRPr lang="tr-T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72816"/>
            <a:ext cx="8578277" cy="3961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499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Quadrature</a:t>
            </a:r>
            <a:r>
              <a:rPr lang="tr-TR" dirty="0" smtClean="0"/>
              <a:t> </a:t>
            </a:r>
            <a:r>
              <a:rPr lang="tr-TR" dirty="0" err="1" smtClean="0"/>
              <a:t>Amplitude</a:t>
            </a:r>
            <a:r>
              <a:rPr lang="tr-TR" dirty="0" smtClean="0"/>
              <a:t> </a:t>
            </a:r>
            <a:r>
              <a:rPr lang="tr-TR" dirty="0" err="1" smtClean="0"/>
              <a:t>Modulation</a:t>
            </a:r>
            <a:endParaRPr lang="tr-T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420888"/>
            <a:ext cx="8392138" cy="2427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1653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Analog Analog Çevrim</a:t>
            </a:r>
            <a:endParaRPr lang="tr-T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877255"/>
            <a:ext cx="8892480" cy="256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976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Genlik Modülasyonu</a:t>
            </a:r>
            <a:endParaRPr lang="tr-T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97" y="1340768"/>
            <a:ext cx="8982101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4373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Frekans Modülasyonu</a:t>
            </a:r>
            <a:endParaRPr lang="tr-T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6488"/>
            <a:ext cx="8892480" cy="4400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8978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Genlik modülasyonu</a:t>
            </a:r>
            <a:endParaRPr lang="tr-T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54460"/>
            <a:ext cx="8856984" cy="4319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2457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Kaynak">
  <a:themeElements>
    <a:clrScheme name="Kaynak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Kaynak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ynak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455</TotalTime>
  <Words>342</Words>
  <Application>Microsoft Office PowerPoint</Application>
  <PresentationFormat>Ekran Gösterisi (4:3)</PresentationFormat>
  <Paragraphs>62</Paragraphs>
  <Slides>20</Slides>
  <Notes>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6" baseType="lpstr">
      <vt:lpstr>Bookman Old Style</vt:lpstr>
      <vt:lpstr>Calibri</vt:lpstr>
      <vt:lpstr>Gill Sans MT</vt:lpstr>
      <vt:lpstr>Wingdings</vt:lpstr>
      <vt:lpstr>Wingdings 3</vt:lpstr>
      <vt:lpstr>Kaynak</vt:lpstr>
      <vt:lpstr>Analog İletişim</vt:lpstr>
      <vt:lpstr>Sayısal Analog Dönüşüm</vt:lpstr>
      <vt:lpstr>Sayısal Analog Dönüşüm</vt:lpstr>
      <vt:lpstr>Genlik Kaydırmalı Anahtarlama  Amplitude Shift Keying - ASK</vt:lpstr>
      <vt:lpstr>ASK</vt:lpstr>
      <vt:lpstr>ASK Özellikleri</vt:lpstr>
      <vt:lpstr>Frekans Kaydırmalı Anahtarlama Frequency Shift Keying - FSK</vt:lpstr>
      <vt:lpstr>FSK</vt:lpstr>
      <vt:lpstr>Binary Frequency‐Shift Keying (BFSK)</vt:lpstr>
      <vt:lpstr>Multiple Frequency‐Shift Keying (MFSK)</vt:lpstr>
      <vt:lpstr>Faz Kaydırmalı Anahtarlama Phase Shift Keying - PSK</vt:lpstr>
      <vt:lpstr>PowerPoint Sunusu</vt:lpstr>
      <vt:lpstr>Phase‐Shift Keying (PSK) ‐ Differential PSK</vt:lpstr>
      <vt:lpstr>QPSK (Karesel PSK)</vt:lpstr>
      <vt:lpstr>Yıldız Diagramı</vt:lpstr>
      <vt:lpstr>Quadrature Amplitude Modulation</vt:lpstr>
      <vt:lpstr>Analog Analog Çevrim</vt:lpstr>
      <vt:lpstr>Genlik Modülasyonu</vt:lpstr>
      <vt:lpstr>Frekans Modülasyonu</vt:lpstr>
      <vt:lpstr>Genlik modülasyonu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Analog İletişim</dc:title>
  <dc:creator>mevlut</dc:creator>
  <cp:lastModifiedBy>mevlut</cp:lastModifiedBy>
  <cp:revision>9</cp:revision>
  <dcterms:created xsi:type="dcterms:W3CDTF">2016-10-31T19:59:20Z</dcterms:created>
  <dcterms:modified xsi:type="dcterms:W3CDTF">2018-11-28T13:51:38Z</dcterms:modified>
</cp:coreProperties>
</file>