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78" r:id="rId3"/>
    <p:sldId id="279" r:id="rId4"/>
    <p:sldId id="280" r:id="rId5"/>
    <p:sldId id="257" r:id="rId6"/>
    <p:sldId id="258" r:id="rId7"/>
    <p:sldId id="281" r:id="rId8"/>
    <p:sldId id="259" r:id="rId9"/>
    <p:sldId id="260" r:id="rId10"/>
    <p:sldId id="262" r:id="rId11"/>
    <p:sldId id="261" r:id="rId12"/>
    <p:sldId id="268" r:id="rId13"/>
    <p:sldId id="263" r:id="rId14"/>
    <p:sldId id="264" r:id="rId15"/>
    <p:sldId id="277" r:id="rId16"/>
    <p:sldId id="265" r:id="rId17"/>
    <p:sldId id="269" r:id="rId18"/>
    <p:sldId id="270" r:id="rId19"/>
    <p:sldId id="271" r:id="rId20"/>
    <p:sldId id="272" r:id="rId21"/>
    <p:sldId id="276" r:id="rId22"/>
    <p:sldId id="273" r:id="rId23"/>
    <p:sldId id="282" r:id="rId24"/>
    <p:sldId id="283" r:id="rId25"/>
    <p:sldId id="274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66" r:id="rId34"/>
    <p:sldId id="267" r:id="rId35"/>
    <p:sldId id="275" r:id="rId3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844" autoAdjust="0"/>
  </p:normalViewPr>
  <p:slideViewPr>
    <p:cSldViewPr>
      <p:cViewPr varScale="1">
        <p:scale>
          <a:sx n="59" d="100"/>
          <a:sy n="59" d="100"/>
        </p:scale>
        <p:origin x="21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5518C-672F-4903-B04C-7542F0EB2EDF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6AF2B-C113-4517-9A76-3D12A212CC8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041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Üst katmanlar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hemen hemen tümüyle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yazılımla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gerçekleştirilir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Alt katmanlar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ise genellikle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yazılım ve donanımla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gerçekleştirilir.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Fiziksel katman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çoğunlukla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donanımla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gerçekleştirilir.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Her katmanda veriye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ve/veya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trailer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eklenir.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Trailer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sadece data link katmanında eklenir.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Her katman üst katmandaki verinin tümünü 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nn-NO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trailer, data) data olarak alır.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Encapsulation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209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Fiziksel ortamda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bitlerin taşınması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için gerekli işlemler gerçekleştirilir.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Arayüz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 iletim ortamının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mekaniksel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elektriksel özellikleri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belirlenir.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Bitlerin gösterimi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tanımlanır. Bitlerin sinyallerle ifade ediliş şeklini 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belirler.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rate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belirlenir. 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Alıcı ve gönderici arasında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seviyesinde senkronizasyon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yapılır.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Point-to-point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veya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multipoint line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konfigürasyonu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belirlenir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Topoloji tanımlanır. (mesh, star,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ring)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İletim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tanımlanır. 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simplex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half-duplex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full-duplex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929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Fiziksel katmandaki basit veri iletimini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güvenilir bağlantıya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çevirir.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Network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layer’dan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gelen bitleri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frame’lere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böler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Fiziksel adresleme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Frame’lere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(alıcı ve verici adresleri) ve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trailer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hata kontrol bilgisi) ekler.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bazında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akış kontrolü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Hata denetimi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 Kaybolan ve bozulan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frame’ler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yeniden gönderilir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retransmit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Link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bazıdan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yeniden gönderme yapılır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Erişim denetimi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 Tek bağlantı üzerindeki cihazların paylaşımını denetleyen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protokol çalıştırılır.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2930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Hop-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-hop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node-to-node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iletim yapar.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Şekilde A ile F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arasında veri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gönderimi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görülmektedir.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7255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Birden fazla ağdan geçerek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hedeften kaynağa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source-to-destination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paket gönderiminden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sorumludur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nn-NO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Data link katmanı aynı ağdaki iki node arasında veri iletimi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yaparken, network katmanı iki ağ arasında veri iletimi yapar.</a:t>
            </a:r>
          </a:p>
          <a:p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Logical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addressing</a:t>
            </a:r>
            <a:endParaRPr lang="tr-T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mantıksal</a:t>
            </a:r>
          </a:p>
          <a:p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adresleme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yapar.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Alıcı ve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göndericinin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mantıksal adresleri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pakete eklenir.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Routing yapar.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Paketlerin farklı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ağlardan geçmesi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sırasında</a:t>
            </a:r>
          </a:p>
          <a:p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yönlendirme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569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Birden fazla ağdan geçerek </a:t>
            </a:r>
            <a:r>
              <a:rPr lang="tr-TR" sz="1800" b="1" i="0" u="none" strike="noStrike" baseline="0" dirty="0">
                <a:solidFill>
                  <a:srgbClr val="FF0000"/>
                </a:solidFill>
                <a:latin typeface="Calibri-Bold"/>
              </a:rPr>
              <a:t>hedeften kaynağa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tr-TR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source-to-destination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 </a:t>
            </a:r>
            <a:r>
              <a:rPr lang="tr-TR" sz="1800" b="1" i="0" u="none" strike="noStrike" baseline="0" dirty="0">
                <a:solidFill>
                  <a:srgbClr val="FF0000"/>
                </a:solidFill>
                <a:latin typeface="Calibri-Bold"/>
              </a:rPr>
              <a:t>paket gönderiminden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sorumludur</a:t>
            </a:r>
            <a:r>
              <a:rPr lang="tr-TR" sz="1800" b="1" i="0" u="none" strike="noStrike" baseline="0" dirty="0">
                <a:solidFill>
                  <a:srgbClr val="000000"/>
                </a:solidFill>
                <a:latin typeface="Calibri-Bold"/>
              </a:rPr>
              <a:t>.</a:t>
            </a:r>
          </a:p>
          <a:p>
            <a:pPr algn="l"/>
            <a:r>
              <a:rPr lang="nn-NO" sz="1800" b="0" i="0" u="none" strike="noStrike" baseline="0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Data link katmanı aynı ağdaki iki node arasında veri iletimi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yaparken, network katmanı iki ağ arasında veri iletimi yapar.</a:t>
            </a:r>
          </a:p>
          <a:p>
            <a:pPr algn="l"/>
            <a:r>
              <a:rPr lang="tr-TR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Logical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tr-TR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addressing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(</a:t>
            </a:r>
            <a:r>
              <a:rPr lang="tr-TR" sz="1800" b="1" i="0" u="none" strike="noStrike" baseline="0" dirty="0">
                <a:solidFill>
                  <a:srgbClr val="FF0000"/>
                </a:solidFill>
                <a:latin typeface="Calibri-Bold"/>
              </a:rPr>
              <a:t>mantıksal adresleme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 yapar.</a:t>
            </a:r>
          </a:p>
          <a:p>
            <a:pPr algn="l"/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Alıcı ve göndericinin mantıksal adresleri pakete eklenir.</a:t>
            </a:r>
          </a:p>
          <a:p>
            <a:pPr algn="l"/>
            <a:r>
              <a:rPr lang="tr-TR" sz="1800" b="0" i="0" u="none" strike="noStrike" baseline="0" dirty="0">
                <a:solidFill>
                  <a:srgbClr val="000000"/>
                </a:solidFill>
                <a:latin typeface="ArialMT"/>
              </a:rPr>
              <a:t>•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Routing yapar.</a:t>
            </a:r>
          </a:p>
          <a:p>
            <a:pPr algn="l"/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Paketlerin farklı ağlardan geçmesi sırasında </a:t>
            </a:r>
            <a:r>
              <a:rPr lang="tr-TR" sz="1800" b="1" i="0" u="none" strike="noStrike" baseline="0" dirty="0">
                <a:solidFill>
                  <a:srgbClr val="FF0000"/>
                </a:solidFill>
                <a:latin typeface="Calibri-Bold"/>
              </a:rPr>
              <a:t>yönlendirme </a:t>
            </a:r>
            <a:r>
              <a:rPr lang="tr-TR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yapar.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0851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Tüm mesajın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process-to-process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gönderimden sorumludur.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Bir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uygulama programıdır.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Network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gönderilen paketler arasında ilişki oluşturmaz. Transport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tüm mesajı oluşturmaz. 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Sıralar, hata denetimi ve akış denetimi yapar.</a:t>
            </a:r>
          </a:p>
          <a:p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Service-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adresleme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 Her uygulama için adresleme (port) yapar. 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Segmentation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reassembly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 Mesaj iletilebilecek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segmentlere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bölünür ve sıra numarası verilir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Connection-oriented (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TCP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connectionless (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UDP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iletişim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Tüm mesaj için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end-to-end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akış kontrolü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yapar, data link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 bağlantı için yapar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Tüm mesaj için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process-to-process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hata denetimi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yapar.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574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Dialog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kontrolörü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görevi yapar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tarafından veriye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checkpoint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eklenmesini sağlar (senkronizasyon). Bir hata oluştuğunda en son doğru giden kısımdan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itibaren yeniden gönderim yapılır.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1000 sayfalık bir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dökümanın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gönderilmesi?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İki sistemin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half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duplex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veya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duplex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diyalog yapmasını sağlar.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053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İki sistem arasında iletilen verinin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syntax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semantics</a:t>
            </a:r>
            <a:r>
              <a:rPr lang="tr-T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özelliklerini belirler.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Translation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Farklı bilgisayarlar farklı kodlama teknikleri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kullandığından gönderen bilgisayar bilgiyi ortak bir formata çevirir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àbit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stream</a:t>
            </a:r>
            <a:endParaRPr lang="tr-TR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Bilginin gizliliğini ve güvenliğini sağlamak için şifreler.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Compression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Ağ trafiğini azaltmak için veri daha az bitle ifade edilir.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5543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OSI modelinden önce geliştirildiği için katmanlar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farklıdır.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Orijinal TCP/IP’de 4 katman vardır. (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-network, </a:t>
            </a:r>
            <a:r>
              <a:rPr lang="nb-NO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internet, transport ve TCP/IP protokol kümesi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Host-to-network layer,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OSI’de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physical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link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layer’ın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birleşimine eşittir.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Internet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OSI’de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network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layer’a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eşittir.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Application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OSI’de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session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ve</a:t>
            </a:r>
          </a:p>
          <a:p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layer’a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eşit.</a:t>
            </a:r>
          </a:p>
          <a:p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Sonuç olarak, günümüzde TCP/IP 5 katman olarak</a:t>
            </a:r>
          </a:p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tanımlanır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physical, data link, network, transport 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</a:t>
            </a:r>
            <a:endParaRPr lang="en-US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tr-TR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</a:t>
            </a:r>
            <a:r>
              <a:rPr lang="tr-T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6AF2B-C113-4517-9A76-3D12A212CC88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763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Dikdörtgen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Dikdörtgen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Dikdörtgen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Dikdörtgen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ikdörtgen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Dikdörtgen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5" name="Düz Bağlayıcı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İkizkenar Üçgen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İçerik Yer Tutucus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İkizkenar Üçgen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İkizkenar Üçgen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089096A-7D51-4105-9535-BA0DAB61B1CC}" type="datetimeFigureOut">
              <a:rPr lang="tr-TR" smtClean="0"/>
              <a:t>2.11.2021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F64D00B-52F2-411A-ABD2-2434A3607540}" type="slidenum">
              <a:rPr lang="tr-TR" smtClean="0"/>
              <a:t>‹#›</a:t>
            </a:fld>
            <a:endParaRPr lang="tr-TR"/>
          </a:p>
        </p:txBody>
      </p:sp>
      <p:sp>
        <p:nvSpPr>
          <p:cNvPr id="28" name="Düz Bağlayıcı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Düz Bağlayıcı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İkizkenar Üçgen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mevlutersoy@sdu.edu.tr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Ağ (Network) Modelleri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</a:t>
            </a:r>
            <a:r>
              <a:rPr lang="tr-TR" dirty="0" err="1"/>
              <a:t>Mevlüt</a:t>
            </a:r>
            <a:r>
              <a:rPr lang="tr-TR" dirty="0"/>
              <a:t> ERSOY</a:t>
            </a:r>
          </a:p>
        </p:txBody>
      </p:sp>
    </p:spTree>
    <p:extLst>
      <p:ext uri="{BB962C8B-B14F-4D97-AF65-F5344CB8AC3E}">
        <p14:creationId xmlns:p14="http://schemas.microsoft.com/office/powerpoint/2010/main" val="384010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Internet:</a:t>
            </a:r>
          </a:p>
          <a:p>
            <a:pPr lvl="1"/>
            <a:r>
              <a:rPr lang="tr-TR" dirty="0"/>
              <a:t> Her zaman çalışıyor</a:t>
            </a:r>
          </a:p>
          <a:p>
            <a:pPr lvl="1"/>
            <a:r>
              <a:rPr lang="tr-TR" dirty="0"/>
              <a:t> Bedava</a:t>
            </a:r>
          </a:p>
          <a:p>
            <a:pPr lvl="1"/>
            <a:r>
              <a:rPr lang="tr-TR" dirty="0"/>
              <a:t>Farkına varabileceğiniz ölçüde tıkanıklıklar hemen hemen hiçbir zaman oluşmaz</a:t>
            </a:r>
          </a:p>
          <a:p>
            <a:pPr lvl="2"/>
            <a:r>
              <a:rPr lang="tr-TR" dirty="0"/>
              <a:t> Bazı siteler erişilmez olabilir</a:t>
            </a:r>
          </a:p>
          <a:p>
            <a:pPr lvl="1"/>
            <a:r>
              <a:rPr lang="tr-TR" dirty="0"/>
              <a:t>Anında dünyanın bir diğer ucuna erişebilirsiniz</a:t>
            </a:r>
          </a:p>
          <a:p>
            <a:pPr lvl="1"/>
            <a:r>
              <a:rPr lang="tr-TR" dirty="0"/>
              <a:t>Ses – video iletişimi</a:t>
            </a:r>
          </a:p>
          <a:p>
            <a:pPr lvl="2"/>
            <a:r>
              <a:rPr lang="tr-TR" dirty="0"/>
              <a:t>Müzik…</a:t>
            </a:r>
          </a:p>
          <a:p>
            <a:pPr lvl="1"/>
            <a:r>
              <a:rPr lang="tr-TR" dirty="0"/>
              <a:t> Çoğu yerde denetimsiz</a:t>
            </a:r>
          </a:p>
          <a:p>
            <a:pPr lvl="2"/>
            <a:r>
              <a:rPr lang="tr-TR" dirty="0"/>
              <a:t>Olumlu yada olumsuz?</a:t>
            </a:r>
          </a:p>
        </p:txBody>
      </p:sp>
    </p:spTree>
    <p:extLst>
      <p:ext uri="{BB962C8B-B14F-4D97-AF65-F5344CB8AC3E}">
        <p14:creationId xmlns:p14="http://schemas.microsoft.com/office/powerpoint/2010/main" val="101481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Bu kadar büyük bir sistem nasıl bu derece dayanıklı olabilir (</a:t>
            </a:r>
            <a:r>
              <a:rPr lang="tr-TR" dirty="0" err="1"/>
              <a:t>robust</a:t>
            </a:r>
            <a:r>
              <a:rPr lang="tr-TR" dirty="0"/>
              <a:t>)</a:t>
            </a:r>
          </a:p>
          <a:p>
            <a:pPr lvl="1"/>
            <a:r>
              <a:rPr lang="en-US" dirty="0"/>
              <a:t>«single point of failure» </a:t>
            </a:r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mı</a:t>
            </a:r>
            <a:endParaRPr lang="en-US" dirty="0"/>
          </a:p>
          <a:p>
            <a:pPr lvl="1"/>
            <a:r>
              <a:rPr lang="tr-TR" dirty="0"/>
              <a:t>Tıkanıklık otomatik olarak nasıl önleniyor</a:t>
            </a:r>
          </a:p>
          <a:p>
            <a:r>
              <a:rPr lang="tr-TR" dirty="0"/>
              <a:t>Yanıt</a:t>
            </a:r>
          </a:p>
          <a:p>
            <a:pPr lvl="1"/>
            <a:r>
              <a:rPr lang="tr-TR" dirty="0"/>
              <a:t>Dağıtık yapı (</a:t>
            </a:r>
            <a:r>
              <a:rPr lang="tr-TR" dirty="0" err="1"/>
              <a:t>distributed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– Paket anahtarlama (</a:t>
            </a:r>
            <a:r>
              <a:rPr lang="tr-TR" dirty="0" err="1"/>
              <a:t>packet</a:t>
            </a:r>
            <a:r>
              <a:rPr lang="tr-TR" dirty="0"/>
              <a:t> </a:t>
            </a:r>
            <a:r>
              <a:rPr lang="tr-TR" dirty="0" err="1"/>
              <a:t>switching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– Katmanlı yapı (TCP/IP)</a:t>
            </a:r>
          </a:p>
          <a:p>
            <a:pPr lvl="1"/>
            <a:r>
              <a:rPr lang="tr-TR" dirty="0"/>
              <a:t>– Yönlendirme protokolleri (</a:t>
            </a:r>
            <a:r>
              <a:rPr lang="tr-TR" dirty="0" err="1"/>
              <a:t>routing</a:t>
            </a:r>
            <a:r>
              <a:rPr lang="tr-TR" dirty="0"/>
              <a:t> </a:t>
            </a:r>
            <a:r>
              <a:rPr lang="tr-TR" dirty="0" err="1"/>
              <a:t>protocols</a:t>
            </a:r>
            <a:r>
              <a:rPr lang="tr-T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129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Modelleri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r-TR" b="1" dirty="0"/>
              <a:t>Bir ağ bir noktadan diğer bir noktaya veri ileten donanım ve yazılımların tümüdür.</a:t>
            </a:r>
          </a:p>
          <a:p>
            <a:r>
              <a:rPr lang="tr-TR" dirty="0"/>
              <a:t>Donanım fiziksel elemanlardan, yazılım ise komut kümelerinden oluşur.</a:t>
            </a:r>
          </a:p>
          <a:p>
            <a:r>
              <a:rPr lang="tr-TR" dirty="0"/>
              <a:t>Bir verinin bir noktadan diğerine iletilmesi çok sayıda iş parçasına bölünebilir.</a:t>
            </a:r>
          </a:p>
          <a:p>
            <a:r>
              <a:rPr lang="tr-TR" dirty="0"/>
              <a:t>Her iş katmanlar (</a:t>
            </a:r>
            <a:r>
              <a:rPr lang="tr-TR" dirty="0" err="1"/>
              <a:t>layers</a:t>
            </a:r>
            <a:r>
              <a:rPr lang="tr-TR" dirty="0"/>
              <a:t>) halinde gösterilebilir.</a:t>
            </a:r>
          </a:p>
          <a:p>
            <a:pPr lvl="1"/>
            <a:r>
              <a:rPr lang="pl-PL" dirty="0"/>
              <a:t>Örnek: posta ile mektup gönderimi.</a:t>
            </a:r>
          </a:p>
          <a:p>
            <a:r>
              <a:rPr lang="tr-TR" dirty="0"/>
              <a:t>Bilgisayar ağlarında 1990 yılına kadar </a:t>
            </a:r>
            <a:r>
              <a:rPr lang="tr-TR" b="1" dirty="0"/>
              <a:t>OSI (Open </a:t>
            </a:r>
            <a:r>
              <a:rPr lang="tr-TR" b="1" dirty="0" err="1"/>
              <a:t>Systems</a:t>
            </a:r>
            <a:r>
              <a:rPr lang="tr-TR" b="1" dirty="0"/>
              <a:t> </a:t>
            </a:r>
            <a:r>
              <a:rPr lang="tr-TR" b="1" dirty="0" err="1"/>
              <a:t>Interconnection</a:t>
            </a:r>
            <a:r>
              <a:rPr lang="tr-TR" b="1" dirty="0"/>
              <a:t>) </a:t>
            </a:r>
            <a:r>
              <a:rPr lang="tr-TR" dirty="0"/>
              <a:t>modeli yaygın kullanılmıştır.</a:t>
            </a:r>
          </a:p>
        </p:txBody>
      </p:sp>
    </p:spTree>
    <p:extLst>
      <p:ext uri="{BB962C8B-B14F-4D97-AF65-F5344CB8AC3E}">
        <p14:creationId xmlns:p14="http://schemas.microsoft.com/office/powerpoint/2010/main" val="83386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Protokol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Veri iletişimini yöneten kurallar kümesidir.</a:t>
            </a:r>
          </a:p>
          <a:p>
            <a:pPr lvl="1"/>
            <a:r>
              <a:rPr lang="tr-TR" dirty="0"/>
              <a:t>İletişimin Ne olacağı, nasıl olacağı ve ne zaman olacağını belirler.</a:t>
            </a:r>
          </a:p>
          <a:p>
            <a:r>
              <a:rPr lang="tr-TR" dirty="0"/>
              <a:t>Protokolün bileşenleri</a:t>
            </a:r>
          </a:p>
          <a:p>
            <a:pPr lvl="1"/>
            <a:r>
              <a:rPr lang="tr-TR" dirty="0" err="1"/>
              <a:t>Syntax</a:t>
            </a:r>
            <a:endParaRPr lang="tr-TR" dirty="0"/>
          </a:p>
          <a:p>
            <a:pPr lvl="1"/>
            <a:r>
              <a:rPr lang="tr-TR" dirty="0" err="1"/>
              <a:t>Semantic</a:t>
            </a:r>
            <a:endParaRPr lang="tr-TR" dirty="0"/>
          </a:p>
          <a:p>
            <a:pPr lvl="1"/>
            <a:r>
              <a:rPr lang="tr-TR" dirty="0" err="1"/>
              <a:t>Timing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9368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Mektup İletişimi Katmanlı Yapı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7624" y="1574064"/>
            <a:ext cx="6478006" cy="497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35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van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Neden katmanlı yapı?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Karmaşıklığı yüksek sistemlerin yönetimi</a:t>
            </a:r>
          </a:p>
          <a:p>
            <a:pPr lvl="1"/>
            <a:r>
              <a:rPr lang="tr-TR" dirty="0"/>
              <a:t>Karmaşık bir sistemi oluşturan parçaların ve ilişkilerin tam olarak tanımlanması</a:t>
            </a:r>
          </a:p>
          <a:p>
            <a:pPr lvl="2"/>
            <a:r>
              <a:rPr lang="tr-TR" dirty="0"/>
              <a:t>katmanlı </a:t>
            </a:r>
            <a:r>
              <a:rPr lang="tr-TR" i="1" dirty="0"/>
              <a:t>referans model </a:t>
            </a:r>
            <a:r>
              <a:rPr lang="tr-TR" dirty="0"/>
              <a:t>-&gt; OSI</a:t>
            </a:r>
          </a:p>
          <a:p>
            <a:pPr lvl="1"/>
            <a:r>
              <a:rPr lang="tr-TR" dirty="0"/>
              <a:t>Modülerlik bakım, güncelleme işlemlerini kolay haline getirir</a:t>
            </a:r>
          </a:p>
          <a:p>
            <a:pPr lvl="2"/>
            <a:r>
              <a:rPr lang="tr-TR" dirty="0"/>
              <a:t>Bir katmanda yapılan değişiklik diğer sistemin diğer katmanlarını etkilemez</a:t>
            </a:r>
          </a:p>
          <a:p>
            <a:pPr lvl="1"/>
            <a:r>
              <a:rPr lang="tr-TR" dirty="0"/>
              <a:t>Katmanlı yapı zararlı olabilir mi?</a:t>
            </a:r>
          </a:p>
        </p:txBody>
      </p:sp>
    </p:spTree>
    <p:extLst>
      <p:ext uri="{BB962C8B-B14F-4D97-AF65-F5344CB8AC3E}">
        <p14:creationId xmlns:p14="http://schemas.microsoft.com/office/powerpoint/2010/main" val="368107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OSI Modeli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n-NO" dirty="0"/>
              <a:t>Bir açık sistem (open system) </a:t>
            </a:r>
            <a:r>
              <a:rPr lang="nn-NO" b="1" dirty="0"/>
              <a:t>iki</a:t>
            </a:r>
            <a:r>
              <a:rPr lang="tr-TR" b="1" dirty="0"/>
              <a:t> sistemin altyapılarına bağlı kalmaksızın iletişimini </a:t>
            </a:r>
            <a:r>
              <a:rPr lang="tr-TR" dirty="0"/>
              <a:t>sağlayan protokoller kümesidir.</a:t>
            </a:r>
            <a:endParaRPr lang="tr-TR" b="1" dirty="0"/>
          </a:p>
          <a:p>
            <a:r>
              <a:rPr lang="tr-TR" b="1" dirty="0"/>
              <a:t>OSI bir protokol değildir. </a:t>
            </a:r>
            <a:r>
              <a:rPr lang="tr-TR" dirty="0"/>
              <a:t>OSI bir ağ mimarisinin tasarlanması ve anlaşılmasında kullanılan bir modeldir.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004" y="1455832"/>
            <a:ext cx="4320996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8602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OSI Modelinde katmanlar arası etkileşim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84266"/>
            <a:ext cx="7608707" cy="5673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87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OSI Modeli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Katmanlar üç grupta toplanır</a:t>
            </a:r>
          </a:p>
          <a:p>
            <a:pPr lvl="1"/>
            <a:r>
              <a:rPr lang="tr-TR" dirty="0"/>
              <a:t>Network </a:t>
            </a:r>
            <a:r>
              <a:rPr lang="tr-TR" dirty="0" err="1"/>
              <a:t>Support</a:t>
            </a:r>
            <a:r>
              <a:rPr lang="tr-TR" dirty="0"/>
              <a:t> </a:t>
            </a:r>
            <a:r>
              <a:rPr lang="tr-TR" dirty="0" err="1"/>
              <a:t>Layer</a:t>
            </a:r>
            <a:r>
              <a:rPr lang="tr-TR" dirty="0"/>
              <a:t> </a:t>
            </a:r>
            <a:r>
              <a:rPr lang="tr-TR" sz="2000" dirty="0"/>
              <a:t>(Donanım, </a:t>
            </a:r>
            <a:r>
              <a:rPr lang="tr-TR" sz="2000" dirty="0" err="1"/>
              <a:t>Yazılım,Firmware,İşletim</a:t>
            </a:r>
            <a:r>
              <a:rPr lang="tr-TR" sz="2000" dirty="0"/>
              <a:t> Sistemi)</a:t>
            </a:r>
          </a:p>
          <a:p>
            <a:pPr lvl="2"/>
            <a:r>
              <a:rPr lang="tr-TR" dirty="0"/>
              <a:t>Fiziksel, veri bağı, network</a:t>
            </a:r>
          </a:p>
          <a:p>
            <a:pPr lvl="1"/>
            <a:r>
              <a:rPr lang="tr-TR" dirty="0"/>
              <a:t>User </a:t>
            </a:r>
            <a:r>
              <a:rPr lang="tr-TR" dirty="0" err="1"/>
              <a:t>Support</a:t>
            </a:r>
            <a:r>
              <a:rPr lang="tr-TR" dirty="0"/>
              <a:t> </a:t>
            </a:r>
            <a:r>
              <a:rPr lang="tr-TR" dirty="0" err="1"/>
              <a:t>Layer</a:t>
            </a:r>
            <a:r>
              <a:rPr lang="tr-TR" dirty="0"/>
              <a:t> (Yazılım, Kullanıcı Programları)</a:t>
            </a:r>
          </a:p>
          <a:p>
            <a:pPr lvl="2"/>
            <a:r>
              <a:rPr lang="tr-TR" dirty="0"/>
              <a:t>Oturum, sunuş, uygulama</a:t>
            </a:r>
          </a:p>
          <a:p>
            <a:pPr lvl="1"/>
            <a:r>
              <a:rPr lang="tr-TR" dirty="0"/>
              <a:t>Transport </a:t>
            </a:r>
            <a:r>
              <a:rPr lang="tr-TR" dirty="0" err="1"/>
              <a:t>Layer</a:t>
            </a:r>
            <a:r>
              <a:rPr lang="tr-TR" dirty="0"/>
              <a:t> (Firmware, Yazılım, İşletim Sistemi)</a:t>
            </a:r>
          </a:p>
        </p:txBody>
      </p:sp>
    </p:spTree>
    <p:extLst>
      <p:ext uri="{BB962C8B-B14F-4D97-AF65-F5344CB8AC3E}">
        <p14:creationId xmlns:p14="http://schemas.microsoft.com/office/powerpoint/2010/main" val="813291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OSI Modeli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1945"/>
            <a:ext cx="7655663" cy="4857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724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Fiziksel Katman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539552" y="4365104"/>
            <a:ext cx="8229600" cy="1993776"/>
          </a:xfrm>
        </p:spPr>
        <p:txBody>
          <a:bodyPr>
            <a:normAutofit fontScale="62500" lnSpcReduction="20000"/>
          </a:bodyPr>
          <a:lstStyle/>
          <a:p>
            <a:r>
              <a:rPr lang="tr-TR" dirty="0"/>
              <a:t>Ortam ve </a:t>
            </a:r>
            <a:r>
              <a:rPr lang="tr-TR" dirty="0" err="1"/>
              <a:t>arayüzlerin</a:t>
            </a:r>
            <a:r>
              <a:rPr lang="tr-TR" dirty="0"/>
              <a:t> fiziksel karakteristikleri</a:t>
            </a:r>
          </a:p>
          <a:p>
            <a:r>
              <a:rPr lang="tr-TR" dirty="0"/>
              <a:t>Bitlerin dizilimi</a:t>
            </a:r>
          </a:p>
          <a:p>
            <a:r>
              <a:rPr lang="tr-TR" dirty="0"/>
              <a:t>Veri Hızı(</a:t>
            </a:r>
            <a:r>
              <a:rPr lang="tr-TR" dirty="0" err="1"/>
              <a:t>bps</a:t>
            </a:r>
            <a:r>
              <a:rPr lang="tr-TR" dirty="0"/>
              <a:t>) (Data Rate)</a:t>
            </a:r>
          </a:p>
          <a:p>
            <a:r>
              <a:rPr lang="tr-TR" dirty="0"/>
              <a:t>Bitlerin senkronizasyonu</a:t>
            </a:r>
          </a:p>
          <a:p>
            <a:r>
              <a:rPr lang="tr-TR" dirty="0"/>
              <a:t>Yol konfigürasyonu(P2P, </a:t>
            </a:r>
            <a:r>
              <a:rPr lang="tr-TR" dirty="0" err="1"/>
              <a:t>Multipoint</a:t>
            </a:r>
            <a:r>
              <a:rPr lang="tr-TR" dirty="0"/>
              <a:t>)</a:t>
            </a:r>
          </a:p>
          <a:p>
            <a:r>
              <a:rPr lang="tr-TR" dirty="0"/>
              <a:t>Fiziksel Topoloji(star, ring </a:t>
            </a:r>
            <a:r>
              <a:rPr lang="tr-TR" dirty="0" err="1"/>
              <a:t>bus</a:t>
            </a:r>
            <a:r>
              <a:rPr lang="tr-TR" dirty="0"/>
              <a:t>)</a:t>
            </a:r>
          </a:p>
          <a:p>
            <a:r>
              <a:rPr lang="tr-TR" dirty="0"/>
              <a:t>İletim </a:t>
            </a:r>
            <a:r>
              <a:rPr lang="tr-TR" dirty="0" err="1"/>
              <a:t>Modu</a:t>
            </a:r>
            <a:r>
              <a:rPr lang="tr-TR" dirty="0"/>
              <a:t> (</a:t>
            </a:r>
            <a:r>
              <a:rPr lang="tr-TR" dirty="0" err="1"/>
              <a:t>Half</a:t>
            </a:r>
            <a:r>
              <a:rPr lang="tr-TR" dirty="0"/>
              <a:t> </a:t>
            </a:r>
            <a:r>
              <a:rPr lang="tr-TR" dirty="0" err="1"/>
              <a:t>duplex</a:t>
            </a:r>
            <a:r>
              <a:rPr lang="tr-TR" dirty="0"/>
              <a:t>, Full </a:t>
            </a:r>
            <a:r>
              <a:rPr lang="tr-TR" dirty="0" err="1"/>
              <a:t>Duplex</a:t>
            </a:r>
            <a:r>
              <a:rPr lang="tr-TR" dirty="0"/>
              <a:t>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8" y="1578297"/>
            <a:ext cx="7827626" cy="2351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76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Bağı (Data Link) Katmanı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4509120"/>
            <a:ext cx="8229600" cy="1637928"/>
          </a:xfrm>
        </p:spPr>
        <p:txBody>
          <a:bodyPr>
            <a:normAutofit fontScale="77500" lnSpcReduction="20000"/>
          </a:bodyPr>
          <a:lstStyle/>
          <a:p>
            <a:r>
              <a:rPr lang="tr-TR" dirty="0" err="1"/>
              <a:t>Frame</a:t>
            </a:r>
            <a:endParaRPr lang="tr-TR" dirty="0"/>
          </a:p>
          <a:p>
            <a:r>
              <a:rPr lang="tr-TR" dirty="0"/>
              <a:t>Fiziksel Adres</a:t>
            </a:r>
          </a:p>
          <a:p>
            <a:r>
              <a:rPr lang="tr-TR" dirty="0"/>
              <a:t>Akış Kontrolü</a:t>
            </a:r>
          </a:p>
          <a:p>
            <a:r>
              <a:rPr lang="tr-TR" dirty="0"/>
              <a:t>Hata Kontrolü</a:t>
            </a:r>
          </a:p>
          <a:p>
            <a:r>
              <a:rPr lang="tr-TR" dirty="0"/>
              <a:t>Erişim kontrolü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82" y="1412776"/>
            <a:ext cx="8951249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6027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Bağı (Data Link) Katmanı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97976"/>
            <a:ext cx="6578743" cy="486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0456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Network (Ağ) Katmanı</a:t>
            </a:r>
          </a:p>
        </p:txBody>
      </p:sp>
      <p:sp>
        <p:nvSpPr>
          <p:cNvPr id="2" name="İçerik Yer Tutucusu 1"/>
          <p:cNvSpPr>
            <a:spLocks noGrp="1"/>
          </p:cNvSpPr>
          <p:nvPr>
            <p:ph sz="quarter" idx="1"/>
          </p:nvPr>
        </p:nvSpPr>
        <p:spPr>
          <a:xfrm>
            <a:off x="493115" y="4474299"/>
            <a:ext cx="8229600" cy="1489720"/>
          </a:xfrm>
        </p:spPr>
        <p:txBody>
          <a:bodyPr/>
          <a:lstStyle/>
          <a:p>
            <a:r>
              <a:rPr lang="tr-TR" dirty="0"/>
              <a:t>Mantıksal Adres</a:t>
            </a:r>
          </a:p>
          <a:p>
            <a:r>
              <a:rPr lang="tr-TR" dirty="0"/>
              <a:t>Yönlendirme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40768"/>
            <a:ext cx="8074219" cy="295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60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Network (Ağ) Katmanı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1196752"/>
            <a:ext cx="7992888" cy="513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1335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Transport (Ulaşım) Katmanı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8795263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991" y="4392488"/>
            <a:ext cx="6002313" cy="2492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913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Session</a:t>
            </a:r>
            <a:r>
              <a:rPr lang="tr-TR" dirty="0"/>
              <a:t> (Oturum) Katmanı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790323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410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Presentation (Sunum) Katmanı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Dönüşüm</a:t>
            </a:r>
          </a:p>
          <a:p>
            <a:r>
              <a:rPr lang="tr-TR" dirty="0"/>
              <a:t>Şifreleme</a:t>
            </a:r>
          </a:p>
          <a:p>
            <a:r>
              <a:rPr lang="tr-TR" dirty="0"/>
              <a:t>Sıkıştırma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56" y="2780928"/>
            <a:ext cx="7754963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642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Application (Uygulama) Katmanı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e-mail, uzak erişim, dosya transferi, veritabanı yönetimi</a:t>
            </a:r>
            <a:r>
              <a:rPr lang="tr-TR" dirty="0"/>
              <a:t> veya dağıtık uygulamalar için kullanıcı </a:t>
            </a:r>
            <a:r>
              <a:rPr lang="tr-TR" dirty="0" err="1"/>
              <a:t>arayüzlerini</a:t>
            </a:r>
            <a:r>
              <a:rPr lang="tr-TR" dirty="0"/>
              <a:t> sağlar.</a:t>
            </a:r>
          </a:p>
          <a:p>
            <a:r>
              <a:rPr lang="pt-BR" dirty="0"/>
              <a:t>X.400 mesaj alma (e mail) hizmeti, X.500 dizin hizmeti,</a:t>
            </a:r>
            <a:r>
              <a:rPr lang="tr-TR" dirty="0"/>
              <a:t> </a:t>
            </a:r>
            <a:r>
              <a:rPr lang="en-US" dirty="0"/>
              <a:t>FTAM (file transfer and management) </a:t>
            </a:r>
            <a:r>
              <a:rPr lang="en-US" dirty="0" err="1"/>
              <a:t>hizmeti</a:t>
            </a:r>
            <a:r>
              <a:rPr lang="en-US" dirty="0"/>
              <a:t> vb. </a:t>
            </a:r>
            <a:r>
              <a:rPr lang="en-US" dirty="0" err="1"/>
              <a:t>hizmetleri</a:t>
            </a:r>
            <a:r>
              <a:rPr lang="tr-TR" dirty="0"/>
              <a:t> sunar.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303906"/>
            <a:ext cx="8003872" cy="335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21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93480"/>
            <a:ext cx="8562008" cy="40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9210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TCP/IP Protokol Kümesi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6"/>
          <a:stretch/>
        </p:blipFill>
        <p:spPr bwMode="auto">
          <a:xfrm>
            <a:off x="1115616" y="1484784"/>
            <a:ext cx="7144842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8448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TCP/IP Protokolü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 err="1"/>
              <a:t>Physical</a:t>
            </a:r>
            <a:r>
              <a:rPr lang="tr-TR" b="1" dirty="0"/>
              <a:t> ve data link katmanları </a:t>
            </a:r>
            <a:r>
              <a:rPr lang="tr-TR" dirty="0"/>
              <a:t>herhangi özel bir protokolü desteklemez.</a:t>
            </a:r>
          </a:p>
          <a:p>
            <a:r>
              <a:rPr lang="tr-TR" b="1" dirty="0"/>
              <a:t>Network katmanı </a:t>
            </a:r>
            <a:r>
              <a:rPr lang="tr-TR" dirty="0"/>
              <a:t>IP (</a:t>
            </a:r>
            <a:r>
              <a:rPr lang="tr-TR" dirty="0" err="1"/>
              <a:t>Internetworking</a:t>
            </a:r>
            <a:r>
              <a:rPr lang="tr-TR" dirty="0"/>
              <a:t> Protocol)</a:t>
            </a:r>
            <a:r>
              <a:rPr lang="tr-TR" dirty="0" err="1"/>
              <a:t>nı</a:t>
            </a:r>
            <a:r>
              <a:rPr lang="tr-TR" dirty="0"/>
              <a:t> destekler. IP </a:t>
            </a:r>
            <a:r>
              <a:rPr lang="tr-TR" dirty="0" err="1"/>
              <a:t>Datagram’ların</a:t>
            </a:r>
            <a:r>
              <a:rPr lang="tr-TR" dirty="0"/>
              <a:t> yönlendirilmesi ve </a:t>
            </a:r>
            <a:r>
              <a:rPr lang="tr-TR" dirty="0" err="1"/>
              <a:t>best-effort</a:t>
            </a:r>
            <a:r>
              <a:rPr lang="tr-TR" dirty="0"/>
              <a:t> (hata denetimi yapmaz) gönderimini yapar.</a:t>
            </a:r>
          </a:p>
          <a:p>
            <a:r>
              <a:rPr lang="tr-TR" dirty="0"/>
              <a:t>ARP (</a:t>
            </a:r>
            <a:r>
              <a:rPr lang="tr-TR" dirty="0" err="1"/>
              <a:t>Address</a:t>
            </a:r>
            <a:r>
              <a:rPr lang="tr-TR" dirty="0"/>
              <a:t> </a:t>
            </a:r>
            <a:r>
              <a:rPr lang="tr-TR" dirty="0" err="1"/>
              <a:t>Resolution</a:t>
            </a:r>
            <a:r>
              <a:rPr lang="tr-TR" dirty="0"/>
              <a:t> Protocol). Mantıksal adresi fiziksel adresle ilişkilendirir.</a:t>
            </a:r>
          </a:p>
          <a:p>
            <a:r>
              <a:rPr lang="tr-TR" dirty="0"/>
              <a:t>RARP (</a:t>
            </a:r>
            <a:r>
              <a:rPr lang="tr-TR" dirty="0" err="1"/>
              <a:t>Reverse</a:t>
            </a:r>
            <a:r>
              <a:rPr lang="tr-TR" dirty="0"/>
              <a:t> </a:t>
            </a:r>
            <a:r>
              <a:rPr lang="tr-TR" dirty="0" err="1"/>
              <a:t>Address</a:t>
            </a:r>
            <a:r>
              <a:rPr lang="tr-TR" dirty="0"/>
              <a:t> </a:t>
            </a:r>
            <a:r>
              <a:rPr lang="tr-TR" dirty="0" err="1"/>
              <a:t>Resolution</a:t>
            </a:r>
            <a:r>
              <a:rPr lang="tr-TR" dirty="0"/>
              <a:t> Protocol). Sadece fiziksel adresini bilen </a:t>
            </a:r>
            <a:r>
              <a:rPr lang="tr-TR" dirty="0" err="1"/>
              <a:t>host</a:t>
            </a:r>
            <a:r>
              <a:rPr lang="tr-TR" dirty="0"/>
              <a:t> için Internet adresi atar. (Disksiz bilgisayar)</a:t>
            </a:r>
          </a:p>
          <a:p>
            <a:r>
              <a:rPr lang="tr-TR" dirty="0"/>
              <a:t>ICMP (Internet Control Message Protocol).</a:t>
            </a:r>
          </a:p>
          <a:p>
            <a:pPr marL="0" indent="0">
              <a:buNone/>
            </a:pPr>
            <a:r>
              <a:rPr lang="tr-TR" dirty="0"/>
              <a:t>    </a:t>
            </a:r>
            <a:r>
              <a:rPr lang="tr-TR" dirty="0" err="1"/>
              <a:t>Datagram’lardaki</a:t>
            </a:r>
            <a:r>
              <a:rPr lang="tr-TR" dirty="0"/>
              <a:t> problemlerin gönderene bildirilmesi için kullanılır.</a:t>
            </a:r>
          </a:p>
        </p:txBody>
      </p:sp>
    </p:spTree>
    <p:extLst>
      <p:ext uri="{BB962C8B-B14F-4D97-AF65-F5344CB8AC3E}">
        <p14:creationId xmlns:p14="http://schemas.microsoft.com/office/powerpoint/2010/main" val="2974979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TCP/IP Protokolü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/>
              <a:t>IGMP (Internet </a:t>
            </a:r>
            <a:r>
              <a:rPr lang="tr-TR" dirty="0" err="1"/>
              <a:t>Group</a:t>
            </a:r>
            <a:r>
              <a:rPr lang="tr-TR" dirty="0"/>
              <a:t> Message Protocol). Eşzamanlı bir grup mesaj göndermek için kullanılır.</a:t>
            </a:r>
          </a:p>
          <a:p>
            <a:r>
              <a:rPr lang="tr-TR" b="1" dirty="0"/>
              <a:t>Transport katman</a:t>
            </a:r>
            <a:r>
              <a:rPr lang="tr-TR" dirty="0"/>
              <a:t>ı UDP ve TCP </a:t>
            </a:r>
            <a:r>
              <a:rPr lang="tr-TR" dirty="0" err="1"/>
              <a:t>yi</a:t>
            </a:r>
            <a:r>
              <a:rPr lang="tr-TR" dirty="0"/>
              <a:t> destekler. UDP (User </a:t>
            </a:r>
            <a:r>
              <a:rPr lang="tr-TR" dirty="0" err="1"/>
              <a:t>Datagram</a:t>
            </a:r>
            <a:r>
              <a:rPr lang="tr-TR" dirty="0"/>
              <a:t> Protocol). Sadece port adresi, hata denetim bitleri ve bilgi boyutunu pakete ekler. </a:t>
            </a:r>
            <a:r>
              <a:rPr lang="tr-TR" dirty="0" err="1"/>
              <a:t>Connectionless</a:t>
            </a:r>
            <a:r>
              <a:rPr lang="tr-TR" dirty="0"/>
              <a:t> çalışır. (</a:t>
            </a:r>
            <a:r>
              <a:rPr lang="tr-TR" dirty="0" err="1"/>
              <a:t>ping</a:t>
            </a:r>
            <a:r>
              <a:rPr lang="tr-TR" dirty="0"/>
              <a:t>)</a:t>
            </a:r>
          </a:p>
          <a:p>
            <a:r>
              <a:rPr lang="tr-TR" dirty="0"/>
              <a:t>TCP (</a:t>
            </a:r>
            <a:r>
              <a:rPr lang="tr-TR" dirty="0" err="1"/>
              <a:t>Transmission</a:t>
            </a:r>
            <a:r>
              <a:rPr lang="tr-TR" dirty="0"/>
              <a:t> Control Protocol). Güvenilirdir ve </a:t>
            </a:r>
            <a:r>
              <a:rPr lang="tr-TR" dirty="0" err="1"/>
              <a:t>connection</a:t>
            </a:r>
            <a:r>
              <a:rPr lang="tr-TR" dirty="0"/>
              <a:t> </a:t>
            </a:r>
            <a:r>
              <a:rPr lang="tr-TR" dirty="0" err="1"/>
              <a:t>oriented</a:t>
            </a:r>
            <a:r>
              <a:rPr lang="tr-TR" dirty="0"/>
              <a:t> çalışır. Veriyi </a:t>
            </a:r>
            <a:r>
              <a:rPr lang="tr-TR" dirty="0" err="1"/>
              <a:t>segmentlere</a:t>
            </a:r>
            <a:r>
              <a:rPr lang="tr-TR" dirty="0"/>
              <a:t> böler, sıralar, sırayı denetler.</a:t>
            </a:r>
          </a:p>
          <a:p>
            <a:r>
              <a:rPr lang="tr-TR" dirty="0"/>
              <a:t>SCTP (</a:t>
            </a:r>
            <a:r>
              <a:rPr lang="tr-TR" dirty="0" err="1"/>
              <a:t>Stream</a:t>
            </a:r>
            <a:r>
              <a:rPr lang="tr-TR" dirty="0"/>
              <a:t> Control </a:t>
            </a:r>
            <a:r>
              <a:rPr lang="tr-TR" dirty="0" err="1"/>
              <a:t>Transmission</a:t>
            </a:r>
            <a:r>
              <a:rPr lang="tr-TR" dirty="0"/>
              <a:t> Protocol). Yeni Internet uygulamalarını sağlar (</a:t>
            </a:r>
            <a:r>
              <a:rPr lang="tr-TR" dirty="0" err="1"/>
              <a:t>VoIP</a:t>
            </a:r>
            <a:r>
              <a:rPr lang="tr-TR" dirty="0"/>
              <a:t>). UDP ve TCP’nin birleşimidir.</a:t>
            </a:r>
          </a:p>
        </p:txBody>
      </p:sp>
    </p:spTree>
    <p:extLst>
      <p:ext uri="{BB962C8B-B14F-4D97-AF65-F5344CB8AC3E}">
        <p14:creationId xmlns:p14="http://schemas.microsoft.com/office/powerpoint/2010/main" val="386209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Adresleme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4 seviyeli adresleme yapılır</a:t>
            </a:r>
          </a:p>
          <a:p>
            <a:pPr lvl="1"/>
            <a:r>
              <a:rPr lang="tr-TR" dirty="0"/>
              <a:t>Fiziksel (Ethernet için 6 bayt, </a:t>
            </a:r>
            <a:r>
              <a:rPr lang="tr-TR" dirty="0" err="1"/>
              <a:t>LocalTalk</a:t>
            </a:r>
            <a:r>
              <a:rPr lang="tr-TR" dirty="0"/>
              <a:t> Apple için 1 bayt)</a:t>
            </a:r>
          </a:p>
          <a:p>
            <a:pPr lvl="1"/>
            <a:r>
              <a:rPr lang="tr-TR" dirty="0"/>
              <a:t>Mantıksal (32 bit veya 128 bit)</a:t>
            </a:r>
          </a:p>
          <a:p>
            <a:pPr lvl="1"/>
            <a:r>
              <a:rPr lang="tr-TR" dirty="0"/>
              <a:t>Port (16 bit)</a:t>
            </a:r>
          </a:p>
          <a:p>
            <a:pPr lvl="1"/>
            <a:r>
              <a:rPr lang="tr-TR" dirty="0"/>
              <a:t>Özel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140968"/>
            <a:ext cx="5668114" cy="344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60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Adresleme - Fiziksel adresleme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Data link </a:t>
            </a:r>
            <a:r>
              <a:rPr lang="tr-TR" dirty="0" err="1"/>
              <a:t>layer’da</a:t>
            </a:r>
            <a:r>
              <a:rPr lang="tr-TR" dirty="0"/>
              <a:t> </a:t>
            </a:r>
            <a:r>
              <a:rPr lang="tr-TR" dirty="0" err="1"/>
              <a:t>frame</a:t>
            </a:r>
            <a:r>
              <a:rPr lang="tr-TR" dirty="0"/>
              <a:t> içinde bulunur. Ağ yapısına göre farklı uzunluktadır. (Ethernet için 6 </a:t>
            </a:r>
            <a:r>
              <a:rPr lang="tr-TR" dirty="0" err="1"/>
              <a:t>byte</a:t>
            </a:r>
            <a:r>
              <a:rPr lang="tr-TR" dirty="0"/>
              <a:t> NIC, </a:t>
            </a:r>
            <a:r>
              <a:rPr lang="tr-TR" dirty="0" err="1"/>
              <a:t>LocalTalk</a:t>
            </a:r>
            <a:r>
              <a:rPr lang="tr-TR" dirty="0"/>
              <a:t> Apple için 1 </a:t>
            </a:r>
            <a:r>
              <a:rPr lang="tr-TR" dirty="0" err="1"/>
              <a:t>byte</a:t>
            </a:r>
            <a:r>
              <a:rPr lang="tr-TR" dirty="0"/>
              <a:t>)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501008"/>
            <a:ext cx="8743579" cy="236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8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Adresleme - Mantıksal adresleme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Adres bilgisi network </a:t>
            </a:r>
            <a:r>
              <a:rPr lang="tr-TR" dirty="0" err="1"/>
              <a:t>layer’da</a:t>
            </a:r>
            <a:r>
              <a:rPr lang="tr-TR" dirty="0"/>
              <a:t> paket içinde bulunur.</a:t>
            </a:r>
          </a:p>
          <a:p>
            <a:r>
              <a:rPr lang="sv-SE" dirty="0"/>
              <a:t> Internet için 32 bit boyutundadır (IPv4)</a:t>
            </a:r>
            <a:r>
              <a:rPr lang="tr-TR" dirty="0"/>
              <a:t> </a:t>
            </a:r>
            <a:r>
              <a:rPr lang="da-DK" dirty="0"/>
              <a:t>IPv6 128 bit adresleme yapar.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51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2" y="4589"/>
            <a:ext cx="7852408" cy="624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92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734"/>
            <a:ext cx="9038652" cy="619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15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Adresleme - Özel adresleme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Bazı uygulamalar kullanıcı için kolay adreslemeler yapar. (</a:t>
            </a:r>
            <a:r>
              <a:rPr lang="tr-TR" dirty="0">
                <a:hlinkClick r:id="rId2"/>
              </a:rPr>
              <a:t>mevlutersoy@sdu.edu.tr</a:t>
            </a:r>
            <a:r>
              <a:rPr lang="tr-TR" dirty="0"/>
              <a:t>, www.sdu.edu.tr)</a:t>
            </a:r>
          </a:p>
          <a:p>
            <a:r>
              <a:rPr lang="tr-TR" dirty="0"/>
              <a:t>Özel adresler port adreslerine ve mantıksal adreslere dönüştürülür</a:t>
            </a:r>
          </a:p>
        </p:txBody>
      </p:sp>
    </p:spTree>
    <p:extLst>
      <p:ext uri="{BB962C8B-B14F-4D97-AF65-F5344CB8AC3E}">
        <p14:creationId xmlns:p14="http://schemas.microsoft.com/office/powerpoint/2010/main" val="757005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IEEE Protokolleri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802. 1 Overview of 802 standards</a:t>
            </a:r>
          </a:p>
          <a:p>
            <a:r>
              <a:rPr lang="tr-TR" dirty="0"/>
              <a:t>802. 2 </a:t>
            </a:r>
            <a:r>
              <a:rPr lang="tr-TR" dirty="0" err="1"/>
              <a:t>Logical</a:t>
            </a:r>
            <a:r>
              <a:rPr lang="tr-TR" dirty="0"/>
              <a:t> Link Control</a:t>
            </a:r>
          </a:p>
          <a:p>
            <a:r>
              <a:rPr lang="tr-TR" dirty="0"/>
              <a:t>802. 3 Carrier Sense </a:t>
            </a:r>
            <a:r>
              <a:rPr lang="tr-TR" dirty="0" err="1"/>
              <a:t>Multiple</a:t>
            </a:r>
            <a:r>
              <a:rPr lang="tr-TR" dirty="0"/>
              <a:t> Access/</a:t>
            </a:r>
            <a:r>
              <a:rPr lang="tr-TR" dirty="0" err="1"/>
              <a:t>Collision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CSMA/CD</a:t>
            </a:r>
          </a:p>
          <a:p>
            <a:r>
              <a:rPr lang="tr-TR" dirty="0"/>
              <a:t>802. 4 </a:t>
            </a:r>
            <a:r>
              <a:rPr lang="tr-TR" dirty="0" err="1"/>
              <a:t>Token</a:t>
            </a:r>
            <a:r>
              <a:rPr lang="tr-TR" dirty="0"/>
              <a:t> </a:t>
            </a:r>
            <a:r>
              <a:rPr lang="tr-TR" dirty="0" err="1"/>
              <a:t>Bus</a:t>
            </a:r>
            <a:endParaRPr lang="tr-TR" dirty="0"/>
          </a:p>
          <a:p>
            <a:r>
              <a:rPr lang="tr-TR" dirty="0"/>
              <a:t>802. 5 </a:t>
            </a:r>
            <a:r>
              <a:rPr lang="tr-TR" dirty="0" err="1"/>
              <a:t>Token</a:t>
            </a:r>
            <a:r>
              <a:rPr lang="tr-TR" dirty="0"/>
              <a:t> Ring</a:t>
            </a:r>
          </a:p>
          <a:p>
            <a:r>
              <a:rPr lang="tr-TR" dirty="0"/>
              <a:t>802. 6 </a:t>
            </a:r>
            <a:r>
              <a:rPr lang="tr-TR" dirty="0" err="1"/>
              <a:t>MANs</a:t>
            </a:r>
            <a:endParaRPr lang="tr-TR" dirty="0"/>
          </a:p>
          <a:p>
            <a:r>
              <a:rPr lang="tr-TR" dirty="0"/>
              <a:t>802. 7 Broadband </a:t>
            </a:r>
            <a:r>
              <a:rPr lang="tr-TR" dirty="0" err="1"/>
              <a:t>LANs</a:t>
            </a:r>
            <a:endParaRPr lang="tr-TR" dirty="0"/>
          </a:p>
          <a:p>
            <a:r>
              <a:rPr lang="tr-TR" dirty="0"/>
              <a:t>802. 9 LAN Integration</a:t>
            </a:r>
          </a:p>
          <a:p>
            <a:r>
              <a:rPr lang="tr-TR" dirty="0"/>
              <a:t>802.10 LAN Security</a:t>
            </a:r>
          </a:p>
          <a:p>
            <a:r>
              <a:rPr lang="tr-TR" dirty="0"/>
              <a:t>802.11 Wireless </a:t>
            </a:r>
            <a:r>
              <a:rPr lang="tr-TR" dirty="0" err="1"/>
              <a:t>LANs</a:t>
            </a:r>
            <a:endParaRPr lang="tr-TR" dirty="0"/>
          </a:p>
          <a:p>
            <a:r>
              <a:rPr lang="tr-TR" dirty="0"/>
              <a:t>802.12 100VG </a:t>
            </a:r>
            <a:r>
              <a:rPr lang="tr-TR" dirty="0" err="1"/>
              <a:t>AnyLAN</a:t>
            </a:r>
            <a:endParaRPr lang="tr-TR" dirty="0"/>
          </a:p>
          <a:p>
            <a:r>
              <a:rPr lang="tr-TR" dirty="0"/>
              <a:t>802.17 </a:t>
            </a:r>
            <a:r>
              <a:rPr lang="tr-TR" dirty="0" err="1"/>
              <a:t>Resilient</a:t>
            </a:r>
            <a:r>
              <a:rPr lang="tr-TR" dirty="0"/>
              <a:t> </a:t>
            </a:r>
            <a:r>
              <a:rPr lang="tr-TR" dirty="0" err="1"/>
              <a:t>Packet</a:t>
            </a:r>
            <a:r>
              <a:rPr lang="tr-TR" dirty="0"/>
              <a:t> Ring</a:t>
            </a:r>
          </a:p>
        </p:txBody>
      </p:sp>
    </p:spTree>
    <p:extLst>
      <p:ext uri="{BB962C8B-B14F-4D97-AF65-F5344CB8AC3E}">
        <p14:creationId xmlns:p14="http://schemas.microsoft.com/office/powerpoint/2010/main" val="4049670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OSI ve Diğer Standartların Birleşimi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13" y="1912547"/>
            <a:ext cx="8534373" cy="303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286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Sorular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09452"/>
            <a:ext cx="6024802" cy="255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etin kutusu 2"/>
          <p:cNvSpPr txBox="1"/>
          <p:nvPr/>
        </p:nvSpPr>
        <p:spPr>
          <a:xfrm>
            <a:off x="827584" y="1700808"/>
            <a:ext cx="349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Paket ve </a:t>
            </a:r>
            <a:r>
              <a:rPr lang="tr-TR" dirty="0" err="1"/>
              <a:t>frame</a:t>
            </a:r>
            <a:r>
              <a:rPr lang="tr-TR" dirty="0"/>
              <a:t> yapılarını gösteriniz?</a:t>
            </a:r>
          </a:p>
        </p:txBody>
      </p:sp>
    </p:spTree>
    <p:extLst>
      <p:ext uri="{BB962C8B-B14F-4D97-AF65-F5344CB8AC3E}">
        <p14:creationId xmlns:p14="http://schemas.microsoft.com/office/powerpoint/2010/main" val="1042669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Aşağıdaki şıkları OSI modelindeki katmanlarla eşleyiniz?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Yönlendirme tanımlama</a:t>
            </a:r>
          </a:p>
          <a:p>
            <a:r>
              <a:rPr lang="tr-TR" dirty="0"/>
              <a:t>Akış Kontrolü</a:t>
            </a:r>
          </a:p>
          <a:p>
            <a:r>
              <a:rPr lang="tr-TR" dirty="0"/>
              <a:t>İletim ortamı için </a:t>
            </a:r>
            <a:r>
              <a:rPr lang="tr-TR" dirty="0" err="1"/>
              <a:t>arayüz</a:t>
            </a:r>
            <a:endParaRPr lang="tr-TR" dirty="0"/>
          </a:p>
          <a:p>
            <a:r>
              <a:rPr lang="tr-TR" dirty="0"/>
              <a:t>Son kullanıcılar için erişim sağlama</a:t>
            </a:r>
          </a:p>
          <a:p>
            <a:r>
              <a:rPr lang="tr-TR" dirty="0"/>
              <a:t>Güvenli işlemden işleme mesaj gönderme</a:t>
            </a:r>
          </a:p>
          <a:p>
            <a:r>
              <a:rPr lang="tr-TR" dirty="0"/>
              <a:t>Yönlendirme seçimi</a:t>
            </a:r>
          </a:p>
          <a:p>
            <a:r>
              <a:rPr lang="tr-TR" dirty="0" err="1"/>
              <a:t>Email</a:t>
            </a:r>
            <a:r>
              <a:rPr lang="tr-TR" dirty="0"/>
              <a:t>, dosya transferi gibi hizmetleri sağlama</a:t>
            </a:r>
          </a:p>
          <a:p>
            <a:r>
              <a:rPr lang="tr-TR" dirty="0" err="1"/>
              <a:t>Frameleri</a:t>
            </a:r>
            <a:r>
              <a:rPr lang="tr-TR" dirty="0"/>
              <a:t> tanımlama</a:t>
            </a:r>
          </a:p>
          <a:p>
            <a:r>
              <a:rPr lang="tr-TR" dirty="0"/>
              <a:t>Hata kontrolü ve yeniden iletim</a:t>
            </a:r>
          </a:p>
          <a:p>
            <a:r>
              <a:rPr lang="tr-TR" dirty="0" err="1"/>
              <a:t>Mekaniksel</a:t>
            </a:r>
            <a:r>
              <a:rPr lang="tr-TR" dirty="0"/>
              <a:t>, elektriksel fonksiyon </a:t>
            </a:r>
            <a:r>
              <a:rPr lang="tr-TR" dirty="0" err="1"/>
              <a:t>arayüzü</a:t>
            </a:r>
            <a:endParaRPr lang="tr-TR" dirty="0"/>
          </a:p>
          <a:p>
            <a:r>
              <a:rPr lang="tr-TR" dirty="0"/>
              <a:t>Format ve kod dönüşüm hizmetleri</a:t>
            </a:r>
          </a:p>
          <a:p>
            <a:r>
              <a:rPr lang="tr-TR" dirty="0" err="1"/>
              <a:t>Log</a:t>
            </a:r>
            <a:r>
              <a:rPr lang="tr-TR" dirty="0"/>
              <a:t> in </a:t>
            </a:r>
            <a:r>
              <a:rPr lang="tr-TR" dirty="0" err="1"/>
              <a:t>log</a:t>
            </a:r>
            <a:r>
              <a:rPr lang="tr-TR" dirty="0"/>
              <a:t> </a:t>
            </a:r>
            <a:r>
              <a:rPr lang="tr-TR" dirty="0" err="1"/>
              <a:t>out</a:t>
            </a:r>
            <a:r>
              <a:rPr lang="tr-TR" dirty="0"/>
              <a:t> prosedürleri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18652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Ödev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/>
              <a:t>TCP/IP protokol kümesindeki tüm protokollerinin ne iş yaptıklarını, hangi tür uygulamalarda kullanıldığını, avantajlarını/ dezavantajlarını içeren bir ödev hazırlayınız.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976451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aynak">
  <a:themeElements>
    <a:clrScheme name="Kaynak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Kaynak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ynak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1661</TotalTime>
  <Words>1636</Words>
  <Application>Microsoft Office PowerPoint</Application>
  <PresentationFormat>Ekran Gösterisi (4:3)</PresentationFormat>
  <Paragraphs>237</Paragraphs>
  <Slides>35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43" baseType="lpstr">
      <vt:lpstr>ArialMT</vt:lpstr>
      <vt:lpstr>Bookman Old Style</vt:lpstr>
      <vt:lpstr>Calibri</vt:lpstr>
      <vt:lpstr>Calibri-Bold</vt:lpstr>
      <vt:lpstr>Gill Sans MT</vt:lpstr>
      <vt:lpstr>Wingdings</vt:lpstr>
      <vt:lpstr>Wingdings 3</vt:lpstr>
      <vt:lpstr>Kaynak</vt:lpstr>
      <vt:lpstr>Ağ (Network) Modelleri</vt:lpstr>
      <vt:lpstr>PowerPoint Sunusu</vt:lpstr>
      <vt:lpstr>PowerPoint Sunusu</vt:lpstr>
      <vt:lpstr>Ağ Modelleri</vt:lpstr>
      <vt:lpstr>Protokol</vt:lpstr>
      <vt:lpstr>Mektup İletişimi Katmanlı Yapı</vt:lpstr>
      <vt:lpstr>Neden katmanlı yapı?</vt:lpstr>
      <vt:lpstr>OSI Modeli</vt:lpstr>
      <vt:lpstr>OSI Modelinde katmanlar arası etkileşim</vt:lpstr>
      <vt:lpstr>OSI Modeli</vt:lpstr>
      <vt:lpstr>OSI Modeli</vt:lpstr>
      <vt:lpstr>Fiziksel Katman</vt:lpstr>
      <vt:lpstr>Veri Bağı (Data Link) Katmanı</vt:lpstr>
      <vt:lpstr>Veri Bağı (Data Link) Katmanı</vt:lpstr>
      <vt:lpstr>Network (Ağ) Katmanı</vt:lpstr>
      <vt:lpstr>Network (Ağ) Katmanı</vt:lpstr>
      <vt:lpstr>Transport (Ulaşım) Katmanı</vt:lpstr>
      <vt:lpstr>Session (Oturum) Katmanı</vt:lpstr>
      <vt:lpstr>Presentation (Sunum) Katmanı</vt:lpstr>
      <vt:lpstr>Application (Uygulama) Katmanı</vt:lpstr>
      <vt:lpstr>Özet</vt:lpstr>
      <vt:lpstr>TCP/IP Protokol Kümesi</vt:lpstr>
      <vt:lpstr>TCP/IP Protokolü</vt:lpstr>
      <vt:lpstr>TCP/IP Protokolü</vt:lpstr>
      <vt:lpstr>Adresleme</vt:lpstr>
      <vt:lpstr>Adresleme - Fiziksel adresleme</vt:lpstr>
      <vt:lpstr>Adresleme - Mantıksal adresleme</vt:lpstr>
      <vt:lpstr>PowerPoint Sunusu</vt:lpstr>
      <vt:lpstr>PowerPoint Sunusu</vt:lpstr>
      <vt:lpstr>Adresleme - Özel adresleme</vt:lpstr>
      <vt:lpstr>IEEE Protokolleri</vt:lpstr>
      <vt:lpstr>OSI ve Diğer Standartların Birleşimi</vt:lpstr>
      <vt:lpstr>Sorular</vt:lpstr>
      <vt:lpstr>Aşağıdaki şıkları OSI modelindeki katmanlarla eşleyiniz?</vt:lpstr>
      <vt:lpstr>Ödev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mevlut</dc:creator>
  <cp:lastModifiedBy>Mevlüt Ersoy</cp:lastModifiedBy>
  <cp:revision>27</cp:revision>
  <dcterms:created xsi:type="dcterms:W3CDTF">2016-10-02T13:27:16Z</dcterms:created>
  <dcterms:modified xsi:type="dcterms:W3CDTF">2021-11-02T06:59:51Z</dcterms:modified>
</cp:coreProperties>
</file>