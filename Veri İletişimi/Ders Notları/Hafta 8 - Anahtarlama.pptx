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090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15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8321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66712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872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078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532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599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1805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15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2252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515B7-7F5A-44AF-9017-3F85D43353CC}" type="datetimeFigureOut">
              <a:rPr lang="tr-TR" smtClean="0"/>
              <a:t>19.12.2018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DA39D-9B25-426A-AA5F-A982AC7FE87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490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Anahtarlama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220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Konular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Devre Anahtarlamalı Ağlar</a:t>
            </a:r>
          </a:p>
          <a:p>
            <a:r>
              <a:rPr lang="tr-TR" dirty="0" err="1" smtClean="0"/>
              <a:t>Datagram</a:t>
            </a:r>
            <a:r>
              <a:rPr lang="tr-TR" dirty="0" smtClean="0"/>
              <a:t> Ağlar</a:t>
            </a:r>
          </a:p>
          <a:p>
            <a:r>
              <a:rPr lang="tr-TR" dirty="0" smtClean="0"/>
              <a:t>Sanal Devre Ağlar (Virtual </a:t>
            </a:r>
            <a:r>
              <a:rPr lang="tr-TR" dirty="0" err="1" smtClean="0"/>
              <a:t>Circuit</a:t>
            </a:r>
            <a:r>
              <a:rPr lang="tr-TR" dirty="0" smtClean="0"/>
              <a:t>)</a:t>
            </a:r>
          </a:p>
          <a:p>
            <a:r>
              <a:rPr lang="tr-TR" dirty="0" smtClean="0"/>
              <a:t>Switch Yapısı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142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Giriş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Anahtarlamalı ağlar düğümler arasındaki </a:t>
            </a:r>
            <a:r>
              <a:rPr lang="tr-TR" dirty="0" smtClean="0"/>
              <a:t>bağlantıyı </a:t>
            </a:r>
            <a:r>
              <a:rPr lang="tr-TR" b="1" dirty="0" err="1" smtClean="0"/>
              <a:t>switch’lerle</a:t>
            </a:r>
            <a:r>
              <a:rPr lang="tr-TR" b="1" dirty="0" smtClean="0"/>
              <a:t> </a:t>
            </a:r>
            <a:r>
              <a:rPr lang="tr-TR" b="1" dirty="0"/>
              <a:t>yapar</a:t>
            </a:r>
            <a:r>
              <a:rPr lang="tr-TR" b="1" dirty="0" smtClean="0"/>
              <a:t>.</a:t>
            </a:r>
          </a:p>
          <a:p>
            <a:r>
              <a:rPr lang="tr-TR" dirty="0"/>
              <a:t>Anahtarlamalı ağlarda </a:t>
            </a:r>
            <a:r>
              <a:rPr lang="tr-TR" dirty="0" err="1"/>
              <a:t>switch’lerden</a:t>
            </a:r>
            <a:r>
              <a:rPr lang="tr-TR" dirty="0"/>
              <a:t> bazıları uç </a:t>
            </a:r>
            <a:r>
              <a:rPr lang="tr-TR" dirty="0" smtClean="0"/>
              <a:t>sistemlere bağlıdır</a:t>
            </a:r>
            <a:r>
              <a:rPr lang="tr-TR" dirty="0"/>
              <a:t>, bazıları ise yönlendirme için kullanılır.</a:t>
            </a:r>
          </a:p>
          <a:p>
            <a:r>
              <a:rPr lang="tr-TR" dirty="0" smtClean="0"/>
              <a:t>Şekildeki </a:t>
            </a:r>
            <a:r>
              <a:rPr lang="tr-TR" dirty="0"/>
              <a:t>ağ yapısında </a:t>
            </a:r>
            <a:r>
              <a:rPr lang="tr-TR" b="1" dirty="0"/>
              <a:t>A,B,C,D</a:t>
            </a:r>
            <a:r>
              <a:rPr lang="tr-TR" dirty="0"/>
              <a:t>,… uç sistemlerdir, I, II, III, </a:t>
            </a:r>
            <a:r>
              <a:rPr lang="tr-TR" dirty="0" smtClean="0"/>
              <a:t>IV ve </a:t>
            </a:r>
            <a:r>
              <a:rPr lang="tr-TR" dirty="0"/>
              <a:t>V </a:t>
            </a:r>
            <a:r>
              <a:rPr lang="tr-TR" dirty="0" err="1"/>
              <a:t>switch’tir</a:t>
            </a:r>
            <a:r>
              <a:rPr lang="tr-TR" dirty="0"/>
              <a:t>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734" y="3988905"/>
            <a:ext cx="5155942" cy="260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1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3 çeşit anahtarlama yapılır: </a:t>
            </a:r>
            <a:r>
              <a:rPr lang="tr-TR" b="1" dirty="0" err="1"/>
              <a:t>circuit</a:t>
            </a:r>
            <a:r>
              <a:rPr lang="tr-TR" b="1" dirty="0"/>
              <a:t> </a:t>
            </a:r>
            <a:r>
              <a:rPr lang="tr-TR" b="1" dirty="0" err="1"/>
              <a:t>switching</a:t>
            </a:r>
            <a:r>
              <a:rPr lang="tr-TR" b="1" dirty="0"/>
              <a:t> (</a:t>
            </a:r>
            <a:r>
              <a:rPr lang="tr-TR" b="1" dirty="0" smtClean="0"/>
              <a:t>devre anahtarlama</a:t>
            </a:r>
            <a:r>
              <a:rPr lang="tr-TR" b="1" dirty="0"/>
              <a:t>), </a:t>
            </a:r>
            <a:r>
              <a:rPr lang="tr-TR" b="1" dirty="0" err="1"/>
              <a:t>packet</a:t>
            </a:r>
            <a:r>
              <a:rPr lang="tr-TR" b="1" dirty="0"/>
              <a:t> </a:t>
            </a:r>
            <a:r>
              <a:rPr lang="tr-TR" b="1" dirty="0" err="1"/>
              <a:t>switching</a:t>
            </a:r>
            <a:r>
              <a:rPr lang="tr-TR" b="1" dirty="0"/>
              <a:t> (paket </a:t>
            </a:r>
            <a:r>
              <a:rPr lang="tr-TR" b="1" dirty="0" smtClean="0"/>
              <a:t>anahtarlama) ve </a:t>
            </a:r>
            <a:r>
              <a:rPr lang="tr-TR" b="1" dirty="0" err="1"/>
              <a:t>message</a:t>
            </a:r>
            <a:r>
              <a:rPr lang="tr-TR" b="1" dirty="0"/>
              <a:t> </a:t>
            </a:r>
            <a:r>
              <a:rPr lang="tr-TR" b="1" dirty="0" err="1"/>
              <a:t>switching</a:t>
            </a:r>
            <a:r>
              <a:rPr lang="tr-TR" b="1" dirty="0"/>
              <a:t> (mesaj anahtarlama).</a:t>
            </a:r>
          </a:p>
          <a:p>
            <a:r>
              <a:rPr lang="tr-TR" dirty="0" smtClean="0"/>
              <a:t>Paket </a:t>
            </a:r>
            <a:r>
              <a:rPr lang="tr-TR" dirty="0"/>
              <a:t>anahtarlamalı ağlar iki gruptur: </a:t>
            </a:r>
            <a:r>
              <a:rPr lang="tr-TR" b="1" dirty="0" err="1"/>
              <a:t>datagram</a:t>
            </a:r>
            <a:r>
              <a:rPr lang="tr-TR" b="1" dirty="0"/>
              <a:t> </a:t>
            </a:r>
            <a:r>
              <a:rPr lang="tr-TR" b="1" dirty="0" smtClean="0"/>
              <a:t>ağlar ve </a:t>
            </a:r>
            <a:r>
              <a:rPr lang="tr-TR" b="1" dirty="0" err="1"/>
              <a:t>virtual‐circuit</a:t>
            </a:r>
            <a:r>
              <a:rPr lang="tr-TR" b="1" dirty="0"/>
              <a:t> ağlar.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791" y="4119687"/>
            <a:ext cx="5665511" cy="25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63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Message </a:t>
            </a:r>
            <a:r>
              <a:rPr lang="tr-TR" dirty="0" err="1"/>
              <a:t>Switched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Mesaj </a:t>
            </a:r>
            <a:r>
              <a:rPr lang="tr-TR" dirty="0"/>
              <a:t>anahtarlamalı ağlarda her </a:t>
            </a:r>
            <a:r>
              <a:rPr lang="tr-TR" dirty="0" err="1"/>
              <a:t>switch</a:t>
            </a:r>
            <a:r>
              <a:rPr lang="tr-TR" dirty="0"/>
              <a:t> </a:t>
            </a:r>
            <a:r>
              <a:rPr lang="tr-TR" dirty="0" smtClean="0"/>
              <a:t>tüm mesajı </a:t>
            </a:r>
            <a:r>
              <a:rPr lang="tr-TR" dirty="0"/>
              <a:t>aldıktan sonra bir sonraki </a:t>
            </a:r>
            <a:r>
              <a:rPr lang="tr-TR" dirty="0" err="1" smtClean="0"/>
              <a:t>switch’e</a:t>
            </a:r>
            <a:r>
              <a:rPr lang="tr-TR" dirty="0" smtClean="0"/>
              <a:t> yönlendirir</a:t>
            </a:r>
            <a:endParaRPr lang="tr-TR" dirty="0"/>
          </a:p>
          <a:p>
            <a:pPr lvl="1"/>
            <a:r>
              <a:rPr lang="tr-TR" dirty="0" smtClean="0"/>
              <a:t>Hop‐</a:t>
            </a:r>
            <a:r>
              <a:rPr lang="tr-TR" dirty="0" err="1" smtClean="0"/>
              <a:t>by</a:t>
            </a:r>
            <a:r>
              <a:rPr lang="tr-TR" dirty="0" smtClean="0"/>
              <a:t>‐hop</a:t>
            </a:r>
            <a:endParaRPr lang="tr-TR" dirty="0"/>
          </a:p>
          <a:p>
            <a:pPr lvl="1"/>
            <a:r>
              <a:rPr lang="tr-TR" dirty="0" smtClean="0"/>
              <a:t>Önceden </a:t>
            </a:r>
            <a:r>
              <a:rPr lang="tr-TR" dirty="0"/>
              <a:t>yol kurulmaz</a:t>
            </a:r>
          </a:p>
          <a:p>
            <a:r>
              <a:rPr lang="tr-TR" dirty="0" smtClean="0"/>
              <a:t>Alt </a:t>
            </a:r>
            <a:r>
              <a:rPr lang="tr-TR" dirty="0"/>
              <a:t>katmanlarda uygulanmaz</a:t>
            </a:r>
          </a:p>
          <a:p>
            <a:r>
              <a:rPr lang="tr-TR" dirty="0" smtClean="0"/>
              <a:t>Genelde </a:t>
            </a:r>
            <a:r>
              <a:rPr lang="tr-TR" dirty="0"/>
              <a:t>uygulamalarda kullanılır</a:t>
            </a:r>
          </a:p>
          <a:p>
            <a:pPr lvl="1"/>
            <a:r>
              <a:rPr lang="tr-TR" dirty="0" smtClean="0"/>
              <a:t>Örnek</a:t>
            </a:r>
            <a:r>
              <a:rPr lang="tr-TR" dirty="0"/>
              <a:t>: e‐mail uygulamaları</a:t>
            </a:r>
          </a:p>
        </p:txBody>
      </p:sp>
    </p:spTree>
    <p:extLst>
      <p:ext uri="{BB962C8B-B14F-4D97-AF65-F5344CB8AC3E}">
        <p14:creationId xmlns:p14="http://schemas.microsoft.com/office/powerpoint/2010/main" val="2639717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Circuit‐switched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67816"/>
            <a:ext cx="10515600" cy="4351338"/>
          </a:xfrm>
        </p:spPr>
        <p:txBody>
          <a:bodyPr>
            <a:normAutofit/>
          </a:bodyPr>
          <a:lstStyle/>
          <a:p>
            <a:r>
              <a:rPr lang="tr-TR" sz="2000" dirty="0" err="1" smtClean="0"/>
              <a:t>Circuit‐switched</a:t>
            </a:r>
            <a:r>
              <a:rPr lang="tr-TR" sz="2000" dirty="0" smtClean="0"/>
              <a:t> </a:t>
            </a:r>
            <a:r>
              <a:rPr lang="tr-TR" sz="2000" dirty="0"/>
              <a:t>ağlar fiziksel bağlı </a:t>
            </a:r>
            <a:r>
              <a:rPr lang="tr-TR" sz="2000" dirty="0" err="1"/>
              <a:t>switch’lerden</a:t>
            </a:r>
            <a:r>
              <a:rPr lang="tr-TR" sz="2000" dirty="0"/>
              <a:t> </a:t>
            </a:r>
            <a:r>
              <a:rPr lang="tr-TR" sz="2000" dirty="0" smtClean="0"/>
              <a:t>oluşur.</a:t>
            </a:r>
          </a:p>
          <a:p>
            <a:r>
              <a:rPr lang="tr-TR" sz="2000" dirty="0" smtClean="0"/>
              <a:t>İki </a:t>
            </a:r>
            <a:r>
              <a:rPr lang="tr-TR" sz="2000" dirty="0"/>
              <a:t>cihaz arasındaki her bağlantı link üzerinde özel </a:t>
            </a:r>
            <a:r>
              <a:rPr lang="tr-TR" sz="2000" dirty="0" smtClean="0"/>
              <a:t>olarak ayrılmış </a:t>
            </a:r>
            <a:r>
              <a:rPr lang="tr-TR" sz="2000" dirty="0"/>
              <a:t>(</a:t>
            </a:r>
            <a:r>
              <a:rPr lang="tr-TR" sz="2000" dirty="0" err="1"/>
              <a:t>dedicated</a:t>
            </a:r>
            <a:r>
              <a:rPr lang="tr-TR" sz="2000" dirty="0"/>
              <a:t>) kanalı </a:t>
            </a:r>
            <a:r>
              <a:rPr lang="tr-TR" sz="2000" dirty="0" smtClean="0"/>
              <a:t>kullanır.</a:t>
            </a:r>
          </a:p>
          <a:p>
            <a:r>
              <a:rPr lang="tr-TR" sz="2000" dirty="0" smtClean="0"/>
              <a:t>Her </a:t>
            </a:r>
            <a:r>
              <a:rPr lang="tr-TR" sz="2000" dirty="0"/>
              <a:t>link FDM veya TDM ile </a:t>
            </a:r>
            <a:r>
              <a:rPr lang="tr-TR" sz="2000" i="1" dirty="0"/>
              <a:t>n </a:t>
            </a:r>
            <a:r>
              <a:rPr lang="tr-TR" sz="2000" dirty="0"/>
              <a:t>kanala </a:t>
            </a:r>
            <a:r>
              <a:rPr lang="tr-TR" sz="2000" dirty="0" smtClean="0"/>
              <a:t>bölünebilir.</a:t>
            </a:r>
          </a:p>
          <a:p>
            <a:r>
              <a:rPr lang="tr-TR" sz="2000" dirty="0" smtClean="0"/>
              <a:t>Şekilde </a:t>
            </a:r>
            <a:r>
              <a:rPr lang="tr-TR" sz="2000" dirty="0"/>
              <a:t>4 </a:t>
            </a:r>
            <a:r>
              <a:rPr lang="tr-TR" sz="2000" dirty="0" err="1"/>
              <a:t>switch</a:t>
            </a:r>
            <a:r>
              <a:rPr lang="tr-TR" sz="2000" dirty="0"/>
              <a:t> ve 4 </a:t>
            </a:r>
            <a:r>
              <a:rPr lang="tr-TR" sz="2000" dirty="0" err="1"/>
              <a:t>link’ten</a:t>
            </a:r>
            <a:r>
              <a:rPr lang="tr-TR" sz="2000" dirty="0"/>
              <a:t> oluşan basit </a:t>
            </a:r>
            <a:r>
              <a:rPr lang="tr-TR" sz="2000" dirty="0" err="1" smtClean="0"/>
              <a:t>circuit‐switched</a:t>
            </a:r>
            <a:r>
              <a:rPr lang="tr-TR" sz="2000" dirty="0" smtClean="0"/>
              <a:t> ağ </a:t>
            </a:r>
            <a:r>
              <a:rPr lang="tr-TR" sz="2000" dirty="0"/>
              <a:t>görülmektedir. (FDM veya TDM ile </a:t>
            </a:r>
            <a:r>
              <a:rPr lang="tr-TR" sz="2000" i="1" dirty="0"/>
              <a:t>n = 3 </a:t>
            </a:r>
            <a:r>
              <a:rPr lang="tr-TR" sz="2000" dirty="0" smtClean="0"/>
              <a:t>kanal oluşturulmuştur</a:t>
            </a:r>
            <a:r>
              <a:rPr lang="tr-TR" sz="2000" i="1" dirty="0"/>
              <a:t>)</a:t>
            </a:r>
            <a:endParaRPr lang="tr-TR" sz="20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443" y="3458817"/>
            <a:ext cx="4963402" cy="339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5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Circuit‐switched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 smtClean="0"/>
              <a:t>Bir </a:t>
            </a:r>
            <a:r>
              <a:rPr lang="tr-TR" dirty="0"/>
              <a:t>uç sistem diğeriyle bağlantı için istekte bulunur (</a:t>
            </a:r>
            <a:r>
              <a:rPr lang="tr-TR" b="1" dirty="0" err="1"/>
              <a:t>setup</a:t>
            </a:r>
            <a:r>
              <a:rPr lang="tr-TR" b="1" dirty="0"/>
              <a:t> </a:t>
            </a:r>
            <a:r>
              <a:rPr lang="tr-TR" b="1" dirty="0" err="1" smtClean="0"/>
              <a:t>phase</a:t>
            </a:r>
            <a:r>
              <a:rPr lang="tr-TR" b="1" dirty="0" smtClean="0"/>
              <a:t>)</a:t>
            </a:r>
          </a:p>
          <a:p>
            <a:r>
              <a:rPr lang="tr-TR" dirty="0" smtClean="0"/>
              <a:t>Bir </a:t>
            </a:r>
            <a:r>
              <a:rPr lang="tr-TR" dirty="0" err="1"/>
              <a:t>circuit</a:t>
            </a:r>
            <a:r>
              <a:rPr lang="tr-TR" dirty="0"/>
              <a:t> (devre) bütün linklerde ayrılır ve tüm kanalların </a:t>
            </a:r>
            <a:r>
              <a:rPr lang="tr-TR" dirty="0" smtClean="0"/>
              <a:t>birleşimi atanmış </a:t>
            </a:r>
            <a:r>
              <a:rPr lang="tr-TR" dirty="0"/>
              <a:t>bir yol </a:t>
            </a:r>
            <a:r>
              <a:rPr lang="tr-TR" dirty="0" smtClean="0"/>
              <a:t>oluşturur.</a:t>
            </a:r>
          </a:p>
          <a:p>
            <a:r>
              <a:rPr lang="tr-TR" dirty="0" smtClean="0"/>
              <a:t>Yol </a:t>
            </a:r>
            <a:r>
              <a:rPr lang="tr-TR" dirty="0"/>
              <a:t>oluşturulduktan sonra veri transferi gerçekleştirilir (</a:t>
            </a:r>
            <a:r>
              <a:rPr lang="tr-TR" b="1" dirty="0" smtClean="0"/>
              <a:t>data transfer).</a:t>
            </a:r>
          </a:p>
          <a:p>
            <a:r>
              <a:rPr lang="tr-TR" dirty="0" smtClean="0"/>
              <a:t>Transfer </a:t>
            </a:r>
            <a:r>
              <a:rPr lang="tr-TR" dirty="0"/>
              <a:t>bittikten sonra devre kaldırılır (</a:t>
            </a:r>
            <a:r>
              <a:rPr lang="tr-TR" b="1" dirty="0" err="1"/>
              <a:t>teardown</a:t>
            </a:r>
            <a:r>
              <a:rPr lang="tr-TR" b="1" dirty="0" smtClean="0"/>
              <a:t>).</a:t>
            </a:r>
          </a:p>
          <a:p>
            <a:r>
              <a:rPr lang="tr-TR" dirty="0" err="1" smtClean="0"/>
              <a:t>Circuit‐switching</a:t>
            </a:r>
            <a:r>
              <a:rPr lang="tr-TR" dirty="0" smtClean="0"/>
              <a:t> </a:t>
            </a:r>
            <a:r>
              <a:rPr lang="tr-TR" dirty="0"/>
              <a:t>fiziksel katmanda </a:t>
            </a:r>
            <a:r>
              <a:rPr lang="tr-TR" dirty="0" smtClean="0"/>
              <a:t>oluşturulur.</a:t>
            </a:r>
          </a:p>
          <a:p>
            <a:r>
              <a:rPr lang="tr-TR" dirty="0" smtClean="0"/>
              <a:t>İletişimden </a:t>
            </a:r>
            <a:r>
              <a:rPr lang="tr-TR" dirty="0"/>
              <a:t>önce uç birimler kaynak ayırma işlemi yapar ve </a:t>
            </a:r>
            <a:r>
              <a:rPr lang="tr-TR" dirty="0" smtClean="0"/>
              <a:t>iletişim s</a:t>
            </a:r>
            <a:r>
              <a:rPr lang="sv-SE" dirty="0" smtClean="0"/>
              <a:t>onuna </a:t>
            </a:r>
            <a:r>
              <a:rPr lang="sv-SE" dirty="0"/>
              <a:t>kadar bu kaynaklar kullanılır</a:t>
            </a:r>
            <a:r>
              <a:rPr lang="sv-SE" dirty="0" smtClean="0"/>
              <a:t>.</a:t>
            </a:r>
            <a:endParaRPr lang="tr-TR" dirty="0" smtClean="0"/>
          </a:p>
          <a:p>
            <a:r>
              <a:rPr lang="tr-TR" dirty="0" smtClean="0"/>
              <a:t>İletişim </a:t>
            </a:r>
            <a:r>
              <a:rPr lang="tr-TR" dirty="0"/>
              <a:t>süresince FDM veya </a:t>
            </a:r>
            <a:r>
              <a:rPr lang="tr-TR" dirty="0" err="1"/>
              <a:t>TDM’le</a:t>
            </a:r>
            <a:r>
              <a:rPr lang="tr-TR" dirty="0"/>
              <a:t> oluşturulan kanallar, </a:t>
            </a:r>
            <a:r>
              <a:rPr lang="tr-TR" dirty="0" err="1" smtClean="0"/>
              <a:t>switch</a:t>
            </a:r>
            <a:r>
              <a:rPr lang="tr-TR" dirty="0" smtClean="0"/>
              <a:t> </a:t>
            </a:r>
            <a:r>
              <a:rPr lang="tr-TR" dirty="0" err="1" smtClean="0"/>
              <a:t>buffer’ları</a:t>
            </a:r>
            <a:r>
              <a:rPr lang="tr-TR" dirty="0"/>
              <a:t>, </a:t>
            </a:r>
            <a:r>
              <a:rPr lang="tr-TR" dirty="0" err="1"/>
              <a:t>switch</a:t>
            </a:r>
            <a:r>
              <a:rPr lang="tr-TR" dirty="0"/>
              <a:t> işlem zamanı ve </a:t>
            </a:r>
            <a:r>
              <a:rPr lang="tr-TR" dirty="0" err="1"/>
              <a:t>switch</a:t>
            </a:r>
            <a:r>
              <a:rPr lang="tr-TR" dirty="0"/>
              <a:t> giriş/çıkış portları </a:t>
            </a:r>
            <a:r>
              <a:rPr lang="tr-TR" dirty="0" smtClean="0"/>
              <a:t>veri transferi </a:t>
            </a:r>
            <a:r>
              <a:rPr lang="tr-TR" dirty="0"/>
              <a:t>için ayrılmış </a:t>
            </a:r>
            <a:r>
              <a:rPr lang="tr-TR" dirty="0" smtClean="0"/>
              <a:t>olur.</a:t>
            </a:r>
          </a:p>
          <a:p>
            <a:r>
              <a:rPr lang="tr-TR" dirty="0" smtClean="0"/>
              <a:t>Data </a:t>
            </a:r>
            <a:r>
              <a:rPr lang="tr-TR" dirty="0"/>
              <a:t>transfer sırasında adresleme gerekmez, </a:t>
            </a:r>
            <a:r>
              <a:rPr lang="tr-TR" dirty="0" err="1"/>
              <a:t>setup</a:t>
            </a:r>
            <a:r>
              <a:rPr lang="tr-TR" dirty="0"/>
              <a:t> </a:t>
            </a:r>
            <a:r>
              <a:rPr lang="tr-TR" dirty="0" smtClean="0"/>
              <a:t>sırasında </a:t>
            </a:r>
            <a:r>
              <a:rPr lang="tr-TR" dirty="0" err="1" smtClean="0"/>
              <a:t>end‐to‐end</a:t>
            </a:r>
            <a:r>
              <a:rPr lang="tr-TR" dirty="0" smtClean="0"/>
              <a:t> </a:t>
            </a:r>
            <a:r>
              <a:rPr lang="tr-TR" dirty="0"/>
              <a:t>adresleme yapılır.</a:t>
            </a:r>
          </a:p>
        </p:txBody>
      </p:sp>
    </p:spTree>
    <p:extLst>
      <p:ext uri="{BB962C8B-B14F-4D97-AF65-F5344CB8AC3E}">
        <p14:creationId xmlns:p14="http://schemas.microsoft.com/office/powerpoint/2010/main" val="389561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Circuit‐switched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Örnek</a:t>
            </a:r>
            <a:endParaRPr lang="tr-TR" b="1" dirty="0"/>
          </a:p>
          <a:p>
            <a:pPr lvl="1"/>
            <a:r>
              <a:rPr lang="tr-TR" dirty="0" smtClean="0"/>
              <a:t>Şekilde </a:t>
            </a:r>
            <a:r>
              <a:rPr lang="tr-TR" dirty="0"/>
              <a:t>8 telefon birbirine </a:t>
            </a:r>
            <a:r>
              <a:rPr lang="tr-TR" dirty="0" smtClean="0"/>
              <a:t>bağlanıyor.</a:t>
            </a:r>
          </a:p>
          <a:p>
            <a:pPr lvl="1"/>
            <a:r>
              <a:rPr lang="tr-TR" dirty="0" smtClean="0"/>
              <a:t>Her </a:t>
            </a:r>
            <a:r>
              <a:rPr lang="tr-TR" dirty="0"/>
              <a:t>link FDM ile iki ses kanalı oluşturur. Her </a:t>
            </a:r>
            <a:r>
              <a:rPr lang="tr-TR" dirty="0" smtClean="0"/>
              <a:t>link için </a:t>
            </a:r>
            <a:r>
              <a:rPr lang="tr-TR" dirty="0"/>
              <a:t>bant genişliği 8 kHz.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674" y="3444240"/>
            <a:ext cx="8132373" cy="309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44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Circuit‐switched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454564"/>
            <a:ext cx="10515600" cy="4351338"/>
          </a:xfrm>
        </p:spPr>
        <p:txBody>
          <a:bodyPr>
            <a:normAutofit/>
          </a:bodyPr>
          <a:lstStyle/>
          <a:p>
            <a:r>
              <a:rPr lang="tr-TR" sz="2000" b="1" dirty="0" smtClean="0"/>
              <a:t>Örnek</a:t>
            </a:r>
          </a:p>
          <a:p>
            <a:r>
              <a:rPr lang="tr-TR" sz="2000" dirty="0" smtClean="0"/>
              <a:t>Şekilde </a:t>
            </a:r>
            <a:r>
              <a:rPr lang="tr-TR" sz="2000" dirty="0"/>
              <a:t>özel bir şirket için </a:t>
            </a:r>
            <a:r>
              <a:rPr lang="tr-TR" sz="2000" dirty="0" err="1"/>
              <a:t>circuit‐switched</a:t>
            </a:r>
            <a:r>
              <a:rPr lang="tr-TR" sz="2000" dirty="0"/>
              <a:t> ağ ile iki </a:t>
            </a:r>
            <a:r>
              <a:rPr lang="tr-TR" sz="2000" dirty="0" smtClean="0"/>
              <a:t>farklı ofisteki </a:t>
            </a:r>
            <a:r>
              <a:rPr lang="tr-TR" sz="2000" dirty="0"/>
              <a:t>bilgisayarlar birbirine </a:t>
            </a:r>
            <a:r>
              <a:rPr lang="tr-TR" sz="2000" dirty="0" smtClean="0"/>
              <a:t>bağlıdır.</a:t>
            </a:r>
          </a:p>
          <a:p>
            <a:r>
              <a:rPr lang="tr-TR" sz="2000" dirty="0" smtClean="0"/>
              <a:t>Ofisler </a:t>
            </a:r>
            <a:r>
              <a:rPr lang="tr-TR" sz="2000" dirty="0"/>
              <a:t>1,544 Mbps bir kiralık T‐</a:t>
            </a:r>
            <a:r>
              <a:rPr lang="tr-TR" sz="2000" dirty="0" err="1"/>
              <a:t>line</a:t>
            </a:r>
            <a:r>
              <a:rPr lang="tr-TR" sz="2000" dirty="0"/>
              <a:t> ile birbirine </a:t>
            </a:r>
            <a:r>
              <a:rPr lang="tr-TR" sz="2000" dirty="0" smtClean="0"/>
              <a:t>bağlıdır.</a:t>
            </a:r>
          </a:p>
          <a:p>
            <a:r>
              <a:rPr lang="tr-TR" sz="2000" dirty="0" smtClean="0"/>
              <a:t>4x8 </a:t>
            </a:r>
            <a:r>
              <a:rPr lang="tr-TR" sz="2000" dirty="0"/>
              <a:t>iki </a:t>
            </a:r>
            <a:r>
              <a:rPr lang="tr-TR" sz="2000" dirty="0" err="1"/>
              <a:t>switch</a:t>
            </a:r>
            <a:r>
              <a:rPr lang="tr-TR" sz="2000" dirty="0"/>
              <a:t> kullanılmaktadır. Çıkışlardan 4 tanesi </a:t>
            </a:r>
            <a:r>
              <a:rPr lang="tr-TR" sz="2000" dirty="0" smtClean="0"/>
              <a:t>diğer ofisle </a:t>
            </a:r>
            <a:r>
              <a:rPr lang="tr-TR" sz="2000" dirty="0"/>
              <a:t>bağlantı için, diğerleri ofis içi bağlantı </a:t>
            </a:r>
            <a:r>
              <a:rPr lang="tr-TR" sz="2000" dirty="0" smtClean="0"/>
              <a:t>için kullanılmaktadır</a:t>
            </a:r>
            <a:r>
              <a:rPr lang="tr-TR" sz="2000" dirty="0"/>
              <a:t>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136" y="3538330"/>
            <a:ext cx="7482677" cy="306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64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Circuit‐switched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dirty="0" err="1" smtClean="0"/>
              <a:t>Circuit‐switched</a:t>
            </a:r>
            <a:r>
              <a:rPr lang="tr-TR" dirty="0" smtClean="0"/>
              <a:t> </a:t>
            </a:r>
            <a:r>
              <a:rPr lang="tr-TR" dirty="0"/>
              <a:t>ağda iletişim üç aşamada </a:t>
            </a:r>
            <a:r>
              <a:rPr lang="tr-TR" dirty="0" smtClean="0"/>
              <a:t>gerçekleştirilir: </a:t>
            </a:r>
            <a:r>
              <a:rPr lang="en-US" b="1" dirty="0" smtClean="0"/>
              <a:t>connection </a:t>
            </a:r>
            <a:r>
              <a:rPr lang="en-US" b="1" dirty="0"/>
              <a:t>setup, data transfer </a:t>
            </a:r>
            <a:r>
              <a:rPr lang="en-US" b="1" dirty="0" err="1"/>
              <a:t>ve</a:t>
            </a:r>
            <a:r>
              <a:rPr lang="en-US" b="1" dirty="0"/>
              <a:t> connection </a:t>
            </a:r>
            <a:r>
              <a:rPr lang="en-US" b="1" dirty="0" smtClean="0"/>
              <a:t>teardown.</a:t>
            </a:r>
            <a:endParaRPr lang="tr-TR" b="1" dirty="0" smtClean="0"/>
          </a:p>
          <a:p>
            <a:r>
              <a:rPr lang="tr-TR" dirty="0" smtClean="0"/>
              <a:t>İki </a:t>
            </a:r>
            <a:r>
              <a:rPr lang="tr-TR" dirty="0"/>
              <a:t>uç sistem iletişime başlamadan önce bir </a:t>
            </a:r>
            <a:r>
              <a:rPr lang="tr-TR" dirty="0" smtClean="0"/>
              <a:t>devre kurulmalıdır</a:t>
            </a:r>
            <a:r>
              <a:rPr lang="tr-TR" dirty="0"/>
              <a:t>. Ayrılmış/atanmış bir devre, </a:t>
            </a:r>
            <a:r>
              <a:rPr lang="tr-TR" dirty="0" err="1"/>
              <a:t>switch’ler</a:t>
            </a:r>
            <a:r>
              <a:rPr lang="tr-TR" dirty="0"/>
              <a:t> </a:t>
            </a:r>
            <a:r>
              <a:rPr lang="tr-TR" dirty="0" smtClean="0"/>
              <a:t>arasında bir </a:t>
            </a:r>
            <a:r>
              <a:rPr lang="tr-TR" dirty="0"/>
              <a:t>uçtan diğer uca gidebilecek kanallar </a:t>
            </a:r>
            <a:r>
              <a:rPr lang="tr-TR" dirty="0" smtClean="0"/>
              <a:t>oluşturulmasıdır.</a:t>
            </a:r>
          </a:p>
          <a:p>
            <a:r>
              <a:rPr lang="tr-TR" dirty="0" smtClean="0"/>
              <a:t>Bir </a:t>
            </a:r>
            <a:r>
              <a:rPr lang="tr-TR" dirty="0"/>
              <a:t>bağlantı oluşturulması hedef uç </a:t>
            </a:r>
            <a:r>
              <a:rPr lang="tr-TR" dirty="0" smtClean="0"/>
              <a:t>sistemin </a:t>
            </a:r>
            <a:r>
              <a:rPr lang="tr-TR" dirty="0" err="1" smtClean="0"/>
              <a:t>acknowledment</a:t>
            </a:r>
            <a:r>
              <a:rPr lang="tr-TR" dirty="0" smtClean="0"/>
              <a:t> </a:t>
            </a:r>
            <a:r>
              <a:rPr lang="tr-TR" dirty="0"/>
              <a:t>bilgisini kaynağa </a:t>
            </a:r>
            <a:r>
              <a:rPr lang="tr-TR" dirty="0" smtClean="0"/>
              <a:t>göndermesiyle tamamlanır.</a:t>
            </a:r>
          </a:p>
          <a:p>
            <a:r>
              <a:rPr lang="tr-TR" dirty="0" smtClean="0"/>
              <a:t>Bağlantı </a:t>
            </a:r>
            <a:r>
              <a:rPr lang="tr-TR" dirty="0"/>
              <a:t>oluşturulduktan sonra iki uç sistem arasında </a:t>
            </a:r>
            <a:r>
              <a:rPr lang="tr-TR" dirty="0" smtClean="0"/>
              <a:t>veri transferi başlatılır.</a:t>
            </a:r>
          </a:p>
          <a:p>
            <a:r>
              <a:rPr lang="tr-TR" dirty="0" smtClean="0"/>
              <a:t>İki </a:t>
            </a:r>
            <a:r>
              <a:rPr lang="tr-TR" dirty="0"/>
              <a:t>uç sistem bağlantıyı bitirmeye karar verdiğinde </a:t>
            </a:r>
            <a:r>
              <a:rPr lang="tr-TR" dirty="0" smtClean="0"/>
              <a:t>tüm </a:t>
            </a:r>
            <a:r>
              <a:rPr lang="tr-TR" dirty="0" err="1" smtClean="0"/>
              <a:t>switch’lere</a:t>
            </a:r>
            <a:r>
              <a:rPr lang="tr-TR" dirty="0" smtClean="0"/>
              <a:t> </a:t>
            </a:r>
            <a:r>
              <a:rPr lang="tr-TR" dirty="0"/>
              <a:t>sinyal gönderilerek ayrılmış/atanmış </a:t>
            </a:r>
            <a:r>
              <a:rPr lang="tr-TR" dirty="0" smtClean="0"/>
              <a:t>kaynaklar serbest </a:t>
            </a:r>
            <a:r>
              <a:rPr lang="tr-TR" dirty="0"/>
              <a:t>bırakılır.</a:t>
            </a:r>
          </a:p>
        </p:txBody>
      </p:sp>
    </p:spTree>
    <p:extLst>
      <p:ext uri="{BB962C8B-B14F-4D97-AF65-F5344CB8AC3E}">
        <p14:creationId xmlns:p14="http://schemas.microsoft.com/office/powerpoint/2010/main" val="2373539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Circuit‐switched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tr-TR" dirty="0" err="1" smtClean="0"/>
              <a:t>Circuit‐switched</a:t>
            </a:r>
            <a:r>
              <a:rPr lang="tr-TR" dirty="0" smtClean="0"/>
              <a:t> </a:t>
            </a:r>
            <a:r>
              <a:rPr lang="tr-TR" dirty="0"/>
              <a:t>ağlarda, iki </a:t>
            </a:r>
            <a:r>
              <a:rPr lang="tr-TR" dirty="0" smtClean="0"/>
              <a:t>uç arasında </a:t>
            </a:r>
            <a:r>
              <a:rPr lang="tr-TR" dirty="0"/>
              <a:t>tüm iletişim </a:t>
            </a:r>
            <a:r>
              <a:rPr lang="tr-TR" dirty="0" smtClean="0"/>
              <a:t>boyunca kaynak </a:t>
            </a:r>
            <a:r>
              <a:rPr lang="tr-TR" dirty="0"/>
              <a:t>ayrıldığından diğer </a:t>
            </a:r>
            <a:r>
              <a:rPr lang="tr-TR" dirty="0" smtClean="0"/>
              <a:t>ağlara göre </a:t>
            </a:r>
            <a:r>
              <a:rPr lang="tr-TR" b="1" dirty="0"/>
              <a:t>verimli </a:t>
            </a:r>
            <a:r>
              <a:rPr lang="tr-TR" b="1" dirty="0" smtClean="0"/>
              <a:t>değildir </a:t>
            </a:r>
            <a:r>
              <a:rPr lang="tr-TR" b="1" dirty="0" smtClean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pPr algn="just"/>
            <a:r>
              <a:rPr lang="it-IT" dirty="0" smtClean="0"/>
              <a:t>Veri </a:t>
            </a:r>
            <a:r>
              <a:rPr lang="it-IT" dirty="0"/>
              <a:t>transferi olmasa dahi, </a:t>
            </a:r>
            <a:r>
              <a:rPr lang="it-IT" dirty="0" smtClean="0"/>
              <a:t>ayrılan</a:t>
            </a:r>
            <a:r>
              <a:rPr lang="tr-TR" dirty="0" smtClean="0"/>
              <a:t> kaynaklar </a:t>
            </a:r>
            <a:r>
              <a:rPr lang="tr-TR" dirty="0"/>
              <a:t>diğer uç </a:t>
            </a:r>
            <a:r>
              <a:rPr lang="tr-TR" dirty="0" smtClean="0"/>
              <a:t>sistemler tarafından kullanılamazlar</a:t>
            </a:r>
            <a:r>
              <a:rPr lang="tr-TR" dirty="0" smtClean="0">
                <a:sym typeface="Wingdings" panose="05000000000000000000" pitchFamily="2" charset="2"/>
              </a:rPr>
              <a:t></a:t>
            </a:r>
            <a:endParaRPr lang="tr-TR" dirty="0"/>
          </a:p>
          <a:p>
            <a:pPr algn="just"/>
            <a:r>
              <a:rPr lang="tr-TR" dirty="0" err="1" smtClean="0"/>
              <a:t>Circuit‐switched</a:t>
            </a:r>
            <a:r>
              <a:rPr lang="tr-TR" dirty="0" smtClean="0"/>
              <a:t> </a:t>
            </a:r>
            <a:r>
              <a:rPr lang="tr-TR" dirty="0"/>
              <a:t>ağlarda </a:t>
            </a:r>
            <a:r>
              <a:rPr lang="tr-TR" b="1" dirty="0" smtClean="0"/>
              <a:t>gecikme </a:t>
            </a:r>
            <a:r>
              <a:rPr lang="tr-TR" dirty="0" smtClean="0"/>
              <a:t>diğer </a:t>
            </a:r>
            <a:r>
              <a:rPr lang="tr-TR" dirty="0"/>
              <a:t>ağlara göre çok </a:t>
            </a:r>
            <a:r>
              <a:rPr lang="tr-TR" b="1" dirty="0"/>
              <a:t>daha </a:t>
            </a:r>
            <a:r>
              <a:rPr lang="tr-TR" b="1" dirty="0" smtClean="0"/>
              <a:t>azdır </a:t>
            </a:r>
            <a:r>
              <a:rPr lang="tr-TR" b="1" dirty="0" smtClean="0">
                <a:sym typeface="Wingdings" panose="05000000000000000000" pitchFamily="2" charset="2"/>
              </a:rPr>
              <a:t></a:t>
            </a:r>
            <a:endParaRPr lang="tr-TR" dirty="0"/>
          </a:p>
          <a:p>
            <a:pPr algn="just"/>
            <a:r>
              <a:rPr lang="tr-TR" dirty="0" smtClean="0"/>
              <a:t>Hiçbir </a:t>
            </a:r>
            <a:r>
              <a:rPr lang="tr-TR" dirty="0" err="1"/>
              <a:t>switch’te</a:t>
            </a:r>
            <a:r>
              <a:rPr lang="tr-TR" dirty="0"/>
              <a:t> bekleme olmaz </a:t>
            </a:r>
            <a:r>
              <a:rPr lang="tr-TR" dirty="0" smtClean="0">
                <a:sym typeface="Wingdings" panose="05000000000000000000" pitchFamily="2" charset="2"/>
              </a:rPr>
              <a:t></a:t>
            </a:r>
            <a:endParaRPr lang="tr-TR" dirty="0" smtClean="0"/>
          </a:p>
          <a:p>
            <a:pPr algn="just"/>
            <a:r>
              <a:rPr lang="tr-TR" dirty="0" err="1" smtClean="0"/>
              <a:t>Setup</a:t>
            </a:r>
            <a:r>
              <a:rPr lang="tr-TR" dirty="0" smtClean="0"/>
              <a:t> </a:t>
            </a:r>
            <a:r>
              <a:rPr lang="tr-TR" dirty="0"/>
              <a:t>aşamasındaki </a:t>
            </a:r>
            <a:r>
              <a:rPr lang="tr-TR" dirty="0" smtClean="0"/>
              <a:t>toplam gecikme </a:t>
            </a:r>
            <a:r>
              <a:rPr lang="tr-TR" dirty="0"/>
              <a:t>kaynaktan hedefe </a:t>
            </a:r>
            <a:r>
              <a:rPr lang="tr-TR" dirty="0" smtClean="0"/>
              <a:t>istek için </a:t>
            </a:r>
            <a:r>
              <a:rPr lang="tr-TR" dirty="0"/>
              <a:t>yayılım gecikmesi ve </a:t>
            </a:r>
            <a:r>
              <a:rPr lang="tr-TR" dirty="0" smtClean="0"/>
              <a:t>hedeften kaynağa </a:t>
            </a:r>
            <a:r>
              <a:rPr lang="tr-TR" dirty="0" err="1"/>
              <a:t>ackowledgment</a:t>
            </a:r>
            <a:r>
              <a:rPr lang="tr-TR" dirty="0"/>
              <a:t> </a:t>
            </a:r>
            <a:r>
              <a:rPr lang="tr-TR" dirty="0" smtClean="0"/>
              <a:t>bilgisinin dönme </a:t>
            </a:r>
            <a:r>
              <a:rPr lang="tr-TR" dirty="0"/>
              <a:t>zamanıdır.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5763" y="2186609"/>
            <a:ext cx="6006237" cy="386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89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Datagram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534077"/>
            <a:ext cx="10515600" cy="4351338"/>
          </a:xfrm>
        </p:spPr>
        <p:txBody>
          <a:bodyPr>
            <a:normAutofit/>
          </a:bodyPr>
          <a:lstStyle/>
          <a:p>
            <a:r>
              <a:rPr lang="tr-TR" sz="2000" dirty="0" smtClean="0"/>
              <a:t>Bir </a:t>
            </a:r>
            <a:r>
              <a:rPr lang="tr-TR" sz="2000" dirty="0"/>
              <a:t>mesaj paket anahtarlamalı ağda gönderilirken sabit </a:t>
            </a:r>
            <a:r>
              <a:rPr lang="tr-TR" sz="2000" dirty="0" smtClean="0"/>
              <a:t>veya değişken </a:t>
            </a:r>
            <a:r>
              <a:rPr lang="tr-TR" sz="2000" dirty="0"/>
              <a:t>boyutlarda paketlere </a:t>
            </a:r>
            <a:r>
              <a:rPr lang="tr-TR" sz="2000" dirty="0" smtClean="0"/>
              <a:t>bölünür.</a:t>
            </a:r>
          </a:p>
          <a:p>
            <a:r>
              <a:rPr lang="tr-TR" sz="2000" dirty="0" smtClean="0"/>
              <a:t>Paket </a:t>
            </a:r>
            <a:r>
              <a:rPr lang="tr-TR" sz="2000" dirty="0"/>
              <a:t>anahtarlamada paketler için kaynak ayrılmaz. </a:t>
            </a:r>
            <a:r>
              <a:rPr lang="tr-TR" sz="2000" dirty="0" smtClean="0"/>
              <a:t>Paketler FIFO </a:t>
            </a:r>
            <a:r>
              <a:rPr lang="tr-TR" sz="2000" dirty="0"/>
              <a:t>yaklaşımıyla işleme alınırlar ve işlemlerde </a:t>
            </a:r>
            <a:r>
              <a:rPr lang="tr-TR" sz="2000" dirty="0" smtClean="0"/>
              <a:t>gecikme olur.</a:t>
            </a:r>
          </a:p>
          <a:p>
            <a:r>
              <a:rPr lang="tr-TR" sz="2000" dirty="0" err="1" smtClean="0"/>
              <a:t>Datagram</a:t>
            </a:r>
            <a:r>
              <a:rPr lang="tr-TR" sz="2000" dirty="0" smtClean="0"/>
              <a:t> </a:t>
            </a:r>
            <a:r>
              <a:rPr lang="tr-TR" sz="2000" dirty="0"/>
              <a:t>ağlarda her paket tek başına </a:t>
            </a:r>
            <a:r>
              <a:rPr lang="tr-TR" sz="2000" dirty="0" smtClean="0"/>
              <a:t>değerlendirilir.</a:t>
            </a:r>
          </a:p>
          <a:p>
            <a:r>
              <a:rPr lang="tr-TR" sz="2000" dirty="0" err="1" smtClean="0"/>
              <a:t>Datagram</a:t>
            </a:r>
            <a:r>
              <a:rPr lang="tr-TR" sz="2000" dirty="0" smtClean="0"/>
              <a:t> </a:t>
            </a:r>
            <a:r>
              <a:rPr lang="tr-TR" sz="2000" dirty="0"/>
              <a:t>anahtarlama </a:t>
            </a:r>
            <a:r>
              <a:rPr lang="tr-TR" sz="2000" b="1" dirty="0"/>
              <a:t>network </a:t>
            </a:r>
            <a:r>
              <a:rPr lang="tr-TR" sz="2000" b="1" dirty="0" err="1"/>
              <a:t>layer</a:t>
            </a:r>
            <a:r>
              <a:rPr lang="tr-TR" sz="2000" dirty="0" err="1"/>
              <a:t>’da</a:t>
            </a:r>
            <a:r>
              <a:rPr lang="tr-TR" sz="2000" dirty="0"/>
              <a:t> </a:t>
            </a:r>
            <a:r>
              <a:rPr lang="tr-TR" sz="2000" dirty="0" smtClean="0"/>
              <a:t>gerçekleştirilir.</a:t>
            </a:r>
          </a:p>
          <a:p>
            <a:r>
              <a:rPr lang="tr-TR" sz="2000" dirty="0" err="1" smtClean="0"/>
              <a:t>Datagram</a:t>
            </a:r>
            <a:r>
              <a:rPr lang="tr-TR" sz="2000" dirty="0" smtClean="0"/>
              <a:t> </a:t>
            </a:r>
            <a:r>
              <a:rPr lang="tr-TR" sz="2000" dirty="0"/>
              <a:t>ağlar </a:t>
            </a:r>
            <a:r>
              <a:rPr lang="tr-TR" sz="2000" b="1" i="1" dirty="0" err="1"/>
              <a:t>connectionless</a:t>
            </a:r>
            <a:r>
              <a:rPr lang="tr-TR" sz="2000" b="1" i="1" dirty="0"/>
              <a:t>/bağlantısız </a:t>
            </a:r>
            <a:r>
              <a:rPr lang="tr-TR" sz="2000" dirty="0"/>
              <a:t>ağlardır.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81" y="4147930"/>
            <a:ext cx="6848489" cy="271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575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Datagram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6331226" cy="4351338"/>
          </a:xfrm>
        </p:spPr>
        <p:txBody>
          <a:bodyPr>
            <a:normAutofit/>
          </a:bodyPr>
          <a:lstStyle/>
          <a:p>
            <a:r>
              <a:rPr lang="tr-TR" dirty="0" smtClean="0"/>
              <a:t>Her </a:t>
            </a:r>
            <a:r>
              <a:rPr lang="tr-TR" dirty="0" err="1"/>
              <a:t>switch</a:t>
            </a:r>
            <a:r>
              <a:rPr lang="tr-TR" dirty="0"/>
              <a:t> hedef </a:t>
            </a:r>
            <a:r>
              <a:rPr lang="tr-TR" dirty="0" smtClean="0"/>
              <a:t>adreslerden oluşan </a:t>
            </a:r>
            <a:r>
              <a:rPr lang="tr-TR" dirty="0"/>
              <a:t>bir yönlendirme </a:t>
            </a:r>
            <a:r>
              <a:rPr lang="tr-TR" dirty="0" smtClean="0"/>
              <a:t>tablosuna (</a:t>
            </a:r>
            <a:r>
              <a:rPr lang="tr-TR" dirty="0" err="1" smtClean="0"/>
              <a:t>routing</a:t>
            </a:r>
            <a:r>
              <a:rPr lang="tr-TR" dirty="0" smtClean="0"/>
              <a:t> </a:t>
            </a:r>
            <a:r>
              <a:rPr lang="tr-TR" dirty="0" err="1"/>
              <a:t>table</a:t>
            </a:r>
            <a:r>
              <a:rPr lang="tr-TR" dirty="0"/>
              <a:t>) </a:t>
            </a:r>
            <a:r>
              <a:rPr lang="tr-TR" dirty="0" smtClean="0"/>
              <a:t>sahiptir.</a:t>
            </a:r>
          </a:p>
          <a:p>
            <a:r>
              <a:rPr lang="tr-TR" dirty="0" smtClean="0"/>
              <a:t>Yönlendirme </a:t>
            </a:r>
            <a:r>
              <a:rPr lang="tr-TR" dirty="0"/>
              <a:t>tablosu </a:t>
            </a:r>
            <a:r>
              <a:rPr lang="tr-TR" dirty="0" smtClean="0"/>
              <a:t>dinamik olarak güncellenir.</a:t>
            </a:r>
          </a:p>
          <a:p>
            <a:r>
              <a:rPr lang="tr-TR" dirty="0" smtClean="0"/>
              <a:t>Her </a:t>
            </a:r>
            <a:r>
              <a:rPr lang="tr-TR" dirty="0"/>
              <a:t>paket </a:t>
            </a:r>
            <a:r>
              <a:rPr lang="tr-TR" dirty="0" err="1"/>
              <a:t>header</a:t>
            </a:r>
            <a:r>
              <a:rPr lang="tr-TR" dirty="0"/>
              <a:t> kısmında </a:t>
            </a:r>
            <a:r>
              <a:rPr lang="tr-TR" dirty="0" smtClean="0"/>
              <a:t>hedef adresi içerir.</a:t>
            </a:r>
          </a:p>
          <a:p>
            <a:r>
              <a:rPr lang="tr-TR" dirty="0" smtClean="0"/>
              <a:t>Bir </a:t>
            </a:r>
            <a:r>
              <a:rPr lang="tr-TR" dirty="0"/>
              <a:t>paket </a:t>
            </a:r>
            <a:r>
              <a:rPr lang="tr-TR" dirty="0" err="1"/>
              <a:t>switch’e</a:t>
            </a:r>
            <a:r>
              <a:rPr lang="tr-TR" dirty="0"/>
              <a:t> </a:t>
            </a:r>
            <a:r>
              <a:rPr lang="tr-TR" dirty="0" smtClean="0"/>
              <a:t>geldiğinde hedef </a:t>
            </a:r>
            <a:r>
              <a:rPr lang="tr-TR" dirty="0"/>
              <a:t>adres alınır ve </a:t>
            </a:r>
            <a:r>
              <a:rPr lang="tr-TR" dirty="0" smtClean="0"/>
              <a:t>yönlendirme tablosunda </a:t>
            </a:r>
            <a:r>
              <a:rPr lang="tr-TR" dirty="0"/>
              <a:t>kayıtlara bakılarak </a:t>
            </a:r>
            <a:r>
              <a:rPr lang="tr-TR" dirty="0" smtClean="0"/>
              <a:t>en uygun </a:t>
            </a:r>
            <a:r>
              <a:rPr lang="tr-TR" dirty="0"/>
              <a:t>yol seçilir.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017" y="1502913"/>
            <a:ext cx="3117783" cy="480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21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Datagram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322043"/>
            <a:ext cx="10515600" cy="4351338"/>
          </a:xfrm>
        </p:spPr>
        <p:txBody>
          <a:bodyPr>
            <a:normAutofit/>
          </a:bodyPr>
          <a:lstStyle/>
          <a:p>
            <a:r>
              <a:rPr lang="tr-TR" sz="2000" b="1" dirty="0" smtClean="0"/>
              <a:t>Verimlilik </a:t>
            </a:r>
            <a:r>
              <a:rPr lang="tr-TR" sz="2000" dirty="0" err="1"/>
              <a:t>virtual‐circuit</a:t>
            </a:r>
            <a:r>
              <a:rPr lang="tr-TR" sz="2000" dirty="0"/>
              <a:t> ağlara göre </a:t>
            </a:r>
            <a:r>
              <a:rPr lang="tr-TR" sz="2000" b="1" dirty="0"/>
              <a:t>daha iyidir</a:t>
            </a:r>
            <a:r>
              <a:rPr lang="tr-TR" sz="2000" b="1" dirty="0" smtClean="0"/>
              <a:t>.</a:t>
            </a:r>
          </a:p>
          <a:p>
            <a:r>
              <a:rPr lang="tr-TR" sz="2000" dirty="0" smtClean="0"/>
              <a:t> </a:t>
            </a:r>
            <a:r>
              <a:rPr lang="tr-TR" sz="2000" dirty="0" err="1"/>
              <a:t>Datagram</a:t>
            </a:r>
            <a:r>
              <a:rPr lang="tr-TR" sz="2000" dirty="0"/>
              <a:t> ağlarda </a:t>
            </a:r>
            <a:r>
              <a:rPr lang="tr-TR" sz="2000" b="1" dirty="0"/>
              <a:t>gecikme </a:t>
            </a:r>
            <a:r>
              <a:rPr lang="tr-TR" sz="2000" dirty="0" err="1"/>
              <a:t>virtual‐circuit</a:t>
            </a:r>
            <a:r>
              <a:rPr lang="tr-TR" sz="2000" dirty="0"/>
              <a:t> ağlara göre </a:t>
            </a:r>
            <a:r>
              <a:rPr lang="tr-TR" sz="2000" b="1" dirty="0"/>
              <a:t>çok </a:t>
            </a:r>
            <a:r>
              <a:rPr lang="tr-TR" sz="2000" b="1" dirty="0" smtClean="0"/>
              <a:t>fazladır</a:t>
            </a:r>
            <a:r>
              <a:rPr lang="tr-TR" sz="2000" dirty="0" smtClean="0"/>
              <a:t>.</a:t>
            </a:r>
          </a:p>
          <a:p>
            <a:r>
              <a:rPr lang="tr-TR" sz="2000" dirty="0" err="1" smtClean="0"/>
              <a:t>Setup</a:t>
            </a:r>
            <a:r>
              <a:rPr lang="tr-TR" sz="2000" dirty="0" smtClean="0"/>
              <a:t> </a:t>
            </a:r>
            <a:r>
              <a:rPr lang="tr-TR" sz="2000" dirty="0"/>
              <a:t>aşaması ve bağlantı sonlandırma aşaması </a:t>
            </a:r>
            <a:r>
              <a:rPr lang="tr-TR" sz="2000" dirty="0" smtClean="0"/>
              <a:t>olmamasına rağmen </a:t>
            </a:r>
            <a:r>
              <a:rPr lang="tr-TR" sz="2000" dirty="0"/>
              <a:t>her </a:t>
            </a:r>
            <a:r>
              <a:rPr lang="tr-TR" sz="2000" dirty="0" err="1"/>
              <a:t>switch</a:t>
            </a:r>
            <a:r>
              <a:rPr lang="tr-TR" sz="2000" dirty="0"/>
              <a:t> gelen paket üzerinde işlem yaptığından </a:t>
            </a:r>
            <a:r>
              <a:rPr lang="tr-TR" sz="2000" dirty="0" smtClean="0"/>
              <a:t>gecikme çok olur.</a:t>
            </a:r>
          </a:p>
          <a:p>
            <a:r>
              <a:rPr lang="fr-FR" sz="2000" dirty="0" err="1" smtClean="0"/>
              <a:t>Şekilde</a:t>
            </a:r>
            <a:r>
              <a:rPr lang="fr-FR" sz="2000" dirty="0" smtClean="0"/>
              <a:t> </a:t>
            </a:r>
            <a:r>
              <a:rPr lang="fr-FR" sz="2000" dirty="0"/>
              <a:t>3 </a:t>
            </a:r>
            <a:r>
              <a:rPr lang="fr-FR" sz="2000" dirty="0" err="1"/>
              <a:t>tane</a:t>
            </a:r>
            <a:r>
              <a:rPr lang="fr-FR" sz="2000" dirty="0"/>
              <a:t> transmission time (3T), 3 </a:t>
            </a:r>
            <a:r>
              <a:rPr lang="fr-FR" sz="2000" dirty="0" err="1"/>
              <a:t>tane</a:t>
            </a:r>
            <a:r>
              <a:rPr lang="fr-FR" sz="2000" dirty="0"/>
              <a:t> propagation </a:t>
            </a:r>
            <a:r>
              <a:rPr lang="fr-FR" sz="2000" dirty="0" err="1"/>
              <a:t>delay</a:t>
            </a:r>
            <a:r>
              <a:rPr lang="fr-FR" sz="2000" dirty="0"/>
              <a:t> (</a:t>
            </a:r>
            <a:r>
              <a:rPr lang="fr-FR" sz="2000" dirty="0" smtClean="0"/>
              <a:t>3τ)</a:t>
            </a:r>
            <a:r>
              <a:rPr lang="tr-TR" sz="2000" dirty="0" smtClean="0"/>
              <a:t> ve </a:t>
            </a:r>
            <a:r>
              <a:rPr lang="tr-TR" sz="2000" dirty="0"/>
              <a:t>2 tane bekleme süresi (w1+w2) vardır</a:t>
            </a:r>
            <a:r>
              <a:rPr lang="tr-TR" sz="2000" dirty="0" smtClean="0"/>
              <a:t>. </a:t>
            </a:r>
          </a:p>
          <a:p>
            <a:r>
              <a:rPr lang="pl-PL" sz="2000" dirty="0" smtClean="0"/>
              <a:t>Toplam </a:t>
            </a:r>
            <a:r>
              <a:rPr lang="pl-PL" sz="2000" dirty="0"/>
              <a:t>gecikme = 3T + 3τ + w1 + w2</a:t>
            </a:r>
            <a:endParaRPr lang="tr-TR" sz="2000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578" y="3936598"/>
            <a:ext cx="6814899" cy="292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0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Virtual‐</a:t>
            </a:r>
            <a:r>
              <a:rPr lang="tr-TR" dirty="0" err="1" smtClean="0"/>
              <a:t>circuit</a:t>
            </a:r>
            <a:r>
              <a:rPr lang="tr-TR" dirty="0" smtClean="0"/>
              <a:t> </a:t>
            </a:r>
            <a:r>
              <a:rPr lang="tr-TR" dirty="0"/>
              <a:t>ağlar, </a:t>
            </a:r>
            <a:r>
              <a:rPr lang="tr-TR" dirty="0" err="1"/>
              <a:t>datagram</a:t>
            </a:r>
            <a:r>
              <a:rPr lang="tr-TR" dirty="0"/>
              <a:t> ağlar ile </a:t>
            </a:r>
            <a:r>
              <a:rPr lang="tr-TR" dirty="0" err="1" smtClean="0"/>
              <a:t>circuit‐switched</a:t>
            </a:r>
            <a:r>
              <a:rPr lang="tr-TR" dirty="0" smtClean="0"/>
              <a:t> ağların </a:t>
            </a:r>
            <a:r>
              <a:rPr lang="tr-TR" dirty="0"/>
              <a:t>özelliklerine </a:t>
            </a:r>
            <a:r>
              <a:rPr lang="tr-TR" dirty="0" smtClean="0"/>
              <a:t>sahiptir.</a:t>
            </a:r>
          </a:p>
          <a:p>
            <a:r>
              <a:rPr lang="tr-TR" dirty="0" err="1" smtClean="0"/>
              <a:t>Circuit‐switched</a:t>
            </a:r>
            <a:r>
              <a:rPr lang="tr-TR" dirty="0" smtClean="0"/>
              <a:t> </a:t>
            </a:r>
            <a:r>
              <a:rPr lang="tr-TR" dirty="0"/>
              <a:t>ağlardaki gibi </a:t>
            </a:r>
            <a:r>
              <a:rPr lang="tr-TR" dirty="0" err="1"/>
              <a:t>setup</a:t>
            </a:r>
            <a:r>
              <a:rPr lang="tr-TR" dirty="0"/>
              <a:t> ve </a:t>
            </a:r>
            <a:r>
              <a:rPr lang="tr-TR" dirty="0" err="1"/>
              <a:t>teardown</a:t>
            </a:r>
            <a:r>
              <a:rPr lang="tr-TR" dirty="0"/>
              <a:t> </a:t>
            </a:r>
            <a:r>
              <a:rPr lang="tr-TR" dirty="0" smtClean="0"/>
              <a:t>aşamaları vardır.</a:t>
            </a:r>
          </a:p>
          <a:p>
            <a:r>
              <a:rPr lang="tr-TR" dirty="0" smtClean="0"/>
              <a:t>Kaynaklar </a:t>
            </a:r>
            <a:r>
              <a:rPr lang="tr-TR" dirty="0" err="1"/>
              <a:t>circuit‐switched</a:t>
            </a:r>
            <a:r>
              <a:rPr lang="tr-TR" dirty="0"/>
              <a:t> ağlardaki gibi </a:t>
            </a:r>
            <a:r>
              <a:rPr lang="tr-TR" dirty="0" err="1"/>
              <a:t>setup</a:t>
            </a:r>
            <a:r>
              <a:rPr lang="tr-TR" dirty="0"/>
              <a:t> </a:t>
            </a:r>
            <a:r>
              <a:rPr lang="tr-TR" dirty="0" smtClean="0"/>
              <a:t>aşamasında ayrılır </a:t>
            </a:r>
            <a:r>
              <a:rPr lang="tr-TR" dirty="0"/>
              <a:t>veya </a:t>
            </a:r>
            <a:r>
              <a:rPr lang="tr-TR" dirty="0" err="1"/>
              <a:t>datagram</a:t>
            </a:r>
            <a:r>
              <a:rPr lang="tr-TR" dirty="0"/>
              <a:t> ağlardaki gibi istek olduğunda </a:t>
            </a:r>
            <a:r>
              <a:rPr lang="tr-TR" dirty="0" smtClean="0"/>
              <a:t>ayrılır.</a:t>
            </a:r>
          </a:p>
          <a:p>
            <a:r>
              <a:rPr lang="tr-TR" dirty="0" err="1" smtClean="0"/>
              <a:t>Datagram</a:t>
            </a:r>
            <a:r>
              <a:rPr lang="tr-TR" dirty="0" smtClean="0"/>
              <a:t> </a:t>
            </a:r>
            <a:r>
              <a:rPr lang="tr-TR" dirty="0"/>
              <a:t>ağlardaki her paket adres bilgisi </a:t>
            </a:r>
            <a:r>
              <a:rPr lang="tr-TR" dirty="0" smtClean="0"/>
              <a:t>bulundurur ancak </a:t>
            </a:r>
            <a:r>
              <a:rPr lang="tr-TR" dirty="0"/>
              <a:t>adres bir sonraki </a:t>
            </a:r>
            <a:r>
              <a:rPr lang="tr-TR" dirty="0" err="1"/>
              <a:t>switch</a:t>
            </a:r>
            <a:r>
              <a:rPr lang="tr-TR" dirty="0"/>
              <a:t> ve kanalı </a:t>
            </a:r>
            <a:r>
              <a:rPr lang="tr-TR" dirty="0" smtClean="0"/>
              <a:t>belirler.</a:t>
            </a:r>
          </a:p>
          <a:p>
            <a:r>
              <a:rPr lang="tr-TR" dirty="0" err="1" smtClean="0"/>
              <a:t>Circuit‐switched</a:t>
            </a:r>
            <a:r>
              <a:rPr lang="tr-TR" dirty="0" smtClean="0"/>
              <a:t> </a:t>
            </a:r>
            <a:r>
              <a:rPr lang="tr-TR" dirty="0"/>
              <a:t>ağlardaki gibi tüm paketler </a:t>
            </a:r>
            <a:r>
              <a:rPr lang="tr-TR" dirty="0" err="1" smtClean="0"/>
              <a:t>setup</a:t>
            </a:r>
            <a:r>
              <a:rPr lang="tr-TR" dirty="0" smtClean="0"/>
              <a:t> aşamasında </a:t>
            </a:r>
            <a:r>
              <a:rPr lang="tr-TR" dirty="0"/>
              <a:t>belirlenen aynı yolu </a:t>
            </a:r>
            <a:r>
              <a:rPr lang="tr-TR" dirty="0" smtClean="0"/>
              <a:t>kullanır.</a:t>
            </a:r>
          </a:p>
          <a:p>
            <a:r>
              <a:rPr lang="tr-TR" dirty="0" smtClean="0"/>
              <a:t>Virtual‐</a:t>
            </a:r>
            <a:r>
              <a:rPr lang="tr-TR" dirty="0" err="1" smtClean="0"/>
              <a:t>circuit</a:t>
            </a:r>
            <a:r>
              <a:rPr lang="tr-TR" dirty="0" smtClean="0"/>
              <a:t> </a:t>
            </a:r>
            <a:r>
              <a:rPr lang="tr-TR" dirty="0"/>
              <a:t>ağ data link katmanında oluşturulur. </a:t>
            </a:r>
            <a:r>
              <a:rPr lang="tr-TR" dirty="0" err="1" smtClean="0"/>
              <a:t>Circuit</a:t>
            </a:r>
            <a:r>
              <a:rPr lang="tr-TR" dirty="0" smtClean="0"/>
              <a:t> </a:t>
            </a:r>
            <a:r>
              <a:rPr lang="tr-TR" dirty="0" err="1" smtClean="0"/>
              <a:t>switched</a:t>
            </a:r>
            <a:r>
              <a:rPr lang="tr-TR" dirty="0" smtClean="0"/>
              <a:t> </a:t>
            </a:r>
            <a:r>
              <a:rPr lang="tr-TR" dirty="0"/>
              <a:t>ağlar fiziksel katmanda ve </a:t>
            </a:r>
            <a:r>
              <a:rPr lang="tr-TR" dirty="0" err="1"/>
              <a:t>datagram</a:t>
            </a:r>
            <a:r>
              <a:rPr lang="tr-TR" dirty="0"/>
              <a:t> ağlar </a:t>
            </a:r>
            <a:r>
              <a:rPr lang="tr-TR" dirty="0" smtClean="0"/>
              <a:t>network katmanında </a:t>
            </a:r>
            <a:r>
              <a:rPr lang="tr-TR" dirty="0"/>
              <a:t>oluşturulur.</a:t>
            </a:r>
          </a:p>
        </p:txBody>
      </p:sp>
    </p:spTree>
    <p:extLst>
      <p:ext uri="{BB962C8B-B14F-4D97-AF65-F5344CB8AC3E}">
        <p14:creationId xmlns:p14="http://schemas.microsoft.com/office/powerpoint/2010/main" val="3880775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Şekilde </a:t>
            </a:r>
            <a:r>
              <a:rPr lang="tr-TR" dirty="0" err="1"/>
              <a:t>virtual‐switched</a:t>
            </a:r>
            <a:r>
              <a:rPr lang="tr-TR" dirty="0"/>
              <a:t> ağ </a:t>
            </a:r>
            <a:r>
              <a:rPr lang="tr-TR" dirty="0" smtClean="0"/>
              <a:t>görülmektedir.</a:t>
            </a:r>
          </a:p>
          <a:p>
            <a:r>
              <a:rPr lang="tr-TR" dirty="0" smtClean="0"/>
              <a:t>Kaynak </a:t>
            </a:r>
            <a:r>
              <a:rPr lang="tr-TR" dirty="0"/>
              <a:t>ve hedef arasındaki trafik </a:t>
            </a:r>
            <a:r>
              <a:rPr lang="tr-TR" dirty="0" err="1" smtClean="0"/>
              <a:t>switch’lerle</a:t>
            </a:r>
            <a:r>
              <a:rPr lang="tr-TR" dirty="0" smtClean="0"/>
              <a:t> yapılır</a:t>
            </a:r>
            <a:r>
              <a:rPr lang="tr-TR" dirty="0"/>
              <a:t>.</a:t>
            </a:r>
          </a:p>
          <a:p>
            <a:r>
              <a:rPr lang="tr-TR" dirty="0" smtClean="0"/>
              <a:t>Kaynak </a:t>
            </a:r>
            <a:r>
              <a:rPr lang="tr-TR" dirty="0"/>
              <a:t>ve hedef, bilgisayar, </a:t>
            </a:r>
            <a:r>
              <a:rPr lang="tr-TR" dirty="0" err="1"/>
              <a:t>switch</a:t>
            </a:r>
            <a:r>
              <a:rPr lang="tr-TR" dirty="0"/>
              <a:t>, </a:t>
            </a:r>
            <a:r>
              <a:rPr lang="tr-TR" dirty="0" err="1" smtClean="0"/>
              <a:t>bridge</a:t>
            </a:r>
            <a:r>
              <a:rPr lang="tr-TR" dirty="0" smtClean="0"/>
              <a:t> veya </a:t>
            </a:r>
            <a:r>
              <a:rPr lang="tr-TR" dirty="0"/>
              <a:t>diğer cihazlar olabilir.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457" y="3453350"/>
            <a:ext cx="6374685" cy="309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90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Adresleme</a:t>
            </a:r>
          </a:p>
          <a:p>
            <a:pPr lvl="1"/>
            <a:r>
              <a:rPr lang="tr-TR" dirty="0" smtClean="0"/>
              <a:t>Virtual‐</a:t>
            </a:r>
            <a:r>
              <a:rPr lang="tr-TR" dirty="0" err="1" smtClean="0"/>
              <a:t>circuit</a:t>
            </a:r>
            <a:r>
              <a:rPr lang="tr-TR" dirty="0" smtClean="0"/>
              <a:t> </a:t>
            </a:r>
            <a:r>
              <a:rPr lang="tr-TR" dirty="0"/>
              <a:t>ağlarda iki tür adresleme yapılır: global </a:t>
            </a:r>
            <a:r>
              <a:rPr lang="tr-TR" dirty="0" smtClean="0"/>
              <a:t>ve lokal.</a:t>
            </a:r>
          </a:p>
          <a:p>
            <a:pPr lvl="1"/>
            <a:r>
              <a:rPr lang="tr-TR" dirty="0" smtClean="0"/>
              <a:t>Global </a:t>
            </a:r>
            <a:r>
              <a:rPr lang="tr-TR" dirty="0"/>
              <a:t>adres, ağ içerisinde </a:t>
            </a:r>
            <a:r>
              <a:rPr lang="tr-TR" dirty="0" err="1"/>
              <a:t>unique</a:t>
            </a:r>
            <a:r>
              <a:rPr lang="tr-TR" dirty="0"/>
              <a:t> (tekil) bir adrestir. </a:t>
            </a:r>
            <a:r>
              <a:rPr lang="tr-TR" dirty="0" smtClean="0"/>
              <a:t>Global adres </a:t>
            </a:r>
            <a:r>
              <a:rPr lang="tr-TR" dirty="0" err="1"/>
              <a:t>virtual‐circuit</a:t>
            </a:r>
            <a:r>
              <a:rPr lang="tr-TR" dirty="0"/>
              <a:t> </a:t>
            </a:r>
            <a:r>
              <a:rPr lang="tr-TR" dirty="0" err="1"/>
              <a:t>identifier</a:t>
            </a:r>
            <a:r>
              <a:rPr lang="tr-TR" dirty="0"/>
              <a:t> (VCI) oluşturmak </a:t>
            </a:r>
            <a:r>
              <a:rPr lang="tr-TR" dirty="0" smtClean="0"/>
              <a:t>için kullanılır</a:t>
            </a:r>
            <a:r>
              <a:rPr lang="tr-TR" dirty="0"/>
              <a:t>.</a:t>
            </a:r>
          </a:p>
          <a:p>
            <a:pPr lvl="1"/>
            <a:r>
              <a:rPr lang="tr-TR" dirty="0" smtClean="0"/>
              <a:t>VCI</a:t>
            </a:r>
            <a:r>
              <a:rPr lang="tr-TR" dirty="0"/>
              <a:t>, global adresin tersine sadece </a:t>
            </a:r>
            <a:r>
              <a:rPr lang="tr-TR" dirty="0" err="1"/>
              <a:t>switch</a:t>
            </a:r>
            <a:r>
              <a:rPr lang="tr-TR" dirty="0"/>
              <a:t> ölçeğinde </a:t>
            </a:r>
            <a:r>
              <a:rPr lang="tr-TR" dirty="0" smtClean="0"/>
              <a:t>çalışır.</a:t>
            </a:r>
          </a:p>
          <a:p>
            <a:pPr lvl="1"/>
            <a:r>
              <a:rPr lang="tr-TR" dirty="0" smtClean="0"/>
              <a:t>Bir </a:t>
            </a:r>
            <a:r>
              <a:rPr lang="tr-TR" dirty="0" err="1"/>
              <a:t>frame</a:t>
            </a:r>
            <a:r>
              <a:rPr lang="tr-TR" dirty="0"/>
              <a:t>, bir </a:t>
            </a:r>
            <a:r>
              <a:rPr lang="tr-TR" dirty="0" err="1"/>
              <a:t>switch’e</a:t>
            </a:r>
            <a:r>
              <a:rPr lang="tr-TR" dirty="0"/>
              <a:t> gelirken bir </a:t>
            </a:r>
            <a:r>
              <a:rPr lang="tr-TR" dirty="0" err="1"/>
              <a:t>VCI’ya</a:t>
            </a:r>
            <a:r>
              <a:rPr lang="tr-TR" dirty="0"/>
              <a:t> sahiptir, </a:t>
            </a:r>
            <a:r>
              <a:rPr lang="tr-TR" dirty="0" smtClean="0"/>
              <a:t>çıkarken de </a:t>
            </a:r>
            <a:r>
              <a:rPr lang="tr-TR" dirty="0"/>
              <a:t>farklı bir </a:t>
            </a:r>
            <a:r>
              <a:rPr lang="tr-TR" dirty="0" err="1"/>
              <a:t>VCI’ye</a:t>
            </a:r>
            <a:r>
              <a:rPr lang="tr-TR" dirty="0"/>
              <a:t> sahiptir.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268" y="4493261"/>
            <a:ext cx="7252086" cy="226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902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Aşamalar</a:t>
            </a:r>
          </a:p>
          <a:p>
            <a:pPr lvl="1"/>
            <a:r>
              <a:rPr lang="tr-TR" dirty="0" smtClean="0"/>
              <a:t>Virtual‐</a:t>
            </a:r>
            <a:r>
              <a:rPr lang="tr-TR" dirty="0" err="1" smtClean="0"/>
              <a:t>circuit</a:t>
            </a:r>
            <a:r>
              <a:rPr lang="tr-TR" dirty="0" smtClean="0"/>
              <a:t> </a:t>
            </a:r>
            <a:r>
              <a:rPr lang="tr-TR" dirty="0"/>
              <a:t>ağlarda </a:t>
            </a:r>
            <a:r>
              <a:rPr lang="tr-TR" dirty="0" err="1"/>
              <a:t>setup</a:t>
            </a:r>
            <a:r>
              <a:rPr lang="tr-TR" dirty="0"/>
              <a:t>, data transfer </a:t>
            </a:r>
            <a:r>
              <a:rPr lang="tr-TR" dirty="0" smtClean="0"/>
              <a:t>ve </a:t>
            </a:r>
            <a:r>
              <a:rPr lang="tr-TR" dirty="0" err="1" smtClean="0"/>
              <a:t>teardown</a:t>
            </a:r>
            <a:r>
              <a:rPr lang="tr-TR" dirty="0" smtClean="0"/>
              <a:t> </a:t>
            </a:r>
            <a:r>
              <a:rPr lang="tr-TR" dirty="0"/>
              <a:t>aşamaları </a:t>
            </a:r>
            <a:r>
              <a:rPr lang="tr-TR" dirty="0" smtClean="0"/>
              <a:t>vardır.</a:t>
            </a:r>
          </a:p>
          <a:p>
            <a:pPr lvl="1"/>
            <a:r>
              <a:rPr lang="tr-TR" dirty="0" err="1" smtClean="0"/>
              <a:t>Setup</a:t>
            </a:r>
            <a:r>
              <a:rPr lang="tr-TR" dirty="0" smtClean="0"/>
              <a:t> </a:t>
            </a:r>
            <a:r>
              <a:rPr lang="tr-TR" dirty="0"/>
              <a:t>aşamasında, kaynak ve hedef </a:t>
            </a:r>
            <a:r>
              <a:rPr lang="tr-TR" dirty="0" smtClean="0"/>
              <a:t>arasındaki bağlantı </a:t>
            </a:r>
            <a:r>
              <a:rPr lang="tr-TR" dirty="0"/>
              <a:t>için global adresler kullanılarak </a:t>
            </a:r>
            <a:r>
              <a:rPr lang="tr-TR" dirty="0" err="1"/>
              <a:t>switch</a:t>
            </a:r>
            <a:r>
              <a:rPr lang="tr-TR" dirty="0"/>
              <a:t> </a:t>
            </a:r>
            <a:r>
              <a:rPr lang="tr-TR" dirty="0" smtClean="0"/>
              <a:t>tablosu oluşturulur.</a:t>
            </a:r>
          </a:p>
          <a:p>
            <a:pPr lvl="1"/>
            <a:r>
              <a:rPr lang="tr-TR" dirty="0" err="1" smtClean="0"/>
              <a:t>Teardown</a:t>
            </a:r>
            <a:r>
              <a:rPr lang="tr-TR" dirty="0" smtClean="0"/>
              <a:t> </a:t>
            </a:r>
            <a:r>
              <a:rPr lang="tr-TR" dirty="0"/>
              <a:t>aşamasında, kaynak ve hedef </a:t>
            </a:r>
            <a:r>
              <a:rPr lang="tr-TR" dirty="0" smtClean="0"/>
              <a:t>cihazlar </a:t>
            </a:r>
            <a:r>
              <a:rPr lang="tr-TR" dirty="0" err="1" smtClean="0"/>
              <a:t>switch’lere</a:t>
            </a:r>
            <a:r>
              <a:rPr lang="tr-TR" dirty="0" smtClean="0"/>
              <a:t> </a:t>
            </a:r>
            <a:r>
              <a:rPr lang="tr-TR" dirty="0"/>
              <a:t>kendi bağlantılarına ait bilgiyi </a:t>
            </a:r>
            <a:r>
              <a:rPr lang="tr-TR" dirty="0" smtClean="0"/>
              <a:t>silmesini bildirir.</a:t>
            </a:r>
          </a:p>
          <a:p>
            <a:pPr lvl="1"/>
            <a:r>
              <a:rPr lang="tr-TR" dirty="0" smtClean="0"/>
              <a:t>Data </a:t>
            </a:r>
            <a:r>
              <a:rPr lang="tr-TR" dirty="0"/>
              <a:t>transfer işlemi, tüm </a:t>
            </a:r>
            <a:r>
              <a:rPr lang="tr-TR" dirty="0" err="1"/>
              <a:t>switch’lerdeki</a:t>
            </a:r>
            <a:r>
              <a:rPr lang="tr-TR" dirty="0"/>
              <a:t> </a:t>
            </a:r>
            <a:r>
              <a:rPr lang="tr-TR" dirty="0" smtClean="0"/>
              <a:t>girişler kullanılarak </a:t>
            </a:r>
            <a:r>
              <a:rPr lang="tr-TR" dirty="0"/>
              <a:t>oluşturulan </a:t>
            </a:r>
            <a:r>
              <a:rPr lang="tr-TR" dirty="0" err="1"/>
              <a:t>virtual‐circuit</a:t>
            </a:r>
            <a:r>
              <a:rPr lang="tr-TR" dirty="0"/>
              <a:t> </a:t>
            </a:r>
            <a:r>
              <a:rPr lang="tr-TR" dirty="0" smtClean="0"/>
              <a:t>kullanılarak yapılır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8868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5"/>
            <a:ext cx="5191539" cy="4351338"/>
          </a:xfrm>
        </p:spPr>
        <p:txBody>
          <a:bodyPr>
            <a:normAutofit/>
          </a:bodyPr>
          <a:lstStyle/>
          <a:p>
            <a:r>
              <a:rPr lang="tr-TR" dirty="0" smtClean="0"/>
              <a:t>Her </a:t>
            </a:r>
            <a:r>
              <a:rPr lang="tr-TR" dirty="0" err="1"/>
              <a:t>switch</a:t>
            </a:r>
            <a:r>
              <a:rPr lang="tr-TR" dirty="0"/>
              <a:t> </a:t>
            </a:r>
            <a:r>
              <a:rPr lang="tr-TR" dirty="0" smtClean="0"/>
              <a:t>gelen </a:t>
            </a:r>
            <a:r>
              <a:rPr lang="tr-TR" dirty="0" err="1" smtClean="0"/>
              <a:t>frame’deki</a:t>
            </a:r>
            <a:r>
              <a:rPr lang="tr-TR" dirty="0" smtClean="0"/>
              <a:t> </a:t>
            </a:r>
            <a:r>
              <a:rPr lang="tr-TR" dirty="0"/>
              <a:t>VCI </a:t>
            </a:r>
            <a:r>
              <a:rPr lang="tr-TR" dirty="0" smtClean="0"/>
              <a:t>numarası ve </a:t>
            </a:r>
            <a:r>
              <a:rPr lang="tr-TR" dirty="0"/>
              <a:t>geldiği </a:t>
            </a:r>
            <a:r>
              <a:rPr lang="tr-TR" dirty="0" smtClean="0"/>
              <a:t>port numarasına </a:t>
            </a:r>
            <a:r>
              <a:rPr lang="tr-TR" dirty="0"/>
              <a:t>göre </a:t>
            </a:r>
            <a:r>
              <a:rPr lang="tr-TR" dirty="0" smtClean="0"/>
              <a:t>bir çıkış </a:t>
            </a:r>
            <a:r>
              <a:rPr lang="tr-TR" dirty="0"/>
              <a:t>portu ve çıkış </a:t>
            </a:r>
            <a:r>
              <a:rPr lang="tr-TR" dirty="0" smtClean="0"/>
              <a:t>için VCI belirler.</a:t>
            </a:r>
          </a:p>
          <a:p>
            <a:r>
              <a:rPr lang="tr-TR" dirty="0" smtClean="0"/>
              <a:t>Şekilde </a:t>
            </a:r>
            <a:r>
              <a:rPr lang="tr-TR" dirty="0"/>
              <a:t>bir </a:t>
            </a:r>
            <a:r>
              <a:rPr lang="tr-TR" dirty="0" err="1"/>
              <a:t>switch</a:t>
            </a:r>
            <a:r>
              <a:rPr lang="tr-TR" dirty="0"/>
              <a:t> </a:t>
            </a:r>
            <a:r>
              <a:rPr lang="tr-TR" dirty="0" smtClean="0"/>
              <a:t>için gelen </a:t>
            </a:r>
            <a:r>
              <a:rPr lang="tr-TR" dirty="0"/>
              <a:t>ve </a:t>
            </a:r>
            <a:r>
              <a:rPr lang="tr-TR" dirty="0" smtClean="0"/>
              <a:t>giden </a:t>
            </a:r>
            <a:r>
              <a:rPr lang="tr-TR" dirty="0" err="1" smtClean="0"/>
              <a:t>frame’lere</a:t>
            </a:r>
            <a:r>
              <a:rPr lang="tr-TR" dirty="0" smtClean="0"/>
              <a:t> </a:t>
            </a:r>
            <a:r>
              <a:rPr lang="tr-TR" dirty="0"/>
              <a:t>atanan </a:t>
            </a:r>
            <a:r>
              <a:rPr lang="tr-TR" dirty="0" smtClean="0"/>
              <a:t>port ve </a:t>
            </a:r>
            <a:r>
              <a:rPr lang="tr-TR" dirty="0"/>
              <a:t>VCI </a:t>
            </a:r>
            <a:r>
              <a:rPr lang="tr-TR" dirty="0" smtClean="0"/>
              <a:t>numaraları görülmektedir</a:t>
            </a:r>
            <a:r>
              <a:rPr lang="tr-TR" dirty="0"/>
              <a:t>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043" y="1555623"/>
            <a:ext cx="5324061" cy="415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06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Şekilde </a:t>
            </a:r>
            <a:r>
              <a:rPr lang="tr-TR" dirty="0" err="1"/>
              <a:t>frame’lerin</a:t>
            </a:r>
            <a:r>
              <a:rPr lang="tr-TR" dirty="0"/>
              <a:t> VCI değerlerinin </a:t>
            </a:r>
            <a:r>
              <a:rPr lang="tr-TR" dirty="0" smtClean="0"/>
              <a:t>değişimi görülmektedir</a:t>
            </a:r>
            <a:r>
              <a:rPr lang="tr-TR" dirty="0"/>
              <a:t>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406" y="2632191"/>
            <a:ext cx="6277147" cy="390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51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Setup</a:t>
            </a:r>
            <a:r>
              <a:rPr lang="tr-TR" dirty="0" smtClean="0"/>
              <a:t> </a:t>
            </a:r>
            <a:r>
              <a:rPr lang="tr-TR" dirty="0"/>
              <a:t>aşamasında, </a:t>
            </a:r>
            <a:r>
              <a:rPr lang="tr-TR" dirty="0" err="1"/>
              <a:t>switch</a:t>
            </a:r>
            <a:r>
              <a:rPr lang="tr-TR" dirty="0"/>
              <a:t> tarafından </a:t>
            </a:r>
            <a:r>
              <a:rPr lang="tr-TR" dirty="0" err="1"/>
              <a:t>virctual</a:t>
            </a:r>
            <a:r>
              <a:rPr lang="tr-TR" dirty="0"/>
              <a:t> </a:t>
            </a:r>
            <a:r>
              <a:rPr lang="tr-TR" dirty="0" err="1"/>
              <a:t>circuit</a:t>
            </a:r>
            <a:r>
              <a:rPr lang="tr-TR" dirty="0"/>
              <a:t> için </a:t>
            </a:r>
            <a:r>
              <a:rPr lang="tr-TR" dirty="0" smtClean="0"/>
              <a:t>bir giriş oluşturulur.</a:t>
            </a:r>
          </a:p>
          <a:p>
            <a:r>
              <a:rPr lang="tr-TR" dirty="0" smtClean="0"/>
              <a:t>Şekilde </a:t>
            </a:r>
            <a:r>
              <a:rPr lang="tr-TR" dirty="0"/>
              <a:t>Kaynak A </a:t>
            </a:r>
            <a:r>
              <a:rPr lang="tr-TR" dirty="0" err="1"/>
              <a:t>switch’e</a:t>
            </a:r>
            <a:r>
              <a:rPr lang="tr-TR" dirty="0"/>
              <a:t> </a:t>
            </a:r>
            <a:r>
              <a:rPr lang="tr-TR" dirty="0" err="1"/>
              <a:t>setup</a:t>
            </a:r>
            <a:r>
              <a:rPr lang="tr-TR" dirty="0"/>
              <a:t> </a:t>
            </a:r>
            <a:r>
              <a:rPr lang="tr-TR" dirty="0" err="1"/>
              <a:t>frame</a:t>
            </a:r>
            <a:r>
              <a:rPr lang="tr-TR" dirty="0"/>
              <a:t> </a:t>
            </a:r>
            <a:r>
              <a:rPr lang="tr-TR" dirty="0" smtClean="0"/>
              <a:t>gönderir.</a:t>
            </a:r>
          </a:p>
          <a:p>
            <a:r>
              <a:rPr lang="tr-TR" dirty="0" smtClean="0"/>
              <a:t>Virtual </a:t>
            </a:r>
            <a:r>
              <a:rPr lang="tr-TR" dirty="0" err="1"/>
              <a:t>circuit</a:t>
            </a:r>
            <a:r>
              <a:rPr lang="tr-TR" dirty="0"/>
              <a:t> oluşturulması </a:t>
            </a:r>
            <a:r>
              <a:rPr lang="tr-TR" dirty="0" err="1"/>
              <a:t>setup</a:t>
            </a:r>
            <a:r>
              <a:rPr lang="tr-TR" dirty="0"/>
              <a:t> isteği </a:t>
            </a:r>
            <a:r>
              <a:rPr lang="tr-TR" dirty="0" smtClean="0"/>
              <a:t>ve </a:t>
            </a:r>
            <a:r>
              <a:rPr lang="tr-TR" dirty="0" err="1" smtClean="0"/>
              <a:t>acknowledgment</a:t>
            </a:r>
            <a:r>
              <a:rPr lang="tr-TR" dirty="0" smtClean="0"/>
              <a:t> </a:t>
            </a:r>
            <a:r>
              <a:rPr lang="tr-TR" dirty="0"/>
              <a:t>olmak üzere 2 adımdan oluşur.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037" y="4123233"/>
            <a:ext cx="4796996" cy="253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35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err="1" smtClean="0"/>
              <a:t>Setup</a:t>
            </a:r>
            <a:r>
              <a:rPr lang="tr-TR" b="1" dirty="0" smtClean="0"/>
              <a:t> isteği</a:t>
            </a:r>
          </a:p>
          <a:p>
            <a:pPr lvl="1"/>
            <a:r>
              <a:rPr lang="tr-TR" dirty="0" smtClean="0"/>
              <a:t> </a:t>
            </a:r>
            <a:r>
              <a:rPr lang="tr-TR" dirty="0"/>
              <a:t>Switch 1 gelen </a:t>
            </a:r>
            <a:r>
              <a:rPr lang="tr-TR" dirty="0" err="1"/>
              <a:t>frame’in</a:t>
            </a:r>
            <a:r>
              <a:rPr lang="tr-TR" dirty="0"/>
              <a:t> A’dan B’ye gittiğini bilir ve </a:t>
            </a:r>
            <a:r>
              <a:rPr lang="tr-TR" dirty="0" smtClean="0"/>
              <a:t>uygun portu </a:t>
            </a:r>
            <a:r>
              <a:rPr lang="tr-TR" dirty="0"/>
              <a:t>seçer (paket anahtarlama</a:t>
            </a:r>
            <a:r>
              <a:rPr lang="tr-TR" dirty="0" smtClean="0"/>
              <a:t>).</a:t>
            </a:r>
          </a:p>
          <a:p>
            <a:pPr lvl="1"/>
            <a:r>
              <a:rPr lang="tr-TR" dirty="0" smtClean="0"/>
              <a:t>Switch </a:t>
            </a:r>
            <a:r>
              <a:rPr lang="tr-TR" dirty="0"/>
              <a:t>çıkış VCI değeri hariç diğer üç parametreyi </a:t>
            </a:r>
            <a:r>
              <a:rPr lang="tr-TR" dirty="0" smtClean="0"/>
              <a:t>belirler. Çıkış </a:t>
            </a:r>
            <a:r>
              <a:rPr lang="tr-TR" dirty="0"/>
              <a:t>VCI değeri </a:t>
            </a:r>
            <a:r>
              <a:rPr lang="tr-TR" dirty="0" err="1"/>
              <a:t>acknowledgment</a:t>
            </a:r>
            <a:r>
              <a:rPr lang="tr-TR" dirty="0"/>
              <a:t> bilgisi gelince </a:t>
            </a:r>
            <a:r>
              <a:rPr lang="tr-TR" dirty="0" smtClean="0"/>
              <a:t>belirlenir.</a:t>
            </a:r>
          </a:p>
          <a:p>
            <a:pPr lvl="1"/>
            <a:r>
              <a:rPr lang="tr-TR" dirty="0" smtClean="0"/>
              <a:t>Switch </a:t>
            </a:r>
            <a:r>
              <a:rPr lang="tr-TR" dirty="0"/>
              <a:t>gelen </a:t>
            </a:r>
            <a:r>
              <a:rPr lang="tr-TR" dirty="0" err="1"/>
              <a:t>frame’i</a:t>
            </a:r>
            <a:r>
              <a:rPr lang="tr-TR" dirty="0"/>
              <a:t> port 3 ile </a:t>
            </a:r>
            <a:r>
              <a:rPr lang="tr-TR" dirty="0" smtClean="0"/>
              <a:t>gönderir.</a:t>
            </a:r>
          </a:p>
          <a:p>
            <a:pPr lvl="1"/>
            <a:r>
              <a:rPr lang="tr-TR" dirty="0" smtClean="0"/>
              <a:t>Switch </a:t>
            </a:r>
            <a:r>
              <a:rPr lang="tr-TR" dirty="0"/>
              <a:t>2 gelen </a:t>
            </a:r>
            <a:r>
              <a:rPr lang="tr-TR" dirty="0" err="1"/>
              <a:t>setup</a:t>
            </a:r>
            <a:r>
              <a:rPr lang="tr-TR" dirty="0"/>
              <a:t> </a:t>
            </a:r>
            <a:r>
              <a:rPr lang="tr-TR" dirty="0" err="1"/>
              <a:t>frame’ini</a:t>
            </a:r>
            <a:r>
              <a:rPr lang="tr-TR" dirty="0"/>
              <a:t> alır ve port 2 ile </a:t>
            </a:r>
            <a:r>
              <a:rPr lang="tr-TR" dirty="0" smtClean="0"/>
              <a:t>gönderir. Çıkış </a:t>
            </a:r>
            <a:r>
              <a:rPr lang="tr-TR" dirty="0"/>
              <a:t>VCI numarası hariç diğer 3 parametre </a:t>
            </a:r>
            <a:r>
              <a:rPr lang="tr-TR" dirty="0" smtClean="0"/>
              <a:t>belirlenir.</a:t>
            </a:r>
          </a:p>
          <a:p>
            <a:pPr lvl="1"/>
            <a:r>
              <a:rPr lang="tr-TR" dirty="0" smtClean="0"/>
              <a:t>Switch </a:t>
            </a:r>
            <a:r>
              <a:rPr lang="tr-TR" dirty="0"/>
              <a:t>3 yine çıkış VCI hariç diğer 3 parametreyi belirler </a:t>
            </a:r>
            <a:r>
              <a:rPr lang="tr-TR" dirty="0" smtClean="0"/>
              <a:t>ve paketi </a:t>
            </a:r>
            <a:r>
              <a:rPr lang="tr-TR" dirty="0"/>
              <a:t>B hedefine gönderir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Hedef </a:t>
            </a:r>
            <a:r>
              <a:rPr lang="tr-TR" dirty="0"/>
              <a:t>B, A’dan </a:t>
            </a:r>
            <a:r>
              <a:rPr lang="tr-TR" dirty="0" err="1"/>
              <a:t>frame</a:t>
            </a:r>
            <a:r>
              <a:rPr lang="tr-TR" dirty="0"/>
              <a:t> almaya uygunsa gelen </a:t>
            </a:r>
            <a:r>
              <a:rPr lang="tr-TR" dirty="0" err="1"/>
              <a:t>frame’e</a:t>
            </a:r>
            <a:r>
              <a:rPr lang="tr-TR" dirty="0"/>
              <a:t> </a:t>
            </a:r>
            <a:r>
              <a:rPr lang="tr-TR" dirty="0" smtClean="0"/>
              <a:t>VCI değeri </a:t>
            </a:r>
            <a:r>
              <a:rPr lang="tr-TR" dirty="0"/>
              <a:t>atar (77</a:t>
            </a:r>
            <a:r>
              <a:rPr lang="tr-TR" dirty="0" smtClean="0"/>
              <a:t>).</a:t>
            </a:r>
          </a:p>
          <a:p>
            <a:pPr lvl="1"/>
            <a:r>
              <a:rPr lang="tr-TR" dirty="0" smtClean="0"/>
              <a:t>Hedef </a:t>
            </a:r>
            <a:r>
              <a:rPr lang="tr-TR" dirty="0"/>
              <a:t>B tarafında atanan VCI değeri gelen </a:t>
            </a:r>
            <a:r>
              <a:rPr lang="tr-TR" dirty="0" err="1"/>
              <a:t>frame’in</a:t>
            </a:r>
            <a:r>
              <a:rPr lang="tr-TR" dirty="0"/>
              <a:t> </a:t>
            </a:r>
            <a:r>
              <a:rPr lang="tr-TR" dirty="0" smtClean="0"/>
              <a:t>A’dan geldiğini </a:t>
            </a:r>
            <a:r>
              <a:rPr lang="tr-TR" dirty="0"/>
              <a:t>belirler. Her kaynak için farklı bir VCI değeri atanır.</a:t>
            </a:r>
          </a:p>
        </p:txBody>
      </p:sp>
    </p:spTree>
    <p:extLst>
      <p:ext uri="{BB962C8B-B14F-4D97-AF65-F5344CB8AC3E}">
        <p14:creationId xmlns:p14="http://schemas.microsoft.com/office/powerpoint/2010/main" val="482453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/>
              <a:t>Acknowledgment</a:t>
            </a:r>
            <a:endParaRPr lang="tr-TR" b="1" dirty="0" smtClean="0"/>
          </a:p>
          <a:p>
            <a:pPr lvl="1"/>
            <a:r>
              <a:rPr lang="en-US" dirty="0" smtClean="0"/>
              <a:t>Acknowledgment </a:t>
            </a:r>
            <a:r>
              <a:rPr lang="en-US" dirty="0"/>
              <a:t>(ACK) frame switch </a:t>
            </a:r>
            <a:r>
              <a:rPr lang="en-US" dirty="0" err="1" smtClean="0"/>
              <a:t>tablolarındaki</a:t>
            </a:r>
            <a:r>
              <a:rPr lang="tr-TR" dirty="0" smtClean="0"/>
              <a:t> çıkış </a:t>
            </a:r>
            <a:r>
              <a:rPr lang="tr-TR" dirty="0" err="1"/>
              <a:t>VCI’yi</a:t>
            </a:r>
            <a:r>
              <a:rPr lang="tr-TR" dirty="0"/>
              <a:t> </a:t>
            </a:r>
            <a:r>
              <a:rPr lang="tr-TR" dirty="0" smtClean="0"/>
              <a:t>tamamlar.</a:t>
            </a:r>
          </a:p>
          <a:p>
            <a:pPr lvl="1"/>
            <a:r>
              <a:rPr lang="tr-TR" dirty="0" smtClean="0"/>
              <a:t>Hedef </a:t>
            </a:r>
            <a:r>
              <a:rPr lang="tr-TR" dirty="0" err="1"/>
              <a:t>switch</a:t>
            </a:r>
            <a:r>
              <a:rPr lang="tr-TR" dirty="0"/>
              <a:t> 3’e ACK </a:t>
            </a:r>
            <a:r>
              <a:rPr lang="tr-TR" dirty="0" err="1"/>
              <a:t>frame</a:t>
            </a:r>
            <a:r>
              <a:rPr lang="tr-TR" dirty="0"/>
              <a:t> gönderir. ACK </a:t>
            </a:r>
            <a:r>
              <a:rPr lang="tr-TR" dirty="0" smtClean="0"/>
              <a:t>global kaynak </a:t>
            </a:r>
            <a:r>
              <a:rPr lang="tr-TR" dirty="0"/>
              <a:t>ve hedef adresini tutar. </a:t>
            </a:r>
            <a:r>
              <a:rPr lang="tr-TR" dirty="0" err="1"/>
              <a:t>Frame</a:t>
            </a:r>
            <a:r>
              <a:rPr lang="tr-TR" dirty="0"/>
              <a:t> aynı </a:t>
            </a:r>
            <a:r>
              <a:rPr lang="tr-TR" dirty="0" smtClean="0"/>
              <a:t>zamanda VCI </a:t>
            </a:r>
            <a:r>
              <a:rPr lang="tr-TR" dirty="0"/>
              <a:t>77 değerini de taşır.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506" y="3518919"/>
            <a:ext cx="6213910" cy="321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22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b="1" dirty="0" err="1" smtClean="0"/>
              <a:t>Acknowledgment</a:t>
            </a:r>
            <a:r>
              <a:rPr lang="tr-TR" b="1" dirty="0" smtClean="0"/>
              <a:t> </a:t>
            </a:r>
            <a:r>
              <a:rPr lang="tr-TR" b="1" dirty="0"/>
              <a:t>‐ </a:t>
            </a:r>
            <a:r>
              <a:rPr lang="tr-TR" b="1" dirty="0" smtClean="0"/>
              <a:t>devam</a:t>
            </a:r>
          </a:p>
          <a:p>
            <a:pPr lvl="1"/>
            <a:r>
              <a:rPr lang="en-US" dirty="0" smtClean="0"/>
              <a:t>Switch </a:t>
            </a:r>
            <a:r>
              <a:rPr lang="en-US" dirty="0"/>
              <a:t>3, ACK </a:t>
            </a:r>
            <a:r>
              <a:rPr lang="en-US" dirty="0" err="1"/>
              <a:t>frame’i</a:t>
            </a:r>
            <a:r>
              <a:rPr lang="en-US" dirty="0"/>
              <a:t> switch 2’ye </a:t>
            </a:r>
            <a:r>
              <a:rPr lang="en-US" dirty="0" err="1"/>
              <a:t>gönderir</a:t>
            </a:r>
            <a:r>
              <a:rPr lang="en-US" dirty="0"/>
              <a:t>. ACK frame switch </a:t>
            </a:r>
            <a:r>
              <a:rPr lang="en-US" dirty="0" smtClean="0"/>
              <a:t>3</a:t>
            </a:r>
            <a:r>
              <a:rPr lang="tr-TR" dirty="0" smtClean="0"/>
              <a:t> giriş </a:t>
            </a:r>
            <a:r>
              <a:rPr lang="tr-TR" dirty="0"/>
              <a:t>VCI </a:t>
            </a:r>
            <a:r>
              <a:rPr lang="tr-TR" dirty="0" err="1"/>
              <a:t>değerinide</a:t>
            </a:r>
            <a:r>
              <a:rPr lang="tr-TR" dirty="0"/>
              <a:t> gönderir</a:t>
            </a:r>
            <a:r>
              <a:rPr lang="tr-TR" dirty="0" smtClean="0"/>
              <a:t>.</a:t>
            </a:r>
          </a:p>
          <a:p>
            <a:pPr lvl="1"/>
            <a:r>
              <a:rPr lang="tr-TR" dirty="0" smtClean="0"/>
              <a:t>Switch </a:t>
            </a:r>
            <a:r>
              <a:rPr lang="tr-TR" dirty="0"/>
              <a:t>2 çıkış VCI değerine </a:t>
            </a:r>
            <a:r>
              <a:rPr lang="tr-TR" dirty="0" err="1"/>
              <a:t>switch</a:t>
            </a:r>
            <a:r>
              <a:rPr lang="tr-TR" dirty="0"/>
              <a:t> 2’nin giriş VCI değerini </a:t>
            </a:r>
            <a:r>
              <a:rPr lang="tr-TR" dirty="0" smtClean="0"/>
              <a:t>atar.	</a:t>
            </a:r>
          </a:p>
          <a:p>
            <a:pPr lvl="1"/>
            <a:r>
              <a:rPr lang="tr-TR" dirty="0" smtClean="0"/>
              <a:t>Aynı </a:t>
            </a:r>
            <a:r>
              <a:rPr lang="tr-TR" dirty="0"/>
              <a:t>işlem </a:t>
            </a:r>
            <a:r>
              <a:rPr lang="tr-TR" dirty="0" err="1"/>
              <a:t>switch</a:t>
            </a:r>
            <a:r>
              <a:rPr lang="tr-TR" dirty="0"/>
              <a:t> 1 içinde gerçekleştirilir. Switch 1, </a:t>
            </a:r>
            <a:r>
              <a:rPr lang="tr-TR" dirty="0" err="1"/>
              <a:t>switch</a:t>
            </a:r>
            <a:r>
              <a:rPr lang="tr-TR" dirty="0"/>
              <a:t> </a:t>
            </a:r>
            <a:r>
              <a:rPr lang="tr-TR" dirty="0" smtClean="0"/>
              <a:t>2’nin giriş </a:t>
            </a:r>
            <a:r>
              <a:rPr lang="tr-TR" dirty="0"/>
              <a:t>VCI değerini kendisinin çıkış VCI değeri </a:t>
            </a:r>
            <a:r>
              <a:rPr lang="tr-TR" dirty="0" smtClean="0"/>
              <a:t>yapar.</a:t>
            </a:r>
          </a:p>
          <a:p>
            <a:pPr lvl="1"/>
            <a:r>
              <a:rPr lang="tr-TR" dirty="0" smtClean="0"/>
              <a:t>Son </a:t>
            </a:r>
            <a:r>
              <a:rPr lang="tr-TR" dirty="0"/>
              <a:t>olarak </a:t>
            </a:r>
            <a:r>
              <a:rPr lang="tr-TR" dirty="0" err="1"/>
              <a:t>switch</a:t>
            </a:r>
            <a:r>
              <a:rPr lang="tr-TR" dirty="0"/>
              <a:t> 1 giriş VCI değerini kaynak A’ya </a:t>
            </a:r>
            <a:r>
              <a:rPr lang="tr-TR" dirty="0" smtClean="0"/>
              <a:t>gönderir.</a:t>
            </a:r>
          </a:p>
          <a:p>
            <a:pPr lvl="1"/>
            <a:r>
              <a:rPr lang="tr-TR" dirty="0" smtClean="0"/>
              <a:t>Kaynak </a:t>
            </a:r>
            <a:r>
              <a:rPr lang="tr-TR" dirty="0"/>
              <a:t>A </a:t>
            </a:r>
            <a:r>
              <a:rPr lang="tr-TR" dirty="0" err="1"/>
              <a:t>frame</a:t>
            </a:r>
            <a:r>
              <a:rPr lang="tr-TR" dirty="0"/>
              <a:t> göndermek için kullanacağı VCI değeri </a:t>
            </a:r>
            <a:r>
              <a:rPr lang="tr-TR" dirty="0" smtClean="0"/>
              <a:t>olarak </a:t>
            </a:r>
            <a:r>
              <a:rPr lang="tr-TR" dirty="0" err="1" smtClean="0"/>
              <a:t>switch</a:t>
            </a:r>
            <a:r>
              <a:rPr lang="tr-TR" dirty="0" smtClean="0"/>
              <a:t> </a:t>
            </a:r>
            <a:r>
              <a:rPr lang="tr-TR" dirty="0"/>
              <a:t>1 giriş VCI değerini </a:t>
            </a:r>
            <a:r>
              <a:rPr lang="tr-TR" dirty="0" smtClean="0"/>
              <a:t>atar.</a:t>
            </a:r>
          </a:p>
          <a:p>
            <a:r>
              <a:rPr lang="tr-TR" b="1" dirty="0" err="1" smtClean="0"/>
              <a:t>Teardown</a:t>
            </a:r>
            <a:endParaRPr lang="tr-TR" b="1" dirty="0" smtClean="0"/>
          </a:p>
          <a:p>
            <a:pPr lvl="1"/>
            <a:r>
              <a:rPr lang="tr-TR" dirty="0" err="1" smtClean="0"/>
              <a:t>Teardown</a:t>
            </a:r>
            <a:r>
              <a:rPr lang="tr-TR" dirty="0" smtClean="0"/>
              <a:t> </a:t>
            </a:r>
            <a:r>
              <a:rPr lang="tr-TR" dirty="0"/>
              <a:t>aşamasında kaynak hedefe </a:t>
            </a:r>
            <a:r>
              <a:rPr lang="tr-TR" dirty="0" err="1"/>
              <a:t>teardown</a:t>
            </a:r>
            <a:r>
              <a:rPr lang="tr-TR" dirty="0"/>
              <a:t> istek </a:t>
            </a:r>
            <a:r>
              <a:rPr lang="tr-TR" dirty="0" err="1" smtClean="0"/>
              <a:t>frame’i</a:t>
            </a:r>
            <a:r>
              <a:rPr lang="tr-TR" dirty="0" smtClean="0"/>
              <a:t> </a:t>
            </a:r>
            <a:r>
              <a:rPr lang="es-ES" dirty="0" smtClean="0"/>
              <a:t>gönderir</a:t>
            </a:r>
            <a:r>
              <a:rPr lang="es-ES" dirty="0"/>
              <a:t>. Hedef onay mesajı ile cevapladıktan sonra </a:t>
            </a:r>
            <a:r>
              <a:rPr lang="es-ES" dirty="0" smtClean="0"/>
              <a:t>bağlantı</a:t>
            </a:r>
            <a:r>
              <a:rPr lang="tr-TR" dirty="0" smtClean="0"/>
              <a:t> kesilir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6517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Virtual‐</a:t>
            </a:r>
            <a:r>
              <a:rPr lang="tr-TR" dirty="0" err="1"/>
              <a:t>circuit</a:t>
            </a:r>
            <a:r>
              <a:rPr lang="tr-TR" dirty="0"/>
              <a:t> ağlar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000" b="1" dirty="0" smtClean="0"/>
              <a:t>Etkinlik</a:t>
            </a:r>
          </a:p>
          <a:p>
            <a:pPr lvl="1"/>
            <a:r>
              <a:rPr lang="tr-TR" sz="1800" dirty="0" smtClean="0"/>
              <a:t>Virtual‐</a:t>
            </a:r>
            <a:r>
              <a:rPr lang="tr-TR" sz="1800" dirty="0" err="1" smtClean="0"/>
              <a:t>circuit</a:t>
            </a:r>
            <a:r>
              <a:rPr lang="tr-TR" sz="1800" dirty="0" smtClean="0"/>
              <a:t> </a:t>
            </a:r>
            <a:r>
              <a:rPr lang="tr-TR" sz="1800" dirty="0"/>
              <a:t>ağlarda kaynak ayırma başlangıçta (</a:t>
            </a:r>
            <a:r>
              <a:rPr lang="tr-TR" sz="1800" dirty="0" err="1"/>
              <a:t>setup</a:t>
            </a:r>
            <a:r>
              <a:rPr lang="tr-TR" sz="1800" dirty="0"/>
              <a:t>) </a:t>
            </a:r>
            <a:r>
              <a:rPr lang="tr-TR" sz="1800" dirty="0" smtClean="0"/>
              <a:t>ve gerektiğinde </a:t>
            </a:r>
            <a:r>
              <a:rPr lang="tr-TR" sz="1800" dirty="0"/>
              <a:t>(</a:t>
            </a:r>
            <a:r>
              <a:rPr lang="tr-TR" sz="1800" dirty="0" err="1"/>
              <a:t>demand</a:t>
            </a:r>
            <a:r>
              <a:rPr lang="tr-TR" sz="1800" dirty="0"/>
              <a:t>) olmaktadır. Birinci durumda her paket </a:t>
            </a:r>
            <a:r>
              <a:rPr lang="tr-TR" sz="1800" dirty="0" smtClean="0"/>
              <a:t>için gecikme </a:t>
            </a:r>
            <a:r>
              <a:rPr lang="tr-TR" sz="1800" dirty="0"/>
              <a:t>aynıdır, ikinci durumda her paket için gecikme </a:t>
            </a:r>
            <a:r>
              <a:rPr lang="tr-TR" sz="1800" dirty="0" smtClean="0"/>
              <a:t>farklıdır.</a:t>
            </a:r>
          </a:p>
          <a:p>
            <a:r>
              <a:rPr lang="tr-TR" sz="2000" b="1" dirty="0" err="1" smtClean="0"/>
              <a:t>Delay</a:t>
            </a:r>
            <a:endParaRPr lang="tr-TR" sz="2000" b="1" dirty="0" smtClean="0"/>
          </a:p>
          <a:p>
            <a:pPr lvl="1"/>
            <a:r>
              <a:rPr lang="tr-TR" sz="1800" dirty="0" smtClean="0"/>
              <a:t>Virtual‐</a:t>
            </a:r>
            <a:r>
              <a:rPr lang="tr-TR" sz="1800" dirty="0" err="1" smtClean="0"/>
              <a:t>circuit</a:t>
            </a:r>
            <a:r>
              <a:rPr lang="tr-TR" sz="1800" dirty="0" smtClean="0"/>
              <a:t> </a:t>
            </a:r>
            <a:r>
              <a:rPr lang="tr-TR" sz="1800" dirty="0"/>
              <a:t>ağlarda </a:t>
            </a:r>
            <a:r>
              <a:rPr lang="tr-TR" sz="1800" dirty="0" err="1"/>
              <a:t>setup</a:t>
            </a:r>
            <a:r>
              <a:rPr lang="tr-TR" sz="1800" dirty="0"/>
              <a:t> ve </a:t>
            </a:r>
            <a:r>
              <a:rPr lang="tr-TR" sz="1800" dirty="0" err="1"/>
              <a:t>teardown</a:t>
            </a:r>
            <a:r>
              <a:rPr lang="tr-TR" sz="1800" dirty="0"/>
              <a:t> için birer zaman </a:t>
            </a:r>
            <a:r>
              <a:rPr lang="tr-TR" sz="1800" dirty="0" smtClean="0"/>
              <a:t>aralığı harcanır.</a:t>
            </a:r>
          </a:p>
          <a:p>
            <a:pPr lvl="1"/>
            <a:r>
              <a:rPr lang="tr-TR" sz="1800" dirty="0" smtClean="0"/>
              <a:t>Kaynaklar </a:t>
            </a:r>
            <a:r>
              <a:rPr lang="tr-TR" sz="1800" dirty="0" err="1"/>
              <a:t>setup</a:t>
            </a:r>
            <a:r>
              <a:rPr lang="tr-TR" sz="1800" dirty="0"/>
              <a:t> aşamasında ayrılmışsa her paket için bekleme </a:t>
            </a:r>
            <a:r>
              <a:rPr lang="tr-TR" sz="1800" dirty="0" smtClean="0"/>
              <a:t>olmaz.</a:t>
            </a:r>
          </a:p>
          <a:p>
            <a:pPr lvl="1"/>
            <a:r>
              <a:rPr lang="tr-TR" sz="1800" dirty="0" smtClean="0"/>
              <a:t>Şekilde </a:t>
            </a:r>
            <a:r>
              <a:rPr lang="tr-TR" sz="1800" dirty="0"/>
              <a:t>3, </a:t>
            </a:r>
            <a:r>
              <a:rPr lang="tr-TR" sz="1800" dirty="0" err="1"/>
              <a:t>transmission</a:t>
            </a:r>
            <a:r>
              <a:rPr lang="tr-TR" sz="1800" dirty="0"/>
              <a:t> time (3T), 3 </a:t>
            </a:r>
            <a:r>
              <a:rPr lang="tr-TR" sz="1800" dirty="0" err="1"/>
              <a:t>propagation</a:t>
            </a:r>
            <a:r>
              <a:rPr lang="tr-TR" sz="1800" dirty="0"/>
              <a:t> time (3</a:t>
            </a:r>
            <a:r>
              <a:rPr lang="el-GR" sz="1800" dirty="0"/>
              <a:t>τ) </a:t>
            </a:r>
            <a:r>
              <a:rPr lang="tr-TR" sz="1800" dirty="0"/>
              <a:t>ve </a:t>
            </a:r>
            <a:r>
              <a:rPr lang="tr-TR" sz="1800" dirty="0" smtClean="0"/>
              <a:t>data transfer </a:t>
            </a:r>
            <a:r>
              <a:rPr lang="tr-TR" sz="1800" dirty="0"/>
              <a:t>time.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544" y="4368085"/>
            <a:ext cx="7927166" cy="2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4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Switch yapısı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Circuit‐switched</a:t>
            </a:r>
            <a:r>
              <a:rPr lang="tr-TR" dirty="0" smtClean="0"/>
              <a:t> </a:t>
            </a:r>
            <a:r>
              <a:rPr lang="tr-TR" dirty="0"/>
              <a:t>ve </a:t>
            </a:r>
            <a:r>
              <a:rPr lang="tr-TR" dirty="0" err="1"/>
              <a:t>packet‐switched</a:t>
            </a:r>
            <a:r>
              <a:rPr lang="tr-TR" dirty="0"/>
              <a:t> </a:t>
            </a:r>
            <a:r>
              <a:rPr lang="tr-TR" dirty="0" smtClean="0"/>
              <a:t>ağlarda </a:t>
            </a:r>
            <a:r>
              <a:rPr lang="tr-TR" dirty="0" err="1" smtClean="0"/>
              <a:t>switch’ler</a:t>
            </a:r>
            <a:r>
              <a:rPr lang="tr-TR" dirty="0" smtClean="0"/>
              <a:t> kullanılır.</a:t>
            </a:r>
          </a:p>
          <a:p>
            <a:r>
              <a:rPr lang="tr-TR" dirty="0" err="1" smtClean="0"/>
              <a:t>Circuit‐switched</a:t>
            </a:r>
            <a:r>
              <a:rPr lang="tr-TR" dirty="0" smtClean="0"/>
              <a:t>/Devre </a:t>
            </a:r>
            <a:r>
              <a:rPr lang="tr-TR" dirty="0"/>
              <a:t>anahtarlama iki </a:t>
            </a:r>
            <a:r>
              <a:rPr lang="tr-TR" dirty="0" smtClean="0"/>
              <a:t>farklı teknoloji </a:t>
            </a:r>
            <a:r>
              <a:rPr lang="tr-TR" dirty="0"/>
              <a:t>kullanır</a:t>
            </a:r>
            <a:r>
              <a:rPr lang="tr-TR" dirty="0" smtClean="0"/>
              <a:t>:</a:t>
            </a:r>
          </a:p>
          <a:p>
            <a:pPr lvl="1"/>
            <a:r>
              <a:rPr lang="tr-TR" dirty="0" err="1" smtClean="0"/>
              <a:t>space‐division</a:t>
            </a:r>
            <a:r>
              <a:rPr lang="tr-TR" dirty="0" smtClean="0"/>
              <a:t> </a:t>
            </a:r>
            <a:r>
              <a:rPr lang="tr-TR" dirty="0" err="1" smtClean="0"/>
              <a:t>switch</a:t>
            </a:r>
            <a:endParaRPr lang="tr-TR" dirty="0" smtClean="0"/>
          </a:p>
          <a:p>
            <a:pPr lvl="1"/>
            <a:r>
              <a:rPr lang="tr-TR" dirty="0" smtClean="0"/>
              <a:t>time‐</a:t>
            </a:r>
            <a:r>
              <a:rPr lang="tr-TR" dirty="0" err="1" smtClean="0"/>
              <a:t>division</a:t>
            </a:r>
            <a:r>
              <a:rPr lang="tr-TR" dirty="0" smtClean="0"/>
              <a:t>‐</a:t>
            </a:r>
            <a:r>
              <a:rPr lang="tr-TR" dirty="0" err="1" smtClean="0"/>
              <a:t>switch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29467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Space‐</a:t>
            </a:r>
            <a:r>
              <a:rPr lang="tr-TR" dirty="0" err="1"/>
              <a:t>division</a:t>
            </a:r>
            <a:r>
              <a:rPr lang="tr-TR" dirty="0"/>
              <a:t> </a:t>
            </a:r>
            <a:r>
              <a:rPr lang="tr-TR" dirty="0" err="1"/>
              <a:t>switch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tr-TR" sz="2000" dirty="0" smtClean="0"/>
              <a:t>Analog </a:t>
            </a:r>
            <a:r>
              <a:rPr lang="tr-TR" sz="2000" dirty="0"/>
              <a:t>ve sayısal </a:t>
            </a:r>
            <a:r>
              <a:rPr lang="tr-TR" sz="2000" dirty="0" smtClean="0"/>
              <a:t>ağlarda kullanılabilir</a:t>
            </a:r>
            <a:r>
              <a:rPr lang="tr-TR" sz="2000" dirty="0"/>
              <a:t>. Farklı </a:t>
            </a:r>
            <a:r>
              <a:rPr lang="tr-TR" sz="2000" dirty="0" smtClean="0"/>
              <a:t>tasarım şekilleri vardır.</a:t>
            </a:r>
          </a:p>
          <a:p>
            <a:r>
              <a:rPr lang="en-US" sz="2000" dirty="0" smtClean="0"/>
              <a:t>Crossbar </a:t>
            </a:r>
            <a:r>
              <a:rPr lang="en-US" sz="2000" dirty="0"/>
              <a:t>switch, n </a:t>
            </a:r>
            <a:r>
              <a:rPr lang="en-US" sz="2000" dirty="0" err="1"/>
              <a:t>adet</a:t>
            </a:r>
            <a:r>
              <a:rPr lang="en-US" sz="2000" dirty="0"/>
              <a:t> </a:t>
            </a:r>
            <a:r>
              <a:rPr lang="en-US" sz="2000" dirty="0" err="1" smtClean="0"/>
              <a:t>girişi</a:t>
            </a:r>
            <a:r>
              <a:rPr lang="tr-TR" sz="2000" dirty="0" smtClean="0"/>
              <a:t> m </a:t>
            </a:r>
            <a:r>
              <a:rPr lang="tr-TR" sz="2000" dirty="0"/>
              <a:t>adet çıkışa </a:t>
            </a:r>
            <a:r>
              <a:rPr lang="tr-TR" sz="2000" dirty="0" smtClean="0"/>
              <a:t>bağlar.</a:t>
            </a:r>
          </a:p>
          <a:p>
            <a:r>
              <a:rPr lang="tr-TR" sz="2000" dirty="0" smtClean="0"/>
              <a:t>Elektronik </a:t>
            </a:r>
            <a:r>
              <a:rPr lang="tr-TR" sz="2000" dirty="0" err="1" smtClean="0"/>
              <a:t>microswitch’ler</a:t>
            </a:r>
            <a:r>
              <a:rPr lang="tr-TR" sz="2000" dirty="0" smtClean="0"/>
              <a:t> (</a:t>
            </a:r>
            <a:r>
              <a:rPr lang="tr-TR" sz="2000" dirty="0" err="1" smtClean="0"/>
              <a:t>transistör</a:t>
            </a:r>
            <a:r>
              <a:rPr lang="tr-TR" sz="2000" dirty="0"/>
              <a:t>) kullanılır. </a:t>
            </a:r>
            <a:r>
              <a:rPr lang="tr-TR" sz="2000" dirty="0" smtClean="0"/>
              <a:t>En büyük </a:t>
            </a:r>
            <a:r>
              <a:rPr lang="tr-TR" sz="2000" dirty="0"/>
              <a:t>dezavantaj giriş </a:t>
            </a:r>
            <a:r>
              <a:rPr lang="tr-TR" sz="2000" dirty="0" smtClean="0"/>
              <a:t>çıkış sayısı </a:t>
            </a:r>
            <a:r>
              <a:rPr lang="tr-TR" sz="2000" dirty="0"/>
              <a:t>çarpımı </a:t>
            </a:r>
            <a:r>
              <a:rPr lang="tr-TR" sz="2000" dirty="0" smtClean="0"/>
              <a:t>kadar </a:t>
            </a:r>
            <a:r>
              <a:rPr lang="tr-TR" sz="2000" dirty="0" err="1" smtClean="0"/>
              <a:t>crosspoint</a:t>
            </a:r>
            <a:r>
              <a:rPr lang="tr-TR" sz="2000" dirty="0" smtClean="0"/>
              <a:t> gerektirmesidir.</a:t>
            </a:r>
          </a:p>
          <a:p>
            <a:r>
              <a:rPr lang="tr-TR" sz="2000" dirty="0" smtClean="0"/>
              <a:t>1,000 </a:t>
            </a:r>
            <a:r>
              <a:rPr lang="tr-TR" sz="2000" dirty="0"/>
              <a:t>giriş 1,000 çıkış için Herhangi 1,000,000 </a:t>
            </a:r>
            <a:r>
              <a:rPr lang="tr-TR" sz="2000" dirty="0" err="1" smtClean="0"/>
              <a:t>crosspoints</a:t>
            </a:r>
            <a:r>
              <a:rPr lang="tr-TR" sz="2000" dirty="0" smtClean="0"/>
              <a:t> gerekir</a:t>
            </a:r>
            <a:r>
              <a:rPr lang="tr-TR" sz="2000" dirty="0"/>
              <a:t>.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358" y="1690688"/>
            <a:ext cx="4659284" cy="473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687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Space‐</a:t>
            </a:r>
            <a:r>
              <a:rPr lang="tr-TR" dirty="0" err="1"/>
              <a:t>division</a:t>
            </a:r>
            <a:r>
              <a:rPr lang="tr-TR" dirty="0"/>
              <a:t> </a:t>
            </a:r>
            <a:r>
              <a:rPr lang="tr-TR" dirty="0" err="1"/>
              <a:t>switch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000" dirty="0" err="1" smtClean="0"/>
              <a:t>Multistage</a:t>
            </a:r>
            <a:r>
              <a:rPr lang="tr-TR" sz="2000" dirty="0" smtClean="0"/>
              <a:t> </a:t>
            </a:r>
            <a:r>
              <a:rPr lang="tr-TR" sz="2000" dirty="0" err="1"/>
              <a:t>switch</a:t>
            </a:r>
            <a:r>
              <a:rPr lang="tr-TR" sz="2000" dirty="0"/>
              <a:t>, </a:t>
            </a:r>
            <a:r>
              <a:rPr lang="tr-TR" sz="2000" dirty="0" err="1"/>
              <a:t>crossbar</a:t>
            </a:r>
            <a:r>
              <a:rPr lang="tr-TR" sz="2000" dirty="0"/>
              <a:t> </a:t>
            </a:r>
            <a:r>
              <a:rPr lang="tr-TR" sz="2000" dirty="0" err="1"/>
              <a:t>switch’leri</a:t>
            </a:r>
            <a:r>
              <a:rPr lang="tr-TR" sz="2000" dirty="0"/>
              <a:t> birkaç </a:t>
            </a:r>
            <a:r>
              <a:rPr lang="tr-TR" sz="2000" dirty="0" smtClean="0"/>
              <a:t>aşamada birleştirir.</a:t>
            </a:r>
          </a:p>
          <a:p>
            <a:r>
              <a:rPr lang="tr-TR" sz="2000" dirty="0" smtClean="0"/>
              <a:t>Switch </a:t>
            </a:r>
            <a:r>
              <a:rPr lang="tr-TR" sz="2000" dirty="0"/>
              <a:t>içerisinde çok sayıda yol oluşturup </a:t>
            </a:r>
            <a:r>
              <a:rPr lang="tr-TR" sz="2000" dirty="0" smtClean="0"/>
              <a:t>toplam </a:t>
            </a:r>
            <a:r>
              <a:rPr lang="tr-TR" sz="2000" dirty="0" err="1" smtClean="0"/>
              <a:t>crosspoint</a:t>
            </a:r>
            <a:r>
              <a:rPr lang="tr-TR" sz="2000" dirty="0" smtClean="0"/>
              <a:t> </a:t>
            </a:r>
            <a:r>
              <a:rPr lang="tr-TR" sz="2000" dirty="0"/>
              <a:t>sayısı </a:t>
            </a:r>
            <a:r>
              <a:rPr lang="tr-TR" sz="2000" dirty="0" smtClean="0"/>
              <a:t>azaltılır.</a:t>
            </a:r>
          </a:p>
          <a:p>
            <a:r>
              <a:rPr lang="tr-TR" sz="2000" dirty="0" smtClean="0"/>
              <a:t>İlk </a:t>
            </a:r>
            <a:r>
              <a:rPr lang="tr-TR" sz="2000" dirty="0"/>
              <a:t>aşamada her birisi </a:t>
            </a:r>
            <a:r>
              <a:rPr lang="tr-TR" sz="2000" i="1" dirty="0" err="1"/>
              <a:t>nxk</a:t>
            </a:r>
            <a:r>
              <a:rPr lang="tr-TR" sz="2000" i="1" dirty="0"/>
              <a:t> </a:t>
            </a:r>
            <a:r>
              <a:rPr lang="tr-TR" sz="2000" i="1" dirty="0" err="1"/>
              <a:t>crossbar</a:t>
            </a:r>
            <a:r>
              <a:rPr lang="tr-TR" sz="2000" i="1" dirty="0"/>
              <a:t> </a:t>
            </a:r>
            <a:r>
              <a:rPr lang="tr-TR" sz="2000" i="1" dirty="0" err="1"/>
              <a:t>switch</a:t>
            </a:r>
            <a:r>
              <a:rPr lang="tr-TR" sz="2000" i="1" dirty="0"/>
              <a:t> </a:t>
            </a:r>
            <a:r>
              <a:rPr lang="tr-TR" sz="2000" i="1" dirty="0" smtClean="0"/>
              <a:t>kullanılır.</a:t>
            </a:r>
          </a:p>
          <a:p>
            <a:r>
              <a:rPr lang="pt-BR" sz="2000" dirty="0" smtClean="0"/>
              <a:t>Toplam </a:t>
            </a:r>
            <a:r>
              <a:rPr lang="pt-BR" sz="2000" dirty="0"/>
              <a:t>crosspoint = </a:t>
            </a:r>
            <a:r>
              <a:rPr lang="pt-BR" sz="2000" i="1" dirty="0"/>
              <a:t>(N/n)x(n x k)+k(N/n)x(N/n)+N/n(k x n</a:t>
            </a:r>
            <a:r>
              <a:rPr lang="pt-BR" sz="2000" i="1" dirty="0" smtClean="0"/>
              <a:t>)</a:t>
            </a:r>
            <a:endParaRPr lang="tr-TR" sz="2000" i="1" dirty="0" smtClean="0"/>
          </a:p>
          <a:p>
            <a:pPr marL="0" indent="0">
              <a:buNone/>
            </a:pPr>
            <a:r>
              <a:rPr lang="tr-TR" sz="2000" i="1" dirty="0" smtClean="0"/>
              <a:t>= </a:t>
            </a:r>
            <a:r>
              <a:rPr lang="tr-TR" sz="2000" b="1" i="1" dirty="0"/>
              <a:t>2kN + </a:t>
            </a:r>
            <a:r>
              <a:rPr lang="tr-TR" sz="2000" b="1" i="1" dirty="0" smtClean="0"/>
              <a:t>k(N/n)2</a:t>
            </a:r>
          </a:p>
          <a:p>
            <a:pPr marL="0" indent="0">
              <a:buNone/>
            </a:pPr>
            <a:r>
              <a:rPr lang="tr-TR" sz="2000" dirty="0" smtClean="0"/>
              <a:t>İkinci </a:t>
            </a:r>
            <a:r>
              <a:rPr lang="tr-TR" sz="2000" dirty="0"/>
              <a:t>aşamadaki </a:t>
            </a:r>
            <a:r>
              <a:rPr lang="tr-TR" sz="2000" dirty="0" err="1"/>
              <a:t>crosspoint’ler</a:t>
            </a:r>
            <a:r>
              <a:rPr lang="tr-TR" sz="2000" dirty="0"/>
              <a:t> bir bağlantı </a:t>
            </a:r>
            <a:r>
              <a:rPr lang="tr-TR" sz="2000" dirty="0" smtClean="0"/>
              <a:t>süresince </a:t>
            </a:r>
            <a:r>
              <a:rPr lang="tr-TR" sz="2000" dirty="0" err="1" smtClean="0"/>
              <a:t>bloklanır</a:t>
            </a:r>
            <a:r>
              <a:rPr lang="tr-TR" sz="2000" dirty="0" smtClean="0"/>
              <a:t>.</a:t>
            </a:r>
          </a:p>
          <a:p>
            <a:pPr marL="0" indent="0">
              <a:buNone/>
            </a:pPr>
            <a:r>
              <a:rPr lang="tr-TR" sz="2000" dirty="0" smtClean="0"/>
              <a:t>Bir </a:t>
            </a:r>
            <a:r>
              <a:rPr lang="tr-TR" sz="2000" dirty="0" err="1"/>
              <a:t>multistage</a:t>
            </a:r>
            <a:r>
              <a:rPr lang="tr-TR" sz="2000" dirty="0"/>
              <a:t> </a:t>
            </a:r>
            <a:r>
              <a:rPr lang="tr-TR" sz="2000" dirty="0" err="1"/>
              <a:t>switch’te</a:t>
            </a:r>
            <a:r>
              <a:rPr lang="tr-TR" sz="2000" dirty="0"/>
              <a:t> </a:t>
            </a:r>
            <a:r>
              <a:rPr lang="tr-TR" sz="2000" dirty="0" err="1"/>
              <a:t>nonblocking</a:t>
            </a:r>
            <a:r>
              <a:rPr lang="tr-TR" sz="2000" dirty="0"/>
              <a:t> için </a:t>
            </a:r>
            <a:r>
              <a:rPr lang="tr-TR" sz="2000" dirty="0" err="1"/>
              <a:t>Clos</a:t>
            </a:r>
            <a:r>
              <a:rPr lang="tr-TR" sz="2000" dirty="0"/>
              <a:t> tarafından </a:t>
            </a:r>
            <a:r>
              <a:rPr lang="tr-TR" sz="2000" i="1" dirty="0"/>
              <a:t>k </a:t>
            </a:r>
            <a:r>
              <a:rPr lang="tr-TR" sz="2000" i="1" dirty="0" smtClean="0"/>
              <a:t>≥ 2n‐1 </a:t>
            </a:r>
            <a:r>
              <a:rPr lang="tr-TR" sz="2000" i="1" dirty="0"/>
              <a:t>ilişkisi </a:t>
            </a:r>
            <a:r>
              <a:rPr lang="tr-TR" sz="2000" dirty="0"/>
              <a:t>önerilmiştir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780" y="4683086"/>
            <a:ext cx="4526992" cy="19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2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Space‐</a:t>
            </a:r>
            <a:r>
              <a:rPr lang="tr-TR" dirty="0" err="1"/>
              <a:t>division</a:t>
            </a:r>
            <a:r>
              <a:rPr lang="tr-TR" dirty="0"/>
              <a:t> </a:t>
            </a:r>
            <a:r>
              <a:rPr lang="tr-TR" dirty="0" err="1"/>
              <a:t>switch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err="1" smtClean="0"/>
              <a:t>Multistage</a:t>
            </a:r>
            <a:r>
              <a:rPr lang="tr-TR" b="1" dirty="0" smtClean="0"/>
              <a:t> </a:t>
            </a:r>
            <a:r>
              <a:rPr lang="tr-TR" b="1" dirty="0" err="1"/>
              <a:t>switch</a:t>
            </a:r>
            <a:r>
              <a:rPr lang="tr-TR" b="1" dirty="0"/>
              <a:t>‐ Örnek: </a:t>
            </a:r>
            <a:r>
              <a:rPr lang="tr-TR" dirty="0"/>
              <a:t>200x200 </a:t>
            </a:r>
            <a:r>
              <a:rPr lang="tr-TR" dirty="0" err="1"/>
              <a:t>switch’i</a:t>
            </a:r>
            <a:r>
              <a:rPr lang="tr-TR" dirty="0"/>
              <a:t> (N=200</a:t>
            </a:r>
            <a:r>
              <a:rPr lang="tr-TR" dirty="0" smtClean="0"/>
              <a:t>), k=4 </a:t>
            </a:r>
            <a:r>
              <a:rPr lang="tr-TR" dirty="0"/>
              <a:t>ve n=20 olan üç aşamalı </a:t>
            </a:r>
            <a:r>
              <a:rPr lang="tr-TR" dirty="0" err="1"/>
              <a:t>switch</a:t>
            </a:r>
            <a:r>
              <a:rPr lang="tr-TR" dirty="0"/>
              <a:t> </a:t>
            </a:r>
            <a:r>
              <a:rPr lang="tr-TR" dirty="0" smtClean="0"/>
              <a:t>tasarlayınız.</a:t>
            </a:r>
          </a:p>
          <a:p>
            <a:pPr lvl="1"/>
            <a:r>
              <a:rPr lang="en-US" dirty="0" smtClean="0"/>
              <a:t>İlk </a:t>
            </a:r>
            <a:r>
              <a:rPr lang="en-US" dirty="0" err="1"/>
              <a:t>aşamada</a:t>
            </a:r>
            <a:r>
              <a:rPr lang="en-US" dirty="0"/>
              <a:t> N/n = 200/20 = 10 switch </a:t>
            </a:r>
            <a:r>
              <a:rPr lang="en-US" dirty="0" err="1"/>
              <a:t>gerekir</a:t>
            </a:r>
            <a:r>
              <a:rPr lang="en-US" dirty="0"/>
              <a:t>. Her </a:t>
            </a:r>
            <a:r>
              <a:rPr lang="en-US" dirty="0" err="1" smtClean="0"/>
              <a:t>birisi</a:t>
            </a:r>
            <a:r>
              <a:rPr lang="tr-TR" dirty="0" smtClean="0"/>
              <a:t> 20x4 boyutundadır.</a:t>
            </a:r>
          </a:p>
          <a:p>
            <a:pPr lvl="1"/>
            <a:r>
              <a:rPr lang="tr-TR" dirty="0" smtClean="0"/>
              <a:t>İkinci </a:t>
            </a:r>
            <a:r>
              <a:rPr lang="tr-TR" dirty="0"/>
              <a:t>aşamada 4 </a:t>
            </a:r>
            <a:r>
              <a:rPr lang="tr-TR" dirty="0" err="1"/>
              <a:t>crossbar</a:t>
            </a:r>
            <a:r>
              <a:rPr lang="tr-TR" dirty="0"/>
              <a:t> kullanılır. Her birisi </a:t>
            </a:r>
            <a:r>
              <a:rPr lang="tr-TR" dirty="0" smtClean="0"/>
              <a:t>10x10 boyutundadır.</a:t>
            </a:r>
          </a:p>
          <a:p>
            <a:pPr lvl="1"/>
            <a:r>
              <a:rPr lang="pt-BR" dirty="0" smtClean="0"/>
              <a:t>Toplam </a:t>
            </a:r>
            <a:r>
              <a:rPr lang="pt-BR" dirty="0"/>
              <a:t>crosspoint = </a:t>
            </a:r>
            <a:r>
              <a:rPr lang="pt-BR" i="1" dirty="0"/>
              <a:t>2kN + (N/n)2 = 2*4*200 + 4*(</a:t>
            </a:r>
            <a:r>
              <a:rPr lang="pt-BR" i="1" dirty="0" smtClean="0"/>
              <a:t>200/20)2</a:t>
            </a:r>
            <a:r>
              <a:rPr lang="tr-TR" i="1" dirty="0" smtClean="0"/>
              <a:t> = </a:t>
            </a:r>
            <a:r>
              <a:rPr lang="tr-TR" b="1" i="1" dirty="0"/>
              <a:t>2000</a:t>
            </a:r>
          </a:p>
          <a:p>
            <a:pPr lvl="1"/>
            <a:r>
              <a:rPr lang="tr-TR" dirty="0" smtClean="0"/>
              <a:t>Tek </a:t>
            </a:r>
            <a:r>
              <a:rPr lang="tr-TR" dirty="0"/>
              <a:t>bir </a:t>
            </a:r>
            <a:r>
              <a:rPr lang="tr-TR" dirty="0" err="1"/>
              <a:t>crossbar</a:t>
            </a:r>
            <a:r>
              <a:rPr lang="tr-TR" dirty="0"/>
              <a:t> </a:t>
            </a:r>
            <a:r>
              <a:rPr lang="tr-TR" dirty="0" err="1"/>
              <a:t>switch</a:t>
            </a:r>
            <a:r>
              <a:rPr lang="tr-TR" dirty="0"/>
              <a:t> kullanılsaydı </a:t>
            </a:r>
            <a:r>
              <a:rPr lang="tr-TR" b="1" i="1" dirty="0"/>
              <a:t>200*200 = </a:t>
            </a:r>
            <a:r>
              <a:rPr lang="tr-TR" b="1" i="1" dirty="0" smtClean="0"/>
              <a:t>40.000 </a:t>
            </a:r>
            <a:r>
              <a:rPr lang="tr-TR" b="1" i="1" dirty="0" err="1" smtClean="0"/>
              <a:t>crossbar</a:t>
            </a:r>
            <a:r>
              <a:rPr lang="tr-TR" b="1" i="1" dirty="0" smtClean="0"/>
              <a:t> </a:t>
            </a:r>
            <a:r>
              <a:rPr lang="tr-TR" b="1" i="1" dirty="0"/>
              <a:t>gerekir.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520" y="4380348"/>
            <a:ext cx="4461868" cy="2244895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917" y="4144934"/>
            <a:ext cx="381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849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Time‐</a:t>
            </a:r>
            <a:r>
              <a:rPr lang="tr-TR" dirty="0" err="1"/>
              <a:t>division</a:t>
            </a:r>
            <a:r>
              <a:rPr lang="tr-TR" dirty="0"/>
              <a:t> </a:t>
            </a:r>
            <a:r>
              <a:rPr lang="tr-TR" dirty="0" err="1"/>
              <a:t>switch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Time‐</a:t>
            </a:r>
            <a:r>
              <a:rPr lang="tr-TR" b="1" dirty="0" err="1" smtClean="0"/>
              <a:t>Slot</a:t>
            </a:r>
            <a:r>
              <a:rPr lang="tr-TR" b="1" dirty="0" smtClean="0"/>
              <a:t> </a:t>
            </a:r>
            <a:r>
              <a:rPr lang="tr-TR" b="1" dirty="0" err="1"/>
              <a:t>Interchange</a:t>
            </a:r>
            <a:r>
              <a:rPr lang="tr-TR" b="1" dirty="0"/>
              <a:t> (TSI), en popüler </a:t>
            </a:r>
            <a:r>
              <a:rPr lang="tr-TR" b="1" dirty="0" smtClean="0"/>
              <a:t>teknolojidir.</a:t>
            </a:r>
          </a:p>
          <a:p>
            <a:r>
              <a:rPr lang="tr-TR" dirty="0" smtClean="0"/>
              <a:t>TDM </a:t>
            </a:r>
            <a:r>
              <a:rPr lang="tr-TR" dirty="0" err="1"/>
              <a:t>multiplexer</a:t>
            </a:r>
            <a:r>
              <a:rPr lang="tr-TR" dirty="0"/>
              <a:t> ve TDM </a:t>
            </a:r>
            <a:r>
              <a:rPr lang="tr-TR" dirty="0" err="1"/>
              <a:t>demultiplexer</a:t>
            </a:r>
            <a:r>
              <a:rPr lang="tr-TR" dirty="0"/>
              <a:t> </a:t>
            </a:r>
            <a:r>
              <a:rPr lang="tr-TR" dirty="0" smtClean="0"/>
              <a:t>kullanılır.</a:t>
            </a:r>
          </a:p>
          <a:p>
            <a:r>
              <a:rPr lang="tr-TR" dirty="0" smtClean="0"/>
              <a:t>TSI </a:t>
            </a:r>
            <a:r>
              <a:rPr lang="tr-TR" dirty="0"/>
              <a:t>bir RAM belleğe sahiptir ve giriş ile çıkış </a:t>
            </a:r>
            <a:r>
              <a:rPr lang="tr-TR" dirty="0" smtClean="0"/>
              <a:t>bağlantılarına ait </a:t>
            </a:r>
            <a:r>
              <a:rPr lang="tr-TR" dirty="0"/>
              <a:t>bilgiyi saklar.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08" y="3742752"/>
            <a:ext cx="6496573" cy="290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73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Time ve </a:t>
            </a:r>
            <a:r>
              <a:rPr lang="tr-TR" dirty="0" err="1"/>
              <a:t>space‐division</a:t>
            </a:r>
            <a:r>
              <a:rPr lang="tr-TR" dirty="0"/>
              <a:t> </a:t>
            </a:r>
            <a:r>
              <a:rPr lang="tr-TR" dirty="0" err="1"/>
              <a:t>switch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Space‐</a:t>
            </a:r>
            <a:r>
              <a:rPr lang="tr-TR" dirty="0" err="1" smtClean="0"/>
              <a:t>division</a:t>
            </a:r>
            <a:r>
              <a:rPr lang="tr-TR" dirty="0" smtClean="0"/>
              <a:t> </a:t>
            </a:r>
            <a:r>
              <a:rPr lang="tr-TR" dirty="0" err="1" smtClean="0"/>
              <a:t>switching</a:t>
            </a:r>
            <a:r>
              <a:rPr lang="tr-TR" dirty="0" smtClean="0"/>
              <a:t> </a:t>
            </a:r>
            <a:r>
              <a:rPr lang="tr-TR" dirty="0"/>
              <a:t>çok </a:t>
            </a:r>
            <a:r>
              <a:rPr lang="tr-TR" dirty="0" smtClean="0"/>
              <a:t>sayıda </a:t>
            </a:r>
            <a:r>
              <a:rPr lang="tr-TR" dirty="0" err="1" smtClean="0"/>
              <a:t>crosspoint</a:t>
            </a:r>
            <a:r>
              <a:rPr lang="tr-TR" dirty="0" smtClean="0"/>
              <a:t> </a:t>
            </a:r>
            <a:r>
              <a:rPr lang="tr-TR" dirty="0"/>
              <a:t>gerektirir</a:t>
            </a:r>
            <a:r>
              <a:rPr lang="tr-TR" dirty="0" smtClean="0"/>
              <a:t>. </a:t>
            </a:r>
          </a:p>
          <a:p>
            <a:r>
              <a:rPr lang="tr-TR" dirty="0" smtClean="0"/>
              <a:t>Time‐</a:t>
            </a:r>
            <a:r>
              <a:rPr lang="tr-TR" dirty="0" err="1" smtClean="0"/>
              <a:t>division</a:t>
            </a:r>
            <a:r>
              <a:rPr lang="tr-TR" dirty="0" smtClean="0"/>
              <a:t> </a:t>
            </a:r>
            <a:r>
              <a:rPr lang="tr-TR" dirty="0" err="1" smtClean="0"/>
              <a:t>switching</a:t>
            </a:r>
            <a:r>
              <a:rPr lang="tr-TR" dirty="0" smtClean="0"/>
              <a:t> </a:t>
            </a:r>
            <a:r>
              <a:rPr lang="tr-TR" dirty="0" err="1" smtClean="0"/>
              <a:t>crosspoints</a:t>
            </a:r>
            <a:r>
              <a:rPr lang="tr-TR" dirty="0" smtClean="0"/>
              <a:t> gerektirmez ancak anahtarlama bilgisinin </a:t>
            </a:r>
            <a:r>
              <a:rPr lang="tr-TR" dirty="0" err="1" smtClean="0"/>
              <a:t>RAM’den</a:t>
            </a:r>
            <a:r>
              <a:rPr lang="tr-TR" dirty="0" smtClean="0"/>
              <a:t> alınmasında gecikme olur.</a:t>
            </a:r>
          </a:p>
          <a:p>
            <a:r>
              <a:rPr lang="tr-TR" dirty="0" smtClean="0"/>
              <a:t>İkisinin birleşimi time‐</a:t>
            </a:r>
            <a:r>
              <a:rPr lang="tr-TR" dirty="0" err="1" smtClean="0"/>
              <a:t>space</a:t>
            </a:r>
            <a:r>
              <a:rPr lang="tr-TR" dirty="0" smtClean="0"/>
              <a:t>‐time </a:t>
            </a:r>
            <a:r>
              <a:rPr lang="tr-TR" dirty="0"/>
              <a:t>(</a:t>
            </a:r>
            <a:r>
              <a:rPr lang="tr-TR" dirty="0" smtClean="0"/>
              <a:t>TST) </a:t>
            </a:r>
            <a:r>
              <a:rPr lang="tr-TR" dirty="0" err="1" smtClean="0"/>
              <a:t>switch</a:t>
            </a:r>
            <a:r>
              <a:rPr lang="tr-TR" dirty="0" smtClean="0"/>
              <a:t> olarak adlandırılır</a:t>
            </a:r>
            <a:r>
              <a:rPr lang="tr-TR" dirty="0"/>
              <a:t>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821" y="3577362"/>
            <a:ext cx="4796594" cy="314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10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Paket </a:t>
            </a:r>
            <a:r>
              <a:rPr lang="tr-TR" dirty="0" err="1"/>
              <a:t>switch</a:t>
            </a:r>
            <a:r>
              <a:rPr lang="tr-TR" dirty="0"/>
              <a:t> yapısı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Paket </a:t>
            </a:r>
            <a:r>
              <a:rPr lang="tr-TR" dirty="0"/>
              <a:t>anahtarlamalı ağlarda kullanılan </a:t>
            </a:r>
            <a:r>
              <a:rPr lang="tr-TR" dirty="0" err="1"/>
              <a:t>switch’ler</a:t>
            </a:r>
            <a:r>
              <a:rPr lang="tr-TR" dirty="0"/>
              <a:t> </a:t>
            </a:r>
            <a:r>
              <a:rPr lang="tr-TR" dirty="0" smtClean="0"/>
              <a:t>devre anahtarlamalı </a:t>
            </a:r>
            <a:r>
              <a:rPr lang="tr-TR" dirty="0"/>
              <a:t>ağlardaki </a:t>
            </a:r>
            <a:r>
              <a:rPr lang="tr-TR" dirty="0" err="1"/>
              <a:t>switch’lerden</a:t>
            </a:r>
            <a:r>
              <a:rPr lang="tr-TR" dirty="0"/>
              <a:t> </a:t>
            </a:r>
            <a:r>
              <a:rPr lang="tr-TR" dirty="0" smtClean="0"/>
              <a:t>farklıdır.</a:t>
            </a:r>
          </a:p>
          <a:p>
            <a:r>
              <a:rPr lang="tr-TR" dirty="0" smtClean="0"/>
              <a:t>Bir </a:t>
            </a:r>
            <a:r>
              <a:rPr lang="tr-TR" dirty="0"/>
              <a:t>paket </a:t>
            </a:r>
            <a:r>
              <a:rPr lang="tr-TR" dirty="0" err="1"/>
              <a:t>switch</a:t>
            </a:r>
            <a:r>
              <a:rPr lang="tr-TR" dirty="0"/>
              <a:t> 4 elemandan oluşur: </a:t>
            </a:r>
            <a:r>
              <a:rPr lang="tr-TR" b="1" dirty="0" err="1"/>
              <a:t>input</a:t>
            </a:r>
            <a:r>
              <a:rPr lang="tr-TR" b="1" dirty="0"/>
              <a:t> </a:t>
            </a:r>
            <a:r>
              <a:rPr lang="tr-TR" b="1" dirty="0" err="1" smtClean="0"/>
              <a:t>ports</a:t>
            </a:r>
            <a:r>
              <a:rPr lang="tr-TR" b="1" dirty="0" smtClean="0"/>
              <a:t>, </a:t>
            </a:r>
            <a:r>
              <a:rPr lang="en-US" b="1" dirty="0" smtClean="0"/>
              <a:t>output </a:t>
            </a:r>
            <a:r>
              <a:rPr lang="en-US" b="1" dirty="0"/>
              <a:t>ports, routing processor </a:t>
            </a:r>
            <a:r>
              <a:rPr lang="en-US" b="1" dirty="0" err="1"/>
              <a:t>ve</a:t>
            </a:r>
            <a:r>
              <a:rPr lang="en-US" b="1" dirty="0"/>
              <a:t> switching fabric.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951" y="3635175"/>
            <a:ext cx="5505024" cy="281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838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Paket </a:t>
            </a:r>
            <a:r>
              <a:rPr lang="tr-TR" dirty="0" err="1"/>
              <a:t>switch</a:t>
            </a:r>
            <a:r>
              <a:rPr lang="tr-TR" dirty="0"/>
              <a:t> yapısı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Giriş </a:t>
            </a:r>
            <a:r>
              <a:rPr lang="nb-NO" dirty="0"/>
              <a:t>portları fiziksel ve data link </a:t>
            </a:r>
            <a:r>
              <a:rPr lang="nb-NO" dirty="0" smtClean="0"/>
              <a:t>katman</a:t>
            </a:r>
            <a:r>
              <a:rPr lang="tr-TR" dirty="0" smtClean="0"/>
              <a:t> fonksiyonlarını </a:t>
            </a:r>
            <a:r>
              <a:rPr lang="tr-TR" dirty="0"/>
              <a:t>gerçekleştirir.</a:t>
            </a:r>
          </a:p>
          <a:p>
            <a:r>
              <a:rPr lang="tr-TR" dirty="0" smtClean="0"/>
              <a:t>Giriş </a:t>
            </a:r>
            <a:r>
              <a:rPr lang="tr-TR" dirty="0"/>
              <a:t>portlarında paketlerdeki </a:t>
            </a:r>
            <a:r>
              <a:rPr lang="tr-TR" dirty="0" smtClean="0"/>
              <a:t>hatalar denetlenir </a:t>
            </a:r>
            <a:r>
              <a:rPr lang="tr-TR" dirty="0"/>
              <a:t>ve </a:t>
            </a:r>
            <a:r>
              <a:rPr lang="tr-TR" dirty="0" smtClean="0"/>
              <a:t>düzeltilir.</a:t>
            </a:r>
          </a:p>
          <a:p>
            <a:r>
              <a:rPr lang="tr-TR" dirty="0" smtClean="0"/>
              <a:t>Giriş </a:t>
            </a:r>
            <a:r>
              <a:rPr lang="tr-TR" dirty="0"/>
              <a:t>portları, fiziksel katman işlemcisi ve </a:t>
            </a:r>
            <a:r>
              <a:rPr lang="tr-TR" dirty="0" smtClean="0"/>
              <a:t>data link </a:t>
            </a:r>
            <a:r>
              <a:rPr lang="tr-TR" dirty="0"/>
              <a:t>katman işlemcisinin </a:t>
            </a:r>
            <a:r>
              <a:rPr lang="tr-TR" dirty="0" err="1"/>
              <a:t>yanısıra</a:t>
            </a:r>
            <a:r>
              <a:rPr lang="tr-TR" dirty="0"/>
              <a:t> </a:t>
            </a:r>
            <a:r>
              <a:rPr lang="tr-TR" dirty="0" err="1" smtClean="0"/>
              <a:t>buffer’a</a:t>
            </a:r>
            <a:r>
              <a:rPr lang="tr-TR" dirty="0" smtClean="0"/>
              <a:t> sahiptir</a:t>
            </a:r>
            <a:r>
              <a:rPr lang="tr-TR" dirty="0"/>
              <a:t>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900" y="4158885"/>
            <a:ext cx="5212200" cy="148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92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Paket </a:t>
            </a:r>
            <a:r>
              <a:rPr lang="tr-TR" dirty="0" err="1"/>
              <a:t>switch</a:t>
            </a:r>
            <a:r>
              <a:rPr lang="tr-TR" dirty="0"/>
              <a:t> yapısı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Çıkış </a:t>
            </a:r>
            <a:r>
              <a:rPr lang="tr-TR" dirty="0"/>
              <a:t>portları, giriş portlarının yaptığı işleri ters </a:t>
            </a:r>
            <a:r>
              <a:rPr lang="tr-TR" dirty="0" smtClean="0"/>
              <a:t>sırada gerçekleştirir.</a:t>
            </a:r>
          </a:p>
          <a:p>
            <a:r>
              <a:rPr lang="tr-TR" dirty="0" smtClean="0"/>
              <a:t>Routing </a:t>
            </a:r>
            <a:r>
              <a:rPr lang="tr-TR" dirty="0" err="1"/>
              <a:t>processor</a:t>
            </a:r>
            <a:r>
              <a:rPr lang="tr-TR" dirty="0"/>
              <a:t>, network katmanında çalışır. Bir </a:t>
            </a:r>
            <a:r>
              <a:rPr lang="tr-TR" dirty="0" smtClean="0"/>
              <a:t>sonraki hop </a:t>
            </a:r>
            <a:r>
              <a:rPr lang="tr-TR" dirty="0"/>
              <a:t>adresi </a:t>
            </a:r>
            <a:r>
              <a:rPr lang="tr-TR" dirty="0" smtClean="0"/>
              <a:t>belirlenir.</a:t>
            </a:r>
          </a:p>
          <a:p>
            <a:r>
              <a:rPr lang="tr-TR" dirty="0" smtClean="0"/>
              <a:t>Routing </a:t>
            </a:r>
            <a:r>
              <a:rPr lang="tr-TR" dirty="0" err="1"/>
              <a:t>processor</a:t>
            </a:r>
            <a:r>
              <a:rPr lang="tr-TR" dirty="0"/>
              <a:t> </a:t>
            </a:r>
            <a:r>
              <a:rPr lang="tr-TR" dirty="0" err="1"/>
              <a:t>routing</a:t>
            </a:r>
            <a:r>
              <a:rPr lang="tr-TR" dirty="0"/>
              <a:t> tablosu </a:t>
            </a:r>
            <a:r>
              <a:rPr lang="tr-TR" dirty="0" smtClean="0"/>
              <a:t>kullanılır.</a:t>
            </a:r>
          </a:p>
          <a:p>
            <a:r>
              <a:rPr lang="tr-TR" dirty="0" err="1" smtClean="0"/>
              <a:t>Switching</a:t>
            </a:r>
            <a:r>
              <a:rPr lang="tr-TR" dirty="0" smtClean="0"/>
              <a:t> </a:t>
            </a:r>
            <a:r>
              <a:rPr lang="tr-TR" dirty="0" err="1"/>
              <a:t>fabrics</a:t>
            </a:r>
            <a:r>
              <a:rPr lang="tr-TR" dirty="0"/>
              <a:t>, giriş kuyruğundan çıkış kuyruğuna </a:t>
            </a:r>
            <a:r>
              <a:rPr lang="tr-TR" dirty="0" smtClean="0"/>
              <a:t>paketi taşır.</a:t>
            </a:r>
          </a:p>
          <a:p>
            <a:r>
              <a:rPr lang="en-US" b="1" dirty="0" smtClean="0"/>
              <a:t>Switching </a:t>
            </a:r>
            <a:r>
              <a:rPr lang="en-US" b="1" dirty="0"/>
              <a:t>fabrics </a:t>
            </a:r>
            <a:r>
              <a:rPr lang="en-US" b="1" dirty="0" err="1"/>
              <a:t>olarak</a:t>
            </a:r>
            <a:r>
              <a:rPr lang="en-US" b="1" dirty="0"/>
              <a:t> crossbar switch, banyan </a:t>
            </a:r>
            <a:r>
              <a:rPr lang="en-US" b="1" dirty="0" smtClean="0"/>
              <a:t>switch</a:t>
            </a:r>
            <a:r>
              <a:rPr lang="tr-TR" b="1" dirty="0" smtClean="0"/>
              <a:t> veya </a:t>
            </a:r>
            <a:r>
              <a:rPr lang="tr-TR" b="1" dirty="0" err="1"/>
              <a:t>batcher‐banyan</a:t>
            </a:r>
            <a:r>
              <a:rPr lang="tr-TR" b="1" dirty="0"/>
              <a:t> </a:t>
            </a:r>
            <a:r>
              <a:rPr lang="tr-TR" b="1" dirty="0" err="1"/>
              <a:t>switch</a:t>
            </a:r>
            <a:r>
              <a:rPr lang="tr-TR" b="1" dirty="0"/>
              <a:t> kullanılır.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099" y="5061233"/>
            <a:ext cx="5359759" cy="153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93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Paket</a:t>
            </a:r>
            <a:r>
              <a:rPr lang="en-US" dirty="0"/>
              <a:t> switch </a:t>
            </a:r>
            <a:r>
              <a:rPr lang="en-US" dirty="0" err="1"/>
              <a:t>yapısı</a:t>
            </a:r>
            <a:r>
              <a:rPr lang="en-US" dirty="0"/>
              <a:t> – switching fabric</a:t>
            </a:r>
            <a:br>
              <a:rPr lang="en-US" dirty="0"/>
            </a:br>
            <a:r>
              <a:rPr lang="tr-TR" dirty="0"/>
              <a:t>(</a:t>
            </a:r>
            <a:r>
              <a:rPr lang="tr-TR" dirty="0" err="1"/>
              <a:t>banyan</a:t>
            </a:r>
            <a:r>
              <a:rPr lang="tr-TR" dirty="0"/>
              <a:t> </a:t>
            </a:r>
            <a:r>
              <a:rPr lang="tr-TR" dirty="0" err="1"/>
              <a:t>switch</a:t>
            </a:r>
            <a:r>
              <a:rPr lang="tr-TR" dirty="0"/>
              <a:t>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 smtClean="0"/>
              <a:t>Her </a:t>
            </a:r>
            <a:r>
              <a:rPr lang="tr-TR" dirty="0"/>
              <a:t>aşamada </a:t>
            </a:r>
            <a:r>
              <a:rPr lang="tr-TR" dirty="0" err="1"/>
              <a:t>microswitch</a:t>
            </a:r>
            <a:r>
              <a:rPr lang="tr-TR" dirty="0"/>
              <a:t> vardır </a:t>
            </a:r>
            <a:r>
              <a:rPr lang="tr-TR" dirty="0" smtClean="0"/>
              <a:t>ve paketler </a:t>
            </a:r>
            <a:r>
              <a:rPr lang="tr-TR" dirty="0"/>
              <a:t>çıkış portlarına </a:t>
            </a:r>
            <a:r>
              <a:rPr lang="tr-TR" dirty="0" err="1" smtClean="0"/>
              <a:t>binary</a:t>
            </a:r>
            <a:r>
              <a:rPr lang="tr-TR" dirty="0" smtClean="0"/>
              <a:t> </a:t>
            </a:r>
            <a:r>
              <a:rPr lang="tr-TR" dirty="0" err="1" smtClean="0"/>
              <a:t>string’le</a:t>
            </a:r>
            <a:r>
              <a:rPr lang="tr-TR" dirty="0" smtClean="0"/>
              <a:t> gönderilir.</a:t>
            </a:r>
          </a:p>
          <a:p>
            <a:r>
              <a:rPr lang="pt-BR" dirty="0" smtClean="0"/>
              <a:t>n </a:t>
            </a:r>
            <a:r>
              <a:rPr lang="pt-BR" dirty="0"/>
              <a:t>giriş n çıkış için log2n aşama </a:t>
            </a:r>
            <a:r>
              <a:rPr lang="pt-BR" dirty="0" smtClean="0"/>
              <a:t>ve</a:t>
            </a:r>
            <a:r>
              <a:rPr lang="tr-TR" dirty="0" smtClean="0"/>
              <a:t> her </a:t>
            </a:r>
            <a:r>
              <a:rPr lang="tr-TR" dirty="0"/>
              <a:t>aşamada n/2 </a:t>
            </a:r>
            <a:r>
              <a:rPr lang="tr-TR" dirty="0" err="1" smtClean="0"/>
              <a:t>microswitch</a:t>
            </a:r>
            <a:r>
              <a:rPr lang="tr-TR" dirty="0" smtClean="0"/>
              <a:t> vardır</a:t>
            </a:r>
            <a:r>
              <a:rPr lang="tr-TR" dirty="0"/>
              <a:t>.</a:t>
            </a:r>
          </a:p>
          <a:p>
            <a:r>
              <a:rPr lang="tr-TR" dirty="0" smtClean="0"/>
              <a:t>İlk </a:t>
            </a:r>
            <a:r>
              <a:rPr lang="tr-TR" dirty="0"/>
              <a:t>aşama, paketi </a:t>
            </a:r>
            <a:r>
              <a:rPr lang="tr-TR" dirty="0" err="1"/>
              <a:t>binary</a:t>
            </a:r>
            <a:r>
              <a:rPr lang="tr-TR" dirty="0"/>
              <a:t> </a:t>
            </a:r>
            <a:r>
              <a:rPr lang="tr-TR" dirty="0" err="1"/>
              <a:t>string’in</a:t>
            </a:r>
            <a:r>
              <a:rPr lang="tr-TR" dirty="0"/>
              <a:t> </a:t>
            </a:r>
            <a:r>
              <a:rPr lang="tr-TR" dirty="0" smtClean="0"/>
              <a:t>en yüksek </a:t>
            </a:r>
            <a:r>
              <a:rPr lang="tr-TR" dirty="0"/>
              <a:t>bit değerine </a:t>
            </a:r>
            <a:r>
              <a:rPr lang="tr-TR" dirty="0" smtClean="0"/>
              <a:t>göre yönlendirilir.</a:t>
            </a:r>
          </a:p>
          <a:p>
            <a:r>
              <a:rPr lang="en-US" dirty="0" err="1" smtClean="0"/>
              <a:t>İkinci</a:t>
            </a:r>
            <a:r>
              <a:rPr lang="en-US" dirty="0" smtClean="0"/>
              <a:t> </a:t>
            </a:r>
            <a:r>
              <a:rPr lang="en-US" dirty="0" err="1"/>
              <a:t>aşama</a:t>
            </a:r>
            <a:r>
              <a:rPr lang="en-US" dirty="0"/>
              <a:t>, binary </a:t>
            </a:r>
            <a:r>
              <a:rPr lang="en-US" dirty="0" err="1"/>
              <a:t>string’in</a:t>
            </a:r>
            <a:r>
              <a:rPr lang="en-US" dirty="0"/>
              <a:t> </a:t>
            </a:r>
            <a:r>
              <a:rPr lang="en-US" dirty="0" err="1" smtClean="0"/>
              <a:t>ikinci</a:t>
            </a:r>
            <a:r>
              <a:rPr lang="tr-TR" dirty="0" smtClean="0"/>
              <a:t> </a:t>
            </a:r>
            <a:r>
              <a:rPr lang="sv-SE" dirty="0" smtClean="0"/>
              <a:t>bit </a:t>
            </a:r>
            <a:r>
              <a:rPr lang="sv-SE" dirty="0"/>
              <a:t>değerine göre paketi bir </a:t>
            </a:r>
            <a:r>
              <a:rPr lang="sv-SE" dirty="0" smtClean="0"/>
              <a:t>sonraki</a:t>
            </a:r>
            <a:r>
              <a:rPr lang="tr-TR" dirty="0" smtClean="0"/>
              <a:t> aşamaya </a:t>
            </a:r>
            <a:r>
              <a:rPr lang="tr-TR" dirty="0"/>
              <a:t>yönlendirir.</a:t>
            </a:r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25115" y="1986742"/>
            <a:ext cx="4564557" cy="377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2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Paket</a:t>
            </a:r>
            <a:r>
              <a:rPr lang="en-US" dirty="0"/>
              <a:t> switch </a:t>
            </a:r>
            <a:r>
              <a:rPr lang="en-US" dirty="0" err="1"/>
              <a:t>yapısı</a:t>
            </a:r>
            <a:r>
              <a:rPr lang="en-US" dirty="0"/>
              <a:t> – switching fabric</a:t>
            </a:r>
            <a:br>
              <a:rPr lang="en-US" dirty="0"/>
            </a:br>
            <a:r>
              <a:rPr lang="tr-TR" dirty="0"/>
              <a:t>(</a:t>
            </a:r>
            <a:r>
              <a:rPr lang="tr-TR" dirty="0" err="1"/>
              <a:t>banyan</a:t>
            </a:r>
            <a:r>
              <a:rPr lang="tr-TR" dirty="0"/>
              <a:t> </a:t>
            </a:r>
            <a:r>
              <a:rPr lang="tr-TR" dirty="0" err="1"/>
              <a:t>switch</a:t>
            </a:r>
            <a:r>
              <a:rPr lang="tr-TR" dirty="0"/>
              <a:t>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Şekilde </a:t>
            </a:r>
            <a:r>
              <a:rPr lang="tr-TR" dirty="0"/>
              <a:t>110 ve 010 için paketin yönlendirilmesi </a:t>
            </a:r>
            <a:r>
              <a:rPr lang="tr-TR" dirty="0" smtClean="0"/>
              <a:t>görülmektedir.</a:t>
            </a:r>
          </a:p>
          <a:p>
            <a:r>
              <a:rPr lang="tr-TR" dirty="0" smtClean="0"/>
              <a:t>Her </a:t>
            </a:r>
            <a:r>
              <a:rPr lang="tr-TR" dirty="0"/>
              <a:t>aşamada en soldaki bir bit ile yönlendirme yapılır.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840" y="3129087"/>
            <a:ext cx="7579298" cy="328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866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Paket</a:t>
            </a:r>
            <a:r>
              <a:rPr lang="en-US" dirty="0"/>
              <a:t> switch </a:t>
            </a:r>
            <a:r>
              <a:rPr lang="en-US" dirty="0" err="1"/>
              <a:t>yapısı</a:t>
            </a:r>
            <a:r>
              <a:rPr lang="en-US" dirty="0"/>
              <a:t> – switching fabric</a:t>
            </a:r>
            <a:br>
              <a:rPr lang="en-US" dirty="0"/>
            </a:br>
            <a:r>
              <a:rPr lang="tr-TR" dirty="0"/>
              <a:t>(</a:t>
            </a:r>
            <a:r>
              <a:rPr lang="tr-TR" dirty="0" err="1"/>
              <a:t>banyan</a:t>
            </a:r>
            <a:r>
              <a:rPr lang="tr-TR" dirty="0"/>
              <a:t> </a:t>
            </a:r>
            <a:r>
              <a:rPr lang="tr-TR" dirty="0" err="1"/>
              <a:t>switch</a:t>
            </a:r>
            <a:r>
              <a:rPr lang="tr-TR" dirty="0"/>
              <a:t>)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Banyan</a:t>
            </a:r>
            <a:r>
              <a:rPr lang="tr-TR" dirty="0" smtClean="0"/>
              <a:t> </a:t>
            </a:r>
            <a:r>
              <a:rPr lang="tr-TR" dirty="0" err="1"/>
              <a:t>switch’lerde</a:t>
            </a:r>
            <a:r>
              <a:rPr lang="tr-TR" dirty="0"/>
              <a:t> aynı çıkış portuna iki paket gelirse </a:t>
            </a:r>
            <a:r>
              <a:rPr lang="tr-TR" dirty="0" err="1"/>
              <a:t>collision</a:t>
            </a:r>
            <a:r>
              <a:rPr lang="tr-TR" dirty="0"/>
              <a:t> </a:t>
            </a:r>
            <a:r>
              <a:rPr lang="tr-TR" dirty="0" smtClean="0"/>
              <a:t>olur.</a:t>
            </a:r>
          </a:p>
          <a:p>
            <a:r>
              <a:rPr lang="tr-TR" dirty="0" err="1" smtClean="0"/>
              <a:t>Bather</a:t>
            </a:r>
            <a:r>
              <a:rPr lang="tr-TR" dirty="0" smtClean="0"/>
              <a:t> </a:t>
            </a:r>
            <a:r>
              <a:rPr lang="tr-TR" dirty="0" err="1"/>
              <a:t>switch</a:t>
            </a:r>
            <a:r>
              <a:rPr lang="tr-TR" dirty="0"/>
              <a:t> gelen paketleri hedef adresine göre </a:t>
            </a:r>
            <a:r>
              <a:rPr lang="tr-TR" dirty="0" smtClean="0"/>
              <a:t>sıralar.</a:t>
            </a:r>
          </a:p>
          <a:p>
            <a:r>
              <a:rPr lang="tr-TR" dirty="0" smtClean="0"/>
              <a:t>Trap </a:t>
            </a:r>
            <a:r>
              <a:rPr lang="tr-TR" dirty="0"/>
              <a:t>modülü aynı çıkış portuna sahip paketlerin eşzamanlı </a:t>
            </a:r>
            <a:r>
              <a:rPr lang="tr-TR" dirty="0" smtClean="0"/>
              <a:t>geçişini engeller</a:t>
            </a:r>
            <a:r>
              <a:rPr lang="tr-TR" dirty="0"/>
              <a:t>.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893" y="3729228"/>
            <a:ext cx="6758103" cy="289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97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1791</Words>
  <Application>Microsoft Office PowerPoint</Application>
  <PresentationFormat>Geniş ekran</PresentationFormat>
  <Paragraphs>190</Paragraphs>
  <Slides>37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Wingdings</vt:lpstr>
      <vt:lpstr>Office Teması</vt:lpstr>
      <vt:lpstr>Anahtarlama</vt:lpstr>
      <vt:lpstr>Konular</vt:lpstr>
      <vt:lpstr>Giriş</vt:lpstr>
      <vt:lpstr>Giriş</vt:lpstr>
      <vt:lpstr>Message Switched ağlar</vt:lpstr>
      <vt:lpstr>Circuit‐switched ağlar</vt:lpstr>
      <vt:lpstr>Circuit‐switched ağlar</vt:lpstr>
      <vt:lpstr>Circuit‐switched ağlar</vt:lpstr>
      <vt:lpstr>Circuit‐switched ağlar</vt:lpstr>
      <vt:lpstr>Circuit‐switched ağlar</vt:lpstr>
      <vt:lpstr>Circuit‐switched ağlar</vt:lpstr>
      <vt:lpstr>Datagram ağlar</vt:lpstr>
      <vt:lpstr>Datagram ağlar</vt:lpstr>
      <vt:lpstr>Datagram ağlar</vt:lpstr>
      <vt:lpstr>Virtual‐circuit ağlar</vt:lpstr>
      <vt:lpstr>Virtual‐circuit ağlar</vt:lpstr>
      <vt:lpstr>Virtual‐circuit ağlar</vt:lpstr>
      <vt:lpstr>Virtual‐circuit ağlar</vt:lpstr>
      <vt:lpstr>Virtual‐circuit ağlar</vt:lpstr>
      <vt:lpstr>Virtual‐circuit ağlar</vt:lpstr>
      <vt:lpstr>Virtual‐circuit ağlar</vt:lpstr>
      <vt:lpstr>Virtual‐circuit ağlar</vt:lpstr>
      <vt:lpstr>Virtual‐circuit ağlar</vt:lpstr>
      <vt:lpstr>Virtual‐circuit ağlar</vt:lpstr>
      <vt:lpstr>Virtual‐circuit ağlar</vt:lpstr>
      <vt:lpstr>Switch yapısı</vt:lpstr>
      <vt:lpstr>Space‐division switch</vt:lpstr>
      <vt:lpstr>Space‐division switch</vt:lpstr>
      <vt:lpstr>Space‐division switch</vt:lpstr>
      <vt:lpstr>Time‐division switch</vt:lpstr>
      <vt:lpstr>Time ve space‐division switch</vt:lpstr>
      <vt:lpstr>Paket switch yapısı</vt:lpstr>
      <vt:lpstr>Paket switch yapısı</vt:lpstr>
      <vt:lpstr>Paket switch yapısı</vt:lpstr>
      <vt:lpstr>Paket switch yapısı – switching fabric (banyan switch)</vt:lpstr>
      <vt:lpstr>Paket switch yapısı – switching fabric (banyan switch)</vt:lpstr>
      <vt:lpstr>Paket switch yapısı – switching fabric (banyan switch)</vt:lpstr>
    </vt:vector>
  </TitlesOfParts>
  <Company>Silentall Unattended Installer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Anahtarlama</dc:title>
  <dc:creator>mevlut</dc:creator>
  <cp:lastModifiedBy>mevlut</cp:lastModifiedBy>
  <cp:revision>7</cp:revision>
  <dcterms:created xsi:type="dcterms:W3CDTF">2018-12-19T10:09:34Z</dcterms:created>
  <dcterms:modified xsi:type="dcterms:W3CDTF">2018-12-19T15:01:33Z</dcterms:modified>
</cp:coreProperties>
</file>