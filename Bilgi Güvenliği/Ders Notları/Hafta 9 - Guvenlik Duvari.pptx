
<file path=[Content_Types].xml><?xml version="1.0" encoding="utf-8"?>
<Types xmlns="http://schemas.openxmlformats.org/package/2006/content-types">
  <Default Extension="tmp" ContentType="image/png"/>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0" r:id="rId4"/>
    <p:sldId id="258" r:id="rId5"/>
    <p:sldId id="281" r:id="rId6"/>
    <p:sldId id="282" r:id="rId7"/>
    <p:sldId id="265" r:id="rId8"/>
    <p:sldId id="283" r:id="rId9"/>
    <p:sldId id="284" r:id="rId10"/>
    <p:sldId id="266" r:id="rId11"/>
    <p:sldId id="262" r:id="rId12"/>
    <p:sldId id="259" r:id="rId13"/>
    <p:sldId id="260" r:id="rId14"/>
    <p:sldId id="261" r:id="rId15"/>
    <p:sldId id="267" r:id="rId16"/>
    <p:sldId id="268" r:id="rId17"/>
    <p:sldId id="269" r:id="rId18"/>
    <p:sldId id="270" r:id="rId19"/>
    <p:sldId id="271" r:id="rId20"/>
    <p:sldId id="272" r:id="rId21"/>
    <p:sldId id="263" r:id="rId22"/>
    <p:sldId id="273" r:id="rId23"/>
    <p:sldId id="274" r:id="rId24"/>
    <p:sldId id="264" r:id="rId25"/>
    <p:sldId id="275" r:id="rId26"/>
    <p:sldId id="276" r:id="rId27"/>
    <p:sldId id="277" r:id="rId28"/>
    <p:sldId id="278" r:id="rId29"/>
    <p:sldId id="279" r:id="rId30"/>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0" d="100"/>
          <a:sy n="80" d="100"/>
        </p:scale>
        <p:origin x="145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a:t>Asıl başlık stili için tıklatın</a:t>
            </a: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Veri Yer Tutucusu 3"/>
          <p:cNvSpPr>
            <a:spLocks noGrp="1"/>
          </p:cNvSpPr>
          <p:nvPr>
            <p:ph type="dt" sz="half" idx="10"/>
          </p:nvPr>
        </p:nvSpPr>
        <p:spPr/>
        <p:txBody>
          <a:bodyPr/>
          <a:lstStyle/>
          <a:p>
            <a:fld id="{9C5CF35C-021E-4C32-A06C-09FE78BCF88C}" type="datetimeFigureOut">
              <a:rPr lang="tr-TR" smtClean="0"/>
              <a:t>29.04.2024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3338148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9C5CF35C-021E-4C32-A06C-09FE78BCF88C}" type="datetimeFigureOut">
              <a:rPr lang="tr-TR" smtClean="0"/>
              <a:t>29.04.2024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4268378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a:t>Asıl başlık stili için tıklatın</a:t>
            </a: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Veri Yer Tutucusu 3"/>
          <p:cNvSpPr>
            <a:spLocks noGrp="1"/>
          </p:cNvSpPr>
          <p:nvPr>
            <p:ph type="dt" sz="half" idx="10"/>
          </p:nvPr>
        </p:nvSpPr>
        <p:spPr/>
        <p:txBody>
          <a:bodyPr/>
          <a:lstStyle/>
          <a:p>
            <a:fld id="{9C5CF35C-021E-4C32-A06C-09FE78BCF88C}" type="datetimeFigureOut">
              <a:rPr lang="tr-TR" smtClean="0"/>
              <a:t>29.04.2024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1275103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p:cNvSpPr>
            <a:spLocks noGrp="1"/>
          </p:cNvSpPr>
          <p:nvPr>
            <p:ph type="dt" sz="half" idx="10"/>
          </p:nvPr>
        </p:nvSpPr>
        <p:spPr/>
        <p:txBody>
          <a:bodyPr/>
          <a:lstStyle/>
          <a:p>
            <a:fld id="{9C5CF35C-021E-4C32-A06C-09FE78BCF88C}" type="datetimeFigureOut">
              <a:rPr lang="tr-TR" smtClean="0"/>
              <a:t>29.04.2024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676249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a:t>Asıl başlık stili için tıklatın</a:t>
            </a: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p:cNvSpPr>
            <a:spLocks noGrp="1"/>
          </p:cNvSpPr>
          <p:nvPr>
            <p:ph type="dt" sz="half" idx="10"/>
          </p:nvPr>
        </p:nvSpPr>
        <p:spPr/>
        <p:txBody>
          <a:bodyPr/>
          <a:lstStyle/>
          <a:p>
            <a:fld id="{9C5CF35C-021E-4C32-A06C-09FE78BCF88C}" type="datetimeFigureOut">
              <a:rPr lang="tr-TR" smtClean="0"/>
              <a:t>29.04.2024</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1003305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Veri Yer Tutucusu 2"/>
          <p:cNvSpPr>
            <a:spLocks noGrp="1"/>
          </p:cNvSpPr>
          <p:nvPr>
            <p:ph type="dt" sz="half" idx="10"/>
          </p:nvPr>
        </p:nvSpPr>
        <p:spPr/>
        <p:txBody>
          <a:bodyPr/>
          <a:lstStyle/>
          <a:p>
            <a:fld id="{9C5CF35C-021E-4C32-A06C-09FE78BCF88C}" type="datetimeFigureOut">
              <a:rPr lang="tr-TR" smtClean="0"/>
              <a:t>29.04.2024</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1404048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9C5CF35C-021E-4C32-A06C-09FE78BCF88C}" type="datetimeFigureOut">
              <a:rPr lang="tr-TR" smtClean="0"/>
              <a:t>29.04.2024</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425353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a:t>Asıl başlık stili için tıklatın</a:t>
            </a: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9C5CF35C-021E-4C32-A06C-09FE78BCF88C}" type="datetimeFigureOut">
              <a:rPr lang="tr-TR" smtClean="0"/>
              <a:t>29.04.2024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2268131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a:t>Asıl başlık stili için tıklatın</a:t>
            </a: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Veri Yer Tutucusu 4"/>
          <p:cNvSpPr>
            <a:spLocks noGrp="1"/>
          </p:cNvSpPr>
          <p:nvPr>
            <p:ph type="dt" sz="half" idx="10"/>
          </p:nvPr>
        </p:nvSpPr>
        <p:spPr/>
        <p:txBody>
          <a:bodyPr/>
          <a:lstStyle/>
          <a:p>
            <a:fld id="{9C5CF35C-021E-4C32-A06C-09FE78BCF88C}" type="datetimeFigureOut">
              <a:rPr lang="tr-TR" smtClean="0"/>
              <a:t>29.04.2024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5933572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a:t>Asıl başlık stili için tıklatın</a:t>
            </a:r>
          </a:p>
        </p:txBody>
      </p:sp>
      <p:sp>
        <p:nvSpPr>
          <p:cNvPr id="3" name="Dikey Metin Yer Tutucusu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9C5CF35C-021E-4C32-A06C-09FE78BCF88C}" type="datetimeFigureOut">
              <a:rPr lang="tr-TR" smtClean="0"/>
              <a:t>29.04.2024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3225815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a:t>Asıl başlık stili için tıklatın</a:t>
            </a: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10"/>
          </p:nvPr>
        </p:nvSpPr>
        <p:spPr/>
        <p:txBody>
          <a:bodyPr/>
          <a:lstStyle/>
          <a:p>
            <a:fld id="{9C5CF35C-021E-4C32-A06C-09FE78BCF88C}" type="datetimeFigureOut">
              <a:rPr lang="tr-TR" smtClean="0"/>
              <a:t>29.04.2024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65A2A88E-8F38-47A6-89BB-36104EE7BA69}" type="slidenum">
              <a:rPr lang="tr-TR" smtClean="0"/>
              <a:t>‹#›</a:t>
            </a:fld>
            <a:endParaRPr lang="tr-TR"/>
          </a:p>
        </p:txBody>
      </p:sp>
    </p:spTree>
    <p:extLst>
      <p:ext uri="{BB962C8B-B14F-4D97-AF65-F5344CB8AC3E}">
        <p14:creationId xmlns:p14="http://schemas.microsoft.com/office/powerpoint/2010/main" val="4246977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a:t>Asıl başlık stili için tıklatın</a:t>
            </a:r>
          </a:p>
        </p:txBody>
      </p:sp>
      <p:sp>
        <p:nvSpPr>
          <p:cNvPr id="3" name="Metin Yer Tutucusu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5CF35C-021E-4C32-A06C-09FE78BCF88C}" type="datetimeFigureOut">
              <a:rPr lang="tr-TR" smtClean="0"/>
              <a:t>29.04.2024</a:t>
            </a:fld>
            <a:endParaRPr lang="tr-TR"/>
          </a:p>
        </p:txBody>
      </p:sp>
      <p:sp>
        <p:nvSpPr>
          <p:cNvPr id="5" name="Altbilgi Yer Tutucusu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A2A88E-8F38-47A6-89BB-36104EE7BA69}" type="slidenum">
              <a:rPr lang="tr-TR" smtClean="0"/>
              <a:t>‹#›</a:t>
            </a:fld>
            <a:endParaRPr lang="tr-TR"/>
          </a:p>
        </p:txBody>
      </p:sp>
    </p:spTree>
    <p:extLst>
      <p:ext uri="{BB962C8B-B14F-4D97-AF65-F5344CB8AC3E}">
        <p14:creationId xmlns:p14="http://schemas.microsoft.com/office/powerpoint/2010/main" val="32364858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p:txBody>
          <a:bodyPr/>
          <a:lstStyle/>
          <a:p>
            <a:r>
              <a:rPr lang="tr-TR" dirty="0"/>
              <a:t>Güvenlik Duvarları</a:t>
            </a:r>
          </a:p>
        </p:txBody>
      </p:sp>
      <p:sp>
        <p:nvSpPr>
          <p:cNvPr id="3" name="Alt Başlık 2"/>
          <p:cNvSpPr>
            <a:spLocks noGrp="1"/>
          </p:cNvSpPr>
          <p:nvPr>
            <p:ph type="subTitle" idx="1"/>
          </p:nvPr>
        </p:nvSpPr>
        <p:spPr/>
        <p:txBody>
          <a:bodyPr/>
          <a:lstStyle/>
          <a:p>
            <a:r>
              <a:rPr lang="tr-TR" dirty="0" err="1"/>
              <a:t>Firewalls</a:t>
            </a:r>
            <a:endParaRPr lang="tr-TR" dirty="0"/>
          </a:p>
        </p:txBody>
      </p:sp>
    </p:spTree>
    <p:extLst>
      <p:ext uri="{BB962C8B-B14F-4D97-AF65-F5344CB8AC3E}">
        <p14:creationId xmlns:p14="http://schemas.microsoft.com/office/powerpoint/2010/main" val="13985515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Konular</a:t>
            </a:r>
          </a:p>
        </p:txBody>
      </p:sp>
      <p:sp>
        <p:nvSpPr>
          <p:cNvPr id="3" name="İçerik Yer Tutucusu 2"/>
          <p:cNvSpPr>
            <a:spLocks noGrp="1"/>
          </p:cNvSpPr>
          <p:nvPr>
            <p:ph idx="1"/>
          </p:nvPr>
        </p:nvSpPr>
        <p:spPr>
          <a:xfrm>
            <a:off x="457200" y="1268760"/>
            <a:ext cx="8229600" cy="4857403"/>
          </a:xfrm>
        </p:spPr>
        <p:txBody>
          <a:bodyPr>
            <a:normAutofit fontScale="85000" lnSpcReduction="10000"/>
          </a:bodyPr>
          <a:lstStyle/>
          <a:p>
            <a:r>
              <a:rPr lang="tr-TR" dirty="0"/>
              <a:t>Temel Güvenlik Duvarı İşlemleri</a:t>
            </a:r>
          </a:p>
          <a:p>
            <a:r>
              <a:rPr lang="tr-TR" dirty="0"/>
              <a:t>Güvenlik Duvarı Filtreleme Mekanizması</a:t>
            </a:r>
          </a:p>
          <a:p>
            <a:r>
              <a:rPr lang="tr-TR" dirty="0"/>
              <a:t>Statik Paket filtreleme</a:t>
            </a:r>
          </a:p>
          <a:p>
            <a:r>
              <a:rPr lang="tr-TR" dirty="0"/>
              <a:t>Durumsal Paket Denetimi</a:t>
            </a:r>
          </a:p>
          <a:p>
            <a:r>
              <a:rPr lang="tr-TR" dirty="0"/>
              <a:t>NAT</a:t>
            </a:r>
          </a:p>
          <a:p>
            <a:r>
              <a:rPr lang="tr-TR" dirty="0"/>
              <a:t>Proxy Firewall Uygulaması</a:t>
            </a:r>
          </a:p>
          <a:p>
            <a:r>
              <a:rPr lang="tr-TR" dirty="0"/>
              <a:t>Anti virüs Filtreleme ve Birleştirilmiş Tehdit Yönetimi</a:t>
            </a:r>
          </a:p>
          <a:p>
            <a:r>
              <a:rPr lang="tr-TR" dirty="0"/>
              <a:t>Firewall Mimarisi ve Yönetimi</a:t>
            </a:r>
          </a:p>
          <a:p>
            <a:r>
              <a:rPr lang="tr-TR" dirty="0" err="1"/>
              <a:t>Log</a:t>
            </a:r>
            <a:r>
              <a:rPr lang="tr-TR" dirty="0"/>
              <a:t> Dosyalar</a:t>
            </a:r>
          </a:p>
          <a:p>
            <a:r>
              <a:rPr lang="tr-TR" dirty="0"/>
              <a:t>Firewall </a:t>
            </a:r>
            <a:r>
              <a:rPr lang="tr-TR"/>
              <a:t>Filtreleme Problemleri</a:t>
            </a:r>
            <a:endParaRPr lang="tr-TR" dirty="0"/>
          </a:p>
          <a:p>
            <a:endParaRPr lang="tr-TR" dirty="0"/>
          </a:p>
          <a:p>
            <a:endParaRPr lang="tr-TR" dirty="0"/>
          </a:p>
        </p:txBody>
      </p:sp>
    </p:spTree>
    <p:extLst>
      <p:ext uri="{BB962C8B-B14F-4D97-AF65-F5344CB8AC3E}">
        <p14:creationId xmlns:p14="http://schemas.microsoft.com/office/powerpoint/2010/main" val="5851663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GİRİŞ</a:t>
            </a:r>
            <a:endParaRPr lang="tr-TR" dirty="0"/>
          </a:p>
        </p:txBody>
      </p:sp>
      <p:sp>
        <p:nvSpPr>
          <p:cNvPr id="3" name="İçerik Yer Tutucusu 2"/>
          <p:cNvSpPr>
            <a:spLocks noGrp="1"/>
          </p:cNvSpPr>
          <p:nvPr>
            <p:ph idx="1"/>
          </p:nvPr>
        </p:nvSpPr>
        <p:spPr/>
        <p:txBody>
          <a:bodyPr>
            <a:normAutofit fontScale="92500"/>
          </a:bodyPr>
          <a:lstStyle/>
          <a:p>
            <a:r>
              <a:rPr lang="tr-TR" dirty="0"/>
              <a:t>İşletmelerin intranet ve </a:t>
            </a:r>
            <a:r>
              <a:rPr lang="tr-TR" dirty="0" err="1"/>
              <a:t>extranet</a:t>
            </a:r>
            <a:r>
              <a:rPr lang="tr-TR" dirty="0"/>
              <a:t> uygulamaları dolayısıyla dış dünyayla olan bağlantıları artmıştır. Böyle sistem yapılarının saldırılardan korunması daha zordur</a:t>
            </a:r>
            <a:r>
              <a:rPr lang="tr-TR" dirty="0" smtClean="0"/>
              <a:t>.</a:t>
            </a:r>
          </a:p>
          <a:p>
            <a:r>
              <a:rPr lang="tr-TR" dirty="0"/>
              <a:t>Terim olarak güvenlik duvarı (firewall) özel bir donanım ya da yazılım parçası değildir. Sadece iç ağı dışarıdan gelebilecek saldırılardan, davetsiz misafirlerden koruyabilmek için kullanılan donanım ve/veya yazılım çözümüdür</a:t>
            </a:r>
            <a:r>
              <a:rPr lang="tr-TR" dirty="0" smtClean="0"/>
              <a:t>.</a:t>
            </a:r>
            <a:endParaRPr lang="tr-TR" dirty="0" smtClean="0"/>
          </a:p>
        </p:txBody>
      </p:sp>
    </p:spTree>
    <p:extLst>
      <p:ext uri="{BB962C8B-B14F-4D97-AF65-F5344CB8AC3E}">
        <p14:creationId xmlns:p14="http://schemas.microsoft.com/office/powerpoint/2010/main" val="24269393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Temel Kavram</a:t>
            </a:r>
          </a:p>
        </p:txBody>
      </p:sp>
      <p:sp>
        <p:nvSpPr>
          <p:cNvPr id="3" name="İçerik Yer Tutucusu 2"/>
          <p:cNvSpPr>
            <a:spLocks noGrp="1"/>
          </p:cNvSpPr>
          <p:nvPr>
            <p:ph idx="1"/>
          </p:nvPr>
        </p:nvSpPr>
        <p:spPr/>
        <p:txBody>
          <a:bodyPr>
            <a:normAutofit fontScale="85000" lnSpcReduction="10000"/>
          </a:bodyPr>
          <a:lstStyle/>
          <a:p>
            <a:r>
              <a:rPr lang="tr-TR" dirty="0"/>
              <a:t>Güvenlik duvarı (firewall), bir korumalı ağa giren ve çıkan haberleşme trafiğine, belirli (tanımlanmış) </a:t>
            </a:r>
            <a:r>
              <a:rPr lang="tr-TR" dirty="0" smtClean="0"/>
              <a:t>bir güvenlik </a:t>
            </a:r>
            <a:r>
              <a:rPr lang="tr-TR" dirty="0"/>
              <a:t>politikası (</a:t>
            </a:r>
            <a:r>
              <a:rPr lang="tr-TR" dirty="0" err="1"/>
              <a:t>security</a:t>
            </a:r>
            <a:r>
              <a:rPr lang="tr-TR" dirty="0"/>
              <a:t> </a:t>
            </a:r>
            <a:r>
              <a:rPr lang="tr-TR" dirty="0" err="1"/>
              <a:t>policy</a:t>
            </a:r>
            <a:r>
              <a:rPr lang="tr-TR" dirty="0"/>
              <a:t>) uygulayan, donanım ve </a:t>
            </a:r>
            <a:r>
              <a:rPr lang="tr-TR" dirty="0" smtClean="0"/>
              <a:t>yazılım mekanizmalarından </a:t>
            </a:r>
            <a:r>
              <a:rPr lang="tr-TR" dirty="0"/>
              <a:t>oluşan bir teknolojidir. Güvenlik politikası belli bir ağı korumak için geliştirilen bir plandır.</a:t>
            </a:r>
          </a:p>
          <a:p>
            <a:r>
              <a:rPr lang="tr-TR" dirty="0" smtClean="0"/>
              <a:t>Güvenlik </a:t>
            </a:r>
            <a:r>
              <a:rPr lang="tr-TR" dirty="0"/>
              <a:t>Duvarı, Ağlar veya bilgisayarlar arasındaki ağ trafiğinin akışını kontrol eden cihazlar veya programlardır.</a:t>
            </a:r>
          </a:p>
          <a:p>
            <a:r>
              <a:rPr lang="tr-TR" dirty="0"/>
              <a:t>Güvenlik duvarlarını uygulama trafiğini incelemek ve politika kararları için temel olarak kullanabilirsiniz.</a:t>
            </a:r>
          </a:p>
        </p:txBody>
      </p:sp>
    </p:spTree>
    <p:extLst>
      <p:ext uri="{BB962C8B-B14F-4D97-AF65-F5344CB8AC3E}">
        <p14:creationId xmlns:p14="http://schemas.microsoft.com/office/powerpoint/2010/main" val="30073781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Güvenlik Duvarı</a:t>
            </a:r>
            <a:endParaRPr lang="tr-TR" dirty="0"/>
          </a:p>
        </p:txBody>
      </p:sp>
      <p:pic>
        <p:nvPicPr>
          <p:cNvPr id="4" name="İçerik Yer Tutucusu 3" descr="Ekran Kırpma"/>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9672" y="2420888"/>
            <a:ext cx="5290406" cy="2564720"/>
          </a:xfrm>
        </p:spPr>
      </p:pic>
    </p:spTree>
    <p:extLst>
      <p:ext uri="{BB962C8B-B14F-4D97-AF65-F5344CB8AC3E}">
        <p14:creationId xmlns:p14="http://schemas.microsoft.com/office/powerpoint/2010/main" val="2496561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Niçin Güvenlik Duvarı?</a:t>
            </a:r>
            <a:endParaRPr lang="tr-TR" dirty="0"/>
          </a:p>
        </p:txBody>
      </p:sp>
      <p:sp>
        <p:nvSpPr>
          <p:cNvPr id="3" name="İçerik Yer Tutucusu 2"/>
          <p:cNvSpPr>
            <a:spLocks noGrp="1"/>
          </p:cNvSpPr>
          <p:nvPr>
            <p:ph idx="1"/>
          </p:nvPr>
        </p:nvSpPr>
        <p:spPr/>
        <p:txBody>
          <a:bodyPr/>
          <a:lstStyle/>
          <a:p>
            <a:r>
              <a:rPr lang="tr-TR" dirty="0"/>
              <a:t>Zayıf servislerden </a:t>
            </a:r>
            <a:r>
              <a:rPr lang="tr-TR" dirty="0" smtClean="0"/>
              <a:t>koruma</a:t>
            </a:r>
          </a:p>
          <a:p>
            <a:r>
              <a:rPr lang="tr-TR" dirty="0"/>
              <a:t>Sisteme kontrollü </a:t>
            </a:r>
            <a:r>
              <a:rPr lang="tr-TR" dirty="0" smtClean="0"/>
              <a:t>girişler</a:t>
            </a:r>
          </a:p>
          <a:p>
            <a:r>
              <a:rPr lang="tr-TR" dirty="0"/>
              <a:t>Yoğunlaştırılmış </a:t>
            </a:r>
            <a:r>
              <a:rPr lang="tr-TR" dirty="0" smtClean="0"/>
              <a:t>güvenlik</a:t>
            </a:r>
          </a:p>
          <a:p>
            <a:r>
              <a:rPr lang="tr-TR" dirty="0"/>
              <a:t>Mahremiyeti </a:t>
            </a:r>
            <a:r>
              <a:rPr lang="tr-TR" dirty="0" smtClean="0"/>
              <a:t>Artırmak</a:t>
            </a:r>
          </a:p>
          <a:p>
            <a:r>
              <a:rPr lang="tr-TR" dirty="0"/>
              <a:t>Ağ Kullanımındaki Girişler ve </a:t>
            </a:r>
            <a:r>
              <a:rPr lang="tr-TR" dirty="0" smtClean="0"/>
              <a:t>İstatistikler</a:t>
            </a:r>
          </a:p>
          <a:p>
            <a:r>
              <a:rPr lang="tr-TR" dirty="0"/>
              <a:t>Politikayı Güçlendirmek</a:t>
            </a:r>
          </a:p>
        </p:txBody>
      </p:sp>
    </p:spTree>
    <p:extLst>
      <p:ext uri="{BB962C8B-B14F-4D97-AF65-F5344CB8AC3E}">
        <p14:creationId xmlns:p14="http://schemas.microsoft.com/office/powerpoint/2010/main" val="3624717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Firewall Karakteristikleri</a:t>
            </a:r>
          </a:p>
        </p:txBody>
      </p:sp>
      <p:sp>
        <p:nvSpPr>
          <p:cNvPr id="3" name="İçerik Yer Tutucusu 2"/>
          <p:cNvSpPr>
            <a:spLocks noGrp="1"/>
          </p:cNvSpPr>
          <p:nvPr>
            <p:ph idx="1"/>
          </p:nvPr>
        </p:nvSpPr>
        <p:spPr/>
        <p:txBody>
          <a:bodyPr/>
          <a:lstStyle/>
          <a:p>
            <a:r>
              <a:rPr lang="tr-TR" dirty="0"/>
              <a:t>Erişim kontrolü ve Güvenlik politikaları için kullandığı teknikler;</a:t>
            </a:r>
          </a:p>
          <a:p>
            <a:pPr lvl="1"/>
            <a:r>
              <a:rPr lang="tr-TR" dirty="0"/>
              <a:t>Servis Kontrolü</a:t>
            </a:r>
          </a:p>
          <a:p>
            <a:pPr lvl="1"/>
            <a:r>
              <a:rPr lang="tr-TR" dirty="0"/>
              <a:t>Yön kontrolü</a:t>
            </a:r>
          </a:p>
          <a:p>
            <a:pPr lvl="1"/>
            <a:r>
              <a:rPr lang="tr-TR" dirty="0"/>
              <a:t>Kullanıcı Kontrolü</a:t>
            </a:r>
          </a:p>
          <a:p>
            <a:pPr lvl="1"/>
            <a:r>
              <a:rPr lang="tr-TR" dirty="0"/>
              <a:t>Davranış Kontrolü</a:t>
            </a:r>
          </a:p>
        </p:txBody>
      </p:sp>
    </p:spTree>
    <p:extLst>
      <p:ext uri="{BB962C8B-B14F-4D97-AF65-F5344CB8AC3E}">
        <p14:creationId xmlns:p14="http://schemas.microsoft.com/office/powerpoint/2010/main" val="6158139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Güvenlik Duvarından beklentiler</a:t>
            </a:r>
          </a:p>
        </p:txBody>
      </p:sp>
      <p:sp>
        <p:nvSpPr>
          <p:cNvPr id="3" name="İçerik Yer Tutucusu 2"/>
          <p:cNvSpPr>
            <a:spLocks noGrp="1"/>
          </p:cNvSpPr>
          <p:nvPr>
            <p:ph idx="1"/>
          </p:nvPr>
        </p:nvSpPr>
        <p:spPr/>
        <p:txBody>
          <a:bodyPr>
            <a:normAutofit fontScale="70000" lnSpcReduction="20000"/>
          </a:bodyPr>
          <a:lstStyle/>
          <a:p>
            <a:pPr marL="0" indent="0">
              <a:buNone/>
            </a:pPr>
            <a:r>
              <a:rPr lang="tr-TR" b="1" dirty="0"/>
              <a:t>Sağlanacak yararlar. </a:t>
            </a:r>
            <a:endParaRPr lang="tr-TR" b="1" dirty="0" smtClean="0"/>
          </a:p>
          <a:p>
            <a:pPr marL="0" indent="0">
              <a:buNone/>
            </a:pPr>
            <a:r>
              <a:rPr lang="tr-TR" dirty="0" smtClean="0"/>
              <a:t>1</a:t>
            </a:r>
            <a:r>
              <a:rPr lang="tr-TR" dirty="0"/>
              <a:t>. Güvenlik duvarı, yetkisiz kullanıcıların korunan ağın dışına çıkmasını önleyen, potansiyel güvenlik zayıflıkları olan servislerin </a:t>
            </a:r>
            <a:r>
              <a:rPr lang="tr-TR" dirty="0" err="1"/>
              <a:t>ağ’a</a:t>
            </a:r>
            <a:r>
              <a:rPr lang="tr-TR" dirty="0"/>
              <a:t> girmesini ve çıkmasını önleyen, ve değişik IP aldatması veya yönlendirme saldırılarını kısıtlayan tek bir tıkama noktası oluşturur. Tek bir tıkama noktasının kullanılması güvenlik yönetimini kolaylaştırır.</a:t>
            </a:r>
          </a:p>
          <a:p>
            <a:pPr marL="0" indent="0">
              <a:buNone/>
            </a:pPr>
            <a:r>
              <a:rPr lang="tr-TR" dirty="0"/>
              <a:t>2. Bir Güvenlik duvarı, güvenlikle ilgili olayların görüntülenmesi için bir yer oluşturur. Denetim ve alarmlar güvenlik duvarı üzerinde ayarlanabilir. </a:t>
            </a:r>
            <a:endParaRPr lang="tr-TR" dirty="0" smtClean="0"/>
          </a:p>
          <a:p>
            <a:pPr marL="0" indent="0">
              <a:buNone/>
            </a:pPr>
            <a:r>
              <a:rPr lang="tr-TR" dirty="0" smtClean="0"/>
              <a:t>3</a:t>
            </a:r>
            <a:r>
              <a:rPr lang="tr-TR" dirty="0"/>
              <a:t>. Bir güvenlik duvarı güvenlik </a:t>
            </a:r>
            <a:r>
              <a:rPr lang="tr-TR" dirty="0" smtClean="0"/>
              <a:t>ile alakalı </a:t>
            </a:r>
            <a:r>
              <a:rPr lang="tr-TR" dirty="0"/>
              <a:t>olmayan Internet fonksiyonları için uygun </a:t>
            </a:r>
            <a:r>
              <a:rPr lang="tr-TR" dirty="0" smtClean="0"/>
              <a:t>bir platformdur</a:t>
            </a:r>
            <a:r>
              <a:rPr lang="tr-TR" dirty="0"/>
              <a:t>. Bunlar Ağ adres dönüşümü ve İnternet kullanımındaki denetim ve </a:t>
            </a:r>
            <a:r>
              <a:rPr lang="tr-TR" dirty="0" err="1"/>
              <a:t>loglar</a:t>
            </a:r>
            <a:r>
              <a:rPr lang="tr-TR" dirty="0"/>
              <a:t> dan sağlanan yönetimdir.</a:t>
            </a:r>
          </a:p>
          <a:p>
            <a:pPr marL="0" indent="0">
              <a:buNone/>
            </a:pPr>
            <a:r>
              <a:rPr lang="tr-TR" dirty="0"/>
              <a:t>4. Bir güvenlik duvarı </a:t>
            </a:r>
            <a:r>
              <a:rPr lang="tr-TR" dirty="0" err="1"/>
              <a:t>IPSec</a:t>
            </a:r>
            <a:r>
              <a:rPr lang="tr-TR" dirty="0"/>
              <a:t> için bir platform görevi yapabilir</a:t>
            </a:r>
            <a:r>
              <a:rPr lang="tr-TR" dirty="0" smtClean="0"/>
              <a:t>. Tünel </a:t>
            </a:r>
            <a:r>
              <a:rPr lang="tr-TR" dirty="0" err="1"/>
              <a:t>modunda</a:t>
            </a:r>
            <a:r>
              <a:rPr lang="tr-TR" dirty="0"/>
              <a:t> çalışma kapasitesi nedeniyle, Sanal Özel Ağ </a:t>
            </a:r>
            <a:r>
              <a:rPr lang="tr-TR" dirty="0" err="1"/>
              <a:t>gerçeklenmesi</a:t>
            </a:r>
            <a:r>
              <a:rPr lang="tr-TR" dirty="0"/>
              <a:t> kullanılabilir.</a:t>
            </a:r>
          </a:p>
        </p:txBody>
      </p:sp>
    </p:spTree>
    <p:extLst>
      <p:ext uri="{BB962C8B-B14F-4D97-AF65-F5344CB8AC3E}">
        <p14:creationId xmlns:p14="http://schemas.microsoft.com/office/powerpoint/2010/main" val="4112819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Güvenlik Duvarından beklentiler</a:t>
            </a:r>
          </a:p>
        </p:txBody>
      </p:sp>
      <p:sp>
        <p:nvSpPr>
          <p:cNvPr id="3" name="İçerik Yer Tutucusu 2"/>
          <p:cNvSpPr>
            <a:spLocks noGrp="1"/>
          </p:cNvSpPr>
          <p:nvPr>
            <p:ph idx="1"/>
          </p:nvPr>
        </p:nvSpPr>
        <p:spPr/>
        <p:txBody>
          <a:bodyPr>
            <a:normAutofit fontScale="85000" lnSpcReduction="20000"/>
          </a:bodyPr>
          <a:lstStyle/>
          <a:p>
            <a:r>
              <a:rPr lang="tr-TR" dirty="0"/>
              <a:t>Güvenlik duvarının sınırlamaları </a:t>
            </a:r>
            <a:endParaRPr lang="tr-TR" dirty="0" smtClean="0"/>
          </a:p>
          <a:p>
            <a:pPr marL="0" indent="0">
              <a:buNone/>
            </a:pPr>
            <a:r>
              <a:rPr lang="tr-TR" dirty="0" smtClean="0"/>
              <a:t>1</a:t>
            </a:r>
            <a:r>
              <a:rPr lang="tr-TR" dirty="0"/>
              <a:t>. Güvenlik duvarı kendisine uğramadan geçen saldırılara karşı koruma yapamaz. İç sistem bir ISP’ye bağlantı için çevirmeli hat kullanabilir veya modem havuzu bulunabilir. Bu tür bağlantılar güvenlik duvarını devre dışı bırakabilir.</a:t>
            </a:r>
          </a:p>
          <a:p>
            <a:pPr marL="0" indent="0">
              <a:buNone/>
            </a:pPr>
            <a:r>
              <a:rPr lang="tr-TR" dirty="0"/>
              <a:t>2. Güvenlik duvarı dış saldırgan ile işbirliği yapan iç tehditlere karşı koruma </a:t>
            </a:r>
            <a:r>
              <a:rPr lang="tr-TR" dirty="0" smtClean="0"/>
              <a:t>sağlayamaz. </a:t>
            </a:r>
          </a:p>
          <a:p>
            <a:pPr marL="0" indent="0">
              <a:buNone/>
            </a:pPr>
            <a:r>
              <a:rPr lang="tr-TR" dirty="0" smtClean="0"/>
              <a:t>3</a:t>
            </a:r>
            <a:r>
              <a:rPr lang="tr-TR" dirty="0"/>
              <a:t>. Güvenlik duvarı virüs bulaşmış olan dosya ve programların iletilmesine karşı koruma sağlayamaz. Değişik işletim sistemi ve desteklenen yazılım çeşitliliği nedeniyle bütün dosyaların virüs testine tabi tutulması pratik değil hatta imkansızdır.</a:t>
            </a:r>
          </a:p>
        </p:txBody>
      </p:sp>
    </p:spTree>
    <p:extLst>
      <p:ext uri="{BB962C8B-B14F-4D97-AF65-F5344CB8AC3E}">
        <p14:creationId xmlns:p14="http://schemas.microsoft.com/office/powerpoint/2010/main" val="14401135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Güvenlik Duvarı Türleri</a:t>
            </a:r>
          </a:p>
        </p:txBody>
      </p:sp>
      <p:sp>
        <p:nvSpPr>
          <p:cNvPr id="3" name="İçerik Yer Tutucusu 2"/>
          <p:cNvSpPr>
            <a:spLocks noGrp="1"/>
          </p:cNvSpPr>
          <p:nvPr>
            <p:ph idx="1"/>
          </p:nvPr>
        </p:nvSpPr>
        <p:spPr/>
        <p:txBody>
          <a:bodyPr>
            <a:normAutofit fontScale="70000" lnSpcReduction="20000"/>
          </a:bodyPr>
          <a:lstStyle/>
          <a:p>
            <a:r>
              <a:rPr lang="tr-TR" b="1" dirty="0"/>
              <a:t>Paket Filtreleyen Güvenlik Duvarı </a:t>
            </a:r>
          </a:p>
          <a:p>
            <a:pPr lvl="1"/>
            <a:r>
              <a:rPr lang="tr-TR" b="1" dirty="0"/>
              <a:t>IP </a:t>
            </a:r>
            <a:r>
              <a:rPr lang="tr-TR" b="1" dirty="0" err="1"/>
              <a:t>address</a:t>
            </a:r>
            <a:r>
              <a:rPr lang="tr-TR" b="1" dirty="0"/>
              <a:t> </a:t>
            </a:r>
            <a:r>
              <a:rPr lang="tr-TR" b="1" dirty="0" err="1"/>
              <a:t>spoofing</a:t>
            </a:r>
            <a:endParaRPr lang="tr-TR" b="1" dirty="0"/>
          </a:p>
          <a:p>
            <a:pPr lvl="1"/>
            <a:r>
              <a:rPr lang="tr-TR" b="1" dirty="0"/>
              <a:t>Source </a:t>
            </a:r>
            <a:r>
              <a:rPr lang="tr-TR" b="1" dirty="0" err="1"/>
              <a:t>routing</a:t>
            </a:r>
            <a:r>
              <a:rPr lang="tr-TR" b="1" dirty="0"/>
              <a:t> saldırıları</a:t>
            </a:r>
          </a:p>
          <a:p>
            <a:pPr lvl="1"/>
            <a:r>
              <a:rPr lang="tr-TR" b="1" dirty="0" err="1"/>
              <a:t>Tiny</a:t>
            </a:r>
            <a:r>
              <a:rPr lang="tr-TR" b="1" dirty="0"/>
              <a:t> </a:t>
            </a:r>
            <a:r>
              <a:rPr lang="tr-TR" b="1" dirty="0" err="1"/>
              <a:t>fragment</a:t>
            </a:r>
            <a:r>
              <a:rPr lang="tr-TR" b="1" dirty="0"/>
              <a:t> saldırıları filtreleyebilir.</a:t>
            </a:r>
          </a:p>
          <a:p>
            <a:pPr lvl="1"/>
            <a:r>
              <a:rPr lang="tr-TR" dirty="0"/>
              <a:t>Yapısı</a:t>
            </a:r>
          </a:p>
          <a:p>
            <a:pPr lvl="2"/>
            <a:r>
              <a:rPr lang="tr-TR" dirty="0"/>
              <a:t>Kaynak IP</a:t>
            </a:r>
          </a:p>
          <a:p>
            <a:pPr lvl="2"/>
            <a:r>
              <a:rPr lang="tr-TR" dirty="0"/>
              <a:t>Hedef IP</a:t>
            </a:r>
          </a:p>
          <a:p>
            <a:pPr lvl="2"/>
            <a:r>
              <a:rPr lang="tr-TR" dirty="0"/>
              <a:t>Kaynak ve Hedef iletim katmanı adresi (port </a:t>
            </a:r>
            <a:r>
              <a:rPr lang="tr-TR" dirty="0" err="1"/>
              <a:t>no</a:t>
            </a:r>
            <a:r>
              <a:rPr lang="tr-TR" dirty="0"/>
              <a:t>)</a:t>
            </a:r>
          </a:p>
          <a:p>
            <a:pPr lvl="2"/>
            <a:r>
              <a:rPr lang="tr-TR" dirty="0"/>
              <a:t>IP Protokol alanı</a:t>
            </a:r>
          </a:p>
          <a:p>
            <a:pPr lvl="2"/>
            <a:r>
              <a:rPr lang="tr-TR" dirty="0" err="1"/>
              <a:t>Arayüz</a:t>
            </a:r>
            <a:endParaRPr lang="tr-TR" dirty="0"/>
          </a:p>
          <a:p>
            <a:pPr marL="457200" lvl="1" indent="0">
              <a:buNone/>
            </a:pPr>
            <a:endParaRPr lang="tr-TR" dirty="0"/>
          </a:p>
          <a:p>
            <a:r>
              <a:rPr lang="tr-TR" b="1" dirty="0"/>
              <a:t>Durum Denetleme Güvenlik Duvarı </a:t>
            </a:r>
          </a:p>
          <a:p>
            <a:r>
              <a:rPr lang="tr-TR" b="1" dirty="0"/>
              <a:t>Uygulama Proxy(Vekil) Güvenlik Duvarı(Gateway)</a:t>
            </a:r>
          </a:p>
          <a:p>
            <a:r>
              <a:rPr lang="tr-TR" b="1" dirty="0"/>
              <a:t>Devre Katmanlı Proxy Güvenlik Duvarı(Gateway)</a:t>
            </a:r>
          </a:p>
        </p:txBody>
      </p:sp>
    </p:spTree>
    <p:extLst>
      <p:ext uri="{BB962C8B-B14F-4D97-AF65-F5344CB8AC3E}">
        <p14:creationId xmlns:p14="http://schemas.microsoft.com/office/powerpoint/2010/main" val="33620139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p:txBody>
          <a:bodyPr/>
          <a:lstStyle/>
          <a:p>
            <a:r>
              <a:rPr lang="tr-TR" dirty="0"/>
              <a:t>Güvenlik Duvarı Topolojileri</a:t>
            </a:r>
          </a:p>
        </p:txBody>
      </p:sp>
      <p:sp>
        <p:nvSpPr>
          <p:cNvPr id="2" name="İçerik Yer Tutucusu 1">
            <a:extLst>
              <a:ext uri="{FF2B5EF4-FFF2-40B4-BE49-F238E27FC236}">
                <a16:creationId xmlns:a16="http://schemas.microsoft.com/office/drawing/2014/main" id="{2F250651-C993-4F41-B795-86F3708B9479}"/>
              </a:ext>
            </a:extLst>
          </p:cNvPr>
          <p:cNvSpPr>
            <a:spLocks noGrp="1"/>
          </p:cNvSpPr>
          <p:nvPr>
            <p:ph idx="1"/>
          </p:nvPr>
        </p:nvSpPr>
        <p:spPr/>
        <p:txBody>
          <a:bodyPr/>
          <a:lstStyle/>
          <a:p>
            <a:r>
              <a:rPr lang="tr-TR" sz="1800" b="0" i="0" u="none" strike="noStrike" baseline="0" dirty="0">
                <a:solidFill>
                  <a:srgbClr val="000000"/>
                </a:solidFill>
                <a:latin typeface="Times New Roman" panose="02020603050405020304" pitchFamily="18" charset="0"/>
              </a:rPr>
              <a:t>Güvenlik duvarının mimari topoloji içindeki konumu oldukça önemlidir. Hatalı bir konumlandırma yapıldığı takdirde güvenlik duvarı işlevini tam anlamıyla yerine getiremeyecektir. Bu amaçla güvenlik duvarı bütün ağ </a:t>
            </a:r>
            <a:r>
              <a:rPr lang="tr-TR" sz="1800" b="0" i="0" u="none" strike="noStrike" baseline="0" dirty="0" err="1">
                <a:solidFill>
                  <a:srgbClr val="000000"/>
                </a:solidFill>
                <a:latin typeface="Times New Roman" panose="02020603050405020304" pitchFamily="18" charset="0"/>
              </a:rPr>
              <a:t>segmentleri</a:t>
            </a:r>
            <a:r>
              <a:rPr lang="tr-TR" sz="1800" b="0" i="0" u="none" strike="noStrike" baseline="0" dirty="0">
                <a:solidFill>
                  <a:srgbClr val="000000"/>
                </a:solidFill>
                <a:latin typeface="Times New Roman" panose="02020603050405020304" pitchFamily="18" charset="0"/>
              </a:rPr>
              <a:t> arasındaki ağ trafiğini denetleyebilecek bir şekilde konumlandırılmalıdır. </a:t>
            </a:r>
          </a:p>
          <a:p>
            <a:endParaRPr lang="tr-TR" sz="180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Genellikle güvenlik duvarı, iç ağ(</a:t>
            </a:r>
            <a:r>
              <a:rPr lang="tr-TR" sz="1800" b="0" i="0" u="none" strike="noStrike" baseline="0" dirty="0" err="1">
                <a:solidFill>
                  <a:srgbClr val="000000"/>
                </a:solidFill>
                <a:latin typeface="Times New Roman" panose="02020603050405020304" pitchFamily="18" charset="0"/>
              </a:rPr>
              <a:t>lar</a:t>
            </a:r>
            <a:r>
              <a:rPr lang="tr-TR" sz="1800" b="0" i="0" u="none" strike="noStrike" baseline="0" dirty="0">
                <a:solidFill>
                  <a:srgbClr val="000000"/>
                </a:solidFill>
                <a:latin typeface="Times New Roman" panose="02020603050405020304" pitchFamily="18" charset="0"/>
              </a:rPr>
              <a:t>)</a:t>
            </a:r>
            <a:r>
              <a:rPr lang="tr-TR" sz="1800" b="0" i="0" u="none" strike="noStrike" baseline="0" dirty="0" err="1">
                <a:solidFill>
                  <a:srgbClr val="000000"/>
                </a:solidFill>
                <a:latin typeface="Times New Roman" panose="02020603050405020304" pitchFamily="18" charset="0"/>
              </a:rPr>
              <a:t>ın</a:t>
            </a:r>
            <a:r>
              <a:rPr lang="tr-TR" sz="1800" b="0" i="0" u="none" strike="noStrike" baseline="0" dirty="0">
                <a:solidFill>
                  <a:srgbClr val="000000"/>
                </a:solidFill>
                <a:latin typeface="Times New Roman" panose="02020603050405020304" pitchFamily="18" charset="0"/>
              </a:rPr>
              <a:t> dış ağa tam çıktığı noktada yönlendiriciden önce konumlandırılmaktadır. Ancak bu şekilde güvenlik duvarı tüm ağlar arasında akan ağ trafiğinin denetimini yapabilir. </a:t>
            </a:r>
            <a:endParaRPr lang="tr-TR" dirty="0"/>
          </a:p>
        </p:txBody>
      </p:sp>
    </p:spTree>
    <p:extLst>
      <p:ext uri="{BB962C8B-B14F-4D97-AF65-F5344CB8AC3E}">
        <p14:creationId xmlns:p14="http://schemas.microsoft.com/office/powerpoint/2010/main" val="36028390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a:xfrm>
            <a:off x="457200" y="274638"/>
            <a:ext cx="8229600" cy="634082"/>
          </a:xfrm>
        </p:spPr>
        <p:txBody>
          <a:bodyPr anchor="ctr">
            <a:normAutofit fontScale="90000"/>
          </a:bodyPr>
          <a:lstStyle/>
          <a:p>
            <a:r>
              <a:rPr lang="tr-TR" dirty="0"/>
              <a:t>Tipik Bir güvenlik Duvarı Topolojisi</a:t>
            </a:r>
          </a:p>
        </p:txBody>
      </p:sp>
      <p:sp>
        <p:nvSpPr>
          <p:cNvPr id="71" name="Content Placeholder 2">
            <a:extLst>
              <a:ext uri="{FF2B5EF4-FFF2-40B4-BE49-F238E27FC236}">
                <a16:creationId xmlns:a16="http://schemas.microsoft.com/office/drawing/2014/main" id="{857FA310-FF75-4238-9577-C3490948485B}"/>
              </a:ext>
            </a:extLst>
          </p:cNvPr>
          <p:cNvSpPr>
            <a:spLocks noGrp="1"/>
          </p:cNvSpPr>
          <p:nvPr>
            <p:ph sz="half" idx="1"/>
          </p:nvPr>
        </p:nvSpPr>
        <p:spPr>
          <a:xfrm>
            <a:off x="457200" y="1052736"/>
            <a:ext cx="4038600" cy="5073427"/>
          </a:xfrm>
        </p:spPr>
        <p:txBody>
          <a:bodyPr>
            <a:normAutofit fontScale="85000" lnSpcReduction="20000"/>
          </a:bodyPr>
          <a:lstStyle/>
          <a:p>
            <a:r>
              <a:rPr lang="tr-TR" sz="1800" b="0" i="0" u="none" strike="noStrike" baseline="0" dirty="0">
                <a:solidFill>
                  <a:srgbClr val="000000"/>
                </a:solidFill>
                <a:latin typeface="Times New Roman" panose="02020603050405020304" pitchFamily="18" charset="0"/>
              </a:rPr>
              <a:t>Aslında bu yapı sık olarak kullanılan “Yarı Güvenli Bölge Yapısı (</a:t>
            </a:r>
            <a:r>
              <a:rPr lang="tr-TR" sz="1800" dirty="0">
                <a:solidFill>
                  <a:srgbClr val="000000"/>
                </a:solidFill>
                <a:latin typeface="Times New Roman" panose="02020603050405020304" pitchFamily="18" charset="0"/>
              </a:rPr>
              <a:t>DMZ -</a:t>
            </a:r>
            <a:r>
              <a:rPr lang="tr-TR" sz="1800" dirty="0" err="1">
                <a:solidFill>
                  <a:srgbClr val="000000"/>
                </a:solidFill>
                <a:latin typeface="Times New Roman" panose="02020603050405020304" pitchFamily="18" charset="0"/>
              </a:rPr>
              <a:t>Demilitarized</a:t>
            </a:r>
            <a:r>
              <a:rPr lang="tr-TR" sz="1800" dirty="0">
                <a:solidFill>
                  <a:srgbClr val="000000"/>
                </a:solidFill>
                <a:latin typeface="Times New Roman" panose="02020603050405020304" pitchFamily="18" charset="0"/>
              </a:rPr>
              <a:t> </a:t>
            </a:r>
            <a:r>
              <a:rPr lang="tr-TR" sz="1800" dirty="0" err="1">
                <a:solidFill>
                  <a:srgbClr val="000000"/>
                </a:solidFill>
                <a:latin typeface="Times New Roman" panose="02020603050405020304" pitchFamily="18" charset="0"/>
              </a:rPr>
              <a:t>Zone</a:t>
            </a:r>
            <a:r>
              <a:rPr lang="tr-TR" sz="1800" dirty="0">
                <a:solidFill>
                  <a:srgbClr val="000000"/>
                </a:solidFill>
                <a:latin typeface="Times New Roman" panose="02020603050405020304" pitchFamily="18" charset="0"/>
              </a:rPr>
              <a:t>)” </a:t>
            </a:r>
            <a:r>
              <a:rPr lang="tr-TR" sz="1800" b="0" i="0" u="none" strike="noStrike" baseline="0" dirty="0">
                <a:solidFill>
                  <a:srgbClr val="000000"/>
                </a:solidFill>
                <a:latin typeface="Times New Roman" panose="02020603050405020304" pitchFamily="18" charset="0"/>
              </a:rPr>
              <a:t>olarak bilinmektedir. Güvenlik duvarı değişik ihtiyaçlar için topoloji içerisinde farklı şekillerde konumlandırılabilir. </a:t>
            </a:r>
          </a:p>
          <a:p>
            <a:pPr algn="l"/>
            <a:endParaRPr lang="tr-TR" sz="1800" b="0" i="0" u="none" strike="noStrike" baseline="0" dirty="0">
              <a:solidFill>
                <a:srgbClr val="000000"/>
              </a:solidFill>
              <a:latin typeface="Times New Roman" panose="02020603050405020304" pitchFamily="18" charset="0"/>
            </a:endParaRPr>
          </a:p>
          <a:p>
            <a:r>
              <a:rPr lang="tr-TR" sz="1800" b="0" i="0" u="sng" strike="noStrike" baseline="0" dirty="0">
                <a:solidFill>
                  <a:srgbClr val="000000"/>
                </a:solidFill>
                <a:latin typeface="Times New Roman" panose="02020603050405020304" pitchFamily="18" charset="0"/>
              </a:rPr>
              <a:t>Yarı Güvenli Bölge Yapısı (DMZ): </a:t>
            </a:r>
            <a:r>
              <a:rPr lang="tr-TR" sz="1800" b="0" i="0" u="none" strike="noStrike" baseline="0" dirty="0">
                <a:solidFill>
                  <a:srgbClr val="000000"/>
                </a:solidFill>
                <a:latin typeface="Times New Roman" panose="02020603050405020304" pitchFamily="18" charset="0"/>
              </a:rPr>
              <a:t>Eğer iç ağ farklı güvenlik seviyesine sahip bölgelere ayrılmışsa ve bu bölgeler arasında akan trafiğin güvenlik duvarı tarafından denetlenmesi isteniyorsa bu yapı kullanılmalıdır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Bu yapıda, iç ağ dışında kalan diğer ağ </a:t>
            </a:r>
            <a:r>
              <a:rPr lang="tr-TR" sz="1800" b="0" i="0" u="none" strike="noStrike" baseline="0" dirty="0" err="1">
                <a:solidFill>
                  <a:srgbClr val="000000"/>
                </a:solidFill>
                <a:latin typeface="Times New Roman" panose="02020603050405020304" pitchFamily="18" charset="0"/>
              </a:rPr>
              <a:t>segmentleri</a:t>
            </a:r>
            <a:r>
              <a:rPr lang="tr-TR" sz="1800" b="0" i="0" u="none" strike="noStrike" baseline="0" dirty="0">
                <a:solidFill>
                  <a:srgbClr val="000000"/>
                </a:solidFill>
                <a:latin typeface="Times New Roman" panose="02020603050405020304" pitchFamily="18" charset="0"/>
              </a:rPr>
              <a:t> DMZ ağları olarak tanımlanır. Bu ağ </a:t>
            </a:r>
            <a:r>
              <a:rPr lang="tr-TR" sz="1800" b="0" i="0" u="none" strike="noStrike" baseline="0" dirty="0" err="1">
                <a:solidFill>
                  <a:srgbClr val="000000"/>
                </a:solidFill>
                <a:latin typeface="Times New Roman" panose="02020603050405020304" pitchFamily="18" charset="0"/>
              </a:rPr>
              <a:t>segmentleri</a:t>
            </a:r>
            <a:r>
              <a:rPr lang="tr-TR" sz="1800" b="0" i="0" u="none" strike="noStrike" baseline="0" dirty="0">
                <a:solidFill>
                  <a:srgbClr val="000000"/>
                </a:solidFill>
                <a:latin typeface="Times New Roman" panose="02020603050405020304" pitchFamily="18" charset="0"/>
              </a:rPr>
              <a:t>, yarı güvenli bölge olarak da adlandırılır.</a:t>
            </a:r>
          </a:p>
          <a:p>
            <a:pPr algn="l"/>
            <a:endParaRPr lang="tr-TR" sz="1800" b="0" i="0" u="none" strike="noStrike" baseline="0" dirty="0">
              <a:solidFill>
                <a:srgbClr val="000000"/>
              </a:solidFill>
              <a:latin typeface="Times New Roman" panose="02020603050405020304" pitchFamily="18" charset="0"/>
            </a:endParaRPr>
          </a:p>
          <a:p>
            <a:pPr marR="0" algn="just"/>
            <a:r>
              <a:rPr lang="tr-TR" sz="1800" b="0" i="0" u="none" strike="noStrike" baseline="0" dirty="0">
                <a:solidFill>
                  <a:srgbClr val="000000"/>
                </a:solidFill>
                <a:latin typeface="Times New Roman" panose="02020603050405020304" pitchFamily="18" charset="0"/>
              </a:rPr>
              <a:t>Bu yapıda güvenlik duvarı bütün ağ </a:t>
            </a:r>
            <a:r>
              <a:rPr lang="tr-TR" sz="1800" b="0" i="0" u="none" strike="noStrike" baseline="0" dirty="0" err="1">
                <a:solidFill>
                  <a:srgbClr val="000000"/>
                </a:solidFill>
                <a:latin typeface="Times New Roman" panose="02020603050405020304" pitchFamily="18" charset="0"/>
              </a:rPr>
              <a:t>segmentleri</a:t>
            </a:r>
            <a:r>
              <a:rPr lang="tr-TR" sz="1800" b="0" i="0" u="none" strike="noStrike" baseline="0" dirty="0">
                <a:solidFill>
                  <a:srgbClr val="000000"/>
                </a:solidFill>
                <a:latin typeface="Times New Roman" panose="02020603050405020304" pitchFamily="18" charset="0"/>
              </a:rPr>
              <a:t> arasındaki ağ trafiğini denetleyebilecek şekilde konumlandırılmalıdır. Böylelikle iç ağdan ve dış ağdan, DMZ ağlarına yapılacak erişimlerin denetlenmesi sağlanmış olur. </a:t>
            </a:r>
          </a:p>
          <a:p>
            <a:endParaRPr lang="tr-TR" sz="1800" b="0" i="0" u="none" strike="noStrike" baseline="0" dirty="0">
              <a:solidFill>
                <a:srgbClr val="000000"/>
              </a:solidFill>
              <a:latin typeface="Times New Roman" panose="02020603050405020304" pitchFamily="18" charset="0"/>
            </a:endParaRP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48200" y="2671794"/>
            <a:ext cx="4456634" cy="2629414"/>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98486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229600" cy="457199"/>
          </a:xfrm>
        </p:spPr>
        <p:txBody>
          <a:bodyPr anchor="ctr">
            <a:normAutofit fontScale="90000"/>
          </a:bodyPr>
          <a:lstStyle/>
          <a:p>
            <a:r>
              <a:rPr lang="tr-TR" dirty="0" err="1"/>
              <a:t>Kaskat</a:t>
            </a:r>
            <a:r>
              <a:rPr lang="tr-TR" dirty="0"/>
              <a:t> Yapı</a:t>
            </a:r>
          </a:p>
        </p:txBody>
      </p:sp>
      <p:sp>
        <p:nvSpPr>
          <p:cNvPr id="71" name="Content Placeholder 2">
            <a:extLst>
              <a:ext uri="{FF2B5EF4-FFF2-40B4-BE49-F238E27FC236}">
                <a16:creationId xmlns:a16="http://schemas.microsoft.com/office/drawing/2014/main" id="{66DFAC36-0F5E-4B0D-A256-B1FD7DEF62D0}"/>
              </a:ext>
            </a:extLst>
          </p:cNvPr>
          <p:cNvSpPr>
            <a:spLocks noGrp="1"/>
          </p:cNvSpPr>
          <p:nvPr>
            <p:ph sz="half" idx="1"/>
          </p:nvPr>
        </p:nvSpPr>
        <p:spPr>
          <a:xfrm>
            <a:off x="457200" y="836712"/>
            <a:ext cx="4038600" cy="5688632"/>
          </a:xfrm>
        </p:spPr>
        <p:txBody>
          <a:bodyPr>
            <a:normAutofit fontScale="92500" lnSpcReduction="10000"/>
          </a:bodyPr>
          <a:lstStyle/>
          <a:p>
            <a:pPr algn="l"/>
            <a:endParaRPr lang="tr-TR" sz="1400" b="0" i="0" u="none" strike="noStrike" baseline="0" dirty="0">
              <a:solidFill>
                <a:srgbClr val="000000"/>
              </a:solidFill>
              <a:latin typeface="Times New Roman" panose="02020603050405020304" pitchFamily="18" charset="0"/>
            </a:endParaRPr>
          </a:p>
          <a:p>
            <a:r>
              <a:rPr lang="tr-TR" sz="1400" b="0" i="0" u="sng" strike="noStrike" baseline="0" dirty="0" err="1">
                <a:solidFill>
                  <a:srgbClr val="000000"/>
                </a:solidFill>
                <a:latin typeface="Times New Roman" panose="02020603050405020304" pitchFamily="18" charset="0"/>
              </a:rPr>
              <a:t>Kaskat</a:t>
            </a:r>
            <a:r>
              <a:rPr lang="tr-TR" sz="1400" b="0" i="0" u="sng" strike="noStrike" baseline="0" dirty="0">
                <a:solidFill>
                  <a:srgbClr val="000000"/>
                </a:solidFill>
                <a:latin typeface="Times New Roman" panose="02020603050405020304" pitchFamily="18" charset="0"/>
              </a:rPr>
              <a:t> (Sandviç) Yapı: </a:t>
            </a:r>
            <a:r>
              <a:rPr lang="tr-TR" sz="1400" b="0" i="0" u="none" strike="noStrike" baseline="0" dirty="0">
                <a:solidFill>
                  <a:srgbClr val="000000"/>
                </a:solidFill>
                <a:latin typeface="Times New Roman" panose="02020603050405020304" pitchFamily="18" charset="0"/>
              </a:rPr>
              <a:t>Yapılan erişimlerin daha sıkı bir şekilde denetlenmesi isteniyorsa birden fazla güvenlik duvarı da kullanılabilir. Bu yapıda iki güvenlik duvarı arka arkaya konumlandırılır. Böylelikle güvenlik daha da arttırılmış olur </a:t>
            </a:r>
          </a:p>
          <a:p>
            <a:pPr algn="l"/>
            <a:endParaRPr lang="tr-TR" sz="1400" b="0" i="0" u="none" strike="noStrike" baseline="0" dirty="0">
              <a:solidFill>
                <a:srgbClr val="000000"/>
              </a:solidFill>
              <a:latin typeface="Times New Roman" panose="02020603050405020304" pitchFamily="18" charset="0"/>
            </a:endParaRPr>
          </a:p>
          <a:p>
            <a:pPr marR="0" algn="l"/>
            <a:r>
              <a:rPr lang="tr-TR" sz="1400" b="0" i="0" u="none" strike="noStrike" baseline="0" dirty="0">
                <a:solidFill>
                  <a:srgbClr val="000000"/>
                </a:solidFill>
                <a:latin typeface="Times New Roman" panose="02020603050405020304" pitchFamily="18" charset="0"/>
              </a:rPr>
              <a:t>Bu yapıda kullanılan güvenlik duvarları genellikle farklı marka olacak şekilde seçilmelidir. Çünkü aynı marka güvenlik duvarları aynı zayıflıklara sahip olacaktır. Bu nedenle dış ağdaki herhangi bir saldırgan dış güvenlik duvarının zayıflığını bulup bu güvenlik duvarını atlattığı zaman aynı zayıflığı kullanarak içteki güvenlik duvarını da atlatabilecektir. Ancak farklı marka güvenlik duvarları kullanıldığında aynı saldırgan herhangi bir güvenlik duvarının zayıflığını bulsa bile bu zayıflığı diğer güvenlik duvarını atlatmak için kullanamayacaktır. </a:t>
            </a:r>
          </a:p>
          <a:p>
            <a:pPr algn="l"/>
            <a:endParaRPr lang="tr-TR" sz="1400" b="0" i="0" u="none" strike="noStrike" baseline="0" dirty="0">
              <a:solidFill>
                <a:srgbClr val="000000"/>
              </a:solidFill>
              <a:latin typeface="Times New Roman" panose="02020603050405020304" pitchFamily="18" charset="0"/>
            </a:endParaRPr>
          </a:p>
          <a:p>
            <a:pPr marR="0" algn="l"/>
            <a:r>
              <a:rPr lang="tr-TR" sz="1400" b="0" i="0" u="none" strike="noStrike" baseline="0" dirty="0">
                <a:solidFill>
                  <a:srgbClr val="000000"/>
                </a:solidFill>
                <a:latin typeface="Times New Roman" panose="02020603050405020304" pitchFamily="18" charset="0"/>
              </a:rPr>
              <a:t>En dıştaki güvenlik duvarında ağ trafiği daha az kritere bakılarak (örneğin sadece hedef adrese göre) süzülmeli ve asıl denetim daha fazla kritere bakılarak iç güvenlik duvarı tarafından yapılmalıdır. Böyle bir yapı ile yetkisiz erişimlerin önü dış güvenlik duvarında büyük bir ölçüde kesilmiş olur ve iç güvenlik duvarının yükü hafifler. Ağ trafiğinin denetimi daha sıkı ve etkin bir şekilde yapılır.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482647" y="2605978"/>
            <a:ext cx="4699671" cy="215009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69590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4638"/>
            <a:ext cx="8229600" cy="1143000"/>
          </a:xfrm>
        </p:spPr>
        <p:txBody>
          <a:bodyPr anchor="ctr">
            <a:normAutofit/>
          </a:bodyPr>
          <a:lstStyle/>
          <a:p>
            <a:r>
              <a:rPr lang="tr-TR" dirty="0"/>
              <a:t>Yedekli Yapı</a:t>
            </a:r>
          </a:p>
        </p:txBody>
      </p:sp>
      <p:sp>
        <p:nvSpPr>
          <p:cNvPr id="71" name="Content Placeholder 2">
            <a:extLst>
              <a:ext uri="{FF2B5EF4-FFF2-40B4-BE49-F238E27FC236}">
                <a16:creationId xmlns:a16="http://schemas.microsoft.com/office/drawing/2014/main" id="{4BDA12F3-9F08-429F-A8E0-38794DCAD0C7}"/>
              </a:ext>
            </a:extLst>
          </p:cNvPr>
          <p:cNvSpPr>
            <a:spLocks noGrp="1"/>
          </p:cNvSpPr>
          <p:nvPr>
            <p:ph sz="half" idx="1"/>
          </p:nvPr>
        </p:nvSpPr>
        <p:spPr>
          <a:xfrm>
            <a:off x="457200" y="1600200"/>
            <a:ext cx="4038600" cy="4525963"/>
          </a:xfrm>
        </p:spPr>
        <p:txBody>
          <a:bodyPr>
            <a:normAutofit fontScale="77500" lnSpcReduction="20000"/>
          </a:bodyPr>
          <a:lstStyle/>
          <a:p>
            <a:pPr algn="l"/>
            <a:endParaRPr lang="tr-TR" sz="1800" b="0" i="0" u="none" strike="noStrike" baseline="0" dirty="0">
              <a:solidFill>
                <a:srgbClr val="000000"/>
              </a:solidFill>
              <a:latin typeface="Times New Roman" panose="02020603050405020304" pitchFamily="18" charset="0"/>
            </a:endParaRPr>
          </a:p>
          <a:p>
            <a:r>
              <a:rPr lang="tr-TR" sz="1800" b="0" i="0" u="sng" strike="noStrike" baseline="0" dirty="0">
                <a:solidFill>
                  <a:srgbClr val="000000"/>
                </a:solidFill>
                <a:latin typeface="Times New Roman" panose="02020603050405020304" pitchFamily="18" charset="0"/>
              </a:rPr>
              <a:t>Yedekli </a:t>
            </a:r>
            <a:r>
              <a:rPr lang="tr-TR" sz="1800" b="1" i="0" u="sng" strike="noStrike" baseline="0" dirty="0">
                <a:solidFill>
                  <a:srgbClr val="000000"/>
                </a:solidFill>
                <a:latin typeface="Times New Roman" panose="02020603050405020304" pitchFamily="18" charset="0"/>
              </a:rPr>
              <a:t>(</a:t>
            </a:r>
            <a:r>
              <a:rPr lang="tr-TR" sz="1800" b="1" i="0" u="sng" strike="noStrike" baseline="0" dirty="0" err="1">
                <a:solidFill>
                  <a:srgbClr val="000000"/>
                </a:solidFill>
                <a:latin typeface="Times New Roman" panose="02020603050405020304" pitchFamily="18" charset="0"/>
              </a:rPr>
              <a:t>Clustered</a:t>
            </a:r>
            <a:r>
              <a:rPr lang="tr-TR" sz="1800" b="1" i="0" u="sng" strike="noStrike" baseline="0" dirty="0">
                <a:solidFill>
                  <a:srgbClr val="000000"/>
                </a:solidFill>
                <a:latin typeface="Times New Roman" panose="02020603050405020304" pitchFamily="18" charset="0"/>
              </a:rPr>
              <a:t>) </a:t>
            </a:r>
            <a:r>
              <a:rPr lang="tr-TR" sz="1800" b="0" i="0" u="sng" strike="noStrike" baseline="0" dirty="0">
                <a:solidFill>
                  <a:srgbClr val="000000"/>
                </a:solidFill>
                <a:latin typeface="Times New Roman" panose="02020603050405020304" pitchFamily="18" charset="0"/>
              </a:rPr>
              <a:t>Yapı: </a:t>
            </a:r>
            <a:r>
              <a:rPr lang="tr-TR" sz="1800" b="0" i="0" u="none" strike="noStrike" baseline="0" dirty="0">
                <a:solidFill>
                  <a:srgbClr val="000000"/>
                </a:solidFill>
                <a:latin typeface="Times New Roman" panose="02020603050405020304" pitchFamily="18" charset="0"/>
              </a:rPr>
              <a:t>Bir tek güvenlik duvarının kullanılmasından kaynaklanabilecek performans sorunlarının aşılması ve sürekliliğin sağlanması için bu yapı kullanılmalıdır. Bu yapıda, birden fazla güvenlik duvarı (genellikle iki tane) paralel bir şekilde konumlandırılır ve bu güvenlik duvarlarının birlikte çalışması sağlanır. Böylelikle herhangi bir güvenlik duvarı çökse bile diğer güvenlik duvarı ağı korumaya devam eder </a:t>
            </a:r>
          </a:p>
          <a:p>
            <a:pPr algn="l"/>
            <a:endParaRPr lang="tr-TR" sz="1800" b="0" i="0" u="none" strike="noStrike" baseline="0" dirty="0">
              <a:solidFill>
                <a:srgbClr val="000000"/>
              </a:solidFill>
              <a:latin typeface="Times New Roman" panose="02020603050405020304" pitchFamily="18" charset="0"/>
            </a:endParaRPr>
          </a:p>
          <a:p>
            <a:pPr marR="0" algn="l"/>
            <a:r>
              <a:rPr lang="tr-TR" sz="1800" b="0" i="0" u="none" strike="noStrike" baseline="0" dirty="0">
                <a:solidFill>
                  <a:srgbClr val="000000"/>
                </a:solidFill>
                <a:latin typeface="Times New Roman" panose="02020603050405020304" pitchFamily="18" charset="0"/>
              </a:rPr>
              <a:t>Böyle bir yapı, yapılan bağlantılara ilişkin durumların her iki güvenlik duvarında da tutulması ile sağlanır. Tutulan bu durumların iki güvenlik duvarında da aynı olması sağlanmalıdır. Bu nedenle yedekli yapı içerisinde bulunan güvenlik duvarlarının tuttukları durum bilgilerini birbirlerine göndermeleri gerekmektedir. Bu amaçla güvenlik duvarları diğer ağlardan izole bir ağ üzerinden birbirine bağlanır ve bu ağ üzerinden durum bilgilerini birbirleriyle paylaşır. Bu ağ, </a:t>
            </a:r>
            <a:r>
              <a:rPr lang="tr-TR" sz="1800" b="0" i="0" u="sng" strike="noStrike" baseline="0" dirty="0">
                <a:solidFill>
                  <a:srgbClr val="000000"/>
                </a:solidFill>
                <a:latin typeface="Times New Roman" panose="02020603050405020304" pitchFamily="18" charset="0"/>
              </a:rPr>
              <a:t>senkronizasyon ağı </a:t>
            </a:r>
            <a:r>
              <a:rPr lang="tr-TR" sz="1800" b="0" i="0" u="none" strike="noStrike" baseline="0" dirty="0">
                <a:solidFill>
                  <a:srgbClr val="000000"/>
                </a:solidFill>
                <a:latin typeface="Times New Roman" panose="02020603050405020304" pitchFamily="18" charset="0"/>
              </a:rPr>
              <a:t>olarak bilinir. </a:t>
            </a:r>
          </a:p>
          <a:p>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48200" y="2904014"/>
            <a:ext cx="4038600" cy="1918335"/>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22443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48A16BB-3561-4DFF-8AC8-706F3EBA0AE1}"/>
              </a:ext>
            </a:extLst>
          </p:cNvPr>
          <p:cNvSpPr>
            <a:spLocks noGrp="1"/>
          </p:cNvSpPr>
          <p:nvPr>
            <p:ph type="title"/>
          </p:nvPr>
        </p:nvSpPr>
        <p:spPr/>
        <p:txBody>
          <a:bodyPr/>
          <a:lstStyle/>
          <a:p>
            <a:r>
              <a:rPr lang="tr-TR" dirty="0"/>
              <a:t>Yedekli Yapı</a:t>
            </a:r>
          </a:p>
        </p:txBody>
      </p:sp>
      <p:sp>
        <p:nvSpPr>
          <p:cNvPr id="5" name="İçerik Yer Tutucusu 4">
            <a:extLst>
              <a:ext uri="{FF2B5EF4-FFF2-40B4-BE49-F238E27FC236}">
                <a16:creationId xmlns:a16="http://schemas.microsoft.com/office/drawing/2014/main" id="{A1FFDAED-9BCC-4C17-8C09-E3C4CCBEF63A}"/>
              </a:ext>
            </a:extLst>
          </p:cNvPr>
          <p:cNvSpPr>
            <a:spLocks noGrp="1"/>
          </p:cNvSpPr>
          <p:nvPr>
            <p:ph idx="1"/>
          </p:nvPr>
        </p:nvSpPr>
        <p:spPr/>
        <p:txBody>
          <a:bodyPr>
            <a:normAutofit fontScale="70000" lnSpcReduction="20000"/>
          </a:bodyPr>
          <a:lstStyle/>
          <a:p>
            <a:pPr algn="l"/>
            <a:endParaRPr lang="tr-TR" sz="1800" b="0" i="0" u="none" strike="noStrike" baseline="0" dirty="0">
              <a:solidFill>
                <a:srgbClr val="000000"/>
              </a:solidFill>
              <a:latin typeface="Times New Roman" panose="02020603050405020304" pitchFamily="18" charset="0"/>
            </a:endParaRPr>
          </a:p>
          <a:p>
            <a:pPr marR="0" algn="l"/>
            <a:r>
              <a:rPr lang="tr-TR" sz="1800" b="0" i="0" u="none" strike="noStrike" baseline="0" dirty="0">
                <a:solidFill>
                  <a:srgbClr val="000000"/>
                </a:solidFill>
                <a:latin typeface="Times New Roman" panose="02020603050405020304" pitchFamily="18" charset="0"/>
              </a:rPr>
              <a:t>Güvenlik duvarları bu ağ üzerinden birbirlerinin durumları hakkında bilgi edinirler. Örneğin yedekli yapı içerisindeki bir güvenlik duvarı görevini yapamaz hale geldiğinde diğer güvenlik duvarı bu durumu senkronizasyon ağı üzerinden öğrenir. Eğer bu ağ bir nedenle işlevini yitirecek olursa yedekli yapı da işlevini yitirecektir. Bu nedenle yedekli yapının sağlanmasında senkronizasyon ağının önemi büyüktür. Yedekli yapıda iki tür çalışma şekli mevcuttur. Bunlar: </a:t>
            </a:r>
          </a:p>
          <a:p>
            <a:pPr algn="l"/>
            <a:endParaRPr lang="tr-TR" sz="1800" b="0" i="0" u="none" strike="noStrike" baseline="0" dirty="0">
              <a:solidFill>
                <a:srgbClr val="000000"/>
              </a:solidFill>
              <a:latin typeface="Times New Roman" panose="02020603050405020304" pitchFamily="18" charset="0"/>
            </a:endParaRPr>
          </a:p>
          <a:p>
            <a:pPr algn="l"/>
            <a:r>
              <a:rPr lang="tr-TR" sz="1800" b="0" i="0" u="sng" strike="noStrike" baseline="0" dirty="0">
                <a:solidFill>
                  <a:srgbClr val="000000"/>
                </a:solidFill>
                <a:latin typeface="Times New Roman" panose="02020603050405020304" pitchFamily="18" charset="0"/>
              </a:rPr>
              <a:t>Yedekli çalışma (Aktif – Pasif): </a:t>
            </a:r>
            <a:r>
              <a:rPr lang="tr-TR" sz="1800" b="0" i="0" u="none" strike="noStrike" baseline="0" dirty="0">
                <a:solidFill>
                  <a:srgbClr val="000000"/>
                </a:solidFill>
                <a:latin typeface="Times New Roman" panose="02020603050405020304" pitchFamily="18" charset="0"/>
              </a:rPr>
              <a:t>Aynı anda sadece tek bir güvenlik duvarı aktif olarak çalışmaktadır. Diğer güvenlik duvarı pasif </a:t>
            </a:r>
            <a:r>
              <a:rPr lang="tr-TR" sz="1800" b="0" i="0" u="none" strike="noStrike" baseline="0" dirty="0" err="1">
                <a:solidFill>
                  <a:srgbClr val="000000"/>
                </a:solidFill>
                <a:latin typeface="Times New Roman" panose="02020603050405020304" pitchFamily="18" charset="0"/>
              </a:rPr>
              <a:t>modda</a:t>
            </a:r>
            <a:r>
              <a:rPr lang="tr-TR" sz="1800" b="0" i="0" u="none" strike="noStrike" baseline="0" dirty="0">
                <a:solidFill>
                  <a:srgbClr val="000000"/>
                </a:solidFill>
                <a:latin typeface="Times New Roman" panose="02020603050405020304" pitchFamily="18" charset="0"/>
              </a:rPr>
              <a:t> ancak her zaman çalışmaya hazır bir şekilde beklemektedir </a:t>
            </a:r>
            <a:r>
              <a:rPr lang="tr-TR" sz="1800" b="1" i="0" u="none" strike="noStrike" baseline="0" dirty="0">
                <a:solidFill>
                  <a:srgbClr val="000000"/>
                </a:solidFill>
                <a:latin typeface="Times New Roman" panose="02020603050405020304" pitchFamily="18" charset="0"/>
              </a:rPr>
              <a:t>(</a:t>
            </a:r>
            <a:r>
              <a:rPr lang="tr-TR" sz="1800" b="1" i="0" u="none" strike="noStrike" baseline="0" dirty="0" err="1">
                <a:solidFill>
                  <a:srgbClr val="000000"/>
                </a:solidFill>
                <a:latin typeface="Times New Roman" panose="02020603050405020304" pitchFamily="18" charset="0"/>
              </a:rPr>
              <a:t>standby</a:t>
            </a:r>
            <a:r>
              <a:rPr lang="tr-TR" sz="1800" b="1" i="0" u="none" strike="noStrike" baseline="0" dirty="0">
                <a:solidFill>
                  <a:srgbClr val="000000"/>
                </a:solidFill>
                <a:latin typeface="Times New Roman" panose="02020603050405020304" pitchFamily="18" charset="0"/>
              </a:rPr>
              <a:t>)</a:t>
            </a:r>
            <a:r>
              <a:rPr lang="tr-TR" sz="1800" b="0" i="0" u="none" strike="noStrike" baseline="0" dirty="0">
                <a:solidFill>
                  <a:srgbClr val="000000"/>
                </a:solidFill>
                <a:latin typeface="Times New Roman" panose="02020603050405020304" pitchFamily="18" charset="0"/>
              </a:rPr>
              <a:t>. Eğer aktif olarak çalışan güvenlik duvarı bir şekilde işlevini yapamaz hale gelirse, pasif </a:t>
            </a:r>
            <a:r>
              <a:rPr lang="tr-TR" sz="1800" b="0" i="0" u="none" strike="noStrike" baseline="0" dirty="0" err="1">
                <a:solidFill>
                  <a:srgbClr val="000000"/>
                </a:solidFill>
                <a:latin typeface="Times New Roman" panose="02020603050405020304" pitchFamily="18" charset="0"/>
              </a:rPr>
              <a:t>moddaki</a:t>
            </a:r>
            <a:r>
              <a:rPr lang="tr-TR" sz="1800" b="0" i="0" u="none" strike="noStrike" baseline="0" dirty="0">
                <a:solidFill>
                  <a:srgbClr val="000000"/>
                </a:solidFill>
                <a:latin typeface="Times New Roman" panose="02020603050405020304" pitchFamily="18" charset="0"/>
              </a:rPr>
              <a:t> güvenlik duvarı senkronizasyon ağı üzerinden bu durumu öğrenir ve aktif moda geçer. Bu çalışma şekli ile sadece süreklilik sağlanır. </a:t>
            </a:r>
          </a:p>
          <a:p>
            <a:pPr algn="l"/>
            <a:endParaRPr lang="tr-TR" sz="1800" b="0" i="0" u="none" strike="noStrike" baseline="0" dirty="0">
              <a:solidFill>
                <a:srgbClr val="000000"/>
              </a:solidFill>
              <a:latin typeface="Times New Roman" panose="02020603050405020304" pitchFamily="18" charset="0"/>
            </a:endParaRPr>
          </a:p>
          <a:p>
            <a:r>
              <a:rPr lang="tr-TR" sz="1800" b="0" i="0" u="sng" strike="noStrike" baseline="0" dirty="0">
                <a:solidFill>
                  <a:srgbClr val="000000"/>
                </a:solidFill>
                <a:latin typeface="Times New Roman" panose="02020603050405020304" pitchFamily="18" charset="0"/>
              </a:rPr>
              <a:t>Yük dengeleme (Aktif - Aktif): </a:t>
            </a:r>
            <a:r>
              <a:rPr lang="tr-TR" sz="1800" b="0" i="0" u="none" strike="noStrike" baseline="0" dirty="0">
                <a:solidFill>
                  <a:srgbClr val="000000"/>
                </a:solidFill>
                <a:latin typeface="Times New Roman" panose="02020603050405020304" pitchFamily="18" charset="0"/>
              </a:rPr>
              <a:t>Bu çalışma şeklinde her iki güvenlik duvarı da aktif olarak çalışmaktadır. Gelen ve giden ağ trafiği iki güvenlik duvarı arasında belirli bir oranda paylaştırılmaktadır. Örneğin ağ trafiğinin %40’lık kısmı seçilen bir güvenlik duvarı, %60’lık kısmı ise diğer güvenlik duvarı üzerinden geçecek şekilde bir ayar yapılabilir. Böylelikle her bir güvenlik duvarı üzerine düşen yük miktarı ayarlanabilir. Bu şekilde güvenlik duvarlarının her biri üzerine düşen yük normal çalışma şekline göre azaltılmaktadır. Eğer bu yapıdaki güvenlik duvarlarından biri görevini yapamaz hale gelirse bütün ağ trafiği diğer güvenlik duvarının üzerinden geçer. Bu çalışma şekli ile hem süreklilik sağlanır hem de performans arttırılır.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Yedekli yapıda çalışan güvenlik duvarlarının konfigürasyonları birebir aynı olacak şekilde yapılmalıdır. Ancak bu şekilde yedekli çalışma ve yük dengeleme mümkün olabilir. Yedekli yapı kullanılarak hem süreklilik sağlanır hem de performans arttırılır. </a:t>
            </a:r>
          </a:p>
          <a:p>
            <a:pPr marL="0" indent="0" algn="l">
              <a:buNone/>
            </a:pPr>
            <a:endParaRPr lang="tr-TR" sz="1800" b="0" i="0" u="none" strike="noStrike" baseline="0" dirty="0">
              <a:solidFill>
                <a:srgbClr val="000000"/>
              </a:solidFill>
              <a:latin typeface="Times New Roman" panose="02020603050405020304" pitchFamily="18" charset="0"/>
            </a:endParaRPr>
          </a:p>
          <a:p>
            <a:endParaRPr lang="tr-TR" sz="1800" b="0" i="0" u="none" strike="noStrike" baseline="0" dirty="0">
              <a:solidFill>
                <a:srgbClr val="000000"/>
              </a:solidFill>
              <a:latin typeface="Times New Roman" panose="02020603050405020304" pitchFamily="18" charset="0"/>
            </a:endParaRPr>
          </a:p>
          <a:p>
            <a:pPr lvl="1"/>
            <a:endParaRPr lang="tr-TR" dirty="0"/>
          </a:p>
        </p:txBody>
      </p:sp>
    </p:spTree>
    <p:extLst>
      <p:ext uri="{BB962C8B-B14F-4D97-AF65-F5344CB8AC3E}">
        <p14:creationId xmlns:p14="http://schemas.microsoft.com/office/powerpoint/2010/main" val="11280925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3612BF0-0172-4EF4-9D93-303F52AA7E2B}"/>
              </a:ext>
            </a:extLst>
          </p:cNvPr>
          <p:cNvSpPr>
            <a:spLocks noGrp="1"/>
          </p:cNvSpPr>
          <p:nvPr>
            <p:ph type="title"/>
          </p:nvPr>
        </p:nvSpPr>
        <p:spPr/>
        <p:txBody>
          <a:bodyPr/>
          <a:lstStyle/>
          <a:p>
            <a:r>
              <a:rPr lang="tr-TR" dirty="0"/>
              <a:t>KURAL TABLOLARI</a:t>
            </a:r>
          </a:p>
        </p:txBody>
      </p:sp>
      <p:sp>
        <p:nvSpPr>
          <p:cNvPr id="3" name="İçerik Yer Tutucusu 2">
            <a:extLst>
              <a:ext uri="{FF2B5EF4-FFF2-40B4-BE49-F238E27FC236}">
                <a16:creationId xmlns:a16="http://schemas.microsoft.com/office/drawing/2014/main" id="{979E44C3-EC31-4B4E-91D5-5D559838338F}"/>
              </a:ext>
            </a:extLst>
          </p:cNvPr>
          <p:cNvSpPr>
            <a:spLocks noGrp="1"/>
          </p:cNvSpPr>
          <p:nvPr>
            <p:ph idx="1"/>
          </p:nvPr>
        </p:nvSpPr>
        <p:spPr/>
        <p:txBody>
          <a:bodyPr>
            <a:normAutofit lnSpcReduction="10000"/>
          </a:bodyPr>
          <a:lstStyle/>
          <a:p>
            <a:r>
              <a:rPr lang="tr-TR" sz="1800" b="0" i="0" u="none" strike="noStrike" baseline="0" dirty="0">
                <a:solidFill>
                  <a:srgbClr val="000000"/>
                </a:solidFill>
                <a:latin typeface="Times New Roman" panose="02020603050405020304" pitchFamily="18" charset="0"/>
              </a:rPr>
              <a:t>Güvenlik duvarı ağ trafiğini kural tablosuna göre denetler. Başka bir deyişle güvenlik duvarının kural tablosu, hangi ağ trafiğine izin verilip hangi ağ trafiğinin engellenmesi gerektiği bilgisini içermektedir. Bu açıdan kural tablosunun dikkatli bir şekilde oluşturulması kurum açısından önem taşımaktadır. Kural tablosunun sistematik bir şekilde oluşturulması ve </a:t>
            </a:r>
            <a:r>
              <a:rPr lang="tr-TR" sz="1800" b="0" i="0" u="none" strike="noStrike" baseline="0" dirty="0" err="1">
                <a:solidFill>
                  <a:srgbClr val="000000"/>
                </a:solidFill>
                <a:latin typeface="Times New Roman" panose="02020603050405020304" pitchFamily="18" charset="0"/>
              </a:rPr>
              <a:t>dokümante</a:t>
            </a:r>
            <a:r>
              <a:rPr lang="tr-TR" sz="1800" b="0" i="0" u="none" strike="noStrike" baseline="0" dirty="0">
                <a:solidFill>
                  <a:srgbClr val="000000"/>
                </a:solidFill>
                <a:latin typeface="Times New Roman" panose="02020603050405020304" pitchFamily="18" charset="0"/>
              </a:rPr>
              <a:t> edilmesi gerekmektedir. </a:t>
            </a:r>
          </a:p>
          <a:p>
            <a:r>
              <a:rPr lang="tr-TR" sz="1800" b="0" i="0" u="none" strike="noStrike" baseline="0" dirty="0">
                <a:solidFill>
                  <a:srgbClr val="000000"/>
                </a:solidFill>
                <a:latin typeface="Times New Roman" panose="02020603050405020304" pitchFamily="18" charset="0"/>
              </a:rPr>
              <a:t>Güvenlik duvarının kural tablosu, önceden hazırlanmış bir erişim kontrolü politikası esas alınarak oluşturulmalıdır. Bu amaçla kurumun erişim kontrolü politikası öncelikle güvenlik duvarının anlayabileceği kurallar dizisine dönüştürülmeli ve daha sonra güvenlik duvarının kural tablosuna yansıtılmalıdır. Bir kural tablosunda genellikle aşağıdaki alanlar bulunmaktadır: </a:t>
            </a:r>
            <a:endParaRPr lang="tr-TR" sz="1800" dirty="0">
              <a:solidFill>
                <a:srgbClr val="000000"/>
              </a:solidFill>
              <a:latin typeface="Times New Roman" panose="02020603050405020304" pitchFamily="18" charset="0"/>
            </a:endParaRPr>
          </a:p>
          <a:p>
            <a:pPr algn="l"/>
            <a:endParaRPr lang="tr-TR" sz="1800" b="0" i="0" u="none" strike="noStrike" baseline="0" dirty="0">
              <a:solidFill>
                <a:srgbClr val="000000"/>
              </a:solidFill>
              <a:latin typeface="Times New Roman" panose="02020603050405020304" pitchFamily="18" charset="0"/>
            </a:endParaRPr>
          </a:p>
          <a:p>
            <a:pPr lvl="1"/>
            <a:r>
              <a:rPr lang="tr-TR" sz="1400" b="0" i="0" u="sng" strike="noStrike" baseline="0" dirty="0">
                <a:solidFill>
                  <a:srgbClr val="000000"/>
                </a:solidFill>
                <a:latin typeface="Times New Roman" panose="02020603050405020304" pitchFamily="18" charset="0"/>
              </a:rPr>
              <a:t>Kaynak IP: </a:t>
            </a:r>
            <a:r>
              <a:rPr lang="tr-TR" sz="1400" b="0" i="0" u="none" strike="noStrike" baseline="0" dirty="0">
                <a:solidFill>
                  <a:srgbClr val="000000"/>
                </a:solidFill>
                <a:latin typeface="Times New Roman" panose="02020603050405020304" pitchFamily="18" charset="0"/>
              </a:rPr>
              <a:t>Erişimi başlatan bilgisayarın IP adresi (örneğin bir ftp istemcisi) </a:t>
            </a:r>
          </a:p>
          <a:p>
            <a:pPr lvl="1"/>
            <a:r>
              <a:rPr lang="tr-TR" sz="1400" b="0" i="0" u="none" strike="noStrike" baseline="0" dirty="0">
                <a:solidFill>
                  <a:srgbClr val="000000"/>
                </a:solidFill>
                <a:latin typeface="Times New Roman" panose="02020603050405020304" pitchFamily="18" charset="0"/>
              </a:rPr>
              <a:t>Hedef IP: Erişim sağlanacak bilgisayarın IP adresi (örneğin bir ftp sunucusu) </a:t>
            </a:r>
          </a:p>
          <a:p>
            <a:pPr lvl="1"/>
            <a:r>
              <a:rPr lang="tr-TR" sz="1400" b="0" i="0" u="none" strike="noStrike" baseline="0" dirty="0">
                <a:solidFill>
                  <a:srgbClr val="000000"/>
                </a:solidFill>
                <a:latin typeface="Times New Roman" panose="02020603050405020304" pitchFamily="18" charset="0"/>
              </a:rPr>
              <a:t>Servis: Erişim sağlanacak servis (örneğin ftp servisi) </a:t>
            </a:r>
          </a:p>
          <a:p>
            <a:pPr lvl="1"/>
            <a:r>
              <a:rPr lang="tr-TR" sz="1400" b="0" i="0" u="none" strike="noStrike" baseline="0" dirty="0">
                <a:solidFill>
                  <a:srgbClr val="000000"/>
                </a:solidFill>
                <a:latin typeface="Times New Roman" panose="02020603050405020304" pitchFamily="18" charset="0"/>
              </a:rPr>
              <a:t>Zaman: Erişim sağlanacak zaman aralığı (örneğin mesai saatleri) </a:t>
            </a:r>
          </a:p>
          <a:p>
            <a:pPr lvl="1"/>
            <a:r>
              <a:rPr lang="tr-TR" sz="1400" b="0" i="0" u="none" strike="noStrike" baseline="0" dirty="0">
                <a:solidFill>
                  <a:srgbClr val="000000"/>
                </a:solidFill>
                <a:latin typeface="Times New Roman" panose="02020603050405020304" pitchFamily="18" charset="0"/>
              </a:rPr>
              <a:t>Davranış: Söz konusu erişime izin verilip verilmeyeceği bilgisi (örneğin geçir veya düşür) </a:t>
            </a:r>
          </a:p>
          <a:p>
            <a:pPr lvl="1"/>
            <a:r>
              <a:rPr lang="tr-TR" sz="1400" b="0" i="0" u="none" strike="noStrike" baseline="0" dirty="0">
                <a:solidFill>
                  <a:srgbClr val="000000"/>
                </a:solidFill>
                <a:latin typeface="Times New Roman" panose="02020603050405020304" pitchFamily="18" charset="0"/>
              </a:rPr>
              <a:t>Kayıt: Söz konusu erişimle ilgili kayıt tutulup tutulmayacağı bilgisi (örneğin kayıt tut veya e-posta gönder) </a:t>
            </a:r>
          </a:p>
          <a:p>
            <a:pPr lvl="1"/>
            <a:endParaRPr lang="tr-TR" dirty="0"/>
          </a:p>
        </p:txBody>
      </p:sp>
    </p:spTree>
    <p:extLst>
      <p:ext uri="{BB962C8B-B14F-4D97-AF65-F5344CB8AC3E}">
        <p14:creationId xmlns:p14="http://schemas.microsoft.com/office/powerpoint/2010/main" val="272614166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847EBA3-2878-4673-ADEB-DD47423A2468}"/>
              </a:ext>
            </a:extLst>
          </p:cNvPr>
          <p:cNvSpPr>
            <a:spLocks noGrp="1"/>
          </p:cNvSpPr>
          <p:nvPr>
            <p:ph type="title"/>
          </p:nvPr>
        </p:nvSpPr>
        <p:spPr>
          <a:xfrm>
            <a:off x="457200" y="274638"/>
            <a:ext cx="8229600" cy="490066"/>
          </a:xfrm>
        </p:spPr>
        <p:txBody>
          <a:bodyPr>
            <a:noAutofit/>
          </a:bodyPr>
          <a:lstStyle/>
          <a:p>
            <a:r>
              <a:rPr lang="tr-TR" sz="2800" dirty="0"/>
              <a:t>KURAL TABLOLARINDA DİKKAT EDİLMESİ GEREKENLER</a:t>
            </a:r>
          </a:p>
        </p:txBody>
      </p:sp>
      <p:sp>
        <p:nvSpPr>
          <p:cNvPr id="3" name="İçerik Yer Tutucusu 2">
            <a:extLst>
              <a:ext uri="{FF2B5EF4-FFF2-40B4-BE49-F238E27FC236}">
                <a16:creationId xmlns:a16="http://schemas.microsoft.com/office/drawing/2014/main" id="{F4AB74AB-99BD-4628-A4AD-A3EB3A81664A}"/>
              </a:ext>
            </a:extLst>
          </p:cNvPr>
          <p:cNvSpPr>
            <a:spLocks noGrp="1"/>
          </p:cNvSpPr>
          <p:nvPr>
            <p:ph idx="1"/>
          </p:nvPr>
        </p:nvSpPr>
        <p:spPr>
          <a:xfrm>
            <a:off x="474232" y="924776"/>
            <a:ext cx="8229600" cy="4767206"/>
          </a:xfrm>
        </p:spPr>
        <p:txBody>
          <a:bodyPr/>
          <a:lstStyle/>
          <a:p>
            <a:r>
              <a:rPr lang="tr-TR" sz="1800" b="0" i="0" u="none" strike="noStrike" baseline="0" dirty="0">
                <a:solidFill>
                  <a:srgbClr val="000000"/>
                </a:solidFill>
                <a:latin typeface="Times New Roman" panose="02020603050405020304" pitchFamily="18" charset="0"/>
              </a:rPr>
              <a:t>Kural tablosu, güvenlik duvarının temelini oluşturmaktadır. Hatalı oluşturulmuş bir kural tablosu, güvenlik duvarının istenmeyen bağlantıları geçirmesine neden olur. Bu nedenle kural tablosunun dikkatli bir şekilde oluşturulması ve erişim kontrolü politikasını en iyi şekilde yansıtması sağlanmalıdır. Ancak bu şekilde güvenlik duvarı istenen güvenliği sağlayabilir. Güvenlik duvarının kural tablosu oluşturulurken aşağıdakiler göz önünde bulundurulmalıdır: </a:t>
            </a:r>
          </a:p>
          <a:p>
            <a:pPr algn="l"/>
            <a:endParaRPr lang="tr-TR" sz="1800" b="0" i="0" u="none" strike="noStrike" baseline="0" dirty="0">
              <a:solidFill>
                <a:srgbClr val="000000"/>
              </a:solidFill>
              <a:latin typeface="Times New Roman" panose="02020603050405020304" pitchFamily="18" charset="0"/>
            </a:endParaRPr>
          </a:p>
          <a:p>
            <a:pPr lvl="1"/>
            <a:r>
              <a:rPr lang="tr-TR" sz="1400" b="0" i="0" u="none" strike="noStrike" baseline="0" dirty="0">
                <a:solidFill>
                  <a:srgbClr val="000000"/>
                </a:solidFill>
                <a:latin typeface="Times New Roman" panose="02020603050405020304" pitchFamily="18" charset="0"/>
              </a:rPr>
              <a:t>Kural tablosundaki kuralların sıralamasına dikkat edilmelidir. Bazı güvenlik duvarlarında ağ trafiğine uyan ilk kural uygulanırken bazı güvenlik duvarlarında ise ağ trafiğine uyan son kural uygulanmaktadır. Bu nedenle kurallar, kullanılan güvenlik duvarının davranışına uygun olarak sıralanmalıdır. </a:t>
            </a:r>
          </a:p>
          <a:p>
            <a:pPr lvl="1"/>
            <a:endParaRPr lang="tr-TR" dirty="0"/>
          </a:p>
        </p:txBody>
      </p:sp>
      <p:pic>
        <p:nvPicPr>
          <p:cNvPr id="5" name="Resim 4">
            <a:extLst>
              <a:ext uri="{FF2B5EF4-FFF2-40B4-BE49-F238E27FC236}">
                <a16:creationId xmlns:a16="http://schemas.microsoft.com/office/drawing/2014/main" id="{ADB8B3D1-CBDB-4EAD-B551-7751DEC304B5}"/>
              </a:ext>
            </a:extLst>
          </p:cNvPr>
          <p:cNvPicPr>
            <a:picLocks noChangeAspect="1"/>
          </p:cNvPicPr>
          <p:nvPr/>
        </p:nvPicPr>
        <p:blipFill>
          <a:blip r:embed="rId2"/>
          <a:stretch>
            <a:fillRect/>
          </a:stretch>
        </p:blipFill>
        <p:spPr>
          <a:xfrm>
            <a:off x="755576" y="3843584"/>
            <a:ext cx="7186411" cy="1413753"/>
          </a:xfrm>
          <a:prstGeom prst="rect">
            <a:avLst/>
          </a:prstGeom>
        </p:spPr>
      </p:pic>
      <p:sp>
        <p:nvSpPr>
          <p:cNvPr id="7" name="Metin kutusu 6">
            <a:extLst>
              <a:ext uri="{FF2B5EF4-FFF2-40B4-BE49-F238E27FC236}">
                <a16:creationId xmlns:a16="http://schemas.microsoft.com/office/drawing/2014/main" id="{1A70A5C9-6E9E-448D-A405-05C5B362E335}"/>
              </a:ext>
            </a:extLst>
          </p:cNvPr>
          <p:cNvSpPr txBox="1"/>
          <p:nvPr/>
        </p:nvSpPr>
        <p:spPr>
          <a:xfrm>
            <a:off x="107504" y="5263520"/>
            <a:ext cx="9036496" cy="1600438"/>
          </a:xfrm>
          <a:prstGeom prst="rect">
            <a:avLst/>
          </a:prstGeom>
          <a:noFill/>
        </p:spPr>
        <p:txBody>
          <a:bodyPr wrap="square">
            <a:spAutoFit/>
          </a:bodyPr>
          <a:lstStyle/>
          <a:p>
            <a:r>
              <a:rPr lang="tr-TR" sz="1400" b="0" i="0" u="none" strike="noStrike" baseline="0" dirty="0">
                <a:solidFill>
                  <a:srgbClr val="000000"/>
                </a:solidFill>
                <a:latin typeface="Times New Roman" panose="02020603050405020304" pitchFamily="18" charset="0"/>
              </a:rPr>
              <a:t>Örneğin kural sıralamasının önemli olduğu bu kural tablosunda “DIŞ </a:t>
            </a:r>
            <a:r>
              <a:rPr lang="tr-TR" sz="1400" b="0" i="0" u="none" strike="noStrike" baseline="0" dirty="0" err="1">
                <a:solidFill>
                  <a:srgbClr val="000000"/>
                </a:solidFill>
                <a:latin typeface="Times New Roman" panose="02020603050405020304" pitchFamily="18" charset="0"/>
              </a:rPr>
              <a:t>AĞ”dan</a:t>
            </a:r>
            <a:r>
              <a:rPr lang="tr-TR" sz="1400" b="0" i="0" u="none" strike="noStrike" baseline="0" dirty="0">
                <a:solidFill>
                  <a:srgbClr val="000000"/>
                </a:solidFill>
                <a:latin typeface="Times New Roman" panose="02020603050405020304" pitchFamily="18" charset="0"/>
              </a:rPr>
              <a:t> iç ağdaki “WEB </a:t>
            </a:r>
            <a:r>
              <a:rPr lang="tr-TR" sz="1400" b="0" i="0" u="none" strike="noStrike" baseline="0" dirty="0" err="1">
                <a:solidFill>
                  <a:srgbClr val="000000"/>
                </a:solidFill>
                <a:latin typeface="Times New Roman" panose="02020603050405020304" pitchFamily="18" charset="0"/>
              </a:rPr>
              <a:t>SUNUCU”ya</a:t>
            </a:r>
            <a:r>
              <a:rPr lang="tr-TR" sz="1400" b="0" i="0" u="none" strike="noStrike" baseline="0" dirty="0">
                <a:solidFill>
                  <a:srgbClr val="000000"/>
                </a:solidFill>
                <a:latin typeface="Times New Roman" panose="02020603050405020304" pitchFamily="18" charset="0"/>
              </a:rPr>
              <a:t> yapılan “WEB” erişimlerine izin verilmiş olmasına karşın “İZİN VERİLENLER DIŞINDAKİ TÜM AĞ TRAFİĞİNİ DÜŞÜREN” kural en başa konulduğu için öncelikle bu kurala bakılacak ve bütün ağ trafiği düşürülecektir. Bu örnekte kural sırasının önemi karşımıza çıkmaktadır. Kurallar doğru olduğu halde kuralların kural tablosundaki sıralaması yanlış olduğundan kural tablosu istenen davranışı gösterememektedir. Örnekteki kural tablosunun istenen davranışı gösterebilmesi için ilk kural ile son kural yer değiştirmelidir. Böylelikle istenen erişime izin verilecek ve bu erişim dışında kalan diğer erişimler engellenecektir. </a:t>
            </a:r>
            <a:endParaRPr lang="tr-TR" sz="1400" dirty="0"/>
          </a:p>
        </p:txBody>
      </p:sp>
    </p:spTree>
    <p:extLst>
      <p:ext uri="{BB962C8B-B14F-4D97-AF65-F5344CB8AC3E}">
        <p14:creationId xmlns:p14="http://schemas.microsoft.com/office/powerpoint/2010/main" val="10810291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46A6526-1E17-43B2-9803-21F3B212967C}"/>
              </a:ext>
            </a:extLst>
          </p:cNvPr>
          <p:cNvSpPr>
            <a:spLocks noGrp="1"/>
          </p:cNvSpPr>
          <p:nvPr>
            <p:ph idx="1"/>
          </p:nvPr>
        </p:nvSpPr>
        <p:spPr>
          <a:xfrm>
            <a:off x="457200" y="980728"/>
            <a:ext cx="8229600" cy="5145435"/>
          </a:xfrm>
        </p:spPr>
        <p:txBody>
          <a:bodyPr>
            <a:normAutofit fontScale="85000" lnSpcReduction="10000"/>
          </a:bodyPr>
          <a:lstStyle/>
          <a:p>
            <a:r>
              <a:rPr lang="tr-TR" sz="1800" b="0" i="0" u="none" strike="noStrike" baseline="0" dirty="0">
                <a:solidFill>
                  <a:srgbClr val="000000"/>
                </a:solidFill>
                <a:latin typeface="Times New Roman" panose="02020603050405020304" pitchFamily="18" charset="0"/>
              </a:rPr>
              <a:t>Kural tablosunda sadece ihtiyaç duyulan ağ trafiğine izin verilmeli, bunun dışında kalan tüm ağ trafiğinin geçişi engellenmelidir. Bu amaçla kural tablosunun en sonuna, “İzin verilenler dışındaki tüm ağ trafiğini düşür” şeklinde bir kural </a:t>
            </a:r>
            <a:r>
              <a:rPr lang="tr-TR" sz="1800" b="1" i="0" u="none" strike="noStrike" baseline="0" dirty="0">
                <a:solidFill>
                  <a:srgbClr val="000000"/>
                </a:solidFill>
                <a:latin typeface="Times New Roman" panose="02020603050405020304" pitchFamily="18" charset="0"/>
              </a:rPr>
              <a:t>(</a:t>
            </a:r>
            <a:r>
              <a:rPr lang="tr-TR" sz="1800" b="1" i="0" u="none" strike="noStrike" baseline="0" dirty="0" err="1">
                <a:solidFill>
                  <a:srgbClr val="000000"/>
                </a:solidFill>
                <a:latin typeface="Times New Roman" panose="02020603050405020304" pitchFamily="18" charset="0"/>
              </a:rPr>
              <a:t>Cleanup</a:t>
            </a:r>
            <a:r>
              <a:rPr lang="tr-TR" sz="1800" b="1" i="0" u="none" strike="noStrike" baseline="0" dirty="0">
                <a:solidFill>
                  <a:srgbClr val="000000"/>
                </a:solidFill>
                <a:latin typeface="Times New Roman" panose="02020603050405020304" pitchFamily="18" charset="0"/>
              </a:rPr>
              <a:t> </a:t>
            </a:r>
            <a:r>
              <a:rPr lang="tr-TR" sz="1800" b="1" i="0" u="none" strike="noStrike" baseline="0" dirty="0" err="1">
                <a:solidFill>
                  <a:srgbClr val="000000"/>
                </a:solidFill>
                <a:latin typeface="Times New Roman" panose="02020603050405020304" pitchFamily="18" charset="0"/>
              </a:rPr>
              <a:t>Rule</a:t>
            </a:r>
            <a:r>
              <a:rPr lang="tr-TR" sz="1800" b="1" i="0" u="none" strike="noStrike" baseline="0" dirty="0">
                <a:solidFill>
                  <a:srgbClr val="000000"/>
                </a:solidFill>
                <a:latin typeface="Times New Roman" panose="02020603050405020304" pitchFamily="18" charset="0"/>
              </a:rPr>
              <a:t>) </a:t>
            </a:r>
            <a:r>
              <a:rPr lang="tr-TR" sz="1800" b="0" i="0" u="none" strike="noStrike" baseline="0" dirty="0">
                <a:solidFill>
                  <a:srgbClr val="000000"/>
                </a:solidFill>
                <a:latin typeface="Times New Roman" panose="02020603050405020304" pitchFamily="18" charset="0"/>
              </a:rPr>
              <a:t>girilmelidir. Böylelikle belirtilen ağ trafiği dışındaki bütün ağ trafiği güvenlik duvarı tarafından düşürülecektir. Zaten güvenlik açısından da bir güvenlik duvarından beklenen en uygun davranış bu şekilde olmalıdır.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Bir ağda bazı erişim istekleri diğer erişim isteklerinden daha sık yapılıyor olabilir. Eğer durum böyleyse, bu erişim isteklerinin daha hızlı bir şekilde yerine getirilmesi gerekebilir. Bu amaçla kural tablosunda daha sık sağlanan erişimlere ilişkin kurallar diğer kurallardan daha önce konumlandırılmalıdır. Böylelikle sık sağlanan erişimlerin diğer erişimlere göre güvenlik duvarında daha önce kontrol edilmesi sağlanmış olur. Sık kullanılan kuralların kural tablosunun en başına konulması hem güvenlik duvarının performansını arttıracak hem de sık yapılan erişim isteklerine daha hızlı cevap verilmesini sağlayacaktır.</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Kural tablosu mümkün olduğunca sade tutulmalıdır. Bu amaçla sadece ihtiyaç duyulan kuralların kural tablosunda bulundurulmasına dikkat edilmelidir. Böylelikle hem kural tablosunun gereksiz yere büyümesi engellenir hem de güvenlik duvarının performansı arttırılmış olur. Ayrıca sadece izin verilen ağ trafiğinin geçirilmesi sağlanacağından güvenlik tam anlamıyla sağlanmış olur.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Güvenlik duvarının kendisinin de gelebilecek saldırılardan korunması gerekmektedir. Bunun için kural tablosunda, doğrudan güvenlik duvarını hedef alan yetkisiz erişim isteklerini engelleyen bir kural </a:t>
            </a:r>
            <a:r>
              <a:rPr lang="tr-TR" sz="1800" b="1" i="0" u="none" strike="noStrike" baseline="0" dirty="0">
                <a:solidFill>
                  <a:srgbClr val="000000"/>
                </a:solidFill>
                <a:latin typeface="Times New Roman" panose="02020603050405020304" pitchFamily="18" charset="0"/>
              </a:rPr>
              <a:t>(</a:t>
            </a:r>
            <a:r>
              <a:rPr lang="tr-TR" sz="1800" b="1" i="0" u="none" strike="noStrike" baseline="0" dirty="0" err="1">
                <a:solidFill>
                  <a:srgbClr val="000000"/>
                </a:solidFill>
                <a:latin typeface="Times New Roman" panose="02020603050405020304" pitchFamily="18" charset="0"/>
              </a:rPr>
              <a:t>Stealth</a:t>
            </a:r>
            <a:r>
              <a:rPr lang="tr-TR" sz="1800" b="1" i="0" u="none" strike="noStrike" baseline="0" dirty="0">
                <a:solidFill>
                  <a:srgbClr val="000000"/>
                </a:solidFill>
                <a:latin typeface="Times New Roman" panose="02020603050405020304" pitchFamily="18" charset="0"/>
              </a:rPr>
              <a:t> </a:t>
            </a:r>
            <a:r>
              <a:rPr lang="tr-TR" sz="1800" b="1" i="0" u="none" strike="noStrike" baseline="0" dirty="0" err="1">
                <a:solidFill>
                  <a:srgbClr val="000000"/>
                </a:solidFill>
                <a:latin typeface="Times New Roman" panose="02020603050405020304" pitchFamily="18" charset="0"/>
              </a:rPr>
              <a:t>Rule</a:t>
            </a:r>
            <a:r>
              <a:rPr lang="tr-TR" sz="1800" b="1" i="0" u="none" strike="noStrike" baseline="0" dirty="0">
                <a:solidFill>
                  <a:srgbClr val="000000"/>
                </a:solidFill>
                <a:latin typeface="Times New Roman" panose="02020603050405020304" pitchFamily="18" charset="0"/>
              </a:rPr>
              <a:t>) </a:t>
            </a:r>
            <a:r>
              <a:rPr lang="tr-TR" sz="1800" b="0" i="0" u="none" strike="noStrike" baseline="0" dirty="0">
                <a:solidFill>
                  <a:srgbClr val="000000"/>
                </a:solidFill>
                <a:latin typeface="Times New Roman" panose="02020603050405020304" pitchFamily="18" charset="0"/>
              </a:rPr>
              <a:t>bulunmalıdır. Bu kural, kural tablosunda mümkün olduğunca ilk sıralarda yer almalıdır.</a:t>
            </a:r>
          </a:p>
          <a:p>
            <a:endParaRPr lang="tr-TR" sz="1800" b="0" i="0" u="none" strike="noStrike" baseline="0" dirty="0">
              <a:solidFill>
                <a:srgbClr val="000000"/>
              </a:solidFill>
              <a:latin typeface="Times New Roman" panose="02020603050405020304" pitchFamily="18" charset="0"/>
            </a:endParaRPr>
          </a:p>
          <a:p>
            <a:endParaRPr lang="tr-TR" dirty="0"/>
          </a:p>
        </p:txBody>
      </p:sp>
      <p:sp>
        <p:nvSpPr>
          <p:cNvPr id="4" name="Başlık 1">
            <a:extLst>
              <a:ext uri="{FF2B5EF4-FFF2-40B4-BE49-F238E27FC236}">
                <a16:creationId xmlns:a16="http://schemas.microsoft.com/office/drawing/2014/main" id="{E5B854E2-5B13-4093-8D30-13E1901EB67D}"/>
              </a:ext>
            </a:extLst>
          </p:cNvPr>
          <p:cNvSpPr>
            <a:spLocks noGrp="1"/>
          </p:cNvSpPr>
          <p:nvPr>
            <p:ph type="title"/>
          </p:nvPr>
        </p:nvSpPr>
        <p:spPr>
          <a:xfrm>
            <a:off x="457200" y="274638"/>
            <a:ext cx="8229600" cy="490066"/>
          </a:xfrm>
        </p:spPr>
        <p:txBody>
          <a:bodyPr>
            <a:noAutofit/>
          </a:bodyPr>
          <a:lstStyle/>
          <a:p>
            <a:r>
              <a:rPr lang="tr-TR" sz="2800" dirty="0"/>
              <a:t>KURAL TABLOLARINDA DİKKAT EDİLMESİ GEREKENLER</a:t>
            </a:r>
          </a:p>
        </p:txBody>
      </p:sp>
    </p:spTree>
    <p:extLst>
      <p:ext uri="{BB962C8B-B14F-4D97-AF65-F5344CB8AC3E}">
        <p14:creationId xmlns:p14="http://schemas.microsoft.com/office/powerpoint/2010/main" val="39076206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962CA9C-6AEE-4B25-AAF2-64173B891226}"/>
              </a:ext>
            </a:extLst>
          </p:cNvPr>
          <p:cNvSpPr>
            <a:spLocks noGrp="1"/>
          </p:cNvSpPr>
          <p:nvPr>
            <p:ph idx="1"/>
          </p:nvPr>
        </p:nvSpPr>
        <p:spPr>
          <a:xfrm>
            <a:off x="457200" y="781328"/>
            <a:ext cx="8229600" cy="5344835"/>
          </a:xfrm>
        </p:spPr>
        <p:txBody>
          <a:bodyPr/>
          <a:lstStyle/>
          <a:p>
            <a:r>
              <a:rPr lang="tr-TR" sz="1800" b="0" i="0" u="none" strike="noStrike" baseline="0" dirty="0">
                <a:solidFill>
                  <a:srgbClr val="000000"/>
                </a:solidFill>
                <a:latin typeface="Times New Roman" panose="02020603050405020304" pitchFamily="18" charset="0"/>
              </a:rPr>
              <a:t>Kural tablosundaki mevcut kurallar mümkün olan en fazla kısıtlamayı getirecek şekilde sıkılaştırılmalıdır. Gevşek bırakılan kurallar istenmeyen erişimlere izin verilmesine neden olabilir. Ayrıca gereğinden fazla erişime olanak tanıyan kurallar sisteme yetkisiz erişim yapılma riskini de arttırmaktadır. Örneğin DMZ bölgesindeki bir web sunucuya iç ağdan sadece belirli bir kullanıcının erişim ihtiyacı olmasına karşın bütün iç ağın erişimine izin verilmesi yetkisiz erişimlere neden olacaktır. Bu nedenle sadece gerekli kullanıcıların gerekli sunuculardaki gerekli servislere erişimine izin verilmelidir. Başka bir deyişle kuralların kaynak adres, hedef adres ve servis alanlarına kısıtlama getirilmelidir. Bunun dışında, eğer mümkünse, kritik erişimlerde kimlik doğrulama uygulanmalıdır. </a:t>
            </a:r>
          </a:p>
          <a:p>
            <a:endParaRPr lang="tr-TR" dirty="0"/>
          </a:p>
        </p:txBody>
      </p:sp>
      <p:pic>
        <p:nvPicPr>
          <p:cNvPr id="5" name="Resim 4">
            <a:extLst>
              <a:ext uri="{FF2B5EF4-FFF2-40B4-BE49-F238E27FC236}">
                <a16:creationId xmlns:a16="http://schemas.microsoft.com/office/drawing/2014/main" id="{DCE9A59E-96B2-4563-8127-09A3C68E1321}"/>
              </a:ext>
            </a:extLst>
          </p:cNvPr>
          <p:cNvPicPr>
            <a:picLocks noChangeAspect="1"/>
          </p:cNvPicPr>
          <p:nvPr/>
        </p:nvPicPr>
        <p:blipFill>
          <a:blip r:embed="rId2"/>
          <a:stretch>
            <a:fillRect/>
          </a:stretch>
        </p:blipFill>
        <p:spPr>
          <a:xfrm>
            <a:off x="827584" y="3588020"/>
            <a:ext cx="7237927" cy="1238655"/>
          </a:xfrm>
          <a:prstGeom prst="rect">
            <a:avLst/>
          </a:prstGeom>
        </p:spPr>
      </p:pic>
      <p:sp>
        <p:nvSpPr>
          <p:cNvPr id="6" name="Başlık 1">
            <a:extLst>
              <a:ext uri="{FF2B5EF4-FFF2-40B4-BE49-F238E27FC236}">
                <a16:creationId xmlns:a16="http://schemas.microsoft.com/office/drawing/2014/main" id="{051F347B-7706-43CF-953F-3F5C9B5CFDBD}"/>
              </a:ext>
            </a:extLst>
          </p:cNvPr>
          <p:cNvSpPr>
            <a:spLocks noGrp="1"/>
          </p:cNvSpPr>
          <p:nvPr>
            <p:ph type="title"/>
          </p:nvPr>
        </p:nvSpPr>
        <p:spPr>
          <a:xfrm>
            <a:off x="457200" y="274638"/>
            <a:ext cx="8229600" cy="490066"/>
          </a:xfrm>
        </p:spPr>
        <p:txBody>
          <a:bodyPr>
            <a:noAutofit/>
          </a:bodyPr>
          <a:lstStyle/>
          <a:p>
            <a:r>
              <a:rPr lang="tr-TR" sz="2800" dirty="0"/>
              <a:t>KURAL TABLOLARINDA DİKKAT EDİLMESİ GEREKENLER</a:t>
            </a:r>
          </a:p>
        </p:txBody>
      </p:sp>
      <p:sp>
        <p:nvSpPr>
          <p:cNvPr id="8" name="Metin kutusu 7">
            <a:extLst>
              <a:ext uri="{FF2B5EF4-FFF2-40B4-BE49-F238E27FC236}">
                <a16:creationId xmlns:a16="http://schemas.microsoft.com/office/drawing/2014/main" id="{F359E3B1-AFAE-4BAB-96F8-82C29903AC9C}"/>
              </a:ext>
            </a:extLst>
          </p:cNvPr>
          <p:cNvSpPr txBox="1"/>
          <p:nvPr/>
        </p:nvSpPr>
        <p:spPr>
          <a:xfrm>
            <a:off x="287524" y="4826675"/>
            <a:ext cx="8568952" cy="2031325"/>
          </a:xfrm>
          <a:prstGeom prst="rect">
            <a:avLst/>
          </a:prstGeom>
          <a:noFill/>
        </p:spPr>
        <p:txBody>
          <a:bodyPr wrap="square">
            <a:spAutoFit/>
          </a:bodyPr>
          <a:lstStyle/>
          <a:p>
            <a:r>
              <a:rPr lang="tr-TR" sz="1400" b="0" i="0" u="none" strike="noStrike" baseline="0" dirty="0">
                <a:solidFill>
                  <a:srgbClr val="000000"/>
                </a:solidFill>
                <a:latin typeface="Times New Roman" panose="02020603050405020304" pitchFamily="18" charset="0"/>
              </a:rPr>
              <a:t>Bu kural tablosundaki ilk kurala dikkatli bakılacak olursa “DIŞ </a:t>
            </a:r>
            <a:r>
              <a:rPr lang="tr-TR" sz="1400" b="0" i="0" u="none" strike="noStrike" baseline="0" dirty="0" err="1">
                <a:solidFill>
                  <a:srgbClr val="000000"/>
                </a:solidFill>
                <a:latin typeface="Times New Roman" panose="02020603050405020304" pitchFamily="18" charset="0"/>
              </a:rPr>
              <a:t>AĞ”dan</a:t>
            </a:r>
            <a:r>
              <a:rPr lang="tr-TR" sz="1400" b="0" i="0" u="none" strike="noStrike" baseline="0" dirty="0">
                <a:solidFill>
                  <a:srgbClr val="000000"/>
                </a:solidFill>
                <a:latin typeface="Times New Roman" panose="02020603050405020304" pitchFamily="18" charset="0"/>
              </a:rPr>
              <a:t>, iç ağdaki “WEB </a:t>
            </a:r>
            <a:r>
              <a:rPr lang="tr-TR" sz="1400" b="0" i="0" u="none" strike="noStrike" baseline="0" dirty="0" err="1">
                <a:solidFill>
                  <a:srgbClr val="000000"/>
                </a:solidFill>
                <a:latin typeface="Times New Roman" panose="02020603050405020304" pitchFamily="18" charset="0"/>
              </a:rPr>
              <a:t>SUNUCU”nun</a:t>
            </a:r>
            <a:r>
              <a:rPr lang="tr-TR" sz="1400" b="0" i="0" u="none" strike="noStrike" baseline="0" dirty="0">
                <a:solidFill>
                  <a:srgbClr val="000000"/>
                </a:solidFill>
                <a:latin typeface="Times New Roman" panose="02020603050405020304" pitchFamily="18" charset="0"/>
              </a:rPr>
              <a:t> bütün portlarına yapılan erişim isteklerine izin verilmektedir. Böyle bir durumda “DIŞ </a:t>
            </a:r>
            <a:r>
              <a:rPr lang="tr-TR" sz="1400" b="0" i="0" u="none" strike="noStrike" baseline="0" dirty="0" err="1">
                <a:solidFill>
                  <a:srgbClr val="000000"/>
                </a:solidFill>
                <a:latin typeface="Times New Roman" panose="02020603050405020304" pitchFamily="18" charset="0"/>
              </a:rPr>
              <a:t>AĞ”daki</a:t>
            </a:r>
            <a:r>
              <a:rPr lang="tr-TR" sz="1400" b="0" i="0" u="none" strike="noStrike" baseline="0" dirty="0">
                <a:solidFill>
                  <a:srgbClr val="000000"/>
                </a:solidFill>
                <a:latin typeface="Times New Roman" panose="02020603050405020304" pitchFamily="18" charset="0"/>
              </a:rPr>
              <a:t> herhangi bir saldırgan iç ağdaki “WEB </a:t>
            </a:r>
            <a:r>
              <a:rPr lang="tr-TR" sz="1400" b="0" i="0" u="none" strike="noStrike" baseline="0" dirty="0" err="1">
                <a:solidFill>
                  <a:srgbClr val="000000"/>
                </a:solidFill>
                <a:latin typeface="Times New Roman" panose="02020603050405020304" pitchFamily="18" charset="0"/>
              </a:rPr>
              <a:t>SUNUCU”da</a:t>
            </a:r>
            <a:r>
              <a:rPr lang="tr-TR" sz="1400" b="0" i="0" u="none" strike="noStrike" baseline="0" dirty="0">
                <a:solidFill>
                  <a:srgbClr val="000000"/>
                </a:solidFill>
                <a:latin typeface="Times New Roman" panose="02020603050405020304" pitchFamily="18" charset="0"/>
              </a:rPr>
              <a:t> açık olan bir porttaki açıklıktan faydalanarak bu porta kötü niyetli erişim sağlayabilir. Çünkü “WEB </a:t>
            </a:r>
            <a:r>
              <a:rPr lang="tr-TR" sz="1400" b="0" i="0" u="none" strike="noStrike" baseline="0" dirty="0" err="1">
                <a:solidFill>
                  <a:srgbClr val="000000"/>
                </a:solidFill>
                <a:latin typeface="Times New Roman" panose="02020603050405020304" pitchFamily="18" charset="0"/>
              </a:rPr>
              <a:t>SUNUCU”nunu</a:t>
            </a:r>
            <a:r>
              <a:rPr lang="tr-TR" sz="1400" b="0" i="0" u="none" strike="noStrike" baseline="0" dirty="0">
                <a:solidFill>
                  <a:srgbClr val="000000"/>
                </a:solidFill>
                <a:latin typeface="Times New Roman" panose="02020603050405020304" pitchFamily="18" charset="0"/>
              </a:rPr>
              <a:t> tüm portlarına olan erişime güvenlik duvarı tarafından izin verilmiş durumdadır. Bu durum güvenlik açısından uygun değildir. Bu nedenle “WEB </a:t>
            </a:r>
            <a:r>
              <a:rPr lang="tr-TR" sz="1400" b="0" i="0" u="none" strike="noStrike" baseline="0" dirty="0" err="1">
                <a:solidFill>
                  <a:srgbClr val="000000"/>
                </a:solidFill>
                <a:latin typeface="Times New Roman" panose="02020603050405020304" pitchFamily="18" charset="0"/>
              </a:rPr>
              <a:t>SUNUCU”ya</a:t>
            </a:r>
            <a:r>
              <a:rPr lang="tr-TR" sz="1400" b="0" i="0" u="none" strike="noStrike" baseline="0" dirty="0">
                <a:solidFill>
                  <a:srgbClr val="000000"/>
                </a:solidFill>
                <a:latin typeface="Times New Roman" panose="02020603050405020304" pitchFamily="18" charset="0"/>
              </a:rPr>
              <a:t> sadece “WEB” erişim isteklerinin yapılmasına izin verilmeli, bunun dışındaki erişimler engellenmelidir. Çünkü bir “WEB SUNUCU” ancak “WEB” hizmeti vermektedir. Bu durumda “WEB” hizmeti dışındaki erişimlere izin verilmesi mantıksız olacaktır. Bu nedenle ilk kuraldaki “Servis” alanındaki “HERHANGİ”, “WEB” olarak değiştirilmelidir. Bu şekilde “WEB </a:t>
            </a:r>
            <a:r>
              <a:rPr lang="tr-TR" sz="1400" b="0" i="0" u="none" strike="noStrike" baseline="0" dirty="0" err="1">
                <a:solidFill>
                  <a:srgbClr val="000000"/>
                </a:solidFill>
                <a:latin typeface="Times New Roman" panose="02020603050405020304" pitchFamily="18" charset="0"/>
              </a:rPr>
              <a:t>SUNUCU”nun</a:t>
            </a:r>
            <a:r>
              <a:rPr lang="tr-TR" sz="1400" b="0" i="0" u="none" strike="noStrike" baseline="0" dirty="0">
                <a:solidFill>
                  <a:srgbClr val="000000"/>
                </a:solidFill>
                <a:latin typeface="Times New Roman" panose="02020603050405020304" pitchFamily="18" charset="0"/>
              </a:rPr>
              <a:t> sadece http portuna olan erişime izin verilmesi sağlanmış olur. </a:t>
            </a:r>
            <a:endParaRPr lang="tr-TR" sz="1400" dirty="0"/>
          </a:p>
        </p:txBody>
      </p:sp>
    </p:spTree>
    <p:extLst>
      <p:ext uri="{BB962C8B-B14F-4D97-AF65-F5344CB8AC3E}">
        <p14:creationId xmlns:p14="http://schemas.microsoft.com/office/powerpoint/2010/main" val="27375551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8A5A7275-086F-43DA-B461-8DD0027E9935}"/>
              </a:ext>
            </a:extLst>
          </p:cNvPr>
          <p:cNvSpPr>
            <a:spLocks noGrp="1"/>
          </p:cNvSpPr>
          <p:nvPr>
            <p:ph idx="1"/>
          </p:nvPr>
        </p:nvSpPr>
        <p:spPr/>
        <p:txBody>
          <a:bodyPr>
            <a:normAutofit lnSpcReduction="10000"/>
          </a:bodyPr>
          <a:lstStyle/>
          <a:p>
            <a:r>
              <a:rPr lang="tr-TR" sz="1800" b="0" i="0" u="none" strike="noStrike" baseline="0" dirty="0">
                <a:solidFill>
                  <a:srgbClr val="000000"/>
                </a:solidFill>
                <a:latin typeface="Times New Roman" panose="02020603050405020304" pitchFamily="18" charset="0"/>
              </a:rPr>
              <a:t>Kural tablosunda engellenen ağ trafiğine ilişkin geriye cevap döndürülmemeli, ağ paketlerinin sessizce düşürülmesi sağlanmalıdır. Aksi takdirde geriye döndürülen cevaplar uzaktan sisteme erişmeye çalışan bir saldırgana güvenlik duvarının varlığı hakkında bilgi verecektir. Unutulmamalıdır ki herhangi bir saldırganın sistem hakkında elde edindiği her bir bilgi sisteme saldırma olasılığını arttırmaktadır.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err="1">
                <a:solidFill>
                  <a:srgbClr val="000000"/>
                </a:solidFill>
                <a:latin typeface="Times New Roman" panose="02020603050405020304" pitchFamily="18" charset="0"/>
              </a:rPr>
              <a:t>Denetlenebilirliğin</a:t>
            </a:r>
            <a:r>
              <a:rPr lang="tr-TR" sz="1800" b="0" i="0" u="none" strike="noStrike" baseline="0" dirty="0">
                <a:solidFill>
                  <a:srgbClr val="000000"/>
                </a:solidFill>
                <a:latin typeface="Times New Roman" panose="02020603050405020304" pitchFamily="18" charset="0"/>
              </a:rPr>
              <a:t> arttırılması amacıyla sadece kritik ağ trafiğine ilişkin kayıtların tutulması ve bu kayıtların sonradan incelenmesi sağlanmalıdır. Böylelikle ağa yapılan olası saldırıların gözden kaçırılması engellenmiş olur ve yapılan erişimler hakkında detaylı bilgi elde edilir. Bunun için kritik olarak nitelendirilecek ağ trafiği önceden belirlenmelidir.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Kural tablosundaki kuralların </a:t>
            </a:r>
            <a:r>
              <a:rPr lang="tr-TR" sz="1800" b="0" i="0" u="none" strike="noStrike" baseline="0" dirty="0" err="1">
                <a:solidFill>
                  <a:srgbClr val="000000"/>
                </a:solidFill>
                <a:latin typeface="Times New Roman" panose="02020603050405020304" pitchFamily="18" charset="0"/>
              </a:rPr>
              <a:t>anlaşılabilirliğini</a:t>
            </a:r>
            <a:r>
              <a:rPr lang="tr-TR" sz="1800" b="0" i="0" u="none" strike="noStrike" baseline="0" dirty="0">
                <a:solidFill>
                  <a:srgbClr val="000000"/>
                </a:solidFill>
                <a:latin typeface="Times New Roman" panose="02020603050405020304" pitchFamily="18" charset="0"/>
              </a:rPr>
              <a:t> arttırmak amacıyla her bir kurala ilişkin açıklama eklenmelidir. Açıklama kısmında hangi güvenlik duvarı yöneticisinin, hangi tarihte ve hangi amaçla bu kuralı eklediği bilgisi bulunmalıdır. Böylelikle kural tablosunda yapılan değişikliklerin takip altına alınması da sağlanmış olur. </a:t>
            </a:r>
          </a:p>
          <a:p>
            <a:pPr marL="0" indent="0">
              <a:buNone/>
            </a:pPr>
            <a:endParaRPr lang="tr-TR" dirty="0"/>
          </a:p>
        </p:txBody>
      </p:sp>
      <p:sp>
        <p:nvSpPr>
          <p:cNvPr id="4" name="Başlık 1">
            <a:extLst>
              <a:ext uri="{FF2B5EF4-FFF2-40B4-BE49-F238E27FC236}">
                <a16:creationId xmlns:a16="http://schemas.microsoft.com/office/drawing/2014/main" id="{792C33FF-D208-40C2-9030-9E61E0C60F96}"/>
              </a:ext>
            </a:extLst>
          </p:cNvPr>
          <p:cNvSpPr>
            <a:spLocks noGrp="1"/>
          </p:cNvSpPr>
          <p:nvPr>
            <p:ph type="title"/>
          </p:nvPr>
        </p:nvSpPr>
        <p:spPr>
          <a:xfrm>
            <a:off x="457200" y="274638"/>
            <a:ext cx="8229600" cy="490066"/>
          </a:xfrm>
        </p:spPr>
        <p:txBody>
          <a:bodyPr>
            <a:noAutofit/>
          </a:bodyPr>
          <a:lstStyle/>
          <a:p>
            <a:r>
              <a:rPr lang="tr-TR" sz="2800" dirty="0"/>
              <a:t>KURAL TABLOLARINDA DİKKAT EDİLMESİ GEREKENLER</a:t>
            </a:r>
          </a:p>
        </p:txBody>
      </p:sp>
    </p:spTree>
    <p:extLst>
      <p:ext uri="{BB962C8B-B14F-4D97-AF65-F5344CB8AC3E}">
        <p14:creationId xmlns:p14="http://schemas.microsoft.com/office/powerpoint/2010/main" val="425121499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aşlık 2"/>
          <p:cNvSpPr>
            <a:spLocks noGrp="1"/>
          </p:cNvSpPr>
          <p:nvPr>
            <p:ph type="ctrTitle"/>
          </p:nvPr>
        </p:nvSpPr>
        <p:spPr/>
        <p:txBody>
          <a:bodyPr/>
          <a:lstStyle/>
          <a:p>
            <a:r>
              <a:rPr lang="tr-TR" dirty="0"/>
              <a:t>Ağ Adres Çevrimleri</a:t>
            </a:r>
          </a:p>
        </p:txBody>
      </p:sp>
      <p:sp>
        <p:nvSpPr>
          <p:cNvPr id="4" name="Alt Başlık 3"/>
          <p:cNvSpPr>
            <a:spLocks noGrp="1"/>
          </p:cNvSpPr>
          <p:nvPr>
            <p:ph type="subTitle" idx="1"/>
          </p:nvPr>
        </p:nvSpPr>
        <p:spPr/>
        <p:txBody>
          <a:bodyPr/>
          <a:lstStyle/>
          <a:p>
            <a:r>
              <a:rPr lang="tr-TR" dirty="0"/>
              <a:t>Statik - Dinamik</a:t>
            </a:r>
          </a:p>
        </p:txBody>
      </p:sp>
    </p:spTree>
    <p:extLst>
      <p:ext uri="{BB962C8B-B14F-4D97-AF65-F5344CB8AC3E}">
        <p14:creationId xmlns:p14="http://schemas.microsoft.com/office/powerpoint/2010/main" val="34730643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213E31F-84C7-43BD-8949-650BF872D247}"/>
              </a:ext>
            </a:extLst>
          </p:cNvPr>
          <p:cNvSpPr>
            <a:spLocks noGrp="1"/>
          </p:cNvSpPr>
          <p:nvPr>
            <p:ph idx="1"/>
          </p:nvPr>
        </p:nvSpPr>
        <p:spPr/>
        <p:txBody>
          <a:bodyPr>
            <a:normAutofit lnSpcReduction="10000"/>
          </a:bodyPr>
          <a:lstStyle/>
          <a:p>
            <a:r>
              <a:rPr lang="tr-TR" sz="1800" b="0" i="0" u="none" strike="noStrike" baseline="0" dirty="0">
                <a:solidFill>
                  <a:srgbClr val="000000"/>
                </a:solidFill>
                <a:latin typeface="Times New Roman" panose="02020603050405020304" pitchFamily="18" charset="0"/>
              </a:rPr>
              <a:t>İç ağdaki bilgisayarların gerçek IP bilgilerinin dış dünyadan gizlenmesi ve gerçek IP adreslerinden tasarruf edilmesi amacıyla güvenlik duvarında ağ adres çevrimi (NAT) gerçekleştirilir. </a:t>
            </a:r>
          </a:p>
          <a:p>
            <a:pPr marR="0" algn="l"/>
            <a:r>
              <a:rPr lang="tr-TR" sz="1800" b="0" i="0" u="none" strike="noStrike" baseline="0" dirty="0">
                <a:solidFill>
                  <a:srgbClr val="000000"/>
                </a:solidFill>
                <a:latin typeface="Times New Roman" panose="02020603050405020304" pitchFamily="18" charset="0"/>
              </a:rPr>
              <a:t>Gerçek IP adreslerinden tasarruf edilmesi amacıyla iç ağda özel IP adres aralıkları kullanılır. Bunlar: </a:t>
            </a:r>
          </a:p>
          <a:p>
            <a:pPr lvl="1"/>
            <a:r>
              <a:rPr lang="tr-TR" sz="1400" b="0" i="0" u="none" strike="noStrike" baseline="0" dirty="0">
                <a:solidFill>
                  <a:srgbClr val="000000"/>
                </a:solidFill>
                <a:latin typeface="Times New Roman" panose="02020603050405020304" pitchFamily="18" charset="0"/>
              </a:rPr>
              <a:t>10.0.0.0 – 10.255.255.255 </a:t>
            </a:r>
          </a:p>
          <a:p>
            <a:pPr lvl="1"/>
            <a:r>
              <a:rPr lang="tr-TR" sz="1400" b="0" i="0" u="none" strike="noStrike" baseline="0" dirty="0">
                <a:solidFill>
                  <a:srgbClr val="000000"/>
                </a:solidFill>
                <a:latin typeface="Times New Roman" panose="02020603050405020304" pitchFamily="18" charset="0"/>
              </a:rPr>
              <a:t>172.16.0.0 – 172.31.255.255 </a:t>
            </a:r>
          </a:p>
          <a:p>
            <a:pPr lvl="1"/>
            <a:r>
              <a:rPr lang="tr-TR" sz="1400" b="0" i="0" u="none" strike="noStrike" baseline="0" dirty="0">
                <a:solidFill>
                  <a:srgbClr val="000000"/>
                </a:solidFill>
                <a:latin typeface="Times New Roman" panose="02020603050405020304" pitchFamily="18" charset="0"/>
              </a:rPr>
              <a:t>192.168.0.0 – 192.168.255.255 </a:t>
            </a:r>
          </a:p>
          <a:p>
            <a:endParaRPr lang="tr-TR" sz="1800" b="0" i="0" u="none" strike="noStrike" baseline="0" dirty="0">
              <a:solidFill>
                <a:srgbClr val="000000"/>
              </a:solidFill>
              <a:latin typeface="Times New Roman" panose="02020603050405020304" pitchFamily="18" charset="0"/>
            </a:endParaRPr>
          </a:p>
          <a:p>
            <a:pPr marR="0" algn="l"/>
            <a:r>
              <a:rPr lang="tr-TR" sz="1800" b="0" i="0" u="none" strike="noStrike" baseline="0" dirty="0">
                <a:solidFill>
                  <a:srgbClr val="000000"/>
                </a:solidFill>
                <a:latin typeface="Times New Roman" panose="02020603050405020304" pitchFamily="18" charset="0"/>
              </a:rPr>
              <a:t>Normalde bu IP adresleri kullanılarak dış dünya ile bağlantı sağlanamaz. Çünkü bu IP adresleri için yönlendirme yapılamaz. Bu nedenle bu IP adresleri için ağ adres çevrimi gerçekleştirilmelidir. Ağ adres çevrimi ile özel IP adresleri, dış dünya ile bağlantı kurmayı sağlayacak gerçek IP adreslerine dönüştürülür. Böylelikle iç ağdaki bilgisayarlarda gerçek IP adresi kullanılmadan dış dünya ile iletişim sağlanmış olur. Bu şekilde gerçek IP adreslerinden tasarruf edilir. Ayrıca iç ağdaki bilgisayarların gerçek IP adresleri dış dünyadan gizlenmiş olur. Bu da güvenliği arttır. </a:t>
            </a:r>
            <a:endParaRPr lang="tr-TR" dirty="0"/>
          </a:p>
        </p:txBody>
      </p:sp>
      <p:sp>
        <p:nvSpPr>
          <p:cNvPr id="4" name="Başlık 2">
            <a:extLst>
              <a:ext uri="{FF2B5EF4-FFF2-40B4-BE49-F238E27FC236}">
                <a16:creationId xmlns:a16="http://schemas.microsoft.com/office/drawing/2014/main" id="{219342D4-7ACE-4E63-ABB0-223459549E7B}"/>
              </a:ext>
            </a:extLst>
          </p:cNvPr>
          <p:cNvSpPr>
            <a:spLocks noGrp="1"/>
          </p:cNvSpPr>
          <p:nvPr>
            <p:ph type="title"/>
          </p:nvPr>
        </p:nvSpPr>
        <p:spPr>
          <a:xfrm>
            <a:off x="457200" y="274638"/>
            <a:ext cx="8229600" cy="1143000"/>
          </a:xfrm>
        </p:spPr>
        <p:txBody>
          <a:bodyPr/>
          <a:lstStyle/>
          <a:p>
            <a:r>
              <a:rPr lang="tr-TR" dirty="0"/>
              <a:t>Ağ Adres Çevrimleri</a:t>
            </a:r>
          </a:p>
        </p:txBody>
      </p:sp>
    </p:spTree>
    <p:extLst>
      <p:ext uri="{BB962C8B-B14F-4D97-AF65-F5344CB8AC3E}">
        <p14:creationId xmlns:p14="http://schemas.microsoft.com/office/powerpoint/2010/main" val="39306811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BA63B1E-D6C4-4AD3-99DA-82932B6A9830}"/>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915E9CBF-7471-49D9-A588-DEC24BC956EF}"/>
              </a:ext>
            </a:extLst>
          </p:cNvPr>
          <p:cNvSpPr>
            <a:spLocks noGrp="1"/>
          </p:cNvSpPr>
          <p:nvPr>
            <p:ph idx="1"/>
          </p:nvPr>
        </p:nvSpPr>
        <p:spPr/>
        <p:txBody>
          <a:bodyPr>
            <a:normAutofit fontScale="92500" lnSpcReduction="10000"/>
          </a:bodyPr>
          <a:lstStyle/>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Statik Ağ Adres Çevrimi: Statik ağ adres çevriminde her bir bilgisayarın IP’si ayrı bir gerçek IP adresine dönüştürülmektedir. Başka bir deyişle iç ağdaki bilgisayarlar dış dünyaya birbirinden farklı IP adresleri ile çıkmaktadır. Sadece belirli sayıdaki bilgisayarlar için statik ağ adres çevriminin yapılması daha uygun olmaktadır. Çünkü her bir bilgisayarın dışarı çıkması için ayrı bir gerçek IP adresi kullanılmakta ve bu da eldeki gerçek IP adreslerinin daha çabuk tükenmesine yol açmaktadır. Bu özelliğine rağmen statik ağ adres çevrimi güvenlik duvarına çok fazla yük getirmemektedir. Çünkü bilgisayarların dış dünyaya açılırken kullanacağı IP adresleri önceden belirlenmiştir. Bu nedenle yapılan ağ adres çevrimi “Statik” olarak adlandırılmaktadır </a:t>
            </a:r>
          </a:p>
          <a:p>
            <a:pPr algn="l"/>
            <a:endParaRPr lang="tr-TR" sz="1800" b="0" i="0" u="none" strike="noStrike" baseline="0" dirty="0">
              <a:solidFill>
                <a:srgbClr val="000000"/>
              </a:solidFill>
              <a:latin typeface="Times New Roman" panose="02020603050405020304" pitchFamily="18" charset="0"/>
            </a:endParaRPr>
          </a:p>
          <a:p>
            <a:pPr marR="0" algn="just"/>
            <a:r>
              <a:rPr lang="tr-TR" sz="1800" b="0" i="0" u="none" strike="noStrike" baseline="0" dirty="0">
                <a:solidFill>
                  <a:srgbClr val="000000"/>
                </a:solidFill>
                <a:latin typeface="Times New Roman" panose="02020603050405020304" pitchFamily="18" charset="0"/>
              </a:rPr>
              <a:t>Statik ağ adres çevrimi iki yönlü olarak yapılmaktadır. Yani hem iç ağdaki bilgisayarlar dış dünyaya erişirken hem de dış dünyadaki bilgisayarlar iç ağa erişirken statik ağ adres çevrimi gerçekleştirilmektedir. Bu anlamda bağlantıyı başlatan taraf hem iç ağ hem de dış dünya olabilir. Ancak bazı durumlarda güvenlik açısından dış dünyanın iç ağa erişmemesi istenebilir. Bu durumda statik ağ adres çevrimi yerine dinamik ağ adres çevrimi kullanılmalıdır. </a:t>
            </a:r>
          </a:p>
          <a:p>
            <a:endParaRPr lang="tr-TR" dirty="0"/>
          </a:p>
        </p:txBody>
      </p:sp>
    </p:spTree>
    <p:extLst>
      <p:ext uri="{BB962C8B-B14F-4D97-AF65-F5344CB8AC3E}">
        <p14:creationId xmlns:p14="http://schemas.microsoft.com/office/powerpoint/2010/main" val="336132014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p:cNvSpPr>
            <a:spLocks noGrp="1"/>
          </p:cNvSpPr>
          <p:nvPr>
            <p:ph type="title"/>
          </p:nvPr>
        </p:nvSpPr>
        <p:spPr>
          <a:xfrm>
            <a:off x="457200" y="274638"/>
            <a:ext cx="8229600" cy="634082"/>
          </a:xfrm>
        </p:spPr>
        <p:txBody>
          <a:bodyPr>
            <a:noAutofit/>
          </a:bodyPr>
          <a:lstStyle/>
          <a:p>
            <a:r>
              <a:rPr lang="tr-TR" sz="3200" dirty="0"/>
              <a:t>Statik Ağ adres çevrimi</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7229" y="908720"/>
            <a:ext cx="5009542" cy="3312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Metin kutusu 4">
            <a:extLst>
              <a:ext uri="{FF2B5EF4-FFF2-40B4-BE49-F238E27FC236}">
                <a16:creationId xmlns:a16="http://schemas.microsoft.com/office/drawing/2014/main" id="{9738A8FE-7EA2-4948-A6BB-2A8E4B398C78}"/>
              </a:ext>
            </a:extLst>
          </p:cNvPr>
          <p:cNvSpPr txBox="1"/>
          <p:nvPr/>
        </p:nvSpPr>
        <p:spPr>
          <a:xfrm>
            <a:off x="323528" y="4246139"/>
            <a:ext cx="8496944" cy="2308324"/>
          </a:xfrm>
          <a:prstGeom prst="rect">
            <a:avLst/>
          </a:prstGeom>
          <a:noFill/>
        </p:spPr>
        <p:txBody>
          <a:bodyPr wrap="square">
            <a:spAutoFit/>
          </a:bodyPr>
          <a:lstStyle/>
          <a:p>
            <a:r>
              <a:rPr lang="tr-TR" sz="1600" b="0" i="0" u="none" strike="noStrike" baseline="0" dirty="0">
                <a:solidFill>
                  <a:srgbClr val="000000"/>
                </a:solidFill>
                <a:latin typeface="Times New Roman" panose="02020603050405020304" pitchFamily="18" charset="0"/>
              </a:rPr>
              <a:t>Burada iç ağdaki </a:t>
            </a:r>
            <a:r>
              <a:rPr lang="tr-TR" sz="1600" b="1" i="0" u="none" strike="noStrike" baseline="0" dirty="0">
                <a:solidFill>
                  <a:srgbClr val="000000"/>
                </a:solidFill>
                <a:latin typeface="Times New Roman" panose="02020603050405020304" pitchFamily="18" charset="0"/>
              </a:rPr>
              <a:t>“192.168.4.1” </a:t>
            </a:r>
            <a:r>
              <a:rPr lang="tr-TR" sz="1600" b="0" i="0" u="none" strike="noStrike" baseline="0" dirty="0">
                <a:solidFill>
                  <a:srgbClr val="000000"/>
                </a:solidFill>
                <a:latin typeface="Times New Roman" panose="02020603050405020304" pitchFamily="18" charset="0"/>
              </a:rPr>
              <a:t>IP adresli bilgisayar dış dünyadaki </a:t>
            </a:r>
            <a:r>
              <a:rPr lang="tr-TR" sz="1600" b="1" i="0" u="none" strike="noStrike" baseline="0" dirty="0">
                <a:solidFill>
                  <a:srgbClr val="000000"/>
                </a:solidFill>
                <a:latin typeface="Times New Roman" panose="02020603050405020304" pitchFamily="18" charset="0"/>
              </a:rPr>
              <a:t>“212.170.30.1” </a:t>
            </a:r>
            <a:r>
              <a:rPr lang="tr-TR" sz="1600" b="0" i="0" u="none" strike="noStrike" baseline="0" dirty="0">
                <a:solidFill>
                  <a:srgbClr val="000000"/>
                </a:solidFill>
                <a:latin typeface="Times New Roman" panose="02020603050405020304" pitchFamily="18" charset="0"/>
              </a:rPr>
              <a:t>IP adresli bilgisayara erişim sağlamak istemektedir. Tanımlanmış ağ adres çevrimi kuralları ile iç ağdaki bilgisayarın dışarı çıkarken gönderdiği IP paketlerinin kaynak adresi </a:t>
            </a:r>
            <a:r>
              <a:rPr lang="tr-TR" sz="1600" b="1" i="0" u="none" strike="noStrike" baseline="0" dirty="0">
                <a:solidFill>
                  <a:srgbClr val="000000"/>
                </a:solidFill>
                <a:latin typeface="Times New Roman" panose="02020603050405020304" pitchFamily="18" charset="0"/>
              </a:rPr>
              <a:t>“193.32.65.2” </a:t>
            </a:r>
            <a:r>
              <a:rPr lang="tr-TR" sz="1600" b="0" i="0" u="none" strike="noStrike" baseline="0" dirty="0">
                <a:solidFill>
                  <a:srgbClr val="000000"/>
                </a:solidFill>
                <a:latin typeface="Times New Roman" panose="02020603050405020304" pitchFamily="18" charset="0"/>
              </a:rPr>
              <a:t>olarak değiştirilmektedir. Böylelikle iç ağdaki bilgisayarın dış dünyaya açılabilmesi sağlanmaktadır. Dış dünyadaki bilgisayar gönderilen IP paketini alıp hedef IP adresi </a:t>
            </a:r>
            <a:r>
              <a:rPr lang="tr-TR" sz="1600" b="1" i="0" u="none" strike="noStrike" baseline="0" dirty="0">
                <a:solidFill>
                  <a:srgbClr val="000000"/>
                </a:solidFill>
                <a:latin typeface="Times New Roman" panose="02020603050405020304" pitchFamily="18" charset="0"/>
              </a:rPr>
              <a:t>“193.32.65.2” </a:t>
            </a:r>
            <a:r>
              <a:rPr lang="tr-TR" sz="1600" b="0" i="0" u="none" strike="noStrike" baseline="0" dirty="0">
                <a:solidFill>
                  <a:srgbClr val="000000"/>
                </a:solidFill>
                <a:latin typeface="Times New Roman" panose="02020603050405020304" pitchFamily="18" charset="0"/>
              </a:rPr>
              <a:t>olan bir cevap IP paketi oluşturur. Bu paket güvenlik duvarına geldiğinde öncelikle ağ adres çevrimi kuralları ile karşılaştırılır. Karşılaştırma sonucunda gelen paketin hedef IP adresi </a:t>
            </a:r>
            <a:r>
              <a:rPr lang="tr-TR" sz="1600" b="1" i="0" u="none" strike="noStrike" baseline="0" dirty="0">
                <a:solidFill>
                  <a:srgbClr val="000000"/>
                </a:solidFill>
                <a:latin typeface="Times New Roman" panose="02020603050405020304" pitchFamily="18" charset="0"/>
              </a:rPr>
              <a:t>“192.168.4.1” </a:t>
            </a:r>
            <a:r>
              <a:rPr lang="tr-TR" sz="1600" b="0" i="0" u="none" strike="noStrike" baseline="0" dirty="0">
                <a:solidFill>
                  <a:srgbClr val="000000"/>
                </a:solidFill>
                <a:latin typeface="Times New Roman" panose="02020603050405020304" pitchFamily="18" charset="0"/>
              </a:rPr>
              <a:t>olarak değiştirilir ve gelen IP paketi iç ağdaki ilgili bilgisayara yönlendirilir. Böylelikle gelen cevap IP paketinin orijinal hedefine ulaştırılması sağlanmış olur. </a:t>
            </a:r>
            <a:endParaRPr lang="tr-TR" sz="1600" dirty="0"/>
          </a:p>
        </p:txBody>
      </p:sp>
    </p:spTree>
    <p:extLst>
      <p:ext uri="{BB962C8B-B14F-4D97-AF65-F5344CB8AC3E}">
        <p14:creationId xmlns:p14="http://schemas.microsoft.com/office/powerpoint/2010/main" val="6684561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CEF5149-2BB8-4DAE-B24B-797AE54A90CF}"/>
              </a:ext>
            </a:extLst>
          </p:cNvPr>
          <p:cNvSpPr>
            <a:spLocks noGrp="1"/>
          </p:cNvSpPr>
          <p:nvPr>
            <p:ph type="title"/>
          </p:nvPr>
        </p:nvSpPr>
        <p:spPr>
          <a:xfrm>
            <a:off x="457200" y="274638"/>
            <a:ext cx="8229600" cy="457199"/>
          </a:xfrm>
        </p:spPr>
        <p:txBody>
          <a:bodyPr>
            <a:noAutofit/>
          </a:bodyPr>
          <a:lstStyle/>
          <a:p>
            <a:r>
              <a:rPr lang="tr-TR" sz="2400" b="1" i="0" u="none" strike="noStrike" baseline="0" dirty="0">
                <a:solidFill>
                  <a:srgbClr val="000000"/>
                </a:solidFill>
                <a:latin typeface="Times New Roman" panose="02020603050405020304" pitchFamily="18" charset="0"/>
              </a:rPr>
              <a:t>Dinamik Ağ Adres Çevrimi</a:t>
            </a:r>
            <a:endParaRPr lang="tr-TR" sz="5400" b="1" dirty="0"/>
          </a:p>
        </p:txBody>
      </p:sp>
      <p:sp>
        <p:nvSpPr>
          <p:cNvPr id="5" name="İçerik Yer Tutucusu 4">
            <a:extLst>
              <a:ext uri="{FF2B5EF4-FFF2-40B4-BE49-F238E27FC236}">
                <a16:creationId xmlns:a16="http://schemas.microsoft.com/office/drawing/2014/main" id="{5C596A23-DD09-4AE4-8628-58C5CE365145}"/>
              </a:ext>
            </a:extLst>
          </p:cNvPr>
          <p:cNvSpPr>
            <a:spLocks noGrp="1"/>
          </p:cNvSpPr>
          <p:nvPr>
            <p:ph idx="1"/>
          </p:nvPr>
        </p:nvSpPr>
        <p:spPr>
          <a:xfrm>
            <a:off x="457200" y="908720"/>
            <a:ext cx="8229600" cy="5217443"/>
          </a:xfrm>
        </p:spPr>
        <p:txBody>
          <a:bodyPr>
            <a:normAutofit fontScale="92500" lnSpcReduction="10000"/>
          </a:bodyPr>
          <a:lstStyle/>
          <a:p>
            <a:pPr algn="l"/>
            <a:r>
              <a:rPr lang="tr-TR" sz="1800" b="0" i="0" u="none" strike="noStrike" baseline="0" dirty="0">
                <a:solidFill>
                  <a:srgbClr val="000000"/>
                </a:solidFill>
                <a:latin typeface="Times New Roman" panose="02020603050405020304" pitchFamily="18" charset="0"/>
              </a:rPr>
              <a:t>Dinamik ağ adres çevriminde iç ağdaki bilgisayarların IP adresleri tek bir IP adresine dönüştürülmektedir. Başka bir deyişle iç ağdaki bilgisayarlar aynı IP adresi ile dış dünyaya çıkmaktadır. Bunun yanında dinamik ağ adres çevrimi yapılırken port adres dönüşümü de (PAT) gerçekleştirilmektedir. Yani iç ağdaki bilgisayarlar aynı IP adresi ile fakat farklı bir port numarası kullanarak dışarı çıkmaktadır. Böylelikle bağlantıların birbirinden ayırt edilmesi sağlanmaktadır.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Dinamik ağ adres çevrimi iç ağdaki bilgisayarların tamamının ya da tamamına yakınının dış dünyaya çıkması için uygundur. Ancak dinamik ağ adres çevrimi, statik ağ adres çevrimine göre daha çok performans gerektirmektedir. Çünkü bilgisayarların dışarı çıkarken kullanacakları kaynak port numaraları dinamik olarak belirlenmektedir. Ancak buna rağmen dinamik ağ adres çevrimi bütün bir ağı tek bir IP adresinin arkasına gizleyebilmekte ve eldeki gerçek IP adres aralığından büyük miktarda tasarruf sağlamaktadır. </a:t>
            </a:r>
          </a:p>
          <a:p>
            <a:pPr algn="l"/>
            <a:endParaRPr lang="tr-TR" sz="1800" b="0" i="0" u="none" strike="noStrike" baseline="0" dirty="0">
              <a:solidFill>
                <a:srgbClr val="000000"/>
              </a:solidFill>
              <a:latin typeface="Times New Roman" panose="02020603050405020304" pitchFamily="18" charset="0"/>
            </a:endParaRPr>
          </a:p>
          <a:p>
            <a:pPr marR="0" algn="l"/>
            <a:r>
              <a:rPr lang="tr-TR" sz="1800" b="0" i="0" u="none" strike="noStrike" baseline="0" dirty="0">
                <a:solidFill>
                  <a:srgbClr val="000000"/>
                </a:solidFill>
                <a:latin typeface="Times New Roman" panose="02020603050405020304" pitchFamily="18" charset="0"/>
              </a:rPr>
              <a:t>Dinamik ağ adres çevrimi, statik ağ adres çevriminden farklı olarak tek yönlü olarak çalışmaktadır. Yani sadece iç ağdaki bilgisayarlar dış dünyaya erişim sağlayabilirken dış dünyadaki bilgisayarlar iç ağa erişim sağlayamamaktadır. Bu anlamda bağlantıyı başlatan taraf sadece iç ağdaki bilgisayarlar olabilir. Dış dünyadaki bilgisayarlar sadece bu bağlantı isteklerine cevap verebilir ama asla bağlantıyı başlatan taraf olamaz. Böylelikle iç ağdaki bilgisayarların dış dünyadan korunması sağlanmış olur. </a:t>
            </a:r>
          </a:p>
          <a:p>
            <a:endParaRPr lang="tr-TR" sz="1800" b="0" i="0" u="none" strike="noStrike" baseline="0"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61468591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6E4CB5C-8AFE-4736-B0DA-1B0756D1D638}"/>
              </a:ext>
            </a:extLst>
          </p:cNvPr>
          <p:cNvSpPr>
            <a:spLocks noGrp="1"/>
          </p:cNvSpPr>
          <p:nvPr>
            <p:ph type="title"/>
          </p:nvPr>
        </p:nvSpPr>
        <p:spPr>
          <a:xfrm>
            <a:off x="457200" y="274638"/>
            <a:ext cx="8229600" cy="457199"/>
          </a:xfrm>
        </p:spPr>
        <p:txBody>
          <a:bodyPr>
            <a:normAutofit fontScale="90000"/>
          </a:bodyPr>
          <a:lstStyle/>
          <a:p>
            <a:r>
              <a:rPr lang="tr-TR" sz="2400" b="1" i="0" u="none" strike="noStrike" baseline="0" dirty="0">
                <a:solidFill>
                  <a:srgbClr val="000000"/>
                </a:solidFill>
                <a:latin typeface="Times New Roman" panose="02020603050405020304" pitchFamily="18" charset="0"/>
              </a:rPr>
              <a:t>Port Yönlendirme</a:t>
            </a:r>
            <a:endParaRPr lang="tr-TR" sz="5400" b="1" dirty="0"/>
          </a:p>
        </p:txBody>
      </p:sp>
      <p:sp>
        <p:nvSpPr>
          <p:cNvPr id="3" name="İçerik Yer Tutucusu 2">
            <a:extLst>
              <a:ext uri="{FF2B5EF4-FFF2-40B4-BE49-F238E27FC236}">
                <a16:creationId xmlns:a16="http://schemas.microsoft.com/office/drawing/2014/main" id="{3BBF20AF-99F8-4DAA-B488-4A563A95831B}"/>
              </a:ext>
            </a:extLst>
          </p:cNvPr>
          <p:cNvSpPr>
            <a:spLocks noGrp="1"/>
          </p:cNvSpPr>
          <p:nvPr>
            <p:ph idx="1"/>
          </p:nvPr>
        </p:nvSpPr>
        <p:spPr>
          <a:xfrm>
            <a:off x="441989" y="1052736"/>
            <a:ext cx="8229600" cy="2908920"/>
          </a:xfrm>
        </p:spPr>
        <p:txBody>
          <a:bodyPr/>
          <a:lstStyle/>
          <a:p>
            <a:r>
              <a:rPr lang="tr-TR" sz="1800" b="0" i="0" u="none" strike="noStrike" baseline="0" dirty="0">
                <a:solidFill>
                  <a:srgbClr val="000000"/>
                </a:solidFill>
                <a:latin typeface="Times New Roman" panose="02020603050405020304" pitchFamily="18" charset="0"/>
              </a:rPr>
              <a:t>Statik ağ adres çevriminin özelleşmiş bir halidir. Dış dünyadan iç ağdaki web, ftp, e-posta gibi sunuculara erişim sağlanması amacıyla kullanılır. Port yönlendirmede erişim sağlanmak istenen sunucuya ilişkin gerçek IP adresi, güvenlik duvarının dış dünyaya açılan IP adresi olarak belirlenir. Dış dünyadaki herhangi bir kullanıcı söz konusu sunucuya ulaşmak için aslında güvenlik duvarının gerçek IP adresine erişim sağlar. Daha sonra güvenlik duvarı gelen bağlantı isteğini inceler ve kendisi için olup olmadığına bakar. Sonuç olarak bağlantı isteği eğer güvenlik duvarı için değilse ilgili sunucuya yönlendirilir. Böylelikle iç ağdaki sunucuya dış ağdan erişim sağlanmış olur. Bu tür erişimler için statik ağ adres çevrimi yerine port yönlendirmenin kullanılması daha güvenli olmaktadır. </a:t>
            </a:r>
          </a:p>
          <a:p>
            <a:endParaRPr lang="tr-TR" dirty="0"/>
          </a:p>
        </p:txBody>
      </p:sp>
    </p:spTree>
    <p:extLst>
      <p:ext uri="{BB962C8B-B14F-4D97-AF65-F5344CB8AC3E}">
        <p14:creationId xmlns:p14="http://schemas.microsoft.com/office/powerpoint/2010/main" val="5865614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3B22192-B59B-46DE-8079-77E36AE10DA2}"/>
              </a:ext>
            </a:extLst>
          </p:cNvPr>
          <p:cNvSpPr>
            <a:spLocks noGrp="1"/>
          </p:cNvSpPr>
          <p:nvPr>
            <p:ph type="title"/>
          </p:nvPr>
        </p:nvSpPr>
        <p:spPr/>
        <p:txBody>
          <a:bodyPr/>
          <a:lstStyle/>
          <a:p>
            <a:r>
              <a:rPr lang="tr-TR" dirty="0"/>
              <a:t>Ağ Trafiği Kayıtları</a:t>
            </a:r>
          </a:p>
        </p:txBody>
      </p:sp>
      <p:sp>
        <p:nvSpPr>
          <p:cNvPr id="3" name="İçerik Yer Tutucusu 2">
            <a:extLst>
              <a:ext uri="{FF2B5EF4-FFF2-40B4-BE49-F238E27FC236}">
                <a16:creationId xmlns:a16="http://schemas.microsoft.com/office/drawing/2014/main" id="{ECCD8867-7762-40F2-89C6-EAB5088D69CF}"/>
              </a:ext>
            </a:extLst>
          </p:cNvPr>
          <p:cNvSpPr>
            <a:spLocks noGrp="1"/>
          </p:cNvSpPr>
          <p:nvPr>
            <p:ph idx="1"/>
          </p:nvPr>
        </p:nvSpPr>
        <p:spPr/>
        <p:txBody>
          <a:bodyPr/>
          <a:lstStyle/>
          <a:p>
            <a:r>
              <a:rPr lang="tr-TR" sz="1800" b="0" i="0" u="none" strike="noStrike" baseline="0" dirty="0">
                <a:solidFill>
                  <a:srgbClr val="000000"/>
                </a:solidFill>
                <a:latin typeface="Times New Roman" panose="02020603050405020304" pitchFamily="18" charset="0"/>
              </a:rPr>
              <a:t>Ağ trafiğine ilişkin kayıtların tutulması hemen hemen bütün güvenlik mekanizmalarında bulunan bir özelliktir. Güvenlik duvarında da, istenen ağ trafiğine ilişkin kayıtların tutulması sağlanabilir. Gelen ve giden ağ trafiğine ilişkin olarak tutulan kayıtlar denetim kayıtları </a:t>
            </a:r>
            <a:r>
              <a:rPr lang="tr-TR" sz="1800" b="1" i="0" u="none" strike="noStrike" baseline="0" dirty="0">
                <a:solidFill>
                  <a:srgbClr val="000000"/>
                </a:solidFill>
                <a:latin typeface="Times New Roman" panose="02020603050405020304" pitchFamily="18" charset="0"/>
              </a:rPr>
              <a:t>(</a:t>
            </a:r>
            <a:r>
              <a:rPr lang="tr-TR" sz="1800" b="1" i="0" u="none" strike="noStrike" baseline="0" dirty="0" err="1">
                <a:solidFill>
                  <a:srgbClr val="000000"/>
                </a:solidFill>
                <a:latin typeface="Times New Roman" panose="02020603050405020304" pitchFamily="18" charset="0"/>
              </a:rPr>
              <a:t>audit</a:t>
            </a:r>
            <a:r>
              <a:rPr lang="tr-TR" sz="1800" b="1" i="0" u="none" strike="noStrike" baseline="0" dirty="0">
                <a:solidFill>
                  <a:srgbClr val="000000"/>
                </a:solidFill>
                <a:latin typeface="Times New Roman" panose="02020603050405020304" pitchFamily="18" charset="0"/>
              </a:rPr>
              <a:t> </a:t>
            </a:r>
            <a:r>
              <a:rPr lang="tr-TR" sz="1800" b="1" i="0" u="none" strike="noStrike" baseline="0" dirty="0" err="1">
                <a:solidFill>
                  <a:srgbClr val="000000"/>
                </a:solidFill>
                <a:latin typeface="Times New Roman" panose="02020603050405020304" pitchFamily="18" charset="0"/>
              </a:rPr>
              <a:t>trail</a:t>
            </a:r>
            <a:r>
              <a:rPr lang="tr-TR" sz="1800" b="1" i="0" u="none" strike="noStrike" baseline="0" dirty="0">
                <a:solidFill>
                  <a:srgbClr val="000000"/>
                </a:solidFill>
                <a:latin typeface="Times New Roman" panose="02020603050405020304" pitchFamily="18" charset="0"/>
              </a:rPr>
              <a:t>) </a:t>
            </a:r>
            <a:r>
              <a:rPr lang="tr-TR" sz="1800" b="0" i="0" u="none" strike="noStrike" baseline="0" dirty="0">
                <a:solidFill>
                  <a:srgbClr val="000000"/>
                </a:solidFill>
                <a:latin typeface="Times New Roman" panose="02020603050405020304" pitchFamily="18" charset="0"/>
              </a:rPr>
              <a:t>olarak da adlandırılmaktadır. Tutulan denetim kayıtlarının sonradan incelenmesi, ağlar arasında akan trafik hakkında bilgi verir. Böylelikle ağın izlenebilirliği ve dolayısıyla güvenliği arttırılmış olur. </a:t>
            </a:r>
          </a:p>
          <a:p>
            <a:r>
              <a:rPr lang="tr-TR" sz="1800" b="0" i="0" u="none" strike="noStrike" baseline="0" dirty="0">
                <a:solidFill>
                  <a:srgbClr val="000000"/>
                </a:solidFill>
                <a:latin typeface="Times New Roman" panose="02020603050405020304" pitchFamily="18" charset="0"/>
              </a:rPr>
              <a:t>Örneğin kurum ağına yapılan ve gözden kaçmış bir saldırı, sonradan denetim kayıtları incelenerek tespit edilebilir. Ya da ağdaki bir sunucuya yapılan erişim istekleri ile ilgili detay bilgiler (erişimi yapan bilgisayar, erişimin tarihi, erişimin sıklığı, vb...) elde edilebilir. Ayrıca denetim kayıtları belirli kriterlere göre sorgulanarak (kaynak bilgisayar, hedef bilgisayar, erişim sağlanan servis, vb...) istenen kayıtlara daha çabuk erişim sağlanabilir. Bu nedenle bir ağ yöneticisi için denetim kayıtlarının önemi büyüktür. Denetim kayıtlarından periyodik (haftalık, aylık, vb...) raporlar çıkartılarak ağa yapılan erişimlerin profili çizilebilir. </a:t>
            </a:r>
            <a:endParaRPr lang="tr-TR" dirty="0"/>
          </a:p>
        </p:txBody>
      </p:sp>
    </p:spTree>
    <p:extLst>
      <p:ext uri="{BB962C8B-B14F-4D97-AF65-F5344CB8AC3E}">
        <p14:creationId xmlns:p14="http://schemas.microsoft.com/office/powerpoint/2010/main" val="18035707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B08F19A-3BBE-497C-B8AA-A63C8495F642}"/>
              </a:ext>
            </a:extLst>
          </p:cNvPr>
          <p:cNvSpPr>
            <a:spLocks noGrp="1"/>
          </p:cNvSpPr>
          <p:nvPr>
            <p:ph type="title"/>
          </p:nvPr>
        </p:nvSpPr>
        <p:spPr>
          <a:xfrm>
            <a:off x="457200" y="274638"/>
            <a:ext cx="8229600" cy="706090"/>
          </a:xfrm>
        </p:spPr>
        <p:txBody>
          <a:bodyPr>
            <a:normAutofit/>
          </a:bodyPr>
          <a:lstStyle/>
          <a:p>
            <a:r>
              <a:rPr lang="tr-TR" sz="2800" b="1" i="0" u="none" strike="noStrike" baseline="0" dirty="0">
                <a:solidFill>
                  <a:srgbClr val="000000"/>
                </a:solidFill>
                <a:latin typeface="Times New Roman" panose="02020603050405020304" pitchFamily="18" charset="0"/>
              </a:rPr>
              <a:t>Güvenlik duvarında denetim kayıtları </a:t>
            </a:r>
            <a:endParaRPr lang="tr-TR" sz="6000" b="1" dirty="0"/>
          </a:p>
        </p:txBody>
      </p:sp>
      <p:sp>
        <p:nvSpPr>
          <p:cNvPr id="3" name="İçerik Yer Tutucusu 2">
            <a:extLst>
              <a:ext uri="{FF2B5EF4-FFF2-40B4-BE49-F238E27FC236}">
                <a16:creationId xmlns:a16="http://schemas.microsoft.com/office/drawing/2014/main" id="{AD708863-32E4-42D6-8703-6538A567C1A5}"/>
              </a:ext>
            </a:extLst>
          </p:cNvPr>
          <p:cNvSpPr>
            <a:spLocks noGrp="1"/>
          </p:cNvSpPr>
          <p:nvPr>
            <p:ph idx="1"/>
          </p:nvPr>
        </p:nvSpPr>
        <p:spPr>
          <a:xfrm>
            <a:off x="457200" y="980728"/>
            <a:ext cx="8229600" cy="5544616"/>
          </a:xfrm>
        </p:spPr>
        <p:txBody>
          <a:bodyPr>
            <a:normAutofit fontScale="77500" lnSpcReduction="20000"/>
          </a:bodyPr>
          <a:lstStyle/>
          <a:p>
            <a:r>
              <a:rPr lang="tr-TR" sz="1800" b="0" i="0" u="none" strike="noStrike" baseline="0" dirty="0">
                <a:solidFill>
                  <a:srgbClr val="000000"/>
                </a:solidFill>
                <a:latin typeface="Times New Roman" panose="02020603050405020304" pitchFamily="18" charset="0"/>
              </a:rPr>
              <a:t>Denetim kayıtlarından tam anlamıyla yarar sağlanabilmesi açısından güvenlik duvarının tarih ve saat bilgisinin doğru olarak ayarlanmış olması gerekmektedir. Bu amaçla bir NTP sunucu kullanılabilir.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Sadece gerek görülen ve kritik olarak nitelendirilen ağ trafiklerine ilişkin kayıtların tutulması sağlanarak kayıtların gereksiz yere büyümesi engellenmelidir. Böylelikle daha küçük boyutlu kayıtlar oluşturulacağından bu kayıtların sonradan incelenmesi daha kolay olacaktır. Ayrıca güvenlik duvarında aşırı miktarda kayıt tutulması engellenerek performansın en az şekilde etkilenmesi sağlanmış olur. Çünkü kayıt tutma işlemi güvenlik duvarının performansını düşüren bir işlemdir ve gereksiz yere tutulan her bir kayıt performans düşüşlerine neden olacaktır.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Denetim kayıtları yapılan erişimlerin kanıtları niteliğindedir. Denetim kayıtlarının kötü niyetli birinin eline geçmesi, sisteme yapılan erişimlere ait kanıtların yok olması anlamına gelmektedir. Bu nedenle, pratik olmamasına karşın, denetim kayıtlarının bir kopyası sadece okunabilir bir ortamda (örneğin bir kere yazılabilir CD) saklanmalıdır.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Denetim kayıtları güvenlik duvarından ayrı bir bilgisayarda (örneğin yönetim konsolu üzerinde) tutulmalı ve yetkisiz erişimlerden korunmalıdır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Herhangi bir güvenlik olayının gerçekleşme aşamasında tespit edilebilme şansını arttırmak için denetim kayıtlarının düzenli aralıklarla incelenmesi gerekmektedir. Böylelikle gerçekleşen güvenlik olayının erken aşamalarda durdurulması sağlanabilir. Bu amaçla denetim kayıtlarının, en azından haftalık periyotlarla, incelenmesi ve raporlanması gerekmektedir. Bu şekilde güvenlikle ilgili olarak gerçekleşen olayların gözden kaçırılması engellenmiş olur. </a:t>
            </a:r>
          </a:p>
          <a:p>
            <a:pPr algn="l"/>
            <a:endParaRPr lang="tr-TR" sz="1800" b="0" i="0" u="none" strike="noStrike" baseline="0" dirty="0">
              <a:solidFill>
                <a:srgbClr val="000000"/>
              </a:solidFill>
              <a:latin typeface="Times New Roman" panose="02020603050405020304" pitchFamily="18" charset="0"/>
            </a:endParaRPr>
          </a:p>
          <a:p>
            <a:r>
              <a:rPr lang="tr-TR" sz="1800" b="0" i="0" u="none" strike="noStrike" baseline="0" dirty="0">
                <a:solidFill>
                  <a:srgbClr val="000000"/>
                </a:solidFill>
                <a:latin typeface="Times New Roman" panose="02020603050405020304" pitchFamily="18" charset="0"/>
              </a:rPr>
              <a:t>Ağ yöneticilerinin gerçekleşen kritik olaylarla ilgili anında bilgilendirilmesi için alarm mekanizması kullanılmalıdır. Örneğin alarm mekanizması aracılığıyla gerçekleşmekte olan bir saldırıya ilişkin bilgiler ağ yöneticilerine e-posta yoluyla gönderilebilir. Bu şekilde ağ yöneticilerinin gerçekleşen kritik olaylara daha çabuk müdahale etmesi sağlanır. </a:t>
            </a:r>
          </a:p>
        </p:txBody>
      </p:sp>
    </p:spTree>
    <p:extLst>
      <p:ext uri="{BB962C8B-B14F-4D97-AF65-F5344CB8AC3E}">
        <p14:creationId xmlns:p14="http://schemas.microsoft.com/office/powerpoint/2010/main" val="106284333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3B8AE8C-45A6-49D6-A0BD-101B7E5D5213}"/>
              </a:ext>
            </a:extLst>
          </p:cNvPr>
          <p:cNvSpPr>
            <a:spLocks noGrp="1"/>
          </p:cNvSpPr>
          <p:nvPr>
            <p:ph type="title"/>
          </p:nvPr>
        </p:nvSpPr>
        <p:spPr/>
        <p:txBody>
          <a:bodyPr/>
          <a:lstStyle/>
          <a:p>
            <a:r>
              <a:rPr lang="tr-TR" dirty="0"/>
              <a:t>Kaynaklar</a:t>
            </a:r>
          </a:p>
        </p:txBody>
      </p:sp>
      <p:sp>
        <p:nvSpPr>
          <p:cNvPr id="3" name="İçerik Yer Tutucusu 2">
            <a:extLst>
              <a:ext uri="{FF2B5EF4-FFF2-40B4-BE49-F238E27FC236}">
                <a16:creationId xmlns:a16="http://schemas.microsoft.com/office/drawing/2014/main" id="{3D690E9A-F3A7-4400-9B01-7728B582C3F6}"/>
              </a:ext>
            </a:extLst>
          </p:cNvPr>
          <p:cNvSpPr>
            <a:spLocks noGrp="1"/>
          </p:cNvSpPr>
          <p:nvPr>
            <p:ph idx="1"/>
          </p:nvPr>
        </p:nvSpPr>
        <p:spPr/>
        <p:txBody>
          <a:bodyPr/>
          <a:lstStyle/>
          <a:p>
            <a:pPr algn="l"/>
            <a:r>
              <a:rPr lang="tr-TR" dirty="0"/>
              <a:t>Güvenlik Duvarı Güvenliği Kılavuzu-</a:t>
            </a:r>
            <a:r>
              <a:rPr lang="tr-TR" dirty="0" err="1"/>
              <a:t>Tübitak</a:t>
            </a:r>
            <a:r>
              <a:rPr lang="tr-TR" dirty="0"/>
              <a:t> </a:t>
            </a:r>
            <a:endParaRPr lang="tr-TR" sz="1800" b="0" i="0" u="none" strike="noStrike" baseline="0" dirty="0">
              <a:solidFill>
                <a:srgbClr val="000000"/>
              </a:solidFill>
              <a:latin typeface="Tahoma" panose="020B0604030504040204" pitchFamily="34" charset="0"/>
            </a:endParaRPr>
          </a:p>
          <a:p>
            <a:pPr algn="l"/>
            <a:r>
              <a:rPr lang="tr-TR" sz="1800" b="0" i="0" u="none" strike="noStrike" baseline="0" dirty="0">
                <a:solidFill>
                  <a:srgbClr val="000000"/>
                </a:solidFill>
                <a:latin typeface="Tahoma" panose="020B0604030504040204" pitchFamily="34" charset="0"/>
              </a:rPr>
              <a:t> </a:t>
            </a:r>
            <a:r>
              <a:rPr lang="tr-TR" sz="1800" b="1" i="0" u="none" strike="noStrike" baseline="0" dirty="0">
                <a:solidFill>
                  <a:srgbClr val="000000"/>
                </a:solidFill>
                <a:latin typeface="Tahoma" panose="020B0604030504040204" pitchFamily="34" charset="0"/>
              </a:rPr>
              <a:t>ULUSAL ELEKTRONİK VE </a:t>
            </a:r>
            <a:r>
              <a:rPr lang="tr-TR" sz="1800" b="1" i="0" u="none" strike="noStrike" baseline="0">
                <a:solidFill>
                  <a:srgbClr val="000000"/>
                </a:solidFill>
                <a:latin typeface="Tahoma" panose="020B0604030504040204" pitchFamily="34" charset="0"/>
              </a:rPr>
              <a:t>KRİPTOLOJİ ARAŞTIRMA ENSTİTÜSÜ </a:t>
            </a:r>
            <a:r>
              <a:rPr lang="tr-TR" sz="1800" b="0" i="0" u="none" strike="noStrike" baseline="0">
                <a:solidFill>
                  <a:srgbClr val="000000"/>
                </a:solidFill>
                <a:latin typeface="Tahoma" panose="020B0604030504040204" pitchFamily="34" charset="0"/>
              </a:rPr>
              <a:t>	</a:t>
            </a:r>
            <a:r>
              <a:rPr lang="tr-TR"/>
              <a:t> </a:t>
            </a:r>
            <a:endParaRPr lang="tr-TR" dirty="0"/>
          </a:p>
        </p:txBody>
      </p:sp>
    </p:spTree>
    <p:extLst>
      <p:ext uri="{BB962C8B-B14F-4D97-AF65-F5344CB8AC3E}">
        <p14:creationId xmlns:p14="http://schemas.microsoft.com/office/powerpoint/2010/main" val="75273100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TotalTime>
  <Words>3556</Words>
  <Application>Microsoft Office PowerPoint</Application>
  <PresentationFormat>Ekran Gösterisi (4:3)</PresentationFormat>
  <Paragraphs>168</Paragraphs>
  <Slides>29</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29</vt:i4>
      </vt:variant>
    </vt:vector>
  </HeadingPairs>
  <TitlesOfParts>
    <vt:vector size="34" baseType="lpstr">
      <vt:lpstr>Arial</vt:lpstr>
      <vt:lpstr>Calibri</vt:lpstr>
      <vt:lpstr>Tahoma</vt:lpstr>
      <vt:lpstr>Times New Roman</vt:lpstr>
      <vt:lpstr>Ofis Teması</vt:lpstr>
      <vt:lpstr>Güvenlik Duvarları</vt:lpstr>
      <vt:lpstr>Konular</vt:lpstr>
      <vt:lpstr>GİRİŞ</vt:lpstr>
      <vt:lpstr>Temel Kavram</vt:lpstr>
      <vt:lpstr>Güvenlik Duvarı</vt:lpstr>
      <vt:lpstr>Niçin Güvenlik Duvarı?</vt:lpstr>
      <vt:lpstr>Firewall Karakteristikleri</vt:lpstr>
      <vt:lpstr>Güvenlik Duvarından beklentiler</vt:lpstr>
      <vt:lpstr>Güvenlik Duvarından beklentiler</vt:lpstr>
      <vt:lpstr>Güvenlik Duvarı Türleri</vt:lpstr>
      <vt:lpstr>Güvenlik Duvarı Topolojileri</vt:lpstr>
      <vt:lpstr>Tipik Bir güvenlik Duvarı Topolojisi</vt:lpstr>
      <vt:lpstr>Kaskat Yapı</vt:lpstr>
      <vt:lpstr>Yedekli Yapı</vt:lpstr>
      <vt:lpstr>Yedekli Yapı</vt:lpstr>
      <vt:lpstr>KURAL TABLOLARI</vt:lpstr>
      <vt:lpstr>KURAL TABLOLARINDA DİKKAT EDİLMESİ GEREKENLER</vt:lpstr>
      <vt:lpstr>KURAL TABLOLARINDA DİKKAT EDİLMESİ GEREKENLER</vt:lpstr>
      <vt:lpstr>KURAL TABLOLARINDA DİKKAT EDİLMESİ GEREKENLER</vt:lpstr>
      <vt:lpstr>KURAL TABLOLARINDA DİKKAT EDİLMESİ GEREKENLER</vt:lpstr>
      <vt:lpstr>Ağ Adres Çevrimleri</vt:lpstr>
      <vt:lpstr>Ağ Adres Çevrimleri</vt:lpstr>
      <vt:lpstr>PowerPoint Sunusu</vt:lpstr>
      <vt:lpstr>Statik Ağ adres çevrimi</vt:lpstr>
      <vt:lpstr>Dinamik Ağ Adres Çevrimi</vt:lpstr>
      <vt:lpstr>Port Yönlendirme</vt:lpstr>
      <vt:lpstr>Ağ Trafiği Kayıtları</vt:lpstr>
      <vt:lpstr>Güvenlik duvarında denetim kayıtları </vt:lpstr>
      <vt:lpstr>Kaynaklar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Bilgisayar ve Ağ Güvenliğine Giriş</dc:title>
  <dc:creator>mevlut</dc:creator>
  <cp:lastModifiedBy>Mevlüt Ersoy</cp:lastModifiedBy>
  <cp:revision>31</cp:revision>
  <dcterms:created xsi:type="dcterms:W3CDTF">2015-01-15T13:33:10Z</dcterms:created>
  <dcterms:modified xsi:type="dcterms:W3CDTF">2024-04-29T20:25:29Z</dcterms:modified>
</cp:coreProperties>
</file>