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588" r:id="rId2"/>
    <p:sldId id="535" r:id="rId3"/>
    <p:sldId id="546" r:id="rId4"/>
    <p:sldId id="536" r:id="rId5"/>
    <p:sldId id="537" r:id="rId6"/>
    <p:sldId id="538" r:id="rId7"/>
    <p:sldId id="539" r:id="rId8"/>
    <p:sldId id="541" r:id="rId9"/>
    <p:sldId id="540" r:id="rId10"/>
    <p:sldId id="542" r:id="rId11"/>
    <p:sldId id="543" r:id="rId12"/>
    <p:sldId id="544" r:id="rId13"/>
    <p:sldId id="545" r:id="rId14"/>
    <p:sldId id="548" r:id="rId15"/>
    <p:sldId id="554" r:id="rId16"/>
    <p:sldId id="549" r:id="rId17"/>
    <p:sldId id="555" r:id="rId18"/>
    <p:sldId id="550" r:id="rId19"/>
    <p:sldId id="556" r:id="rId20"/>
    <p:sldId id="557" r:id="rId21"/>
    <p:sldId id="558" r:id="rId22"/>
    <p:sldId id="559" r:id="rId23"/>
    <p:sldId id="560" r:id="rId24"/>
    <p:sldId id="561" r:id="rId25"/>
    <p:sldId id="562" r:id="rId26"/>
    <p:sldId id="563" r:id="rId27"/>
    <p:sldId id="564" r:id="rId28"/>
    <p:sldId id="565" r:id="rId29"/>
    <p:sldId id="567" r:id="rId30"/>
    <p:sldId id="568" r:id="rId31"/>
    <p:sldId id="566" r:id="rId32"/>
    <p:sldId id="579" r:id="rId33"/>
    <p:sldId id="580" r:id="rId34"/>
    <p:sldId id="581" r:id="rId35"/>
    <p:sldId id="569" r:id="rId36"/>
    <p:sldId id="578" r:id="rId37"/>
    <p:sldId id="570" r:id="rId38"/>
    <p:sldId id="571" r:id="rId39"/>
    <p:sldId id="572" r:id="rId40"/>
    <p:sldId id="573" r:id="rId41"/>
    <p:sldId id="574" r:id="rId42"/>
    <p:sldId id="575" r:id="rId43"/>
    <p:sldId id="576" r:id="rId44"/>
    <p:sldId id="577" r:id="rId45"/>
    <p:sldId id="582" r:id="rId46"/>
    <p:sldId id="583" r:id="rId47"/>
    <p:sldId id="584" r:id="rId48"/>
    <p:sldId id="585" r:id="rId49"/>
    <p:sldId id="586" r:id="rId50"/>
    <p:sldId id="587" r:id="rId51"/>
  </p:sldIdLst>
  <p:sldSz cx="9144000" cy="6858000" type="screen4x3"/>
  <p:notesSz cx="6858000" cy="92964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orient="horz" pos="2880">
          <p15:clr>
            <a:srgbClr val="A4A3A4"/>
          </p15:clr>
        </p15:guide>
        <p15:guide id="3" orient="horz" pos="2256">
          <p15:clr>
            <a:srgbClr val="A4A3A4"/>
          </p15:clr>
        </p15:guide>
        <p15:guide id="4" pos="192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846"/>
    <a:srgbClr val="13F0B6"/>
    <a:srgbClr val="39FF4F"/>
    <a:srgbClr val="003366"/>
    <a:srgbClr val="FF204A"/>
    <a:srgbClr val="17FFEA"/>
    <a:srgbClr val="FF4342"/>
    <a:srgbClr val="030303"/>
    <a:srgbClr val="97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24"/>
    <p:restoredTop sz="84944"/>
  </p:normalViewPr>
  <p:slideViewPr>
    <p:cSldViewPr>
      <p:cViewPr varScale="1">
        <p:scale>
          <a:sx n="77" d="100"/>
          <a:sy n="77" d="100"/>
        </p:scale>
        <p:origin x="1736" y="184"/>
      </p:cViewPr>
      <p:guideLst>
        <p:guide orient="horz" pos="912"/>
        <p:guide orient="horz" pos="2880"/>
        <p:guide orient="horz" pos="2256"/>
        <p:guide pos="192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1752" y="-728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91518750-F457-B341-9F07-6B957F51EBD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46326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16425"/>
            <a:ext cx="503237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5AD73B75-5514-634D-93C0-7FBBD93E1B6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01471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fld id="{16030AE9-2274-E442-908D-5F5AD7F6653C}" type="slidenum">
              <a:rPr lang="en-US" altLang="tr-TR" sz="1200"/>
              <a:pPr/>
              <a:t>1</a:t>
            </a:fld>
            <a:endParaRPr lang="en-US" altLang="tr-TR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682625"/>
            <a:ext cx="4667250" cy="3500438"/>
          </a:xfrm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413250"/>
            <a:ext cx="5059362" cy="418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tr-TR" dirty="0">
              <a:latin typeface="Times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397944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9985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20937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229046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58800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6452"/>
            <a:ext cx="7772400" cy="553998"/>
          </a:xfrm>
        </p:spPr>
        <p:txBody>
          <a:bodyPr/>
          <a:lstStyle>
            <a:lvl1pPr>
              <a:defRPr>
                <a:solidFill>
                  <a:srgbClr val="FF434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470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457200"/>
            <a:ext cx="6019800" cy="549275"/>
          </a:xfrm>
        </p:spPr>
        <p:txBody>
          <a:bodyPr/>
          <a:lstStyle>
            <a:lvl1pPr>
              <a:defRPr>
                <a:solidFill>
                  <a:srgbClr val="FF204A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title</a:t>
            </a:r>
            <a:r>
              <a:rPr lang="tr-TR" dirty="0"/>
              <a:t> </a:t>
            </a:r>
            <a:r>
              <a:rPr lang="tr-TR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105400"/>
          </a:xfrm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1pPr>
            <a:lvl2pPr>
              <a:defRPr sz="16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2pPr>
            <a:lvl3pPr>
              <a:defRPr sz="14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3pPr>
            <a:lvl4pPr>
              <a:defRPr sz="12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4pPr>
            <a:lvl5pPr>
              <a:defRPr sz="1000" baseline="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5pPr>
          </a:lstStyle>
          <a:p>
            <a:pPr lvl="0"/>
            <a:r>
              <a:rPr lang="tr-TR" dirty="0"/>
              <a:t>Click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styles</a:t>
            </a:r>
            <a:endParaRPr lang="tr-TR" dirty="0"/>
          </a:p>
          <a:p>
            <a:pPr lvl="1"/>
            <a:r>
              <a:rPr lang="tr-TR" dirty="0"/>
              <a:t>Second </a:t>
            </a:r>
            <a:r>
              <a:rPr lang="tr-TR" dirty="0" err="1"/>
              <a:t>level</a:t>
            </a:r>
            <a:endParaRPr lang="tr-TR" dirty="0"/>
          </a:p>
          <a:p>
            <a:pPr lvl="2"/>
            <a:r>
              <a:rPr lang="tr-TR" dirty="0"/>
              <a:t>Third </a:t>
            </a:r>
            <a:r>
              <a:rPr lang="tr-TR" dirty="0" err="1"/>
              <a:t>level</a:t>
            </a:r>
            <a:endParaRPr lang="tr-TR" dirty="0"/>
          </a:p>
          <a:p>
            <a:pPr lvl="3"/>
            <a:r>
              <a:rPr lang="tr-TR" dirty="0" err="1"/>
              <a:t>Fourth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tr-TR" dirty="0"/>
          </a:p>
          <a:p>
            <a:pPr lvl="4"/>
            <a:r>
              <a:rPr lang="tr-TR" dirty="0" err="1"/>
              <a:t>Fifth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1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801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362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80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5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18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31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685800"/>
            <a:ext cx="20193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85800"/>
            <a:ext cx="5905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85800"/>
            <a:ext cx="6096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pic>
        <p:nvPicPr>
          <p:cNvPr id="1028" name="Picture 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4"/>
          <p:cNvSpPr txBox="1">
            <a:spLocks noChangeArrowheads="1"/>
          </p:cNvSpPr>
          <p:nvPr userDrawn="1"/>
        </p:nvSpPr>
        <p:spPr bwMode="auto">
          <a:xfrm>
            <a:off x="6867423" y="6611938"/>
            <a:ext cx="16594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i="1" dirty="0" err="1">
                <a:solidFill>
                  <a:srgbClr val="590000"/>
                </a:solidFill>
              </a:rPr>
              <a:t>Mesleki</a:t>
            </a:r>
            <a:r>
              <a:rPr lang="en-US" altLang="tr-TR" sz="1000" i="1" dirty="0">
                <a:solidFill>
                  <a:srgbClr val="590000"/>
                </a:solidFill>
              </a:rPr>
              <a:t> </a:t>
            </a:r>
            <a:r>
              <a:rPr lang="en-US" altLang="tr-TR" sz="1000" i="1" dirty="0" err="1">
                <a:solidFill>
                  <a:srgbClr val="590000"/>
                </a:solidFill>
              </a:rPr>
              <a:t>Yabancı</a:t>
            </a:r>
            <a:r>
              <a:rPr lang="en-US" altLang="tr-TR" sz="1000" i="1" dirty="0">
                <a:solidFill>
                  <a:srgbClr val="590000"/>
                </a:solidFill>
              </a:rPr>
              <a:t> </a:t>
            </a:r>
            <a:r>
              <a:rPr lang="en-US" altLang="tr-TR" sz="1000" i="1" dirty="0" err="1">
                <a:solidFill>
                  <a:srgbClr val="590000"/>
                </a:solidFill>
              </a:rPr>
              <a:t>Dil</a:t>
            </a:r>
            <a:r>
              <a:rPr lang="en-US" altLang="tr-TR" sz="1000" i="1" dirty="0">
                <a:solidFill>
                  <a:srgbClr val="590000"/>
                </a:solidFill>
              </a:rPr>
              <a:t>, 2016</a:t>
            </a:r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0" y="6611938"/>
            <a:ext cx="31470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b="1" i="1" dirty="0" err="1">
                <a:solidFill>
                  <a:srgbClr val="590000"/>
                </a:solidFill>
              </a:rPr>
              <a:t>Ders</a:t>
            </a:r>
            <a:r>
              <a:rPr lang="en-US" altLang="tr-TR" sz="1000" b="1" i="1" dirty="0">
                <a:solidFill>
                  <a:srgbClr val="590000"/>
                </a:solidFill>
              </a:rPr>
              <a:t>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Sunumu</a:t>
            </a:r>
            <a:r>
              <a:rPr lang="en-US" altLang="tr-TR" sz="1000" b="1" i="1" dirty="0">
                <a:solidFill>
                  <a:srgbClr val="590000"/>
                </a:solidFill>
              </a:rPr>
              <a:t>,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Yrd</a:t>
            </a:r>
            <a:r>
              <a:rPr lang="en-US" altLang="tr-TR" sz="1000" b="1" i="1" dirty="0">
                <a:solidFill>
                  <a:srgbClr val="590000"/>
                </a:solidFill>
              </a:rPr>
              <a:t>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Doç</a:t>
            </a:r>
            <a:r>
              <a:rPr lang="en-US" altLang="tr-TR" sz="1000" b="1" i="1" dirty="0">
                <a:solidFill>
                  <a:srgbClr val="590000"/>
                </a:solidFill>
              </a:rPr>
              <a:t>.</a:t>
            </a:r>
            <a:r>
              <a:rPr lang="en-US" altLang="tr-TR" sz="1000" b="1" i="1" baseline="0" dirty="0">
                <a:solidFill>
                  <a:srgbClr val="590000"/>
                </a:solidFill>
              </a:rPr>
              <a:t> Dr.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Asım</a:t>
            </a:r>
            <a:r>
              <a:rPr lang="en-US" altLang="tr-TR" sz="1000" b="1" i="1" dirty="0">
                <a:solidFill>
                  <a:srgbClr val="590000"/>
                </a:solidFill>
              </a:rPr>
              <a:t> Sinan YÜKSEL</a:t>
            </a:r>
          </a:p>
        </p:txBody>
      </p:sp>
      <p:pic>
        <p:nvPicPr>
          <p:cNvPr id="1031" name="Picture 2" descr="S__leyman_Demirel___niversitesi-logo-034BCFD506-seeklogo.com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857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hlink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hlink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hlink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rainfocus.com/oracle/oraclecode18/sess/1513810380873001uIiU/PF/docker-101-ny_1520531065990001vPkT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.microsoft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MMC09EJqupCJg3YgvqzCrGWTAef02GQ7/view?usp=sharing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b.docker.com/repository/docker/asimsinanyuksel/dotnetornek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servisadi:por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FS6EVP4Gre-iZN800q_nQ5Lc-uxqEwql/view?usp=sharing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eggiemonk/awesome-docker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1/api/v1/namespaces/kubernetes-dashboard/services/https:kubernetes-dashboard:/proxy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mitsurana/awesome-kubernetes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2"/>
          <p:cNvSpPr txBox="1">
            <a:spLocks noChangeArrowheads="1"/>
          </p:cNvSpPr>
          <p:nvPr/>
        </p:nvSpPr>
        <p:spPr bwMode="auto">
          <a:xfrm>
            <a:off x="396875" y="6683375"/>
            <a:ext cx="184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endParaRPr lang="tr-TR" altLang="tr-T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61F8D-93E5-4E49-8E23-9B4D03A4B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90100"/>
            <a:ext cx="9144000" cy="696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9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D011-49CF-7840-8B31-96EAC961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D3E97-4E06-4640-9881-DC18AAD95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334000"/>
          </a:xfrm>
        </p:spPr>
        <p:txBody>
          <a:bodyPr/>
          <a:lstStyle/>
          <a:p>
            <a:r>
              <a:rPr lang="en-TR" dirty="0"/>
              <a:t>Servis olarak platform (PaaS, Platform as a Service) sunan dotCloud isimli bir firma özelleştirilmiş bir konteynır kullanıyordu.</a:t>
            </a:r>
          </a:p>
          <a:p>
            <a:r>
              <a:rPr lang="en-TR" dirty="0"/>
              <a:t>Temelinde OpenZV isimli Linux tabanlı bir sanallaştırma teknolojisi vardı.</a:t>
            </a:r>
          </a:p>
          <a:p>
            <a:r>
              <a:rPr lang="en-TR" dirty="0"/>
              <a:t>İlk başlarda (2008) tek bir Python skriptinden oluşuyordu. 2012 yılında yaklaşık 10 Python bileşini, 100 mikroservisi olan bir yapıya dönüştü.</a:t>
            </a:r>
          </a:p>
          <a:p>
            <a:r>
              <a:rPr lang="en-TR" dirty="0"/>
              <a:t>2012 yılı sonunda firma bu konteynırı iyileştirdi ve bu konteynıra kod adı olarak Docker isimi verildi.</a:t>
            </a:r>
          </a:p>
          <a:p>
            <a:r>
              <a:rPr lang="en-TR" dirty="0"/>
              <a:t>2013’te kitlelere tanıtıldı ve açık kaynak lisanslı olarak piyasaya sürüldü.</a:t>
            </a:r>
          </a:p>
          <a:p>
            <a:r>
              <a:rPr lang="en-TR" dirty="0"/>
              <a:t>Firma ismini de Docker olarak değiştirdi.</a:t>
            </a:r>
          </a:p>
          <a:p>
            <a:r>
              <a:rPr lang="en-TR" dirty="0"/>
              <a:t>Bu tarz yazılımların adı Türkçe olarak kapsayıcı kelimesi ile ifade edilmektedir. Biz de bundan sonra konteynır yerine kapsayıcı kelimesini kullanacağız.</a:t>
            </a:r>
          </a:p>
          <a:p>
            <a:r>
              <a:rPr lang="en-TR" dirty="0"/>
              <a:t>Kapsayıcıların temel amacı uygulamaların yazılım kapsayıcıları içinde otomatik olarak dağıtımını sağlamaktır. </a:t>
            </a:r>
          </a:p>
          <a:p>
            <a:r>
              <a:rPr lang="en-TR" dirty="0"/>
              <a:t>Bu hedefe Linux üzerinde, sistem düzeyinde sanallaştırma ve ekstra soyutlama katmanları sunularak ulaşılır.</a:t>
            </a:r>
          </a:p>
          <a:p>
            <a:r>
              <a:rPr lang="en-TR" dirty="0"/>
              <a:t>Bir yazılımın çalışması için sunucaya yükleyebileceğiniz ne varsa bunların hepsini bir dosya sistemi içinde yazılım olarak size sunabilme imkanına sahiptir.</a:t>
            </a:r>
          </a:p>
        </p:txBody>
      </p:sp>
    </p:spTree>
    <p:extLst>
      <p:ext uri="{BB962C8B-B14F-4D97-AF65-F5344CB8AC3E}">
        <p14:creationId xmlns:p14="http://schemas.microsoft.com/office/powerpoint/2010/main" val="379418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5A6F-F493-9041-8B89-5AC61B4F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382000" cy="1015663"/>
          </a:xfrm>
        </p:spPr>
        <p:txBody>
          <a:bodyPr/>
          <a:lstStyle/>
          <a:p>
            <a:r>
              <a:rPr lang="en-TR" dirty="0"/>
              <a:t>Kapsayıcıların (Containers) Geçmişi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C1E518-0552-7742-8221-0B37EA4D3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676400"/>
            <a:ext cx="8839200" cy="28358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75EAB3-4F5A-474C-8CF4-470E2BC6A53F}"/>
              </a:ext>
            </a:extLst>
          </p:cNvPr>
          <p:cNvSpPr txBox="1"/>
          <p:nvPr/>
        </p:nvSpPr>
        <p:spPr>
          <a:xfrm>
            <a:off x="2590800" y="5089071"/>
            <a:ext cx="36920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Kaynak: </a:t>
            </a:r>
            <a:r>
              <a:rPr lang="en-TR" dirty="0">
                <a:hlinkClick r:id="rId3"/>
              </a:rPr>
              <a:t>Oracle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62855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FE42-2750-9045-BF40-A807914C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Docker’ın Linux ile Bağlantısı</a:t>
            </a:r>
          </a:p>
        </p:txBody>
      </p:sp>
      <p:pic>
        <p:nvPicPr>
          <p:cNvPr id="1025" name="Picture 1" descr="page1image33504912">
            <a:extLst>
              <a:ext uri="{FF2B5EF4-FFF2-40B4-BE49-F238E27FC236}">
                <a16:creationId xmlns:a16="http://schemas.microsoft.com/office/drawing/2014/main" id="{9BA647EE-87E8-7846-8867-8FB3E915AF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1143000"/>
            <a:ext cx="74803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5595A4-7BA2-1441-9878-DF6FE3CD5183}"/>
              </a:ext>
            </a:extLst>
          </p:cNvPr>
          <p:cNvSpPr txBox="1"/>
          <p:nvPr/>
        </p:nvSpPr>
        <p:spPr>
          <a:xfrm>
            <a:off x="0" y="57150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1600" b="1" dirty="0"/>
              <a:t>İlk çıktığında libvirt, LXC, ve systemd-nspawn kütüphaneleri ile Linux kerneline erişirken şimdi geliştirilen libcontainer kütüphanesi ile Linux kernele erişmektedir.</a:t>
            </a:r>
          </a:p>
        </p:txBody>
      </p:sp>
    </p:spTree>
    <p:extLst>
      <p:ext uri="{BB962C8B-B14F-4D97-AF65-F5344CB8AC3E}">
        <p14:creationId xmlns:p14="http://schemas.microsoft.com/office/powerpoint/2010/main" val="166247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0094-CCF0-0349-994F-81E4D17E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894A9-C738-3A4B-B4FF-9D35AB144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334000"/>
          </a:xfrm>
        </p:spPr>
        <p:txBody>
          <a:bodyPr/>
          <a:lstStyle/>
          <a:p>
            <a:r>
              <a:rPr lang="en-US" sz="1500" b="1" dirty="0"/>
              <a:t>l</a:t>
            </a:r>
            <a:r>
              <a:rPr lang="en-TR" sz="1500" b="1" dirty="0"/>
              <a:t>ibcontainer: </a:t>
            </a:r>
            <a:r>
              <a:rPr lang="en-TR" sz="1500" dirty="0"/>
              <a:t>Şu anki adı </a:t>
            </a:r>
            <a:r>
              <a:rPr lang="en-TR" sz="1500" b="1" dirty="0"/>
              <a:t>runc</a:t>
            </a:r>
            <a:r>
              <a:rPr lang="en-TR" sz="1500" dirty="0"/>
              <a:t>’dir. OCI (Open Container Inicitive) standartlarına uygun bir şekilde kapsayıcının çalışması ve kopyalarının üretilmesi için gerekli komut satırı araçlarını içerir. </a:t>
            </a:r>
          </a:p>
          <a:p>
            <a:r>
              <a:rPr lang="en-US" sz="1500" b="1" dirty="0"/>
              <a:t>l</a:t>
            </a:r>
            <a:r>
              <a:rPr lang="en-TR" sz="1500" b="1" dirty="0"/>
              <a:t>ibvirt: </a:t>
            </a:r>
            <a:r>
              <a:rPr lang="en-US" sz="1500" b="1" dirty="0"/>
              <a:t> </a:t>
            </a:r>
            <a:r>
              <a:rPr lang="en-US" sz="1500" dirty="0"/>
              <a:t>Platform </a:t>
            </a:r>
            <a:r>
              <a:rPr lang="en-US" sz="1500" dirty="0" err="1"/>
              <a:t>sanallaştırmasını</a:t>
            </a:r>
            <a:r>
              <a:rPr lang="en-US" sz="1500" dirty="0"/>
              <a:t> </a:t>
            </a:r>
            <a:r>
              <a:rPr lang="en-US" sz="1500" dirty="0" err="1"/>
              <a:t>yönetmek</a:t>
            </a:r>
            <a:r>
              <a:rPr lang="en-US" sz="1500" dirty="0"/>
              <a:t> </a:t>
            </a:r>
            <a:r>
              <a:rPr lang="en-US" sz="1500" dirty="0" err="1"/>
              <a:t>için</a:t>
            </a:r>
            <a:r>
              <a:rPr lang="en-US" sz="1500" dirty="0"/>
              <a:t> </a:t>
            </a:r>
            <a:r>
              <a:rPr lang="en-US" sz="1500" dirty="0" err="1"/>
              <a:t>açık</a:t>
            </a:r>
            <a:r>
              <a:rPr lang="en-US" sz="1500" dirty="0"/>
              <a:t> </a:t>
            </a:r>
            <a:r>
              <a:rPr lang="en-US" sz="1500" dirty="0" err="1"/>
              <a:t>kaynaklı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API, </a:t>
            </a:r>
            <a:r>
              <a:rPr lang="en-US" sz="1500" dirty="0" err="1"/>
              <a:t>arka</a:t>
            </a:r>
            <a:r>
              <a:rPr lang="en-US" sz="1500" dirty="0"/>
              <a:t> plan </a:t>
            </a:r>
            <a:r>
              <a:rPr lang="en-US" sz="1500" dirty="0" err="1"/>
              <a:t>programı</a:t>
            </a:r>
            <a:r>
              <a:rPr lang="en-US" sz="1500" dirty="0"/>
              <a:t> </a:t>
            </a:r>
            <a:r>
              <a:rPr lang="en-US" sz="1500" dirty="0" err="1"/>
              <a:t>ve</a:t>
            </a:r>
            <a:r>
              <a:rPr lang="en-US" sz="1500" dirty="0"/>
              <a:t> </a:t>
            </a:r>
            <a:r>
              <a:rPr lang="en-US" sz="1500" dirty="0" err="1"/>
              <a:t>yönetim</a:t>
            </a:r>
            <a:r>
              <a:rPr lang="en-US" sz="1500" dirty="0"/>
              <a:t> </a:t>
            </a:r>
            <a:r>
              <a:rPr lang="en-US" sz="1500" dirty="0" err="1"/>
              <a:t>aracıdır</a:t>
            </a:r>
            <a:r>
              <a:rPr lang="en-US" sz="1500" dirty="0"/>
              <a:t>.</a:t>
            </a:r>
          </a:p>
          <a:p>
            <a:r>
              <a:rPr lang="en-US" sz="1500" b="1" dirty="0"/>
              <a:t>LXC: </a:t>
            </a:r>
            <a:r>
              <a:rPr lang="en-US" sz="1500" dirty="0" err="1"/>
              <a:t>Birden</a:t>
            </a:r>
            <a:r>
              <a:rPr lang="en-US" sz="1500" dirty="0"/>
              <a:t> </a:t>
            </a:r>
            <a:r>
              <a:rPr lang="en-US" sz="1500" dirty="0" err="1"/>
              <a:t>fazla</a:t>
            </a:r>
            <a:r>
              <a:rPr lang="en-US" sz="1500" dirty="0"/>
              <a:t> </a:t>
            </a:r>
            <a:r>
              <a:rPr lang="en-US" sz="1500" dirty="0" err="1"/>
              <a:t>izole</a:t>
            </a:r>
            <a:r>
              <a:rPr lang="en-US" sz="1500" dirty="0"/>
              <a:t> </a:t>
            </a:r>
            <a:r>
              <a:rPr lang="en-US" sz="1500" dirty="0" err="1"/>
              <a:t>edilmiş</a:t>
            </a:r>
            <a:r>
              <a:rPr lang="en-US" sz="1500" dirty="0"/>
              <a:t> </a:t>
            </a:r>
            <a:r>
              <a:rPr lang="en-US" sz="1500" dirty="0" err="1"/>
              <a:t>sanal</a:t>
            </a:r>
            <a:r>
              <a:rPr lang="en-US" sz="1500" dirty="0"/>
              <a:t> Linux </a:t>
            </a:r>
            <a:r>
              <a:rPr lang="en-US" sz="1500" dirty="0" err="1"/>
              <a:t>kapsayıcılarının</a:t>
            </a:r>
            <a:r>
              <a:rPr lang="en-US" sz="1500" dirty="0"/>
              <a:t> </a:t>
            </a:r>
            <a:r>
              <a:rPr lang="en-US" sz="1500" dirty="0" err="1"/>
              <a:t>çalıştırılmasını</a:t>
            </a:r>
            <a:r>
              <a:rPr lang="en-US" sz="1500" dirty="0"/>
              <a:t> </a:t>
            </a:r>
            <a:r>
              <a:rPr lang="en-US" sz="1500" dirty="0" err="1"/>
              <a:t>sağlayan</a:t>
            </a:r>
            <a:r>
              <a:rPr lang="en-US" sz="1500" dirty="0"/>
              <a:t> </a:t>
            </a:r>
            <a:r>
              <a:rPr lang="en-US" sz="1500" dirty="0" err="1"/>
              <a:t>işletim</a:t>
            </a:r>
            <a:r>
              <a:rPr lang="en-US" sz="1500" dirty="0"/>
              <a:t> </a:t>
            </a:r>
            <a:r>
              <a:rPr lang="en-US" sz="1500" dirty="0" err="1"/>
              <a:t>sistemi</a:t>
            </a:r>
            <a:r>
              <a:rPr lang="en-US" sz="1500" dirty="0"/>
              <a:t> </a:t>
            </a:r>
            <a:r>
              <a:rPr lang="en-US" sz="1500" dirty="0" err="1"/>
              <a:t>düzeyinde</a:t>
            </a:r>
            <a:r>
              <a:rPr lang="en-US" sz="1500" dirty="0"/>
              <a:t> </a:t>
            </a:r>
            <a:r>
              <a:rPr lang="en-US" sz="1500" dirty="0" err="1"/>
              <a:t>sanallaştırma</a:t>
            </a:r>
            <a:r>
              <a:rPr lang="en-US" sz="1500" dirty="0"/>
              <a:t> </a:t>
            </a:r>
            <a:r>
              <a:rPr lang="en-US" sz="1500" dirty="0" err="1"/>
              <a:t>sağlayan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yöntemdir</a:t>
            </a:r>
            <a:r>
              <a:rPr lang="en-US" sz="1500" dirty="0"/>
              <a:t>.</a:t>
            </a:r>
          </a:p>
          <a:p>
            <a:r>
              <a:rPr lang="en-US" sz="1500" b="1" dirty="0" err="1"/>
              <a:t>systemd-nspawn</a:t>
            </a:r>
            <a:r>
              <a:rPr lang="en-US" sz="1500" b="1" dirty="0"/>
              <a:t>: </a:t>
            </a:r>
            <a:r>
              <a:rPr lang="en-US" sz="1500" dirty="0"/>
              <a:t>chroot </a:t>
            </a:r>
            <a:r>
              <a:rPr lang="en-US" sz="1500" dirty="0" err="1"/>
              <a:t>tarzı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komuttur</a:t>
            </a:r>
            <a:r>
              <a:rPr lang="en-US" sz="1500" dirty="0"/>
              <a:t>. chroot </a:t>
            </a:r>
            <a:r>
              <a:rPr lang="en-US" sz="1500" dirty="0" err="1"/>
              <a:t>komutunun</a:t>
            </a:r>
            <a:r>
              <a:rPr lang="en-US" sz="1500" dirty="0"/>
              <a:t> steroid </a:t>
            </a:r>
            <a:r>
              <a:rPr lang="en-US" sz="1500" dirty="0" err="1"/>
              <a:t>kullanan</a:t>
            </a:r>
            <a:r>
              <a:rPr lang="en-US" sz="1500" dirty="0"/>
              <a:t> </a:t>
            </a:r>
            <a:r>
              <a:rPr lang="en-US" sz="1500" dirty="0" err="1"/>
              <a:t>versiyonu</a:t>
            </a:r>
            <a:r>
              <a:rPr lang="en-US" sz="1500" dirty="0"/>
              <a:t> </a:t>
            </a:r>
            <a:r>
              <a:rPr lang="en-US" sz="1500" dirty="0" err="1"/>
              <a:t>diyebiliriz</a:t>
            </a:r>
            <a:r>
              <a:rPr lang="en-US" sz="1500" dirty="0"/>
              <a:t>. Bir </a:t>
            </a:r>
            <a:r>
              <a:rPr lang="en-US" sz="1500" dirty="0" err="1"/>
              <a:t>kapsayıcı</a:t>
            </a:r>
            <a:r>
              <a:rPr lang="en-US" sz="1500" dirty="0"/>
              <a:t> </a:t>
            </a:r>
            <a:r>
              <a:rPr lang="en-US" sz="1500" dirty="0" err="1"/>
              <a:t>içinde</a:t>
            </a:r>
            <a:r>
              <a:rPr lang="en-US" sz="1500" dirty="0"/>
              <a:t> </a:t>
            </a:r>
            <a:r>
              <a:rPr lang="en-US" sz="1500" dirty="0" err="1"/>
              <a:t>komut</a:t>
            </a:r>
            <a:r>
              <a:rPr lang="en-US" sz="1500" dirty="0"/>
              <a:t> </a:t>
            </a:r>
            <a:r>
              <a:rPr lang="en-US" sz="1500" dirty="0" err="1"/>
              <a:t>ve</a:t>
            </a:r>
            <a:r>
              <a:rPr lang="en-US" sz="1500" dirty="0"/>
              <a:t> </a:t>
            </a:r>
            <a:r>
              <a:rPr lang="en-US" sz="1500" dirty="0" err="1"/>
              <a:t>işletim</a:t>
            </a:r>
            <a:r>
              <a:rPr lang="en-US" sz="1500" dirty="0"/>
              <a:t> </a:t>
            </a:r>
            <a:r>
              <a:rPr lang="en-US" sz="1500" dirty="0" err="1"/>
              <a:t>sistemi</a:t>
            </a:r>
            <a:r>
              <a:rPr lang="en-US" sz="1500" dirty="0"/>
              <a:t> </a:t>
            </a:r>
            <a:r>
              <a:rPr lang="en-US" sz="1500" dirty="0" err="1"/>
              <a:t>çalıştırmanızı</a:t>
            </a:r>
            <a:r>
              <a:rPr lang="en-US" sz="1500" dirty="0"/>
              <a:t> </a:t>
            </a:r>
            <a:r>
              <a:rPr lang="en-US" sz="1500" dirty="0" err="1"/>
              <a:t>sağlar</a:t>
            </a:r>
            <a:r>
              <a:rPr lang="en-US" sz="1500" dirty="0"/>
              <a:t>.</a:t>
            </a:r>
          </a:p>
          <a:p>
            <a:r>
              <a:rPr lang="en-US" sz="1500" b="1" dirty="0" err="1"/>
              <a:t>cgroups</a:t>
            </a:r>
            <a:r>
              <a:rPr lang="en-US" sz="1500" b="1" dirty="0"/>
              <a:t>: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süreç</a:t>
            </a:r>
            <a:r>
              <a:rPr lang="en-US" sz="1500" dirty="0"/>
              <a:t> (process) </a:t>
            </a:r>
            <a:r>
              <a:rPr lang="en-US" sz="1500" dirty="0" err="1"/>
              <a:t>grubunun</a:t>
            </a:r>
            <a:r>
              <a:rPr lang="en-US" sz="1500" dirty="0"/>
              <a:t> </a:t>
            </a:r>
            <a:r>
              <a:rPr lang="en-US" sz="1500" dirty="0" err="1"/>
              <a:t>kaynak</a:t>
            </a:r>
            <a:r>
              <a:rPr lang="en-US" sz="1500" dirty="0"/>
              <a:t> </a:t>
            </a:r>
            <a:r>
              <a:rPr lang="en-US" sz="1500" dirty="0" err="1"/>
              <a:t>kullanımını</a:t>
            </a:r>
            <a:r>
              <a:rPr lang="en-US" sz="1500" dirty="0"/>
              <a:t> </a:t>
            </a:r>
            <a:r>
              <a:rPr lang="en-US" sz="1500" dirty="0" err="1"/>
              <a:t>sınırlayan</a:t>
            </a:r>
            <a:r>
              <a:rPr lang="en-US" sz="1500" dirty="0"/>
              <a:t>, </a:t>
            </a:r>
            <a:r>
              <a:rPr lang="en-US" sz="1500" dirty="0" err="1"/>
              <a:t>izole</a:t>
            </a:r>
            <a:r>
              <a:rPr lang="en-US" sz="1500" dirty="0"/>
              <a:t> </a:t>
            </a:r>
            <a:r>
              <a:rPr lang="en-US" sz="1500" dirty="0" err="1"/>
              <a:t>eden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Linux </a:t>
            </a:r>
            <a:r>
              <a:rPr lang="en-US" sz="1500" dirty="0" err="1"/>
              <a:t>çekirdek</a:t>
            </a:r>
            <a:r>
              <a:rPr lang="en-US" sz="1500" dirty="0"/>
              <a:t> </a:t>
            </a:r>
            <a:r>
              <a:rPr lang="en-US" sz="1500" dirty="0" err="1"/>
              <a:t>özelliğidir</a:t>
            </a:r>
            <a:r>
              <a:rPr lang="en-US" sz="1500" dirty="0"/>
              <a:t>.</a:t>
            </a:r>
          </a:p>
          <a:p>
            <a:r>
              <a:rPr lang="en-US" sz="1500" b="1" dirty="0"/>
              <a:t>namespaces: </a:t>
            </a:r>
            <a:r>
              <a:rPr lang="en-US" sz="1500" dirty="0"/>
              <a:t>Linux </a:t>
            </a:r>
            <a:r>
              <a:rPr lang="en-US" sz="1500" dirty="0" err="1"/>
              <a:t>çekirdek</a:t>
            </a:r>
            <a:r>
              <a:rPr lang="en-US" sz="1500" dirty="0"/>
              <a:t> </a:t>
            </a:r>
            <a:r>
              <a:rPr lang="en-US" sz="1500" dirty="0" err="1"/>
              <a:t>kaynaklarını</a:t>
            </a:r>
            <a:r>
              <a:rPr lang="en-US" sz="1500" dirty="0"/>
              <a:t> </a:t>
            </a:r>
            <a:r>
              <a:rPr lang="en-US" sz="1500" dirty="0" err="1"/>
              <a:t>bölümlere</a:t>
            </a:r>
            <a:r>
              <a:rPr lang="en-US" sz="1500" dirty="0"/>
              <a:t> </a:t>
            </a:r>
            <a:r>
              <a:rPr lang="en-US" sz="1500" dirty="0" err="1"/>
              <a:t>ayırır</a:t>
            </a:r>
            <a:r>
              <a:rPr lang="en-US" sz="1500" dirty="0"/>
              <a:t>. Bir </a:t>
            </a:r>
            <a:r>
              <a:rPr lang="en-US" sz="1500" dirty="0" err="1"/>
              <a:t>işlem</a:t>
            </a:r>
            <a:r>
              <a:rPr lang="en-US" sz="1500" dirty="0"/>
              <a:t> </a:t>
            </a:r>
            <a:r>
              <a:rPr lang="en-US" sz="1500" dirty="0" err="1"/>
              <a:t>kümesi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kaynak</a:t>
            </a:r>
            <a:r>
              <a:rPr lang="en-US" sz="1500" dirty="0"/>
              <a:t> </a:t>
            </a:r>
            <a:r>
              <a:rPr lang="en-US" sz="1500" dirty="0" err="1"/>
              <a:t>kümesini</a:t>
            </a:r>
            <a:r>
              <a:rPr lang="en-US" sz="1500" dirty="0"/>
              <a:t> </a:t>
            </a:r>
            <a:r>
              <a:rPr lang="en-US" sz="1500" dirty="0" err="1"/>
              <a:t>görürken</a:t>
            </a:r>
            <a:r>
              <a:rPr lang="en-US" sz="1500" dirty="0"/>
              <a:t> </a:t>
            </a:r>
            <a:r>
              <a:rPr lang="en-US" sz="1500" dirty="0" err="1"/>
              <a:t>başka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işlem</a:t>
            </a:r>
            <a:r>
              <a:rPr lang="en-US" sz="1500" dirty="0"/>
              <a:t> </a:t>
            </a:r>
            <a:r>
              <a:rPr lang="en-US" sz="1500" dirty="0" err="1"/>
              <a:t>kümesi</a:t>
            </a:r>
            <a:r>
              <a:rPr lang="en-US" sz="1500" dirty="0"/>
              <a:t> </a:t>
            </a:r>
            <a:r>
              <a:rPr lang="en-US" sz="1500" dirty="0" err="1"/>
              <a:t>farklı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kaynak</a:t>
            </a:r>
            <a:r>
              <a:rPr lang="en-US" sz="1500" dirty="0"/>
              <a:t> </a:t>
            </a:r>
            <a:r>
              <a:rPr lang="en-US" sz="1500" dirty="0" err="1"/>
              <a:t>kümesi</a:t>
            </a:r>
            <a:r>
              <a:rPr lang="en-US" sz="1500" dirty="0"/>
              <a:t> </a:t>
            </a:r>
            <a:r>
              <a:rPr lang="en-US" sz="1500" dirty="0" err="1"/>
              <a:t>görür</a:t>
            </a:r>
            <a:r>
              <a:rPr lang="en-US" sz="1500" dirty="0"/>
              <a:t>.</a:t>
            </a:r>
          </a:p>
          <a:p>
            <a:r>
              <a:rPr lang="en-US" sz="1500" b="1" dirty="0" err="1"/>
              <a:t>Netlink</a:t>
            </a:r>
            <a:r>
              <a:rPr lang="en-US" sz="1500" b="1" dirty="0"/>
              <a:t>: </a:t>
            </a:r>
            <a:r>
              <a:rPr lang="en-US" sz="1500" dirty="0" err="1"/>
              <a:t>Kullanıcı</a:t>
            </a:r>
            <a:r>
              <a:rPr lang="en-US" sz="1500" dirty="0"/>
              <a:t> </a:t>
            </a:r>
            <a:r>
              <a:rPr lang="en-US" sz="1500" dirty="0" err="1"/>
              <a:t>alanındaki</a:t>
            </a:r>
            <a:r>
              <a:rPr lang="en-US" sz="1500" dirty="0"/>
              <a:t> </a:t>
            </a:r>
            <a:r>
              <a:rPr lang="en-US" sz="1500" dirty="0" err="1"/>
              <a:t>iş</a:t>
            </a:r>
            <a:r>
              <a:rPr lang="en-US" sz="1500" dirty="0"/>
              <a:t> </a:t>
            </a:r>
            <a:r>
              <a:rPr lang="en-US" sz="1500" dirty="0" err="1"/>
              <a:t>parçacıkları</a:t>
            </a:r>
            <a:r>
              <a:rPr lang="en-US" sz="1500" dirty="0"/>
              <a:t> </a:t>
            </a:r>
            <a:r>
              <a:rPr lang="en-US" sz="1500" dirty="0" err="1"/>
              <a:t>ile</a:t>
            </a:r>
            <a:r>
              <a:rPr lang="en-US" sz="1500" dirty="0"/>
              <a:t> kernel </a:t>
            </a:r>
            <a:r>
              <a:rPr lang="en-US" sz="1500" dirty="0" err="1"/>
              <a:t>arasında</a:t>
            </a:r>
            <a:r>
              <a:rPr lang="en-US" sz="1500" dirty="0"/>
              <a:t> </a:t>
            </a:r>
            <a:r>
              <a:rPr lang="en-US" sz="1500" dirty="0" err="1"/>
              <a:t>bilgi</a:t>
            </a:r>
            <a:r>
              <a:rPr lang="en-US" sz="1500" dirty="0"/>
              <a:t> </a:t>
            </a:r>
            <a:r>
              <a:rPr lang="en-US" sz="1500" dirty="0" err="1"/>
              <a:t>akışını</a:t>
            </a:r>
            <a:r>
              <a:rPr lang="en-US" sz="1500" dirty="0"/>
              <a:t> </a:t>
            </a:r>
            <a:r>
              <a:rPr lang="en-US" sz="1500" dirty="0" err="1"/>
              <a:t>sağlar</a:t>
            </a:r>
            <a:r>
              <a:rPr lang="en-US" sz="1500" dirty="0"/>
              <a:t>.</a:t>
            </a:r>
          </a:p>
          <a:p>
            <a:r>
              <a:rPr lang="en-US" sz="1500" b="1" dirty="0" err="1"/>
              <a:t>SELinux</a:t>
            </a:r>
            <a:r>
              <a:rPr lang="en-US" sz="1500" dirty="0"/>
              <a:t>: Linux </a:t>
            </a:r>
            <a:r>
              <a:rPr lang="en-US" sz="1500" dirty="0" err="1"/>
              <a:t>çekirdeği</a:t>
            </a:r>
            <a:r>
              <a:rPr lang="en-US" sz="1500" dirty="0"/>
              <a:t> </a:t>
            </a:r>
            <a:r>
              <a:rPr lang="en-US" sz="1500" dirty="0" err="1"/>
              <a:t>güvenlik</a:t>
            </a:r>
            <a:r>
              <a:rPr lang="en-US" sz="1500" dirty="0"/>
              <a:t> </a:t>
            </a:r>
            <a:r>
              <a:rPr lang="en-US" sz="1500" dirty="0" err="1"/>
              <a:t>modülüdür</a:t>
            </a:r>
            <a:r>
              <a:rPr lang="en-US" sz="1500" dirty="0"/>
              <a:t>. </a:t>
            </a:r>
          </a:p>
          <a:p>
            <a:r>
              <a:rPr lang="en-US" sz="1500" b="1" dirty="0" err="1"/>
              <a:t>Netfilter</a:t>
            </a:r>
            <a:r>
              <a:rPr lang="en-US" sz="1500" b="1" dirty="0"/>
              <a:t>: </a:t>
            </a:r>
            <a:r>
              <a:rPr lang="en-US" sz="1500" dirty="0"/>
              <a:t>Linux </a:t>
            </a:r>
            <a:r>
              <a:rPr lang="en-US" sz="1500" dirty="0" err="1"/>
              <a:t>çekirdeği</a:t>
            </a:r>
            <a:r>
              <a:rPr lang="en-US" sz="1500" dirty="0"/>
              <a:t> </a:t>
            </a:r>
            <a:r>
              <a:rPr lang="en-US" sz="1500" dirty="0" err="1"/>
              <a:t>tarafından</a:t>
            </a:r>
            <a:r>
              <a:rPr lang="en-US" sz="1500" dirty="0"/>
              <a:t> </a:t>
            </a:r>
            <a:r>
              <a:rPr lang="en-US" sz="1500" dirty="0" err="1"/>
              <a:t>sağlanan</a:t>
            </a:r>
            <a:r>
              <a:rPr lang="en-US" sz="1500" dirty="0"/>
              <a:t>, </a:t>
            </a:r>
            <a:r>
              <a:rPr lang="en-US" sz="1500" dirty="0" err="1"/>
              <a:t>ağ</a:t>
            </a:r>
            <a:r>
              <a:rPr lang="en-US" sz="1500" dirty="0"/>
              <a:t> </a:t>
            </a:r>
            <a:r>
              <a:rPr lang="en-US" sz="1500" dirty="0" err="1"/>
              <a:t>ile</a:t>
            </a:r>
            <a:r>
              <a:rPr lang="en-US" sz="1500" dirty="0"/>
              <a:t> </a:t>
            </a:r>
            <a:r>
              <a:rPr lang="en-US" sz="1500" dirty="0" err="1"/>
              <a:t>ilgili</a:t>
            </a:r>
            <a:r>
              <a:rPr lang="en-US" sz="1500" dirty="0"/>
              <a:t> </a:t>
            </a:r>
            <a:r>
              <a:rPr lang="en-US" sz="1500" dirty="0" err="1"/>
              <a:t>çeşitli</a:t>
            </a:r>
            <a:r>
              <a:rPr lang="en-US" sz="1500" dirty="0"/>
              <a:t> </a:t>
            </a:r>
            <a:r>
              <a:rPr lang="en-US" sz="1500" dirty="0" err="1"/>
              <a:t>işlemlerin</a:t>
            </a:r>
            <a:r>
              <a:rPr lang="en-US" sz="1500" dirty="0"/>
              <a:t> </a:t>
            </a:r>
            <a:r>
              <a:rPr lang="en-US" sz="1500" dirty="0" err="1"/>
              <a:t>özelleştirilmiş</a:t>
            </a:r>
            <a:r>
              <a:rPr lang="en-US" sz="1500" dirty="0"/>
              <a:t> </a:t>
            </a:r>
            <a:r>
              <a:rPr lang="en-US" sz="1500" dirty="0" err="1"/>
              <a:t>işlemler</a:t>
            </a:r>
            <a:r>
              <a:rPr lang="en-US" sz="1500" dirty="0"/>
              <a:t> </a:t>
            </a:r>
            <a:r>
              <a:rPr lang="en-US" sz="1500" dirty="0" err="1"/>
              <a:t>biçiminde</a:t>
            </a:r>
            <a:r>
              <a:rPr lang="en-US" sz="1500" dirty="0"/>
              <a:t> </a:t>
            </a:r>
            <a:r>
              <a:rPr lang="en-US" sz="1500" dirty="0" err="1"/>
              <a:t>uygulanmasına</a:t>
            </a:r>
            <a:r>
              <a:rPr lang="en-US" sz="1500" dirty="0"/>
              <a:t> </a:t>
            </a:r>
            <a:r>
              <a:rPr lang="en-US" sz="1500" dirty="0" err="1"/>
              <a:t>izin</a:t>
            </a:r>
            <a:r>
              <a:rPr lang="en-US" sz="1500" dirty="0"/>
              <a:t> </a:t>
            </a:r>
            <a:r>
              <a:rPr lang="en-US" sz="1500" dirty="0" err="1"/>
              <a:t>veren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çerçevedir</a:t>
            </a:r>
            <a:r>
              <a:rPr lang="en-US" sz="1500" dirty="0"/>
              <a:t>.</a:t>
            </a:r>
          </a:p>
          <a:p>
            <a:r>
              <a:rPr lang="en-US" sz="1500" b="1" dirty="0" err="1"/>
              <a:t>AppArmor</a:t>
            </a:r>
            <a:r>
              <a:rPr lang="en-US" sz="1500" dirty="0"/>
              <a:t>: </a:t>
            </a:r>
            <a:r>
              <a:rPr lang="en-US" sz="1500" dirty="0" err="1"/>
              <a:t>Sistem</a:t>
            </a:r>
            <a:r>
              <a:rPr lang="en-US" sz="1500" dirty="0"/>
              <a:t> </a:t>
            </a:r>
            <a:r>
              <a:rPr lang="en-US" sz="1500" dirty="0" err="1"/>
              <a:t>yöneticisinin</a:t>
            </a:r>
            <a:r>
              <a:rPr lang="en-US" sz="1500" dirty="0"/>
              <a:t> </a:t>
            </a:r>
            <a:r>
              <a:rPr lang="en-US" sz="1500" dirty="0" err="1"/>
              <a:t>programların</a:t>
            </a:r>
            <a:r>
              <a:rPr lang="en-US" sz="1500" dirty="0"/>
              <a:t> </a:t>
            </a:r>
            <a:r>
              <a:rPr lang="en-US" sz="1500" dirty="0" err="1"/>
              <a:t>yeteneklerini</a:t>
            </a:r>
            <a:r>
              <a:rPr lang="en-US" sz="1500" dirty="0"/>
              <a:t> program </a:t>
            </a:r>
            <a:r>
              <a:rPr lang="en-US" sz="1500" dirty="0" err="1"/>
              <a:t>bazlı</a:t>
            </a:r>
            <a:r>
              <a:rPr lang="en-US" sz="1500" dirty="0"/>
              <a:t> </a:t>
            </a:r>
            <a:r>
              <a:rPr lang="en-US" sz="1500" dirty="0" err="1"/>
              <a:t>profillerle</a:t>
            </a:r>
            <a:r>
              <a:rPr lang="en-US" sz="1500" dirty="0"/>
              <a:t> </a:t>
            </a:r>
            <a:r>
              <a:rPr lang="en-US" sz="1500" dirty="0" err="1"/>
              <a:t>kısıtlamasını</a:t>
            </a:r>
            <a:r>
              <a:rPr lang="en-US" sz="1500" dirty="0"/>
              <a:t> </a:t>
            </a:r>
            <a:r>
              <a:rPr lang="en-US" sz="1500" dirty="0" err="1"/>
              <a:t>sağlayan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Linux </a:t>
            </a:r>
            <a:r>
              <a:rPr lang="en-US" sz="1500" dirty="0" err="1"/>
              <a:t>çekirdek</a:t>
            </a:r>
            <a:r>
              <a:rPr lang="en-US" sz="1500" dirty="0"/>
              <a:t> </a:t>
            </a:r>
            <a:r>
              <a:rPr lang="en-US" sz="1500" dirty="0" err="1"/>
              <a:t>güvenlik</a:t>
            </a:r>
            <a:r>
              <a:rPr lang="en-US" sz="1500" dirty="0"/>
              <a:t> </a:t>
            </a:r>
            <a:r>
              <a:rPr lang="en-US" sz="1500" dirty="0" err="1"/>
              <a:t>modülüdür</a:t>
            </a:r>
            <a:r>
              <a:rPr lang="en-US" sz="1500" dirty="0"/>
              <a:t>.</a:t>
            </a:r>
          </a:p>
          <a:p>
            <a:r>
              <a:rPr lang="en-US" sz="1500" b="1" dirty="0"/>
              <a:t>capabilities: </a:t>
            </a:r>
            <a:r>
              <a:rPr lang="en-US" sz="1500" dirty="0" err="1"/>
              <a:t>İş</a:t>
            </a:r>
            <a:r>
              <a:rPr lang="en-US" sz="1500" dirty="0"/>
              <a:t> </a:t>
            </a:r>
            <a:r>
              <a:rPr lang="en-US" sz="1500" dirty="0" err="1"/>
              <a:t>parçacıklarına</a:t>
            </a:r>
            <a:r>
              <a:rPr lang="en-US" sz="1500" dirty="0"/>
              <a:t> root </a:t>
            </a:r>
            <a:r>
              <a:rPr lang="en-US" sz="1500" dirty="0" err="1"/>
              <a:t>düzeyinde</a:t>
            </a:r>
            <a:r>
              <a:rPr lang="en-US" sz="1500" dirty="0"/>
              <a:t> </a:t>
            </a:r>
            <a:r>
              <a:rPr lang="en-US" sz="1500" dirty="0" err="1"/>
              <a:t>yetkiler</a:t>
            </a:r>
            <a:r>
              <a:rPr lang="en-US" sz="1500" dirty="0"/>
              <a:t>, </a:t>
            </a:r>
            <a:r>
              <a:rPr lang="en-US" sz="1500" dirty="0" err="1"/>
              <a:t>yetki</a:t>
            </a:r>
            <a:r>
              <a:rPr lang="en-US" sz="1500" dirty="0"/>
              <a:t> </a:t>
            </a:r>
            <a:r>
              <a:rPr lang="en-US" sz="1500" dirty="0" err="1"/>
              <a:t>altkümeleri</a:t>
            </a:r>
            <a:r>
              <a:rPr lang="en-US" sz="1500" dirty="0"/>
              <a:t> </a:t>
            </a:r>
            <a:r>
              <a:rPr lang="en-US" sz="1500" dirty="0" err="1"/>
              <a:t>atamanızı</a:t>
            </a:r>
            <a:r>
              <a:rPr lang="en-US" sz="1500" dirty="0"/>
              <a:t> </a:t>
            </a:r>
            <a:r>
              <a:rPr lang="en-US" sz="1500" dirty="0" err="1"/>
              <a:t>sağlayan</a:t>
            </a:r>
            <a:r>
              <a:rPr lang="en-US" sz="1500" dirty="0"/>
              <a:t> </a:t>
            </a:r>
            <a:r>
              <a:rPr lang="en-US" sz="1500" dirty="0" err="1"/>
              <a:t>bir</a:t>
            </a:r>
            <a:r>
              <a:rPr lang="en-US" sz="1500" dirty="0"/>
              <a:t> </a:t>
            </a:r>
            <a:r>
              <a:rPr lang="en-US" sz="1500" dirty="0" err="1"/>
              <a:t>özelliktir</a:t>
            </a:r>
            <a:r>
              <a:rPr lang="en-US" sz="15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04025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CF6B-8AF8-2A44-B573-67617AF6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Benzetimi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6C824D-EAF2-8E40-BC51-7E518CD05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1183368"/>
            <a:ext cx="8839200" cy="502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7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AA9D-9CF2-734B-AA51-9CB3E041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F04707-CF6D-7A46-98C0-7EBAEACBE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62" y="1409700"/>
            <a:ext cx="893013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1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5DA9-3818-0A41-89D7-A844842F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548E5-8E15-D54B-A058-007462A0A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Go dili ile yazılmıştır.</a:t>
            </a:r>
          </a:p>
          <a:p>
            <a:r>
              <a:rPr lang="en-TR" dirty="0"/>
              <a:t>Docker sadece işletim sistemini sanallaştırır. Tüm sistemi sanallaştırmaz.</a:t>
            </a:r>
          </a:p>
          <a:p>
            <a:r>
              <a:rPr lang="en-TR" dirty="0"/>
              <a:t>Sunucu kernel’</a:t>
            </a:r>
            <a:r>
              <a:rPr lang="en-US" dirty="0" err="1"/>
              <a:t>i</a:t>
            </a:r>
            <a:r>
              <a:rPr lang="en-TR" dirty="0"/>
              <a:t> üzerinde çalışır. Bazı kütüphaneleri ve derlenmiş uygulamaları (binaries) paylaşırlar. Bunlar sadece okuma yetkisine sahiptir.</a:t>
            </a:r>
          </a:p>
          <a:p>
            <a:r>
              <a:rPr lang="en-TR" dirty="0"/>
              <a:t>Sistem kaynaklarını kullandığı için boyut olarak daha küçüktürler (lightweight).</a:t>
            </a:r>
          </a:p>
          <a:p>
            <a:r>
              <a:rPr lang="en-TR" dirty="0"/>
              <a:t>Docker öncesi:</a:t>
            </a:r>
          </a:p>
          <a:p>
            <a:pPr lvl="1"/>
            <a:r>
              <a:rPr lang="en-TR" dirty="0"/>
              <a:t>Uygulamalar dep, rpm, gem,</a:t>
            </a:r>
            <a:r>
              <a:rPr lang="en-US" dirty="0"/>
              <a:t> jar </a:t>
            </a:r>
            <a:r>
              <a:rPr lang="en-US" dirty="0" err="1"/>
              <a:t>paketleri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dağıtılırdı</a:t>
            </a:r>
            <a:r>
              <a:rPr lang="en-US" dirty="0"/>
              <a:t>.</a:t>
            </a:r>
          </a:p>
          <a:p>
            <a:pPr lvl="1"/>
            <a:r>
              <a:rPr lang="en-TR" dirty="0"/>
              <a:t>Diğer paketlere bağımlılık üst düzeydeydi.</a:t>
            </a:r>
          </a:p>
          <a:p>
            <a:pPr lvl="1"/>
            <a:r>
              <a:rPr lang="en-TR" dirty="0"/>
              <a:t>Sadece “Kendi makinemde çalışıyor, sadece şu versiyonla çalışıyor, şu kütüphaneyi yüklersen çalışır” mantığı vardı.</a:t>
            </a:r>
          </a:p>
          <a:p>
            <a:pPr lvl="1"/>
            <a:r>
              <a:rPr lang="en-TR" dirty="0"/>
              <a:t>Yeniden dağıtma işlemi her zaman en baştan yapılırdı.</a:t>
            </a:r>
          </a:p>
          <a:p>
            <a:r>
              <a:rPr lang="en-TR" dirty="0"/>
              <a:t>Docker sonrası:</a:t>
            </a:r>
          </a:p>
          <a:p>
            <a:pPr lvl="1"/>
            <a:r>
              <a:rPr lang="en-TR" dirty="0"/>
              <a:t>Kapsayıcı imajlar tüm bağımlılıklarıyla üretilmeye başlandı.</a:t>
            </a:r>
          </a:p>
          <a:p>
            <a:pPr lvl="1"/>
            <a:r>
              <a:rPr lang="en-TR" dirty="0"/>
              <a:t>İmajlar katmanlara ayrılabildi.</a:t>
            </a:r>
          </a:p>
          <a:p>
            <a:pPr lvl="1"/>
            <a:r>
              <a:rPr lang="en-TR" dirty="0"/>
              <a:t>Sadece değişen katmanlar dağıtılabildi.</a:t>
            </a:r>
          </a:p>
          <a:p>
            <a:pPr lvl="1"/>
            <a:r>
              <a:rPr lang="en-TR" dirty="0"/>
              <a:t>Disk, bellek ve ağ kullanımından kazanç sağlandı.</a:t>
            </a:r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5767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AFDD-2FB9-A64A-BFA9-75FCA698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vs. Sanal Makine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514E30-8E75-7C48-9A8B-768215C9D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50" y="1466850"/>
            <a:ext cx="88265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0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B787-B6FD-574D-BA8A-C777B79E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vs. Sanal Makine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441A1-4103-C947-A3E4-72E62D56D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" y="1219200"/>
            <a:ext cx="9041101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7AA0-3C2E-F548-B46E-E50FE8C4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83255"/>
            <a:ext cx="8686800" cy="523220"/>
          </a:xfrm>
        </p:spPr>
        <p:txBody>
          <a:bodyPr/>
          <a:lstStyle/>
          <a:p>
            <a:r>
              <a:rPr lang="en-TR" sz="2800" dirty="0"/>
              <a:t>Docker vs. Sanal Makine (VM,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1EF81-86F3-F348-AC78-6949D46E2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Uygulamaların geliştirme ortamından üretim ortamına aktarılması için disk imajı oluşturulması gerekir.</a:t>
            </a:r>
          </a:p>
          <a:p>
            <a:r>
              <a:rPr lang="en-TR" dirty="0"/>
              <a:t>Hızlı imaj oluşturma hem hızlı test hem de daha sık dağıtım imkanı sağlar.</a:t>
            </a:r>
          </a:p>
          <a:p>
            <a:r>
              <a:rPr lang="en-TR" dirty="0"/>
              <a:t>VM tüm işletim sistemi imajını içerirken, Docker sadece fark imajını (uygulama katmanını) içerir.</a:t>
            </a:r>
          </a:p>
          <a:p>
            <a:r>
              <a:rPr lang="en-TR" dirty="0"/>
              <a:t>VM:</a:t>
            </a:r>
          </a:p>
          <a:p>
            <a:pPr lvl="1"/>
            <a:r>
              <a:rPr lang="en-TR" dirty="0"/>
              <a:t>Bağımlılık cehennemi: Uygulamaların %50’den az bir kısmı derlenebilir ve yüklenebilir.</a:t>
            </a:r>
          </a:p>
          <a:p>
            <a:pPr lvl="1"/>
            <a:r>
              <a:rPr lang="en-TR" dirty="0"/>
              <a:t>Bilimsel hesaplamalar için kullanımı çok zor.</a:t>
            </a:r>
          </a:p>
          <a:p>
            <a:pPr lvl="1"/>
            <a:r>
              <a:rPr lang="en-TR" dirty="0"/>
              <a:t>Dokümantasyon sıkıntısı: Sanal makinelerin nasıl kurulacağı dair az ya da eksik belge olması.</a:t>
            </a:r>
          </a:p>
          <a:p>
            <a:pPr lvl="1"/>
            <a:r>
              <a:rPr lang="en-TR" dirty="0"/>
              <a:t>Yeniden kullanımı, genişlemesi, paket yönetici oluşturması çok zor.</a:t>
            </a:r>
          </a:p>
          <a:p>
            <a:pPr lvl="1"/>
            <a:r>
              <a:rPr lang="en-TR" dirty="0"/>
              <a:t>Bulut ortamlarına ya da diğer ortamlara taşınabilirliği zorlaştırır.</a:t>
            </a:r>
          </a:p>
          <a:p>
            <a:pPr marL="457200" lvl="1" indent="0">
              <a:buNone/>
            </a:pPr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28063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3084-23B6-2240-BBB1-45297140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585200" cy="1015663"/>
          </a:xfrm>
        </p:spPr>
        <p:txBody>
          <a:bodyPr/>
          <a:lstStyle/>
          <a:p>
            <a:r>
              <a:rPr lang="en-TR" dirty="0"/>
              <a:t>Docker vs. VM Performans Karşılaştırması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B4536-0372-CD45-A9E6-109598435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887537"/>
            <a:ext cx="8585200" cy="1193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A06BCF-A773-ED49-A0CE-DDA4256AE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3962400"/>
            <a:ext cx="87249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2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8252-9B6E-BA4C-841B-D534EE82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Docker’ın Ana Hedefi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2F76EA-3021-8D43-B09C-9AE47BE7D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2057400"/>
            <a:ext cx="8991600" cy="244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60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CD65-EE92-8343-9430-40069350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Kullanım Senaryoları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2D971-4046-6947-8B12-F9E51E035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19200"/>
            <a:ext cx="685348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2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2B0A-1E11-0748-82AD-EEB00617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2604-113F-0845-87C8-89E3581AC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sz="1400" dirty="0"/>
              <a:t>Docker Engine 3 ana bileşenden oluşan bir istemci-sunucu uygulamasıdır.</a:t>
            </a:r>
          </a:p>
          <a:p>
            <a:r>
              <a:rPr lang="en-TR" sz="1400" b="1" dirty="0"/>
              <a:t>Sunucu (Server): </a:t>
            </a:r>
            <a:r>
              <a:rPr lang="en-TR" sz="1400" dirty="0"/>
              <a:t>Arka planda sürekli çalışan daemon process olarak adlandırılan bir uygulama (dockerd komutu). Daemon, imajları, disk sürücülerini, ağı yönetir.</a:t>
            </a:r>
          </a:p>
          <a:p>
            <a:r>
              <a:rPr lang="en-TR" sz="1400" b="1" dirty="0"/>
              <a:t>REST API: </a:t>
            </a:r>
            <a:r>
              <a:rPr lang="en-TR" sz="1400" dirty="0"/>
              <a:t>Programların daemon ile konuşabilmelerini, daemon’a komut verebilmelerini sağlar.</a:t>
            </a:r>
          </a:p>
          <a:p>
            <a:r>
              <a:rPr lang="en-TR" sz="1400" b="1" dirty="0"/>
              <a:t>CLI: </a:t>
            </a:r>
            <a:r>
              <a:rPr lang="en-TR" sz="1400" dirty="0"/>
              <a:t>İstemci tarafından kullanılan komut satırı arayüzü (docker komutu). REST API’yi kullanarak daemona ulaşabilir.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4E933-FE8F-4E41-ADA2-75F8B542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08368"/>
            <a:ext cx="4768850" cy="371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73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5E89-0715-B349-AE2B-C04BCABF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Mimarisi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81EC6-3816-1948-86C2-C77BD7A5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0" y="1143000"/>
            <a:ext cx="8927820" cy="499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8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FD76-6D02-1A41-A4E5-34D55B69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Mimarisi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184AE-C523-F748-ACD2-D6BD1F4C4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Docker istemci-sunucu mimarisini kullanır.</a:t>
            </a:r>
          </a:p>
          <a:p>
            <a:r>
              <a:rPr lang="en-TR" dirty="0"/>
              <a:t>Docker istemcisi tüm işi yapan Docker daemon ile konuşur. </a:t>
            </a:r>
          </a:p>
          <a:p>
            <a:r>
              <a:rPr lang="en-TR" dirty="0"/>
              <a:t>İstemci ile daemon aynı sistem üzerinde çalışabilir. Ya da istemci uzaktaki daemona bağlanabilir.</a:t>
            </a:r>
          </a:p>
          <a:p>
            <a:r>
              <a:rPr lang="en-TR" dirty="0"/>
              <a:t>İstemci ve daemon REST API aracılığı ile Unix soket yapısı ya da ağ arayüzleri üzerinden haberleşir.</a:t>
            </a:r>
          </a:p>
          <a:p>
            <a:r>
              <a:rPr lang="en-US" dirty="0" err="1"/>
              <a:t>İstemci</a:t>
            </a:r>
            <a:r>
              <a:rPr lang="en-US" dirty="0"/>
              <a:t> </a:t>
            </a:r>
            <a:r>
              <a:rPr lang="en-US" b="1" dirty="0"/>
              <a:t>d</a:t>
            </a:r>
            <a:r>
              <a:rPr lang="en-TR" b="1" dirty="0"/>
              <a:t>ocker run </a:t>
            </a:r>
            <a:r>
              <a:rPr lang="en-TR" dirty="0"/>
              <a:t>gibi bir komut çalıştırdığında, istemci bu komutu </a:t>
            </a:r>
            <a:r>
              <a:rPr lang="en-TR" b="1" dirty="0"/>
              <a:t>dockerd</a:t>
            </a:r>
            <a:r>
              <a:rPr lang="en-TR" dirty="0"/>
              <a:t>’ye göndermiş olur.</a:t>
            </a:r>
          </a:p>
          <a:p>
            <a:r>
              <a:rPr lang="en-US" b="1" dirty="0"/>
              <a:t>d</a:t>
            </a:r>
            <a:r>
              <a:rPr lang="en-TR" b="1" dirty="0"/>
              <a:t>ocker </a:t>
            </a:r>
            <a:r>
              <a:rPr lang="en-TR" dirty="0"/>
              <a:t>komutu Docker API’sini kullanır. İstemci birden fazla daemon ile haberleşebilir.</a:t>
            </a:r>
          </a:p>
          <a:p>
            <a:r>
              <a:rPr lang="en-TR" b="1" dirty="0"/>
              <a:t>Docker Registry (Kayıtçı): </a:t>
            </a:r>
            <a:r>
              <a:rPr lang="en-TR" dirty="0"/>
              <a:t>Docker imajlarını tutar. </a:t>
            </a:r>
            <a:r>
              <a:rPr lang="en-TR" dirty="0">
                <a:hlinkClick r:id="rId2"/>
              </a:rPr>
              <a:t>Docker Hub</a:t>
            </a:r>
            <a:r>
              <a:rPr lang="en-TR" dirty="0"/>
              <a:t> herkese açık, herkesin kullanabileceği bir kayıtçıdır (imaj deposu da diyebiliriz).</a:t>
            </a:r>
          </a:p>
          <a:p>
            <a:r>
              <a:rPr lang="en-TR" dirty="0"/>
              <a:t>Aynı zamanda kendi özel kayıtçılarınızı da oluşturabilirsiniz. </a:t>
            </a:r>
          </a:p>
          <a:p>
            <a:r>
              <a:rPr lang="en-US" b="1" dirty="0"/>
              <a:t>d</a:t>
            </a:r>
            <a:r>
              <a:rPr lang="en-TR" b="1" dirty="0"/>
              <a:t>ocker pull </a:t>
            </a:r>
            <a:r>
              <a:rPr lang="en-TR" dirty="0"/>
              <a:t>ya da </a:t>
            </a:r>
            <a:r>
              <a:rPr lang="en-TR" b="1" dirty="0"/>
              <a:t>docker run </a:t>
            </a:r>
            <a:r>
              <a:rPr lang="en-TR" dirty="0"/>
              <a:t>komutlarını çalıştırdığınızda gerekli imajlar ayarladığınız kayıtçıdan indirilir.</a:t>
            </a:r>
          </a:p>
          <a:p>
            <a:r>
              <a:rPr lang="en-US" b="1" dirty="0"/>
              <a:t>d</a:t>
            </a:r>
            <a:r>
              <a:rPr lang="en-TR" b="1" dirty="0"/>
              <a:t>ocker push </a:t>
            </a:r>
            <a:r>
              <a:rPr lang="en-TR" dirty="0"/>
              <a:t>komutunu kullandığınızda imajınız ayarladığınız kayıtçıya gönderilir.</a:t>
            </a:r>
            <a:endParaRPr lang="en-TR" b="1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27764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1FC5-CFC0-1942-8D94-A7392585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Mimarisi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4C56-C2A7-D94B-BE6A-7B515A11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Docker </a:t>
            </a:r>
            <a:r>
              <a:rPr lang="en-US" b="1" dirty="0" err="1"/>
              <a:t>Nesneleri</a:t>
            </a:r>
            <a:r>
              <a:rPr lang="en-US" b="1" dirty="0"/>
              <a:t> (Objects): </a:t>
            </a:r>
            <a:r>
              <a:rPr lang="en-US" dirty="0" err="1"/>
              <a:t>Docker’ı</a:t>
            </a:r>
            <a:r>
              <a:rPr lang="en-US" dirty="0"/>
              <a:t> </a:t>
            </a:r>
            <a:r>
              <a:rPr lang="en-US" dirty="0" err="1"/>
              <a:t>kullandığınızda</a:t>
            </a:r>
            <a:r>
              <a:rPr lang="en-US" dirty="0"/>
              <a:t> </a:t>
            </a:r>
            <a:r>
              <a:rPr lang="en-US" dirty="0" err="1"/>
              <a:t>imajlar</a:t>
            </a:r>
            <a:r>
              <a:rPr lang="en-US" dirty="0"/>
              <a:t>, </a:t>
            </a:r>
            <a:r>
              <a:rPr lang="en-US" dirty="0" err="1"/>
              <a:t>kapsayıcılar</a:t>
            </a:r>
            <a:r>
              <a:rPr lang="en-US" dirty="0"/>
              <a:t>, </a:t>
            </a:r>
            <a:r>
              <a:rPr lang="en-US" dirty="0" err="1"/>
              <a:t>ağlar</a:t>
            </a:r>
            <a:r>
              <a:rPr lang="en-US" dirty="0"/>
              <a:t>, disk </a:t>
            </a:r>
            <a:r>
              <a:rPr lang="en-US" dirty="0" err="1"/>
              <a:t>sürücüleri</a:t>
            </a:r>
            <a:r>
              <a:rPr lang="en-US" dirty="0"/>
              <a:t>, </a:t>
            </a:r>
            <a:r>
              <a:rPr lang="en-US" dirty="0" err="1"/>
              <a:t>eklentiler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nesneler</a:t>
            </a:r>
            <a:r>
              <a:rPr lang="en-US" dirty="0"/>
              <a:t> </a:t>
            </a:r>
            <a:r>
              <a:rPr lang="en-US" dirty="0" err="1"/>
              <a:t>üretip</a:t>
            </a:r>
            <a:r>
              <a:rPr lang="en-US" dirty="0"/>
              <a:t> </a:t>
            </a:r>
            <a:r>
              <a:rPr lang="en-US" dirty="0" err="1"/>
              <a:t>kullanabilirsiniz</a:t>
            </a:r>
            <a:r>
              <a:rPr lang="en-US" dirty="0"/>
              <a:t>.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birer</a:t>
            </a:r>
            <a:r>
              <a:rPr lang="en-US" dirty="0"/>
              <a:t> Docker </a:t>
            </a:r>
            <a:r>
              <a:rPr lang="en-US" dirty="0" err="1"/>
              <a:t>nesnesidir</a:t>
            </a:r>
            <a:r>
              <a:rPr lang="en-US" dirty="0"/>
              <a:t>.</a:t>
            </a:r>
          </a:p>
          <a:p>
            <a:r>
              <a:rPr lang="en-US" b="1" dirty="0" err="1"/>
              <a:t>Imajlar</a:t>
            </a:r>
            <a:r>
              <a:rPr lang="en-US" b="1" dirty="0"/>
              <a:t> (Images): </a:t>
            </a:r>
          </a:p>
          <a:p>
            <a:r>
              <a:rPr lang="en-US" dirty="0"/>
              <a:t>Docker </a:t>
            </a:r>
            <a:r>
              <a:rPr lang="en-US" dirty="0" err="1"/>
              <a:t>kapsayıcıları</a:t>
            </a:r>
            <a:r>
              <a:rPr lang="en-US" dirty="0"/>
              <a:t> </a:t>
            </a:r>
            <a:r>
              <a:rPr lang="en-US" dirty="0" err="1"/>
              <a:t>oluşturmanızı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okuma</a:t>
            </a:r>
            <a:r>
              <a:rPr lang="en-US" dirty="0"/>
              <a:t> </a:t>
            </a:r>
            <a:r>
              <a:rPr lang="en-US" dirty="0" err="1"/>
              <a:t>iznine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olduğunuz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talimatlar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şablondur</a:t>
            </a:r>
            <a:r>
              <a:rPr lang="en-US" dirty="0"/>
              <a:t>. </a:t>
            </a:r>
          </a:p>
          <a:p>
            <a:r>
              <a:rPr lang="en-US" dirty="0" err="1"/>
              <a:t>İmajlar</a:t>
            </a:r>
            <a:r>
              <a:rPr lang="en-US" dirty="0"/>
              <a:t> </a:t>
            </a:r>
            <a:r>
              <a:rPr lang="en-US" dirty="0" err="1"/>
              <a:t>genelde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imajı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dirty="0" err="1"/>
              <a:t>Örneğin</a:t>
            </a:r>
            <a:r>
              <a:rPr lang="en-US" dirty="0"/>
              <a:t> Ubuntu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imaj</a:t>
            </a:r>
            <a:r>
              <a:rPr lang="en-US" dirty="0"/>
              <a:t> </a:t>
            </a:r>
            <a:r>
              <a:rPr lang="en-US" dirty="0" err="1"/>
              <a:t>oluşturabilir</a:t>
            </a:r>
            <a:r>
              <a:rPr lang="en-US" dirty="0"/>
              <a:t>, Apache </a:t>
            </a:r>
            <a:r>
              <a:rPr lang="en-US" dirty="0" err="1"/>
              <a:t>sunucusunu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uygulamanızı</a:t>
            </a:r>
            <a:r>
              <a:rPr lang="en-US" dirty="0"/>
              <a:t>, </a:t>
            </a:r>
            <a:r>
              <a:rPr lang="en-US" dirty="0" err="1"/>
              <a:t>uygulamanızın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konfigürasyonları</a:t>
            </a:r>
            <a:r>
              <a:rPr lang="en-US" dirty="0"/>
              <a:t> da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imaja</a:t>
            </a:r>
            <a:r>
              <a:rPr lang="en-US" dirty="0"/>
              <a:t> </a:t>
            </a:r>
            <a:r>
              <a:rPr lang="en-US" dirty="0" err="1"/>
              <a:t>ekleyebilirsiniz</a:t>
            </a:r>
            <a:r>
              <a:rPr lang="en-US" dirty="0"/>
              <a:t>.</a:t>
            </a:r>
          </a:p>
          <a:p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imajınızı</a:t>
            </a:r>
            <a:r>
              <a:rPr lang="en-US" dirty="0"/>
              <a:t> </a:t>
            </a:r>
            <a:r>
              <a:rPr lang="en-US" dirty="0" err="1"/>
              <a:t>oluşturabilir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erişimli</a:t>
            </a:r>
            <a:r>
              <a:rPr lang="en-US" dirty="0"/>
              <a:t> </a:t>
            </a:r>
            <a:r>
              <a:rPr lang="en-US" dirty="0" err="1"/>
              <a:t>kayıtçılardan</a:t>
            </a:r>
            <a:r>
              <a:rPr lang="en-US" dirty="0"/>
              <a:t> </a:t>
            </a:r>
            <a:r>
              <a:rPr lang="en-US" dirty="0" err="1"/>
              <a:t>imaj</a:t>
            </a:r>
            <a:r>
              <a:rPr lang="en-US" dirty="0"/>
              <a:t> </a:t>
            </a:r>
            <a:r>
              <a:rPr lang="en-US" dirty="0" err="1"/>
              <a:t>indirip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değişiklikler</a:t>
            </a:r>
            <a:r>
              <a:rPr lang="en-US" dirty="0"/>
              <a:t> </a:t>
            </a:r>
            <a:r>
              <a:rPr lang="en-US" dirty="0" err="1"/>
              <a:t>yapabilirsiniz</a:t>
            </a:r>
            <a:r>
              <a:rPr lang="en-US" dirty="0"/>
              <a:t>.</a:t>
            </a:r>
          </a:p>
          <a:p>
            <a:r>
              <a:rPr lang="en-US" b="1" dirty="0" err="1"/>
              <a:t>Dockerfile</a:t>
            </a:r>
            <a:r>
              <a:rPr lang="en-US" b="1" dirty="0"/>
              <a:t>: </a:t>
            </a:r>
            <a:r>
              <a:rPr lang="en-US" dirty="0"/>
              <a:t>Bu </a:t>
            </a:r>
            <a:r>
              <a:rPr lang="en-US" dirty="0" err="1"/>
              <a:t>dosya</a:t>
            </a:r>
            <a:r>
              <a:rPr lang="en-US" dirty="0"/>
              <a:t> </a:t>
            </a:r>
            <a:r>
              <a:rPr lang="en-US" dirty="0" err="1"/>
              <a:t>aracılığı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imajınızı</a:t>
            </a:r>
            <a:r>
              <a:rPr lang="en-US" dirty="0"/>
              <a:t> </a:t>
            </a:r>
            <a:r>
              <a:rPr lang="en-US" dirty="0" err="1"/>
              <a:t>oluşturup</a:t>
            </a:r>
            <a:r>
              <a:rPr lang="en-US" dirty="0"/>
              <a:t> </a:t>
            </a:r>
            <a:r>
              <a:rPr lang="en-US" dirty="0" err="1"/>
              <a:t>çalıştırabilirsiniz</a:t>
            </a:r>
            <a:r>
              <a:rPr lang="en-US" dirty="0"/>
              <a:t>. Bu </a:t>
            </a:r>
            <a:r>
              <a:rPr lang="en-US" dirty="0" err="1"/>
              <a:t>dosyanın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imajın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oluşturulacağı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çalıştırılacağı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talimatlar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dirty="0" err="1"/>
              <a:t>Dosyadaki</a:t>
            </a:r>
            <a:r>
              <a:rPr lang="en-US" dirty="0"/>
              <a:t> her </a:t>
            </a:r>
            <a:r>
              <a:rPr lang="en-US" dirty="0" err="1"/>
              <a:t>talimat</a:t>
            </a:r>
            <a:r>
              <a:rPr lang="en-US" dirty="0"/>
              <a:t> </a:t>
            </a:r>
            <a:r>
              <a:rPr lang="en-US" dirty="0" err="1"/>
              <a:t>imajda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katman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  <a:r>
              <a:rPr lang="en-US" dirty="0" err="1"/>
              <a:t>Dockerfile’ı</a:t>
            </a:r>
            <a:r>
              <a:rPr lang="en-US" dirty="0"/>
              <a:t> </a:t>
            </a:r>
            <a:r>
              <a:rPr lang="en-US" dirty="0" err="1"/>
              <a:t>değiştirip</a:t>
            </a:r>
            <a:r>
              <a:rPr lang="en-US" dirty="0"/>
              <a:t> </a:t>
            </a:r>
            <a:r>
              <a:rPr lang="en-US" dirty="0" err="1"/>
              <a:t>imajınızı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oluşturduğunuzda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değişen</a:t>
            </a:r>
            <a:r>
              <a:rPr lang="en-US" dirty="0"/>
              <a:t> </a:t>
            </a:r>
            <a:r>
              <a:rPr lang="en-US" dirty="0" err="1"/>
              <a:t>katmanlar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oluşturulur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95040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AB9D-50EE-B540-B510-DAA34933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/>
              <a:t>Dockerfile </a:t>
            </a:r>
            <a:r>
              <a:rPr lang="en-TR" dirty="0"/>
              <a:t>Örnek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037D1-92DC-F246-AE78-8730ADC6C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868" y="1219200"/>
            <a:ext cx="8386263" cy="4914900"/>
          </a:xfrm>
        </p:spPr>
      </p:pic>
    </p:spTree>
    <p:extLst>
      <p:ext uri="{BB962C8B-B14F-4D97-AF65-F5344CB8AC3E}">
        <p14:creationId xmlns:p14="http://schemas.microsoft.com/office/powerpoint/2010/main" val="475970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CD35-5E24-3C4D-BF48-DAA72F13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Dockerfile Komutlar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4D548-E2B1-4F47-9B19-DF385660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257800"/>
          </a:xfrm>
        </p:spPr>
        <p:txBody>
          <a:bodyPr/>
          <a:lstStyle/>
          <a:p>
            <a:r>
              <a:rPr lang="en-TR" b="1" dirty="0"/>
              <a:t>FROM: </a:t>
            </a:r>
            <a:r>
              <a:rPr lang="en-TR" dirty="0"/>
              <a:t>İmaj oluşturma adımını başlatarak kullanılacak olan temel imajı (base image) ayarlar.</a:t>
            </a:r>
          </a:p>
          <a:p>
            <a:r>
              <a:rPr lang="en-TR" b="1" dirty="0"/>
              <a:t>WORKDIR: </a:t>
            </a:r>
            <a:r>
              <a:rPr lang="en-TR" dirty="0"/>
              <a:t>Kapsayıcının çalışma klasörünü ayarlar.</a:t>
            </a:r>
          </a:p>
          <a:p>
            <a:r>
              <a:rPr lang="en-TR" b="1" dirty="0"/>
              <a:t>COPY: </a:t>
            </a:r>
            <a:r>
              <a:rPr lang="en-TR" dirty="0"/>
              <a:t>İstemcide yer alan dosyaları kapsayıcıya kopyalar.</a:t>
            </a:r>
          </a:p>
          <a:p>
            <a:r>
              <a:rPr lang="en-TR" b="1" dirty="0"/>
              <a:t>ADD: </a:t>
            </a:r>
            <a:r>
              <a:rPr lang="en-TR" dirty="0"/>
              <a:t>İstemcide yer alan dosyaları kapsayıcıya kopyalar. Ek olarak URL kopyalamayı ve tar dosyalarının içeriğinin çıkarılmasını aktifleştirir.</a:t>
            </a:r>
          </a:p>
          <a:p>
            <a:r>
              <a:rPr lang="en-TR" b="1" dirty="0"/>
              <a:t>RUN: </a:t>
            </a:r>
            <a:r>
              <a:rPr lang="en-TR" dirty="0"/>
              <a:t>Komut çalıştırır ve dönen sonuçları imajda yeni bir katman olarak kaydeder.</a:t>
            </a:r>
          </a:p>
          <a:p>
            <a:r>
              <a:rPr lang="en-TR" b="1" dirty="0"/>
              <a:t>LABEL:  </a:t>
            </a:r>
            <a:r>
              <a:rPr lang="en-TR" dirty="0"/>
              <a:t>Kapsayıcı hakkında anahtar-değer ilişki şeklinde metada tutar.</a:t>
            </a:r>
          </a:p>
          <a:p>
            <a:r>
              <a:rPr lang="en-TR" b="1" dirty="0"/>
              <a:t>BUILD: </a:t>
            </a:r>
            <a:r>
              <a:rPr lang="en-TR" dirty="0"/>
              <a:t>oluşturma komutuna değişken geçirmeyi sağlar.</a:t>
            </a:r>
          </a:p>
          <a:p>
            <a:r>
              <a:rPr lang="en-TR" b="1" dirty="0"/>
              <a:t>MAINTAINER: </a:t>
            </a:r>
            <a:r>
              <a:rPr lang="en-TR" dirty="0"/>
              <a:t>İmajdan sorumlu kişinin bilgilerini eklemeyi sağlar.</a:t>
            </a:r>
          </a:p>
          <a:p>
            <a:r>
              <a:rPr lang="en-TR" b="1" dirty="0"/>
              <a:t>CMD</a:t>
            </a:r>
            <a:r>
              <a:rPr lang="en-TR" dirty="0"/>
              <a:t>: Kapsayıcı ile birlikte hangi komutun çalıştırılacağını bilgilendirir.</a:t>
            </a:r>
          </a:p>
          <a:p>
            <a:r>
              <a:rPr lang="en-TR" b="1" dirty="0"/>
              <a:t>EXPOSE: </a:t>
            </a:r>
            <a:r>
              <a:rPr lang="en-TR" dirty="0"/>
              <a:t>İmajda hangi portların açılacağını belirtir.</a:t>
            </a:r>
          </a:p>
          <a:p>
            <a:r>
              <a:rPr lang="en-TR" b="1" dirty="0"/>
              <a:t>VOLUME: </a:t>
            </a:r>
            <a:r>
              <a:rPr lang="en-TR" dirty="0"/>
              <a:t>Belirtilen yola disk sürücüsü bağlar.</a:t>
            </a:r>
          </a:p>
          <a:p>
            <a:r>
              <a:rPr lang="en-TR" b="1" dirty="0"/>
              <a:t>ENV: </a:t>
            </a:r>
            <a:r>
              <a:rPr lang="en-TR" dirty="0"/>
              <a:t>Ortam değişkenlerini ayarlamanızı sağlar.</a:t>
            </a:r>
          </a:p>
          <a:p>
            <a:r>
              <a:rPr lang="en-TR" b="1" dirty="0"/>
              <a:t>USER: </a:t>
            </a:r>
            <a:r>
              <a:rPr lang="en-TR" dirty="0"/>
              <a:t>İmaj çalışırken kullanılacak kullanıcı adını belirler.</a:t>
            </a:r>
          </a:p>
          <a:p>
            <a:r>
              <a:rPr lang="en-TR" b="1" dirty="0"/>
              <a:t>ENTRYPOINT: </a:t>
            </a:r>
            <a:r>
              <a:rPr lang="en-TR" dirty="0"/>
              <a:t>CMD’ye benzer. Komuta ek parametre eklemenizi sağlar.</a:t>
            </a:r>
          </a:p>
          <a:p>
            <a:endParaRPr lang="en-TR" dirty="0"/>
          </a:p>
          <a:p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851595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1FC5-CFC0-1942-8D94-A7392585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Mimarisi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4C56-C2A7-D94B-BE6A-7B515A11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b="1" dirty="0"/>
              <a:t>Kapsayıcılar (Containers): </a:t>
            </a:r>
          </a:p>
          <a:p>
            <a:pPr lvl="1"/>
            <a:r>
              <a:rPr lang="en-TR" dirty="0"/>
              <a:t>İmajın çalıştırılabilir örneğidir.</a:t>
            </a:r>
          </a:p>
          <a:p>
            <a:pPr lvl="1"/>
            <a:r>
              <a:rPr lang="en-TR" dirty="0"/>
              <a:t>Docker API ya da CLI kullanarak kapsayıcıları başlatabilir (start), durdurabilir (stop), taşıyabilir (move), ya da silebilirsiniz (delete). </a:t>
            </a:r>
          </a:p>
          <a:p>
            <a:pPr lvl="1"/>
            <a:r>
              <a:rPr lang="en-TR" dirty="0"/>
              <a:t>Kapsayıcıları bir ya da daha fazla ağa bağlayabilirsiniz.</a:t>
            </a:r>
          </a:p>
          <a:p>
            <a:pPr lvl="1"/>
            <a:r>
              <a:rPr lang="en-TR" dirty="0"/>
              <a:t>Disk bağlayabilirsiniz.</a:t>
            </a:r>
          </a:p>
          <a:p>
            <a:pPr lvl="1"/>
            <a:r>
              <a:rPr lang="en-TR" dirty="0"/>
              <a:t>Varsayılan olarak diğer kapsayıcılardan ve sunucudan iyi izole edilmiştir. İzolasyonun ne düzeyde olacağını da kontrol edebilirsiniz.</a:t>
            </a:r>
          </a:p>
          <a:p>
            <a:r>
              <a:rPr lang="en-US" b="1" i="1" dirty="0"/>
              <a:t>docker run -</a:t>
            </a:r>
            <a:r>
              <a:rPr lang="en-US" b="1" i="1" dirty="0" err="1"/>
              <a:t>i</a:t>
            </a:r>
            <a:r>
              <a:rPr lang="en-US" b="1" i="1" dirty="0"/>
              <a:t> -t ubuntu /bin/bash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çalıştırdığınızda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Eğer</a:t>
            </a:r>
            <a:r>
              <a:rPr lang="en-US" dirty="0"/>
              <a:t> ubuntu </a:t>
            </a:r>
            <a:r>
              <a:rPr lang="en-US" dirty="0" err="1"/>
              <a:t>imajı</a:t>
            </a:r>
            <a:r>
              <a:rPr lang="en-US" dirty="0"/>
              <a:t> </a:t>
            </a:r>
            <a:r>
              <a:rPr lang="en-US" dirty="0" err="1"/>
              <a:t>bilgisayarınızda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kayıtçıdan</a:t>
            </a:r>
            <a:r>
              <a:rPr lang="en-US" dirty="0"/>
              <a:t> </a:t>
            </a:r>
            <a:r>
              <a:rPr lang="en-US" dirty="0" err="1"/>
              <a:t>çekilir</a:t>
            </a:r>
            <a:r>
              <a:rPr lang="en-US" dirty="0"/>
              <a:t>. </a:t>
            </a:r>
            <a:r>
              <a:rPr lang="en-US" b="1" i="1" dirty="0"/>
              <a:t>docker pull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kendiniz</a:t>
            </a:r>
            <a:r>
              <a:rPr lang="en-US" dirty="0"/>
              <a:t> de </a:t>
            </a:r>
            <a:r>
              <a:rPr lang="en-US" dirty="0" err="1"/>
              <a:t>çekebilirsiniz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Docker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kapsayıcı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Kapsayıcıya</a:t>
            </a:r>
            <a:r>
              <a:rPr lang="en-US" dirty="0"/>
              <a:t> </a:t>
            </a:r>
            <a:r>
              <a:rPr lang="en-US" dirty="0" err="1"/>
              <a:t>okuma-yazma</a:t>
            </a:r>
            <a:r>
              <a:rPr lang="en-US" dirty="0"/>
              <a:t> </a:t>
            </a:r>
            <a:r>
              <a:rPr lang="en-US" dirty="0" err="1"/>
              <a:t>yetkili</a:t>
            </a:r>
            <a:r>
              <a:rPr lang="en-US" dirty="0"/>
              <a:t> </a:t>
            </a:r>
            <a:r>
              <a:rPr lang="en-US" dirty="0" err="1"/>
              <a:t>dosya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ayırır</a:t>
            </a:r>
            <a:r>
              <a:rPr lang="en-US" dirty="0"/>
              <a:t>.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sistemindeki</a:t>
            </a:r>
            <a:r>
              <a:rPr lang="en-US" dirty="0"/>
              <a:t> </a:t>
            </a:r>
            <a:r>
              <a:rPr lang="en-US" dirty="0" err="1"/>
              <a:t>dosyalara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, 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dirty="0" err="1"/>
              <a:t>değiştirmek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ağa</a:t>
            </a:r>
            <a:r>
              <a:rPr lang="en-US" dirty="0"/>
              <a:t> </a:t>
            </a:r>
            <a:r>
              <a:rPr lang="en-US" dirty="0" err="1"/>
              <a:t>bağlanmak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arayüzünü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IP </a:t>
            </a:r>
            <a:r>
              <a:rPr lang="en-US" dirty="0" err="1"/>
              <a:t>atama</a:t>
            </a:r>
            <a:r>
              <a:rPr lang="en-US" dirty="0"/>
              <a:t>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Docker </a:t>
            </a:r>
            <a:r>
              <a:rPr lang="en-US" dirty="0" err="1"/>
              <a:t>kapsayıcıyı</a:t>
            </a:r>
            <a:r>
              <a:rPr lang="en-US" dirty="0"/>
              <a:t> </a:t>
            </a:r>
            <a:r>
              <a:rPr lang="en-US" dirty="0" err="1"/>
              <a:t>başlatır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-t </a:t>
            </a:r>
            <a:r>
              <a:rPr lang="en-US" dirty="0" err="1"/>
              <a:t>bayraklarından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</a:t>
            </a:r>
            <a:r>
              <a:rPr lang="en-US" dirty="0" err="1"/>
              <a:t>interaktif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terminale</a:t>
            </a:r>
            <a:r>
              <a:rPr lang="en-US" dirty="0"/>
              <a:t> </a:t>
            </a:r>
            <a:r>
              <a:rPr lang="en-US" dirty="0" err="1"/>
              <a:t>bağlayarak</a:t>
            </a:r>
            <a:r>
              <a:rPr lang="en-US" dirty="0"/>
              <a:t> /bin/bash”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çalıştırır</a:t>
            </a:r>
            <a:r>
              <a:rPr lang="en-US" dirty="0"/>
              <a:t>. </a:t>
            </a:r>
          </a:p>
          <a:p>
            <a:pPr lvl="1"/>
            <a:r>
              <a:rPr lang="en-US" b="1" i="1" dirty="0"/>
              <a:t>exit</a:t>
            </a:r>
            <a:r>
              <a:rPr lang="en-US" dirty="0"/>
              <a:t> </a:t>
            </a:r>
            <a:r>
              <a:rPr lang="en-US" dirty="0" err="1"/>
              <a:t>komutunu</a:t>
            </a:r>
            <a:r>
              <a:rPr lang="en-US" dirty="0"/>
              <a:t> </a:t>
            </a:r>
            <a:r>
              <a:rPr lang="en-US" dirty="0" err="1"/>
              <a:t>çalıştırırsanız</a:t>
            </a:r>
            <a:r>
              <a:rPr lang="en-US" dirty="0"/>
              <a:t> </a:t>
            </a:r>
            <a:r>
              <a:rPr lang="en-US" b="1" dirty="0"/>
              <a:t>bin/</a:t>
            </a:r>
            <a:r>
              <a:rPr lang="en-US" b="1" dirty="0" err="1"/>
              <a:t>bash</a:t>
            </a:r>
            <a:r>
              <a:rPr lang="en-US" dirty="0" err="1"/>
              <a:t>’ten</a:t>
            </a:r>
            <a:r>
              <a:rPr lang="en-US" b="1" dirty="0"/>
              <a:t> </a:t>
            </a:r>
            <a:r>
              <a:rPr lang="en-US" dirty="0" err="1"/>
              <a:t>çıkılır</a:t>
            </a:r>
            <a:r>
              <a:rPr lang="en-US" dirty="0"/>
              <a:t>. </a:t>
            </a:r>
            <a:r>
              <a:rPr lang="en-US" dirty="0" err="1"/>
              <a:t>Kapsayıcı</a:t>
            </a:r>
            <a:r>
              <a:rPr lang="en-US" dirty="0"/>
              <a:t> </a:t>
            </a:r>
            <a:r>
              <a:rPr lang="en-US" dirty="0" err="1"/>
              <a:t>durur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kaldırılmaz</a:t>
            </a:r>
            <a:r>
              <a:rPr lang="en-US" dirty="0"/>
              <a:t>.</a:t>
            </a:r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08861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1FC5-CFC0-1942-8D94-A7392585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Docker Mimarisi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84C56-C2A7-D94B-BE6A-7B515A11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Disk Sürücüleri (</a:t>
            </a:r>
            <a:r>
              <a:rPr lang="tr-TR" b="1" dirty="0" err="1"/>
              <a:t>Volumes</a:t>
            </a:r>
            <a:r>
              <a:rPr lang="tr-TR" b="1" dirty="0"/>
              <a:t>): </a:t>
            </a:r>
          </a:p>
          <a:p>
            <a:pPr lvl="1"/>
            <a:r>
              <a:rPr lang="tr-TR" dirty="0" err="1"/>
              <a:t>Docker</a:t>
            </a:r>
            <a:r>
              <a:rPr lang="tr-TR" dirty="0"/>
              <a:t> tarafından oluşturulan ve </a:t>
            </a:r>
            <a:r>
              <a:rPr lang="tr-TR" dirty="0" err="1"/>
              <a:t>Docker</a:t>
            </a:r>
            <a:r>
              <a:rPr lang="tr-TR" dirty="0"/>
              <a:t> kapsayıcıları tarafından kullanılan veriler disk sürücülerinde tutulur. </a:t>
            </a:r>
          </a:p>
          <a:p>
            <a:pPr lvl="1"/>
            <a:r>
              <a:rPr lang="tr-TR" dirty="0" err="1"/>
              <a:t>Docker</a:t>
            </a:r>
            <a:r>
              <a:rPr lang="tr-TR" dirty="0"/>
              <a:t> API ve CLI ile yönetilir. </a:t>
            </a:r>
          </a:p>
          <a:p>
            <a:pPr lvl="1"/>
            <a:r>
              <a:rPr lang="tr-TR" dirty="0"/>
              <a:t>Hem Windows hem de Linux kapsayıcılar ile çalışabilir.</a:t>
            </a:r>
          </a:p>
          <a:p>
            <a:pPr lvl="1"/>
            <a:r>
              <a:rPr lang="tr-TR" dirty="0"/>
              <a:t>Sürücünün içeriği kapsayıcı yaşam döngüsünün dışında yer alır. Dolayısıyla kapsayıcının boyutunda değişikliğe neden olmaz.</a:t>
            </a:r>
          </a:p>
          <a:p>
            <a:pPr lvl="1"/>
            <a:r>
              <a:rPr lang="en-US" dirty="0"/>
              <a:t>-v </a:t>
            </a:r>
            <a:r>
              <a:rPr lang="en-US" dirty="0" err="1"/>
              <a:t>ya</a:t>
            </a:r>
            <a:r>
              <a:rPr lang="en-US" dirty="0"/>
              <a:t> da –mount </a:t>
            </a:r>
            <a:r>
              <a:rPr lang="en-US" dirty="0" err="1"/>
              <a:t>bayraklarını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kapsayıcınızı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disk </a:t>
            </a:r>
            <a:r>
              <a:rPr lang="en-US" dirty="0" err="1"/>
              <a:t>sürücüsü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başlatabilirsiniz</a:t>
            </a:r>
            <a:r>
              <a:rPr lang="en-US" dirty="0"/>
              <a:t>.</a:t>
            </a:r>
          </a:p>
          <a:p>
            <a:r>
              <a:rPr lang="en-US" b="1" dirty="0" err="1"/>
              <a:t>Ağlar</a:t>
            </a:r>
            <a:r>
              <a:rPr lang="en-US" b="1" dirty="0"/>
              <a:t> (Networks): </a:t>
            </a:r>
          </a:p>
          <a:p>
            <a:pPr lvl="1"/>
            <a:r>
              <a:rPr lang="en-US" b="1" dirty="0"/>
              <a:t>Bridge: </a:t>
            </a:r>
            <a:r>
              <a:rPr lang="en-US" dirty="0" err="1"/>
              <a:t>Kapsayıcı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varsayılan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sürücüsüdür</a:t>
            </a:r>
            <a:r>
              <a:rPr lang="en-US" dirty="0"/>
              <a:t>. </a:t>
            </a:r>
            <a:r>
              <a:rPr lang="en-US" dirty="0" err="1"/>
              <a:t>Uygulamanız</a:t>
            </a:r>
            <a:r>
              <a:rPr lang="en-US" dirty="0"/>
              <a:t> </a:t>
            </a:r>
            <a:r>
              <a:rPr lang="en-US" dirty="0" err="1"/>
              <a:t>kapsayıcı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çalışıyorsa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fazlayıcı</a:t>
            </a:r>
            <a:r>
              <a:rPr lang="en-US" dirty="0"/>
              <a:t> </a:t>
            </a:r>
            <a:r>
              <a:rPr lang="en-US" dirty="0" err="1"/>
              <a:t>kapsayıcıda</a:t>
            </a:r>
            <a:r>
              <a:rPr lang="en-US" dirty="0"/>
              <a:t> </a:t>
            </a:r>
            <a:r>
              <a:rPr lang="en-US" dirty="0" err="1"/>
              <a:t>çalışıp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docker </a:t>
            </a:r>
            <a:r>
              <a:rPr lang="en-US" dirty="0" err="1"/>
              <a:t>sunucusu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haberleşecekse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seçeneği</a:t>
            </a:r>
            <a:r>
              <a:rPr lang="en-US" dirty="0"/>
              <a:t> </a:t>
            </a:r>
            <a:r>
              <a:rPr lang="en-US" dirty="0" err="1"/>
              <a:t>kullanabilirsiniz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Host: </a:t>
            </a:r>
            <a:r>
              <a:rPr lang="en-US" dirty="0"/>
              <a:t>Docker </a:t>
            </a:r>
            <a:r>
              <a:rPr lang="en-US" dirty="0" err="1"/>
              <a:t>sunucusu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docker </a:t>
            </a:r>
            <a:r>
              <a:rPr lang="en-US" dirty="0" err="1"/>
              <a:t>istemcisi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izolasyonunu</a:t>
            </a:r>
            <a:r>
              <a:rPr lang="en-US" dirty="0"/>
              <a:t> </a:t>
            </a:r>
            <a:r>
              <a:rPr lang="en-US" dirty="0" err="1"/>
              <a:t>kaldırır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Overlay: </a:t>
            </a:r>
            <a:r>
              <a:rPr lang="en-US" dirty="0" err="1"/>
              <a:t>Kapsayıcılar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sunucularda</a:t>
            </a:r>
            <a:r>
              <a:rPr lang="en-US" dirty="0"/>
              <a:t> </a:t>
            </a:r>
            <a:r>
              <a:rPr lang="en-US" dirty="0" err="1"/>
              <a:t>çalışıyorsa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seçenek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None: </a:t>
            </a:r>
            <a:r>
              <a:rPr lang="en-US" dirty="0" err="1"/>
              <a:t>Ağ</a:t>
            </a:r>
            <a:r>
              <a:rPr lang="en-US" dirty="0"/>
              <a:t> yok.</a:t>
            </a:r>
          </a:p>
          <a:p>
            <a:pPr lvl="1"/>
            <a:r>
              <a:rPr lang="en-US" b="1" dirty="0" err="1"/>
              <a:t>macvlan</a:t>
            </a:r>
            <a:r>
              <a:rPr lang="en-US" b="1" dirty="0"/>
              <a:t>: </a:t>
            </a:r>
            <a:r>
              <a:rPr lang="en-US" dirty="0" err="1"/>
              <a:t>Kapsayıcıların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aygıtmış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MAC </a:t>
            </a:r>
            <a:r>
              <a:rPr lang="en-US" dirty="0" err="1"/>
              <a:t>adresi</a:t>
            </a:r>
            <a:r>
              <a:rPr lang="en-US" dirty="0"/>
              <a:t> </a:t>
            </a:r>
            <a:r>
              <a:rPr lang="en-US" dirty="0" err="1"/>
              <a:t>almalarını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89630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7195-1E40-314C-AA61-BD41420B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915400" cy="553998"/>
          </a:xfrm>
        </p:spPr>
        <p:txBody>
          <a:bodyPr/>
          <a:lstStyle/>
          <a:p>
            <a:r>
              <a:rPr lang="en-TR" dirty="0"/>
              <a:t>Docker Komutları-Kapsayıcı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D793-3240-4748-8E9D-4613572F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TR" b="1" dirty="0"/>
              <a:t>ocker create [IMAJ]: </a:t>
            </a:r>
            <a:r>
              <a:rPr lang="en-TR" dirty="0"/>
              <a:t>Kapsayıcıyı başlatmadan bir kapsayıcı oluşturur.</a:t>
            </a:r>
          </a:p>
          <a:p>
            <a:r>
              <a:rPr lang="en-US" b="1" dirty="0"/>
              <a:t>d</a:t>
            </a:r>
            <a:r>
              <a:rPr lang="en-TR" b="1" dirty="0"/>
              <a:t>ocker rename [ESKI_AD] [YENI_AD]: </a:t>
            </a:r>
            <a:r>
              <a:rPr lang="en-TR" dirty="0"/>
              <a:t>Kapsayıcıyı yeniden adlandırır.</a:t>
            </a:r>
          </a:p>
          <a:p>
            <a:r>
              <a:rPr lang="en-US" b="1" dirty="0"/>
              <a:t>d</a:t>
            </a:r>
            <a:r>
              <a:rPr lang="en-TR" b="1" dirty="0"/>
              <a:t>ocker run [IMAJ]: </a:t>
            </a:r>
            <a:r>
              <a:rPr lang="en-TR" dirty="0"/>
              <a:t>Kapsayıcı oluşturur ve başlatır.</a:t>
            </a:r>
          </a:p>
          <a:p>
            <a:r>
              <a:rPr lang="en-US" b="1" dirty="0"/>
              <a:t>d</a:t>
            </a:r>
            <a:r>
              <a:rPr lang="en-TR" b="1" dirty="0"/>
              <a:t>ocker run --rm [IMAJ]: </a:t>
            </a:r>
            <a:r>
              <a:rPr lang="en-TR" dirty="0"/>
              <a:t>Kapsayıcı oluşturur ve başlatır ve kapsayıcı durduktan sonra kaldırır.</a:t>
            </a:r>
          </a:p>
          <a:p>
            <a:r>
              <a:rPr lang="en-US" b="1" dirty="0"/>
              <a:t>d</a:t>
            </a:r>
            <a:r>
              <a:rPr lang="en-TR" b="1" dirty="0"/>
              <a:t>ocker run -td [IMAJ]: </a:t>
            </a:r>
            <a:r>
              <a:rPr lang="en-TR" dirty="0"/>
              <a:t>Kapsayıcıyı oluşturur, çalıştırır ve sürekli çalışmasını sağlar.</a:t>
            </a:r>
          </a:p>
          <a:p>
            <a:r>
              <a:rPr lang="en-US" b="1" dirty="0"/>
              <a:t>d</a:t>
            </a:r>
            <a:r>
              <a:rPr lang="en-TR" b="1" dirty="0"/>
              <a:t>ocker run -it [IMAJ]: </a:t>
            </a:r>
            <a:r>
              <a:rPr lang="en-TR" dirty="0"/>
              <a:t>Kapsayıcıyı oluşturur, çalıştırır ve içinde komut çalıştırmayı sağlar.</a:t>
            </a:r>
          </a:p>
          <a:p>
            <a:r>
              <a:rPr lang="en-US" b="1" dirty="0"/>
              <a:t>docker run -it --rm </a:t>
            </a:r>
            <a:r>
              <a:rPr lang="en-TR" b="1" dirty="0"/>
              <a:t>[IMAJ]: </a:t>
            </a:r>
            <a:r>
              <a:rPr lang="en-TR" dirty="0"/>
              <a:t>Kapsayıcıyı oluşturur, çalıştırır ve içinde komut çalıştırmayı sağlar, çıkınca kapsayıcıyı kaldırır.</a:t>
            </a:r>
          </a:p>
          <a:p>
            <a:r>
              <a:rPr lang="en-US" b="1" dirty="0"/>
              <a:t>docker rm [KAPSAYICI]: </a:t>
            </a:r>
            <a:r>
              <a:rPr lang="en-US" dirty="0" err="1"/>
              <a:t>Kapsayıcıyı</a:t>
            </a:r>
            <a:r>
              <a:rPr lang="en-US" dirty="0"/>
              <a:t> </a:t>
            </a:r>
            <a:r>
              <a:rPr lang="en-US" dirty="0" err="1"/>
              <a:t>kaldırır</a:t>
            </a:r>
            <a:r>
              <a:rPr lang="en-US" dirty="0"/>
              <a:t>.</a:t>
            </a:r>
          </a:p>
          <a:p>
            <a:r>
              <a:rPr lang="en-US" b="1" dirty="0"/>
              <a:t>docker update [KAPSAYICI]: </a:t>
            </a:r>
            <a:r>
              <a:rPr lang="en-US" dirty="0" err="1"/>
              <a:t>Kapsayıcıyı</a:t>
            </a:r>
            <a:r>
              <a:rPr lang="en-US" dirty="0"/>
              <a:t> </a:t>
            </a:r>
            <a:r>
              <a:rPr lang="en-US" dirty="0" err="1"/>
              <a:t>günceller</a:t>
            </a:r>
            <a:r>
              <a:rPr lang="en-US" dirty="0"/>
              <a:t>.</a:t>
            </a:r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45844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7195-1E40-314C-AA61-BD41420B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915400" cy="553998"/>
          </a:xfrm>
        </p:spPr>
        <p:txBody>
          <a:bodyPr/>
          <a:lstStyle/>
          <a:p>
            <a:r>
              <a:rPr lang="en-TR" dirty="0"/>
              <a:t>Docker Komutları-İmaj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D793-3240-4748-8E9D-4613572F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TR" b="1" dirty="0"/>
              <a:t>ocker build [URL]: </a:t>
            </a:r>
            <a:r>
              <a:rPr lang="en-TR" dirty="0"/>
              <a:t>Dockerfile dosyasından bir imaj oluşturur.</a:t>
            </a:r>
          </a:p>
          <a:p>
            <a:r>
              <a:rPr lang="en-US" b="1" dirty="0"/>
              <a:t>d</a:t>
            </a:r>
            <a:r>
              <a:rPr lang="en-TR" b="1" dirty="0"/>
              <a:t>ocker build –t [URL]: </a:t>
            </a:r>
            <a:r>
              <a:rPr lang="en-TR" dirty="0"/>
              <a:t>Dockerfile dosyasından bir imaj oluşturur ve etiketler.</a:t>
            </a:r>
          </a:p>
          <a:p>
            <a:r>
              <a:rPr lang="en-US" b="1" dirty="0"/>
              <a:t>d</a:t>
            </a:r>
            <a:r>
              <a:rPr lang="en-TR" b="1" dirty="0"/>
              <a:t>ocker pull [IMAJ]: </a:t>
            </a:r>
            <a:r>
              <a:rPr lang="en-TR" dirty="0"/>
              <a:t>Kayıtçıdan (imaj deposundan) imaj çek.</a:t>
            </a:r>
          </a:p>
          <a:p>
            <a:r>
              <a:rPr lang="en-US" b="1" dirty="0"/>
              <a:t>d</a:t>
            </a:r>
            <a:r>
              <a:rPr lang="en-TR" b="1" dirty="0"/>
              <a:t>ocker push [IMAJ]: </a:t>
            </a:r>
            <a:r>
              <a:rPr lang="en-TR" dirty="0"/>
              <a:t>Kayıtçıya imaj gönder.</a:t>
            </a:r>
          </a:p>
          <a:p>
            <a:r>
              <a:rPr lang="en-US" b="1" dirty="0"/>
              <a:t>d</a:t>
            </a:r>
            <a:r>
              <a:rPr lang="en-TR" b="1" dirty="0"/>
              <a:t>ocker import [URL/FILE]: </a:t>
            </a:r>
            <a:r>
              <a:rPr lang="en-TR" dirty="0"/>
              <a:t>tarball dosyasından imaj oluştur.</a:t>
            </a:r>
          </a:p>
          <a:p>
            <a:r>
              <a:rPr lang="en-US" b="1" dirty="0"/>
              <a:t>d</a:t>
            </a:r>
            <a:r>
              <a:rPr lang="en-TR" b="1" dirty="0"/>
              <a:t>ocker commit [CONTAINER] [YENI_IMAJ_ADI]: </a:t>
            </a:r>
            <a:r>
              <a:rPr lang="en-TR" dirty="0"/>
              <a:t>Bir kapsayıcıdan imaj oluştur.</a:t>
            </a:r>
          </a:p>
          <a:p>
            <a:r>
              <a:rPr lang="en-US" b="1" dirty="0"/>
              <a:t>d</a:t>
            </a:r>
            <a:r>
              <a:rPr lang="en-TR" b="1" dirty="0"/>
              <a:t>ocker rmi [IMAJ]: </a:t>
            </a:r>
            <a:r>
              <a:rPr lang="en-TR" dirty="0"/>
              <a:t>İmajı kaldır.</a:t>
            </a:r>
          </a:p>
          <a:p>
            <a:r>
              <a:rPr lang="en-US" b="1" dirty="0"/>
              <a:t>d</a:t>
            </a:r>
            <a:r>
              <a:rPr lang="en-TR" b="1" dirty="0"/>
              <a:t>ocker load [TAR_DOSYASI/STDIN_DOSYASI]: </a:t>
            </a:r>
            <a:r>
              <a:rPr lang="en-TR" dirty="0"/>
              <a:t>tar arşivinden ya da el ile girilen dosya yolundan imaj yükle.</a:t>
            </a:r>
          </a:p>
          <a:p>
            <a:r>
              <a:rPr lang="en-US" b="1" dirty="0"/>
              <a:t>d</a:t>
            </a:r>
            <a:r>
              <a:rPr lang="en-TR" b="1" dirty="0"/>
              <a:t>ocker save [IMAJ] &gt; [TAR_DOSYASI]: </a:t>
            </a:r>
            <a:r>
              <a:rPr lang="en-TR" dirty="0"/>
              <a:t>Bir imaj dosyasını tüm katmanları, etiketleri, versiyonları ile tar arşiv dosyası olarak kaydet.</a:t>
            </a:r>
          </a:p>
          <a:p>
            <a:endParaRPr lang="en-TR" dirty="0"/>
          </a:p>
          <a:p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531118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7195-1E40-314C-AA61-BD41420B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915400" cy="553998"/>
          </a:xfrm>
        </p:spPr>
        <p:txBody>
          <a:bodyPr/>
          <a:lstStyle/>
          <a:p>
            <a:r>
              <a:rPr lang="en-TR" dirty="0"/>
              <a:t>Docker Komutları-Ağ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D793-3240-4748-8E9D-4613572F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TR" b="1" dirty="0"/>
              <a:t>ocker network ls: </a:t>
            </a:r>
            <a:r>
              <a:rPr lang="en-TR" dirty="0"/>
              <a:t>A</a:t>
            </a:r>
            <a:r>
              <a:rPr lang="en-US" dirty="0" err="1"/>
              <a:t>ğ</a:t>
            </a:r>
            <a:r>
              <a:rPr lang="en-TR" dirty="0"/>
              <a:t>ları listele.</a:t>
            </a:r>
          </a:p>
          <a:p>
            <a:r>
              <a:rPr lang="en-US" b="1" dirty="0"/>
              <a:t>d</a:t>
            </a:r>
            <a:r>
              <a:rPr lang="en-TR" b="1" dirty="0"/>
              <a:t>ocker network rm [AĞ]: </a:t>
            </a:r>
            <a:r>
              <a:rPr lang="en-TR" dirty="0"/>
              <a:t>Bir ya da dağa fazla ağı kaldır.</a:t>
            </a:r>
          </a:p>
          <a:p>
            <a:r>
              <a:rPr lang="en-US" b="1" dirty="0"/>
              <a:t>d</a:t>
            </a:r>
            <a:r>
              <a:rPr lang="en-TR" b="1" dirty="0"/>
              <a:t>ocker network inspect [AĞ]: </a:t>
            </a:r>
            <a:r>
              <a:rPr lang="en-TR" dirty="0"/>
              <a:t>Bir ya da dağa fazla ağ ile ilgili bilgileri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network connect [AĞ] [KAPSAYICI]: </a:t>
            </a:r>
            <a:r>
              <a:rPr lang="en-TR" dirty="0"/>
              <a:t>Kapsayıcıyı belirtilen ağa bağla.</a:t>
            </a:r>
          </a:p>
          <a:p>
            <a:r>
              <a:rPr lang="en-US" b="1" dirty="0"/>
              <a:t>d</a:t>
            </a:r>
            <a:r>
              <a:rPr lang="en-TR" b="1" dirty="0"/>
              <a:t>ocker network disconnect [AĞ] [KAPSAYICI]:</a:t>
            </a:r>
            <a:r>
              <a:rPr lang="en-TR" dirty="0"/>
              <a:t> Kapsayıcıyı belirtilen ağdan çıkar. 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861024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7195-1E40-314C-AA61-BD41420B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915400" cy="553998"/>
          </a:xfrm>
        </p:spPr>
        <p:txBody>
          <a:bodyPr/>
          <a:lstStyle/>
          <a:p>
            <a:r>
              <a:rPr lang="en-TR" dirty="0"/>
              <a:t>Docker Komutları-Başlatma, Durdurma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D793-3240-4748-8E9D-4613572F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TR" b="1" dirty="0"/>
              <a:t>ocker start [KAPSAYICI]: </a:t>
            </a:r>
            <a:r>
              <a:rPr lang="en-TR" dirty="0"/>
              <a:t>Kapsayıcıyı başlat.</a:t>
            </a:r>
          </a:p>
          <a:p>
            <a:r>
              <a:rPr lang="en-US" b="1" dirty="0"/>
              <a:t>d</a:t>
            </a:r>
            <a:r>
              <a:rPr lang="en-TR" b="1" dirty="0"/>
              <a:t>ocker stop [KAPSAYICI]: </a:t>
            </a:r>
            <a:r>
              <a:rPr lang="en-TR" dirty="0"/>
              <a:t>Kapsayıcıyı durdur.</a:t>
            </a:r>
          </a:p>
          <a:p>
            <a:r>
              <a:rPr lang="en-US" b="1" dirty="0"/>
              <a:t>d</a:t>
            </a:r>
            <a:r>
              <a:rPr lang="en-TR" b="1" dirty="0"/>
              <a:t>ocker restart [KAPSAYICI]: </a:t>
            </a:r>
            <a:r>
              <a:rPr lang="en-TR" dirty="0"/>
              <a:t>Kapsayıcıyı durdur ve yeniden başlat.</a:t>
            </a:r>
          </a:p>
          <a:p>
            <a:r>
              <a:rPr lang="en-US" b="1" dirty="0"/>
              <a:t>d</a:t>
            </a:r>
            <a:r>
              <a:rPr lang="en-TR" b="1" dirty="0"/>
              <a:t>ocker pause [KAPSAYICI]: </a:t>
            </a:r>
            <a:r>
              <a:rPr lang="en-TR" dirty="0"/>
              <a:t>Çalışan kapsayıcıdaki işlemleri duraklat.</a:t>
            </a:r>
          </a:p>
          <a:p>
            <a:r>
              <a:rPr lang="en-US" b="1" dirty="0"/>
              <a:t>d</a:t>
            </a:r>
            <a:r>
              <a:rPr lang="en-TR" b="1" dirty="0"/>
              <a:t>ocker unpause [KAPSAYICI]: </a:t>
            </a:r>
            <a:r>
              <a:rPr lang="en-TR" dirty="0"/>
              <a:t>Çalışan kapsayıcıdaki işlemleri çalıştırmaya devam et.</a:t>
            </a:r>
          </a:p>
          <a:p>
            <a:r>
              <a:rPr lang="en-US" b="1" dirty="0"/>
              <a:t>d</a:t>
            </a:r>
            <a:r>
              <a:rPr lang="en-TR" b="1" dirty="0"/>
              <a:t>ocker wait [KAPSAYICI]: </a:t>
            </a:r>
            <a:r>
              <a:rPr lang="en-TR" dirty="0"/>
              <a:t>Diğer kapsayıcılar durana kadar kapsayıcıyı beklet.</a:t>
            </a:r>
          </a:p>
          <a:p>
            <a:r>
              <a:rPr lang="en-US" b="1" dirty="0"/>
              <a:t>d</a:t>
            </a:r>
            <a:r>
              <a:rPr lang="en-TR" b="1" dirty="0"/>
              <a:t>ocker kill [KAPSAYICI]: </a:t>
            </a:r>
            <a:r>
              <a:rPr lang="en-TR" dirty="0"/>
              <a:t>Çalışan bir kapsayıcıyı SIGKILL sinyali göndererek kapat.</a:t>
            </a:r>
          </a:p>
          <a:p>
            <a:r>
              <a:rPr lang="en-US" b="1" dirty="0"/>
              <a:t>d</a:t>
            </a:r>
            <a:r>
              <a:rPr lang="en-TR" b="1" dirty="0"/>
              <a:t>ocker attach [KAPSAYICI]: </a:t>
            </a:r>
            <a:r>
              <a:rPr lang="en-TR" dirty="0"/>
              <a:t>Çalışan bir kapsayıcıya standart giriş, çıkış ve hata akışlarını bağla.</a:t>
            </a:r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11505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7195-1E40-314C-AA61-BD41420B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915400" cy="553998"/>
          </a:xfrm>
        </p:spPr>
        <p:txBody>
          <a:bodyPr/>
          <a:lstStyle/>
          <a:p>
            <a:r>
              <a:rPr lang="en-TR" dirty="0"/>
              <a:t>Docker Komutları-Bilgi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D793-3240-4748-8E9D-4613572F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</a:t>
            </a:r>
            <a:r>
              <a:rPr lang="en-TR" b="1" dirty="0"/>
              <a:t>ocker ps: </a:t>
            </a:r>
            <a:r>
              <a:rPr lang="en-TR" dirty="0"/>
              <a:t>Çalışan kapsayıcıları göster.</a:t>
            </a:r>
          </a:p>
          <a:p>
            <a:r>
              <a:rPr lang="en-US" b="1" dirty="0"/>
              <a:t>d</a:t>
            </a:r>
            <a:r>
              <a:rPr lang="en-TR" b="1" dirty="0"/>
              <a:t>ocker ps –a: </a:t>
            </a:r>
            <a:r>
              <a:rPr lang="en-TR" dirty="0"/>
              <a:t>Çalışan ve durmuş kapsayıcıları göster.</a:t>
            </a:r>
          </a:p>
          <a:p>
            <a:r>
              <a:rPr lang="en-US" b="1" dirty="0"/>
              <a:t>d</a:t>
            </a:r>
            <a:r>
              <a:rPr lang="en-TR" b="1" dirty="0"/>
              <a:t>ocker logs [KAPSAYICI]: </a:t>
            </a:r>
            <a:r>
              <a:rPr lang="en-TR" dirty="0"/>
              <a:t>Çalışan kapsayıcının loglarını göster.</a:t>
            </a:r>
          </a:p>
          <a:p>
            <a:r>
              <a:rPr lang="en-US" b="1" dirty="0"/>
              <a:t>d</a:t>
            </a:r>
            <a:r>
              <a:rPr lang="en-TR" b="1" dirty="0"/>
              <a:t>ocker inspect [NESNE_ADI/ID]: </a:t>
            </a:r>
            <a:r>
              <a:rPr lang="en-TR" dirty="0"/>
              <a:t>Bir nesne hakkındaki alt düzey bilgileri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events [KAPSAYICI]: </a:t>
            </a:r>
            <a:r>
              <a:rPr lang="en-TR" dirty="0"/>
              <a:t>Kapsayıcıdaki gerçek zamanlı olayları göster.</a:t>
            </a:r>
          </a:p>
          <a:p>
            <a:r>
              <a:rPr lang="en-US" b="1" dirty="0"/>
              <a:t>d</a:t>
            </a:r>
            <a:r>
              <a:rPr lang="en-TR" b="1" dirty="0"/>
              <a:t>ocker port [KAPSAYICI]: </a:t>
            </a:r>
            <a:r>
              <a:rPr lang="en-TR" dirty="0"/>
              <a:t>Kapsayıcıdaki port bilgilerini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top [KAPSAYICI]: </a:t>
            </a:r>
            <a:r>
              <a:rPr lang="en-TR" dirty="0"/>
              <a:t>Kapsayıcıdaki çalışan işlemleri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stats [KAPSAYICI]: </a:t>
            </a:r>
            <a:r>
              <a:rPr lang="en-TR" dirty="0"/>
              <a:t>Kapsayıcının anlık kaynak kullanım bilgilerini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diff [KAPSAYICI]: </a:t>
            </a:r>
            <a:r>
              <a:rPr lang="en-TR" dirty="0"/>
              <a:t>Dosya ya da dosya sistemindeki değişiklikleri göster.</a:t>
            </a:r>
          </a:p>
          <a:p>
            <a:r>
              <a:rPr lang="en-US" b="1" dirty="0"/>
              <a:t>d</a:t>
            </a:r>
            <a:r>
              <a:rPr lang="en-TR" b="1" dirty="0"/>
              <a:t>ocker images ls: </a:t>
            </a:r>
            <a:r>
              <a:rPr lang="en-TR" dirty="0"/>
              <a:t>Yerel olarak depolanmış imajları göster.</a:t>
            </a:r>
          </a:p>
          <a:p>
            <a:r>
              <a:rPr lang="en-US" b="1" dirty="0"/>
              <a:t>d</a:t>
            </a:r>
            <a:r>
              <a:rPr lang="en-TR" b="1" dirty="0"/>
              <a:t>ocker history [IMAJ]: </a:t>
            </a:r>
            <a:r>
              <a:rPr lang="en-TR" dirty="0"/>
              <a:t>İmajın tarihçesini göster.</a:t>
            </a:r>
          </a:p>
        </p:txBody>
      </p:sp>
    </p:spTree>
    <p:extLst>
      <p:ext uri="{BB962C8B-B14F-4D97-AF65-F5344CB8AC3E}">
        <p14:creationId xmlns:p14="http://schemas.microsoft.com/office/powerpoint/2010/main" val="242004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1EF-DAEE-244B-8D1C-019BFBF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839200" cy="1015663"/>
          </a:xfrm>
        </p:spPr>
        <p:txBody>
          <a:bodyPr/>
          <a:lstStyle/>
          <a:p>
            <a:r>
              <a:rPr lang="en-TR" dirty="0"/>
              <a:t>Docker-.NET Core Uygulamasını Kapsülleme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12B6-EC99-234F-8F02-E3AE7142B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b="1" dirty="0"/>
              <a:t>Gereksinimler: </a:t>
            </a:r>
          </a:p>
          <a:p>
            <a:pPr lvl="1"/>
            <a:r>
              <a:rPr lang="en-TR" sz="1400" dirty="0"/>
              <a:t>İşletim sisteminize uygun </a:t>
            </a:r>
            <a:r>
              <a:rPr lang="en-TR" sz="1400" dirty="0">
                <a:hlinkClick r:id="rId3"/>
              </a:rPr>
              <a:t>.Net Core Çatısı </a:t>
            </a:r>
            <a:endParaRPr lang="en-TR" sz="1400" dirty="0"/>
          </a:p>
          <a:p>
            <a:pPr lvl="1"/>
            <a:r>
              <a:rPr lang="en-TR" sz="1400" dirty="0"/>
              <a:t>Geliştirdiğiniz .Net Core uygulaması. Örnek bir uygulamayı </a:t>
            </a:r>
            <a:r>
              <a:rPr lang="en-TR" sz="1400" dirty="0">
                <a:hlinkClick r:id="rId4"/>
              </a:rPr>
              <a:t>bu linkten</a:t>
            </a:r>
            <a:r>
              <a:rPr lang="en-TR" sz="1400" dirty="0"/>
              <a:t> indirebilirsiniz.</a:t>
            </a:r>
          </a:p>
          <a:p>
            <a:r>
              <a:rPr lang="en-TR" b="1" dirty="0"/>
              <a:t>Adımlar:</a:t>
            </a:r>
          </a:p>
          <a:p>
            <a:pPr lvl="1"/>
            <a:r>
              <a:rPr lang="en-TR" sz="1400" b="1" dirty="0"/>
              <a:t>1: </a:t>
            </a:r>
            <a:r>
              <a:rPr lang="en-TR" sz="1400" dirty="0"/>
              <a:t>Proje klasörü içinde </a:t>
            </a:r>
            <a:r>
              <a:rPr lang="en-TR" sz="1400" b="1" dirty="0"/>
              <a:t>Dockerfile </a:t>
            </a:r>
            <a:r>
              <a:rPr lang="en-TR" sz="1400" dirty="0"/>
              <a:t>isminde uzantısız bir dosya oluşturun.</a:t>
            </a:r>
          </a:p>
          <a:p>
            <a:pPr lvl="1"/>
            <a:r>
              <a:rPr lang="en-TR" sz="1400" b="1" dirty="0"/>
              <a:t>2: </a:t>
            </a:r>
            <a:r>
              <a:rPr lang="en-TR" sz="1400" dirty="0"/>
              <a:t>Bir sonraki sunumda yer alan komutları Dockerfile dosyasının içine yazın. Dockerfile uygulama adınızın </a:t>
            </a:r>
            <a:r>
              <a:rPr lang="en-TR" sz="1400" b="1" dirty="0"/>
              <a:t>dotnetornek</a:t>
            </a:r>
            <a:r>
              <a:rPr lang="en-TR" sz="1400" dirty="0"/>
              <a:t> olduğunu varsaymaktadır. Dockerfile dosyasında dll ismini uygulama isminizle değiştirin.</a:t>
            </a:r>
          </a:p>
          <a:p>
            <a:pPr lvl="1"/>
            <a:r>
              <a:rPr lang="en-TR" sz="1400" b="1" dirty="0"/>
              <a:t>3: </a:t>
            </a:r>
            <a:r>
              <a:rPr lang="en-TR" sz="1400" dirty="0"/>
              <a:t>Oluşturulan içeriğin mümkün olduğunca küçük boyutta olmasını sağlamak için uygulama klasöründe .dockerignore uzantılı, isimsiz bir dosya oluşturun ve içine </a:t>
            </a:r>
            <a:r>
              <a:rPr lang="en-US" sz="1400" b="1" dirty="0"/>
              <a:t>bin\ obj\ </a:t>
            </a:r>
            <a:r>
              <a:rPr lang="en-US" sz="1400" dirty="0" err="1"/>
              <a:t>komutlarını</a:t>
            </a:r>
            <a:r>
              <a:rPr lang="en-US" sz="1400" dirty="0"/>
              <a:t> </a:t>
            </a:r>
            <a:r>
              <a:rPr lang="en-US" sz="1400" dirty="0" err="1"/>
              <a:t>ayrı</a:t>
            </a:r>
            <a:r>
              <a:rPr lang="en-US" sz="1400" dirty="0"/>
              <a:t> </a:t>
            </a:r>
            <a:r>
              <a:rPr lang="en-US" sz="1400" dirty="0" err="1"/>
              <a:t>ayrı</a:t>
            </a:r>
            <a:r>
              <a:rPr lang="en-US" sz="1400" dirty="0"/>
              <a:t> </a:t>
            </a:r>
            <a:r>
              <a:rPr lang="en-US" sz="1400" dirty="0" err="1"/>
              <a:t>satırlara</a:t>
            </a:r>
            <a:r>
              <a:rPr lang="en-US" sz="1400" dirty="0"/>
              <a:t> </a:t>
            </a:r>
            <a:r>
              <a:rPr lang="en-US" sz="1400" dirty="0" err="1"/>
              <a:t>ekleyin</a:t>
            </a:r>
            <a:r>
              <a:rPr lang="en-US" sz="1400" dirty="0"/>
              <a:t>. </a:t>
            </a:r>
            <a:r>
              <a:rPr lang="en-US" sz="1400" dirty="0" err="1"/>
              <a:t>Amaç</a:t>
            </a:r>
            <a:r>
              <a:rPr lang="en-US" sz="1400" dirty="0"/>
              <a:t> </a:t>
            </a:r>
            <a:r>
              <a:rPr lang="en-US" sz="1400" dirty="0" err="1"/>
              <a:t>bu</a:t>
            </a:r>
            <a:r>
              <a:rPr lang="en-US" sz="1400" dirty="0"/>
              <a:t> </a:t>
            </a:r>
            <a:r>
              <a:rPr lang="en-US" sz="1400" dirty="0" err="1"/>
              <a:t>klasörleri</a:t>
            </a:r>
            <a:r>
              <a:rPr lang="en-US" sz="1400" dirty="0"/>
              <a:t> </a:t>
            </a:r>
            <a:r>
              <a:rPr lang="en-US" sz="1400" dirty="0" err="1"/>
              <a:t>eklememek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4: </a:t>
            </a:r>
            <a:r>
              <a:rPr lang="en-US" sz="1400" dirty="0" err="1"/>
              <a:t>Komut</a:t>
            </a:r>
            <a:r>
              <a:rPr lang="en-US" sz="1400" dirty="0"/>
              <a:t> </a:t>
            </a:r>
            <a:r>
              <a:rPr lang="en-US" sz="1400" dirty="0" err="1"/>
              <a:t>satırında</a:t>
            </a:r>
            <a:r>
              <a:rPr lang="en-US" sz="1400" dirty="0"/>
              <a:t> </a:t>
            </a:r>
            <a:r>
              <a:rPr lang="en-US" sz="1400" dirty="0" err="1"/>
              <a:t>sırasıyla</a:t>
            </a:r>
            <a:r>
              <a:rPr lang="en-US" sz="1400" dirty="0"/>
              <a:t> </a:t>
            </a:r>
            <a:r>
              <a:rPr lang="en-US" sz="1400" dirty="0" err="1"/>
              <a:t>aşağıdaki</a:t>
            </a:r>
            <a:r>
              <a:rPr lang="en-US" sz="1400" dirty="0"/>
              <a:t> </a:t>
            </a:r>
            <a:r>
              <a:rPr lang="en-US" sz="1400" dirty="0" err="1"/>
              <a:t>komutları</a:t>
            </a:r>
            <a:r>
              <a:rPr lang="en-US" sz="1400" dirty="0"/>
              <a:t> </a:t>
            </a:r>
            <a:r>
              <a:rPr lang="en-US" sz="1400" dirty="0" err="1"/>
              <a:t>çalıştırarak</a:t>
            </a:r>
            <a:r>
              <a:rPr lang="en-US" sz="1400" dirty="0"/>
              <a:t> docker </a:t>
            </a:r>
            <a:r>
              <a:rPr lang="en-US" sz="1400" dirty="0" err="1"/>
              <a:t>imajınızı</a:t>
            </a:r>
            <a:r>
              <a:rPr lang="en-US" sz="1400" dirty="0"/>
              <a:t> </a:t>
            </a:r>
            <a:r>
              <a:rPr lang="en-US" sz="1400" dirty="0" err="1"/>
              <a:t>oluşturun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çalıştırın</a:t>
            </a:r>
            <a:r>
              <a:rPr lang="en-US" sz="1400" dirty="0"/>
              <a:t>:</a:t>
            </a:r>
          </a:p>
          <a:p>
            <a:pPr lvl="2"/>
            <a:r>
              <a:rPr lang="en-US" b="1" dirty="0"/>
              <a:t>docker build -t </a:t>
            </a:r>
            <a:r>
              <a:rPr lang="en-US" b="1" dirty="0" err="1"/>
              <a:t>dotnetornek</a:t>
            </a:r>
            <a:r>
              <a:rPr lang="en-US" b="1" dirty="0"/>
              <a:t> .</a:t>
            </a:r>
          </a:p>
          <a:p>
            <a:pPr lvl="2"/>
            <a:r>
              <a:rPr lang="en-US" b="1" dirty="0"/>
              <a:t>docker run -d -p 8080:80 --name </a:t>
            </a:r>
            <a:r>
              <a:rPr lang="en-US" b="1" dirty="0" err="1"/>
              <a:t>ornekkapsayici</a:t>
            </a:r>
            <a:r>
              <a:rPr lang="en-US" b="1" dirty="0"/>
              <a:t> </a:t>
            </a:r>
            <a:r>
              <a:rPr lang="en-US" b="1" dirty="0" err="1"/>
              <a:t>dotnetornek</a:t>
            </a:r>
            <a:endParaRPr lang="en-US" b="1" dirty="0"/>
          </a:p>
          <a:p>
            <a:pPr lvl="1"/>
            <a:r>
              <a:rPr lang="en-US" b="1" dirty="0"/>
              <a:t>5: </a:t>
            </a:r>
            <a:r>
              <a:rPr lang="en-US" sz="1400" dirty="0" err="1"/>
              <a:t>Tarayıcınızdan</a:t>
            </a:r>
            <a:r>
              <a:rPr lang="en-US" sz="1400" dirty="0"/>
              <a:t> http://localhost:8080 </a:t>
            </a:r>
            <a:r>
              <a:rPr lang="en-US" sz="1400" dirty="0" err="1"/>
              <a:t>adresine</a:t>
            </a:r>
            <a:r>
              <a:rPr lang="en-US" sz="1400" dirty="0"/>
              <a:t> </a:t>
            </a:r>
            <a:r>
              <a:rPr lang="en-US" sz="1400" dirty="0" err="1"/>
              <a:t>gidin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çalışan</a:t>
            </a:r>
            <a:r>
              <a:rPr lang="en-US" sz="1400" dirty="0"/>
              <a:t> </a:t>
            </a:r>
            <a:r>
              <a:rPr lang="en-US" sz="1400" dirty="0" err="1"/>
              <a:t>uygulamayı</a:t>
            </a:r>
            <a:r>
              <a:rPr lang="en-US" sz="1400" dirty="0"/>
              <a:t> </a:t>
            </a:r>
            <a:r>
              <a:rPr lang="en-US" sz="1400" dirty="0" err="1"/>
              <a:t>görün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6: </a:t>
            </a:r>
            <a:r>
              <a:rPr lang="en-US" sz="1400" dirty="0" err="1"/>
              <a:t>Oluşturduğunuz</a:t>
            </a:r>
            <a:r>
              <a:rPr lang="en-US" sz="1400" dirty="0"/>
              <a:t> </a:t>
            </a:r>
            <a:r>
              <a:rPr lang="en-US" sz="1400" dirty="0" err="1"/>
              <a:t>imajı</a:t>
            </a:r>
            <a:r>
              <a:rPr lang="en-US" sz="1400" dirty="0"/>
              <a:t> Docker </a:t>
            </a:r>
            <a:r>
              <a:rPr lang="en-US" sz="1400" dirty="0" err="1"/>
              <a:t>Hub’a</a:t>
            </a:r>
            <a:r>
              <a:rPr lang="en-US" sz="1400" dirty="0"/>
              <a:t> </a:t>
            </a:r>
            <a:r>
              <a:rPr lang="en-US" sz="1400" dirty="0" err="1"/>
              <a:t>gönderin</a:t>
            </a:r>
            <a:r>
              <a:rPr lang="en-US" sz="1400" dirty="0"/>
              <a:t>. </a:t>
            </a:r>
            <a:r>
              <a:rPr lang="en-US" sz="1400" b="1" dirty="0"/>
              <a:t>docker images </a:t>
            </a:r>
            <a:r>
              <a:rPr lang="en-US" sz="1400" dirty="0" err="1"/>
              <a:t>komutuyla</a:t>
            </a:r>
            <a:r>
              <a:rPr lang="en-US" sz="1400" dirty="0"/>
              <a:t> </a:t>
            </a:r>
            <a:r>
              <a:rPr lang="en-US" sz="1400" dirty="0" err="1"/>
              <a:t>imajları</a:t>
            </a:r>
            <a:r>
              <a:rPr lang="en-US" sz="1400" dirty="0"/>
              <a:t> </a:t>
            </a:r>
            <a:r>
              <a:rPr lang="en-US" sz="1400" dirty="0" err="1"/>
              <a:t>listeleyin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 </a:t>
            </a:r>
            <a:r>
              <a:rPr lang="en-US" sz="1400" dirty="0" err="1"/>
              <a:t>idsini</a:t>
            </a:r>
            <a:r>
              <a:rPr lang="en-US" sz="1400" dirty="0"/>
              <a:t> </a:t>
            </a:r>
            <a:r>
              <a:rPr lang="en-US" sz="1400" dirty="0" err="1"/>
              <a:t>bulun</a:t>
            </a:r>
            <a:endParaRPr lang="en-US" sz="1400" dirty="0"/>
          </a:p>
          <a:p>
            <a:pPr lvl="2"/>
            <a:r>
              <a:rPr lang="en-US" dirty="0"/>
              <a:t>docker tag IMAJ_ID </a:t>
            </a:r>
            <a:r>
              <a:rPr lang="en-US" dirty="0" err="1"/>
              <a:t>dockerhubkullaniciadi</a:t>
            </a:r>
            <a:r>
              <a:rPr lang="en-US" dirty="0"/>
              <a:t>/</a:t>
            </a:r>
            <a:r>
              <a:rPr lang="en-US" dirty="0" err="1"/>
              <a:t>depoadi:etiket_adi</a:t>
            </a:r>
            <a:endParaRPr lang="en-US" dirty="0"/>
          </a:p>
          <a:p>
            <a:pPr lvl="2"/>
            <a:r>
              <a:rPr lang="en-US" dirty="0"/>
              <a:t>docker push </a:t>
            </a:r>
            <a:r>
              <a:rPr lang="en-US" dirty="0" err="1"/>
              <a:t>dockerhubkullaniciadi</a:t>
            </a:r>
            <a:r>
              <a:rPr lang="en-US" dirty="0"/>
              <a:t>/</a:t>
            </a:r>
            <a:r>
              <a:rPr lang="en-US" dirty="0" err="1"/>
              <a:t>depoadi</a:t>
            </a:r>
            <a:endParaRPr lang="en-US" dirty="0"/>
          </a:p>
          <a:p>
            <a:pPr lvl="1"/>
            <a:r>
              <a:rPr lang="en-US" b="1" dirty="0"/>
              <a:t>7: </a:t>
            </a:r>
            <a:r>
              <a:rPr lang="en-US" dirty="0" err="1"/>
              <a:t>İmajı</a:t>
            </a:r>
            <a:r>
              <a:rPr lang="en-US" dirty="0"/>
              <a:t> </a:t>
            </a:r>
            <a:r>
              <a:rPr lang="en-US" dirty="0" err="1"/>
              <a:t>depodan</a:t>
            </a:r>
            <a:r>
              <a:rPr lang="en-US" dirty="0"/>
              <a:t> </a:t>
            </a:r>
            <a:r>
              <a:rPr lang="en-US" dirty="0" err="1"/>
              <a:t>çekmek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: </a:t>
            </a:r>
            <a:r>
              <a:rPr lang="en-US" b="1" dirty="0"/>
              <a:t>docker pull </a:t>
            </a:r>
            <a:r>
              <a:rPr lang="en-US" b="1" dirty="0" err="1"/>
              <a:t>dockerkullaniciadi</a:t>
            </a:r>
            <a:r>
              <a:rPr lang="en-US" b="1" dirty="0"/>
              <a:t>/</a:t>
            </a:r>
            <a:r>
              <a:rPr lang="en-US" b="1" dirty="0" err="1"/>
              <a:t>depoadi</a:t>
            </a:r>
            <a:endParaRPr lang="en-US" b="1" dirty="0"/>
          </a:p>
          <a:p>
            <a:pPr lvl="2"/>
            <a:endParaRPr lang="en-US" dirty="0"/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87801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1EF-DAEE-244B-8D1C-019BFBF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839200" cy="1015663"/>
          </a:xfrm>
        </p:spPr>
        <p:txBody>
          <a:bodyPr/>
          <a:lstStyle/>
          <a:p>
            <a:r>
              <a:rPr lang="en-TR" dirty="0"/>
              <a:t>Docker-.NET Core Uygulamasını Kapsülleme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4B5F8A-E0E5-8243-BEAC-58A0E3951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317285"/>
            <a:ext cx="8839200" cy="42234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FEF0EB-A077-7E41-9382-BECE61276E2C}"/>
              </a:ext>
            </a:extLst>
          </p:cNvPr>
          <p:cNvSpPr txBox="1"/>
          <p:nvPr/>
        </p:nvSpPr>
        <p:spPr>
          <a:xfrm>
            <a:off x="2209800" y="5579267"/>
            <a:ext cx="4006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Örnek Dockerfile</a:t>
            </a:r>
          </a:p>
        </p:txBody>
      </p:sp>
    </p:spTree>
    <p:extLst>
      <p:ext uri="{BB962C8B-B14F-4D97-AF65-F5344CB8AC3E}">
        <p14:creationId xmlns:p14="http://schemas.microsoft.com/office/powerpoint/2010/main" val="521458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1EF-DAEE-244B-8D1C-019BFBF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839200" cy="1015663"/>
          </a:xfrm>
        </p:spPr>
        <p:txBody>
          <a:bodyPr/>
          <a:lstStyle/>
          <a:p>
            <a:r>
              <a:rPr lang="en-TR" dirty="0"/>
              <a:t>Docker-.NET Core Uygulamasını Kapsülleme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7D80EB-4B40-8D4C-8288-BF43EAB02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314" y="3810000"/>
            <a:ext cx="7010400" cy="2213228"/>
          </a:xfr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11E2F0B0-BD79-2840-81E3-FB7578A6C3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838200" y="1066800"/>
            <a:ext cx="7010400" cy="2579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9F3BEE-3379-9741-A06B-491EBF2803EF}"/>
              </a:ext>
            </a:extLst>
          </p:cNvPr>
          <p:cNvSpPr txBox="1"/>
          <p:nvPr/>
        </p:nvSpPr>
        <p:spPr>
          <a:xfrm>
            <a:off x="2011672" y="5987075"/>
            <a:ext cx="4663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000" dirty="0">
                <a:hlinkClick r:id="rId4"/>
              </a:rPr>
              <a:t>DockerHub Deposuna Gönderilmiş Hali</a:t>
            </a:r>
            <a:endParaRPr lang="en-TR" sz="2000" dirty="0"/>
          </a:p>
        </p:txBody>
      </p:sp>
    </p:spTree>
    <p:extLst>
      <p:ext uri="{BB962C8B-B14F-4D97-AF65-F5344CB8AC3E}">
        <p14:creationId xmlns:p14="http://schemas.microsoft.com/office/powerpoint/2010/main" val="877117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1EF-DAEE-244B-8D1C-019BFBF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839200" cy="553998"/>
          </a:xfrm>
        </p:spPr>
        <p:txBody>
          <a:bodyPr/>
          <a:lstStyle/>
          <a:p>
            <a:r>
              <a:rPr lang="en-TR" dirty="0"/>
              <a:t>Docker-NodeJS Uygulamasını Kapsülleme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12B6-EC99-234F-8F02-E3AE7142B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799"/>
            <a:ext cx="8839200" cy="5338723"/>
          </a:xfrm>
        </p:spPr>
        <p:txBody>
          <a:bodyPr/>
          <a:lstStyle/>
          <a:p>
            <a:r>
              <a:rPr lang="en-TR" sz="1400" dirty="0"/>
              <a:t>Front-End, REST API ve MongoDB’den oluşan civardaki mekanları gösteren, mekan eklemenizi, silmenizi, güncellemenizi sağlayan MekanBul isimi web tabanlı bir uygulamanız olduğunu düşünün.</a:t>
            </a:r>
          </a:p>
          <a:p>
            <a:r>
              <a:rPr lang="en-TR" sz="1400" dirty="0"/>
              <a:t>Her bir katmanı ayrı bir Docker kapsayıcısında (Toplam 3 adet) çalıştırmak istiyorsunuz. </a:t>
            </a:r>
          </a:p>
          <a:p>
            <a:r>
              <a:rPr lang="en-TR" sz="1400" dirty="0"/>
              <a:t>MongoDB kapsayıcınızda (mongodb_kapsayici) MongoDB 27017 portunda çalışacak.</a:t>
            </a:r>
          </a:p>
          <a:p>
            <a:r>
              <a:rPr lang="en-TR" sz="1400" dirty="0"/>
              <a:t>Front-End (mekanbul_kapsayici) kapsayıcınızda Front-End uygulamanız 3000 portunda çalışacak.</a:t>
            </a:r>
          </a:p>
          <a:p>
            <a:r>
              <a:rPr lang="en-TR" sz="1400" dirty="0"/>
              <a:t>REST API (mekanbuapi_kapsayici) kapsayıcınızda REST API’nız 9000 portunda çalışacak.</a:t>
            </a:r>
          </a:p>
          <a:p>
            <a:r>
              <a:rPr lang="en-TR" sz="1400" dirty="0"/>
              <a:t>Front-End REST API aracılığı ile MongoDB’ye bağlanacak. </a:t>
            </a:r>
          </a:p>
          <a:p>
            <a:r>
              <a:rPr lang="en-TR" sz="1400" dirty="0"/>
              <a:t>Front-End uygulama klasörümüz mekanbul_app ve bu klasörde bir Dockerfile tanımlayacağız.</a:t>
            </a:r>
          </a:p>
          <a:p>
            <a:r>
              <a:rPr lang="en-TR" sz="1400" dirty="0"/>
              <a:t>REST API klasörümüz mekanbul_api ve bu klasörde de Dockerfile tanımlayacağız.</a:t>
            </a:r>
          </a:p>
          <a:p>
            <a:r>
              <a:rPr lang="en-TR" sz="1400" dirty="0"/>
              <a:t>Birden fazla kapsayıcıyı ayarlamak ve dağıtmak için Docker içinde yer alan docker-compose aracını kullanacağınız.</a:t>
            </a:r>
          </a:p>
          <a:p>
            <a:r>
              <a:rPr lang="en-US" sz="1400" dirty="0"/>
              <a:t>D</a:t>
            </a:r>
            <a:r>
              <a:rPr lang="en-TR" sz="1400" dirty="0"/>
              <a:t>ocker-compose tüm servisleri tanımlamak için YAML adında bir dosya kullanır.</a:t>
            </a:r>
          </a:p>
          <a:p>
            <a:r>
              <a:rPr lang="en-TR" sz="1400" dirty="0"/>
              <a:t>Servislerin isimleri, servislerin bağımlılıkları, çalışacakları portlar, kullanacağı ağ bu dosya içinde tanımlanır.</a:t>
            </a:r>
          </a:p>
          <a:p>
            <a:r>
              <a:rPr lang="en-TR" sz="1400" dirty="0"/>
              <a:t>Uygulama klasöründe iken aşağıdaki komutl çalıştırılarak servisler oluşturulur.</a:t>
            </a:r>
          </a:p>
          <a:p>
            <a:pPr lvl="1"/>
            <a:r>
              <a:rPr lang="en-US" sz="1300" b="1" dirty="0"/>
              <a:t>d</a:t>
            </a:r>
            <a:r>
              <a:rPr lang="en-TR" sz="1300" b="1" dirty="0"/>
              <a:t>ocker-compose build</a:t>
            </a:r>
          </a:p>
          <a:p>
            <a:r>
              <a:rPr lang="en-TR" sz="1400" dirty="0"/>
              <a:t>Tüm servisleri aynı anda çalıştımak için aşağıdaki komut kullanılır.</a:t>
            </a:r>
          </a:p>
          <a:p>
            <a:pPr lvl="1"/>
            <a:r>
              <a:rPr lang="en-US" sz="1300" b="1" dirty="0"/>
              <a:t>d</a:t>
            </a:r>
            <a:r>
              <a:rPr lang="en-TR" sz="1300" b="1" dirty="0"/>
              <a:t>ocker-compose up</a:t>
            </a:r>
          </a:p>
          <a:p>
            <a:r>
              <a:rPr lang="en-US" sz="1400" dirty="0"/>
              <a:t>REST A</a:t>
            </a:r>
            <a:r>
              <a:rPr lang="en-TR" sz="1400" dirty="0"/>
              <a:t>PI servisini kullanırken adres </a:t>
            </a:r>
            <a:r>
              <a:rPr lang="en-TR" sz="1400" dirty="0">
                <a:hlinkClick r:id="rId3"/>
              </a:rPr>
              <a:t>http://servisadi:port</a:t>
            </a:r>
            <a:r>
              <a:rPr lang="en-TR" sz="1400" dirty="0"/>
              <a:t> şeklinde koddan değiştirilmeli. </a:t>
            </a:r>
            <a:r>
              <a:rPr lang="en-US" sz="1400" dirty="0"/>
              <a:t>s</a:t>
            </a:r>
            <a:r>
              <a:rPr lang="en-TR" sz="1400" dirty="0"/>
              <a:t>ervisadi ve port yaml dosyasında tanımlanan ad ve porttur.</a:t>
            </a:r>
          </a:p>
          <a:p>
            <a:r>
              <a:rPr lang="en-TR" sz="1400" dirty="0"/>
              <a:t>Aynı şekilde MongoDB bağlantı adresiniz </a:t>
            </a:r>
            <a:r>
              <a:rPr lang="en-US" sz="1400" dirty="0" err="1"/>
              <a:t>mongodb</a:t>
            </a:r>
            <a:r>
              <a:rPr lang="en-US" sz="1400" dirty="0"/>
              <a:t>://</a:t>
            </a:r>
            <a:r>
              <a:rPr lang="en-US" sz="1400" dirty="0" err="1"/>
              <a:t>mongodbservisadi:port</a:t>
            </a:r>
            <a:r>
              <a:rPr lang="en-US" sz="1400" dirty="0"/>
              <a:t>/</a:t>
            </a:r>
            <a:r>
              <a:rPr lang="en-US" sz="1400" dirty="0" err="1"/>
              <a:t>veritabaniadi</a:t>
            </a:r>
            <a:r>
              <a:rPr lang="en-US" sz="1400" dirty="0"/>
              <a:t> </a:t>
            </a:r>
            <a:r>
              <a:rPr lang="en-US" sz="1400" dirty="0" err="1"/>
              <a:t>şeklinde</a:t>
            </a:r>
            <a:r>
              <a:rPr lang="en-US" sz="1400" dirty="0"/>
              <a:t> </a:t>
            </a:r>
            <a:r>
              <a:rPr lang="en-US" sz="1400" dirty="0" err="1"/>
              <a:t>olmalı</a:t>
            </a:r>
            <a:r>
              <a:rPr lang="en-US" sz="1400" dirty="0"/>
              <a:t>.</a:t>
            </a:r>
            <a:endParaRPr lang="en-TR" sz="1400" dirty="0"/>
          </a:p>
          <a:p>
            <a:endParaRPr lang="en-TR" sz="1500" dirty="0"/>
          </a:p>
          <a:p>
            <a:endParaRPr lang="en-TR" sz="15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20346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1EF-DAEE-244B-8D1C-019BFBF6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8839200" cy="553998"/>
          </a:xfrm>
        </p:spPr>
        <p:txBody>
          <a:bodyPr/>
          <a:lstStyle/>
          <a:p>
            <a:r>
              <a:rPr lang="en-TR" dirty="0"/>
              <a:t>Docker-NodeJS Uygulamasını Kapsülleme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58B7F-8A50-8E4E-A455-08C3A0E88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4902" y="1320801"/>
            <a:ext cx="4152898" cy="27939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66B2B-9571-A54F-9A21-12B3A14E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6" y="1312757"/>
            <a:ext cx="4816806" cy="279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082344-975B-FF40-9769-FA3FE235CAA6}"/>
              </a:ext>
            </a:extLst>
          </p:cNvPr>
          <p:cNvSpPr txBox="1"/>
          <p:nvPr/>
        </p:nvSpPr>
        <p:spPr>
          <a:xfrm>
            <a:off x="685800" y="4174512"/>
            <a:ext cx="32287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500" dirty="0"/>
              <a:t>Front-END Dockerfile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B3DF3-7F5D-C043-8DAA-8F2EA34C395A}"/>
              </a:ext>
            </a:extLst>
          </p:cNvPr>
          <p:cNvSpPr txBox="1"/>
          <p:nvPr/>
        </p:nvSpPr>
        <p:spPr>
          <a:xfrm>
            <a:off x="5486013" y="4167456"/>
            <a:ext cx="29449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2500" dirty="0"/>
              <a:t>Rest API Dockerfile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0A5ECB-3FB8-D94F-BEB8-8F317395C25C}"/>
              </a:ext>
            </a:extLst>
          </p:cNvPr>
          <p:cNvSpPr txBox="1"/>
          <p:nvPr/>
        </p:nvSpPr>
        <p:spPr>
          <a:xfrm>
            <a:off x="1879538" y="5515428"/>
            <a:ext cx="5232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>
                <a:hlinkClick r:id="rId4"/>
              </a:rPr>
              <a:t>Örnek Uygulama Linki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061731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7292-1488-ED4A-9556-0F3DE484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7200"/>
            <a:ext cx="6934200" cy="549275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TR" dirty="0"/>
              <a:t>ocker-compose.yaml dosyası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24ABC-3E06-9646-9FB9-7FBAAC4C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9719"/>
            <a:ext cx="7543800" cy="519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50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8F5A-B1E2-FC44-92A9-B5AA3593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305800" cy="1015663"/>
          </a:xfrm>
        </p:spPr>
        <p:txBody>
          <a:bodyPr/>
          <a:lstStyle/>
          <a:p>
            <a:r>
              <a:rPr lang="en-TR" dirty="0"/>
              <a:t>Docker for Desktop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EB9501-F735-9A40-AF6B-1BB3C6D74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300" y="1105026"/>
            <a:ext cx="7239000" cy="36299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4852E-A8ED-3046-9414-98A6C69D4457}"/>
              </a:ext>
            </a:extLst>
          </p:cNvPr>
          <p:cNvSpPr txBox="1"/>
          <p:nvPr/>
        </p:nvSpPr>
        <p:spPr>
          <a:xfrm>
            <a:off x="114300" y="4817239"/>
            <a:ext cx="5665333" cy="66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/>
              <a:t>S</a:t>
            </a:r>
            <a:r>
              <a:rPr lang="en-TR" sz="1500" dirty="0"/>
              <a:t>ervisleri durdurmak için: </a:t>
            </a:r>
            <a:r>
              <a:rPr lang="en-TR" sz="1500" b="1" dirty="0"/>
              <a:t>docker-compose down</a:t>
            </a:r>
          </a:p>
          <a:p>
            <a:pPr algn="l"/>
            <a:r>
              <a:rPr lang="en-TR" sz="1500" dirty="0"/>
              <a:t>Servisleri DockerHub’a göndermek için: </a:t>
            </a:r>
            <a:r>
              <a:rPr lang="en-TR" sz="1500" b="1" dirty="0"/>
              <a:t>docker-compose push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DB5C-63AD-A241-9BD4-AE103A41A5FC}"/>
              </a:ext>
            </a:extLst>
          </p:cNvPr>
          <p:cNvSpPr txBox="1"/>
          <p:nvPr/>
        </p:nvSpPr>
        <p:spPr>
          <a:xfrm>
            <a:off x="0" y="541020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Docker </a:t>
            </a:r>
            <a:r>
              <a:rPr lang="en-US" sz="1600" b="1" dirty="0" err="1">
                <a:solidFill>
                  <a:srgbClr val="FF0000"/>
                </a:solidFill>
              </a:rPr>
              <a:t>ile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ilgili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daha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fazla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bilgi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almak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için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çok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çeşitli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kategorilerde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kaynak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sunan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aşağıdaki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linke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bakmanızı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tavsiye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ederim</a:t>
            </a:r>
            <a:r>
              <a:rPr lang="en-US" sz="16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sz="1600" dirty="0">
                <a:hlinkClick r:id="rId4"/>
              </a:rPr>
              <a:t>https://github.com/veggiemonk/awesome-docker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6120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7037-F9AC-8345-B073-73DEC8BE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49AF-FC64-D646-A1C1-8281EB6B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Birden fazla kapsayıcı ile çalışmak DevOps takımları için büyük bir zorluktur. Cevaplanması gereken bir çok soru vardır.</a:t>
            </a:r>
          </a:p>
          <a:p>
            <a:r>
              <a:rPr lang="en-TR" dirty="0"/>
              <a:t>Port çakışmaları nasıl önlenecek?</a:t>
            </a:r>
          </a:p>
          <a:p>
            <a:r>
              <a:rPr lang="en-TR" dirty="0"/>
              <a:t>Birden fazla sunucuda kapsayıcılar nasıl yönetilecek?</a:t>
            </a:r>
          </a:p>
          <a:p>
            <a:r>
              <a:rPr lang="en-TR" dirty="0"/>
              <a:t>Eğer bir sunucuda sorun olursa ne olacak?</a:t>
            </a:r>
          </a:p>
          <a:p>
            <a:r>
              <a:rPr lang="en-TR" dirty="0"/>
              <a:t>Tüm sunucular aynı anda sorunsuz nasıl çalıştırılacak?</a:t>
            </a:r>
          </a:p>
          <a:p>
            <a:r>
              <a:rPr lang="en-TR" dirty="0"/>
              <a:t>Sunucular nasıl güncellenecek?</a:t>
            </a:r>
          </a:p>
          <a:p>
            <a:r>
              <a:rPr lang="en-TR" dirty="0"/>
              <a:t>Kapsayıcıların nerelerde olduğu nasıl anlaşılacak?</a:t>
            </a:r>
          </a:p>
          <a:p>
            <a:r>
              <a:rPr lang="en-TR" dirty="0"/>
              <a:t>Tüm bu soruları cevaplamaya yardımcı olacak bir araca ihtiyaç vardır.</a:t>
            </a:r>
          </a:p>
          <a:p>
            <a:r>
              <a:rPr lang="en-TR" dirty="0"/>
              <a:t>Burada bir orkestra şefi görevi gören Kubernetes devreye girmektedir.</a:t>
            </a:r>
          </a:p>
          <a:p>
            <a:r>
              <a:rPr lang="en-TR" dirty="0"/>
              <a:t>Kubernetes kapsayıcıların yönetimini/orkestrasyon (orchestration) sağlar.</a:t>
            </a:r>
          </a:p>
          <a:p>
            <a:r>
              <a:rPr lang="en-TR" dirty="0"/>
              <a:t>Hem bulut ortamlarında hem de fiziksel sunucularda çalışabilmektedir.</a:t>
            </a:r>
          </a:p>
          <a:p>
            <a:r>
              <a:rPr lang="en-TR" dirty="0"/>
              <a:t>Go dili ile yazılmıştır ve açık kaynak kodludur.</a:t>
            </a:r>
          </a:p>
          <a:p>
            <a:r>
              <a:rPr lang="en-TR" dirty="0"/>
              <a:t>Google </a:t>
            </a:r>
            <a:r>
              <a:rPr lang="en-TR"/>
              <a:t>tarafından tasarlanmış ve geliştirilmiştir.</a:t>
            </a:r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569279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E1F0-76F5-B04E-9CD0-F01F7B5D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Mimarisi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F7FF17-6ECB-2A40-9431-78A26D72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19664"/>
            <a:ext cx="7543800" cy="51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48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F3C4-6A09-D340-AE92-4E33652E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6A12F8-01C6-8F4B-A78B-FF7FDB09D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719323"/>
            <a:ext cx="8991600" cy="338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00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22A8-1D51-2845-B310-8A102CAB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Bileşenleri-Pod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A4D0-8569-BD48-B123-05286A58A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Kapsayıcı grupları</a:t>
            </a:r>
          </a:p>
          <a:p>
            <a:r>
              <a:rPr lang="en-TR" dirty="0"/>
              <a:t>Birlikte yaşarlar, birlikte sonlanırlar.</a:t>
            </a:r>
          </a:p>
          <a:p>
            <a:r>
              <a:rPr lang="en-TR" dirty="0"/>
              <a:t>IP, etiket, kaynak, yaşam döngüsü ve disk sürücülerini paylaşırlar.</a:t>
            </a:r>
          </a:p>
          <a:p>
            <a:endParaRPr lang="en-TR" dirty="0"/>
          </a:p>
          <a:p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D98B2-DD83-DF46-B4B9-AD96EA0BA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59239"/>
            <a:ext cx="5366277" cy="406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43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4474-C464-6049-BE3D-D3C16311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Bileşenleri-Pod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08C209-F492-2B4B-9B47-1EE63AB4A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415245"/>
            <a:ext cx="8839200" cy="45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30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C1D0-3C4E-CE47-BB53-16AFA26B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900962" cy="1015663"/>
          </a:xfrm>
        </p:spPr>
        <p:txBody>
          <a:bodyPr/>
          <a:lstStyle/>
          <a:p>
            <a:r>
              <a:rPr lang="en-TR" dirty="0"/>
              <a:t>Kubernetes Bileşenleri-Kopyalama Yöneticisi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FE6F7-201B-1741-A29E-2A32AB94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1"/>
            <a:ext cx="867236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0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514C-2CA7-FE45-9725-25BC78D8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52477"/>
            <a:ext cx="7924800" cy="553998"/>
          </a:xfrm>
        </p:spPr>
        <p:txBody>
          <a:bodyPr/>
          <a:lstStyle/>
          <a:p>
            <a:r>
              <a:rPr lang="en-TR" dirty="0"/>
              <a:t>Kubernetes Bileşenleri-Etiket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B9C8E3-2B75-4943-BBE7-304CF7C0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77971"/>
            <a:ext cx="8682317" cy="370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451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CF92-18AB-844A-A4B2-9C75C01B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Bileşenleri-Etiket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1167B-C48E-4A44-A7D4-A708D79E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8963661" cy="404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43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5AEB-304E-D144-AF94-E3C17662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Bileşenleri-Servis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4D9FF-228B-BD4B-B306-0F9CBDCA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636"/>
            <a:ext cx="9144000" cy="44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09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5AEB-304E-D144-AF94-E3C17662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Bileşenleri-Servis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59B6A-BFE5-9E4B-AA55-2255E3893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813"/>
            <a:ext cx="9144000" cy="398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50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EDC7-8908-3E4D-A503-8A5A6352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Kullanan Firmalar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FF2860-1DAB-5A43-8808-43FBD2912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752600"/>
            <a:ext cx="8839200" cy="37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31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6206-ABDC-D642-A18E-881DDAA8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AB82-3490-2E4F-AA45-99D1D112F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sz="1600" dirty="0"/>
              <a:t>Docker’</a:t>
            </a:r>
            <a:r>
              <a:rPr lang="en-US" sz="1600" dirty="0" err="1"/>
              <a:t>ı</a:t>
            </a:r>
            <a:r>
              <a:rPr lang="en-US" sz="1600" dirty="0"/>
              <a:t> </a:t>
            </a:r>
            <a:r>
              <a:rPr lang="en-US" sz="1600" dirty="0" err="1"/>
              <a:t>kurduğunuzda</a:t>
            </a:r>
            <a:r>
              <a:rPr lang="en-US" sz="1600" dirty="0"/>
              <a:t> Kubernetes </a:t>
            </a:r>
            <a:r>
              <a:rPr lang="en-US" sz="1600" dirty="0" err="1"/>
              <a:t>içinde</a:t>
            </a:r>
            <a:r>
              <a:rPr lang="en-US" sz="1600" dirty="0"/>
              <a:t> </a:t>
            </a:r>
            <a:r>
              <a:rPr lang="en-US" sz="1600" dirty="0" err="1"/>
              <a:t>gelmektedir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Ancak</a:t>
            </a:r>
            <a:r>
              <a:rPr lang="en-US" sz="1600" dirty="0"/>
              <a:t> </a:t>
            </a:r>
            <a:r>
              <a:rPr lang="en-US" sz="1600" dirty="0" err="1"/>
              <a:t>varsayılan</a:t>
            </a:r>
            <a:r>
              <a:rPr lang="en-US" sz="1600" dirty="0"/>
              <a:t> </a:t>
            </a:r>
            <a:r>
              <a:rPr lang="en-US" sz="1600" dirty="0" err="1"/>
              <a:t>olarak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yönetici</a:t>
            </a:r>
            <a:r>
              <a:rPr lang="en-US" sz="1600" dirty="0"/>
              <a:t> </a:t>
            </a:r>
            <a:r>
              <a:rPr lang="en-US" sz="1600" dirty="0" err="1"/>
              <a:t>arayüzü</a:t>
            </a:r>
            <a:r>
              <a:rPr lang="en-US" sz="1600" dirty="0"/>
              <a:t> </a:t>
            </a:r>
            <a:r>
              <a:rPr lang="en-US" sz="1600" dirty="0" err="1"/>
              <a:t>yoktur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Eğer</a:t>
            </a:r>
            <a:r>
              <a:rPr lang="en-US" sz="1600" dirty="0"/>
              <a:t> web </a:t>
            </a:r>
            <a:r>
              <a:rPr lang="en-US" sz="1600" dirty="0" err="1"/>
              <a:t>arayüzü</a:t>
            </a:r>
            <a:r>
              <a:rPr lang="en-US" sz="1600" dirty="0"/>
              <a:t> </a:t>
            </a:r>
            <a:r>
              <a:rPr lang="en-US" sz="1600" dirty="0" err="1"/>
              <a:t>aracılığı</a:t>
            </a:r>
            <a:r>
              <a:rPr lang="en-US" sz="1600" dirty="0"/>
              <a:t> </a:t>
            </a:r>
            <a:r>
              <a:rPr lang="en-US" sz="1600" dirty="0" err="1"/>
              <a:t>ile</a:t>
            </a:r>
            <a:r>
              <a:rPr lang="en-US" sz="1600" dirty="0"/>
              <a:t> </a:t>
            </a:r>
            <a:r>
              <a:rPr lang="en-US" sz="1600" dirty="0" err="1"/>
              <a:t>erişmek</a:t>
            </a:r>
            <a:r>
              <a:rPr lang="en-US" sz="1600" dirty="0"/>
              <a:t> </a:t>
            </a:r>
            <a:r>
              <a:rPr lang="en-US" sz="1600" dirty="0" err="1"/>
              <a:t>istiyorsanız</a:t>
            </a:r>
            <a:r>
              <a:rPr lang="en-US" sz="1600" dirty="0"/>
              <a:t> </a:t>
            </a:r>
            <a:r>
              <a:rPr lang="en-US" sz="1600" dirty="0" err="1"/>
              <a:t>aşağıdaki</a:t>
            </a:r>
            <a:r>
              <a:rPr lang="en-US" sz="1600" dirty="0"/>
              <a:t> </a:t>
            </a:r>
            <a:r>
              <a:rPr lang="en-US" sz="1600" dirty="0" err="1"/>
              <a:t>komutları</a:t>
            </a:r>
            <a:r>
              <a:rPr lang="en-US" sz="1600" dirty="0"/>
              <a:t> </a:t>
            </a:r>
            <a:r>
              <a:rPr lang="en-US" sz="1600" dirty="0" err="1"/>
              <a:t>çalıştırın</a:t>
            </a:r>
            <a:r>
              <a:rPr lang="en-US" sz="1600" dirty="0"/>
              <a:t>.</a:t>
            </a:r>
          </a:p>
          <a:p>
            <a:r>
              <a:rPr lang="en-US" sz="1600" dirty="0"/>
              <a:t>1- </a:t>
            </a:r>
            <a:r>
              <a:rPr lang="en-US" sz="1600" dirty="0" err="1"/>
              <a:t>Arayüzü</a:t>
            </a:r>
            <a:r>
              <a:rPr lang="en-US" sz="1600" dirty="0"/>
              <a:t> </a:t>
            </a:r>
            <a:r>
              <a:rPr lang="en-US" sz="1600" dirty="0" err="1"/>
              <a:t>aktifleştirmek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: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apply -f https://</a:t>
            </a:r>
            <a:r>
              <a:rPr lang="en-US" dirty="0" err="1"/>
              <a:t>raw.githubusercontent.com</a:t>
            </a:r>
            <a:r>
              <a:rPr lang="en-US" dirty="0"/>
              <a:t>/</a:t>
            </a:r>
            <a:r>
              <a:rPr lang="en-US" dirty="0" err="1"/>
              <a:t>kubernetes</a:t>
            </a:r>
            <a:r>
              <a:rPr lang="en-US" dirty="0"/>
              <a:t>/dashboard/v2.0.0-rc5/</a:t>
            </a:r>
            <a:r>
              <a:rPr lang="en-US" dirty="0" err="1"/>
              <a:t>aio</a:t>
            </a:r>
            <a:r>
              <a:rPr lang="en-US" dirty="0"/>
              <a:t>/deploy/</a:t>
            </a:r>
            <a:r>
              <a:rPr lang="en-US" dirty="0" err="1"/>
              <a:t>recommended.yaml</a:t>
            </a:r>
            <a:endParaRPr lang="en-US" dirty="0"/>
          </a:p>
          <a:p>
            <a:r>
              <a:rPr lang="en-US" sz="1600" dirty="0"/>
              <a:t>2- </a:t>
            </a:r>
            <a:r>
              <a:rPr lang="en-US" sz="1600" dirty="0" err="1"/>
              <a:t>Dashboard’a</a:t>
            </a:r>
            <a:r>
              <a:rPr lang="en-US" sz="1600" dirty="0"/>
              <a:t> </a:t>
            </a:r>
            <a:r>
              <a:rPr lang="en-US" sz="1600" dirty="0" err="1"/>
              <a:t>erişmek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: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proxy</a:t>
            </a:r>
          </a:p>
          <a:p>
            <a:r>
              <a:rPr lang="en-US" sz="1600" dirty="0"/>
              <a:t>3-</a:t>
            </a:r>
            <a:r>
              <a:rPr lang="en-US" dirty="0"/>
              <a:t> </a:t>
            </a:r>
            <a:r>
              <a:rPr lang="en-US" sz="1600" dirty="0" err="1"/>
              <a:t>Tarayıcıdan</a:t>
            </a:r>
            <a:r>
              <a:rPr lang="en-US" sz="1600" dirty="0"/>
              <a:t> </a:t>
            </a:r>
            <a:r>
              <a:rPr lang="en-US" sz="1600" dirty="0" err="1"/>
              <a:t>arayüze</a:t>
            </a:r>
            <a:r>
              <a:rPr lang="en-US" sz="1600" dirty="0"/>
              <a:t> </a:t>
            </a:r>
            <a:r>
              <a:rPr lang="en-US" sz="1600" dirty="0" err="1"/>
              <a:t>erişmek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:</a:t>
            </a:r>
          </a:p>
          <a:p>
            <a:pPr lvl="1"/>
            <a:r>
              <a:rPr lang="en-US" dirty="0">
                <a:hlinkClick r:id="rId2"/>
              </a:rPr>
              <a:t>http://localhost:8001/api/v1/namespaces/kubernetes-dashboard/services/https:kubernetes-dashboard:/proxy/</a:t>
            </a:r>
            <a:endParaRPr lang="en-US" dirty="0"/>
          </a:p>
          <a:p>
            <a:r>
              <a:rPr lang="en-US" sz="1600" dirty="0"/>
              <a:t>4- </a:t>
            </a:r>
            <a:r>
              <a:rPr lang="en-US" sz="1600" dirty="0" err="1"/>
              <a:t>Karşılama</a:t>
            </a:r>
            <a:r>
              <a:rPr lang="en-US" sz="1600" dirty="0"/>
              <a:t> </a:t>
            </a:r>
            <a:r>
              <a:rPr lang="en-US" sz="1600" dirty="0" err="1"/>
              <a:t>ekranında</a:t>
            </a:r>
            <a:r>
              <a:rPr lang="en-US" sz="1600" dirty="0"/>
              <a:t> 2 </a:t>
            </a:r>
            <a:r>
              <a:rPr lang="en-US" sz="1600" dirty="0" err="1"/>
              <a:t>seçenek</a:t>
            </a:r>
            <a:r>
              <a:rPr lang="en-US" sz="1600" dirty="0"/>
              <a:t> </a:t>
            </a:r>
            <a:r>
              <a:rPr lang="en-US" sz="1600" dirty="0" err="1"/>
              <a:t>çıkacaktır</a:t>
            </a:r>
            <a:r>
              <a:rPr lang="en-US" sz="1600" dirty="0"/>
              <a:t>. </a:t>
            </a:r>
            <a:r>
              <a:rPr lang="en-US" sz="1600" dirty="0" err="1"/>
              <a:t>Birincisi</a:t>
            </a:r>
            <a:r>
              <a:rPr lang="en-US" sz="1600" dirty="0"/>
              <a:t> </a:t>
            </a:r>
            <a:r>
              <a:rPr lang="en-US" sz="1600" dirty="0" err="1"/>
              <a:t>ayar</a:t>
            </a:r>
            <a:r>
              <a:rPr lang="en-US" sz="1600" dirty="0"/>
              <a:t> </a:t>
            </a:r>
            <a:r>
              <a:rPr lang="en-US" sz="1600" dirty="0" err="1"/>
              <a:t>dosyası</a:t>
            </a:r>
            <a:r>
              <a:rPr lang="en-US" sz="1600" dirty="0"/>
              <a:t> </a:t>
            </a:r>
            <a:r>
              <a:rPr lang="en-US" sz="1600" dirty="0" err="1"/>
              <a:t>ikincisi</a:t>
            </a:r>
            <a:r>
              <a:rPr lang="en-US" sz="1600" dirty="0"/>
              <a:t> token </a:t>
            </a:r>
            <a:r>
              <a:rPr lang="en-US" sz="1600" dirty="0" err="1"/>
              <a:t>isteyecektir</a:t>
            </a:r>
            <a:r>
              <a:rPr lang="en-US" sz="1600" dirty="0"/>
              <a:t>. Token </a:t>
            </a:r>
            <a:r>
              <a:rPr lang="en-US" sz="1600" dirty="0" err="1"/>
              <a:t>oluşturarak</a:t>
            </a:r>
            <a:r>
              <a:rPr lang="en-US" sz="1600" dirty="0"/>
              <a:t> </a:t>
            </a:r>
            <a:r>
              <a:rPr lang="en-US" sz="1600" dirty="0" err="1"/>
              <a:t>girmek</a:t>
            </a:r>
            <a:r>
              <a:rPr lang="en-US" sz="1600" dirty="0"/>
              <a:t> </a:t>
            </a:r>
            <a:r>
              <a:rPr lang="en-US" sz="1600" dirty="0" err="1"/>
              <a:t>için</a:t>
            </a:r>
            <a:r>
              <a:rPr lang="en-US" sz="1600" dirty="0"/>
              <a:t>: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-n </a:t>
            </a:r>
            <a:r>
              <a:rPr lang="en-US" dirty="0" err="1"/>
              <a:t>kube</a:t>
            </a:r>
            <a:r>
              <a:rPr lang="en-US" dirty="0"/>
              <a:t>-system describe secret default</a:t>
            </a:r>
          </a:p>
          <a:p>
            <a:r>
              <a:rPr lang="en-US" sz="1600" dirty="0"/>
              <a:t>5. </a:t>
            </a:r>
            <a:r>
              <a:rPr lang="en-US" sz="1600" dirty="0" err="1"/>
              <a:t>Konsolda</a:t>
            </a:r>
            <a:r>
              <a:rPr lang="en-US" sz="1600" dirty="0"/>
              <a:t> </a:t>
            </a:r>
            <a:r>
              <a:rPr lang="en-US" sz="1600" dirty="0" err="1"/>
              <a:t>çıkan</a:t>
            </a:r>
            <a:r>
              <a:rPr lang="en-US" sz="1600" dirty="0"/>
              <a:t> </a:t>
            </a:r>
            <a:r>
              <a:rPr lang="en-US" sz="1600" dirty="0" err="1"/>
              <a:t>tokeni</a:t>
            </a:r>
            <a:r>
              <a:rPr lang="en-US" sz="1600" dirty="0"/>
              <a:t> </a:t>
            </a:r>
            <a:r>
              <a:rPr lang="en-US" sz="1600" dirty="0" err="1"/>
              <a:t>kopyalayarak</a:t>
            </a:r>
            <a:r>
              <a:rPr lang="en-US" sz="1600" dirty="0"/>
              <a:t> </a:t>
            </a:r>
            <a:r>
              <a:rPr lang="en-US" sz="1600" dirty="0" err="1"/>
              <a:t>ekrandaki</a:t>
            </a:r>
            <a:r>
              <a:rPr lang="en-US" sz="1600" dirty="0"/>
              <a:t> token </a:t>
            </a:r>
            <a:r>
              <a:rPr lang="en-US" sz="1600" dirty="0" err="1"/>
              <a:t>alanına</a:t>
            </a:r>
            <a:r>
              <a:rPr lang="en-US" sz="1600" dirty="0"/>
              <a:t> </a:t>
            </a:r>
            <a:r>
              <a:rPr lang="en-US" sz="1600" dirty="0" err="1"/>
              <a:t>yapıştırın</a:t>
            </a:r>
            <a:r>
              <a:rPr lang="en-US" sz="1600" dirty="0"/>
              <a:t>.</a:t>
            </a:r>
          </a:p>
          <a:p>
            <a:r>
              <a:rPr lang="en-US" sz="1600" dirty="0"/>
              <a:t>6. </a:t>
            </a:r>
            <a:r>
              <a:rPr lang="en-US" sz="1600" dirty="0" err="1"/>
              <a:t>Karşınıza</a:t>
            </a:r>
            <a:r>
              <a:rPr lang="en-US" sz="1600" dirty="0"/>
              <a:t> dashboard </a:t>
            </a:r>
            <a:r>
              <a:rPr lang="en-US" sz="1600" dirty="0" err="1"/>
              <a:t>gelecektir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4362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C6AD-000E-454E-A60E-E8E05153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3F265D-6B2F-304E-A058-E9A64B64B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411777"/>
            <a:ext cx="8839200" cy="4567846"/>
          </a:xfrm>
        </p:spPr>
      </p:pic>
    </p:spTree>
    <p:extLst>
      <p:ext uri="{BB962C8B-B14F-4D97-AF65-F5344CB8AC3E}">
        <p14:creationId xmlns:p14="http://schemas.microsoft.com/office/powerpoint/2010/main" val="700428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111A-26C9-F047-B9B3-4BA7D577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Kubernetes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2F246-61E8-FF40-A0F2-41877F1AE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666292"/>
            <a:ext cx="8839200" cy="4058816"/>
          </a:xfrm>
        </p:spPr>
      </p:pic>
    </p:spTree>
    <p:extLst>
      <p:ext uri="{BB962C8B-B14F-4D97-AF65-F5344CB8AC3E}">
        <p14:creationId xmlns:p14="http://schemas.microsoft.com/office/powerpoint/2010/main" val="1080897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E7EE-20AD-1341-A13F-8A7144BE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686800" cy="1015663"/>
          </a:xfrm>
        </p:spPr>
        <p:txBody>
          <a:bodyPr/>
          <a:lstStyle/>
          <a:p>
            <a:r>
              <a:rPr lang="en-TR" dirty="0"/>
              <a:t>Docker Servislerini Kubernetes’e Yollama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48FBC-29AD-6D4F-827E-4A1E9DD6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Servislerininizin bulunduğu klasöre cd ile girin.</a:t>
            </a:r>
          </a:p>
          <a:p>
            <a:r>
              <a:rPr lang="en-TR" dirty="0"/>
              <a:t>Kubernetes içinde kendinize ait bir namespace oluşturun.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create namespace </a:t>
            </a:r>
            <a:r>
              <a:rPr lang="en-US" dirty="0" err="1"/>
              <a:t>namespaceadi</a:t>
            </a:r>
            <a:endParaRPr lang="en-US" dirty="0"/>
          </a:p>
          <a:p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yığın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servislerinizi</a:t>
            </a:r>
            <a:r>
              <a:rPr lang="en-US" dirty="0"/>
              <a:t> </a:t>
            </a:r>
            <a:r>
              <a:rPr lang="en-US" dirty="0" err="1"/>
              <a:t>kubernatese</a:t>
            </a:r>
            <a:r>
              <a:rPr lang="en-US" dirty="0"/>
              <a:t> </a:t>
            </a:r>
            <a:r>
              <a:rPr lang="en-US" dirty="0" err="1"/>
              <a:t>gönderin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docker stack deploy --namespace </a:t>
            </a:r>
            <a:r>
              <a:rPr lang="en-US" dirty="0" err="1"/>
              <a:t>namespaceadi</a:t>
            </a:r>
            <a:r>
              <a:rPr lang="en-US" dirty="0"/>
              <a:t> --compose-file docker-</a:t>
            </a:r>
            <a:r>
              <a:rPr lang="en-US" dirty="0" err="1"/>
              <a:t>compose.yaml</a:t>
            </a:r>
            <a:r>
              <a:rPr lang="en-US" dirty="0"/>
              <a:t> </a:t>
            </a:r>
            <a:r>
              <a:rPr lang="en-US" dirty="0" err="1"/>
              <a:t>yiginadi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</a:t>
            </a:r>
            <a:r>
              <a:rPr lang="en-TR" dirty="0"/>
              <a:t>amespace’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kubectl</a:t>
            </a:r>
            <a:r>
              <a:rPr lang="en-US" dirty="0"/>
              <a:t> delete namespace </a:t>
            </a:r>
            <a:r>
              <a:rPr lang="en-US" dirty="0" err="1"/>
              <a:t>namespaceadi</a:t>
            </a:r>
            <a:endParaRPr lang="en-US" dirty="0"/>
          </a:p>
          <a:p>
            <a:r>
              <a:rPr lang="en-US" dirty="0" err="1"/>
              <a:t>Namespace’i</a:t>
            </a:r>
            <a:r>
              <a:rPr lang="en-US" dirty="0"/>
              <a:t> </a:t>
            </a:r>
            <a:r>
              <a:rPr lang="en-US" dirty="0" err="1"/>
              <a:t>sildiğinizde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podlar</a:t>
            </a:r>
            <a:r>
              <a:rPr lang="en-US" dirty="0"/>
              <a:t>, </a:t>
            </a:r>
            <a:r>
              <a:rPr lang="en-US" dirty="0" err="1"/>
              <a:t>servisler</a:t>
            </a:r>
            <a:r>
              <a:rPr lang="en-US" dirty="0"/>
              <a:t>, </a:t>
            </a:r>
            <a:r>
              <a:rPr lang="en-US" dirty="0" err="1"/>
              <a:t>kopyalar</a:t>
            </a:r>
            <a:r>
              <a:rPr lang="en-US" dirty="0"/>
              <a:t> </a:t>
            </a:r>
            <a:r>
              <a:rPr lang="en-US" dirty="0" err="1"/>
              <a:t>silinecektir</a:t>
            </a:r>
            <a:r>
              <a:rPr lang="en-US" dirty="0"/>
              <a:t>.</a:t>
            </a:r>
          </a:p>
          <a:p>
            <a:r>
              <a:rPr lang="en-US" b="1" dirty="0"/>
              <a:t>Kubernetes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ilgili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fazla</a:t>
            </a:r>
            <a:r>
              <a:rPr lang="en-US" b="1" dirty="0"/>
              <a:t> </a:t>
            </a:r>
            <a:r>
              <a:rPr lang="en-US" b="1" dirty="0" err="1"/>
              <a:t>bilgi</a:t>
            </a:r>
            <a:r>
              <a:rPr lang="en-US" b="1" dirty="0"/>
              <a:t> </a:t>
            </a:r>
            <a:r>
              <a:rPr lang="en-US" b="1" dirty="0" err="1"/>
              <a:t>almak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çok</a:t>
            </a:r>
            <a:r>
              <a:rPr lang="en-US" b="1" dirty="0"/>
              <a:t> </a:t>
            </a:r>
            <a:r>
              <a:rPr lang="en-US" b="1" dirty="0" err="1"/>
              <a:t>çeşitli</a:t>
            </a:r>
            <a:r>
              <a:rPr lang="en-US" b="1" dirty="0"/>
              <a:t> </a:t>
            </a:r>
            <a:r>
              <a:rPr lang="en-US" b="1" dirty="0" err="1"/>
              <a:t>kategorilerde</a:t>
            </a:r>
            <a:r>
              <a:rPr lang="en-US" b="1" dirty="0"/>
              <a:t> </a:t>
            </a:r>
            <a:r>
              <a:rPr lang="en-US" b="1" dirty="0" err="1"/>
              <a:t>kaynak</a:t>
            </a:r>
            <a:r>
              <a:rPr lang="en-US" b="1" dirty="0"/>
              <a:t> </a:t>
            </a:r>
            <a:r>
              <a:rPr lang="en-US" b="1" dirty="0" err="1"/>
              <a:t>sunan</a:t>
            </a:r>
            <a:r>
              <a:rPr lang="en-US" b="1" dirty="0"/>
              <a:t> </a:t>
            </a:r>
            <a:r>
              <a:rPr lang="en-US" b="1" dirty="0" err="1"/>
              <a:t>aşağıdaki</a:t>
            </a:r>
            <a:r>
              <a:rPr lang="en-US" b="1" dirty="0"/>
              <a:t> </a:t>
            </a:r>
            <a:r>
              <a:rPr lang="en-US" b="1" dirty="0" err="1"/>
              <a:t>linke</a:t>
            </a:r>
            <a:r>
              <a:rPr lang="en-US" b="1" dirty="0"/>
              <a:t> </a:t>
            </a:r>
            <a:r>
              <a:rPr lang="en-US" b="1" dirty="0" err="1"/>
              <a:t>bakmanızı</a:t>
            </a:r>
            <a:r>
              <a:rPr lang="en-US" b="1" dirty="0"/>
              <a:t> </a:t>
            </a:r>
            <a:r>
              <a:rPr lang="en-US" b="1" dirty="0" err="1"/>
              <a:t>tavsiye</a:t>
            </a:r>
            <a:r>
              <a:rPr lang="en-US" b="1" dirty="0"/>
              <a:t> </a:t>
            </a:r>
            <a:r>
              <a:rPr lang="en-US" b="1" dirty="0" err="1"/>
              <a:t>ederim</a:t>
            </a:r>
            <a:r>
              <a:rPr lang="en-US" b="1" dirty="0"/>
              <a:t>.</a:t>
            </a:r>
          </a:p>
          <a:p>
            <a:pPr lvl="1"/>
            <a:r>
              <a:rPr lang="en-US" dirty="0">
                <a:hlinkClick r:id="rId2"/>
              </a:rPr>
              <a:t>https://github.com/ramitsurana/awesome-kubernetes</a:t>
            </a:r>
            <a:endParaRPr lang="en-US" dirty="0"/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639074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E7DA-1C48-4943-9D7D-6BE9AD5F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9188"/>
            <a:ext cx="8153400" cy="1015663"/>
          </a:xfrm>
        </p:spPr>
        <p:txBody>
          <a:bodyPr/>
          <a:lstStyle/>
          <a:p>
            <a:r>
              <a:rPr lang="en-TR" dirty="0"/>
              <a:t>Docker Servislerini Kubernetes’e Yollama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8EAAE-04B5-7644-AF2C-37B9540BE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594982"/>
            <a:ext cx="8839200" cy="4201435"/>
          </a:xfrm>
        </p:spPr>
      </p:pic>
    </p:spTree>
    <p:extLst>
      <p:ext uri="{BB962C8B-B14F-4D97-AF65-F5344CB8AC3E}">
        <p14:creationId xmlns:p14="http://schemas.microsoft.com/office/powerpoint/2010/main" val="284304390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{8EC153D3-FEA3-BE42-9BCF-62DFAA33C8A9}tf10001119</Template>
  <TotalTime>18201</TotalTime>
  <Words>2971</Words>
  <Application>Microsoft Macintosh PowerPoint</Application>
  <PresentationFormat>On-screen Show (4:3)</PresentationFormat>
  <Paragraphs>289</Paragraphs>
  <Slides>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Tahoma</vt:lpstr>
      <vt:lpstr>Times</vt:lpstr>
      <vt:lpstr>Blank Presentation</vt:lpstr>
      <vt:lpstr>PowerPoint Presentation</vt:lpstr>
      <vt:lpstr>Docker</vt:lpstr>
      <vt:lpstr>Kapsayıcıların (Containers) Geçmişi</vt:lpstr>
      <vt:lpstr>Docker’ın Linux ile Bağlantısı</vt:lpstr>
      <vt:lpstr>Docker</vt:lpstr>
      <vt:lpstr>Docker Benzetimi</vt:lpstr>
      <vt:lpstr>Docker</vt:lpstr>
      <vt:lpstr>Docker</vt:lpstr>
      <vt:lpstr>Docker vs. Sanal Makine</vt:lpstr>
      <vt:lpstr>Docker vs. Sanal Makine</vt:lpstr>
      <vt:lpstr>Docker vs. Sanal Makine (VM, Virtual Machine)</vt:lpstr>
      <vt:lpstr>Docker vs. VM Performans Karşılaştırması</vt:lpstr>
      <vt:lpstr>Docker’ın Ana Hedefi</vt:lpstr>
      <vt:lpstr>Docker Kullanım Senaryoları</vt:lpstr>
      <vt:lpstr>Docker Engine</vt:lpstr>
      <vt:lpstr>Docker Mimarisi</vt:lpstr>
      <vt:lpstr>Docker Mimarisi</vt:lpstr>
      <vt:lpstr>Docker Mimarisi</vt:lpstr>
      <vt:lpstr>Dockerfile Örnek</vt:lpstr>
      <vt:lpstr>Dockerfile Komutlar</vt:lpstr>
      <vt:lpstr>Docker Mimarisi</vt:lpstr>
      <vt:lpstr>Docker Mimarisi</vt:lpstr>
      <vt:lpstr>Docker Komutları-Kapsayıcı</vt:lpstr>
      <vt:lpstr>Docker Komutları-İmaj</vt:lpstr>
      <vt:lpstr>Docker Komutları-Ağ</vt:lpstr>
      <vt:lpstr>Docker Komutları-Başlatma, Durdurma</vt:lpstr>
      <vt:lpstr>Docker Komutları-Bilgi</vt:lpstr>
      <vt:lpstr>Docker-.NET Core Uygulamasını Kapsülleme</vt:lpstr>
      <vt:lpstr>Docker-.NET Core Uygulamasını Kapsülleme</vt:lpstr>
      <vt:lpstr>Docker-.NET Core Uygulamasını Kapsülleme</vt:lpstr>
      <vt:lpstr>Docker-NodeJS Uygulamasını Kapsülleme</vt:lpstr>
      <vt:lpstr>Docker-NodeJS Uygulamasını Kapsülleme</vt:lpstr>
      <vt:lpstr>docker-compose.yaml dosyası</vt:lpstr>
      <vt:lpstr>Docker for Desktop Dashboard</vt:lpstr>
      <vt:lpstr>Kubernetes</vt:lpstr>
      <vt:lpstr>Kubernetes Mimarisi</vt:lpstr>
      <vt:lpstr>Kubernetes Bileşenleri</vt:lpstr>
      <vt:lpstr>Kubernetes Bileşenleri-Pod</vt:lpstr>
      <vt:lpstr>Kubernetes Bileşenleri-Pod</vt:lpstr>
      <vt:lpstr>Kubernetes Bileşenleri-Kopyalama Yöneticisi</vt:lpstr>
      <vt:lpstr>Kubernetes Bileşenleri-Etiket</vt:lpstr>
      <vt:lpstr>Kubernetes Bileşenleri-Etiket</vt:lpstr>
      <vt:lpstr>Kubernetes Bileşenleri-Servis</vt:lpstr>
      <vt:lpstr>Kubernetes Bileşenleri-Servis</vt:lpstr>
      <vt:lpstr>Kubernetes Kullanan Firmalar</vt:lpstr>
      <vt:lpstr>Kubernetes Dashboard</vt:lpstr>
      <vt:lpstr>Kubernetes Dashboard</vt:lpstr>
      <vt:lpstr>Kubernetes Dashboard</vt:lpstr>
      <vt:lpstr>Docker Servislerini Kubernetes’e Yollama</vt:lpstr>
      <vt:lpstr>Docker Servislerini Kubernetes’e Yollama</vt:lpstr>
    </vt:vector>
  </TitlesOfParts>
  <Company>TEES Communications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Amy Yarbrough</dc:creator>
  <cp:lastModifiedBy>Asım Sinan Yüksel</cp:lastModifiedBy>
  <cp:revision>2489</cp:revision>
  <cp:lastPrinted>1999-07-13T10:45:18Z</cp:lastPrinted>
  <dcterms:created xsi:type="dcterms:W3CDTF">1999-06-28T14:13:43Z</dcterms:created>
  <dcterms:modified xsi:type="dcterms:W3CDTF">2021-02-18T06:44:15Z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