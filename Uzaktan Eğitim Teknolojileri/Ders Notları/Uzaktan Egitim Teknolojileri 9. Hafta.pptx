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9"/>
  </p:notesMasterIdLst>
  <p:sldIdLst>
    <p:sldId id="256" r:id="rId2"/>
    <p:sldId id="327" r:id="rId3"/>
    <p:sldId id="328" r:id="rId4"/>
    <p:sldId id="351" r:id="rId5"/>
    <p:sldId id="352" r:id="rId6"/>
    <p:sldId id="353" r:id="rId7"/>
    <p:sldId id="354" r:id="rId8"/>
    <p:sldId id="355" r:id="rId9"/>
    <p:sldId id="356" r:id="rId10"/>
    <p:sldId id="357" r:id="rId11"/>
    <p:sldId id="358" r:id="rId12"/>
    <p:sldId id="359" r:id="rId13"/>
    <p:sldId id="360" r:id="rId14"/>
    <p:sldId id="361" r:id="rId15"/>
    <p:sldId id="362" r:id="rId16"/>
    <p:sldId id="363" r:id="rId17"/>
    <p:sldId id="364" r:id="rId18"/>
    <p:sldId id="365" r:id="rId19"/>
    <p:sldId id="366" r:id="rId20"/>
    <p:sldId id="334" r:id="rId21"/>
    <p:sldId id="367" r:id="rId22"/>
    <p:sldId id="368" r:id="rId23"/>
    <p:sldId id="369" r:id="rId24"/>
    <p:sldId id="370" r:id="rId25"/>
    <p:sldId id="371" r:id="rId26"/>
    <p:sldId id="372" r:id="rId27"/>
    <p:sldId id="373" r:id="rId28"/>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Orta Stil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Stil Yok, Kılavuz Yok">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Açık Stil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235" autoAdjust="0"/>
    <p:restoredTop sz="81067" autoAdjust="0"/>
  </p:normalViewPr>
  <p:slideViewPr>
    <p:cSldViewPr>
      <p:cViewPr varScale="1">
        <p:scale>
          <a:sx n="79" d="100"/>
          <a:sy n="79" d="100"/>
        </p:scale>
        <p:origin x="1416" y="20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4F3A45C-1F9B-4470-B393-CB4E170383FB}" type="datetimeFigureOut">
              <a:rPr lang="tr-TR" smtClean="0"/>
              <a:t>7.12.2020</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E1CD16-3461-49A8-861A-0462DBFF20F0}" type="slidenum">
              <a:rPr lang="tr-TR" smtClean="0"/>
              <a:t>‹#›</a:t>
            </a:fld>
            <a:endParaRPr lang="tr-TR"/>
          </a:p>
        </p:txBody>
      </p:sp>
    </p:spTree>
    <p:extLst>
      <p:ext uri="{BB962C8B-B14F-4D97-AF65-F5344CB8AC3E}">
        <p14:creationId xmlns:p14="http://schemas.microsoft.com/office/powerpoint/2010/main" val="953031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6CE1CD16-3461-49A8-861A-0462DBFF20F0}" type="slidenum">
              <a:rPr lang="tr-TR" smtClean="0"/>
              <a:t>1</a:t>
            </a:fld>
            <a:endParaRPr lang="tr-TR"/>
          </a:p>
        </p:txBody>
      </p:sp>
    </p:spTree>
    <p:extLst>
      <p:ext uri="{BB962C8B-B14F-4D97-AF65-F5344CB8AC3E}">
        <p14:creationId xmlns:p14="http://schemas.microsoft.com/office/powerpoint/2010/main" val="908891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b="1" dirty="0"/>
              <a:t>Temel Grafik Tasarım Kuralları ve İçerik Ekranları</a:t>
            </a:r>
          </a:p>
          <a:p>
            <a:r>
              <a:rPr lang="tr-TR" altLang="en-TR" dirty="0"/>
              <a:t>Belirli ilkeleri </a:t>
            </a:r>
            <a:r>
              <a:rPr lang="tr-TR" altLang="en-TR" dirty="0" err="1"/>
              <a:t>gözönüne</a:t>
            </a:r>
            <a:r>
              <a:rPr lang="tr-TR" altLang="en-TR" dirty="0"/>
              <a:t> almadan tasarlanan sayfalar, görüntü kirliliği yaratmaktan başka bir işe yaramazlar. Eğer amaç bilgi verici, görsel yönden çekici sayfalar yaratmaksa, belirli bir tasarım birikimine sahip olmak gerekmektedir. </a:t>
            </a:r>
          </a:p>
          <a:p>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2</a:t>
            </a:fld>
            <a:endParaRPr lang="tr-TR"/>
          </a:p>
        </p:txBody>
      </p:sp>
    </p:spTree>
    <p:extLst>
      <p:ext uri="{BB962C8B-B14F-4D97-AF65-F5344CB8AC3E}">
        <p14:creationId xmlns:p14="http://schemas.microsoft.com/office/powerpoint/2010/main" val="3701989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TR" b="1" dirty="0" err="1"/>
              <a:t>Grafik</a:t>
            </a:r>
            <a:r>
              <a:rPr lang="en-US" altLang="en-TR" b="1" dirty="0"/>
              <a:t> </a:t>
            </a:r>
            <a:r>
              <a:rPr lang="en-US" altLang="en-TR" b="1" dirty="0" err="1"/>
              <a:t>Yüzeyler</a:t>
            </a:r>
            <a:endParaRPr lang="en-US" altLang="en-TR" b="1" dirty="0"/>
          </a:p>
          <a:p>
            <a:r>
              <a:rPr lang="tr-TR" altLang="en-TR" dirty="0"/>
              <a:t>Grafik tasarım yüzeyini bütünüyle kavrayabilmek için, insanın görmeye dayalı doğasının ve boşluk kavramının bilinmesi gerekir. Genellikle bütün grafik tasarımlarda olduğu gibi, ekran tasarımları da dört köşe ile sınırlandırılmış iki boyutlu yüzeyler üzerinde yapılırlar. Tasarımcı, mesajın görsel ve sözel kısımlarını belli bir bütünlük içinde, bu iki boyutlu yüzeyler üzerinde  tasarlamak durumundadır.</a:t>
            </a:r>
          </a:p>
          <a:p>
            <a:endParaRPr lang="tr-TR" altLang="en-TR" dirty="0"/>
          </a:p>
          <a:p>
            <a:r>
              <a:rPr lang="tr-TR" altLang="en-TR" dirty="0"/>
              <a:t>Bir yüzeyin yatay ve dikey kenarları, tasarımın ilk çizgileridir. Bunlar </a:t>
            </a:r>
            <a:r>
              <a:rPr lang="tr-TR" altLang="en-TR" dirty="0" err="1"/>
              <a:t>komposizyonun</a:t>
            </a:r>
            <a:r>
              <a:rPr lang="tr-TR" altLang="en-TR" dirty="0"/>
              <a:t> yapılacağı alanı belirler.</a:t>
            </a:r>
          </a:p>
          <a:p>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3</a:t>
            </a:fld>
            <a:endParaRPr lang="tr-TR"/>
          </a:p>
        </p:txBody>
      </p:sp>
    </p:spTree>
    <p:extLst>
      <p:ext uri="{BB962C8B-B14F-4D97-AF65-F5344CB8AC3E}">
        <p14:creationId xmlns:p14="http://schemas.microsoft.com/office/powerpoint/2010/main" val="3142403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altLang="en-TR" dirty="0"/>
              <a:t>Görsel elemanlar, kenar çizgileriyle aynı yönde yerleştirildiklerinde, düzenli ve durağan, açılı yerleştirildiklerinde ise dinamik ve enerjik bir yapı oluştururlar. Örnek</a:t>
            </a:r>
          </a:p>
          <a:p>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4</a:t>
            </a:fld>
            <a:endParaRPr lang="tr-TR"/>
          </a:p>
        </p:txBody>
      </p:sp>
    </p:spTree>
    <p:extLst>
      <p:ext uri="{BB962C8B-B14F-4D97-AF65-F5344CB8AC3E}">
        <p14:creationId xmlns:p14="http://schemas.microsoft.com/office/powerpoint/2010/main" val="1243551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Görsel elemanlar, kenar çizgileriyle aynı yönde yerleştirildiklerinde, düzenli ve durağan, açılı yerleştirildiklerinde ise dinamik ve enerjik bir yapı oluştururlar. Örnek</a:t>
            </a:r>
          </a:p>
          <a:p>
            <a:endParaRPr lang="tr-TR" altLang="en-TR" b="1" dirty="0"/>
          </a:p>
          <a:p>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5</a:t>
            </a:fld>
            <a:endParaRPr lang="tr-TR"/>
          </a:p>
        </p:txBody>
      </p:sp>
    </p:spTree>
    <p:extLst>
      <p:ext uri="{BB962C8B-B14F-4D97-AF65-F5344CB8AC3E}">
        <p14:creationId xmlns:p14="http://schemas.microsoft.com/office/powerpoint/2010/main" val="4097383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Bir yüzeyi yatay ve dikey olarak eksenlerle böldüğümüzde, bu iki eksenin kesiştiği geometrik merkez, odak noktasını oluşturur. Oysaki insan gözünün algıladığı merkez, kesin olarak ölçülemese bile bu geometrik merkezin biraz üzerindedir. </a:t>
            </a:r>
            <a:endParaRPr lang="tr-TR" altLang="en-TR" b="1" dirty="0"/>
          </a:p>
        </p:txBody>
      </p:sp>
      <p:sp>
        <p:nvSpPr>
          <p:cNvPr id="4" name="Slide Number Placeholder 3"/>
          <p:cNvSpPr>
            <a:spLocks noGrp="1"/>
          </p:cNvSpPr>
          <p:nvPr>
            <p:ph type="sldNum" sz="quarter" idx="5"/>
          </p:nvPr>
        </p:nvSpPr>
        <p:spPr/>
        <p:txBody>
          <a:bodyPr/>
          <a:lstStyle/>
          <a:p>
            <a:fld id="{6CE1CD16-3461-49A8-861A-0462DBFF20F0}" type="slidenum">
              <a:rPr lang="tr-TR" smtClean="0"/>
              <a:t>6</a:t>
            </a:fld>
            <a:endParaRPr lang="tr-TR"/>
          </a:p>
        </p:txBody>
      </p:sp>
    </p:spTree>
    <p:extLst>
      <p:ext uri="{BB962C8B-B14F-4D97-AF65-F5344CB8AC3E}">
        <p14:creationId xmlns:p14="http://schemas.microsoft.com/office/powerpoint/2010/main" val="3366865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İnsan görme duyusunun izlediği yol, grafik tasarımları şekillendiren unsurlardan biridir. Tasarımların yapıldığı yüzeylerin iki boyutluluğu onların durağan bir yapıda oldukları anlamını taşımaz.  Gözümüz, tasarım yüzeyindeki farklı odak noktalarına takılarak, bir anlamda o yüzeye bir enerji kazandırırlar. </a:t>
            </a:r>
          </a:p>
          <a:p>
            <a:r>
              <a:rPr lang="tr-TR" altLang="en-TR" dirty="0"/>
              <a:t>Yazılı iletişim, eski </a:t>
            </a:r>
            <a:r>
              <a:rPr lang="tr-TR" altLang="en-TR" dirty="0" err="1"/>
              <a:t>yunanlılardan</a:t>
            </a:r>
            <a:r>
              <a:rPr lang="tr-TR" altLang="en-TR" dirty="0"/>
              <a:t> beri, sol üstten sağ alt köşeye doğru, yatay ve çizgisel bir sıra izler. Bu sebepten dolayı, tasarım yüzeyinin sol üst köşesine yerleştirilen tasarım elemanları en önce dikkat çeken elemanlardır. Gözün izlediği bu hareket yönü, grafik tasarım yüzeylerinin düzenlenişindeki temel kriterlerden biridir. İçerik ekran ve </a:t>
            </a:r>
            <a:r>
              <a:rPr lang="tr-TR" altLang="en-TR" dirty="0" err="1"/>
              <a:t>arayüz</a:t>
            </a:r>
            <a:r>
              <a:rPr lang="tr-TR" altLang="en-TR" dirty="0"/>
              <a:t> tasarımlarında da, bu bilgi dikkate alınmalıdır.</a:t>
            </a:r>
            <a:endParaRPr lang="tr-TR" altLang="en-TR" b="1" dirty="0"/>
          </a:p>
          <a:p>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7</a:t>
            </a:fld>
            <a:endParaRPr lang="tr-TR"/>
          </a:p>
        </p:txBody>
      </p:sp>
    </p:spTree>
    <p:extLst>
      <p:ext uri="{BB962C8B-B14F-4D97-AF65-F5344CB8AC3E}">
        <p14:creationId xmlns:p14="http://schemas.microsoft.com/office/powerpoint/2010/main" val="369132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8</a:t>
            </a:fld>
            <a:endParaRPr lang="tr-TR"/>
          </a:p>
        </p:txBody>
      </p:sp>
    </p:spTree>
    <p:extLst>
      <p:ext uri="{BB962C8B-B14F-4D97-AF65-F5344CB8AC3E}">
        <p14:creationId xmlns:p14="http://schemas.microsoft.com/office/powerpoint/2010/main" val="30441169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9</a:t>
            </a:fld>
            <a:endParaRPr lang="tr-TR"/>
          </a:p>
        </p:txBody>
      </p:sp>
    </p:spTree>
    <p:extLst>
      <p:ext uri="{BB962C8B-B14F-4D97-AF65-F5344CB8AC3E}">
        <p14:creationId xmlns:p14="http://schemas.microsoft.com/office/powerpoint/2010/main" val="483472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10</a:t>
            </a:fld>
            <a:endParaRPr lang="tr-TR"/>
          </a:p>
        </p:txBody>
      </p:sp>
    </p:spTree>
    <p:extLst>
      <p:ext uri="{BB962C8B-B14F-4D97-AF65-F5344CB8AC3E}">
        <p14:creationId xmlns:p14="http://schemas.microsoft.com/office/powerpoint/2010/main" val="3972459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11</a:t>
            </a:fld>
            <a:endParaRPr lang="tr-TR"/>
          </a:p>
        </p:txBody>
      </p:sp>
    </p:spTree>
    <p:extLst>
      <p:ext uri="{BB962C8B-B14F-4D97-AF65-F5344CB8AC3E}">
        <p14:creationId xmlns:p14="http://schemas.microsoft.com/office/powerpoint/2010/main" val="1910392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TR" b="1" dirty="0" err="1"/>
              <a:t>Tasarım</a:t>
            </a:r>
            <a:r>
              <a:rPr lang="en-US" altLang="en-TR" b="1" dirty="0"/>
              <a:t> </a:t>
            </a:r>
            <a:r>
              <a:rPr lang="en-US" altLang="en-TR" b="1" dirty="0" err="1"/>
              <a:t>Yüzeyleri</a:t>
            </a:r>
            <a:r>
              <a:rPr lang="en-US" altLang="en-TR" b="1" dirty="0"/>
              <a:t> </a:t>
            </a:r>
            <a:r>
              <a:rPr lang="en-US" altLang="en-TR" b="1" dirty="0" err="1"/>
              <a:t>İçindeki</a:t>
            </a:r>
            <a:r>
              <a:rPr lang="en-US" altLang="en-TR" b="1" dirty="0"/>
              <a:t> </a:t>
            </a:r>
            <a:r>
              <a:rPr lang="en-US" altLang="en-TR" b="1" dirty="0" err="1"/>
              <a:t>Görsel</a:t>
            </a:r>
            <a:r>
              <a:rPr lang="en-US" altLang="en-TR" b="1" dirty="0"/>
              <a:t> </a:t>
            </a:r>
            <a:r>
              <a:rPr lang="en-US" altLang="en-TR" b="1" dirty="0" err="1"/>
              <a:t>Unsurlar</a:t>
            </a:r>
            <a:r>
              <a:rPr lang="en-US" altLang="en-TR" b="1" dirty="0"/>
              <a:t> </a:t>
            </a:r>
            <a:r>
              <a:rPr lang="en-US" altLang="en-TR" b="1" dirty="0" err="1"/>
              <a:t>ve</a:t>
            </a:r>
            <a:r>
              <a:rPr lang="en-US" altLang="en-TR" b="1" dirty="0"/>
              <a:t> </a:t>
            </a:r>
            <a:r>
              <a:rPr lang="en-US" altLang="en-TR" b="1" dirty="0" err="1"/>
              <a:t>Birbirleriyle</a:t>
            </a:r>
            <a:r>
              <a:rPr lang="en-US" altLang="en-TR" b="1" dirty="0"/>
              <a:t> </a:t>
            </a:r>
            <a:r>
              <a:rPr lang="en-US" altLang="en-TR" b="1" dirty="0" err="1"/>
              <a:t>İlişkileri</a:t>
            </a:r>
            <a:endParaRPr lang="en-US" altLang="en-TR" b="1" dirty="0"/>
          </a:p>
          <a:p>
            <a:r>
              <a:rPr lang="tr-TR" altLang="en-TR" dirty="0"/>
              <a:t>Görsel unsurlar, tasarım yüzeyleri içinde ve birbirleri arasında tasarım ilkeleri doğrultusunda bir ilişkiye girerler. Bu ilişkileri bilerek tasarıma başlamak, yapılabilecek hataların aza inmesini sağlar. Görsel unsurların tasarım yüzeyi ve kendileriyle olan ilişkilerini basitçe 4 madde de sıralayabiliriz:</a:t>
            </a:r>
            <a:br>
              <a:rPr lang="tr-TR" altLang="en-TR" dirty="0"/>
            </a:br>
            <a:br>
              <a:rPr lang="tr-TR" altLang="en-TR" dirty="0"/>
            </a:br>
            <a:endParaRPr lang="tr-TR" altLang="en-TR" dirty="0"/>
          </a:p>
          <a:p>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12</a:t>
            </a:fld>
            <a:endParaRPr lang="tr-TR"/>
          </a:p>
        </p:txBody>
      </p:sp>
    </p:spTree>
    <p:extLst>
      <p:ext uri="{BB962C8B-B14F-4D97-AF65-F5344CB8AC3E}">
        <p14:creationId xmlns:p14="http://schemas.microsoft.com/office/powerpoint/2010/main" val="20482975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TR" b="1" dirty="0" err="1"/>
              <a:t>Tasarım</a:t>
            </a:r>
            <a:r>
              <a:rPr lang="en-US" altLang="en-TR" b="1" dirty="0"/>
              <a:t> </a:t>
            </a:r>
            <a:r>
              <a:rPr lang="en-US" altLang="en-TR" b="1" dirty="0" err="1"/>
              <a:t>Yüzeyleri</a:t>
            </a:r>
            <a:r>
              <a:rPr lang="en-US" altLang="en-TR" b="1" dirty="0"/>
              <a:t> </a:t>
            </a:r>
            <a:r>
              <a:rPr lang="en-US" altLang="en-TR" b="1" dirty="0" err="1"/>
              <a:t>İçindeki</a:t>
            </a:r>
            <a:r>
              <a:rPr lang="en-US" altLang="en-TR" b="1" dirty="0"/>
              <a:t> </a:t>
            </a:r>
            <a:r>
              <a:rPr lang="en-US" altLang="en-TR" b="1" dirty="0" err="1"/>
              <a:t>Görsel</a:t>
            </a:r>
            <a:r>
              <a:rPr lang="en-US" altLang="en-TR" b="1" dirty="0"/>
              <a:t> </a:t>
            </a:r>
            <a:r>
              <a:rPr lang="en-US" altLang="en-TR" b="1" dirty="0" err="1"/>
              <a:t>Unsurlar</a:t>
            </a:r>
            <a:r>
              <a:rPr lang="en-US" altLang="en-TR" b="1" dirty="0"/>
              <a:t> </a:t>
            </a:r>
            <a:r>
              <a:rPr lang="en-US" altLang="en-TR" b="1" dirty="0" err="1"/>
              <a:t>ve</a:t>
            </a:r>
            <a:r>
              <a:rPr lang="en-US" altLang="en-TR" b="1" dirty="0"/>
              <a:t> </a:t>
            </a:r>
            <a:r>
              <a:rPr lang="en-US" altLang="en-TR" b="1" dirty="0" err="1"/>
              <a:t>Birbirleriyle</a:t>
            </a:r>
            <a:r>
              <a:rPr lang="en-US" altLang="en-TR" b="1" dirty="0"/>
              <a:t> </a:t>
            </a:r>
            <a:r>
              <a:rPr lang="en-US" altLang="en-TR" b="1" dirty="0" err="1"/>
              <a:t>İlişkileri</a:t>
            </a:r>
            <a:endParaRPr lang="en-US" altLang="en-TR" b="1" dirty="0"/>
          </a:p>
          <a:p>
            <a:r>
              <a:rPr lang="tr-TR" altLang="en-TR" dirty="0"/>
              <a:t>Görsel unsurlar, tasarım yüzeyleri içinde ve birbirleri arasında tasarım ilkeleri doğrultusunda bir ilişkiye girerler. Bu ilişkileri bilerek tasarıma başlamak, yapılabilecek hataların aza inmesini sağlar. Görsel unsurların tasarım yüzeyi ve kendileriyle olan ilişkilerini basitçe 4 madde de sıralayabiliriz:</a:t>
            </a:r>
            <a:br>
              <a:rPr lang="tr-TR" altLang="en-TR" dirty="0"/>
            </a:br>
            <a:br>
              <a:rPr lang="tr-TR" altLang="en-TR" dirty="0"/>
            </a:br>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13</a:t>
            </a:fld>
            <a:endParaRPr lang="tr-TR"/>
          </a:p>
        </p:txBody>
      </p:sp>
    </p:spTree>
    <p:extLst>
      <p:ext uri="{BB962C8B-B14F-4D97-AF65-F5344CB8AC3E}">
        <p14:creationId xmlns:p14="http://schemas.microsoft.com/office/powerpoint/2010/main" val="4144035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14</a:t>
            </a:fld>
            <a:endParaRPr lang="tr-TR"/>
          </a:p>
        </p:txBody>
      </p:sp>
    </p:spTree>
    <p:extLst>
      <p:ext uri="{BB962C8B-B14F-4D97-AF65-F5344CB8AC3E}">
        <p14:creationId xmlns:p14="http://schemas.microsoft.com/office/powerpoint/2010/main" val="3435443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altLang="en-TR" dirty="0"/>
              <a:t>Tasarım yüzeyi içinde birbirine fiziksel olarak yakın unsurlar kendi aralarında bir ilişkiye girerek gruplar oluştururlar. Örneğin okuyucu, hangi yazıyla hangi görselin ilişkili olduğunu çoğu kez yakınlık uzaklık ilişkisi ile algılar. </a:t>
            </a:r>
          </a:p>
          <a:p>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15</a:t>
            </a:fld>
            <a:endParaRPr lang="tr-TR"/>
          </a:p>
        </p:txBody>
      </p:sp>
    </p:spTree>
    <p:extLst>
      <p:ext uri="{BB962C8B-B14F-4D97-AF65-F5344CB8AC3E}">
        <p14:creationId xmlns:p14="http://schemas.microsoft.com/office/powerpoint/2010/main" val="28430543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Benzer boyutlara, renklere, biçime, tonlara, çizgiye ya da yönlere sahip görsel unsurlar da herhangi bir yakınlık ilişkisi olmasa bile kendi aralarında ilişkiye girerek bir grup oluştururlar. </a:t>
            </a:r>
          </a:p>
        </p:txBody>
      </p:sp>
      <p:sp>
        <p:nvSpPr>
          <p:cNvPr id="4" name="Slide Number Placeholder 3"/>
          <p:cNvSpPr>
            <a:spLocks noGrp="1"/>
          </p:cNvSpPr>
          <p:nvPr>
            <p:ph type="sldNum" sz="quarter" idx="5"/>
          </p:nvPr>
        </p:nvSpPr>
        <p:spPr/>
        <p:txBody>
          <a:bodyPr/>
          <a:lstStyle/>
          <a:p>
            <a:fld id="{6CE1CD16-3461-49A8-861A-0462DBFF20F0}" type="slidenum">
              <a:rPr lang="tr-TR" smtClean="0"/>
              <a:t>16</a:t>
            </a:fld>
            <a:endParaRPr lang="tr-TR"/>
          </a:p>
        </p:txBody>
      </p:sp>
    </p:spTree>
    <p:extLst>
      <p:ext uri="{BB962C8B-B14F-4D97-AF65-F5344CB8AC3E}">
        <p14:creationId xmlns:p14="http://schemas.microsoft.com/office/powerpoint/2010/main" val="12089481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r>
              <a:rPr lang="tr-TR" altLang="en-TR" dirty="0"/>
              <a:t>Tasarım da kullanılan elemanların algılanması sağlayan ve kesinlikle atlanmaması gereken temel tasarım ilkelerinden biri de, “boşluk” kullanımıdır. Bilinçli bir “boşluk” kullanımıyla, sadeliği ve düzeni yakalamak mümkündür. Boşluk olmayan bir alanda, tasarım elemanlarının yüklendiği mesajları algılamak zorlaşır. Tasarımın akciğerleri olan boşluklar, rahatlamayı sağladığı gibi, zenginliği de ifade eder. </a:t>
            </a:r>
          </a:p>
        </p:txBody>
      </p:sp>
      <p:sp>
        <p:nvSpPr>
          <p:cNvPr id="4" name="Slide Number Placeholder 3"/>
          <p:cNvSpPr>
            <a:spLocks noGrp="1"/>
          </p:cNvSpPr>
          <p:nvPr>
            <p:ph type="sldNum" sz="quarter" idx="5"/>
          </p:nvPr>
        </p:nvSpPr>
        <p:spPr/>
        <p:txBody>
          <a:bodyPr/>
          <a:lstStyle/>
          <a:p>
            <a:fld id="{6CE1CD16-3461-49A8-861A-0462DBFF20F0}" type="slidenum">
              <a:rPr lang="tr-TR" smtClean="0"/>
              <a:t>17</a:t>
            </a:fld>
            <a:endParaRPr lang="tr-TR"/>
          </a:p>
        </p:txBody>
      </p:sp>
    </p:spTree>
    <p:extLst>
      <p:ext uri="{BB962C8B-B14F-4D97-AF65-F5344CB8AC3E}">
        <p14:creationId xmlns:p14="http://schemas.microsoft.com/office/powerpoint/2010/main" val="36357512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18</a:t>
            </a:fld>
            <a:endParaRPr lang="tr-TR"/>
          </a:p>
        </p:txBody>
      </p:sp>
    </p:spTree>
    <p:extLst>
      <p:ext uri="{BB962C8B-B14F-4D97-AF65-F5344CB8AC3E}">
        <p14:creationId xmlns:p14="http://schemas.microsoft.com/office/powerpoint/2010/main" val="1370961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Şüphesiz ki bir yazıda okumayı kolaylaştıran en önemli etkenlerden birisi, kullanılan yazı karakteridir. Ekrandan okunması gereken yazılarda bu, daha da önem kazanır. </a:t>
            </a:r>
            <a:br>
              <a:rPr lang="tr-TR" altLang="en-TR" dirty="0"/>
            </a:br>
            <a:br>
              <a:rPr lang="tr-TR" altLang="en-TR" dirty="0"/>
            </a:br>
            <a:r>
              <a:rPr lang="tr-TR" altLang="en-TR" dirty="0"/>
              <a:t>İnternet üzerinde okunaksız yazı örneklerine sıkça rastlanmaktadır. Aslında bunun birden fazla sebebi vardır. Yazı karakteri seçimi, sayısı, puntosu, </a:t>
            </a:r>
            <a:r>
              <a:rPr lang="tr-TR" altLang="en-TR" dirty="0" err="1"/>
              <a:t>serifli</a:t>
            </a:r>
            <a:r>
              <a:rPr lang="tr-TR" altLang="en-TR" dirty="0"/>
              <a:t>, </a:t>
            </a:r>
            <a:r>
              <a:rPr lang="tr-TR" altLang="en-TR" dirty="0" err="1"/>
              <a:t>serifsiz</a:t>
            </a:r>
            <a:r>
              <a:rPr lang="tr-TR" altLang="en-TR" dirty="0"/>
              <a:t>, </a:t>
            </a:r>
            <a:r>
              <a:rPr lang="tr-TR" altLang="en-TR" dirty="0" err="1"/>
              <a:t>bold</a:t>
            </a:r>
            <a:r>
              <a:rPr lang="tr-TR" altLang="en-TR" dirty="0"/>
              <a:t> ya da italik olması, büyük küçük harf olması, </a:t>
            </a:r>
            <a:r>
              <a:rPr lang="tr-TR" altLang="en-TR" dirty="0" err="1"/>
              <a:t>bloklama</a:t>
            </a:r>
            <a:r>
              <a:rPr lang="tr-TR" altLang="en-TR" dirty="0"/>
              <a:t> biçimi, harf ve zemin rengi, zemin dokusu, satır uzunluğu ve boşluklar, </a:t>
            </a:r>
            <a:r>
              <a:rPr lang="tr-TR" altLang="en-TR" dirty="0" err="1"/>
              <a:t>tipografik</a:t>
            </a:r>
            <a:r>
              <a:rPr lang="tr-TR" altLang="en-TR" dirty="0"/>
              <a:t> düzenlemelerin temel sorunlarıdır.</a:t>
            </a:r>
          </a:p>
          <a:p>
            <a:r>
              <a:rPr lang="tr-TR" altLang="en-TR" dirty="0"/>
              <a:t>İçerik metinlerinde kullanılan yazılarda şu noktalara dikkat etmek gereklidir: </a:t>
            </a:r>
          </a:p>
          <a:p>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19</a:t>
            </a:fld>
            <a:endParaRPr lang="tr-TR"/>
          </a:p>
        </p:txBody>
      </p:sp>
    </p:spTree>
    <p:extLst>
      <p:ext uri="{BB962C8B-B14F-4D97-AF65-F5344CB8AC3E}">
        <p14:creationId xmlns:p14="http://schemas.microsoft.com/office/powerpoint/2010/main" val="39749992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err="1"/>
              <a:t>Verdana</a:t>
            </a:r>
            <a:r>
              <a:rPr lang="tr-TR" altLang="en-TR" dirty="0"/>
              <a:t> yada </a:t>
            </a:r>
            <a:r>
              <a:rPr lang="tr-TR" altLang="en-TR" dirty="0" err="1"/>
              <a:t>Tahoma</a:t>
            </a:r>
            <a:r>
              <a:rPr lang="tr-TR" altLang="en-TR" dirty="0"/>
              <a:t> gibi, özellikle ekrandan okumak için geliştirilmiş “</a:t>
            </a:r>
            <a:r>
              <a:rPr lang="tr-TR" altLang="en-TR" dirty="0" err="1"/>
              <a:t>serifsiz</a:t>
            </a:r>
            <a:r>
              <a:rPr lang="tr-TR" altLang="en-TR" dirty="0"/>
              <a:t>” yani tırnaksız yazı karakterleri kullanmalıdır. İdeal büyüklük 10 – 12 punto arasıdır.</a:t>
            </a:r>
          </a:p>
        </p:txBody>
      </p:sp>
      <p:sp>
        <p:nvSpPr>
          <p:cNvPr id="4" name="Slide Number Placeholder 3"/>
          <p:cNvSpPr>
            <a:spLocks noGrp="1"/>
          </p:cNvSpPr>
          <p:nvPr>
            <p:ph type="sldNum" sz="quarter" idx="5"/>
          </p:nvPr>
        </p:nvSpPr>
        <p:spPr/>
        <p:txBody>
          <a:bodyPr/>
          <a:lstStyle/>
          <a:p>
            <a:fld id="{6CE1CD16-3461-49A8-861A-0462DBFF20F0}" type="slidenum">
              <a:rPr lang="tr-TR" smtClean="0"/>
              <a:t>20</a:t>
            </a:fld>
            <a:endParaRPr lang="tr-TR"/>
          </a:p>
        </p:txBody>
      </p:sp>
    </p:spTree>
    <p:extLst>
      <p:ext uri="{BB962C8B-B14F-4D97-AF65-F5344CB8AC3E}">
        <p14:creationId xmlns:p14="http://schemas.microsoft.com/office/powerpoint/2010/main" val="34201266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altLang="en-TR" dirty="0"/>
              <a:t>İçleri kapanmış “a” yada “ü” harfleri, okumayı zorlaştırır. Bu nedenle </a:t>
            </a:r>
            <a:r>
              <a:rPr lang="tr-TR" altLang="en-TR" dirty="0" err="1"/>
              <a:t>bold</a:t>
            </a:r>
            <a:r>
              <a:rPr lang="tr-TR" altLang="en-TR" dirty="0"/>
              <a:t> karakterler, ince karakterlere göre daha zor okunmaktadır. </a:t>
            </a:r>
            <a:r>
              <a:rPr lang="tr-TR" altLang="en-TR" dirty="0" err="1"/>
              <a:t>Bold</a:t>
            </a:r>
            <a:r>
              <a:rPr lang="tr-TR" altLang="en-TR" dirty="0"/>
              <a:t> karakterle yazılmış uzun metinlerden kaçınılmalıdır. </a:t>
            </a:r>
          </a:p>
          <a:p>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21</a:t>
            </a:fld>
            <a:endParaRPr lang="tr-TR"/>
          </a:p>
        </p:txBody>
      </p:sp>
    </p:spTree>
    <p:extLst>
      <p:ext uri="{BB962C8B-B14F-4D97-AF65-F5344CB8AC3E}">
        <p14:creationId xmlns:p14="http://schemas.microsoft.com/office/powerpoint/2010/main" val="28749448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pPr>
            <a:r>
              <a:rPr lang="tr-TR" altLang="en-TR" dirty="0"/>
              <a:t>Ekranda birden fazla yazı karakteri çeşidi, gereksiz bir </a:t>
            </a:r>
            <a:r>
              <a:rPr lang="tr-TR" altLang="en-TR" dirty="0" err="1"/>
              <a:t>kalabalıklık</a:t>
            </a:r>
            <a:r>
              <a:rPr lang="tr-TR" altLang="en-TR" dirty="0"/>
              <a:t> yaratabilir. Çeşitliliği sağlamak, tekdüzeliği kırmak için, aynı fontun </a:t>
            </a:r>
            <a:r>
              <a:rPr lang="tr-TR" altLang="en-TR" b="1" dirty="0" err="1"/>
              <a:t>bold</a:t>
            </a:r>
            <a:r>
              <a:rPr lang="tr-TR" altLang="en-TR" dirty="0"/>
              <a:t> ya da </a:t>
            </a:r>
            <a:r>
              <a:rPr lang="tr-TR" altLang="en-TR" i="1" dirty="0"/>
              <a:t>italik</a:t>
            </a:r>
            <a:r>
              <a:rPr lang="tr-TR" altLang="en-TR" dirty="0"/>
              <a:t> versiyonları ara ara kullanılabilir. </a:t>
            </a:r>
          </a:p>
        </p:txBody>
      </p:sp>
      <p:sp>
        <p:nvSpPr>
          <p:cNvPr id="4" name="Slide Number Placeholder 3"/>
          <p:cNvSpPr>
            <a:spLocks noGrp="1"/>
          </p:cNvSpPr>
          <p:nvPr>
            <p:ph type="sldNum" sz="quarter" idx="5"/>
          </p:nvPr>
        </p:nvSpPr>
        <p:spPr/>
        <p:txBody>
          <a:bodyPr/>
          <a:lstStyle/>
          <a:p>
            <a:fld id="{6CE1CD16-3461-49A8-861A-0462DBFF20F0}" type="slidenum">
              <a:rPr lang="tr-TR" smtClean="0"/>
              <a:t>22</a:t>
            </a:fld>
            <a:endParaRPr lang="tr-TR"/>
          </a:p>
        </p:txBody>
      </p:sp>
    </p:spTree>
    <p:extLst>
      <p:ext uri="{BB962C8B-B14F-4D97-AF65-F5344CB8AC3E}">
        <p14:creationId xmlns:p14="http://schemas.microsoft.com/office/powerpoint/2010/main" val="26713030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pPr>
            <a:r>
              <a:rPr lang="tr-TR" altLang="en-TR" dirty="0"/>
              <a:t>İtalik yazılmış yazılar, tekdüzedir, gösterişsizdir. Değişik yapısıyla anlamı güçlendirebilir ama, deforme olmaya çok uygundur. Uzun metinlerin italik yazılması, yazıyı zayıf gösterir, harflerin birbirinden ayrılması zor olduğundan okumayı güçleştirir. </a:t>
            </a:r>
          </a:p>
        </p:txBody>
      </p:sp>
      <p:sp>
        <p:nvSpPr>
          <p:cNvPr id="4" name="Slide Number Placeholder 3"/>
          <p:cNvSpPr>
            <a:spLocks noGrp="1"/>
          </p:cNvSpPr>
          <p:nvPr>
            <p:ph type="sldNum" sz="quarter" idx="5"/>
          </p:nvPr>
        </p:nvSpPr>
        <p:spPr/>
        <p:txBody>
          <a:bodyPr/>
          <a:lstStyle/>
          <a:p>
            <a:fld id="{6CE1CD16-3461-49A8-861A-0462DBFF20F0}" type="slidenum">
              <a:rPr lang="tr-TR" smtClean="0"/>
              <a:t>23</a:t>
            </a:fld>
            <a:endParaRPr lang="tr-TR"/>
          </a:p>
        </p:txBody>
      </p:sp>
    </p:spTree>
    <p:extLst>
      <p:ext uri="{BB962C8B-B14F-4D97-AF65-F5344CB8AC3E}">
        <p14:creationId xmlns:p14="http://schemas.microsoft.com/office/powerpoint/2010/main" val="5613260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0"/>
              </a:spcBef>
            </a:pPr>
            <a:r>
              <a:rPr lang="tr-TR" altLang="en-TR" dirty="0"/>
              <a:t>Uzun metinlerin </a:t>
            </a:r>
            <a:r>
              <a:rPr lang="tr-TR" altLang="en-TR" dirty="0" err="1"/>
              <a:t>bold</a:t>
            </a:r>
            <a:r>
              <a:rPr lang="tr-TR" altLang="en-TR" dirty="0"/>
              <a:t> yazılması gibi, tüm metnin tamamının büyük harflerle yazılmış olması da yazıyı sevimsiz kılar. Sözcükler, kaba bir dikdörtgen biçiminde algılanırlar. Küçük harfler, kuyrukları ve bacaklarıyla büyük harflerden daha kolay algılanabilirler ve bu da onları daha okunabilir yapar. </a:t>
            </a:r>
          </a:p>
        </p:txBody>
      </p:sp>
      <p:sp>
        <p:nvSpPr>
          <p:cNvPr id="4" name="Slide Number Placeholder 3"/>
          <p:cNvSpPr>
            <a:spLocks noGrp="1"/>
          </p:cNvSpPr>
          <p:nvPr>
            <p:ph type="sldNum" sz="quarter" idx="5"/>
          </p:nvPr>
        </p:nvSpPr>
        <p:spPr/>
        <p:txBody>
          <a:bodyPr/>
          <a:lstStyle/>
          <a:p>
            <a:fld id="{6CE1CD16-3461-49A8-861A-0462DBFF20F0}" type="slidenum">
              <a:rPr lang="tr-TR" smtClean="0"/>
              <a:t>24</a:t>
            </a:fld>
            <a:endParaRPr lang="tr-TR"/>
          </a:p>
        </p:txBody>
      </p:sp>
    </p:spTree>
    <p:extLst>
      <p:ext uri="{BB962C8B-B14F-4D97-AF65-F5344CB8AC3E}">
        <p14:creationId xmlns:p14="http://schemas.microsoft.com/office/powerpoint/2010/main" val="8233427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r-TR" altLang="en-TR" dirty="0"/>
              <a:t>Ekrandaki uzun satırlar, gözü yorar ve takibi zorlaştır. </a:t>
            </a:r>
          </a:p>
        </p:txBody>
      </p:sp>
      <p:sp>
        <p:nvSpPr>
          <p:cNvPr id="4" name="Slide Number Placeholder 3"/>
          <p:cNvSpPr>
            <a:spLocks noGrp="1"/>
          </p:cNvSpPr>
          <p:nvPr>
            <p:ph type="sldNum" sz="quarter" idx="5"/>
          </p:nvPr>
        </p:nvSpPr>
        <p:spPr/>
        <p:txBody>
          <a:bodyPr/>
          <a:lstStyle/>
          <a:p>
            <a:fld id="{6CE1CD16-3461-49A8-861A-0462DBFF20F0}" type="slidenum">
              <a:rPr lang="tr-TR" smtClean="0"/>
              <a:t>25</a:t>
            </a:fld>
            <a:endParaRPr lang="tr-TR"/>
          </a:p>
        </p:txBody>
      </p:sp>
    </p:spTree>
    <p:extLst>
      <p:ext uri="{BB962C8B-B14F-4D97-AF65-F5344CB8AC3E}">
        <p14:creationId xmlns:p14="http://schemas.microsoft.com/office/powerpoint/2010/main" val="7664975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None/>
              <a:tabLst/>
              <a:defRPr/>
            </a:pPr>
            <a:r>
              <a:rPr lang="tr-TR" altLang="en-TR" dirty="0"/>
              <a:t>Sağa ve sola </a:t>
            </a:r>
            <a:r>
              <a:rPr lang="tr-TR" altLang="en-TR" dirty="0" err="1"/>
              <a:t>bloklanmış</a:t>
            </a:r>
            <a:r>
              <a:rPr lang="tr-TR" altLang="en-TR" dirty="0"/>
              <a:t> metinlerde satır takibi, sadece sola yada sağa dayandırılmış metinlere göre daha zordur. Tek tarafa </a:t>
            </a:r>
            <a:r>
              <a:rPr lang="tr-TR" altLang="en-TR" dirty="0" err="1"/>
              <a:t>hizzalanmış</a:t>
            </a:r>
            <a:r>
              <a:rPr lang="tr-TR" altLang="en-TR" dirty="0"/>
              <a:t> metinlerin diğer tarafındaki uzunlu kısalı görüntü, gözün satırları takibini kolaylaştıracağı gibi, metine dinamik bir hava da verir.   </a:t>
            </a:r>
          </a:p>
          <a:p>
            <a:pPr marL="228600" indent="-228600"/>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26</a:t>
            </a:fld>
            <a:endParaRPr lang="tr-TR"/>
          </a:p>
        </p:txBody>
      </p:sp>
    </p:spTree>
    <p:extLst>
      <p:ext uri="{BB962C8B-B14F-4D97-AF65-F5344CB8AC3E}">
        <p14:creationId xmlns:p14="http://schemas.microsoft.com/office/powerpoint/2010/main" val="29163248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Tx/>
              <a:buNone/>
              <a:tabLst/>
              <a:defRPr/>
            </a:pPr>
            <a:r>
              <a:rPr lang="tr-TR" altLang="en-TR" dirty="0"/>
              <a:t>Sağa ve sola </a:t>
            </a:r>
            <a:r>
              <a:rPr lang="tr-TR" altLang="en-TR" dirty="0" err="1"/>
              <a:t>bloklanmış</a:t>
            </a:r>
            <a:r>
              <a:rPr lang="tr-TR" altLang="en-TR" dirty="0"/>
              <a:t> metinlerde satır takibi, sadece sola yada sağa dayandırılmış metinlere göre daha zordur. Tek tarafa </a:t>
            </a:r>
            <a:r>
              <a:rPr lang="tr-TR" altLang="en-TR" dirty="0" err="1"/>
              <a:t>hizzalanmış</a:t>
            </a:r>
            <a:r>
              <a:rPr lang="tr-TR" altLang="en-TR" dirty="0"/>
              <a:t> metinlerin diğer tarafındaki uzunlu kısalı görüntü, gözün satırları takibini kolaylaştıracağı gibi, metine dinamik bir hava da verir.   </a:t>
            </a:r>
          </a:p>
          <a:p>
            <a:pPr marL="228600" indent="-228600"/>
            <a:endParaRPr lang="tr-TR" altLang="en-TR" dirty="0"/>
          </a:p>
        </p:txBody>
      </p:sp>
      <p:sp>
        <p:nvSpPr>
          <p:cNvPr id="4" name="Slide Number Placeholder 3"/>
          <p:cNvSpPr>
            <a:spLocks noGrp="1"/>
          </p:cNvSpPr>
          <p:nvPr>
            <p:ph type="sldNum" sz="quarter" idx="5"/>
          </p:nvPr>
        </p:nvSpPr>
        <p:spPr/>
        <p:txBody>
          <a:bodyPr/>
          <a:lstStyle/>
          <a:p>
            <a:fld id="{6CE1CD16-3461-49A8-861A-0462DBFF20F0}" type="slidenum">
              <a:rPr lang="tr-TR" smtClean="0"/>
              <a:t>27</a:t>
            </a:fld>
            <a:endParaRPr lang="tr-TR"/>
          </a:p>
        </p:txBody>
      </p:sp>
    </p:spTree>
    <p:extLst>
      <p:ext uri="{BB962C8B-B14F-4D97-AF65-F5344CB8AC3E}">
        <p14:creationId xmlns:p14="http://schemas.microsoft.com/office/powerpoint/2010/main" val="1112507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1">
        <a:schemeClr val="bg1"/>
      </p:bgRef>
    </p:bg>
    <p:spTree>
      <p:nvGrpSpPr>
        <p:cNvPr id="1" name=""/>
        <p:cNvGrpSpPr/>
        <p:nvPr/>
      </p:nvGrpSpPr>
      <p:grpSpPr>
        <a:xfrm>
          <a:off x="0" y="0"/>
          <a:ext cx="0" cy="0"/>
          <a:chOff x="0" y="0"/>
          <a:chExt cx="0" cy="0"/>
        </a:xfrm>
      </p:grpSpPr>
      <p:sp>
        <p:nvSpPr>
          <p:cNvPr id="8" name="7 Başlık"/>
          <p:cNvSpPr>
            <a:spLocks noGrp="1"/>
          </p:cNvSpPr>
          <p:nvPr>
            <p:ph type="ctrTitle"/>
          </p:nvPr>
        </p:nvSpPr>
        <p:spPr>
          <a:xfrm>
            <a:off x="2286000" y="3124200"/>
            <a:ext cx="6172200" cy="1894362"/>
          </a:xfrm>
        </p:spPr>
        <p:txBody>
          <a:bodyPr/>
          <a:lstStyle>
            <a:lvl1pPr>
              <a:defRPr b="1"/>
            </a:lvl1pPr>
          </a:lstStyle>
          <a:p>
            <a:r>
              <a:rPr kumimoji="0" lang="tr-TR"/>
              <a:t>Asıl başlık stili için tıklatın</a:t>
            </a:r>
            <a:endParaRPr kumimoji="0" lang="en-US"/>
          </a:p>
        </p:txBody>
      </p:sp>
      <p:sp>
        <p:nvSpPr>
          <p:cNvPr id="9" name="8 Alt Başlık"/>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a:t>Asıl alt başlık stilini düzenlemek için tıklatın</a:t>
            </a:r>
            <a:endParaRPr kumimoji="0" lang="en-US"/>
          </a:p>
        </p:txBody>
      </p:sp>
      <p:sp>
        <p:nvSpPr>
          <p:cNvPr id="28" name="27 Veri Yer Tutucusu"/>
          <p:cNvSpPr>
            <a:spLocks noGrp="1"/>
          </p:cNvSpPr>
          <p:nvPr>
            <p:ph type="dt" sz="half" idx="10"/>
          </p:nvPr>
        </p:nvSpPr>
        <p:spPr bwMode="auto">
          <a:xfrm rot="5400000">
            <a:off x="7764621" y="1174097"/>
            <a:ext cx="2286000" cy="381000"/>
          </a:xfrm>
        </p:spPr>
        <p:txBody>
          <a:bodyPr/>
          <a:lstStyle/>
          <a:p>
            <a:fld id="{099275E6-BDB1-4AC3-815C-2C2D22452163}" type="datetime1">
              <a:rPr lang="tr-TR" smtClean="0"/>
              <a:t>7.12.2020</a:t>
            </a:fld>
            <a:endParaRPr lang="tr-TR"/>
          </a:p>
        </p:txBody>
      </p:sp>
      <p:sp>
        <p:nvSpPr>
          <p:cNvPr id="17" name="16 Altbilgi Yer Tutucusu"/>
          <p:cNvSpPr>
            <a:spLocks noGrp="1"/>
          </p:cNvSpPr>
          <p:nvPr>
            <p:ph type="ftr" sz="quarter" idx="11"/>
          </p:nvPr>
        </p:nvSpPr>
        <p:spPr bwMode="auto">
          <a:xfrm rot="5400000">
            <a:off x="7077269" y="4181669"/>
            <a:ext cx="3657600" cy="384048"/>
          </a:xfrm>
        </p:spPr>
        <p:txBody>
          <a:bodyPr/>
          <a:lstStyle/>
          <a:p>
            <a:endParaRPr lang="tr-TR"/>
          </a:p>
        </p:txBody>
      </p:sp>
      <p:sp>
        <p:nvSpPr>
          <p:cNvPr id="10" name="9 Dikdörtgen"/>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Dikdörtgen"/>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13 Dikdörtgen"/>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18 Dikdörtgen"/>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Düz Bağlayıcı"/>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Düz Bağlayıcı"/>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19 Düz Bağlayıcı"/>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Düz Bağlayıcı"/>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Düz Bağlayıcı"/>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21 Düz Bağlayıcı"/>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26 Dikdörtgen"/>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Oval"/>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Oval"/>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23 Oval"/>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Oval"/>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24 Oval"/>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28 Slayt Numarası Yer Tutucusu"/>
          <p:cNvSpPr>
            <a:spLocks noGrp="1"/>
          </p:cNvSpPr>
          <p:nvPr>
            <p:ph type="sldNum" sz="quarter" idx="12"/>
          </p:nvPr>
        </p:nvSpPr>
        <p:spPr bwMode="auto">
          <a:xfrm>
            <a:off x="1325544" y="4928702"/>
            <a:ext cx="609600" cy="517524"/>
          </a:xfrm>
        </p:spPr>
        <p:txBody>
          <a:bodyPr/>
          <a:lstStyle/>
          <a:p>
            <a:fld id="{DE121D1B-9491-4A5F-BD01-A1B3B0B623A2}" type="slidenum">
              <a:rPr lang="tr-TR" smtClean="0"/>
              <a:pPr/>
              <a:t>‹#›</a:t>
            </a:fld>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8" name="7 İçerik Yer Tutucusu"/>
          <p:cNvSpPr>
            <a:spLocks noGrp="1"/>
          </p:cNvSpPr>
          <p:nvPr>
            <p:ph sz="quarter" idx="1"/>
          </p:nvPr>
        </p:nvSpPr>
        <p:spPr>
          <a:xfrm>
            <a:off x="457200" y="1600200"/>
            <a:ext cx="7467600" cy="4873752"/>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7" name="6 Veri Yer Tutucusu"/>
          <p:cNvSpPr>
            <a:spLocks noGrp="1"/>
          </p:cNvSpPr>
          <p:nvPr>
            <p:ph type="dt" sz="half" idx="14"/>
          </p:nvPr>
        </p:nvSpPr>
        <p:spPr/>
        <p:txBody>
          <a:bodyPr rtlCol="0"/>
          <a:lstStyle/>
          <a:p>
            <a:fld id="{0D220B3B-728E-46A1-B4E5-2D1C609AAE18}" type="datetime1">
              <a:rPr lang="tr-TR" smtClean="0"/>
              <a:t>7.12.2020</a:t>
            </a:fld>
            <a:endParaRPr lang="tr-TR"/>
          </a:p>
        </p:txBody>
      </p:sp>
      <p:sp>
        <p:nvSpPr>
          <p:cNvPr id="9" name="8 Slayt Numarası Yer Tutucusu"/>
          <p:cNvSpPr>
            <a:spLocks noGrp="1"/>
          </p:cNvSpPr>
          <p:nvPr>
            <p:ph type="sldNum" sz="quarter" idx="15"/>
          </p:nvPr>
        </p:nvSpPr>
        <p:spPr/>
        <p:txBody>
          <a:bodyPr rtlCol="0"/>
          <a:lstStyle/>
          <a:p>
            <a:fld id="{DE121D1B-9491-4A5F-BD01-A1B3B0B623A2}" type="slidenum">
              <a:rPr lang="tr-TR" smtClean="0"/>
              <a:pPr/>
              <a:t>‹#›</a:t>
            </a:fld>
            <a:endParaRPr lang="tr-TR"/>
          </a:p>
        </p:txBody>
      </p:sp>
      <p:sp>
        <p:nvSpPr>
          <p:cNvPr id="10" name="9 Altbilgi Yer Tutucusu"/>
          <p:cNvSpPr>
            <a:spLocks noGrp="1"/>
          </p:cNvSpPr>
          <p:nvPr>
            <p:ph type="ftr" sz="quarter" idx="16"/>
          </p:nvPr>
        </p:nvSpPr>
        <p:spPr/>
        <p:txBody>
          <a:bodyPr rtlCol="0"/>
          <a:lstStyle/>
          <a:p>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1">
        <a:schemeClr val="bg2"/>
      </p:bgRef>
    </p:bg>
    <p:spTree>
      <p:nvGrpSpPr>
        <p:cNvPr id="1" name=""/>
        <p:cNvGrpSpPr/>
        <p:nvPr/>
      </p:nvGrpSpPr>
      <p:grpSpPr>
        <a:xfrm>
          <a:off x="0" y="0"/>
          <a:ext cx="0" cy="0"/>
          <a:chOff x="0" y="0"/>
          <a:chExt cx="0" cy="0"/>
        </a:xfrm>
      </p:grpSpPr>
      <p:sp>
        <p:nvSpPr>
          <p:cNvPr id="2" name="1 Başlık"/>
          <p:cNvSpPr>
            <a:spLocks noGrp="1"/>
          </p:cNvSpPr>
          <p:nvPr>
            <p:ph type="title"/>
          </p:nvPr>
        </p:nvSpPr>
        <p:spPr>
          <a:xfrm>
            <a:off x="2286000" y="2895600"/>
            <a:ext cx="6172200" cy="2053590"/>
          </a:xfrm>
        </p:spPr>
        <p:txBody>
          <a:bodyPr/>
          <a:lstStyle>
            <a:lvl1pPr algn="l">
              <a:buNone/>
              <a:defRPr sz="3000" b="1" cap="small" baseline="0"/>
            </a:lvl1pPr>
          </a:lstStyle>
          <a:p>
            <a:r>
              <a:rPr kumimoji="0" lang="tr-TR"/>
              <a:t>Asıl başlık stili için tıklatın</a:t>
            </a:r>
            <a:endParaRPr kumimoji="0" lang="en-US"/>
          </a:p>
        </p:txBody>
      </p:sp>
      <p:sp>
        <p:nvSpPr>
          <p:cNvPr id="3" name="2 Metin Yer Tutucusu"/>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a:t>Asıl metin stillerini düzenlemek için tıklatın</a:t>
            </a:r>
          </a:p>
        </p:txBody>
      </p:sp>
      <p:sp>
        <p:nvSpPr>
          <p:cNvPr id="4" name="3 Veri Yer Tutucusu"/>
          <p:cNvSpPr>
            <a:spLocks noGrp="1"/>
          </p:cNvSpPr>
          <p:nvPr>
            <p:ph type="dt" sz="half" idx="10"/>
          </p:nvPr>
        </p:nvSpPr>
        <p:spPr bwMode="auto">
          <a:xfrm rot="5400000">
            <a:off x="7763256" y="1170432"/>
            <a:ext cx="2286000" cy="381000"/>
          </a:xfrm>
        </p:spPr>
        <p:txBody>
          <a:bodyPr/>
          <a:lstStyle/>
          <a:p>
            <a:fld id="{9E4052E5-45F5-4075-8D9E-4FAD178C4C64}" type="datetime1">
              <a:rPr lang="tr-TR" smtClean="0"/>
              <a:t>7.12.2020</a:t>
            </a:fld>
            <a:endParaRPr lang="tr-TR"/>
          </a:p>
        </p:txBody>
      </p:sp>
      <p:sp>
        <p:nvSpPr>
          <p:cNvPr id="5" name="4 Altbilgi Yer Tutucusu"/>
          <p:cNvSpPr>
            <a:spLocks noGrp="1"/>
          </p:cNvSpPr>
          <p:nvPr>
            <p:ph type="ftr" sz="quarter" idx="11"/>
          </p:nvPr>
        </p:nvSpPr>
        <p:spPr bwMode="auto">
          <a:xfrm rot="5400000">
            <a:off x="7077456" y="4178808"/>
            <a:ext cx="3657600" cy="384048"/>
          </a:xfrm>
        </p:spPr>
        <p:txBody>
          <a:bodyPr/>
          <a:lstStyle/>
          <a:p>
            <a:endParaRPr lang="tr-TR"/>
          </a:p>
        </p:txBody>
      </p:sp>
      <p:sp>
        <p:nvSpPr>
          <p:cNvPr id="9" name="8 Dikdörtgen"/>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Dikdörtgen"/>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Dikdörtgen"/>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Dikdörtgen"/>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Düz Bağlayıcı"/>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Düz Bağlayıcı"/>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14 Düz Bağlayıcı"/>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15 Düz Bağlayıcı"/>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16 Düz Bağlayıcı"/>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17 Dikdörtgen"/>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18 Oval"/>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19 Oval"/>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20 Oval"/>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21 Oval"/>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Oval"/>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25 Düz Bağlayıcı"/>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5 Slayt Numarası Yer Tutucusu"/>
          <p:cNvSpPr>
            <a:spLocks noGrp="1"/>
          </p:cNvSpPr>
          <p:nvPr>
            <p:ph type="sldNum" sz="quarter" idx="12"/>
          </p:nvPr>
        </p:nvSpPr>
        <p:spPr bwMode="auto">
          <a:xfrm>
            <a:off x="1340616" y="4928702"/>
            <a:ext cx="609600" cy="517524"/>
          </a:xfrm>
        </p:spPr>
        <p:txBody>
          <a:bodyPr/>
          <a:lstStyle/>
          <a:p>
            <a:fld id="{DE121D1B-9491-4A5F-BD01-A1B3B0B623A2}" type="slidenum">
              <a:rPr lang="tr-TR" smtClean="0"/>
              <a:pPr/>
              <a:t>‹#›</a:t>
            </a:fld>
            <a:endParaRPr lang="tr-T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5" name="4 Veri Yer Tutucusu"/>
          <p:cNvSpPr>
            <a:spLocks noGrp="1"/>
          </p:cNvSpPr>
          <p:nvPr>
            <p:ph type="dt" sz="half" idx="10"/>
          </p:nvPr>
        </p:nvSpPr>
        <p:spPr/>
        <p:txBody>
          <a:bodyPr/>
          <a:lstStyle/>
          <a:p>
            <a:fld id="{205F287B-E325-4848-85CA-2FFA31942568}" type="datetime1">
              <a:rPr lang="tr-TR" smtClean="0"/>
              <a:t>7.12.2020</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
        <p:nvSpPr>
          <p:cNvPr id="9" name="8 İçerik Yer Tutucusu"/>
          <p:cNvSpPr>
            <a:spLocks noGrp="1"/>
          </p:cNvSpPr>
          <p:nvPr>
            <p:ph sz="quarter" idx="1"/>
          </p:nvPr>
        </p:nvSpPr>
        <p:spPr>
          <a:xfrm>
            <a:off x="457200"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1" name="10 İçerik Yer Tutucusu"/>
          <p:cNvSpPr>
            <a:spLocks noGrp="1"/>
          </p:cNvSpPr>
          <p:nvPr>
            <p:ph sz="quarter" idx="2"/>
          </p:nvPr>
        </p:nvSpPr>
        <p:spPr>
          <a:xfrm>
            <a:off x="4270248"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7543800" cy="1143000"/>
          </a:xfrm>
        </p:spPr>
        <p:txBody>
          <a:bodyPr anchor="b"/>
          <a:lstStyle>
            <a:lvl1pPr>
              <a:defRPr/>
            </a:lvl1pPr>
          </a:lstStyle>
          <a:p>
            <a:r>
              <a:rPr kumimoji="0" lang="tr-TR"/>
              <a:t>Asıl başlık stili için tıklatın</a:t>
            </a:r>
            <a:endParaRPr kumimoji="0" lang="en-US"/>
          </a:p>
        </p:txBody>
      </p:sp>
      <p:sp>
        <p:nvSpPr>
          <p:cNvPr id="7" name="6 Veri Yer Tutucusu"/>
          <p:cNvSpPr>
            <a:spLocks noGrp="1"/>
          </p:cNvSpPr>
          <p:nvPr>
            <p:ph type="dt" sz="half" idx="10"/>
          </p:nvPr>
        </p:nvSpPr>
        <p:spPr/>
        <p:txBody>
          <a:bodyPr/>
          <a:lstStyle/>
          <a:p>
            <a:fld id="{5F0F2696-49BD-49B7-870B-61F0042AE0DB}" type="datetime1">
              <a:rPr lang="tr-TR" smtClean="0"/>
              <a:t>7.12.2020</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
        <p:nvSpPr>
          <p:cNvPr id="11" name="10 İçerik Yer Tutucusu"/>
          <p:cNvSpPr>
            <a:spLocks noGrp="1"/>
          </p:cNvSpPr>
          <p:nvPr>
            <p:ph sz="quarter" idx="2"/>
          </p:nvPr>
        </p:nvSpPr>
        <p:spPr>
          <a:xfrm>
            <a:off x="457200"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3" name="12 İçerik Yer Tutucusu"/>
          <p:cNvSpPr>
            <a:spLocks noGrp="1"/>
          </p:cNvSpPr>
          <p:nvPr>
            <p:ph sz="quarter" idx="4"/>
          </p:nvPr>
        </p:nvSpPr>
        <p:spPr>
          <a:xfrm>
            <a:off x="4371975"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2" name="11 Metin Yer Tutucusu"/>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
        <p:nvSpPr>
          <p:cNvPr id="14" name="13 Metin Yer Tutucusu"/>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6" name="5 Veri Yer Tutucusu"/>
          <p:cNvSpPr>
            <a:spLocks noGrp="1"/>
          </p:cNvSpPr>
          <p:nvPr>
            <p:ph type="dt" sz="half" idx="10"/>
          </p:nvPr>
        </p:nvSpPr>
        <p:spPr/>
        <p:txBody>
          <a:bodyPr rtlCol="0"/>
          <a:lstStyle/>
          <a:p>
            <a:fld id="{8451CD09-A8DF-49F8-8528-5C0A35A50562}" type="datetime1">
              <a:rPr lang="tr-TR" smtClean="0"/>
              <a:t>7.12.2020</a:t>
            </a:fld>
            <a:endParaRPr lang="tr-TR"/>
          </a:p>
        </p:txBody>
      </p:sp>
      <p:sp>
        <p:nvSpPr>
          <p:cNvPr id="7" name="6 Slayt Numarası Yer Tutucusu"/>
          <p:cNvSpPr>
            <a:spLocks noGrp="1"/>
          </p:cNvSpPr>
          <p:nvPr>
            <p:ph type="sldNum" sz="quarter" idx="11"/>
          </p:nvPr>
        </p:nvSpPr>
        <p:spPr/>
        <p:txBody>
          <a:bodyPr rtlCol="0"/>
          <a:lstStyle/>
          <a:p>
            <a:fld id="{DE121D1B-9491-4A5F-BD01-A1B3B0B623A2}" type="slidenum">
              <a:rPr lang="tr-TR" smtClean="0"/>
              <a:pPr/>
              <a:t>‹#›</a:t>
            </a:fld>
            <a:endParaRPr lang="tr-TR"/>
          </a:p>
        </p:txBody>
      </p:sp>
      <p:sp>
        <p:nvSpPr>
          <p:cNvPr id="8" name="7 Altbilgi Yer Tutucusu"/>
          <p:cNvSpPr>
            <a:spLocks noGrp="1"/>
          </p:cNvSpPr>
          <p:nvPr>
            <p:ph type="ftr" sz="quarter" idx="12"/>
          </p:nvPr>
        </p:nvSpPr>
        <p:spPr/>
        <p:txBody>
          <a:bodyPr rtlCol="0"/>
          <a:lstStyle/>
          <a:p>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EB691C94-E58A-43B5-AAB1-9CD9F36DD72A}" type="datetime1">
              <a:rPr lang="tr-TR" smtClean="0"/>
              <a:t>7.12.2020</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bg>
      <p:bgRef idx="1001">
        <a:schemeClr val="bg1"/>
      </p:bgRef>
    </p:bg>
    <p:spTree>
      <p:nvGrpSpPr>
        <p:cNvPr id="1" name=""/>
        <p:cNvGrpSpPr/>
        <p:nvPr/>
      </p:nvGrpSpPr>
      <p:grpSpPr>
        <a:xfrm>
          <a:off x="0" y="0"/>
          <a:ext cx="0" cy="0"/>
          <a:chOff x="0" y="0"/>
          <a:chExt cx="0" cy="0"/>
        </a:xfrm>
      </p:grpSpPr>
      <p:sp>
        <p:nvSpPr>
          <p:cNvPr id="10" name="9 Düz Bağlayıcı"/>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1 Başlık"/>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tr-TR"/>
              <a:t>Asıl başlık stili için tıklatın</a:t>
            </a:r>
            <a:endParaRPr kumimoji="0" lang="en-US"/>
          </a:p>
        </p:txBody>
      </p:sp>
      <p:sp>
        <p:nvSpPr>
          <p:cNvPr id="3" name="2 Metin Yer Tutucusu"/>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tr-TR"/>
              <a:t>Asıl metin stillerini düzenlemek için tıklatın</a:t>
            </a:r>
          </a:p>
        </p:txBody>
      </p:sp>
      <p:sp>
        <p:nvSpPr>
          <p:cNvPr id="8" name="7 Düz Bağlayıcı"/>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Düz Bağlayıcı"/>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10 Düz Bağlayıcı"/>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Dikdörtgen"/>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Düz Bağlayıcı"/>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13 Oval"/>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17 İçerik Yer Tutucusu"/>
          <p:cNvSpPr>
            <a:spLocks noGrp="1"/>
          </p:cNvSpPr>
          <p:nvPr>
            <p:ph sz="quarter" idx="1"/>
          </p:nvPr>
        </p:nvSpPr>
        <p:spPr>
          <a:xfrm>
            <a:off x="304800" y="274320"/>
            <a:ext cx="5638800" cy="6327648"/>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21" name="20 Veri Yer Tutucusu"/>
          <p:cNvSpPr>
            <a:spLocks noGrp="1"/>
          </p:cNvSpPr>
          <p:nvPr>
            <p:ph type="dt" sz="half" idx="14"/>
          </p:nvPr>
        </p:nvSpPr>
        <p:spPr/>
        <p:txBody>
          <a:bodyPr rtlCol="0"/>
          <a:lstStyle/>
          <a:p>
            <a:fld id="{2A18CDB5-35C5-4392-B161-325FA3E18DC3}" type="datetime1">
              <a:rPr lang="tr-TR" smtClean="0"/>
              <a:t>7.12.2020</a:t>
            </a:fld>
            <a:endParaRPr lang="tr-TR"/>
          </a:p>
        </p:txBody>
      </p:sp>
      <p:sp>
        <p:nvSpPr>
          <p:cNvPr id="22" name="21 Slayt Numarası Yer Tutucusu"/>
          <p:cNvSpPr>
            <a:spLocks noGrp="1"/>
          </p:cNvSpPr>
          <p:nvPr>
            <p:ph type="sldNum" sz="quarter" idx="15"/>
          </p:nvPr>
        </p:nvSpPr>
        <p:spPr/>
        <p:txBody>
          <a:bodyPr rtlCol="0"/>
          <a:lstStyle/>
          <a:p>
            <a:fld id="{DE121D1B-9491-4A5F-BD01-A1B3B0B623A2}" type="slidenum">
              <a:rPr lang="tr-TR" smtClean="0"/>
              <a:pPr/>
              <a:t>‹#›</a:t>
            </a:fld>
            <a:endParaRPr lang="tr-TR"/>
          </a:p>
        </p:txBody>
      </p:sp>
      <p:sp>
        <p:nvSpPr>
          <p:cNvPr id="23" name="22 Altbilgi Yer Tutucusu"/>
          <p:cNvSpPr>
            <a:spLocks noGrp="1"/>
          </p:cNvSpPr>
          <p:nvPr>
            <p:ph type="ftr" sz="quarter" idx="16"/>
          </p:nvPr>
        </p:nvSpPr>
        <p:spPr/>
        <p:txBody>
          <a:bodyPr rtlCol="0"/>
          <a:lstStyle/>
          <a:p>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9" name="8 Düz Bağlayıcı"/>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12 Oval"/>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1 Başlık"/>
          <p:cNvSpPr>
            <a:spLocks noGrp="1"/>
          </p:cNvSpPr>
          <p:nvPr>
            <p:ph type="title"/>
          </p:nvPr>
        </p:nvSpPr>
        <p:spPr>
          <a:xfrm rot="5400000">
            <a:off x="3350133" y="3200400"/>
            <a:ext cx="6309360" cy="457200"/>
          </a:xfrm>
        </p:spPr>
        <p:txBody>
          <a:bodyPr anchor="b"/>
          <a:lstStyle>
            <a:lvl1pPr algn="l">
              <a:buNone/>
              <a:defRPr sz="2000" b="1"/>
            </a:lvl1pPr>
          </a:lstStyle>
          <a:p>
            <a:r>
              <a:rPr kumimoji="0" lang="tr-TR"/>
              <a:t>Asıl başlık stili için tıklatın</a:t>
            </a:r>
            <a:endParaRPr kumimoji="0" lang="en-US"/>
          </a:p>
        </p:txBody>
      </p:sp>
      <p:sp>
        <p:nvSpPr>
          <p:cNvPr id="3" name="2 Resim Yer Tutucusu"/>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tr-TR"/>
              <a:t>Resim eklemek için simgeyi tıklatın</a:t>
            </a:r>
            <a:endParaRPr kumimoji="0" lang="en-US" dirty="0"/>
          </a:p>
        </p:txBody>
      </p:sp>
      <p:sp>
        <p:nvSpPr>
          <p:cNvPr id="4" name="3 Metin Yer Tutucusu"/>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tr-TR"/>
              <a:t>Asıl metin stillerini düzenlemek için tıklatın</a:t>
            </a:r>
          </a:p>
        </p:txBody>
      </p:sp>
      <p:sp>
        <p:nvSpPr>
          <p:cNvPr id="10" name="9 Düz Bağlayıcı"/>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10 Dikdörtgen"/>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Düz Bağlayıcı"/>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18 Düz Bağlayıcı"/>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19 Düz Bağlayıcı"/>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16 Veri Yer Tutucusu"/>
          <p:cNvSpPr>
            <a:spLocks noGrp="1"/>
          </p:cNvSpPr>
          <p:nvPr>
            <p:ph type="dt" sz="half" idx="10"/>
          </p:nvPr>
        </p:nvSpPr>
        <p:spPr/>
        <p:txBody>
          <a:bodyPr rtlCol="0"/>
          <a:lstStyle/>
          <a:p>
            <a:fld id="{82763EF9-8C7B-40A2-81BB-789A43B8E2A7}" type="datetime1">
              <a:rPr lang="tr-TR" smtClean="0"/>
              <a:t>7.12.2020</a:t>
            </a:fld>
            <a:endParaRPr lang="tr-TR"/>
          </a:p>
        </p:txBody>
      </p:sp>
      <p:sp>
        <p:nvSpPr>
          <p:cNvPr id="18" name="17 Slayt Numarası Yer Tutucusu"/>
          <p:cNvSpPr>
            <a:spLocks noGrp="1"/>
          </p:cNvSpPr>
          <p:nvPr>
            <p:ph type="sldNum" sz="quarter" idx="11"/>
          </p:nvPr>
        </p:nvSpPr>
        <p:spPr/>
        <p:txBody>
          <a:bodyPr rtlCol="0"/>
          <a:lstStyle/>
          <a:p>
            <a:fld id="{DE121D1B-9491-4A5F-BD01-A1B3B0B623A2}" type="slidenum">
              <a:rPr lang="tr-TR" smtClean="0"/>
              <a:pPr/>
              <a:t>‹#›</a:t>
            </a:fld>
            <a:endParaRPr lang="tr-TR"/>
          </a:p>
        </p:txBody>
      </p:sp>
      <p:sp>
        <p:nvSpPr>
          <p:cNvPr id="21" name="20 Altbilgi Yer Tutucusu"/>
          <p:cNvSpPr>
            <a:spLocks noGrp="1"/>
          </p:cNvSpPr>
          <p:nvPr>
            <p:ph type="ftr" sz="quarter" idx="12"/>
          </p:nvPr>
        </p:nvSpPr>
        <p:spPr/>
        <p:txBody>
          <a:bodyPr rtlCol="0"/>
          <a:lstStyle/>
          <a:p>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kumimoji="0" lang="tr-TR"/>
              <a:t>Asıl başlık stili için tıklatın</a:t>
            </a:r>
            <a:endParaRPr kumimoji="0" lang="en-US"/>
          </a:p>
        </p:txBody>
      </p:sp>
      <p:sp>
        <p:nvSpPr>
          <p:cNvPr id="3" name="2 Dikey Metin Yer Tutucusu"/>
          <p:cNvSpPr>
            <a:spLocks noGrp="1"/>
          </p:cNvSpPr>
          <p:nvPr>
            <p:ph type="body" orient="vert" idx="1"/>
          </p:nvPr>
        </p:nvSpPr>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3 Veri Yer Tutucusu"/>
          <p:cNvSpPr>
            <a:spLocks noGrp="1"/>
          </p:cNvSpPr>
          <p:nvPr>
            <p:ph type="dt" sz="half" idx="10"/>
          </p:nvPr>
        </p:nvSpPr>
        <p:spPr/>
        <p:txBody>
          <a:bodyPr/>
          <a:lstStyle/>
          <a:p>
            <a:fld id="{1254B87F-80D3-4B89-8E7A-FA2EED8BD7A5}" type="datetime1">
              <a:rPr lang="tr-TR" smtClean="0"/>
              <a:t>7.12.2020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9"/>
            <a:ext cx="1676400" cy="5851525"/>
          </a:xfrm>
        </p:spPr>
        <p:txBody>
          <a:bodyPr vert="eaVert"/>
          <a:lstStyle/>
          <a:p>
            <a:r>
              <a:rPr kumimoji="0" lang="tr-TR"/>
              <a:t>Asıl başlık stili için tıklatın</a:t>
            </a:r>
            <a:endParaRPr kumimoji="0" lang="en-US"/>
          </a:p>
        </p:txBody>
      </p:sp>
      <p:sp>
        <p:nvSpPr>
          <p:cNvPr id="3" name="2 Dikey Metin Yer Tutucusu"/>
          <p:cNvSpPr>
            <a:spLocks noGrp="1"/>
          </p:cNvSpPr>
          <p:nvPr>
            <p:ph type="body" orient="vert" idx="1"/>
          </p:nvPr>
        </p:nvSpPr>
        <p:spPr>
          <a:xfrm>
            <a:off x="457200" y="274638"/>
            <a:ext cx="6019800" cy="5851525"/>
          </a:xfrm>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3 Veri Yer Tutucusu"/>
          <p:cNvSpPr>
            <a:spLocks noGrp="1"/>
          </p:cNvSpPr>
          <p:nvPr>
            <p:ph type="dt" sz="half" idx="10"/>
          </p:nvPr>
        </p:nvSpPr>
        <p:spPr/>
        <p:txBody>
          <a:bodyPr/>
          <a:lstStyle/>
          <a:p>
            <a:fld id="{C3CD87DE-69B0-4BAD-A937-F2DCE546BFD7}" type="datetime1">
              <a:rPr lang="tr-TR" smtClean="0"/>
              <a:t>7.12.2020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DE121D1B-9491-4A5F-BD01-A1B3B0B623A2}"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15 Düz Bağlayıcı"/>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21 Başlık Yer Tutucusu"/>
          <p:cNvSpPr>
            <a:spLocks noGrp="1"/>
          </p:cNvSpPr>
          <p:nvPr>
            <p:ph type="title"/>
          </p:nvPr>
        </p:nvSpPr>
        <p:spPr>
          <a:xfrm>
            <a:off x="457200" y="274638"/>
            <a:ext cx="7467600" cy="1143000"/>
          </a:xfrm>
          <a:prstGeom prst="rect">
            <a:avLst/>
          </a:prstGeom>
        </p:spPr>
        <p:txBody>
          <a:bodyPr vert="horz" anchor="b">
            <a:normAutofit/>
          </a:bodyPr>
          <a:lstStyle/>
          <a:p>
            <a:r>
              <a:rPr kumimoji="0" lang="tr-TR"/>
              <a:t>Asıl başlık stili için tıklatın</a:t>
            </a:r>
            <a:endParaRPr kumimoji="0" lang="en-US"/>
          </a:p>
        </p:txBody>
      </p:sp>
      <p:sp>
        <p:nvSpPr>
          <p:cNvPr id="13" name="12 Metin Yer Tutucusu"/>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tr-TR"/>
              <a:t>Asıl metin stillerini düzenlemek için tıklatın</a:t>
            </a:r>
          </a:p>
          <a:p>
            <a:pPr lvl="1" eaLnBrk="1" latinLnBrk="0" hangingPunct="1"/>
            <a:r>
              <a:rPr kumimoji="0" lang="tr-TR"/>
              <a:t>İkinci düzey</a:t>
            </a:r>
          </a:p>
          <a:p>
            <a:pPr lvl="2" eaLnBrk="1" latinLnBrk="0" hangingPunct="1"/>
            <a:r>
              <a:rPr kumimoji="0" lang="tr-TR"/>
              <a:t>Üçüncü düzey</a:t>
            </a:r>
          </a:p>
          <a:p>
            <a:pPr lvl="3" eaLnBrk="1" latinLnBrk="0" hangingPunct="1"/>
            <a:r>
              <a:rPr kumimoji="0" lang="tr-TR"/>
              <a:t>Dördüncü düzey</a:t>
            </a:r>
          </a:p>
          <a:p>
            <a:pPr lvl="4" eaLnBrk="1" latinLnBrk="0" hangingPunct="1"/>
            <a:r>
              <a:rPr kumimoji="0" lang="tr-TR"/>
              <a:t>Beşinci düzey</a:t>
            </a:r>
            <a:endParaRPr kumimoji="0" lang="en-US"/>
          </a:p>
        </p:txBody>
      </p:sp>
      <p:sp>
        <p:nvSpPr>
          <p:cNvPr id="14" name="13 Veri Yer Tutucusu"/>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EEC7E1F2-290D-48B4-B19D-0927333BE67A}" type="datetime1">
              <a:rPr lang="tr-TR" smtClean="0"/>
              <a:t>7.12.2020</a:t>
            </a:fld>
            <a:endParaRPr lang="tr-TR"/>
          </a:p>
        </p:txBody>
      </p:sp>
      <p:sp>
        <p:nvSpPr>
          <p:cNvPr id="3" name="2 Altbilgi Yer Tutucusu"/>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tr-TR"/>
          </a:p>
        </p:txBody>
      </p:sp>
      <p:sp>
        <p:nvSpPr>
          <p:cNvPr id="7" name="6 Düz Bağlayıcı"/>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8 Düz Bağlayıcı"/>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9 Dikdörtgen"/>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Düz Bağlayıcı"/>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11 Oval"/>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22 Slayt Numarası Yer Tutucusu"/>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DE121D1B-9491-4A5F-BD01-A1B3B0B623A2}"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Başlık"/>
          <p:cNvSpPr>
            <a:spLocks noGrp="1"/>
          </p:cNvSpPr>
          <p:nvPr>
            <p:ph type="ctrTitle"/>
          </p:nvPr>
        </p:nvSpPr>
        <p:spPr>
          <a:xfrm>
            <a:off x="928662" y="1357298"/>
            <a:ext cx="7772400" cy="1171583"/>
          </a:xfrm>
        </p:spPr>
        <p:txBody>
          <a:bodyPr>
            <a:normAutofit/>
          </a:bodyPr>
          <a:lstStyle/>
          <a:p>
            <a:pPr algn="ctr"/>
            <a:r>
              <a:rPr lang="tr-TR" sz="3200"/>
              <a:t>UZAKTAN EĞİTİM TEKNOLOJİLERİ</a:t>
            </a:r>
            <a:endParaRPr lang="tr-TR" sz="3200" dirty="0"/>
          </a:p>
        </p:txBody>
      </p:sp>
      <p:sp>
        <p:nvSpPr>
          <p:cNvPr id="5" name="4 Alt Başlık"/>
          <p:cNvSpPr>
            <a:spLocks noGrp="1"/>
          </p:cNvSpPr>
          <p:nvPr>
            <p:ph type="subTitle" idx="1"/>
          </p:nvPr>
        </p:nvSpPr>
        <p:spPr>
          <a:xfrm>
            <a:off x="1371600" y="3714752"/>
            <a:ext cx="6915176" cy="2643206"/>
          </a:xfrm>
        </p:spPr>
        <p:txBody>
          <a:bodyPr>
            <a:normAutofit fontScale="92500" lnSpcReduction="10000"/>
          </a:bodyPr>
          <a:lstStyle/>
          <a:p>
            <a:pPr algn="ctr"/>
            <a:r>
              <a:rPr lang="tr-TR" sz="2200" b="0" dirty="0"/>
              <a:t>Prof. Dr. Tuncay YİĞİT</a:t>
            </a:r>
          </a:p>
          <a:p>
            <a:pPr algn="ctr"/>
            <a:r>
              <a:rPr lang="tr-TR" sz="2200" b="0" dirty="0"/>
              <a:t>Süleyman Demirel Üniversitesi</a:t>
            </a:r>
          </a:p>
          <a:p>
            <a:pPr algn="ctr"/>
            <a:r>
              <a:rPr lang="tr-TR" sz="2200" b="0" dirty="0"/>
              <a:t>Bilgisayar Mühendisliği Bölümü</a:t>
            </a:r>
          </a:p>
          <a:p>
            <a:pPr algn="ctr"/>
            <a:endParaRPr lang="tr-TR" sz="2200" b="0" dirty="0"/>
          </a:p>
          <a:p>
            <a:pPr algn="ctr"/>
            <a:endParaRPr lang="tr-TR" sz="2200" b="0" dirty="0"/>
          </a:p>
          <a:p>
            <a:pPr algn="ctr"/>
            <a:endParaRPr lang="tr-TR" sz="2000" b="0" dirty="0"/>
          </a:p>
          <a:p>
            <a:pPr algn="ctr"/>
            <a:r>
              <a:rPr lang="tr-TR" sz="2000" b="0" dirty="0"/>
              <a:t>ISPARTA - 2020</a:t>
            </a:r>
          </a:p>
        </p:txBody>
      </p:sp>
      <p:sp>
        <p:nvSpPr>
          <p:cNvPr id="3" name="Slayt Numarası Yer Tutucusu 2"/>
          <p:cNvSpPr>
            <a:spLocks noGrp="1"/>
          </p:cNvSpPr>
          <p:nvPr>
            <p:ph type="sldNum" sz="quarter" idx="12"/>
          </p:nvPr>
        </p:nvSpPr>
        <p:spPr/>
        <p:txBody>
          <a:bodyPr/>
          <a:lstStyle/>
          <a:p>
            <a:fld id="{DE121D1B-9491-4A5F-BD01-A1B3B0B623A2}" type="slidenum">
              <a:rPr lang="tr-TR" smtClean="0"/>
              <a:pPr/>
              <a:t>1</a:t>
            </a:fld>
            <a:endParaRPr lang="tr-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3284984"/>
            <a:ext cx="7467600" cy="1143000"/>
          </a:xfrm>
        </p:spPr>
        <p:txBody>
          <a:bodyPr>
            <a:noAutofit/>
          </a:bodyPr>
          <a:lstStyle/>
          <a:p>
            <a:r>
              <a:rPr lang="tr-TR" sz="4400" dirty="0"/>
              <a:t>TEMEL GRAFİK TASARIM KURALLARI ve İÇERİK EKRANLARI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2</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Tree>
    <p:extLst>
      <p:ext uri="{BB962C8B-B14F-4D97-AF65-F5344CB8AC3E}">
        <p14:creationId xmlns:p14="http://schemas.microsoft.com/office/powerpoint/2010/main" val="387765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TEMEL GRAFİK TASARIM ve İÇERİK EKRANLARI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3</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3</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9" name="computr3">
            <a:extLst>
              <a:ext uri="{FF2B5EF4-FFF2-40B4-BE49-F238E27FC236}">
                <a16:creationId xmlns:a16="http://schemas.microsoft.com/office/drawing/2014/main" id="{F9412511-5823-124B-9909-2625AD542E5C}"/>
              </a:ext>
            </a:extLst>
          </p:cNvPr>
          <p:cNvSpPr>
            <a:spLocks noEditPoints="1" noChangeArrowheads="1"/>
          </p:cNvSpPr>
          <p:nvPr/>
        </p:nvSpPr>
        <p:spPr bwMode="auto">
          <a:xfrm>
            <a:off x="1835696" y="2781647"/>
            <a:ext cx="4714875" cy="3095625"/>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10" name="Rectangle 5">
            <a:extLst>
              <a:ext uri="{FF2B5EF4-FFF2-40B4-BE49-F238E27FC236}">
                <a16:creationId xmlns:a16="http://schemas.microsoft.com/office/drawing/2014/main" id="{F0294BC4-9BAF-7844-A957-8FB0A363D39A}"/>
              </a:ext>
            </a:extLst>
          </p:cNvPr>
          <p:cNvSpPr>
            <a:spLocks noChangeArrowheads="1"/>
          </p:cNvSpPr>
          <p:nvPr/>
        </p:nvSpPr>
        <p:spPr bwMode="auto">
          <a:xfrm>
            <a:off x="3275558" y="2926110"/>
            <a:ext cx="2376488" cy="172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1" name="AutoShape 6">
            <a:extLst>
              <a:ext uri="{FF2B5EF4-FFF2-40B4-BE49-F238E27FC236}">
                <a16:creationId xmlns:a16="http://schemas.microsoft.com/office/drawing/2014/main" id="{5FC13460-2F1E-5A40-B7CE-57E0F49A058C}"/>
              </a:ext>
            </a:extLst>
          </p:cNvPr>
          <p:cNvSpPr>
            <a:spLocks noChangeArrowheads="1"/>
          </p:cNvSpPr>
          <p:nvPr/>
        </p:nvSpPr>
        <p:spPr bwMode="auto">
          <a:xfrm rot="19226507">
            <a:off x="5580608" y="2349847"/>
            <a:ext cx="1008063" cy="360363"/>
          </a:xfrm>
          <a:prstGeom prst="leftArrow">
            <a:avLst>
              <a:gd name="adj1" fmla="val 49778"/>
              <a:gd name="adj2" fmla="val 112334"/>
            </a:avLst>
          </a:prstGeom>
          <a:solidFill>
            <a:srgbClr val="99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2" name="AutoShape 7">
            <a:extLst>
              <a:ext uri="{FF2B5EF4-FFF2-40B4-BE49-F238E27FC236}">
                <a16:creationId xmlns:a16="http://schemas.microsoft.com/office/drawing/2014/main" id="{30DDD903-4354-884A-878A-11EDF2D73038}"/>
              </a:ext>
            </a:extLst>
          </p:cNvPr>
          <p:cNvSpPr>
            <a:spLocks noChangeArrowheads="1"/>
          </p:cNvSpPr>
          <p:nvPr/>
        </p:nvSpPr>
        <p:spPr bwMode="auto">
          <a:xfrm rot="1950565">
            <a:off x="5652046" y="4797772"/>
            <a:ext cx="1008062" cy="360363"/>
          </a:xfrm>
          <a:prstGeom prst="leftArrow">
            <a:avLst>
              <a:gd name="adj1" fmla="val 49778"/>
              <a:gd name="adj2" fmla="val 112334"/>
            </a:avLst>
          </a:prstGeom>
          <a:solidFill>
            <a:srgbClr val="99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3" name="AutoShape 8">
            <a:extLst>
              <a:ext uri="{FF2B5EF4-FFF2-40B4-BE49-F238E27FC236}">
                <a16:creationId xmlns:a16="http://schemas.microsoft.com/office/drawing/2014/main" id="{46860EC9-3C20-3043-AE5F-98B771F07725}"/>
              </a:ext>
            </a:extLst>
          </p:cNvPr>
          <p:cNvSpPr>
            <a:spLocks noChangeArrowheads="1"/>
          </p:cNvSpPr>
          <p:nvPr/>
        </p:nvSpPr>
        <p:spPr bwMode="auto">
          <a:xfrm rot="1950565" flipH="1">
            <a:off x="2340521" y="2421285"/>
            <a:ext cx="936625" cy="360362"/>
          </a:xfrm>
          <a:prstGeom prst="leftArrow">
            <a:avLst>
              <a:gd name="adj1" fmla="val 49778"/>
              <a:gd name="adj2" fmla="val 104374"/>
            </a:avLst>
          </a:prstGeom>
          <a:solidFill>
            <a:srgbClr val="99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4" name="AutoShape 9">
            <a:extLst>
              <a:ext uri="{FF2B5EF4-FFF2-40B4-BE49-F238E27FC236}">
                <a16:creationId xmlns:a16="http://schemas.microsoft.com/office/drawing/2014/main" id="{37376094-1AE5-9B4D-AE03-19C60286F577}"/>
              </a:ext>
            </a:extLst>
          </p:cNvPr>
          <p:cNvSpPr>
            <a:spLocks noChangeArrowheads="1"/>
          </p:cNvSpPr>
          <p:nvPr/>
        </p:nvSpPr>
        <p:spPr bwMode="auto">
          <a:xfrm rot="19226507" flipH="1">
            <a:off x="2267496" y="4869210"/>
            <a:ext cx="1079500" cy="360362"/>
          </a:xfrm>
          <a:prstGeom prst="leftArrow">
            <a:avLst>
              <a:gd name="adj1" fmla="val 49778"/>
              <a:gd name="adj2" fmla="val 120295"/>
            </a:avLst>
          </a:prstGeom>
          <a:solidFill>
            <a:srgbClr val="99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6" name="Rectangle 3">
            <a:extLst>
              <a:ext uri="{FF2B5EF4-FFF2-40B4-BE49-F238E27FC236}">
                <a16:creationId xmlns:a16="http://schemas.microsoft.com/office/drawing/2014/main" id="{E41D680E-A88D-C94A-814D-7474A3C962DF}"/>
              </a:ext>
            </a:extLst>
          </p:cNvPr>
          <p:cNvSpPr>
            <a:spLocks noGrp="1" noChangeArrowheads="1"/>
          </p:cNvSpPr>
          <p:nvPr>
            <p:ph sz="quarter" idx="1"/>
          </p:nvPr>
        </p:nvSpPr>
        <p:spPr>
          <a:xfrm>
            <a:off x="457200" y="1556792"/>
            <a:ext cx="7772400" cy="1008108"/>
          </a:xfrm>
        </p:spPr>
        <p:txBody>
          <a:bodyPr/>
          <a:lstStyle/>
          <a:p>
            <a:pPr eaLnBrk="0" hangingPunct="0">
              <a:spcBef>
                <a:spcPct val="50000"/>
              </a:spcBef>
            </a:pPr>
            <a:r>
              <a:rPr lang="tr-TR" altLang="en-TR" dirty="0"/>
              <a:t>Grafik Yüzeyler</a:t>
            </a:r>
          </a:p>
        </p:txBody>
      </p:sp>
    </p:spTree>
    <p:extLst>
      <p:ext uri="{BB962C8B-B14F-4D97-AF65-F5344CB8AC3E}">
        <p14:creationId xmlns:p14="http://schemas.microsoft.com/office/powerpoint/2010/main" val="1198791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TEMEL GRAFİK TASARIM ve İÇERİK EKRANLARI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4</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4</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16" name="computr3">
            <a:extLst>
              <a:ext uri="{FF2B5EF4-FFF2-40B4-BE49-F238E27FC236}">
                <a16:creationId xmlns:a16="http://schemas.microsoft.com/office/drawing/2014/main" id="{30B3CA72-8B1E-AA42-B938-10162C21793D}"/>
              </a:ext>
            </a:extLst>
          </p:cNvPr>
          <p:cNvSpPr>
            <a:spLocks noEditPoints="1" noChangeArrowheads="1"/>
          </p:cNvSpPr>
          <p:nvPr/>
        </p:nvSpPr>
        <p:spPr bwMode="auto">
          <a:xfrm>
            <a:off x="1512664" y="1700808"/>
            <a:ext cx="5435600" cy="3455987"/>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17" name="Rectangle 4">
            <a:extLst>
              <a:ext uri="{FF2B5EF4-FFF2-40B4-BE49-F238E27FC236}">
                <a16:creationId xmlns:a16="http://schemas.microsoft.com/office/drawing/2014/main" id="{58AD0723-C243-1842-A702-E6FE2BE98868}"/>
              </a:ext>
            </a:extLst>
          </p:cNvPr>
          <p:cNvSpPr>
            <a:spLocks noChangeArrowheads="1"/>
          </p:cNvSpPr>
          <p:nvPr/>
        </p:nvSpPr>
        <p:spPr bwMode="auto">
          <a:xfrm>
            <a:off x="3173189" y="1862733"/>
            <a:ext cx="2738437" cy="1927225"/>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8" name="Rectangle 6">
            <a:extLst>
              <a:ext uri="{FF2B5EF4-FFF2-40B4-BE49-F238E27FC236}">
                <a16:creationId xmlns:a16="http://schemas.microsoft.com/office/drawing/2014/main" id="{32D12BF7-59BF-9F4B-9947-8EB4D3967842}"/>
              </a:ext>
            </a:extLst>
          </p:cNvPr>
          <p:cNvSpPr>
            <a:spLocks noChangeArrowheads="1"/>
          </p:cNvSpPr>
          <p:nvPr/>
        </p:nvSpPr>
        <p:spPr bwMode="auto">
          <a:xfrm>
            <a:off x="3457351" y="2133724"/>
            <a:ext cx="2016125" cy="1511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9" name="Rectangle 7">
            <a:extLst>
              <a:ext uri="{FF2B5EF4-FFF2-40B4-BE49-F238E27FC236}">
                <a16:creationId xmlns:a16="http://schemas.microsoft.com/office/drawing/2014/main" id="{FF5905E9-6A07-5347-943E-45A33FA374B5}"/>
              </a:ext>
            </a:extLst>
          </p:cNvPr>
          <p:cNvSpPr>
            <a:spLocks noChangeArrowheads="1"/>
          </p:cNvSpPr>
          <p:nvPr/>
        </p:nvSpPr>
        <p:spPr bwMode="auto">
          <a:xfrm>
            <a:off x="3457351" y="2133724"/>
            <a:ext cx="2016125" cy="71437"/>
          </a:xfrm>
          <a:prstGeom prst="rect">
            <a:avLst/>
          </a:prstGeom>
          <a:solidFill>
            <a:srgbClr val="33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0" name="Rectangle 8">
            <a:extLst>
              <a:ext uri="{FF2B5EF4-FFF2-40B4-BE49-F238E27FC236}">
                <a16:creationId xmlns:a16="http://schemas.microsoft.com/office/drawing/2014/main" id="{9B50A08B-D98C-F345-8665-7AD797FCEDA0}"/>
              </a:ext>
            </a:extLst>
          </p:cNvPr>
          <p:cNvSpPr>
            <a:spLocks noChangeArrowheads="1"/>
          </p:cNvSpPr>
          <p:nvPr/>
        </p:nvSpPr>
        <p:spPr bwMode="auto">
          <a:xfrm>
            <a:off x="3528789" y="2278186"/>
            <a:ext cx="720725" cy="936625"/>
          </a:xfrm>
          <a:prstGeom prst="rect">
            <a:avLst/>
          </a:prstGeom>
          <a:gradFill rotWithShape="1">
            <a:gsLst>
              <a:gs pos="0">
                <a:schemeClr val="accent1">
                  <a:gamma/>
                  <a:shade val="46275"/>
                  <a:invGamma/>
                </a:schemeClr>
              </a:gs>
              <a:gs pos="100000">
                <a:schemeClr val="accent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1" name="Rectangle 9">
            <a:extLst>
              <a:ext uri="{FF2B5EF4-FFF2-40B4-BE49-F238E27FC236}">
                <a16:creationId xmlns:a16="http://schemas.microsoft.com/office/drawing/2014/main" id="{67160989-4FE4-7B4E-8848-A8E33324914C}"/>
              </a:ext>
            </a:extLst>
          </p:cNvPr>
          <p:cNvSpPr>
            <a:spLocks noChangeArrowheads="1"/>
          </p:cNvSpPr>
          <p:nvPr/>
        </p:nvSpPr>
        <p:spPr bwMode="auto">
          <a:xfrm>
            <a:off x="4320951" y="2278186"/>
            <a:ext cx="1079500" cy="936625"/>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2" name="Rectangle 10">
            <a:extLst>
              <a:ext uri="{FF2B5EF4-FFF2-40B4-BE49-F238E27FC236}">
                <a16:creationId xmlns:a16="http://schemas.microsoft.com/office/drawing/2014/main" id="{D6008B1E-540B-8B4D-B305-8C5C5CFD121F}"/>
              </a:ext>
            </a:extLst>
          </p:cNvPr>
          <p:cNvSpPr>
            <a:spLocks noChangeArrowheads="1"/>
          </p:cNvSpPr>
          <p:nvPr/>
        </p:nvSpPr>
        <p:spPr bwMode="auto">
          <a:xfrm>
            <a:off x="3528789" y="3286249"/>
            <a:ext cx="1871662" cy="287337"/>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3" name="Rectangle 22">
            <a:extLst>
              <a:ext uri="{FF2B5EF4-FFF2-40B4-BE49-F238E27FC236}">
                <a16:creationId xmlns:a16="http://schemas.microsoft.com/office/drawing/2014/main" id="{4CDA69AB-0617-F742-AA47-743B54AD08BD}"/>
              </a:ext>
            </a:extLst>
          </p:cNvPr>
          <p:cNvSpPr/>
          <p:nvPr/>
        </p:nvSpPr>
        <p:spPr>
          <a:xfrm>
            <a:off x="468964" y="5536160"/>
            <a:ext cx="7660051" cy="845168"/>
          </a:xfrm>
          <a:prstGeom prst="rect">
            <a:avLst/>
          </a:prstGeom>
        </p:spPr>
        <p:txBody>
          <a:bodyPr wrap="square">
            <a:spAutoFit/>
          </a:bodyPr>
          <a:lstStyle/>
          <a:p>
            <a:pPr eaLnBrk="0" hangingPunct="0">
              <a:lnSpc>
                <a:spcPct val="130000"/>
              </a:lnSpc>
              <a:spcBef>
                <a:spcPct val="50000"/>
              </a:spcBef>
            </a:pPr>
            <a:r>
              <a:rPr lang="tr-TR" altLang="en-TR" sz="2000" dirty="0">
                <a:latin typeface="Tahoma" panose="020B0604030504040204" pitchFamily="34" charset="0"/>
              </a:rPr>
              <a:t>Görsel elemanlar, kenar çizgileriyle aynı yönde yerleştirildiklerinde, düzenli ve durağan bir yapı oluştururlar.</a:t>
            </a:r>
          </a:p>
        </p:txBody>
      </p:sp>
    </p:spTree>
    <p:extLst>
      <p:ext uri="{BB962C8B-B14F-4D97-AF65-F5344CB8AC3E}">
        <p14:creationId xmlns:p14="http://schemas.microsoft.com/office/powerpoint/2010/main" val="2076684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TEMEL GRAFİK TASARIM ve İÇERİK EKRANLARI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5</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5</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23" name="Rectangle 22">
            <a:extLst>
              <a:ext uri="{FF2B5EF4-FFF2-40B4-BE49-F238E27FC236}">
                <a16:creationId xmlns:a16="http://schemas.microsoft.com/office/drawing/2014/main" id="{4CDA69AB-0617-F742-AA47-743B54AD08BD}"/>
              </a:ext>
            </a:extLst>
          </p:cNvPr>
          <p:cNvSpPr/>
          <p:nvPr/>
        </p:nvSpPr>
        <p:spPr>
          <a:xfrm>
            <a:off x="468964" y="5536160"/>
            <a:ext cx="7660051" cy="791307"/>
          </a:xfrm>
          <a:prstGeom prst="rect">
            <a:avLst/>
          </a:prstGeom>
        </p:spPr>
        <p:txBody>
          <a:bodyPr wrap="square">
            <a:spAutoFit/>
          </a:bodyPr>
          <a:lstStyle/>
          <a:p>
            <a:pPr eaLnBrk="0" hangingPunct="0">
              <a:lnSpc>
                <a:spcPct val="120000"/>
              </a:lnSpc>
              <a:spcBef>
                <a:spcPct val="50000"/>
              </a:spcBef>
            </a:pPr>
            <a:r>
              <a:rPr lang="tr-TR" altLang="en-TR" sz="2000" dirty="0">
                <a:latin typeface="Tahoma" panose="020B0604030504040204" pitchFamily="34" charset="0"/>
              </a:rPr>
              <a:t>Görsel elemanlar, kenar çizgileriyle açılı yerleştirildiklerinde, dinamik ve enerjik bir yapı oluştururlar.</a:t>
            </a:r>
          </a:p>
        </p:txBody>
      </p:sp>
      <p:sp>
        <p:nvSpPr>
          <p:cNvPr id="24" name="computr3">
            <a:extLst>
              <a:ext uri="{FF2B5EF4-FFF2-40B4-BE49-F238E27FC236}">
                <a16:creationId xmlns:a16="http://schemas.microsoft.com/office/drawing/2014/main" id="{4FE49419-65B8-D64F-9F1B-792436E115E7}"/>
              </a:ext>
            </a:extLst>
          </p:cNvPr>
          <p:cNvSpPr>
            <a:spLocks noEditPoints="1" noChangeArrowheads="1"/>
          </p:cNvSpPr>
          <p:nvPr/>
        </p:nvSpPr>
        <p:spPr bwMode="auto">
          <a:xfrm>
            <a:off x="1512664" y="1700808"/>
            <a:ext cx="5435600" cy="3455987"/>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26" name="Rectangle 4">
            <a:extLst>
              <a:ext uri="{FF2B5EF4-FFF2-40B4-BE49-F238E27FC236}">
                <a16:creationId xmlns:a16="http://schemas.microsoft.com/office/drawing/2014/main" id="{24BCAA32-9ADF-FC48-B816-BAE2B895C3CB}"/>
              </a:ext>
            </a:extLst>
          </p:cNvPr>
          <p:cNvSpPr>
            <a:spLocks noChangeArrowheads="1"/>
          </p:cNvSpPr>
          <p:nvPr/>
        </p:nvSpPr>
        <p:spPr bwMode="auto">
          <a:xfrm>
            <a:off x="3173189" y="1862733"/>
            <a:ext cx="2738437" cy="1927225"/>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7" name="Rectangle 5">
            <a:extLst>
              <a:ext uri="{FF2B5EF4-FFF2-40B4-BE49-F238E27FC236}">
                <a16:creationId xmlns:a16="http://schemas.microsoft.com/office/drawing/2014/main" id="{095174CF-2B33-2A4E-864F-4A1FA592CA03}"/>
              </a:ext>
            </a:extLst>
          </p:cNvPr>
          <p:cNvSpPr>
            <a:spLocks noChangeArrowheads="1"/>
          </p:cNvSpPr>
          <p:nvPr/>
        </p:nvSpPr>
        <p:spPr bwMode="auto">
          <a:xfrm>
            <a:off x="3457351" y="2132608"/>
            <a:ext cx="2016125" cy="1511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8" name="Rectangle 6">
            <a:extLst>
              <a:ext uri="{FF2B5EF4-FFF2-40B4-BE49-F238E27FC236}">
                <a16:creationId xmlns:a16="http://schemas.microsoft.com/office/drawing/2014/main" id="{971D1267-1215-984B-B294-2CD394BCD35F}"/>
              </a:ext>
            </a:extLst>
          </p:cNvPr>
          <p:cNvSpPr>
            <a:spLocks noChangeArrowheads="1"/>
          </p:cNvSpPr>
          <p:nvPr/>
        </p:nvSpPr>
        <p:spPr bwMode="auto">
          <a:xfrm>
            <a:off x="3457351" y="2132608"/>
            <a:ext cx="2016125" cy="71437"/>
          </a:xfrm>
          <a:prstGeom prst="rect">
            <a:avLst/>
          </a:prstGeom>
          <a:solidFill>
            <a:srgbClr val="33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9" name="Rectangle 7">
            <a:extLst>
              <a:ext uri="{FF2B5EF4-FFF2-40B4-BE49-F238E27FC236}">
                <a16:creationId xmlns:a16="http://schemas.microsoft.com/office/drawing/2014/main" id="{E501264B-8AAC-8C4F-B946-37CC22E391C8}"/>
              </a:ext>
            </a:extLst>
          </p:cNvPr>
          <p:cNvSpPr>
            <a:spLocks noChangeArrowheads="1"/>
          </p:cNvSpPr>
          <p:nvPr/>
        </p:nvSpPr>
        <p:spPr bwMode="auto">
          <a:xfrm>
            <a:off x="3528789" y="2348508"/>
            <a:ext cx="720725" cy="1152525"/>
          </a:xfrm>
          <a:prstGeom prst="rect">
            <a:avLst/>
          </a:pr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0" name="Rectangle 8">
            <a:extLst>
              <a:ext uri="{FF2B5EF4-FFF2-40B4-BE49-F238E27FC236}">
                <a16:creationId xmlns:a16="http://schemas.microsoft.com/office/drawing/2014/main" id="{65CBC08C-8EFE-FF41-AC07-A2B59D01BFE2}"/>
              </a:ext>
            </a:extLst>
          </p:cNvPr>
          <p:cNvSpPr>
            <a:spLocks noChangeArrowheads="1"/>
          </p:cNvSpPr>
          <p:nvPr/>
        </p:nvSpPr>
        <p:spPr bwMode="auto">
          <a:xfrm>
            <a:off x="4320951" y="2348508"/>
            <a:ext cx="1079500" cy="1152525"/>
          </a:xfrm>
          <a:prstGeom prst="rect">
            <a:avLst/>
          </a:prstGeom>
          <a:blipFill dpi="0" rotWithShape="0">
            <a:blip r:embed="rId4"/>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1" name="Rectangle 9">
            <a:extLst>
              <a:ext uri="{FF2B5EF4-FFF2-40B4-BE49-F238E27FC236}">
                <a16:creationId xmlns:a16="http://schemas.microsoft.com/office/drawing/2014/main" id="{C69B2B03-96D0-B744-9E8B-C3E2EFA1273F}"/>
              </a:ext>
            </a:extLst>
          </p:cNvPr>
          <p:cNvSpPr>
            <a:spLocks noChangeArrowheads="1"/>
          </p:cNvSpPr>
          <p:nvPr/>
        </p:nvSpPr>
        <p:spPr bwMode="auto">
          <a:xfrm rot="1422053">
            <a:off x="3636739" y="2586633"/>
            <a:ext cx="503237" cy="649287"/>
          </a:xfrm>
          <a:prstGeom prst="rect">
            <a:avLst/>
          </a:prstGeom>
          <a:solidFill>
            <a:srgbClr val="00008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1389872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TEMEL GRAFİK TASARIM ve İÇERİK EKRANLARI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6</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6</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23" name="Rectangle 22">
            <a:extLst>
              <a:ext uri="{FF2B5EF4-FFF2-40B4-BE49-F238E27FC236}">
                <a16:creationId xmlns:a16="http://schemas.microsoft.com/office/drawing/2014/main" id="{4CDA69AB-0617-F742-AA47-743B54AD08BD}"/>
              </a:ext>
            </a:extLst>
          </p:cNvPr>
          <p:cNvSpPr/>
          <p:nvPr/>
        </p:nvSpPr>
        <p:spPr>
          <a:xfrm>
            <a:off x="468964" y="5445224"/>
            <a:ext cx="7660051" cy="1200329"/>
          </a:xfrm>
          <a:prstGeom prst="rect">
            <a:avLst/>
          </a:prstGeom>
        </p:spPr>
        <p:txBody>
          <a:bodyPr wrap="square">
            <a:spAutoFit/>
          </a:bodyPr>
          <a:lstStyle/>
          <a:p>
            <a:pPr eaLnBrk="0" hangingPunct="0">
              <a:spcBef>
                <a:spcPct val="50000"/>
              </a:spcBef>
            </a:pPr>
            <a:r>
              <a:rPr lang="tr-TR" altLang="en-TR" dirty="0">
                <a:latin typeface="Tahoma" panose="020B0604030504040204" pitchFamily="34" charset="0"/>
              </a:rPr>
              <a:t>Bir yüzeyi yatay ve dikey olarak eksenlerle böldüğümüzde, bu iki eksenin kesiştiği geometrik merkez, odak noktasını oluşturur. Oysaki insan gözünün algıladığı merkez, kesin olarak ölçülemese bile bu geometrik merkezin biraz üzerindedir.</a:t>
            </a:r>
            <a:endParaRPr lang="tr-TR" altLang="en-TR" b="1" dirty="0">
              <a:latin typeface="Tahoma" panose="020B0604030504040204" pitchFamily="34" charset="0"/>
            </a:endParaRPr>
          </a:p>
        </p:txBody>
      </p:sp>
      <p:sp>
        <p:nvSpPr>
          <p:cNvPr id="22" name="computr3">
            <a:extLst>
              <a:ext uri="{FF2B5EF4-FFF2-40B4-BE49-F238E27FC236}">
                <a16:creationId xmlns:a16="http://schemas.microsoft.com/office/drawing/2014/main" id="{50974909-D311-2940-B8A6-86D8C00B84BA}"/>
              </a:ext>
            </a:extLst>
          </p:cNvPr>
          <p:cNvSpPr>
            <a:spLocks noEditPoints="1" noChangeArrowheads="1"/>
          </p:cNvSpPr>
          <p:nvPr/>
        </p:nvSpPr>
        <p:spPr bwMode="auto">
          <a:xfrm>
            <a:off x="1547961" y="1701007"/>
            <a:ext cx="5435600" cy="3455987"/>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32" name="Rectangle 4">
            <a:extLst>
              <a:ext uri="{FF2B5EF4-FFF2-40B4-BE49-F238E27FC236}">
                <a16:creationId xmlns:a16="http://schemas.microsoft.com/office/drawing/2014/main" id="{B7435452-93EA-904F-881F-B5026B3D928F}"/>
              </a:ext>
            </a:extLst>
          </p:cNvPr>
          <p:cNvSpPr>
            <a:spLocks noChangeArrowheads="1"/>
          </p:cNvSpPr>
          <p:nvPr/>
        </p:nvSpPr>
        <p:spPr bwMode="auto">
          <a:xfrm>
            <a:off x="3208486" y="1862932"/>
            <a:ext cx="2738437" cy="1927225"/>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3" name="Line 6">
            <a:extLst>
              <a:ext uri="{FF2B5EF4-FFF2-40B4-BE49-F238E27FC236}">
                <a16:creationId xmlns:a16="http://schemas.microsoft.com/office/drawing/2014/main" id="{C5979D92-0A02-D748-8DF9-2225A2730E5A}"/>
              </a:ext>
            </a:extLst>
          </p:cNvPr>
          <p:cNvSpPr>
            <a:spLocks noChangeShapeType="1"/>
          </p:cNvSpPr>
          <p:nvPr/>
        </p:nvSpPr>
        <p:spPr bwMode="auto">
          <a:xfrm>
            <a:off x="755798" y="2851944"/>
            <a:ext cx="684053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34" name="Line 7">
            <a:extLst>
              <a:ext uri="{FF2B5EF4-FFF2-40B4-BE49-F238E27FC236}">
                <a16:creationId xmlns:a16="http://schemas.microsoft.com/office/drawing/2014/main" id="{07007D45-E3B6-9148-8282-6F3591B278F7}"/>
              </a:ext>
            </a:extLst>
          </p:cNvPr>
          <p:cNvSpPr>
            <a:spLocks noChangeShapeType="1"/>
          </p:cNvSpPr>
          <p:nvPr/>
        </p:nvSpPr>
        <p:spPr bwMode="auto">
          <a:xfrm>
            <a:off x="4572148" y="1124744"/>
            <a:ext cx="0" cy="374491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35" name="Oval 8">
            <a:extLst>
              <a:ext uri="{FF2B5EF4-FFF2-40B4-BE49-F238E27FC236}">
                <a16:creationId xmlns:a16="http://schemas.microsoft.com/office/drawing/2014/main" id="{95BD481C-CD71-A744-AF5C-920606D53D15}"/>
              </a:ext>
            </a:extLst>
          </p:cNvPr>
          <p:cNvSpPr>
            <a:spLocks noChangeArrowheads="1"/>
          </p:cNvSpPr>
          <p:nvPr/>
        </p:nvSpPr>
        <p:spPr bwMode="auto">
          <a:xfrm>
            <a:off x="4500711" y="2564607"/>
            <a:ext cx="144462" cy="144462"/>
          </a:xfrm>
          <a:prstGeom prst="ellipse">
            <a:avLst/>
          </a:prstGeom>
          <a:solidFill>
            <a:srgbClr val="A5002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2060379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TEMEL GRAFİK TASARIM ve İÇERİK EKRANLARI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7</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7</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16" name="computr3">
            <a:extLst>
              <a:ext uri="{FF2B5EF4-FFF2-40B4-BE49-F238E27FC236}">
                <a16:creationId xmlns:a16="http://schemas.microsoft.com/office/drawing/2014/main" id="{D0CD085A-9749-7241-8DF7-41404A385A3E}"/>
              </a:ext>
            </a:extLst>
          </p:cNvPr>
          <p:cNvSpPr>
            <a:spLocks noEditPoints="1" noChangeArrowheads="1"/>
          </p:cNvSpPr>
          <p:nvPr/>
        </p:nvSpPr>
        <p:spPr bwMode="auto">
          <a:xfrm>
            <a:off x="1512664" y="2133253"/>
            <a:ext cx="5435600" cy="3455987"/>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17" name="Rectangle 4">
            <a:extLst>
              <a:ext uri="{FF2B5EF4-FFF2-40B4-BE49-F238E27FC236}">
                <a16:creationId xmlns:a16="http://schemas.microsoft.com/office/drawing/2014/main" id="{891D240C-17CD-E14E-83F2-9AD2D27CD14F}"/>
              </a:ext>
            </a:extLst>
          </p:cNvPr>
          <p:cNvSpPr>
            <a:spLocks noChangeArrowheads="1"/>
          </p:cNvSpPr>
          <p:nvPr/>
        </p:nvSpPr>
        <p:spPr bwMode="auto">
          <a:xfrm>
            <a:off x="3173189" y="2295178"/>
            <a:ext cx="2738437" cy="1927225"/>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8" name="Rectangle 5">
            <a:extLst>
              <a:ext uri="{FF2B5EF4-FFF2-40B4-BE49-F238E27FC236}">
                <a16:creationId xmlns:a16="http://schemas.microsoft.com/office/drawing/2014/main" id="{398533E7-5449-1A4D-8336-367C08F19B56}"/>
              </a:ext>
            </a:extLst>
          </p:cNvPr>
          <p:cNvSpPr>
            <a:spLocks noChangeArrowheads="1"/>
          </p:cNvSpPr>
          <p:nvPr/>
        </p:nvSpPr>
        <p:spPr bwMode="auto">
          <a:xfrm>
            <a:off x="3457351" y="2565053"/>
            <a:ext cx="2016125" cy="1511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9" name="Rectangle 6">
            <a:extLst>
              <a:ext uri="{FF2B5EF4-FFF2-40B4-BE49-F238E27FC236}">
                <a16:creationId xmlns:a16="http://schemas.microsoft.com/office/drawing/2014/main" id="{33C7CDB5-485F-4F41-9ECA-85BB1E9A8E31}"/>
              </a:ext>
            </a:extLst>
          </p:cNvPr>
          <p:cNvSpPr>
            <a:spLocks noChangeArrowheads="1"/>
          </p:cNvSpPr>
          <p:nvPr/>
        </p:nvSpPr>
        <p:spPr bwMode="auto">
          <a:xfrm>
            <a:off x="3457351" y="2565053"/>
            <a:ext cx="2016125" cy="71437"/>
          </a:xfrm>
          <a:prstGeom prst="rect">
            <a:avLst/>
          </a:prstGeom>
          <a:solidFill>
            <a:srgbClr val="33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0" name="AutoShape 7">
            <a:extLst>
              <a:ext uri="{FF2B5EF4-FFF2-40B4-BE49-F238E27FC236}">
                <a16:creationId xmlns:a16="http://schemas.microsoft.com/office/drawing/2014/main" id="{350E6D7A-C1B8-8E44-AFF4-8A2CE414BBCB}"/>
              </a:ext>
            </a:extLst>
          </p:cNvPr>
          <p:cNvSpPr>
            <a:spLocks noChangeArrowheads="1"/>
          </p:cNvSpPr>
          <p:nvPr/>
        </p:nvSpPr>
        <p:spPr bwMode="auto">
          <a:xfrm rot="1852011">
            <a:off x="3508151" y="3141315"/>
            <a:ext cx="1728788" cy="287338"/>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2012071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TEMEL GRAFİK TASARIM ve İÇERİK EKRANLARI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8</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8</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pic>
        <p:nvPicPr>
          <p:cNvPr id="13" name="Picture 3">
            <a:extLst>
              <a:ext uri="{FF2B5EF4-FFF2-40B4-BE49-F238E27FC236}">
                <a16:creationId xmlns:a16="http://schemas.microsoft.com/office/drawing/2014/main" id="{FE038354-C481-4C49-9B2F-EB91508457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70593" y="1669876"/>
            <a:ext cx="6737711" cy="4855468"/>
          </a:xfrm>
          <a:prstGeom prst="rect">
            <a:avLst/>
          </a:prstGeom>
          <a:noFill/>
          <a:ln/>
        </p:spPr>
      </p:pic>
    </p:spTree>
    <p:extLst>
      <p:ext uri="{BB962C8B-B14F-4D97-AF65-F5344CB8AC3E}">
        <p14:creationId xmlns:p14="http://schemas.microsoft.com/office/powerpoint/2010/main" val="2667775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TEMEL GRAFİK TASARIM ve İÇERİK EKRANLARI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9</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9</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pic>
        <p:nvPicPr>
          <p:cNvPr id="9" name="Picture 3">
            <a:extLst>
              <a:ext uri="{FF2B5EF4-FFF2-40B4-BE49-F238E27FC236}">
                <a16:creationId xmlns:a16="http://schemas.microsoft.com/office/drawing/2014/main" id="{0444548D-94C7-3E48-8891-84F59F084C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70593" y="1670512"/>
            <a:ext cx="6737711" cy="4854832"/>
          </a:xfrm>
          <a:prstGeom prst="rect">
            <a:avLst/>
          </a:prstGeom>
          <a:noFill/>
          <a:ln/>
        </p:spPr>
      </p:pic>
      <p:grpSp>
        <p:nvGrpSpPr>
          <p:cNvPr id="10" name="Group 4">
            <a:extLst>
              <a:ext uri="{FF2B5EF4-FFF2-40B4-BE49-F238E27FC236}">
                <a16:creationId xmlns:a16="http://schemas.microsoft.com/office/drawing/2014/main" id="{1C3C13E4-BDD0-7146-996B-93E484298E7C}"/>
              </a:ext>
            </a:extLst>
          </p:cNvPr>
          <p:cNvGrpSpPr>
            <a:grpSpLocks/>
          </p:cNvGrpSpPr>
          <p:nvPr/>
        </p:nvGrpSpPr>
        <p:grpSpPr bwMode="auto">
          <a:xfrm>
            <a:off x="2838770" y="4593840"/>
            <a:ext cx="3466459" cy="593648"/>
            <a:chOff x="839" y="1797"/>
            <a:chExt cx="3675" cy="799"/>
          </a:xfrm>
        </p:grpSpPr>
        <p:sp>
          <p:nvSpPr>
            <p:cNvPr id="11" name="AutoShape 5">
              <a:extLst>
                <a:ext uri="{FF2B5EF4-FFF2-40B4-BE49-F238E27FC236}">
                  <a16:creationId xmlns:a16="http://schemas.microsoft.com/office/drawing/2014/main" id="{CD86BB8E-2450-EF4D-AE04-299670D9A3A5}"/>
                </a:ext>
              </a:extLst>
            </p:cNvPr>
            <p:cNvSpPr>
              <a:spLocks noChangeArrowheads="1"/>
            </p:cNvSpPr>
            <p:nvPr/>
          </p:nvSpPr>
          <p:spPr bwMode="auto">
            <a:xfrm rot="1852011">
              <a:off x="839" y="1888"/>
              <a:ext cx="3675" cy="708"/>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2" name="AutoShape 6">
              <a:extLst>
                <a:ext uri="{FF2B5EF4-FFF2-40B4-BE49-F238E27FC236}">
                  <a16:creationId xmlns:a16="http://schemas.microsoft.com/office/drawing/2014/main" id="{2A100D6D-3814-374C-A849-7834C7D0E938}"/>
                </a:ext>
              </a:extLst>
            </p:cNvPr>
            <p:cNvSpPr>
              <a:spLocks noChangeArrowheads="1"/>
            </p:cNvSpPr>
            <p:nvPr/>
          </p:nvSpPr>
          <p:spPr bwMode="auto">
            <a:xfrm rot="1852011">
              <a:off x="839" y="1797"/>
              <a:ext cx="3675" cy="708"/>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grpSp>
    </p:spTree>
    <p:extLst>
      <p:ext uri="{BB962C8B-B14F-4D97-AF65-F5344CB8AC3E}">
        <p14:creationId xmlns:p14="http://schemas.microsoft.com/office/powerpoint/2010/main" val="101983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TEMEL GRAFİK TASARIM ve İÇERİK EKRANLARI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10</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10</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pic>
        <p:nvPicPr>
          <p:cNvPr id="13" name="Picture 3">
            <a:extLst>
              <a:ext uri="{FF2B5EF4-FFF2-40B4-BE49-F238E27FC236}">
                <a16:creationId xmlns:a16="http://schemas.microsoft.com/office/drawing/2014/main" id="{CACF81E4-BFCA-D741-8EF4-E9DA8C4914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90785" y="1673193"/>
            <a:ext cx="6717519" cy="4839905"/>
          </a:xfrm>
          <a:prstGeom prst="rect">
            <a:avLst/>
          </a:prstGeom>
          <a:noFill/>
          <a:ln/>
        </p:spPr>
      </p:pic>
    </p:spTree>
    <p:extLst>
      <p:ext uri="{BB962C8B-B14F-4D97-AF65-F5344CB8AC3E}">
        <p14:creationId xmlns:p14="http://schemas.microsoft.com/office/powerpoint/2010/main" val="2544237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TEMEL GRAFİK TASARIM ve İÇERİK EKRANLARI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11</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11</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pic>
        <p:nvPicPr>
          <p:cNvPr id="13" name="Picture 3">
            <a:extLst>
              <a:ext uri="{FF2B5EF4-FFF2-40B4-BE49-F238E27FC236}">
                <a16:creationId xmlns:a16="http://schemas.microsoft.com/office/drawing/2014/main" id="{CACF81E4-BFCA-D741-8EF4-E9DA8C4914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90785" y="1673193"/>
            <a:ext cx="6717519" cy="4839905"/>
          </a:xfrm>
          <a:prstGeom prst="rect">
            <a:avLst/>
          </a:prstGeom>
          <a:noFill/>
          <a:ln/>
        </p:spPr>
      </p:pic>
      <p:grpSp>
        <p:nvGrpSpPr>
          <p:cNvPr id="9" name="Group 4">
            <a:extLst>
              <a:ext uri="{FF2B5EF4-FFF2-40B4-BE49-F238E27FC236}">
                <a16:creationId xmlns:a16="http://schemas.microsoft.com/office/drawing/2014/main" id="{051C4814-1FFB-3C48-AD21-D1FCD97DA798}"/>
              </a:ext>
            </a:extLst>
          </p:cNvPr>
          <p:cNvGrpSpPr>
            <a:grpSpLocks/>
          </p:cNvGrpSpPr>
          <p:nvPr/>
        </p:nvGrpSpPr>
        <p:grpSpPr bwMode="auto">
          <a:xfrm>
            <a:off x="2838770" y="4593840"/>
            <a:ext cx="3466459" cy="593648"/>
            <a:chOff x="839" y="1797"/>
            <a:chExt cx="3675" cy="799"/>
          </a:xfrm>
        </p:grpSpPr>
        <p:sp>
          <p:nvSpPr>
            <p:cNvPr id="10" name="AutoShape 5">
              <a:extLst>
                <a:ext uri="{FF2B5EF4-FFF2-40B4-BE49-F238E27FC236}">
                  <a16:creationId xmlns:a16="http://schemas.microsoft.com/office/drawing/2014/main" id="{8017535E-862E-BE40-B202-0AEC4534234B}"/>
                </a:ext>
              </a:extLst>
            </p:cNvPr>
            <p:cNvSpPr>
              <a:spLocks noChangeArrowheads="1"/>
            </p:cNvSpPr>
            <p:nvPr/>
          </p:nvSpPr>
          <p:spPr bwMode="auto">
            <a:xfrm rot="1852011">
              <a:off x="839" y="1888"/>
              <a:ext cx="3675" cy="708"/>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0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1" name="AutoShape 6">
              <a:extLst>
                <a:ext uri="{FF2B5EF4-FFF2-40B4-BE49-F238E27FC236}">
                  <a16:creationId xmlns:a16="http://schemas.microsoft.com/office/drawing/2014/main" id="{2BC25289-E7D5-F743-88A6-4F70EC83742E}"/>
                </a:ext>
              </a:extLst>
            </p:cNvPr>
            <p:cNvSpPr>
              <a:spLocks noChangeArrowheads="1"/>
            </p:cNvSpPr>
            <p:nvPr/>
          </p:nvSpPr>
          <p:spPr bwMode="auto">
            <a:xfrm rot="1852011">
              <a:off x="839" y="1797"/>
              <a:ext cx="3675" cy="708"/>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grpSp>
    </p:spTree>
    <p:extLst>
      <p:ext uri="{BB962C8B-B14F-4D97-AF65-F5344CB8AC3E}">
        <p14:creationId xmlns:p14="http://schemas.microsoft.com/office/powerpoint/2010/main" val="21630861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3654152"/>
            <a:ext cx="7787208" cy="1143000"/>
          </a:xfrm>
        </p:spPr>
        <p:txBody>
          <a:bodyPr>
            <a:noAutofit/>
          </a:bodyPr>
          <a:lstStyle/>
          <a:p>
            <a:r>
              <a:rPr lang="tr-TR" sz="4000" dirty="0"/>
              <a:t>TASARIM YÜZEYLERİ İÇİNDEKİ GÖRSEL UNSURLAR ve BİRBİRLERİYLE İLİŞKİLERİ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12</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Tree>
    <p:extLst>
      <p:ext uri="{BB962C8B-B14F-4D97-AF65-F5344CB8AC3E}">
        <p14:creationId xmlns:p14="http://schemas.microsoft.com/office/powerpoint/2010/main" val="32756802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TASARIM YÜZEYLERİ İÇİNDEKİ GÖRSEL UNSURLAR ve BİRBİRLERİYLE İLİŞKİLERİ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13</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13</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12" name="Rectangle 11">
            <a:extLst>
              <a:ext uri="{FF2B5EF4-FFF2-40B4-BE49-F238E27FC236}">
                <a16:creationId xmlns:a16="http://schemas.microsoft.com/office/drawing/2014/main" id="{4EAC0FE4-754B-B24A-8C28-78B9A86DAAC0}"/>
              </a:ext>
            </a:extLst>
          </p:cNvPr>
          <p:cNvSpPr/>
          <p:nvPr/>
        </p:nvSpPr>
        <p:spPr>
          <a:xfrm>
            <a:off x="468964" y="1886051"/>
            <a:ext cx="7660051" cy="1475853"/>
          </a:xfrm>
          <a:prstGeom prst="rect">
            <a:avLst/>
          </a:prstGeom>
        </p:spPr>
        <p:txBody>
          <a:bodyPr wrap="square">
            <a:spAutoFit/>
          </a:bodyPr>
          <a:lstStyle/>
          <a:p>
            <a:pPr eaLnBrk="0" hangingPunct="0">
              <a:lnSpc>
                <a:spcPct val="130000"/>
              </a:lnSpc>
              <a:spcBef>
                <a:spcPct val="50000"/>
              </a:spcBef>
            </a:pPr>
            <a:r>
              <a:rPr lang="tr-TR" altLang="en-TR" sz="2400" dirty="0">
                <a:latin typeface="Tahoma" panose="020B0604030504040204" pitchFamily="34" charset="0"/>
              </a:rPr>
              <a:t>Görsel unsurlar, tasarım yüzeyleri içinde ve birbirleri arasında tasarım ilkeleri doğrultusunda bir ilişkiye girerler.</a:t>
            </a:r>
          </a:p>
        </p:txBody>
      </p:sp>
    </p:spTree>
    <p:extLst>
      <p:ext uri="{BB962C8B-B14F-4D97-AF65-F5344CB8AC3E}">
        <p14:creationId xmlns:p14="http://schemas.microsoft.com/office/powerpoint/2010/main" val="2276388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TASARIM YÜZEYLERİ İÇİNDEKİ GÖRSEL UNSURLAR ve BİRBİRLERİYLE İLİŞKİLERİ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14</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14</a:t>
            </a:fld>
            <a:endParaRPr lang="tr-TR"/>
          </a:p>
        </p:txBody>
      </p:sp>
      <p:sp>
        <p:nvSpPr>
          <p:cNvPr id="25" name="Oval 24">
            <a:extLst>
              <a:ext uri="{FF2B5EF4-FFF2-40B4-BE49-F238E27FC236}">
                <a16:creationId xmlns:a16="http://schemas.microsoft.com/office/drawing/2014/main" id="{F103498F-B49D-4DA8-8B0C-C3B686C155FD}"/>
              </a:ext>
            </a:extLst>
          </p:cNvPr>
          <p:cNvSpPr/>
          <p:nvPr/>
        </p:nvSpPr>
        <p:spPr>
          <a:xfrm>
            <a:off x="3581401" y="1692275"/>
            <a:ext cx="1752600" cy="388710"/>
          </a:xfrm>
          <a:prstGeom prst="ellipse">
            <a:avLst/>
          </a:prstGeom>
          <a:solidFill>
            <a:schemeClr val="tx1">
              <a:alpha val="0"/>
            </a:schemeClr>
          </a:solidFill>
          <a:ln w="317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a:solidFill>
                  <a:schemeClr val="bg1"/>
                </a:solidFill>
              </a:rPr>
              <a:t>Etkileşim</a:t>
            </a:r>
          </a:p>
        </p:txBody>
      </p:sp>
      <p:sp>
        <p:nvSpPr>
          <p:cNvPr id="12" name="Rectangle 11">
            <a:extLst>
              <a:ext uri="{FF2B5EF4-FFF2-40B4-BE49-F238E27FC236}">
                <a16:creationId xmlns:a16="http://schemas.microsoft.com/office/drawing/2014/main" id="{4EAC0FE4-754B-B24A-8C28-78B9A86DAAC0}"/>
              </a:ext>
            </a:extLst>
          </p:cNvPr>
          <p:cNvSpPr/>
          <p:nvPr/>
        </p:nvSpPr>
        <p:spPr>
          <a:xfrm>
            <a:off x="468964" y="5497145"/>
            <a:ext cx="7660051" cy="830997"/>
          </a:xfrm>
          <a:prstGeom prst="rect">
            <a:avLst/>
          </a:prstGeom>
        </p:spPr>
        <p:txBody>
          <a:bodyPr wrap="square">
            <a:spAutoFit/>
          </a:bodyPr>
          <a:lstStyle/>
          <a:p>
            <a:pPr eaLnBrk="0" hangingPunct="0">
              <a:spcBef>
                <a:spcPct val="50000"/>
              </a:spcBef>
            </a:pPr>
            <a:r>
              <a:rPr lang="tr-TR" altLang="en-TR" sz="2400" dirty="0">
                <a:latin typeface="Tahoma" panose="020B0604030504040204" pitchFamily="34" charset="0"/>
              </a:rPr>
              <a:t>Görsel unsurların kenar ve eksenleri aynı hizaya getirilebilir yada sıraya konabilir. </a:t>
            </a:r>
          </a:p>
        </p:txBody>
      </p:sp>
      <p:grpSp>
        <p:nvGrpSpPr>
          <p:cNvPr id="9" name="Group 3">
            <a:extLst>
              <a:ext uri="{FF2B5EF4-FFF2-40B4-BE49-F238E27FC236}">
                <a16:creationId xmlns:a16="http://schemas.microsoft.com/office/drawing/2014/main" id="{F5E19FB1-DEB0-704C-B626-838D83705316}"/>
              </a:ext>
            </a:extLst>
          </p:cNvPr>
          <p:cNvGrpSpPr>
            <a:grpSpLocks/>
          </p:cNvGrpSpPr>
          <p:nvPr/>
        </p:nvGrpSpPr>
        <p:grpSpPr bwMode="auto">
          <a:xfrm>
            <a:off x="1619672" y="1773238"/>
            <a:ext cx="5435600" cy="3455987"/>
            <a:chOff x="1247" y="1117"/>
            <a:chExt cx="3424" cy="2177"/>
          </a:xfrm>
        </p:grpSpPr>
        <p:sp>
          <p:nvSpPr>
            <p:cNvPr id="10" name="computr3">
              <a:extLst>
                <a:ext uri="{FF2B5EF4-FFF2-40B4-BE49-F238E27FC236}">
                  <a16:creationId xmlns:a16="http://schemas.microsoft.com/office/drawing/2014/main" id="{C5B0578D-6793-A047-AC44-2E910D0C2DC8}"/>
                </a:ext>
              </a:extLst>
            </p:cNvPr>
            <p:cNvSpPr>
              <a:spLocks noEditPoints="1" noChangeArrowheads="1"/>
            </p:cNvSpPr>
            <p:nvPr/>
          </p:nvSpPr>
          <p:spPr bwMode="auto">
            <a:xfrm>
              <a:off x="1247" y="1117"/>
              <a:ext cx="3424" cy="2177"/>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11" name="Rectangle 5">
              <a:extLst>
                <a:ext uri="{FF2B5EF4-FFF2-40B4-BE49-F238E27FC236}">
                  <a16:creationId xmlns:a16="http://schemas.microsoft.com/office/drawing/2014/main" id="{859409FD-F06B-244D-9FEB-FBAE4A0D87B5}"/>
                </a:ext>
              </a:extLst>
            </p:cNvPr>
            <p:cNvSpPr>
              <a:spLocks noChangeArrowheads="1"/>
            </p:cNvSpPr>
            <p:nvPr/>
          </p:nvSpPr>
          <p:spPr bwMode="auto">
            <a:xfrm>
              <a:off x="2293" y="1219"/>
              <a:ext cx="1725" cy="1214"/>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grpSp>
      <p:sp>
        <p:nvSpPr>
          <p:cNvPr id="13" name="Rectangle 7">
            <a:extLst>
              <a:ext uri="{FF2B5EF4-FFF2-40B4-BE49-F238E27FC236}">
                <a16:creationId xmlns:a16="http://schemas.microsoft.com/office/drawing/2014/main" id="{C8B81D17-A0A8-F949-9EB7-4DD4D38497DB}"/>
              </a:ext>
            </a:extLst>
          </p:cNvPr>
          <p:cNvSpPr>
            <a:spLocks noChangeArrowheads="1"/>
          </p:cNvSpPr>
          <p:nvPr/>
        </p:nvSpPr>
        <p:spPr bwMode="auto">
          <a:xfrm>
            <a:off x="3780259" y="2276475"/>
            <a:ext cx="503238" cy="2873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4" name="Rectangle 8">
            <a:extLst>
              <a:ext uri="{FF2B5EF4-FFF2-40B4-BE49-F238E27FC236}">
                <a16:creationId xmlns:a16="http://schemas.microsoft.com/office/drawing/2014/main" id="{9AA93692-9840-BD4B-8F80-671320D45EE6}"/>
              </a:ext>
            </a:extLst>
          </p:cNvPr>
          <p:cNvSpPr>
            <a:spLocks noChangeArrowheads="1"/>
          </p:cNvSpPr>
          <p:nvPr/>
        </p:nvSpPr>
        <p:spPr bwMode="auto">
          <a:xfrm>
            <a:off x="3707234" y="2635250"/>
            <a:ext cx="576263" cy="144463"/>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6" name="Rectangle 9">
            <a:extLst>
              <a:ext uri="{FF2B5EF4-FFF2-40B4-BE49-F238E27FC236}">
                <a16:creationId xmlns:a16="http://schemas.microsoft.com/office/drawing/2014/main" id="{8F614F4E-6EB7-BC42-9F68-1D25224E9B40}"/>
              </a:ext>
            </a:extLst>
          </p:cNvPr>
          <p:cNvSpPr>
            <a:spLocks noChangeArrowheads="1"/>
          </p:cNvSpPr>
          <p:nvPr/>
        </p:nvSpPr>
        <p:spPr bwMode="auto">
          <a:xfrm>
            <a:off x="3491334" y="2851150"/>
            <a:ext cx="792163" cy="360363"/>
          </a:xfrm>
          <a:prstGeom prst="rect">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7" name="Rectangle 10">
            <a:extLst>
              <a:ext uri="{FF2B5EF4-FFF2-40B4-BE49-F238E27FC236}">
                <a16:creationId xmlns:a16="http://schemas.microsoft.com/office/drawing/2014/main" id="{EDAF64A4-4598-CE49-9356-962D101D5E6A}"/>
              </a:ext>
            </a:extLst>
          </p:cNvPr>
          <p:cNvSpPr>
            <a:spLocks noChangeArrowheads="1"/>
          </p:cNvSpPr>
          <p:nvPr/>
        </p:nvSpPr>
        <p:spPr bwMode="auto">
          <a:xfrm>
            <a:off x="3707234" y="3284538"/>
            <a:ext cx="576263" cy="287337"/>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8" name="Rectangle 11">
            <a:extLst>
              <a:ext uri="{FF2B5EF4-FFF2-40B4-BE49-F238E27FC236}">
                <a16:creationId xmlns:a16="http://schemas.microsoft.com/office/drawing/2014/main" id="{BA096E51-BF68-254D-8E1F-6AAC4642140C}"/>
              </a:ext>
            </a:extLst>
          </p:cNvPr>
          <p:cNvSpPr>
            <a:spLocks noChangeArrowheads="1"/>
          </p:cNvSpPr>
          <p:nvPr/>
        </p:nvSpPr>
        <p:spPr bwMode="auto">
          <a:xfrm>
            <a:off x="4427959" y="2276475"/>
            <a:ext cx="1079500" cy="1296988"/>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2874993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TASARIM YÜZEYLERİ İÇİNDEKİ GÖRSEL UNSURLAR ve BİRBİRLERİYLE İLİŞKİLERİ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15</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15</a:t>
            </a:fld>
            <a:endParaRPr lang="tr-TR"/>
          </a:p>
        </p:txBody>
      </p:sp>
      <p:sp>
        <p:nvSpPr>
          <p:cNvPr id="12" name="Rectangle 11">
            <a:extLst>
              <a:ext uri="{FF2B5EF4-FFF2-40B4-BE49-F238E27FC236}">
                <a16:creationId xmlns:a16="http://schemas.microsoft.com/office/drawing/2014/main" id="{4EAC0FE4-754B-B24A-8C28-78B9A86DAAC0}"/>
              </a:ext>
            </a:extLst>
          </p:cNvPr>
          <p:cNvSpPr/>
          <p:nvPr/>
        </p:nvSpPr>
        <p:spPr>
          <a:xfrm>
            <a:off x="468964" y="5497145"/>
            <a:ext cx="7660051" cy="1200329"/>
          </a:xfrm>
          <a:prstGeom prst="rect">
            <a:avLst/>
          </a:prstGeom>
        </p:spPr>
        <p:txBody>
          <a:bodyPr wrap="square">
            <a:spAutoFit/>
          </a:bodyPr>
          <a:lstStyle/>
          <a:p>
            <a:pPr eaLnBrk="0" hangingPunct="0">
              <a:spcBef>
                <a:spcPct val="50000"/>
              </a:spcBef>
            </a:pPr>
            <a:r>
              <a:rPr lang="tr-TR" altLang="en-TR" sz="2400" dirty="0">
                <a:latin typeface="Tahoma" panose="020B0604030504040204" pitchFamily="34" charset="0"/>
              </a:rPr>
              <a:t>Tasarım yüzeyi içinde birbirine fiziksel olarak yakın unsurlar kendi aralarında bir ilişkiye girerek gruplar oluştururlar. </a:t>
            </a:r>
          </a:p>
        </p:txBody>
      </p:sp>
      <p:grpSp>
        <p:nvGrpSpPr>
          <p:cNvPr id="19" name="Group 3">
            <a:extLst>
              <a:ext uri="{FF2B5EF4-FFF2-40B4-BE49-F238E27FC236}">
                <a16:creationId xmlns:a16="http://schemas.microsoft.com/office/drawing/2014/main" id="{03B6B35A-5ABB-7745-9F16-E7040D83422D}"/>
              </a:ext>
            </a:extLst>
          </p:cNvPr>
          <p:cNvGrpSpPr>
            <a:grpSpLocks/>
          </p:cNvGrpSpPr>
          <p:nvPr/>
        </p:nvGrpSpPr>
        <p:grpSpPr bwMode="auto">
          <a:xfrm>
            <a:off x="1619672" y="1773238"/>
            <a:ext cx="5435600" cy="3455987"/>
            <a:chOff x="1247" y="1117"/>
            <a:chExt cx="3424" cy="2177"/>
          </a:xfrm>
        </p:grpSpPr>
        <p:sp>
          <p:nvSpPr>
            <p:cNvPr id="20" name="computr3">
              <a:extLst>
                <a:ext uri="{FF2B5EF4-FFF2-40B4-BE49-F238E27FC236}">
                  <a16:creationId xmlns:a16="http://schemas.microsoft.com/office/drawing/2014/main" id="{E8F69782-D6C7-1C43-85DF-A5381E9CFE39}"/>
                </a:ext>
              </a:extLst>
            </p:cNvPr>
            <p:cNvSpPr>
              <a:spLocks noEditPoints="1" noChangeArrowheads="1"/>
            </p:cNvSpPr>
            <p:nvPr/>
          </p:nvSpPr>
          <p:spPr bwMode="auto">
            <a:xfrm>
              <a:off x="1247" y="1117"/>
              <a:ext cx="3424" cy="2177"/>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21" name="Rectangle 5">
              <a:extLst>
                <a:ext uri="{FF2B5EF4-FFF2-40B4-BE49-F238E27FC236}">
                  <a16:creationId xmlns:a16="http://schemas.microsoft.com/office/drawing/2014/main" id="{0082019F-732F-7345-96D7-B3465EA0EC1A}"/>
                </a:ext>
              </a:extLst>
            </p:cNvPr>
            <p:cNvSpPr>
              <a:spLocks noChangeArrowheads="1"/>
            </p:cNvSpPr>
            <p:nvPr/>
          </p:nvSpPr>
          <p:spPr bwMode="auto">
            <a:xfrm>
              <a:off x="2293" y="1219"/>
              <a:ext cx="1725" cy="1214"/>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grpSp>
      <p:sp>
        <p:nvSpPr>
          <p:cNvPr id="22" name="Rectangle 7">
            <a:extLst>
              <a:ext uri="{FF2B5EF4-FFF2-40B4-BE49-F238E27FC236}">
                <a16:creationId xmlns:a16="http://schemas.microsoft.com/office/drawing/2014/main" id="{1FA4E97D-512E-AA4D-89A4-5BEDB27286A9}"/>
              </a:ext>
            </a:extLst>
          </p:cNvPr>
          <p:cNvSpPr>
            <a:spLocks noChangeArrowheads="1"/>
          </p:cNvSpPr>
          <p:nvPr/>
        </p:nvSpPr>
        <p:spPr bwMode="auto">
          <a:xfrm>
            <a:off x="3853284" y="2276475"/>
            <a:ext cx="503238" cy="28733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3" name="Rectangle 8">
            <a:extLst>
              <a:ext uri="{FF2B5EF4-FFF2-40B4-BE49-F238E27FC236}">
                <a16:creationId xmlns:a16="http://schemas.microsoft.com/office/drawing/2014/main" id="{FC0AAF60-466C-9F43-BF4D-B8F4860A9C84}"/>
              </a:ext>
            </a:extLst>
          </p:cNvPr>
          <p:cNvSpPr>
            <a:spLocks noChangeArrowheads="1"/>
          </p:cNvSpPr>
          <p:nvPr/>
        </p:nvSpPr>
        <p:spPr bwMode="auto">
          <a:xfrm>
            <a:off x="4932784" y="2924175"/>
            <a:ext cx="574675" cy="504825"/>
          </a:xfrm>
          <a:prstGeom prst="rect">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4" name="Rectangle 9">
            <a:extLst>
              <a:ext uri="{FF2B5EF4-FFF2-40B4-BE49-F238E27FC236}">
                <a16:creationId xmlns:a16="http://schemas.microsoft.com/office/drawing/2014/main" id="{6798765C-1578-B949-AAF9-CFBE60E68F9C}"/>
              </a:ext>
            </a:extLst>
          </p:cNvPr>
          <p:cNvSpPr>
            <a:spLocks noChangeArrowheads="1"/>
          </p:cNvSpPr>
          <p:nvPr/>
        </p:nvSpPr>
        <p:spPr bwMode="auto">
          <a:xfrm>
            <a:off x="4427959" y="2276475"/>
            <a:ext cx="1079500" cy="431800"/>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6" name="Rectangle 10">
            <a:extLst>
              <a:ext uri="{FF2B5EF4-FFF2-40B4-BE49-F238E27FC236}">
                <a16:creationId xmlns:a16="http://schemas.microsoft.com/office/drawing/2014/main" id="{27D88340-2B2D-9C44-B933-2365C7713F4A}"/>
              </a:ext>
            </a:extLst>
          </p:cNvPr>
          <p:cNvSpPr>
            <a:spLocks noChangeArrowheads="1"/>
          </p:cNvSpPr>
          <p:nvPr/>
        </p:nvSpPr>
        <p:spPr bwMode="auto">
          <a:xfrm>
            <a:off x="3780259" y="2924175"/>
            <a:ext cx="1079500" cy="358775"/>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3681564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TASARIM YÜZEYLERİ İÇİNDEKİ GÖRSEL UNSURLAR ve BİRBİRLERİYLE İLİŞKİLERİ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16</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16</a:t>
            </a:fld>
            <a:endParaRPr lang="tr-TR"/>
          </a:p>
        </p:txBody>
      </p:sp>
      <p:sp>
        <p:nvSpPr>
          <p:cNvPr id="12" name="Rectangle 11">
            <a:extLst>
              <a:ext uri="{FF2B5EF4-FFF2-40B4-BE49-F238E27FC236}">
                <a16:creationId xmlns:a16="http://schemas.microsoft.com/office/drawing/2014/main" id="{4EAC0FE4-754B-B24A-8C28-78B9A86DAAC0}"/>
              </a:ext>
            </a:extLst>
          </p:cNvPr>
          <p:cNvSpPr/>
          <p:nvPr/>
        </p:nvSpPr>
        <p:spPr>
          <a:xfrm>
            <a:off x="468964" y="5497145"/>
            <a:ext cx="7660051" cy="1015663"/>
          </a:xfrm>
          <a:prstGeom prst="rect">
            <a:avLst/>
          </a:prstGeom>
        </p:spPr>
        <p:txBody>
          <a:bodyPr wrap="square">
            <a:spAutoFit/>
          </a:bodyPr>
          <a:lstStyle/>
          <a:p>
            <a:pPr eaLnBrk="0" hangingPunct="0">
              <a:spcBef>
                <a:spcPct val="30000"/>
              </a:spcBef>
            </a:pPr>
            <a:r>
              <a:rPr lang="tr-TR" altLang="en-TR" sz="2000" dirty="0">
                <a:latin typeface="Tahoma" panose="020B0604030504040204" pitchFamily="34" charset="0"/>
                <a:ea typeface="Tahoma" panose="020B0604030504040204" pitchFamily="34" charset="0"/>
                <a:cs typeface="Tahoma" panose="020B0604030504040204" pitchFamily="34" charset="0"/>
              </a:rPr>
              <a:t>Benzer boyutlara, renklere, biçime, tonlara, çizgiye ya da yönlere sahip görsel unsurlar da herhangi bir yakınlık ilişkisi olmasa bile kendi aralarında ilişkiye girerek bir grup oluştururlar. </a:t>
            </a:r>
          </a:p>
        </p:txBody>
      </p:sp>
      <p:grpSp>
        <p:nvGrpSpPr>
          <p:cNvPr id="16" name="Group 3">
            <a:extLst>
              <a:ext uri="{FF2B5EF4-FFF2-40B4-BE49-F238E27FC236}">
                <a16:creationId xmlns:a16="http://schemas.microsoft.com/office/drawing/2014/main" id="{18BC089B-458E-794A-ABDD-DEA8B1F02238}"/>
              </a:ext>
            </a:extLst>
          </p:cNvPr>
          <p:cNvGrpSpPr>
            <a:grpSpLocks/>
          </p:cNvGrpSpPr>
          <p:nvPr/>
        </p:nvGrpSpPr>
        <p:grpSpPr bwMode="auto">
          <a:xfrm>
            <a:off x="1691680" y="1773238"/>
            <a:ext cx="5435600" cy="3455987"/>
            <a:chOff x="1247" y="1117"/>
            <a:chExt cx="3424" cy="2177"/>
          </a:xfrm>
        </p:grpSpPr>
        <p:sp>
          <p:nvSpPr>
            <p:cNvPr id="17" name="computr3">
              <a:extLst>
                <a:ext uri="{FF2B5EF4-FFF2-40B4-BE49-F238E27FC236}">
                  <a16:creationId xmlns:a16="http://schemas.microsoft.com/office/drawing/2014/main" id="{7CF99EEE-D712-864E-9273-736C33F52630}"/>
                </a:ext>
              </a:extLst>
            </p:cNvPr>
            <p:cNvSpPr>
              <a:spLocks noEditPoints="1" noChangeArrowheads="1"/>
            </p:cNvSpPr>
            <p:nvPr/>
          </p:nvSpPr>
          <p:spPr bwMode="auto">
            <a:xfrm>
              <a:off x="1247" y="1117"/>
              <a:ext cx="3424" cy="2177"/>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18" name="Rectangle 5">
              <a:extLst>
                <a:ext uri="{FF2B5EF4-FFF2-40B4-BE49-F238E27FC236}">
                  <a16:creationId xmlns:a16="http://schemas.microsoft.com/office/drawing/2014/main" id="{C3DF3299-DEB5-384E-B558-64E0B009783C}"/>
                </a:ext>
              </a:extLst>
            </p:cNvPr>
            <p:cNvSpPr>
              <a:spLocks noChangeArrowheads="1"/>
            </p:cNvSpPr>
            <p:nvPr/>
          </p:nvSpPr>
          <p:spPr bwMode="auto">
            <a:xfrm>
              <a:off x="2293" y="1219"/>
              <a:ext cx="1725" cy="1214"/>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grpSp>
      <p:sp>
        <p:nvSpPr>
          <p:cNvPr id="25" name="Rectangle 7">
            <a:extLst>
              <a:ext uri="{FF2B5EF4-FFF2-40B4-BE49-F238E27FC236}">
                <a16:creationId xmlns:a16="http://schemas.microsoft.com/office/drawing/2014/main" id="{A82ED20F-299C-4140-B657-4B83C0F717D2}"/>
              </a:ext>
            </a:extLst>
          </p:cNvPr>
          <p:cNvSpPr>
            <a:spLocks noChangeArrowheads="1"/>
          </p:cNvSpPr>
          <p:nvPr/>
        </p:nvSpPr>
        <p:spPr bwMode="auto">
          <a:xfrm>
            <a:off x="3636367" y="3284538"/>
            <a:ext cx="287338" cy="215900"/>
          </a:xfrm>
          <a:prstGeom prst="rect">
            <a:avLst/>
          </a:prstGeom>
          <a:solidFill>
            <a:srgbClr val="FF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7" name="Oval 8">
            <a:extLst>
              <a:ext uri="{FF2B5EF4-FFF2-40B4-BE49-F238E27FC236}">
                <a16:creationId xmlns:a16="http://schemas.microsoft.com/office/drawing/2014/main" id="{C1AB5822-4362-3B49-82A2-830F31C2FA01}"/>
              </a:ext>
            </a:extLst>
          </p:cNvPr>
          <p:cNvSpPr>
            <a:spLocks noChangeArrowheads="1"/>
          </p:cNvSpPr>
          <p:nvPr/>
        </p:nvSpPr>
        <p:spPr bwMode="auto">
          <a:xfrm>
            <a:off x="3491905" y="2060575"/>
            <a:ext cx="431800" cy="431800"/>
          </a:xfrm>
          <a:prstGeom prst="ellipse">
            <a:avLst/>
          </a:prstGeom>
          <a:solidFill>
            <a:srgbClr val="8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8" name="Rectangle 9">
            <a:extLst>
              <a:ext uri="{FF2B5EF4-FFF2-40B4-BE49-F238E27FC236}">
                <a16:creationId xmlns:a16="http://schemas.microsoft.com/office/drawing/2014/main" id="{81DF336F-EC1A-3546-A716-3AEEE8A42C14}"/>
              </a:ext>
            </a:extLst>
          </p:cNvPr>
          <p:cNvSpPr>
            <a:spLocks noChangeArrowheads="1"/>
          </p:cNvSpPr>
          <p:nvPr/>
        </p:nvSpPr>
        <p:spPr bwMode="auto">
          <a:xfrm>
            <a:off x="4571405" y="2133600"/>
            <a:ext cx="360362" cy="215900"/>
          </a:xfrm>
          <a:prstGeom prst="rect">
            <a:avLst/>
          </a:prstGeom>
          <a:solidFill>
            <a:srgbClr val="008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9" name="Oval 10">
            <a:extLst>
              <a:ext uri="{FF2B5EF4-FFF2-40B4-BE49-F238E27FC236}">
                <a16:creationId xmlns:a16="http://schemas.microsoft.com/office/drawing/2014/main" id="{0BE6EA77-6EA4-1C41-8B27-33DD95814A47}"/>
              </a:ext>
            </a:extLst>
          </p:cNvPr>
          <p:cNvSpPr>
            <a:spLocks noChangeArrowheads="1"/>
          </p:cNvSpPr>
          <p:nvPr/>
        </p:nvSpPr>
        <p:spPr bwMode="auto">
          <a:xfrm>
            <a:off x="4284067" y="2852738"/>
            <a:ext cx="431800" cy="431800"/>
          </a:xfrm>
          <a:prstGeom prst="ellipse">
            <a:avLst/>
          </a:prstGeom>
          <a:solidFill>
            <a:srgbClr val="8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0" name="Oval 11">
            <a:extLst>
              <a:ext uri="{FF2B5EF4-FFF2-40B4-BE49-F238E27FC236}">
                <a16:creationId xmlns:a16="http://schemas.microsoft.com/office/drawing/2014/main" id="{ECBBF1BD-6856-CB46-94A3-7326175FB775}"/>
              </a:ext>
            </a:extLst>
          </p:cNvPr>
          <p:cNvSpPr>
            <a:spLocks noChangeArrowheads="1"/>
          </p:cNvSpPr>
          <p:nvPr/>
        </p:nvSpPr>
        <p:spPr bwMode="auto">
          <a:xfrm>
            <a:off x="5363567" y="2205038"/>
            <a:ext cx="431800" cy="431800"/>
          </a:xfrm>
          <a:prstGeom prst="ellipse">
            <a:avLst/>
          </a:prstGeom>
          <a:solidFill>
            <a:srgbClr val="8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1" name="Oval 12">
            <a:extLst>
              <a:ext uri="{FF2B5EF4-FFF2-40B4-BE49-F238E27FC236}">
                <a16:creationId xmlns:a16="http://schemas.microsoft.com/office/drawing/2014/main" id="{56C904F3-BD2C-374C-A47D-E43332F904C7}"/>
              </a:ext>
            </a:extLst>
          </p:cNvPr>
          <p:cNvSpPr>
            <a:spLocks noChangeArrowheads="1"/>
          </p:cNvSpPr>
          <p:nvPr/>
        </p:nvSpPr>
        <p:spPr bwMode="auto">
          <a:xfrm>
            <a:off x="5365155" y="3213100"/>
            <a:ext cx="431800" cy="431800"/>
          </a:xfrm>
          <a:prstGeom prst="ellipse">
            <a:avLst/>
          </a:prstGeom>
          <a:solidFill>
            <a:srgbClr val="8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2109751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TASARIM YÜZEYLERİ İÇİNDEKİ GÖRSEL UNSURLAR ve BİRBİRLERİYLE İLİŞKİLERİ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17</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17</a:t>
            </a:fld>
            <a:endParaRPr lang="tr-TR"/>
          </a:p>
        </p:txBody>
      </p:sp>
      <p:sp>
        <p:nvSpPr>
          <p:cNvPr id="12" name="Rectangle 11">
            <a:extLst>
              <a:ext uri="{FF2B5EF4-FFF2-40B4-BE49-F238E27FC236}">
                <a16:creationId xmlns:a16="http://schemas.microsoft.com/office/drawing/2014/main" id="{4EAC0FE4-754B-B24A-8C28-78B9A86DAAC0}"/>
              </a:ext>
            </a:extLst>
          </p:cNvPr>
          <p:cNvSpPr/>
          <p:nvPr/>
        </p:nvSpPr>
        <p:spPr>
          <a:xfrm>
            <a:off x="468964" y="5497145"/>
            <a:ext cx="7660051" cy="1015663"/>
          </a:xfrm>
          <a:prstGeom prst="rect">
            <a:avLst/>
          </a:prstGeom>
        </p:spPr>
        <p:txBody>
          <a:bodyPr wrap="square">
            <a:spAutoFit/>
          </a:bodyPr>
          <a:lstStyle/>
          <a:p>
            <a:pPr eaLnBrk="0" hangingPunct="0">
              <a:spcBef>
                <a:spcPct val="50000"/>
              </a:spcBef>
            </a:pPr>
            <a:r>
              <a:rPr lang="tr-TR" altLang="en-TR" sz="2000" dirty="0">
                <a:latin typeface="Tahoma" panose="020B0604030504040204" pitchFamily="34" charset="0"/>
              </a:rPr>
              <a:t>Tasarım da kullanılan elemanların algılanması sağlayan ve kesinlikle atlanmaması gereken temel tasarım ilkelerinden biri de, “boşluk” kullanımıdır.</a:t>
            </a:r>
          </a:p>
        </p:txBody>
      </p:sp>
      <p:sp>
        <p:nvSpPr>
          <p:cNvPr id="19" name="computr3">
            <a:extLst>
              <a:ext uri="{FF2B5EF4-FFF2-40B4-BE49-F238E27FC236}">
                <a16:creationId xmlns:a16="http://schemas.microsoft.com/office/drawing/2014/main" id="{F4E0F59F-4484-5842-87D1-BF6F2CD35EA4}"/>
              </a:ext>
            </a:extLst>
          </p:cNvPr>
          <p:cNvSpPr>
            <a:spLocks noEditPoints="1" noChangeArrowheads="1"/>
          </p:cNvSpPr>
          <p:nvPr/>
        </p:nvSpPr>
        <p:spPr bwMode="auto">
          <a:xfrm>
            <a:off x="1691680" y="1773238"/>
            <a:ext cx="5435600" cy="3455987"/>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20" name="Rectangle 5">
            <a:extLst>
              <a:ext uri="{FF2B5EF4-FFF2-40B4-BE49-F238E27FC236}">
                <a16:creationId xmlns:a16="http://schemas.microsoft.com/office/drawing/2014/main" id="{B199F4AF-DF6B-CA4D-9C6B-C2EF525FE2DB}"/>
              </a:ext>
            </a:extLst>
          </p:cNvPr>
          <p:cNvSpPr>
            <a:spLocks noChangeArrowheads="1"/>
          </p:cNvSpPr>
          <p:nvPr/>
        </p:nvSpPr>
        <p:spPr bwMode="auto">
          <a:xfrm>
            <a:off x="3352205" y="1935163"/>
            <a:ext cx="2738437" cy="1927225"/>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1" name="Rectangle 6">
            <a:extLst>
              <a:ext uri="{FF2B5EF4-FFF2-40B4-BE49-F238E27FC236}">
                <a16:creationId xmlns:a16="http://schemas.microsoft.com/office/drawing/2014/main" id="{F44A2685-0A45-5843-85AD-E5A857958780}"/>
              </a:ext>
            </a:extLst>
          </p:cNvPr>
          <p:cNvSpPr>
            <a:spLocks noChangeArrowheads="1"/>
          </p:cNvSpPr>
          <p:nvPr/>
        </p:nvSpPr>
        <p:spPr bwMode="auto">
          <a:xfrm>
            <a:off x="3636367" y="2205038"/>
            <a:ext cx="2016125" cy="15113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2" name="Rectangle 7">
            <a:extLst>
              <a:ext uri="{FF2B5EF4-FFF2-40B4-BE49-F238E27FC236}">
                <a16:creationId xmlns:a16="http://schemas.microsoft.com/office/drawing/2014/main" id="{8E9C4B48-5F39-F84C-B103-A3B548354400}"/>
              </a:ext>
            </a:extLst>
          </p:cNvPr>
          <p:cNvSpPr>
            <a:spLocks noChangeArrowheads="1"/>
          </p:cNvSpPr>
          <p:nvPr/>
        </p:nvSpPr>
        <p:spPr bwMode="auto">
          <a:xfrm>
            <a:off x="3636367" y="2205038"/>
            <a:ext cx="2016125" cy="71437"/>
          </a:xfrm>
          <a:prstGeom prst="rect">
            <a:avLst/>
          </a:prstGeom>
          <a:solidFill>
            <a:srgbClr val="33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3" name="Rectangle 8">
            <a:extLst>
              <a:ext uri="{FF2B5EF4-FFF2-40B4-BE49-F238E27FC236}">
                <a16:creationId xmlns:a16="http://schemas.microsoft.com/office/drawing/2014/main" id="{46809F4C-D6A9-594B-8FF7-EA154B622B4B}"/>
              </a:ext>
            </a:extLst>
          </p:cNvPr>
          <p:cNvSpPr>
            <a:spLocks noChangeArrowheads="1"/>
          </p:cNvSpPr>
          <p:nvPr/>
        </p:nvSpPr>
        <p:spPr bwMode="auto">
          <a:xfrm>
            <a:off x="4428530" y="2565400"/>
            <a:ext cx="1079500" cy="863600"/>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4" name="Rectangle 9">
            <a:extLst>
              <a:ext uri="{FF2B5EF4-FFF2-40B4-BE49-F238E27FC236}">
                <a16:creationId xmlns:a16="http://schemas.microsoft.com/office/drawing/2014/main" id="{EA7BD013-F040-6249-B6F8-8F4B26796CCB}"/>
              </a:ext>
            </a:extLst>
          </p:cNvPr>
          <p:cNvSpPr>
            <a:spLocks noChangeArrowheads="1"/>
          </p:cNvSpPr>
          <p:nvPr/>
        </p:nvSpPr>
        <p:spPr bwMode="auto">
          <a:xfrm>
            <a:off x="3779242" y="2635250"/>
            <a:ext cx="504825" cy="288925"/>
          </a:xfrm>
          <a:prstGeom prst="rect">
            <a:avLst/>
          </a:prstGeom>
          <a:gradFill rotWithShape="1">
            <a:gsLst>
              <a:gs pos="0">
                <a:schemeClr val="accent2">
                  <a:gamma/>
                  <a:shade val="46275"/>
                  <a:invGamma/>
                </a:schemeClr>
              </a:gs>
              <a:gs pos="100000">
                <a:schemeClr val="accent2"/>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6" name="Rectangle 10">
            <a:extLst>
              <a:ext uri="{FF2B5EF4-FFF2-40B4-BE49-F238E27FC236}">
                <a16:creationId xmlns:a16="http://schemas.microsoft.com/office/drawing/2014/main" id="{73A83220-A574-F543-93E5-908929973F4E}"/>
              </a:ext>
            </a:extLst>
          </p:cNvPr>
          <p:cNvSpPr>
            <a:spLocks noChangeArrowheads="1"/>
          </p:cNvSpPr>
          <p:nvPr/>
        </p:nvSpPr>
        <p:spPr bwMode="auto">
          <a:xfrm>
            <a:off x="3779242" y="3068638"/>
            <a:ext cx="504825" cy="288925"/>
          </a:xfrm>
          <a:prstGeom prst="rect">
            <a:avLst/>
          </a:prstGeom>
          <a:gradFill rotWithShape="1">
            <a:gsLst>
              <a:gs pos="0">
                <a:srgbClr val="A50021">
                  <a:gamma/>
                  <a:shade val="46275"/>
                  <a:invGamma/>
                </a:srgbClr>
              </a:gs>
              <a:gs pos="50000">
                <a:srgbClr val="A50021"/>
              </a:gs>
              <a:gs pos="100000">
                <a:srgbClr val="A50021">
                  <a:gamma/>
                  <a:shade val="46275"/>
                  <a:invGamma/>
                </a:srgbClr>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2" name="Oval 11">
            <a:extLst>
              <a:ext uri="{FF2B5EF4-FFF2-40B4-BE49-F238E27FC236}">
                <a16:creationId xmlns:a16="http://schemas.microsoft.com/office/drawing/2014/main" id="{7E5FC5A9-540F-ED48-A9F5-EAA12C4D6963}"/>
              </a:ext>
            </a:extLst>
          </p:cNvPr>
          <p:cNvSpPr>
            <a:spLocks noChangeArrowheads="1"/>
          </p:cNvSpPr>
          <p:nvPr/>
        </p:nvSpPr>
        <p:spPr bwMode="auto">
          <a:xfrm>
            <a:off x="5436592" y="2420938"/>
            <a:ext cx="287338" cy="1152525"/>
          </a:xfrm>
          <a:prstGeom prst="ellipse">
            <a:avLst/>
          </a:prstGeom>
          <a:solidFill>
            <a:srgbClr val="800000">
              <a:alpha val="25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3" name="Oval 12">
            <a:extLst>
              <a:ext uri="{FF2B5EF4-FFF2-40B4-BE49-F238E27FC236}">
                <a16:creationId xmlns:a16="http://schemas.microsoft.com/office/drawing/2014/main" id="{14804D55-8CF6-B54C-B96C-CE6CE433C2AA}"/>
              </a:ext>
            </a:extLst>
          </p:cNvPr>
          <p:cNvSpPr>
            <a:spLocks noChangeArrowheads="1"/>
          </p:cNvSpPr>
          <p:nvPr/>
        </p:nvSpPr>
        <p:spPr bwMode="auto">
          <a:xfrm>
            <a:off x="4212630" y="2420938"/>
            <a:ext cx="287337" cy="1152525"/>
          </a:xfrm>
          <a:prstGeom prst="ellipse">
            <a:avLst/>
          </a:prstGeom>
          <a:solidFill>
            <a:srgbClr val="800000">
              <a:alpha val="25999"/>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4" name="Line 13">
            <a:extLst>
              <a:ext uri="{FF2B5EF4-FFF2-40B4-BE49-F238E27FC236}">
                <a16:creationId xmlns:a16="http://schemas.microsoft.com/office/drawing/2014/main" id="{07BA70D8-4D10-0C4B-A809-FA4484686C3D}"/>
              </a:ext>
            </a:extLst>
          </p:cNvPr>
          <p:cNvSpPr>
            <a:spLocks noChangeShapeType="1"/>
          </p:cNvSpPr>
          <p:nvPr/>
        </p:nvSpPr>
        <p:spPr bwMode="auto">
          <a:xfrm flipV="1">
            <a:off x="5723930" y="2636838"/>
            <a:ext cx="1223962" cy="3603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TR"/>
          </a:p>
        </p:txBody>
      </p:sp>
      <p:sp>
        <p:nvSpPr>
          <p:cNvPr id="35" name="Text Box 14">
            <a:extLst>
              <a:ext uri="{FF2B5EF4-FFF2-40B4-BE49-F238E27FC236}">
                <a16:creationId xmlns:a16="http://schemas.microsoft.com/office/drawing/2014/main" id="{E03D3F0C-274B-664F-825D-A532C549FBDE}"/>
              </a:ext>
            </a:extLst>
          </p:cNvPr>
          <p:cNvSpPr txBox="1">
            <a:spLocks noChangeArrowheads="1"/>
          </p:cNvSpPr>
          <p:nvPr/>
        </p:nvSpPr>
        <p:spPr bwMode="auto">
          <a:xfrm>
            <a:off x="6444655" y="1844675"/>
            <a:ext cx="2232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spcBef>
                <a:spcPct val="50000"/>
              </a:spcBef>
            </a:pPr>
            <a:r>
              <a:rPr lang="tr-TR" altLang="en-TR">
                <a:latin typeface="Tahoma" panose="020B0604030504040204" pitchFamily="34" charset="0"/>
              </a:rPr>
              <a:t>Standartlaştırılmış anlamlı boşluklar</a:t>
            </a:r>
          </a:p>
        </p:txBody>
      </p:sp>
    </p:spTree>
    <p:extLst>
      <p:ext uri="{BB962C8B-B14F-4D97-AF65-F5344CB8AC3E}">
        <p14:creationId xmlns:p14="http://schemas.microsoft.com/office/powerpoint/2010/main" val="512728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a:bodyPr>
          <a:lstStyle/>
          <a:p>
            <a:r>
              <a:rPr lang="tr-TR" sz="2400" dirty="0"/>
              <a:t>TASARIM YÜZEYLERİ İÇİNDEKİ GÖRSEL UNSURLAR ve BİRBİRLERİYLE İLİŞKİLERİ</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18</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Slide Number Placeholder 5">
            <a:extLst>
              <a:ext uri="{FF2B5EF4-FFF2-40B4-BE49-F238E27FC236}">
                <a16:creationId xmlns:a16="http://schemas.microsoft.com/office/drawing/2014/main" id="{57DF4E42-2F8D-4FD0-AF8B-2575BD745469}"/>
              </a:ext>
            </a:extLst>
          </p:cNvPr>
          <p:cNvSpPr txBox="1">
            <a:spLocks/>
          </p:cNvSpPr>
          <p:nvPr/>
        </p:nvSpPr>
        <p:spPr>
          <a:xfrm>
            <a:off x="8534401" y="6813550"/>
            <a:ext cx="457200" cy="365125"/>
          </a:xfrm>
          <a:prstGeom prst="rect">
            <a:avLst/>
          </a:prstGeom>
        </p:spPr>
        <p:txBody>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8AFBF8A-26A6-42EB-9284-30DCCFA2E9A1}" type="slidenum">
              <a:rPr lang="tr-TR" smtClean="0"/>
              <a:pPr/>
              <a:t>18</a:t>
            </a:fld>
            <a:endParaRPr lang="tr-TR"/>
          </a:p>
        </p:txBody>
      </p:sp>
      <p:pic>
        <p:nvPicPr>
          <p:cNvPr id="25" name="Picture 3">
            <a:extLst>
              <a:ext uri="{FF2B5EF4-FFF2-40B4-BE49-F238E27FC236}">
                <a16:creationId xmlns:a16="http://schemas.microsoft.com/office/drawing/2014/main" id="{63F5BEA2-00C3-9D48-B144-A86F0E68D5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59719" y="1692275"/>
            <a:ext cx="6683822" cy="4824536"/>
          </a:xfrm>
          <a:prstGeom prst="rect">
            <a:avLst/>
          </a:prstGeom>
          <a:noFill/>
          <a:ln/>
        </p:spPr>
      </p:pic>
      <p:sp>
        <p:nvSpPr>
          <p:cNvPr id="27" name="Oval 4">
            <a:extLst>
              <a:ext uri="{FF2B5EF4-FFF2-40B4-BE49-F238E27FC236}">
                <a16:creationId xmlns:a16="http://schemas.microsoft.com/office/drawing/2014/main" id="{A338F954-3CC8-4B44-8999-B41C3F5711D0}"/>
              </a:ext>
            </a:extLst>
          </p:cNvPr>
          <p:cNvSpPr>
            <a:spLocks noChangeArrowheads="1"/>
          </p:cNvSpPr>
          <p:nvPr/>
        </p:nvSpPr>
        <p:spPr bwMode="auto">
          <a:xfrm>
            <a:off x="6103269" y="3979676"/>
            <a:ext cx="249464" cy="24973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8" name="Oval 5">
            <a:extLst>
              <a:ext uri="{FF2B5EF4-FFF2-40B4-BE49-F238E27FC236}">
                <a16:creationId xmlns:a16="http://schemas.microsoft.com/office/drawing/2014/main" id="{37445AB2-5EB4-134E-9531-3B8F9D5B80BE}"/>
              </a:ext>
            </a:extLst>
          </p:cNvPr>
          <p:cNvSpPr>
            <a:spLocks noChangeArrowheads="1"/>
          </p:cNvSpPr>
          <p:nvPr/>
        </p:nvSpPr>
        <p:spPr bwMode="auto">
          <a:xfrm>
            <a:off x="6103269" y="4653136"/>
            <a:ext cx="249464" cy="24973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9" name="Oval 6">
            <a:extLst>
              <a:ext uri="{FF2B5EF4-FFF2-40B4-BE49-F238E27FC236}">
                <a16:creationId xmlns:a16="http://schemas.microsoft.com/office/drawing/2014/main" id="{35E5D476-9124-A94E-830F-D48D5F32D398}"/>
              </a:ext>
            </a:extLst>
          </p:cNvPr>
          <p:cNvSpPr>
            <a:spLocks noChangeArrowheads="1"/>
          </p:cNvSpPr>
          <p:nvPr/>
        </p:nvSpPr>
        <p:spPr bwMode="auto">
          <a:xfrm>
            <a:off x="6732240" y="2568837"/>
            <a:ext cx="249464" cy="24973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0" name="Oval 7">
            <a:extLst>
              <a:ext uri="{FF2B5EF4-FFF2-40B4-BE49-F238E27FC236}">
                <a16:creationId xmlns:a16="http://schemas.microsoft.com/office/drawing/2014/main" id="{15FD3F7D-280E-954E-8F8C-9D3B4BD295F1}"/>
              </a:ext>
            </a:extLst>
          </p:cNvPr>
          <p:cNvSpPr>
            <a:spLocks noChangeArrowheads="1"/>
          </p:cNvSpPr>
          <p:nvPr/>
        </p:nvSpPr>
        <p:spPr bwMode="auto">
          <a:xfrm>
            <a:off x="847057" y="2398162"/>
            <a:ext cx="249464" cy="24973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1" name="Oval 8">
            <a:extLst>
              <a:ext uri="{FF2B5EF4-FFF2-40B4-BE49-F238E27FC236}">
                <a16:creationId xmlns:a16="http://schemas.microsoft.com/office/drawing/2014/main" id="{041E53AC-999C-DD49-96A6-AB59474DBD6A}"/>
              </a:ext>
            </a:extLst>
          </p:cNvPr>
          <p:cNvSpPr>
            <a:spLocks noChangeArrowheads="1"/>
          </p:cNvSpPr>
          <p:nvPr/>
        </p:nvSpPr>
        <p:spPr bwMode="auto">
          <a:xfrm>
            <a:off x="2799974" y="4104543"/>
            <a:ext cx="249464" cy="249734"/>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3381085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3140968"/>
            <a:ext cx="7467600" cy="1143000"/>
          </a:xfrm>
        </p:spPr>
        <p:txBody>
          <a:bodyPr>
            <a:noAutofit/>
          </a:bodyPr>
          <a:lstStyle/>
          <a:p>
            <a:r>
              <a:rPr lang="tr-TR" sz="4400" dirty="0"/>
              <a:t>YAZI KARAKTERİ </a:t>
            </a:r>
            <a:br>
              <a:rPr lang="tr-TR" sz="4400" dirty="0"/>
            </a:br>
            <a:r>
              <a:rPr lang="tr-TR" sz="4400" dirty="0"/>
              <a:t>ve METİN</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19</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Tree>
    <p:extLst>
      <p:ext uri="{BB962C8B-B14F-4D97-AF65-F5344CB8AC3E}">
        <p14:creationId xmlns:p14="http://schemas.microsoft.com/office/powerpoint/2010/main" val="3268845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Yazı Karakterleri ve Metin</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20</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pSp>
        <p:nvGrpSpPr>
          <p:cNvPr id="10" name="Group 3">
            <a:extLst>
              <a:ext uri="{FF2B5EF4-FFF2-40B4-BE49-F238E27FC236}">
                <a16:creationId xmlns:a16="http://schemas.microsoft.com/office/drawing/2014/main" id="{8655CE0E-2535-6749-9C12-79C8958EE68B}"/>
              </a:ext>
            </a:extLst>
          </p:cNvPr>
          <p:cNvGrpSpPr>
            <a:grpSpLocks/>
          </p:cNvGrpSpPr>
          <p:nvPr/>
        </p:nvGrpSpPr>
        <p:grpSpPr bwMode="auto">
          <a:xfrm>
            <a:off x="865188" y="1772816"/>
            <a:ext cx="6875462" cy="4464050"/>
            <a:chOff x="1247" y="1117"/>
            <a:chExt cx="3424" cy="2177"/>
          </a:xfrm>
        </p:grpSpPr>
        <p:sp>
          <p:nvSpPr>
            <p:cNvPr id="11" name="computr3">
              <a:extLst>
                <a:ext uri="{FF2B5EF4-FFF2-40B4-BE49-F238E27FC236}">
                  <a16:creationId xmlns:a16="http://schemas.microsoft.com/office/drawing/2014/main" id="{8CA99A41-A74D-9A44-81DA-D14C66C7C5D4}"/>
                </a:ext>
              </a:extLst>
            </p:cNvPr>
            <p:cNvSpPr>
              <a:spLocks noEditPoints="1" noChangeArrowheads="1"/>
            </p:cNvSpPr>
            <p:nvPr/>
          </p:nvSpPr>
          <p:spPr bwMode="auto">
            <a:xfrm>
              <a:off x="1247" y="1117"/>
              <a:ext cx="3424" cy="2177"/>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12" name="Rectangle 5">
              <a:extLst>
                <a:ext uri="{FF2B5EF4-FFF2-40B4-BE49-F238E27FC236}">
                  <a16:creationId xmlns:a16="http://schemas.microsoft.com/office/drawing/2014/main" id="{7671A027-17C0-264B-B94D-FE1C13B9CC6F}"/>
                </a:ext>
              </a:extLst>
            </p:cNvPr>
            <p:cNvSpPr>
              <a:spLocks noChangeArrowheads="1"/>
            </p:cNvSpPr>
            <p:nvPr/>
          </p:nvSpPr>
          <p:spPr bwMode="auto">
            <a:xfrm>
              <a:off x="2293" y="1219"/>
              <a:ext cx="1725" cy="1214"/>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grpSp>
      <p:sp>
        <p:nvSpPr>
          <p:cNvPr id="13" name="Text Box 6">
            <a:extLst>
              <a:ext uri="{FF2B5EF4-FFF2-40B4-BE49-F238E27FC236}">
                <a16:creationId xmlns:a16="http://schemas.microsoft.com/office/drawing/2014/main" id="{C7098688-D6A7-BD44-8B0C-B21055B68B48}"/>
              </a:ext>
            </a:extLst>
          </p:cNvPr>
          <p:cNvSpPr txBox="1">
            <a:spLocks noChangeArrowheads="1"/>
          </p:cNvSpPr>
          <p:nvPr/>
        </p:nvSpPr>
        <p:spPr bwMode="auto">
          <a:xfrm>
            <a:off x="2987675" y="2636416"/>
            <a:ext cx="31115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tr-TR" altLang="en-TR" sz="3600" dirty="0" err="1">
                <a:latin typeface="Tahoma" panose="020B0604030504040204" pitchFamily="34" charset="0"/>
              </a:rPr>
              <a:t>Aa</a:t>
            </a:r>
            <a:r>
              <a:rPr lang="tr-TR" altLang="en-TR" sz="3600" dirty="0">
                <a:latin typeface="Tahoma" panose="020B0604030504040204" pitchFamily="34" charset="0"/>
              </a:rPr>
              <a:t> </a:t>
            </a:r>
            <a:r>
              <a:rPr lang="tr-TR" altLang="en-TR" sz="3600" dirty="0" err="1">
                <a:latin typeface="Tahoma" panose="020B0604030504040204" pitchFamily="34" charset="0"/>
              </a:rPr>
              <a:t>Bb</a:t>
            </a:r>
            <a:r>
              <a:rPr lang="tr-TR" altLang="en-TR" sz="3600" dirty="0">
                <a:latin typeface="Tahoma" panose="020B0604030504040204" pitchFamily="34" charset="0"/>
              </a:rPr>
              <a:t> </a:t>
            </a:r>
            <a:r>
              <a:rPr lang="tr-TR" altLang="en-TR" sz="3600" dirty="0" err="1">
                <a:latin typeface="Tahoma" panose="020B0604030504040204" pitchFamily="34" charset="0"/>
              </a:rPr>
              <a:t>Cc</a:t>
            </a:r>
            <a:r>
              <a:rPr lang="tr-TR" altLang="en-TR" sz="3600" dirty="0">
                <a:latin typeface="Tahoma" panose="020B0604030504040204" pitchFamily="34" charset="0"/>
              </a:rPr>
              <a:t> </a:t>
            </a:r>
            <a:r>
              <a:rPr lang="tr-TR" altLang="en-TR" sz="3600" dirty="0" err="1">
                <a:latin typeface="Tahoma" panose="020B0604030504040204" pitchFamily="34" charset="0"/>
              </a:rPr>
              <a:t>Dd</a:t>
            </a:r>
            <a:r>
              <a:rPr lang="tr-TR" altLang="en-TR" sz="3600" dirty="0">
                <a:latin typeface="Tahoma" panose="020B0604030504040204" pitchFamily="34" charset="0"/>
              </a:rPr>
              <a:t>...</a:t>
            </a:r>
          </a:p>
        </p:txBody>
      </p:sp>
      <p:sp>
        <p:nvSpPr>
          <p:cNvPr id="14" name="Text Box 7">
            <a:extLst>
              <a:ext uri="{FF2B5EF4-FFF2-40B4-BE49-F238E27FC236}">
                <a16:creationId xmlns:a16="http://schemas.microsoft.com/office/drawing/2014/main" id="{D5620ED1-84B8-BA46-A789-F1E640DF6AC1}"/>
              </a:ext>
            </a:extLst>
          </p:cNvPr>
          <p:cNvSpPr txBox="1">
            <a:spLocks noChangeArrowheads="1"/>
          </p:cNvSpPr>
          <p:nvPr/>
        </p:nvSpPr>
        <p:spPr bwMode="auto">
          <a:xfrm>
            <a:off x="2987675" y="3579391"/>
            <a:ext cx="30035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tr-TR" altLang="en-TR" sz="3600">
                <a:latin typeface="Times New Roman" panose="02020603050405020304" pitchFamily="18" charset="0"/>
              </a:rPr>
              <a:t>Aa Bb Cc Dd...</a:t>
            </a:r>
          </a:p>
        </p:txBody>
      </p:sp>
      <p:sp>
        <p:nvSpPr>
          <p:cNvPr id="15" name="Text Box 8">
            <a:extLst>
              <a:ext uri="{FF2B5EF4-FFF2-40B4-BE49-F238E27FC236}">
                <a16:creationId xmlns:a16="http://schemas.microsoft.com/office/drawing/2014/main" id="{654E6F57-7C9F-D74F-9CE1-84F7DBD89D73}"/>
              </a:ext>
            </a:extLst>
          </p:cNvPr>
          <p:cNvSpPr txBox="1">
            <a:spLocks noChangeArrowheads="1"/>
          </p:cNvSpPr>
          <p:nvPr/>
        </p:nvSpPr>
        <p:spPr bwMode="auto">
          <a:xfrm>
            <a:off x="2987675" y="2066504"/>
            <a:ext cx="3543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tr-TR" altLang="en-TR" sz="3600">
                <a:latin typeface="Verdana" panose="020B0604030504040204" pitchFamily="34" charset="0"/>
              </a:rPr>
              <a:t>Aa Bb Cc Dd...</a:t>
            </a:r>
          </a:p>
        </p:txBody>
      </p:sp>
    </p:spTree>
    <p:extLst>
      <p:ext uri="{BB962C8B-B14F-4D97-AF65-F5344CB8AC3E}">
        <p14:creationId xmlns:p14="http://schemas.microsoft.com/office/powerpoint/2010/main" val="1795873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Yazı Karakterleri ve Metin</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21</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grpSp>
        <p:nvGrpSpPr>
          <p:cNvPr id="16" name="Group 3">
            <a:extLst>
              <a:ext uri="{FF2B5EF4-FFF2-40B4-BE49-F238E27FC236}">
                <a16:creationId xmlns:a16="http://schemas.microsoft.com/office/drawing/2014/main" id="{D13E5C8C-E763-3846-890C-E6E23DD783F4}"/>
              </a:ext>
            </a:extLst>
          </p:cNvPr>
          <p:cNvGrpSpPr>
            <a:grpSpLocks/>
          </p:cNvGrpSpPr>
          <p:nvPr/>
        </p:nvGrpSpPr>
        <p:grpSpPr bwMode="auto">
          <a:xfrm>
            <a:off x="467493" y="2203872"/>
            <a:ext cx="3816350" cy="2881312"/>
            <a:chOff x="1247" y="1117"/>
            <a:chExt cx="3424" cy="2177"/>
          </a:xfrm>
        </p:grpSpPr>
        <p:sp>
          <p:nvSpPr>
            <p:cNvPr id="17" name="computr3">
              <a:extLst>
                <a:ext uri="{FF2B5EF4-FFF2-40B4-BE49-F238E27FC236}">
                  <a16:creationId xmlns:a16="http://schemas.microsoft.com/office/drawing/2014/main" id="{BED899F5-0337-3541-A663-E7752B2E8926}"/>
                </a:ext>
              </a:extLst>
            </p:cNvPr>
            <p:cNvSpPr>
              <a:spLocks noEditPoints="1" noChangeArrowheads="1"/>
            </p:cNvSpPr>
            <p:nvPr/>
          </p:nvSpPr>
          <p:spPr bwMode="auto">
            <a:xfrm>
              <a:off x="1247" y="1117"/>
              <a:ext cx="3424" cy="2177"/>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18" name="Rectangle 5">
              <a:extLst>
                <a:ext uri="{FF2B5EF4-FFF2-40B4-BE49-F238E27FC236}">
                  <a16:creationId xmlns:a16="http://schemas.microsoft.com/office/drawing/2014/main" id="{7C712D1C-F360-434A-BA2E-647ED1A8467C}"/>
                </a:ext>
              </a:extLst>
            </p:cNvPr>
            <p:cNvSpPr>
              <a:spLocks noChangeArrowheads="1"/>
            </p:cNvSpPr>
            <p:nvPr/>
          </p:nvSpPr>
          <p:spPr bwMode="auto">
            <a:xfrm>
              <a:off x="2293" y="1219"/>
              <a:ext cx="1725" cy="1214"/>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tr-TR" altLang="en-TR" sz="1600" b="1">
                <a:latin typeface="Tahoma" panose="020B0604030504040204" pitchFamily="34" charset="0"/>
              </a:endParaRPr>
            </a:p>
          </p:txBody>
        </p:sp>
      </p:grpSp>
      <p:sp>
        <p:nvSpPr>
          <p:cNvPr id="19" name="Text Box 6">
            <a:extLst>
              <a:ext uri="{FF2B5EF4-FFF2-40B4-BE49-F238E27FC236}">
                <a16:creationId xmlns:a16="http://schemas.microsoft.com/office/drawing/2014/main" id="{9DC94329-B5B4-5B48-85A8-4A580A92E3D0}"/>
              </a:ext>
            </a:extLst>
          </p:cNvPr>
          <p:cNvSpPr txBox="1">
            <a:spLocks noChangeArrowheads="1"/>
          </p:cNvSpPr>
          <p:nvPr/>
        </p:nvSpPr>
        <p:spPr bwMode="auto">
          <a:xfrm>
            <a:off x="1691456" y="2314997"/>
            <a:ext cx="1800225"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tr-TR" altLang="en-TR" sz="1000" b="1">
                <a:latin typeface="Tahoma" panose="020B0604030504040204" pitchFamily="34" charset="0"/>
              </a:rPr>
              <a:t>İçleri kapanmış “a” ya da “ü”</a:t>
            </a:r>
          </a:p>
          <a:p>
            <a:pPr eaLnBrk="0" hangingPunct="0"/>
            <a:r>
              <a:rPr lang="tr-TR" altLang="en-TR" sz="1000" b="1">
                <a:latin typeface="Tahoma" panose="020B0604030504040204" pitchFamily="34" charset="0"/>
              </a:rPr>
              <a:t>harfleri, okumayı zorlaştırır. Bu nedenle bold karakterler, ince karakterlere göre daha zor okunmaktadır. Bold karakterle yazılmış uzun metinlerden kaçınılmalıdır. </a:t>
            </a:r>
            <a:endParaRPr lang="tr-TR" altLang="en-TR" sz="1000">
              <a:latin typeface="Tahoma" panose="020B0604030504040204" pitchFamily="34" charset="0"/>
            </a:endParaRPr>
          </a:p>
        </p:txBody>
      </p:sp>
      <p:grpSp>
        <p:nvGrpSpPr>
          <p:cNvPr id="20" name="Group 7">
            <a:extLst>
              <a:ext uri="{FF2B5EF4-FFF2-40B4-BE49-F238E27FC236}">
                <a16:creationId xmlns:a16="http://schemas.microsoft.com/office/drawing/2014/main" id="{E6FCCE10-A695-9943-AB76-E201699AD1AB}"/>
              </a:ext>
            </a:extLst>
          </p:cNvPr>
          <p:cNvGrpSpPr>
            <a:grpSpLocks/>
          </p:cNvGrpSpPr>
          <p:nvPr/>
        </p:nvGrpSpPr>
        <p:grpSpPr bwMode="auto">
          <a:xfrm>
            <a:off x="4860106" y="2202284"/>
            <a:ext cx="3816350" cy="2881313"/>
            <a:chOff x="1247" y="1117"/>
            <a:chExt cx="3424" cy="2177"/>
          </a:xfrm>
        </p:grpSpPr>
        <p:sp>
          <p:nvSpPr>
            <p:cNvPr id="21" name="computr3">
              <a:extLst>
                <a:ext uri="{FF2B5EF4-FFF2-40B4-BE49-F238E27FC236}">
                  <a16:creationId xmlns:a16="http://schemas.microsoft.com/office/drawing/2014/main" id="{D84F2EEF-0FB4-7A4D-900C-9C2CF62206A5}"/>
                </a:ext>
              </a:extLst>
            </p:cNvPr>
            <p:cNvSpPr>
              <a:spLocks noEditPoints="1" noChangeArrowheads="1"/>
            </p:cNvSpPr>
            <p:nvPr/>
          </p:nvSpPr>
          <p:spPr bwMode="auto">
            <a:xfrm>
              <a:off x="1247" y="1117"/>
              <a:ext cx="3424" cy="2177"/>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22" name="Rectangle 9">
              <a:extLst>
                <a:ext uri="{FF2B5EF4-FFF2-40B4-BE49-F238E27FC236}">
                  <a16:creationId xmlns:a16="http://schemas.microsoft.com/office/drawing/2014/main" id="{2F554B99-2EF7-A441-9E05-1C2FFE852945}"/>
                </a:ext>
              </a:extLst>
            </p:cNvPr>
            <p:cNvSpPr>
              <a:spLocks noChangeArrowheads="1"/>
            </p:cNvSpPr>
            <p:nvPr/>
          </p:nvSpPr>
          <p:spPr bwMode="auto">
            <a:xfrm>
              <a:off x="2293" y="1219"/>
              <a:ext cx="1725" cy="1214"/>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tr-TR" altLang="en-TR" sz="1600" b="1">
                <a:latin typeface="Tahoma" panose="020B0604030504040204" pitchFamily="34" charset="0"/>
              </a:endParaRPr>
            </a:p>
          </p:txBody>
        </p:sp>
      </p:grpSp>
      <p:sp>
        <p:nvSpPr>
          <p:cNvPr id="23" name="Text Box 10">
            <a:extLst>
              <a:ext uri="{FF2B5EF4-FFF2-40B4-BE49-F238E27FC236}">
                <a16:creationId xmlns:a16="http://schemas.microsoft.com/office/drawing/2014/main" id="{8B2701D2-EED6-3C44-B877-D6D9DB2206B6}"/>
              </a:ext>
            </a:extLst>
          </p:cNvPr>
          <p:cNvSpPr txBox="1">
            <a:spLocks noChangeArrowheads="1"/>
          </p:cNvSpPr>
          <p:nvPr/>
        </p:nvSpPr>
        <p:spPr bwMode="auto">
          <a:xfrm>
            <a:off x="6085656" y="2324522"/>
            <a:ext cx="1800225" cy="160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tr-TR" altLang="en-TR" sz="1100" dirty="0">
                <a:latin typeface="Tahoma" panose="020B0604030504040204" pitchFamily="34" charset="0"/>
              </a:rPr>
              <a:t>İçleri kapanmış “a” ya da “ü”</a:t>
            </a:r>
          </a:p>
          <a:p>
            <a:pPr eaLnBrk="0" hangingPunct="0"/>
            <a:r>
              <a:rPr lang="tr-TR" altLang="en-TR" sz="1100" dirty="0">
                <a:latin typeface="Tahoma" panose="020B0604030504040204" pitchFamily="34" charset="0"/>
              </a:rPr>
              <a:t>harfleri, okumayı zorlaştırır. Bu nedenle </a:t>
            </a:r>
            <a:r>
              <a:rPr lang="tr-TR" altLang="en-TR" sz="1100" dirty="0" err="1">
                <a:latin typeface="Tahoma" panose="020B0604030504040204" pitchFamily="34" charset="0"/>
              </a:rPr>
              <a:t>bold</a:t>
            </a:r>
            <a:r>
              <a:rPr lang="tr-TR" altLang="en-TR" sz="1100" dirty="0">
                <a:latin typeface="Tahoma" panose="020B0604030504040204" pitchFamily="34" charset="0"/>
              </a:rPr>
              <a:t> karakterler, ince karakterlere göre daha zor okunmaktadır. </a:t>
            </a:r>
            <a:r>
              <a:rPr lang="tr-TR" altLang="en-TR" sz="1100" dirty="0" err="1">
                <a:latin typeface="Tahoma" panose="020B0604030504040204" pitchFamily="34" charset="0"/>
              </a:rPr>
              <a:t>Bold</a:t>
            </a:r>
            <a:r>
              <a:rPr lang="tr-TR" altLang="en-TR" sz="1100" dirty="0">
                <a:latin typeface="Tahoma" panose="020B0604030504040204" pitchFamily="34" charset="0"/>
              </a:rPr>
              <a:t> karakterle yazılmış uzun metinlerden kaçınılmalıdır.</a:t>
            </a:r>
            <a:r>
              <a:rPr lang="tr-TR" altLang="en-TR" sz="1000" dirty="0">
                <a:latin typeface="Tahoma" panose="020B0604030504040204" pitchFamily="34" charset="0"/>
              </a:rPr>
              <a:t> </a:t>
            </a:r>
          </a:p>
        </p:txBody>
      </p:sp>
    </p:spTree>
    <p:extLst>
      <p:ext uri="{BB962C8B-B14F-4D97-AF65-F5344CB8AC3E}">
        <p14:creationId xmlns:p14="http://schemas.microsoft.com/office/powerpoint/2010/main" val="2320792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Yazı Karakterleri ve Metin</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22</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4" name="computr3">
            <a:extLst>
              <a:ext uri="{FF2B5EF4-FFF2-40B4-BE49-F238E27FC236}">
                <a16:creationId xmlns:a16="http://schemas.microsoft.com/office/drawing/2014/main" id="{9E14A70D-19A1-4D4B-B3B7-495EF7355D9A}"/>
              </a:ext>
            </a:extLst>
          </p:cNvPr>
          <p:cNvSpPr>
            <a:spLocks noEditPoints="1" noChangeArrowheads="1"/>
          </p:cNvSpPr>
          <p:nvPr/>
        </p:nvSpPr>
        <p:spPr bwMode="auto">
          <a:xfrm>
            <a:off x="358775" y="1917476"/>
            <a:ext cx="5437188" cy="3887788"/>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15" name="Rectangle 4">
            <a:extLst>
              <a:ext uri="{FF2B5EF4-FFF2-40B4-BE49-F238E27FC236}">
                <a16:creationId xmlns:a16="http://schemas.microsoft.com/office/drawing/2014/main" id="{268F2F3B-3DEC-AD47-B278-1E959FF3FD79}"/>
              </a:ext>
            </a:extLst>
          </p:cNvPr>
          <p:cNvSpPr>
            <a:spLocks noChangeArrowheads="1"/>
          </p:cNvSpPr>
          <p:nvPr/>
        </p:nvSpPr>
        <p:spPr bwMode="auto">
          <a:xfrm>
            <a:off x="1979613" y="2133376"/>
            <a:ext cx="2740025" cy="2166938"/>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tr-TR" altLang="en-TR" sz="1600" b="1">
              <a:latin typeface="Tahoma" panose="020B0604030504040204" pitchFamily="34" charset="0"/>
            </a:endParaRPr>
          </a:p>
        </p:txBody>
      </p:sp>
      <p:sp>
        <p:nvSpPr>
          <p:cNvPr id="24" name="Text Box 5">
            <a:extLst>
              <a:ext uri="{FF2B5EF4-FFF2-40B4-BE49-F238E27FC236}">
                <a16:creationId xmlns:a16="http://schemas.microsoft.com/office/drawing/2014/main" id="{FA4822A0-F03D-914A-AB43-393B461A9D35}"/>
              </a:ext>
            </a:extLst>
          </p:cNvPr>
          <p:cNvSpPr txBox="1">
            <a:spLocks noChangeArrowheads="1"/>
          </p:cNvSpPr>
          <p:nvPr/>
        </p:nvSpPr>
        <p:spPr bwMode="auto">
          <a:xfrm>
            <a:off x="1979613" y="2204814"/>
            <a:ext cx="2698750"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tr-TR" altLang="en-TR" sz="1600" b="1" dirty="0">
                <a:latin typeface="AvantGarde Bk BT" pitchFamily="34" charset="0"/>
              </a:rPr>
              <a:t>Ekranda </a:t>
            </a:r>
            <a:r>
              <a:rPr lang="tr-TR" altLang="en-TR" sz="1600" b="1" dirty="0">
                <a:latin typeface="Times New Roman" panose="02020603050405020304" pitchFamily="18" charset="0"/>
              </a:rPr>
              <a:t>birden fazla yazı karakteri çeşidi, </a:t>
            </a:r>
            <a:r>
              <a:rPr lang="tr-TR" altLang="en-TR" sz="1600" b="1" dirty="0">
                <a:latin typeface="Tahoma" panose="020B0604030504040204" pitchFamily="34" charset="0"/>
              </a:rPr>
              <a:t>gereksiz bir </a:t>
            </a:r>
            <a:r>
              <a:rPr lang="tr-TR" altLang="en-TR" sz="1600" b="1" dirty="0" err="1">
                <a:latin typeface="Tahoma" panose="020B0604030504040204" pitchFamily="34" charset="0"/>
              </a:rPr>
              <a:t>kalabalıklık</a:t>
            </a:r>
            <a:r>
              <a:rPr lang="tr-TR" altLang="en-TR" sz="1600" b="1" dirty="0">
                <a:latin typeface="Tahoma" panose="020B0604030504040204" pitchFamily="34" charset="0"/>
              </a:rPr>
              <a:t> yaratabilir.</a:t>
            </a:r>
            <a:r>
              <a:rPr lang="tr-TR" altLang="en-TR" sz="1600" b="1" dirty="0">
                <a:latin typeface="Times New Roman" panose="02020603050405020304" pitchFamily="18" charset="0"/>
              </a:rPr>
              <a:t> Çeşitliliği </a:t>
            </a:r>
            <a:r>
              <a:rPr lang="tr-TR" altLang="en-TR" sz="1600" b="1" i="1" dirty="0">
                <a:latin typeface="Times New Roman" panose="02020603050405020304" pitchFamily="18" charset="0"/>
              </a:rPr>
              <a:t>sağlamak</a:t>
            </a:r>
            <a:r>
              <a:rPr lang="tr-TR" altLang="en-TR" sz="1600" b="1" dirty="0">
                <a:latin typeface="Times New Roman" panose="02020603050405020304" pitchFamily="18" charset="0"/>
              </a:rPr>
              <a:t>, </a:t>
            </a:r>
            <a:r>
              <a:rPr lang="tr-TR" altLang="en-TR" sz="1600" b="1" dirty="0">
                <a:latin typeface="Arial Narrow" panose="020B0604020202020204" pitchFamily="34" charset="0"/>
              </a:rPr>
              <a:t>tekdüzeliği kırmak için, aynı fontun</a:t>
            </a:r>
            <a:r>
              <a:rPr lang="tr-TR" altLang="en-TR" sz="1600" b="1" dirty="0">
                <a:latin typeface="Times New Roman" panose="02020603050405020304" pitchFamily="18" charset="0"/>
              </a:rPr>
              <a:t> </a:t>
            </a:r>
            <a:r>
              <a:rPr lang="tr-TR" altLang="en-TR" sz="1600" dirty="0" err="1">
                <a:latin typeface="Times New Roman" panose="02020603050405020304" pitchFamily="18" charset="0"/>
              </a:rPr>
              <a:t>bold</a:t>
            </a:r>
            <a:r>
              <a:rPr lang="tr-TR" altLang="en-TR" sz="1600" b="1" dirty="0">
                <a:latin typeface="Times New Roman" panose="02020603050405020304" pitchFamily="18" charset="0"/>
              </a:rPr>
              <a:t> ya da </a:t>
            </a:r>
            <a:r>
              <a:rPr lang="tr-TR" altLang="en-TR" sz="1600" b="1" i="1" dirty="0">
                <a:latin typeface="Times New Roman" panose="02020603050405020304" pitchFamily="18" charset="0"/>
              </a:rPr>
              <a:t>italik versiyonları</a:t>
            </a:r>
            <a:r>
              <a:rPr lang="tr-TR" altLang="en-TR" sz="1600" b="1" dirty="0">
                <a:latin typeface="Times New Roman" panose="02020603050405020304" pitchFamily="18" charset="0"/>
              </a:rPr>
              <a:t> ara ara kullanılabilir.</a:t>
            </a:r>
            <a:r>
              <a:rPr lang="tr-TR" altLang="en-TR" sz="1600" dirty="0">
                <a:latin typeface="Times New Roman" panose="02020603050405020304" pitchFamily="18" charset="0"/>
              </a:rPr>
              <a:t> </a:t>
            </a:r>
          </a:p>
        </p:txBody>
      </p:sp>
      <p:sp>
        <p:nvSpPr>
          <p:cNvPr id="25" name="Rectangle 6">
            <a:extLst>
              <a:ext uri="{FF2B5EF4-FFF2-40B4-BE49-F238E27FC236}">
                <a16:creationId xmlns:a16="http://schemas.microsoft.com/office/drawing/2014/main" id="{8E3DB9DF-6128-D14B-A709-4D086306CD2E}"/>
              </a:ext>
            </a:extLst>
          </p:cNvPr>
          <p:cNvSpPr>
            <a:spLocks noChangeArrowheads="1"/>
          </p:cNvSpPr>
          <p:nvPr/>
        </p:nvSpPr>
        <p:spPr bwMode="auto">
          <a:xfrm>
            <a:off x="5795963" y="2061939"/>
            <a:ext cx="2740025" cy="2166937"/>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tr-TR" altLang="en-TR" sz="1600" b="1">
              <a:latin typeface="Tahoma" panose="020B0604030504040204" pitchFamily="34" charset="0"/>
            </a:endParaRPr>
          </a:p>
        </p:txBody>
      </p:sp>
      <p:sp>
        <p:nvSpPr>
          <p:cNvPr id="26" name="Text Box 7">
            <a:extLst>
              <a:ext uri="{FF2B5EF4-FFF2-40B4-BE49-F238E27FC236}">
                <a16:creationId xmlns:a16="http://schemas.microsoft.com/office/drawing/2014/main" id="{CF7725B5-7503-6441-8AFF-4E8EFE94D96C}"/>
              </a:ext>
            </a:extLst>
          </p:cNvPr>
          <p:cNvSpPr txBox="1">
            <a:spLocks noChangeArrowheads="1"/>
          </p:cNvSpPr>
          <p:nvPr/>
        </p:nvSpPr>
        <p:spPr bwMode="auto">
          <a:xfrm>
            <a:off x="5832475" y="2133376"/>
            <a:ext cx="2627313"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tr-TR" altLang="en-TR" sz="1600">
                <a:latin typeface="Tahoma" panose="020B0604030504040204" pitchFamily="34" charset="0"/>
              </a:rPr>
              <a:t>Ekranda birden fazla yazı karakteri çeşidi, gereksiz bir kalabalıklık yaratabilir. Çeşitliliği sağlamak, tekdüzeliği kırmak için, aynı fontun </a:t>
            </a:r>
            <a:r>
              <a:rPr lang="tr-TR" altLang="en-TR" sz="1600" b="1">
                <a:latin typeface="Tahoma" panose="020B0604030504040204" pitchFamily="34" charset="0"/>
              </a:rPr>
              <a:t>bold</a:t>
            </a:r>
            <a:r>
              <a:rPr lang="tr-TR" altLang="en-TR" sz="1600">
                <a:latin typeface="Tahoma" panose="020B0604030504040204" pitchFamily="34" charset="0"/>
              </a:rPr>
              <a:t> ya da </a:t>
            </a:r>
            <a:r>
              <a:rPr lang="tr-TR" altLang="en-TR" sz="1600" i="1">
                <a:latin typeface="Tahoma" panose="020B0604030504040204" pitchFamily="34" charset="0"/>
              </a:rPr>
              <a:t>italik</a:t>
            </a:r>
            <a:r>
              <a:rPr lang="tr-TR" altLang="en-TR" sz="1600">
                <a:latin typeface="Tahoma" panose="020B0604030504040204" pitchFamily="34" charset="0"/>
              </a:rPr>
              <a:t> versiyonları ara ara kullanılabilir. </a:t>
            </a:r>
          </a:p>
        </p:txBody>
      </p:sp>
      <p:sp>
        <p:nvSpPr>
          <p:cNvPr id="27" name="AutoShape 8">
            <a:extLst>
              <a:ext uri="{FF2B5EF4-FFF2-40B4-BE49-F238E27FC236}">
                <a16:creationId xmlns:a16="http://schemas.microsoft.com/office/drawing/2014/main" id="{51199338-F7F4-F340-9333-F72C4F043B7C}"/>
              </a:ext>
            </a:extLst>
          </p:cNvPr>
          <p:cNvSpPr>
            <a:spLocks noChangeArrowheads="1"/>
          </p:cNvSpPr>
          <p:nvPr/>
        </p:nvSpPr>
        <p:spPr bwMode="auto">
          <a:xfrm>
            <a:off x="5076825" y="2854101"/>
            <a:ext cx="576263" cy="576263"/>
          </a:xfrm>
          <a:prstGeom prst="rightArrow">
            <a:avLst>
              <a:gd name="adj1" fmla="val 50000"/>
              <a:gd name="adj2" fmla="val 25000"/>
            </a:avLst>
          </a:prstGeom>
          <a:solidFill>
            <a:srgbClr val="80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35486239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Yazı Karakterleri ve Metin</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23</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2" name="computr3">
            <a:extLst>
              <a:ext uri="{FF2B5EF4-FFF2-40B4-BE49-F238E27FC236}">
                <a16:creationId xmlns:a16="http://schemas.microsoft.com/office/drawing/2014/main" id="{9E59971B-BD07-DB4F-86C4-033D695141DB}"/>
              </a:ext>
            </a:extLst>
          </p:cNvPr>
          <p:cNvSpPr>
            <a:spLocks noEditPoints="1" noChangeArrowheads="1"/>
          </p:cNvSpPr>
          <p:nvPr/>
        </p:nvSpPr>
        <p:spPr bwMode="auto">
          <a:xfrm>
            <a:off x="1619672" y="1917476"/>
            <a:ext cx="5437187" cy="3887788"/>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13" name="Rectangle 4">
            <a:extLst>
              <a:ext uri="{FF2B5EF4-FFF2-40B4-BE49-F238E27FC236}">
                <a16:creationId xmlns:a16="http://schemas.microsoft.com/office/drawing/2014/main" id="{3071F15F-BD7D-B24A-9C7D-5A39CFCFD661}"/>
              </a:ext>
            </a:extLst>
          </p:cNvPr>
          <p:cNvSpPr>
            <a:spLocks noChangeArrowheads="1"/>
          </p:cNvSpPr>
          <p:nvPr/>
        </p:nvSpPr>
        <p:spPr bwMode="auto">
          <a:xfrm>
            <a:off x="3240509" y="2133376"/>
            <a:ext cx="2740025" cy="2166938"/>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tr-TR" altLang="en-TR" sz="1600" b="1">
              <a:latin typeface="Tahoma" panose="020B0604030504040204" pitchFamily="34" charset="0"/>
            </a:endParaRPr>
          </a:p>
        </p:txBody>
      </p:sp>
      <p:sp>
        <p:nvSpPr>
          <p:cNvPr id="16" name="Text Box 5">
            <a:extLst>
              <a:ext uri="{FF2B5EF4-FFF2-40B4-BE49-F238E27FC236}">
                <a16:creationId xmlns:a16="http://schemas.microsoft.com/office/drawing/2014/main" id="{CCEDB271-A946-4C48-81F6-6E9DE894A4FD}"/>
              </a:ext>
            </a:extLst>
          </p:cNvPr>
          <p:cNvSpPr txBox="1">
            <a:spLocks noChangeArrowheads="1"/>
          </p:cNvSpPr>
          <p:nvPr/>
        </p:nvSpPr>
        <p:spPr bwMode="auto">
          <a:xfrm>
            <a:off x="3240509" y="2133376"/>
            <a:ext cx="2735263" cy="214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tr-TR" altLang="en-TR" sz="1500" i="1" dirty="0">
                <a:latin typeface="Times New Roman" panose="02020603050405020304" pitchFamily="18" charset="0"/>
              </a:rPr>
              <a:t>İtalik yazılmış yazılar, tekdüzedir, gösterişsizdir. Değişik yapısıyla anlamı güçlendirebilir ama, deforme olmaya çok uygundur. Uzun metinlerin italik yazılması, yazıyı zayıf gösterir, harflerin birbirinden ayrılması zor olduğundan okumayı güçleştirir. </a:t>
            </a:r>
          </a:p>
        </p:txBody>
      </p:sp>
    </p:spTree>
    <p:extLst>
      <p:ext uri="{BB962C8B-B14F-4D97-AF65-F5344CB8AC3E}">
        <p14:creationId xmlns:p14="http://schemas.microsoft.com/office/powerpoint/2010/main" val="3198062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Yazı Karakterleri ve Metin</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24</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5" name="Rectangle 3">
            <a:extLst>
              <a:ext uri="{FF2B5EF4-FFF2-40B4-BE49-F238E27FC236}">
                <a16:creationId xmlns:a16="http://schemas.microsoft.com/office/drawing/2014/main" id="{7E0F8DF9-AB5B-9241-9598-6514BAAAAABF}"/>
              </a:ext>
            </a:extLst>
          </p:cNvPr>
          <p:cNvSpPr>
            <a:spLocks noChangeArrowheads="1"/>
          </p:cNvSpPr>
          <p:nvPr/>
        </p:nvSpPr>
        <p:spPr bwMode="auto">
          <a:xfrm>
            <a:off x="395536" y="2277343"/>
            <a:ext cx="3743325" cy="2663825"/>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tr-TR" altLang="en-TR" sz="1600" b="1">
              <a:latin typeface="Tahoma" panose="020B0604030504040204" pitchFamily="34" charset="0"/>
            </a:endParaRPr>
          </a:p>
        </p:txBody>
      </p:sp>
      <p:sp>
        <p:nvSpPr>
          <p:cNvPr id="17" name="Text Box 4">
            <a:extLst>
              <a:ext uri="{FF2B5EF4-FFF2-40B4-BE49-F238E27FC236}">
                <a16:creationId xmlns:a16="http://schemas.microsoft.com/office/drawing/2014/main" id="{0078CBBF-D5DA-D542-A70D-BD13F7000AE3}"/>
              </a:ext>
            </a:extLst>
          </p:cNvPr>
          <p:cNvSpPr txBox="1">
            <a:spLocks noChangeArrowheads="1"/>
          </p:cNvSpPr>
          <p:nvPr/>
        </p:nvSpPr>
        <p:spPr bwMode="auto">
          <a:xfrm>
            <a:off x="395536" y="2348780"/>
            <a:ext cx="3887787" cy="253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tr-TR" altLang="en-TR" sz="1600" dirty="0">
                <a:latin typeface="Tahoma" panose="020B0604030504040204" pitchFamily="34" charset="0"/>
              </a:rPr>
              <a:t>UZUN METİNLERİN BOLD YAZILMASI GİBİ, TÜM METNİN TAMAMININ BÜYÜK HARFLERLE YAZILMIŞ OLMASI DA YAZIYI SEVİMSİZ KILAR. SÖZCÜKLER, KABA BİR DİKDÖRTGEN BİÇİMİNDE ALGILANIRLAR. KÜÇÜK HARFLER, KUYRUKLARI VE BACAKLARIYLA BÜYÜK HARFLERDEN DAHA KOLAY ALGILANABİLİRLER VE BU DA ONLARI DAHA OKUNABİLİR YAPAR. </a:t>
            </a:r>
          </a:p>
        </p:txBody>
      </p:sp>
      <p:sp>
        <p:nvSpPr>
          <p:cNvPr id="18" name="Rectangle 5">
            <a:extLst>
              <a:ext uri="{FF2B5EF4-FFF2-40B4-BE49-F238E27FC236}">
                <a16:creationId xmlns:a16="http://schemas.microsoft.com/office/drawing/2014/main" id="{660C420E-0570-DE45-A2C5-D3A2BDFC9FC2}"/>
              </a:ext>
            </a:extLst>
          </p:cNvPr>
          <p:cNvSpPr>
            <a:spLocks noChangeArrowheads="1"/>
          </p:cNvSpPr>
          <p:nvPr/>
        </p:nvSpPr>
        <p:spPr bwMode="auto">
          <a:xfrm>
            <a:off x="4500811" y="2277343"/>
            <a:ext cx="3743325" cy="2663825"/>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tr-TR" altLang="en-TR" sz="1600" b="1">
              <a:latin typeface="Tahoma" panose="020B0604030504040204" pitchFamily="34" charset="0"/>
            </a:endParaRPr>
          </a:p>
        </p:txBody>
      </p:sp>
      <p:sp>
        <p:nvSpPr>
          <p:cNvPr id="19" name="Text Box 6">
            <a:extLst>
              <a:ext uri="{FF2B5EF4-FFF2-40B4-BE49-F238E27FC236}">
                <a16:creationId xmlns:a16="http://schemas.microsoft.com/office/drawing/2014/main" id="{B2485D96-F5B9-964A-A26D-71A701AD7346}"/>
              </a:ext>
            </a:extLst>
          </p:cNvPr>
          <p:cNvSpPr txBox="1">
            <a:spLocks noChangeArrowheads="1"/>
          </p:cNvSpPr>
          <p:nvPr/>
        </p:nvSpPr>
        <p:spPr bwMode="auto">
          <a:xfrm>
            <a:off x="4500811" y="2348780"/>
            <a:ext cx="3887787"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tr-TR" altLang="en-TR" dirty="0">
                <a:latin typeface="Tahoma" panose="020B0604030504040204" pitchFamily="34" charset="0"/>
              </a:rPr>
              <a:t>Uzun metinlerin </a:t>
            </a:r>
            <a:r>
              <a:rPr lang="tr-TR" altLang="en-TR" dirty="0" err="1">
                <a:latin typeface="Tahoma" panose="020B0604030504040204" pitchFamily="34" charset="0"/>
              </a:rPr>
              <a:t>bold</a:t>
            </a:r>
            <a:r>
              <a:rPr lang="tr-TR" altLang="en-TR" dirty="0">
                <a:latin typeface="Tahoma" panose="020B0604030504040204" pitchFamily="34" charset="0"/>
              </a:rPr>
              <a:t> yazılması gibi, tüm metnin tamamının büyük harflerle yazılmış olması da yazıyı sevimsiz kılar. Sözcükler, kaba bir dikdörtgen biçiminde algılanırlar. Küçük harfler, kuyrukları ve bacaklarıyla büyük harflerden daha kolay algılanabilirler ve bu da onları daha okunabilir yapar. </a:t>
            </a:r>
          </a:p>
        </p:txBody>
      </p:sp>
    </p:spTree>
    <p:extLst>
      <p:ext uri="{BB962C8B-B14F-4D97-AF65-F5344CB8AC3E}">
        <p14:creationId xmlns:p14="http://schemas.microsoft.com/office/powerpoint/2010/main" val="2585563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Yazı Karakterleri ve Metin</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25</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0" name="computr3">
            <a:extLst>
              <a:ext uri="{FF2B5EF4-FFF2-40B4-BE49-F238E27FC236}">
                <a16:creationId xmlns:a16="http://schemas.microsoft.com/office/drawing/2014/main" id="{9495383B-2F44-3B41-8DFB-0582505D28E7}"/>
              </a:ext>
            </a:extLst>
          </p:cNvPr>
          <p:cNvSpPr>
            <a:spLocks noEditPoints="1" noChangeArrowheads="1"/>
          </p:cNvSpPr>
          <p:nvPr/>
        </p:nvSpPr>
        <p:spPr bwMode="auto">
          <a:xfrm>
            <a:off x="1116013" y="1701453"/>
            <a:ext cx="6083300" cy="3887787"/>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11" name="Rectangle 4">
            <a:extLst>
              <a:ext uri="{FF2B5EF4-FFF2-40B4-BE49-F238E27FC236}">
                <a16:creationId xmlns:a16="http://schemas.microsoft.com/office/drawing/2014/main" id="{75373B39-02FF-9A45-B270-4BAF61106843}"/>
              </a:ext>
            </a:extLst>
          </p:cNvPr>
          <p:cNvSpPr>
            <a:spLocks noChangeArrowheads="1"/>
          </p:cNvSpPr>
          <p:nvPr/>
        </p:nvSpPr>
        <p:spPr bwMode="auto">
          <a:xfrm>
            <a:off x="2987675" y="1863378"/>
            <a:ext cx="3065463" cy="2168525"/>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2" name="Rectangle 6">
            <a:extLst>
              <a:ext uri="{FF2B5EF4-FFF2-40B4-BE49-F238E27FC236}">
                <a16:creationId xmlns:a16="http://schemas.microsoft.com/office/drawing/2014/main" id="{81F69D74-F713-504A-9F04-66D31E61A533}"/>
              </a:ext>
            </a:extLst>
          </p:cNvPr>
          <p:cNvSpPr>
            <a:spLocks noChangeArrowheads="1"/>
          </p:cNvSpPr>
          <p:nvPr/>
        </p:nvSpPr>
        <p:spPr bwMode="auto">
          <a:xfrm>
            <a:off x="3348038" y="2133253"/>
            <a:ext cx="2255837" cy="170021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3" name="Rectangle 7">
            <a:extLst>
              <a:ext uri="{FF2B5EF4-FFF2-40B4-BE49-F238E27FC236}">
                <a16:creationId xmlns:a16="http://schemas.microsoft.com/office/drawing/2014/main" id="{DFDDAE7F-1E8B-BB45-8823-427257878E62}"/>
              </a:ext>
            </a:extLst>
          </p:cNvPr>
          <p:cNvSpPr>
            <a:spLocks noChangeArrowheads="1"/>
          </p:cNvSpPr>
          <p:nvPr/>
        </p:nvSpPr>
        <p:spPr bwMode="auto">
          <a:xfrm>
            <a:off x="3348038" y="2133253"/>
            <a:ext cx="2255837" cy="80962"/>
          </a:xfrm>
          <a:prstGeom prst="rect">
            <a:avLst/>
          </a:prstGeom>
          <a:solidFill>
            <a:srgbClr val="33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4" name="Rectangle 8">
            <a:extLst>
              <a:ext uri="{FF2B5EF4-FFF2-40B4-BE49-F238E27FC236}">
                <a16:creationId xmlns:a16="http://schemas.microsoft.com/office/drawing/2014/main" id="{547E62FA-416D-FC4B-B5F4-B157CDA97F5E}"/>
              </a:ext>
            </a:extLst>
          </p:cNvPr>
          <p:cNvSpPr>
            <a:spLocks noChangeArrowheads="1"/>
          </p:cNvSpPr>
          <p:nvPr/>
        </p:nvSpPr>
        <p:spPr bwMode="auto">
          <a:xfrm>
            <a:off x="3419475" y="2349153"/>
            <a:ext cx="2093913" cy="1439862"/>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16" name="Rectangle 15">
            <a:extLst>
              <a:ext uri="{FF2B5EF4-FFF2-40B4-BE49-F238E27FC236}">
                <a16:creationId xmlns:a16="http://schemas.microsoft.com/office/drawing/2014/main" id="{1A76CDD9-8EDC-1D40-8573-68FE0231FAA8}"/>
              </a:ext>
            </a:extLst>
          </p:cNvPr>
          <p:cNvSpPr/>
          <p:nvPr/>
        </p:nvSpPr>
        <p:spPr>
          <a:xfrm>
            <a:off x="468964" y="5786100"/>
            <a:ext cx="7660051" cy="523220"/>
          </a:xfrm>
          <a:prstGeom prst="rect">
            <a:avLst/>
          </a:prstGeom>
        </p:spPr>
        <p:txBody>
          <a:bodyPr wrap="square">
            <a:spAutoFit/>
          </a:bodyPr>
          <a:lstStyle/>
          <a:p>
            <a:pPr eaLnBrk="0" hangingPunct="0">
              <a:spcBef>
                <a:spcPct val="50000"/>
              </a:spcBef>
            </a:pPr>
            <a:r>
              <a:rPr lang="tr-TR" altLang="en-TR" sz="2400" dirty="0">
                <a:latin typeface="Tahoma" panose="020B0604030504040204" pitchFamily="34" charset="0"/>
              </a:rPr>
              <a:t>Ekrandaki uzun satırlar, gözü yorar ve takibi zorlaştır.</a:t>
            </a:r>
            <a:r>
              <a:rPr lang="tr-TR" altLang="en-TR" sz="2800" dirty="0">
                <a:latin typeface="Times New Roman" panose="02020603050405020304" pitchFamily="18" charset="0"/>
              </a:rPr>
              <a:t> </a:t>
            </a:r>
          </a:p>
        </p:txBody>
      </p:sp>
    </p:spTree>
    <p:extLst>
      <p:ext uri="{BB962C8B-B14F-4D97-AF65-F5344CB8AC3E}">
        <p14:creationId xmlns:p14="http://schemas.microsoft.com/office/powerpoint/2010/main" val="2793932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Yazı Karakterleri ve Metin</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26</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28" name="computr3">
            <a:extLst>
              <a:ext uri="{FF2B5EF4-FFF2-40B4-BE49-F238E27FC236}">
                <a16:creationId xmlns:a16="http://schemas.microsoft.com/office/drawing/2014/main" id="{BCF9C47D-397E-D045-89EF-E01FB2929DAC}"/>
              </a:ext>
            </a:extLst>
          </p:cNvPr>
          <p:cNvSpPr>
            <a:spLocks noEditPoints="1" noChangeArrowheads="1"/>
          </p:cNvSpPr>
          <p:nvPr/>
        </p:nvSpPr>
        <p:spPr bwMode="auto">
          <a:xfrm>
            <a:off x="1116013" y="1701453"/>
            <a:ext cx="6083300" cy="3887787"/>
          </a:xfrm>
          <a:custGeom>
            <a:avLst/>
            <a:gdLst>
              <a:gd name="T0" fmla="*/ 0 w 21600"/>
              <a:gd name="T1" fmla="*/ 10800 h 21600"/>
              <a:gd name="T2" fmla="*/ 10800 w 21600"/>
              <a:gd name="T3" fmla="*/ 0 h 21600"/>
              <a:gd name="T4" fmla="*/ 10800 w 21600"/>
              <a:gd name="T5" fmla="*/ 21600 h 21600"/>
              <a:gd name="T6" fmla="*/ 18135 w 21600"/>
              <a:gd name="T7" fmla="*/ 10800 h 21600"/>
              <a:gd name="T8" fmla="*/ 7811 w 21600"/>
              <a:gd name="T9" fmla="*/ 2584 h 21600"/>
              <a:gd name="T10" fmla="*/ 16359 w 21600"/>
              <a:gd name="T11" fmla="*/ 11764 h 21600"/>
            </a:gdLst>
            <a:ahLst/>
            <a:cxnLst>
              <a:cxn ang="0">
                <a:pos x="T0" y="T1"/>
              </a:cxn>
              <a:cxn ang="0">
                <a:pos x="T2" y="T3"/>
              </a:cxn>
              <a:cxn ang="0">
                <a:pos x="T4" y="T5"/>
              </a:cxn>
              <a:cxn ang="0">
                <a:pos x="T6" y="T7"/>
              </a:cxn>
            </a:cxnLst>
            <a:rect l="T8" t="T9" r="T10" b="T11"/>
            <a:pathLst>
              <a:path w="21600" h="21600" extrusionOk="0">
                <a:moveTo>
                  <a:pt x="18250" y="17743"/>
                </a:moveTo>
                <a:lnTo>
                  <a:pt x="17557" y="16971"/>
                </a:lnTo>
                <a:lnTo>
                  <a:pt x="5429" y="16971"/>
                </a:lnTo>
                <a:lnTo>
                  <a:pt x="4736" y="17743"/>
                </a:lnTo>
                <a:lnTo>
                  <a:pt x="18250" y="17743"/>
                </a:lnTo>
                <a:close/>
              </a:path>
              <a:path w="21600" h="21600" extrusionOk="0">
                <a:moveTo>
                  <a:pt x="18250" y="17743"/>
                </a:moveTo>
                <a:moveTo>
                  <a:pt x="19405" y="19131"/>
                </a:moveTo>
                <a:lnTo>
                  <a:pt x="18712" y="18360"/>
                </a:lnTo>
                <a:lnTo>
                  <a:pt x="4274" y="18360"/>
                </a:lnTo>
                <a:lnTo>
                  <a:pt x="3581" y="19131"/>
                </a:lnTo>
                <a:lnTo>
                  <a:pt x="19405" y="19131"/>
                </a:lnTo>
                <a:close/>
              </a:path>
              <a:path w="21600" h="21600" extrusionOk="0">
                <a:moveTo>
                  <a:pt x="19405" y="19131"/>
                </a:moveTo>
                <a:moveTo>
                  <a:pt x="20560" y="20520"/>
                </a:moveTo>
                <a:lnTo>
                  <a:pt x="19867" y="19749"/>
                </a:lnTo>
                <a:lnTo>
                  <a:pt x="3119" y="19749"/>
                </a:lnTo>
                <a:lnTo>
                  <a:pt x="2426" y="20520"/>
                </a:lnTo>
                <a:lnTo>
                  <a:pt x="20560" y="20520"/>
                </a:lnTo>
                <a:close/>
              </a:path>
              <a:path w="21600" h="21600" extrusionOk="0">
                <a:moveTo>
                  <a:pt x="20560" y="20520"/>
                </a:moveTo>
                <a:moveTo>
                  <a:pt x="4620" y="16971"/>
                </a:moveTo>
                <a:lnTo>
                  <a:pt x="5313" y="16200"/>
                </a:lnTo>
                <a:lnTo>
                  <a:pt x="7624" y="16200"/>
                </a:lnTo>
                <a:lnTo>
                  <a:pt x="7624" y="14194"/>
                </a:lnTo>
                <a:lnTo>
                  <a:pt x="5891" y="14194"/>
                </a:lnTo>
                <a:lnTo>
                  <a:pt x="5891" y="0"/>
                </a:lnTo>
                <a:lnTo>
                  <a:pt x="12013" y="0"/>
                </a:lnTo>
                <a:lnTo>
                  <a:pt x="18135" y="0"/>
                </a:lnTo>
                <a:lnTo>
                  <a:pt x="18135" y="10800"/>
                </a:lnTo>
                <a:lnTo>
                  <a:pt x="18135" y="14194"/>
                </a:lnTo>
                <a:lnTo>
                  <a:pt x="16402" y="14194"/>
                </a:lnTo>
                <a:lnTo>
                  <a:pt x="16402" y="16200"/>
                </a:lnTo>
                <a:lnTo>
                  <a:pt x="17788" y="16200"/>
                </a:lnTo>
                <a:lnTo>
                  <a:pt x="19059" y="17743"/>
                </a:lnTo>
                <a:lnTo>
                  <a:pt x="21022" y="19903"/>
                </a:lnTo>
                <a:lnTo>
                  <a:pt x="21253" y="20057"/>
                </a:lnTo>
                <a:lnTo>
                  <a:pt x="21369" y="20366"/>
                </a:lnTo>
                <a:lnTo>
                  <a:pt x="21600" y="20674"/>
                </a:lnTo>
                <a:lnTo>
                  <a:pt x="21600" y="20829"/>
                </a:lnTo>
                <a:lnTo>
                  <a:pt x="21600" y="20983"/>
                </a:lnTo>
                <a:lnTo>
                  <a:pt x="21600" y="21137"/>
                </a:lnTo>
                <a:lnTo>
                  <a:pt x="21600" y="21291"/>
                </a:lnTo>
                <a:lnTo>
                  <a:pt x="21484" y="21446"/>
                </a:lnTo>
                <a:lnTo>
                  <a:pt x="21369" y="21446"/>
                </a:lnTo>
                <a:lnTo>
                  <a:pt x="21138" y="21600"/>
                </a:lnTo>
                <a:lnTo>
                  <a:pt x="21022" y="21600"/>
                </a:lnTo>
                <a:lnTo>
                  <a:pt x="10973" y="21600"/>
                </a:lnTo>
                <a:lnTo>
                  <a:pt x="2079" y="21600"/>
                </a:lnTo>
                <a:lnTo>
                  <a:pt x="1848" y="21600"/>
                </a:lnTo>
                <a:lnTo>
                  <a:pt x="1733" y="21446"/>
                </a:lnTo>
                <a:lnTo>
                  <a:pt x="1617" y="21446"/>
                </a:lnTo>
                <a:lnTo>
                  <a:pt x="1502" y="21291"/>
                </a:lnTo>
                <a:lnTo>
                  <a:pt x="1386" y="21291"/>
                </a:lnTo>
                <a:lnTo>
                  <a:pt x="1386" y="21137"/>
                </a:lnTo>
                <a:lnTo>
                  <a:pt x="1386" y="20983"/>
                </a:lnTo>
                <a:lnTo>
                  <a:pt x="1386" y="20829"/>
                </a:lnTo>
                <a:lnTo>
                  <a:pt x="1502" y="20674"/>
                </a:lnTo>
                <a:lnTo>
                  <a:pt x="1617" y="20366"/>
                </a:lnTo>
                <a:lnTo>
                  <a:pt x="1733" y="20057"/>
                </a:lnTo>
                <a:lnTo>
                  <a:pt x="1964" y="19903"/>
                </a:lnTo>
                <a:lnTo>
                  <a:pt x="0" y="19903"/>
                </a:lnTo>
                <a:lnTo>
                  <a:pt x="0" y="10800"/>
                </a:lnTo>
                <a:lnTo>
                  <a:pt x="0" y="2777"/>
                </a:lnTo>
                <a:lnTo>
                  <a:pt x="4620" y="2777"/>
                </a:lnTo>
                <a:lnTo>
                  <a:pt x="4620" y="16971"/>
                </a:lnTo>
                <a:moveTo>
                  <a:pt x="4620" y="16971"/>
                </a:moveTo>
                <a:moveTo>
                  <a:pt x="4620" y="16971"/>
                </a:moveTo>
                <a:lnTo>
                  <a:pt x="4158" y="17434"/>
                </a:lnTo>
                <a:lnTo>
                  <a:pt x="2541" y="19286"/>
                </a:lnTo>
                <a:lnTo>
                  <a:pt x="1964" y="19903"/>
                </a:lnTo>
                <a:lnTo>
                  <a:pt x="4620" y="16971"/>
                </a:lnTo>
                <a:close/>
              </a:path>
              <a:path w="21600" h="21600" extrusionOk="0">
                <a:moveTo>
                  <a:pt x="7624" y="2314"/>
                </a:moveTo>
                <a:moveTo>
                  <a:pt x="16402" y="2314"/>
                </a:moveTo>
                <a:lnTo>
                  <a:pt x="16402" y="11880"/>
                </a:lnTo>
                <a:lnTo>
                  <a:pt x="7624" y="11880"/>
                </a:lnTo>
                <a:lnTo>
                  <a:pt x="7624" y="2314"/>
                </a:lnTo>
                <a:close/>
              </a:path>
              <a:path w="21600" h="21600" extrusionOk="0">
                <a:moveTo>
                  <a:pt x="578" y="4011"/>
                </a:moveTo>
                <a:moveTo>
                  <a:pt x="4043" y="4011"/>
                </a:moveTo>
                <a:lnTo>
                  <a:pt x="4043" y="4320"/>
                </a:lnTo>
                <a:lnTo>
                  <a:pt x="578" y="4320"/>
                </a:lnTo>
                <a:lnTo>
                  <a:pt x="578" y="4011"/>
                </a:lnTo>
                <a:close/>
                <a:moveTo>
                  <a:pt x="7624" y="14194"/>
                </a:moveTo>
                <a:lnTo>
                  <a:pt x="16402" y="14194"/>
                </a:lnTo>
                <a:lnTo>
                  <a:pt x="16402" y="16200"/>
                </a:lnTo>
                <a:lnTo>
                  <a:pt x="7624" y="16200"/>
                </a:lnTo>
              </a:path>
            </a:pathLst>
          </a:custGeom>
          <a:solidFill>
            <a:srgbClr val="FFCC99"/>
          </a:solidFill>
          <a:ln w="9525">
            <a:solidFill>
              <a:srgbClr val="000000"/>
            </a:solidFill>
            <a:miter lim="800000"/>
            <a:headEnd/>
            <a:tailEnd/>
          </a:ln>
        </p:spPr>
        <p:txBody>
          <a:bodyPr/>
          <a:lstStyle/>
          <a:p>
            <a:endParaRPr lang="en-TR"/>
          </a:p>
        </p:txBody>
      </p:sp>
      <p:sp>
        <p:nvSpPr>
          <p:cNvPr id="29" name="Rectangle 4">
            <a:extLst>
              <a:ext uri="{FF2B5EF4-FFF2-40B4-BE49-F238E27FC236}">
                <a16:creationId xmlns:a16="http://schemas.microsoft.com/office/drawing/2014/main" id="{3D020E7D-936C-C141-BC93-38AB66FDDBAD}"/>
              </a:ext>
            </a:extLst>
          </p:cNvPr>
          <p:cNvSpPr>
            <a:spLocks noChangeArrowheads="1"/>
          </p:cNvSpPr>
          <p:nvPr/>
        </p:nvSpPr>
        <p:spPr bwMode="auto">
          <a:xfrm>
            <a:off x="2987675" y="1863378"/>
            <a:ext cx="3065463" cy="2168525"/>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0" name="Rectangle 5">
            <a:extLst>
              <a:ext uri="{FF2B5EF4-FFF2-40B4-BE49-F238E27FC236}">
                <a16:creationId xmlns:a16="http://schemas.microsoft.com/office/drawing/2014/main" id="{1077F5DE-3BCB-AA47-B009-BF4D17993584}"/>
              </a:ext>
            </a:extLst>
          </p:cNvPr>
          <p:cNvSpPr>
            <a:spLocks noChangeArrowheads="1"/>
          </p:cNvSpPr>
          <p:nvPr/>
        </p:nvSpPr>
        <p:spPr bwMode="auto">
          <a:xfrm>
            <a:off x="3348038" y="2133253"/>
            <a:ext cx="2255837" cy="170021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1" name="Rectangle 6">
            <a:extLst>
              <a:ext uri="{FF2B5EF4-FFF2-40B4-BE49-F238E27FC236}">
                <a16:creationId xmlns:a16="http://schemas.microsoft.com/office/drawing/2014/main" id="{23A7B0E5-0948-AF45-8AF1-CCC06B310D0D}"/>
              </a:ext>
            </a:extLst>
          </p:cNvPr>
          <p:cNvSpPr>
            <a:spLocks noChangeArrowheads="1"/>
          </p:cNvSpPr>
          <p:nvPr/>
        </p:nvSpPr>
        <p:spPr bwMode="auto">
          <a:xfrm>
            <a:off x="3348038" y="2133253"/>
            <a:ext cx="2255837" cy="80962"/>
          </a:xfrm>
          <a:prstGeom prst="rect">
            <a:avLst/>
          </a:prstGeom>
          <a:solidFill>
            <a:srgbClr val="3333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2" name="Rectangle 7">
            <a:extLst>
              <a:ext uri="{FF2B5EF4-FFF2-40B4-BE49-F238E27FC236}">
                <a16:creationId xmlns:a16="http://schemas.microsoft.com/office/drawing/2014/main" id="{4E78D4ED-A6B2-2A4A-9940-D139ECD4105F}"/>
              </a:ext>
            </a:extLst>
          </p:cNvPr>
          <p:cNvSpPr>
            <a:spLocks noChangeArrowheads="1"/>
          </p:cNvSpPr>
          <p:nvPr/>
        </p:nvSpPr>
        <p:spPr bwMode="auto">
          <a:xfrm>
            <a:off x="4211638" y="2349153"/>
            <a:ext cx="1301750" cy="1439862"/>
          </a:xfrm>
          <a:prstGeom prst="rect">
            <a:avLst/>
          </a:prstGeom>
          <a:blipFill dpi="0" rotWithShape="0">
            <a:blip r:embed="rId3"/>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3" name="Rectangle 8">
            <a:extLst>
              <a:ext uri="{FF2B5EF4-FFF2-40B4-BE49-F238E27FC236}">
                <a16:creationId xmlns:a16="http://schemas.microsoft.com/office/drawing/2014/main" id="{41BF51BA-E23A-1C46-9B3B-1108DF690A8B}"/>
              </a:ext>
            </a:extLst>
          </p:cNvPr>
          <p:cNvSpPr>
            <a:spLocks noChangeArrowheads="1"/>
          </p:cNvSpPr>
          <p:nvPr/>
        </p:nvSpPr>
        <p:spPr bwMode="auto">
          <a:xfrm>
            <a:off x="5291138" y="2349153"/>
            <a:ext cx="288925" cy="714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4" name="Rectangle 9">
            <a:extLst>
              <a:ext uri="{FF2B5EF4-FFF2-40B4-BE49-F238E27FC236}">
                <a16:creationId xmlns:a16="http://schemas.microsoft.com/office/drawing/2014/main" id="{1FAEAF19-6F30-CC45-B051-7D4FC35EB947}"/>
              </a:ext>
            </a:extLst>
          </p:cNvPr>
          <p:cNvSpPr>
            <a:spLocks noChangeArrowheads="1"/>
          </p:cNvSpPr>
          <p:nvPr/>
        </p:nvSpPr>
        <p:spPr bwMode="auto">
          <a:xfrm>
            <a:off x="5435600" y="2493615"/>
            <a:ext cx="144463" cy="714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5" name="Rectangle 10">
            <a:extLst>
              <a:ext uri="{FF2B5EF4-FFF2-40B4-BE49-F238E27FC236}">
                <a16:creationId xmlns:a16="http://schemas.microsoft.com/office/drawing/2014/main" id="{61771852-34A5-4A44-A49A-60B2B4002686}"/>
              </a:ext>
            </a:extLst>
          </p:cNvPr>
          <p:cNvSpPr>
            <a:spLocks noChangeArrowheads="1"/>
          </p:cNvSpPr>
          <p:nvPr/>
        </p:nvSpPr>
        <p:spPr bwMode="auto">
          <a:xfrm>
            <a:off x="5148263" y="2709515"/>
            <a:ext cx="433387" cy="1428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6" name="Rectangle 11">
            <a:extLst>
              <a:ext uri="{FF2B5EF4-FFF2-40B4-BE49-F238E27FC236}">
                <a16:creationId xmlns:a16="http://schemas.microsoft.com/office/drawing/2014/main" id="{34AB6430-B9FA-D34D-B258-79B17C933A72}"/>
              </a:ext>
            </a:extLst>
          </p:cNvPr>
          <p:cNvSpPr>
            <a:spLocks noChangeArrowheads="1"/>
          </p:cNvSpPr>
          <p:nvPr/>
        </p:nvSpPr>
        <p:spPr bwMode="auto">
          <a:xfrm>
            <a:off x="3492500" y="2349153"/>
            <a:ext cx="576263" cy="1008062"/>
          </a:xfrm>
          <a:prstGeom prst="rect">
            <a:avLst/>
          </a:prstGeom>
          <a:gradFill rotWithShape="1">
            <a:gsLst>
              <a:gs pos="0">
                <a:srgbClr val="A50021">
                  <a:gamma/>
                  <a:shade val="46275"/>
                  <a:invGamma/>
                </a:srgbClr>
              </a:gs>
              <a:gs pos="100000">
                <a:srgbClr val="A50021"/>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7" name="Rectangle 12">
            <a:extLst>
              <a:ext uri="{FF2B5EF4-FFF2-40B4-BE49-F238E27FC236}">
                <a16:creationId xmlns:a16="http://schemas.microsoft.com/office/drawing/2014/main" id="{BAC5381D-A984-A84D-B398-8A879D0790C7}"/>
              </a:ext>
            </a:extLst>
          </p:cNvPr>
          <p:cNvSpPr>
            <a:spLocks noChangeArrowheads="1"/>
          </p:cNvSpPr>
          <p:nvPr/>
        </p:nvSpPr>
        <p:spPr bwMode="auto">
          <a:xfrm>
            <a:off x="5148263" y="3071465"/>
            <a:ext cx="433387" cy="698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8" name="Rectangle 13">
            <a:extLst>
              <a:ext uri="{FF2B5EF4-FFF2-40B4-BE49-F238E27FC236}">
                <a16:creationId xmlns:a16="http://schemas.microsoft.com/office/drawing/2014/main" id="{D54571B0-656F-8544-92EF-110B79199720}"/>
              </a:ext>
            </a:extLst>
          </p:cNvPr>
          <p:cNvSpPr>
            <a:spLocks noChangeArrowheads="1"/>
          </p:cNvSpPr>
          <p:nvPr/>
        </p:nvSpPr>
        <p:spPr bwMode="auto">
          <a:xfrm flipV="1">
            <a:off x="5002213" y="3285778"/>
            <a:ext cx="577850" cy="730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39" name="Rectangle 14">
            <a:extLst>
              <a:ext uri="{FF2B5EF4-FFF2-40B4-BE49-F238E27FC236}">
                <a16:creationId xmlns:a16="http://schemas.microsoft.com/office/drawing/2014/main" id="{4EF8810A-A255-224C-A002-8F6E01EEE6FF}"/>
              </a:ext>
            </a:extLst>
          </p:cNvPr>
          <p:cNvSpPr>
            <a:spLocks noChangeArrowheads="1"/>
          </p:cNvSpPr>
          <p:nvPr/>
        </p:nvSpPr>
        <p:spPr bwMode="auto">
          <a:xfrm flipV="1">
            <a:off x="5148263" y="3571528"/>
            <a:ext cx="431800" cy="730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12375337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t>Yazı Karakterleri ve Metin</a:t>
            </a:r>
          </a:p>
        </p:txBody>
      </p:sp>
      <p:sp>
        <p:nvSpPr>
          <p:cNvPr id="6" name="Slayt Numarası Yer Tutucusu 5"/>
          <p:cNvSpPr>
            <a:spLocks noGrp="1"/>
          </p:cNvSpPr>
          <p:nvPr>
            <p:ph type="sldNum" sz="quarter" idx="15"/>
          </p:nvPr>
        </p:nvSpPr>
        <p:spPr/>
        <p:txBody>
          <a:bodyPr/>
          <a:lstStyle/>
          <a:p>
            <a:fld id="{DE121D1B-9491-4A5F-BD01-A1B3B0B623A2}" type="slidenum">
              <a:rPr lang="tr-TR" smtClean="0"/>
              <a:pPr/>
              <a:t>27</a:t>
            </a:fld>
            <a:endParaRPr lang="tr-TR"/>
          </a:p>
        </p:txBody>
      </p:sp>
      <p:sp>
        <p:nvSpPr>
          <p:cNvPr id="512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sp>
        <p:nvSpPr>
          <p:cNvPr id="133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tr-TR"/>
          </a:p>
        </p:txBody>
      </p:sp>
      <p:pic>
        <p:nvPicPr>
          <p:cNvPr id="18" name="Picture 3">
            <a:extLst>
              <a:ext uri="{FF2B5EF4-FFF2-40B4-BE49-F238E27FC236}">
                <a16:creationId xmlns:a16="http://schemas.microsoft.com/office/drawing/2014/main" id="{4B12B047-5F51-5942-BE55-77BA6B4BA5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589902" y="1692275"/>
            <a:ext cx="6789566" cy="4853529"/>
          </a:xfrm>
          <a:prstGeom prst="rect">
            <a:avLst/>
          </a:prstGeom>
          <a:noFill/>
          <a:ln/>
        </p:spPr>
      </p:pic>
      <p:sp>
        <p:nvSpPr>
          <p:cNvPr id="19" name="AutoShape 4">
            <a:extLst>
              <a:ext uri="{FF2B5EF4-FFF2-40B4-BE49-F238E27FC236}">
                <a16:creationId xmlns:a16="http://schemas.microsoft.com/office/drawing/2014/main" id="{4FC6D1DE-2B10-354D-A113-44594A39420D}"/>
              </a:ext>
            </a:extLst>
          </p:cNvPr>
          <p:cNvSpPr>
            <a:spLocks noChangeArrowheads="1"/>
          </p:cNvSpPr>
          <p:nvPr/>
        </p:nvSpPr>
        <p:spPr bwMode="auto">
          <a:xfrm rot="19819012" flipH="1">
            <a:off x="6878364" y="2663727"/>
            <a:ext cx="736783" cy="321023"/>
          </a:xfrm>
          <a:prstGeom prst="rightArrow">
            <a:avLst>
              <a:gd name="adj1" fmla="val 50000"/>
              <a:gd name="adj2" fmla="val 59912"/>
            </a:avLst>
          </a:prstGeom>
          <a:solidFill>
            <a:srgbClr val="99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0" name="AutoShape 5">
            <a:extLst>
              <a:ext uri="{FF2B5EF4-FFF2-40B4-BE49-F238E27FC236}">
                <a16:creationId xmlns:a16="http://schemas.microsoft.com/office/drawing/2014/main" id="{A5BEE51A-0FD9-8545-A834-A8B3F496EC24}"/>
              </a:ext>
            </a:extLst>
          </p:cNvPr>
          <p:cNvSpPr>
            <a:spLocks noChangeArrowheads="1"/>
          </p:cNvSpPr>
          <p:nvPr/>
        </p:nvSpPr>
        <p:spPr bwMode="auto">
          <a:xfrm rot="19819012" flipH="1">
            <a:off x="7022825" y="3168620"/>
            <a:ext cx="736783" cy="321023"/>
          </a:xfrm>
          <a:prstGeom prst="rightArrow">
            <a:avLst>
              <a:gd name="adj1" fmla="val 50000"/>
              <a:gd name="adj2" fmla="val 59912"/>
            </a:avLst>
          </a:prstGeom>
          <a:solidFill>
            <a:srgbClr val="99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
        <p:nvSpPr>
          <p:cNvPr id="21" name="AutoShape 6">
            <a:extLst>
              <a:ext uri="{FF2B5EF4-FFF2-40B4-BE49-F238E27FC236}">
                <a16:creationId xmlns:a16="http://schemas.microsoft.com/office/drawing/2014/main" id="{90534C03-C409-E045-BADC-C1E08B7C87C3}"/>
              </a:ext>
            </a:extLst>
          </p:cNvPr>
          <p:cNvSpPr>
            <a:spLocks noChangeArrowheads="1"/>
          </p:cNvSpPr>
          <p:nvPr/>
        </p:nvSpPr>
        <p:spPr bwMode="auto">
          <a:xfrm rot="19819012" flipH="1">
            <a:off x="6878363" y="3878398"/>
            <a:ext cx="736783" cy="321023"/>
          </a:xfrm>
          <a:prstGeom prst="rightArrow">
            <a:avLst>
              <a:gd name="adj1" fmla="val 50000"/>
              <a:gd name="adj2" fmla="val 59912"/>
            </a:avLst>
          </a:prstGeom>
          <a:solidFill>
            <a:srgbClr val="9933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TR"/>
          </a:p>
        </p:txBody>
      </p:sp>
    </p:spTree>
    <p:extLst>
      <p:ext uri="{BB962C8B-B14F-4D97-AF65-F5344CB8AC3E}">
        <p14:creationId xmlns:p14="http://schemas.microsoft.com/office/powerpoint/2010/main" val="35821744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mba">
  <a:themeElements>
    <a:clrScheme name="Cumba">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Cumba">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umba">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839</TotalTime>
  <Words>1595</Words>
  <Application>Microsoft Macintosh PowerPoint</Application>
  <PresentationFormat>On-screen Show (4:3)</PresentationFormat>
  <Paragraphs>165</Paragraphs>
  <Slides>27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 Narrow</vt:lpstr>
      <vt:lpstr>AvantGarde Bk BT</vt:lpstr>
      <vt:lpstr>Calibri</vt:lpstr>
      <vt:lpstr>Century Schoolbook</vt:lpstr>
      <vt:lpstr>Tahoma</vt:lpstr>
      <vt:lpstr>Times New Roman</vt:lpstr>
      <vt:lpstr>Verdana</vt:lpstr>
      <vt:lpstr>Wingdings</vt:lpstr>
      <vt:lpstr>Wingdings 2</vt:lpstr>
      <vt:lpstr>Cumba</vt:lpstr>
      <vt:lpstr>UZAKTAN EĞİTİM TEKNOLOJİLERİ</vt:lpstr>
      <vt:lpstr>TEMEL GRAFİK TASARIM KURALLARI ve İÇERİK EKRANLARI</vt:lpstr>
      <vt:lpstr>TEMEL GRAFİK TASARIM ve İÇERİK EKRANLARI</vt:lpstr>
      <vt:lpstr>TEMEL GRAFİK TASARIM ve İÇERİK EKRANLARI</vt:lpstr>
      <vt:lpstr>TEMEL GRAFİK TASARIM ve İÇERİK EKRANLARI</vt:lpstr>
      <vt:lpstr>TEMEL GRAFİK TASARIM ve İÇERİK EKRANLARI</vt:lpstr>
      <vt:lpstr>TEMEL GRAFİK TASARIM ve İÇERİK EKRANLARI</vt:lpstr>
      <vt:lpstr>TEMEL GRAFİK TASARIM ve İÇERİK EKRANLARI</vt:lpstr>
      <vt:lpstr>TEMEL GRAFİK TASARIM ve İÇERİK EKRANLARI</vt:lpstr>
      <vt:lpstr>TEMEL GRAFİK TASARIM ve İÇERİK EKRANLARI</vt:lpstr>
      <vt:lpstr>TEMEL GRAFİK TASARIM ve İÇERİK EKRANLARI</vt:lpstr>
      <vt:lpstr>TASARIM YÜZEYLERİ İÇİNDEKİ GÖRSEL UNSURLAR ve BİRBİRLERİYLE İLİŞKİLERİ</vt:lpstr>
      <vt:lpstr>TASARIM YÜZEYLERİ İÇİNDEKİ GÖRSEL UNSURLAR ve BİRBİRLERİYLE İLİŞKİLERİ</vt:lpstr>
      <vt:lpstr>TASARIM YÜZEYLERİ İÇİNDEKİ GÖRSEL UNSURLAR ve BİRBİRLERİYLE İLİŞKİLERİ</vt:lpstr>
      <vt:lpstr>TASARIM YÜZEYLERİ İÇİNDEKİ GÖRSEL UNSURLAR ve BİRBİRLERİYLE İLİŞKİLERİ</vt:lpstr>
      <vt:lpstr>TASARIM YÜZEYLERİ İÇİNDEKİ GÖRSEL UNSURLAR ve BİRBİRLERİYLE İLİŞKİLERİ</vt:lpstr>
      <vt:lpstr>TASARIM YÜZEYLERİ İÇİNDEKİ GÖRSEL UNSURLAR ve BİRBİRLERİYLE İLİŞKİLERİ</vt:lpstr>
      <vt:lpstr>TASARIM YÜZEYLERİ İÇİNDEKİ GÖRSEL UNSURLAR ve BİRBİRLERİYLE İLİŞKİLERİ</vt:lpstr>
      <vt:lpstr>YAZI KARAKTERİ  ve METİN</vt:lpstr>
      <vt:lpstr>Yazı Karakterleri ve Metin</vt:lpstr>
      <vt:lpstr>Yazı Karakterleri ve Metin</vt:lpstr>
      <vt:lpstr>Yazı Karakterleri ve Metin</vt:lpstr>
      <vt:lpstr>Yazı Karakterleri ve Metin</vt:lpstr>
      <vt:lpstr>Yazı Karakterleri ve Metin</vt:lpstr>
      <vt:lpstr>Yazı Karakterleri ve Metin</vt:lpstr>
      <vt:lpstr>Yazı Karakterleri ve Metin</vt:lpstr>
      <vt:lpstr>Yazı Karakterleri ve Metin</vt:lpstr>
    </vt:vector>
  </TitlesOfParts>
  <Company>rocco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Slayt 1</dc:title>
  <dc:creator>zaman</dc:creator>
  <cp:lastModifiedBy>Microsoft Office User</cp:lastModifiedBy>
  <cp:revision>129</cp:revision>
  <dcterms:created xsi:type="dcterms:W3CDTF">2015-05-19T13:03:20Z</dcterms:created>
  <dcterms:modified xsi:type="dcterms:W3CDTF">2020-12-07T20:41:30Z</dcterms:modified>
</cp:coreProperties>
</file>