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3"/>
  </p:notesMasterIdLst>
  <p:sldIdLst>
    <p:sldId id="256" r:id="rId2"/>
    <p:sldId id="326" r:id="rId3"/>
    <p:sldId id="327" r:id="rId4"/>
    <p:sldId id="328" r:id="rId5"/>
    <p:sldId id="329" r:id="rId6"/>
    <p:sldId id="330" r:id="rId7"/>
    <p:sldId id="331" r:id="rId8"/>
    <p:sldId id="332" r:id="rId9"/>
    <p:sldId id="339" r:id="rId10"/>
    <p:sldId id="340" r:id="rId11"/>
    <p:sldId id="341" r:id="rId12"/>
    <p:sldId id="342" r:id="rId13"/>
    <p:sldId id="343" r:id="rId14"/>
    <p:sldId id="344" r:id="rId15"/>
    <p:sldId id="345" r:id="rId16"/>
    <p:sldId id="333" r:id="rId17"/>
    <p:sldId id="334" r:id="rId18"/>
    <p:sldId id="335" r:id="rId19"/>
    <p:sldId id="336" r:id="rId20"/>
    <p:sldId id="337" r:id="rId21"/>
    <p:sldId id="338" r:id="rId22"/>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Orta Stil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Stil Yok, Kılavuz Yok">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Stil Yok, Tablo Kılavuz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Açık Stil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059" autoAdjust="0"/>
    <p:restoredTop sz="81067" autoAdjust="0"/>
  </p:normalViewPr>
  <p:slideViewPr>
    <p:cSldViewPr>
      <p:cViewPr varScale="1">
        <p:scale>
          <a:sx n="72" d="100"/>
          <a:sy n="72" d="100"/>
        </p:scale>
        <p:origin x="208" y="35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4F3A45C-1F9B-4470-B393-CB4E170383FB}" type="datetimeFigureOut">
              <a:rPr lang="tr-TR" smtClean="0"/>
              <a:t>23.11.2020</a:t>
            </a:fld>
            <a:endParaRPr lang="tr-TR"/>
          </a:p>
        </p:txBody>
      </p:sp>
      <p:sp>
        <p:nvSpPr>
          <p:cNvPr id="4" name="Slayt Görüntüsü Yer Tutucusu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bilgi Yer Tutucusu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CE1CD16-3461-49A8-861A-0462DBFF20F0}" type="slidenum">
              <a:rPr lang="tr-TR" smtClean="0"/>
              <a:t>‹#›</a:t>
            </a:fld>
            <a:endParaRPr lang="tr-TR"/>
          </a:p>
        </p:txBody>
      </p:sp>
    </p:spTree>
    <p:extLst>
      <p:ext uri="{BB962C8B-B14F-4D97-AF65-F5344CB8AC3E}">
        <p14:creationId xmlns:p14="http://schemas.microsoft.com/office/powerpoint/2010/main" val="9530315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10"/>
          </p:nvPr>
        </p:nvSpPr>
        <p:spPr/>
        <p:txBody>
          <a:bodyPr/>
          <a:lstStyle/>
          <a:p>
            <a:fld id="{6CE1CD16-3461-49A8-861A-0462DBFF20F0}" type="slidenum">
              <a:rPr lang="tr-TR" smtClean="0"/>
              <a:t>1</a:t>
            </a:fld>
            <a:endParaRPr lang="tr-TR"/>
          </a:p>
        </p:txBody>
      </p:sp>
    </p:spTree>
    <p:extLst>
      <p:ext uri="{BB962C8B-B14F-4D97-AF65-F5344CB8AC3E}">
        <p14:creationId xmlns:p14="http://schemas.microsoft.com/office/powerpoint/2010/main" val="9088918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ltLang="en-TR" b="1" dirty="0"/>
              <a:t>İletişim Nedir?</a:t>
            </a:r>
          </a:p>
          <a:p>
            <a:r>
              <a:rPr lang="tr-TR" altLang="en-TR" dirty="0"/>
              <a:t>Sözel ve görsel bilgilerin, iki sistem arasındaki akışı olarak tanımlayabileceğimiz iletişim, insanı uzak ve yakın çevresine bağlayan bir halkadır. Genel anlamda iletişimin gerçekleşmesi için iki sistem gereklidir. Bu sistemler, iki insan, iki hayvan, iki makine ya da bir insan bir makine..</a:t>
            </a:r>
            <a:r>
              <a:rPr lang="tr-TR" altLang="en-TR" dirty="0" err="1"/>
              <a:t>vb</a:t>
            </a:r>
            <a:r>
              <a:rPr lang="tr-TR" altLang="en-TR" dirty="0"/>
              <a:t>. gibi sistemler olabilir. Nitelikleri ne olursa olsun iki sistem arasındaki bilgi alışverişini “iletişim” olarak kabul edebiliriz.</a:t>
            </a:r>
          </a:p>
        </p:txBody>
      </p:sp>
      <p:sp>
        <p:nvSpPr>
          <p:cNvPr id="4" name="Slide Number Placeholder 3"/>
          <p:cNvSpPr>
            <a:spLocks noGrp="1"/>
          </p:cNvSpPr>
          <p:nvPr>
            <p:ph type="sldNum" sz="quarter" idx="5"/>
          </p:nvPr>
        </p:nvSpPr>
        <p:spPr/>
        <p:txBody>
          <a:bodyPr/>
          <a:lstStyle/>
          <a:p>
            <a:fld id="{6CE1CD16-3461-49A8-861A-0462DBFF20F0}" type="slidenum">
              <a:rPr lang="tr-TR" smtClean="0"/>
              <a:t>2</a:t>
            </a:fld>
            <a:endParaRPr lang="tr-TR"/>
          </a:p>
        </p:txBody>
      </p:sp>
    </p:spTree>
    <p:extLst>
      <p:ext uri="{BB962C8B-B14F-4D97-AF65-F5344CB8AC3E}">
        <p14:creationId xmlns:p14="http://schemas.microsoft.com/office/powerpoint/2010/main" val="25837783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ltLang="en-TR" b="1" dirty="0"/>
              <a:t>İletişim Nedir?</a:t>
            </a:r>
          </a:p>
          <a:p>
            <a:r>
              <a:rPr lang="tr-TR" altLang="en-TR" dirty="0"/>
              <a:t>Sözel ve görsel bilgilerin, iki sistem arasındaki akışı olarak tanımlayabileceğimiz iletişim, insanı uzak ve yakın çevresine bağlayan bir halkadır. Genel anlamda iletişimin gerçekleşmesi için iki sistem gereklidir. Bu sistemler, iki insan, iki hayvan, iki makine ya da bir insan bir makine..</a:t>
            </a:r>
            <a:r>
              <a:rPr lang="tr-TR" altLang="en-TR" dirty="0" err="1"/>
              <a:t>vb</a:t>
            </a:r>
            <a:r>
              <a:rPr lang="tr-TR" altLang="en-TR" dirty="0"/>
              <a:t>. gibi sistemler olabilir. Nitelikleri ne olursa olsun iki sistem arasındaki bilgi alışverişini “iletişim” olarak kabul edebiliriz.</a:t>
            </a:r>
          </a:p>
        </p:txBody>
      </p:sp>
      <p:sp>
        <p:nvSpPr>
          <p:cNvPr id="4" name="Slide Number Placeholder 3"/>
          <p:cNvSpPr>
            <a:spLocks noGrp="1"/>
          </p:cNvSpPr>
          <p:nvPr>
            <p:ph type="sldNum" sz="quarter" idx="5"/>
          </p:nvPr>
        </p:nvSpPr>
        <p:spPr/>
        <p:txBody>
          <a:bodyPr/>
          <a:lstStyle/>
          <a:p>
            <a:fld id="{6CE1CD16-3461-49A8-861A-0462DBFF20F0}" type="slidenum">
              <a:rPr lang="tr-TR" smtClean="0"/>
              <a:t>3</a:t>
            </a:fld>
            <a:endParaRPr lang="tr-TR"/>
          </a:p>
        </p:txBody>
      </p:sp>
    </p:spTree>
    <p:extLst>
      <p:ext uri="{BB962C8B-B14F-4D97-AF65-F5344CB8AC3E}">
        <p14:creationId xmlns:p14="http://schemas.microsoft.com/office/powerpoint/2010/main" val="29403367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ltLang="en-TR" dirty="0"/>
              <a:t>Bir araba tamircisinin araba tamiri yapabilmesi için, arabanın parçalarını iyi tanıması gerektiği gibi, Bir iletişim tasarımcısının da iletişim sürecindeki parçaları bilmesi gerekir.</a:t>
            </a:r>
          </a:p>
          <a:p>
            <a:r>
              <a:rPr lang="tr-TR" altLang="en-TR" dirty="0"/>
              <a:t>İletişim süreci beş unsur ve aşamadan oluşur.</a:t>
            </a:r>
            <a:endParaRPr lang="tr-TR" altLang="en-TR" b="1" dirty="0"/>
          </a:p>
        </p:txBody>
      </p:sp>
      <p:sp>
        <p:nvSpPr>
          <p:cNvPr id="4" name="Slide Number Placeholder 3"/>
          <p:cNvSpPr>
            <a:spLocks noGrp="1"/>
          </p:cNvSpPr>
          <p:nvPr>
            <p:ph type="sldNum" sz="quarter" idx="5"/>
          </p:nvPr>
        </p:nvSpPr>
        <p:spPr/>
        <p:txBody>
          <a:bodyPr/>
          <a:lstStyle/>
          <a:p>
            <a:fld id="{6CE1CD16-3461-49A8-861A-0462DBFF20F0}" type="slidenum">
              <a:rPr lang="tr-TR" smtClean="0"/>
              <a:t>4</a:t>
            </a:fld>
            <a:endParaRPr lang="tr-TR"/>
          </a:p>
        </p:txBody>
      </p:sp>
    </p:spTree>
    <p:extLst>
      <p:ext uri="{BB962C8B-B14F-4D97-AF65-F5344CB8AC3E}">
        <p14:creationId xmlns:p14="http://schemas.microsoft.com/office/powerpoint/2010/main" val="19652395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ltLang="en-TR" dirty="0"/>
              <a:t>Bir araba tamircisinin araba tamiri yapabilmesi için, arabanın parçalarını iyi tanıması gerektiği gibi, Bir iletişim tasarımcısının da iletişim sürecindeki parçaları bilmesi gerekir.</a:t>
            </a:r>
          </a:p>
          <a:p>
            <a:r>
              <a:rPr lang="tr-TR" altLang="en-TR" dirty="0"/>
              <a:t>İletişim süreci beş unsur ve aşamadan oluşur.</a:t>
            </a:r>
            <a:endParaRPr lang="tr-TR" altLang="en-TR" b="1" dirty="0"/>
          </a:p>
        </p:txBody>
      </p:sp>
      <p:sp>
        <p:nvSpPr>
          <p:cNvPr id="4" name="Slide Number Placeholder 3"/>
          <p:cNvSpPr>
            <a:spLocks noGrp="1"/>
          </p:cNvSpPr>
          <p:nvPr>
            <p:ph type="sldNum" sz="quarter" idx="5"/>
          </p:nvPr>
        </p:nvSpPr>
        <p:spPr/>
        <p:txBody>
          <a:bodyPr/>
          <a:lstStyle/>
          <a:p>
            <a:fld id="{6CE1CD16-3461-49A8-861A-0462DBFF20F0}" type="slidenum">
              <a:rPr lang="tr-TR" smtClean="0"/>
              <a:t>5</a:t>
            </a:fld>
            <a:endParaRPr lang="tr-TR"/>
          </a:p>
        </p:txBody>
      </p:sp>
    </p:spTree>
    <p:extLst>
      <p:ext uri="{BB962C8B-B14F-4D97-AF65-F5344CB8AC3E}">
        <p14:creationId xmlns:p14="http://schemas.microsoft.com/office/powerpoint/2010/main" val="246454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ltLang="en-TR" dirty="0"/>
              <a:t>Bir araba tamircisinin araba tamiri yapabilmesi için, arabanın parçalarını iyi tanıması gerektiği gibi, Bir iletişim tasarımcısının da iletişim sürecindeki parçaları bilmesi gerekir.</a:t>
            </a:r>
          </a:p>
          <a:p>
            <a:r>
              <a:rPr lang="tr-TR" altLang="en-TR" dirty="0"/>
              <a:t>İletişim süreci beş unsur ve aşamadan oluşur.</a:t>
            </a:r>
            <a:endParaRPr lang="tr-TR" altLang="en-TR" b="1" dirty="0"/>
          </a:p>
        </p:txBody>
      </p:sp>
      <p:sp>
        <p:nvSpPr>
          <p:cNvPr id="4" name="Slide Number Placeholder 3"/>
          <p:cNvSpPr>
            <a:spLocks noGrp="1"/>
          </p:cNvSpPr>
          <p:nvPr>
            <p:ph type="sldNum" sz="quarter" idx="5"/>
          </p:nvPr>
        </p:nvSpPr>
        <p:spPr/>
        <p:txBody>
          <a:bodyPr/>
          <a:lstStyle/>
          <a:p>
            <a:fld id="{6CE1CD16-3461-49A8-861A-0462DBFF20F0}" type="slidenum">
              <a:rPr lang="tr-TR" smtClean="0"/>
              <a:t>6</a:t>
            </a:fld>
            <a:endParaRPr lang="tr-TR"/>
          </a:p>
        </p:txBody>
      </p:sp>
    </p:spTree>
    <p:extLst>
      <p:ext uri="{BB962C8B-B14F-4D97-AF65-F5344CB8AC3E}">
        <p14:creationId xmlns:p14="http://schemas.microsoft.com/office/powerpoint/2010/main" val="9019858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ltLang="en-TR" dirty="0"/>
              <a:t>Bir araba tamircisinin araba tamiri yapabilmesi için, arabanın parçalarını iyi tanıması gerektiği gibi, Bir iletişim tasarımcısının da iletişim sürecindeki parçaları bilmesi gerekir.</a:t>
            </a:r>
          </a:p>
          <a:p>
            <a:r>
              <a:rPr lang="tr-TR" altLang="en-TR" dirty="0"/>
              <a:t>İletişim süreci beş unsur ve aşamadan oluşur.</a:t>
            </a:r>
            <a:endParaRPr lang="tr-TR" altLang="en-TR" b="1" dirty="0"/>
          </a:p>
        </p:txBody>
      </p:sp>
      <p:sp>
        <p:nvSpPr>
          <p:cNvPr id="4" name="Slide Number Placeholder 3"/>
          <p:cNvSpPr>
            <a:spLocks noGrp="1"/>
          </p:cNvSpPr>
          <p:nvPr>
            <p:ph type="sldNum" sz="quarter" idx="5"/>
          </p:nvPr>
        </p:nvSpPr>
        <p:spPr/>
        <p:txBody>
          <a:bodyPr/>
          <a:lstStyle/>
          <a:p>
            <a:fld id="{6CE1CD16-3461-49A8-861A-0462DBFF20F0}" type="slidenum">
              <a:rPr lang="tr-TR" smtClean="0"/>
              <a:t>7</a:t>
            </a:fld>
            <a:endParaRPr lang="tr-TR"/>
          </a:p>
        </p:txBody>
      </p:sp>
    </p:spTree>
    <p:extLst>
      <p:ext uri="{BB962C8B-B14F-4D97-AF65-F5344CB8AC3E}">
        <p14:creationId xmlns:p14="http://schemas.microsoft.com/office/powerpoint/2010/main" val="23659382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ltLang="en-TR" dirty="0"/>
              <a:t>Bir araba tamircisinin araba tamiri yapabilmesi için, arabanın parçalarını iyi tanıması gerektiği gibi, Bir iletişim tasarımcısının da iletişim sürecindeki parçaları bilmesi gerekir.</a:t>
            </a:r>
          </a:p>
          <a:p>
            <a:r>
              <a:rPr lang="tr-TR" altLang="en-TR" dirty="0"/>
              <a:t>İletişim süreci beş unsur ve aşamadan oluşur.</a:t>
            </a:r>
            <a:endParaRPr lang="tr-TR" altLang="en-TR" b="1" dirty="0"/>
          </a:p>
        </p:txBody>
      </p:sp>
      <p:sp>
        <p:nvSpPr>
          <p:cNvPr id="4" name="Slide Number Placeholder 3"/>
          <p:cNvSpPr>
            <a:spLocks noGrp="1"/>
          </p:cNvSpPr>
          <p:nvPr>
            <p:ph type="sldNum" sz="quarter" idx="5"/>
          </p:nvPr>
        </p:nvSpPr>
        <p:spPr/>
        <p:txBody>
          <a:bodyPr/>
          <a:lstStyle/>
          <a:p>
            <a:fld id="{6CE1CD16-3461-49A8-861A-0462DBFF20F0}" type="slidenum">
              <a:rPr lang="tr-TR" smtClean="0"/>
              <a:t>8</a:t>
            </a:fld>
            <a:endParaRPr lang="tr-TR"/>
          </a:p>
        </p:txBody>
      </p:sp>
    </p:spTree>
    <p:extLst>
      <p:ext uri="{BB962C8B-B14F-4D97-AF65-F5344CB8AC3E}">
        <p14:creationId xmlns:p14="http://schemas.microsoft.com/office/powerpoint/2010/main" val="19234373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ltLang="en-TR" dirty="0"/>
              <a:t>Bir araba tamircisinin araba tamiri yapabilmesi için, arabanın parçalarını iyi tanıması gerektiği gibi, Bir iletişim tasarımcısının da iletişim sürecindeki parçaları bilmesi gerekir.</a:t>
            </a:r>
          </a:p>
          <a:p>
            <a:r>
              <a:rPr lang="tr-TR" altLang="en-TR" dirty="0"/>
              <a:t>İletişim süreci beş unsur ve aşamadan oluşur.</a:t>
            </a:r>
            <a:endParaRPr lang="tr-TR" altLang="en-TR" b="1" dirty="0"/>
          </a:p>
        </p:txBody>
      </p:sp>
      <p:sp>
        <p:nvSpPr>
          <p:cNvPr id="4" name="Slide Number Placeholder 3"/>
          <p:cNvSpPr>
            <a:spLocks noGrp="1"/>
          </p:cNvSpPr>
          <p:nvPr>
            <p:ph type="sldNum" sz="quarter" idx="5"/>
          </p:nvPr>
        </p:nvSpPr>
        <p:spPr/>
        <p:txBody>
          <a:bodyPr/>
          <a:lstStyle/>
          <a:p>
            <a:fld id="{6CE1CD16-3461-49A8-861A-0462DBFF20F0}" type="slidenum">
              <a:rPr lang="tr-TR" smtClean="0"/>
              <a:t>9</a:t>
            </a:fld>
            <a:endParaRPr lang="tr-TR"/>
          </a:p>
        </p:txBody>
      </p:sp>
    </p:spTree>
    <p:extLst>
      <p:ext uri="{BB962C8B-B14F-4D97-AF65-F5344CB8AC3E}">
        <p14:creationId xmlns:p14="http://schemas.microsoft.com/office/powerpoint/2010/main" val="35856239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ltLang="en-TR" dirty="0"/>
              <a:t>Bir araba tamircisinin araba tamiri yapabilmesi için, arabanın parçalarını iyi tanıması gerektiği gibi, Bir iletişim tasarımcısının da iletişim sürecindeki parçaları bilmesi gerekir.</a:t>
            </a:r>
          </a:p>
          <a:p>
            <a:r>
              <a:rPr lang="tr-TR" altLang="en-TR" dirty="0"/>
              <a:t>İletişim süreci beş unsur ve aşamadan oluşur.</a:t>
            </a:r>
            <a:endParaRPr lang="tr-TR" altLang="en-TR" b="1" dirty="0"/>
          </a:p>
        </p:txBody>
      </p:sp>
      <p:sp>
        <p:nvSpPr>
          <p:cNvPr id="4" name="Slide Number Placeholder 3"/>
          <p:cNvSpPr>
            <a:spLocks noGrp="1"/>
          </p:cNvSpPr>
          <p:nvPr>
            <p:ph type="sldNum" sz="quarter" idx="5"/>
          </p:nvPr>
        </p:nvSpPr>
        <p:spPr/>
        <p:txBody>
          <a:bodyPr/>
          <a:lstStyle/>
          <a:p>
            <a:fld id="{6CE1CD16-3461-49A8-861A-0462DBFF20F0}" type="slidenum">
              <a:rPr lang="tr-TR" smtClean="0"/>
              <a:t>10</a:t>
            </a:fld>
            <a:endParaRPr lang="tr-TR"/>
          </a:p>
        </p:txBody>
      </p:sp>
    </p:spTree>
    <p:extLst>
      <p:ext uri="{BB962C8B-B14F-4D97-AF65-F5344CB8AC3E}">
        <p14:creationId xmlns:p14="http://schemas.microsoft.com/office/powerpoint/2010/main" val="6342660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ltLang="en-TR" dirty="0"/>
              <a:t>Bir araba tamircisinin araba tamiri yapabilmesi için, arabanın parçalarını iyi tanıması gerektiği gibi, Bir iletişim tasarımcısının da iletişim sürecindeki parçaları bilmesi gerekir.</a:t>
            </a:r>
          </a:p>
          <a:p>
            <a:r>
              <a:rPr lang="tr-TR" altLang="en-TR" dirty="0"/>
              <a:t>İletişim süreci beş unsur ve aşamadan oluşur.</a:t>
            </a:r>
            <a:endParaRPr lang="tr-TR" altLang="en-TR" b="1" dirty="0"/>
          </a:p>
        </p:txBody>
      </p:sp>
      <p:sp>
        <p:nvSpPr>
          <p:cNvPr id="4" name="Slide Number Placeholder 3"/>
          <p:cNvSpPr>
            <a:spLocks noGrp="1"/>
          </p:cNvSpPr>
          <p:nvPr>
            <p:ph type="sldNum" sz="quarter" idx="5"/>
          </p:nvPr>
        </p:nvSpPr>
        <p:spPr/>
        <p:txBody>
          <a:bodyPr/>
          <a:lstStyle/>
          <a:p>
            <a:fld id="{6CE1CD16-3461-49A8-861A-0462DBFF20F0}" type="slidenum">
              <a:rPr lang="tr-TR" smtClean="0"/>
              <a:t>11</a:t>
            </a:fld>
            <a:endParaRPr lang="tr-TR"/>
          </a:p>
        </p:txBody>
      </p:sp>
    </p:spTree>
    <p:extLst>
      <p:ext uri="{BB962C8B-B14F-4D97-AF65-F5344CB8AC3E}">
        <p14:creationId xmlns:p14="http://schemas.microsoft.com/office/powerpoint/2010/main" val="16718306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ltLang="en-TR" dirty="0"/>
              <a:t>Bir araba tamircisinin araba tamiri yapabilmesi için, arabanın parçalarını iyi tanıması gerektiği gibi, Bir iletişim tasarımcısının da iletişim sürecindeki parçaları bilmesi gerekir.</a:t>
            </a:r>
          </a:p>
          <a:p>
            <a:r>
              <a:rPr lang="tr-TR" altLang="en-TR" dirty="0"/>
              <a:t>İletişim süreci beş unsur ve aşamadan oluşur.</a:t>
            </a:r>
            <a:endParaRPr lang="tr-TR" altLang="en-TR" b="1" dirty="0"/>
          </a:p>
        </p:txBody>
      </p:sp>
      <p:sp>
        <p:nvSpPr>
          <p:cNvPr id="4" name="Slide Number Placeholder 3"/>
          <p:cNvSpPr>
            <a:spLocks noGrp="1"/>
          </p:cNvSpPr>
          <p:nvPr>
            <p:ph type="sldNum" sz="quarter" idx="5"/>
          </p:nvPr>
        </p:nvSpPr>
        <p:spPr/>
        <p:txBody>
          <a:bodyPr/>
          <a:lstStyle/>
          <a:p>
            <a:fld id="{6CE1CD16-3461-49A8-861A-0462DBFF20F0}" type="slidenum">
              <a:rPr lang="tr-TR" smtClean="0"/>
              <a:t>12</a:t>
            </a:fld>
            <a:endParaRPr lang="tr-TR"/>
          </a:p>
        </p:txBody>
      </p:sp>
    </p:spTree>
    <p:extLst>
      <p:ext uri="{BB962C8B-B14F-4D97-AF65-F5344CB8AC3E}">
        <p14:creationId xmlns:p14="http://schemas.microsoft.com/office/powerpoint/2010/main" val="21881231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ltLang="en-TR" dirty="0"/>
              <a:t>Bir araba tamircisinin araba tamiri yapabilmesi için, arabanın parçalarını iyi tanıması gerektiği gibi, Bir iletişim tasarımcısının da iletişim sürecindeki parçaları bilmesi gerekir.</a:t>
            </a:r>
          </a:p>
          <a:p>
            <a:r>
              <a:rPr lang="tr-TR" altLang="en-TR" dirty="0"/>
              <a:t>İletişim süreci beş unsur ve aşamadan oluşur.</a:t>
            </a:r>
            <a:endParaRPr lang="tr-TR" altLang="en-TR" b="1" dirty="0"/>
          </a:p>
        </p:txBody>
      </p:sp>
      <p:sp>
        <p:nvSpPr>
          <p:cNvPr id="4" name="Slide Number Placeholder 3"/>
          <p:cNvSpPr>
            <a:spLocks noGrp="1"/>
          </p:cNvSpPr>
          <p:nvPr>
            <p:ph type="sldNum" sz="quarter" idx="5"/>
          </p:nvPr>
        </p:nvSpPr>
        <p:spPr/>
        <p:txBody>
          <a:bodyPr/>
          <a:lstStyle/>
          <a:p>
            <a:fld id="{6CE1CD16-3461-49A8-861A-0462DBFF20F0}" type="slidenum">
              <a:rPr lang="tr-TR" smtClean="0"/>
              <a:t>13</a:t>
            </a:fld>
            <a:endParaRPr lang="tr-TR"/>
          </a:p>
        </p:txBody>
      </p:sp>
    </p:spTree>
    <p:extLst>
      <p:ext uri="{BB962C8B-B14F-4D97-AF65-F5344CB8AC3E}">
        <p14:creationId xmlns:p14="http://schemas.microsoft.com/office/powerpoint/2010/main" val="41685190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ltLang="en-TR" b="1" dirty="0"/>
          </a:p>
        </p:txBody>
      </p:sp>
      <p:sp>
        <p:nvSpPr>
          <p:cNvPr id="4" name="Slide Number Placeholder 3"/>
          <p:cNvSpPr>
            <a:spLocks noGrp="1"/>
          </p:cNvSpPr>
          <p:nvPr>
            <p:ph type="sldNum" sz="quarter" idx="5"/>
          </p:nvPr>
        </p:nvSpPr>
        <p:spPr/>
        <p:txBody>
          <a:bodyPr/>
          <a:lstStyle/>
          <a:p>
            <a:fld id="{6CE1CD16-3461-49A8-861A-0462DBFF20F0}" type="slidenum">
              <a:rPr lang="tr-TR" smtClean="0"/>
              <a:t>14</a:t>
            </a:fld>
            <a:endParaRPr lang="tr-TR"/>
          </a:p>
        </p:txBody>
      </p:sp>
    </p:spTree>
    <p:extLst>
      <p:ext uri="{BB962C8B-B14F-4D97-AF65-F5344CB8AC3E}">
        <p14:creationId xmlns:p14="http://schemas.microsoft.com/office/powerpoint/2010/main" val="2888503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ltLang="en-TR" dirty="0"/>
              <a:t>İletişim yeteneklerinin çoğu sonradan öğrenilir. Örneğin </a:t>
            </a:r>
            <a:r>
              <a:rPr lang="tr-TR" altLang="en-TR" dirty="0" err="1"/>
              <a:t>japonyada</a:t>
            </a:r>
            <a:r>
              <a:rPr lang="tr-TR" altLang="en-TR" dirty="0"/>
              <a:t> doğan bir bebek Türkiye’de büyüdüğünde bir </a:t>
            </a:r>
            <a:r>
              <a:rPr lang="tr-TR" altLang="en-TR" dirty="0" err="1"/>
              <a:t>japon</a:t>
            </a:r>
            <a:r>
              <a:rPr lang="tr-TR" altLang="en-TR" dirty="0"/>
              <a:t> gibi değil, bir </a:t>
            </a:r>
            <a:r>
              <a:rPr lang="tr-TR" altLang="en-TR" dirty="0" err="1"/>
              <a:t>türk</a:t>
            </a:r>
            <a:r>
              <a:rPr lang="tr-TR" altLang="en-TR" dirty="0"/>
              <a:t> gibi iletişim kurmayı öğrenecektir. İletişimin nasıl kurulacağını öğrenmek için yine iletişim kurarlar. Bu tür iletişim etkinlikleri, anne-baba, arkadaş çevresi sayesinde şekillenirler. </a:t>
            </a:r>
          </a:p>
        </p:txBody>
      </p:sp>
      <p:sp>
        <p:nvSpPr>
          <p:cNvPr id="4" name="Slide Number Placeholder 3"/>
          <p:cNvSpPr>
            <a:spLocks noGrp="1"/>
          </p:cNvSpPr>
          <p:nvPr>
            <p:ph type="sldNum" sz="quarter" idx="5"/>
          </p:nvPr>
        </p:nvSpPr>
        <p:spPr/>
        <p:txBody>
          <a:bodyPr/>
          <a:lstStyle/>
          <a:p>
            <a:fld id="{6CE1CD16-3461-49A8-861A-0462DBFF20F0}" type="slidenum">
              <a:rPr lang="tr-TR" smtClean="0"/>
              <a:t>15</a:t>
            </a:fld>
            <a:endParaRPr lang="tr-TR"/>
          </a:p>
        </p:txBody>
      </p:sp>
    </p:spTree>
    <p:extLst>
      <p:ext uri="{BB962C8B-B14F-4D97-AF65-F5344CB8AC3E}">
        <p14:creationId xmlns:p14="http://schemas.microsoft.com/office/powerpoint/2010/main" val="5193457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ltLang="en-TR" dirty="0"/>
              <a:t>İletişim yeteneklerinin çoğu sonradan öğrenilir. Örneğin </a:t>
            </a:r>
            <a:r>
              <a:rPr lang="tr-TR" altLang="en-TR" dirty="0" err="1"/>
              <a:t>japonyada</a:t>
            </a:r>
            <a:r>
              <a:rPr lang="tr-TR" altLang="en-TR" dirty="0"/>
              <a:t> doğan bir bebek Türkiye’de büyüdüğünde bir </a:t>
            </a:r>
            <a:r>
              <a:rPr lang="tr-TR" altLang="en-TR" dirty="0" err="1"/>
              <a:t>japon</a:t>
            </a:r>
            <a:r>
              <a:rPr lang="tr-TR" altLang="en-TR" dirty="0"/>
              <a:t> gibi değil, bir </a:t>
            </a:r>
            <a:r>
              <a:rPr lang="tr-TR" altLang="en-TR" dirty="0" err="1"/>
              <a:t>türk</a:t>
            </a:r>
            <a:r>
              <a:rPr lang="tr-TR" altLang="en-TR" dirty="0"/>
              <a:t> gibi iletişim kurmayı öğrenecektir. İletişimin nasıl kurulacağını öğrenmek için yine iletişim kurarlar. Bu tür iletişim etkinlikleri, anne-baba, arkadaş çevresi sayesinde şekillenirler.</a:t>
            </a:r>
          </a:p>
        </p:txBody>
      </p:sp>
      <p:sp>
        <p:nvSpPr>
          <p:cNvPr id="4" name="Slide Number Placeholder 3"/>
          <p:cNvSpPr>
            <a:spLocks noGrp="1"/>
          </p:cNvSpPr>
          <p:nvPr>
            <p:ph type="sldNum" sz="quarter" idx="5"/>
          </p:nvPr>
        </p:nvSpPr>
        <p:spPr/>
        <p:txBody>
          <a:bodyPr/>
          <a:lstStyle/>
          <a:p>
            <a:fld id="{6CE1CD16-3461-49A8-861A-0462DBFF20F0}" type="slidenum">
              <a:rPr lang="tr-TR" smtClean="0"/>
              <a:t>16</a:t>
            </a:fld>
            <a:endParaRPr lang="tr-TR"/>
          </a:p>
        </p:txBody>
      </p:sp>
    </p:spTree>
    <p:extLst>
      <p:ext uri="{BB962C8B-B14F-4D97-AF65-F5344CB8AC3E}">
        <p14:creationId xmlns:p14="http://schemas.microsoft.com/office/powerpoint/2010/main" val="31071091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ltLang="en-TR" b="1" dirty="0"/>
              <a:t>Grafik İletişim Nedir?</a:t>
            </a:r>
          </a:p>
          <a:p>
            <a:r>
              <a:rPr lang="tr-TR" altLang="en-TR" dirty="0"/>
              <a:t>Grafik, görsel olarak algılanan şeylerle yani görüntülerle ilgili bir kavramdır. İletişim de her türlü bilginin insanlar arası alışverişidir. Bu durumda grafik iletişim, görüntülerden oluşan bilgilerin değiş-tokuşu olarak tanımlanabilir.</a:t>
            </a:r>
          </a:p>
        </p:txBody>
      </p:sp>
      <p:sp>
        <p:nvSpPr>
          <p:cNvPr id="4" name="Slide Number Placeholder 3"/>
          <p:cNvSpPr>
            <a:spLocks noGrp="1"/>
          </p:cNvSpPr>
          <p:nvPr>
            <p:ph type="sldNum" sz="quarter" idx="5"/>
          </p:nvPr>
        </p:nvSpPr>
        <p:spPr/>
        <p:txBody>
          <a:bodyPr/>
          <a:lstStyle/>
          <a:p>
            <a:fld id="{6CE1CD16-3461-49A8-861A-0462DBFF20F0}" type="slidenum">
              <a:rPr lang="tr-TR" smtClean="0"/>
              <a:t>17</a:t>
            </a:fld>
            <a:endParaRPr lang="tr-TR"/>
          </a:p>
        </p:txBody>
      </p:sp>
    </p:spTree>
    <p:extLst>
      <p:ext uri="{BB962C8B-B14F-4D97-AF65-F5344CB8AC3E}">
        <p14:creationId xmlns:p14="http://schemas.microsoft.com/office/powerpoint/2010/main" val="9891447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ltLang="en-TR" dirty="0"/>
              <a:t>İletişim yöntemi yada aracı, farklı gereksinimlere bağlı olarak değişebilir. Örneğin bazı durumlarda yeterli olmasına rağmen, sözlü iletişim sınırlı bir iletişim aracıdır. Sözlü iletişim sırasında yanlış anlamalar olabilmekte ve kelimeler, düşünceler kolaylıkla unutulabilmektedir. Çünkü sözlü iletişimde fikir ve düşünce alışverişini olanaklı kılacak bir kayıt söz konusu değildir. Bir düşünce ve kavramın kaydedilebilmesi için bir grafik iletişim sisteminin kurulmuş olması gerekir. Gelişmiş ya da gelişmekte olan ülkelerde grafik imgeler önemli ve sürekli bir yere sahiptirler. Yazılar, resimler ve fotoğraflar başlıca grafik iletişim araçlarıdır.</a:t>
            </a:r>
          </a:p>
        </p:txBody>
      </p:sp>
      <p:sp>
        <p:nvSpPr>
          <p:cNvPr id="4" name="Slide Number Placeholder 3"/>
          <p:cNvSpPr>
            <a:spLocks noGrp="1"/>
          </p:cNvSpPr>
          <p:nvPr>
            <p:ph type="sldNum" sz="quarter" idx="5"/>
          </p:nvPr>
        </p:nvSpPr>
        <p:spPr/>
        <p:txBody>
          <a:bodyPr/>
          <a:lstStyle/>
          <a:p>
            <a:fld id="{6CE1CD16-3461-49A8-861A-0462DBFF20F0}" type="slidenum">
              <a:rPr lang="tr-TR" smtClean="0"/>
              <a:t>18</a:t>
            </a:fld>
            <a:endParaRPr lang="tr-TR"/>
          </a:p>
        </p:txBody>
      </p:sp>
    </p:spTree>
    <p:extLst>
      <p:ext uri="{BB962C8B-B14F-4D97-AF65-F5344CB8AC3E}">
        <p14:creationId xmlns:p14="http://schemas.microsoft.com/office/powerpoint/2010/main" val="9523895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ltLang="en-TR" dirty="0"/>
              <a:t>Bir mesajın, açık, ekonomik ve estetik bir yolla iletilmesi grafik iletişimin başlıca amacı ve başarı kriteridir. </a:t>
            </a:r>
            <a:r>
              <a:rPr lang="tr-TR" altLang="en-TR" dirty="0" err="1"/>
              <a:t>Burda</a:t>
            </a:r>
            <a:r>
              <a:rPr lang="tr-TR" altLang="en-TR" dirty="0"/>
              <a:t> “ekonomik”  kelimesiyle ifade edilmek istenen mesajın, mümkün olduğu kadar az elemanla iletilebilmiş olmasıdır. Simple is </a:t>
            </a:r>
            <a:r>
              <a:rPr lang="tr-TR" altLang="en-TR" dirty="0" err="1"/>
              <a:t>the</a:t>
            </a:r>
            <a:r>
              <a:rPr lang="tr-TR" altLang="en-TR" dirty="0"/>
              <a:t> </a:t>
            </a:r>
            <a:r>
              <a:rPr lang="tr-TR" altLang="en-TR" dirty="0" err="1"/>
              <a:t>best</a:t>
            </a:r>
            <a:r>
              <a:rPr lang="tr-TR" altLang="en-TR" dirty="0"/>
              <a:t>. Bu aynı zamanda iletişimin ve grafik tasarımında temel kurallarından birisidir. Her grafik unsur, mesajın etkisini arttıracak şekilde tasarlanmalıdır. </a:t>
            </a:r>
          </a:p>
        </p:txBody>
      </p:sp>
      <p:sp>
        <p:nvSpPr>
          <p:cNvPr id="4" name="Slide Number Placeholder 3"/>
          <p:cNvSpPr>
            <a:spLocks noGrp="1"/>
          </p:cNvSpPr>
          <p:nvPr>
            <p:ph type="sldNum" sz="quarter" idx="5"/>
          </p:nvPr>
        </p:nvSpPr>
        <p:spPr/>
        <p:txBody>
          <a:bodyPr/>
          <a:lstStyle/>
          <a:p>
            <a:fld id="{6CE1CD16-3461-49A8-861A-0462DBFF20F0}" type="slidenum">
              <a:rPr lang="tr-TR" smtClean="0"/>
              <a:t>19</a:t>
            </a:fld>
            <a:endParaRPr lang="tr-TR"/>
          </a:p>
        </p:txBody>
      </p:sp>
    </p:spTree>
    <p:extLst>
      <p:ext uri="{BB962C8B-B14F-4D97-AF65-F5344CB8AC3E}">
        <p14:creationId xmlns:p14="http://schemas.microsoft.com/office/powerpoint/2010/main" val="7481129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ltLang="en-TR" dirty="0"/>
              <a:t>Bir mesajın, açık, ekonomik ve estetik bir yolla iletilmesi grafik iletişimin başlıca amacı ve başarı kriteridir. </a:t>
            </a:r>
            <a:r>
              <a:rPr lang="tr-TR" altLang="en-TR" dirty="0" err="1"/>
              <a:t>Burda</a:t>
            </a:r>
            <a:r>
              <a:rPr lang="tr-TR" altLang="en-TR" dirty="0"/>
              <a:t> “ekonomik”  kelimesiyle ifade edilmek istenen mesajın, mümkün olduğu kadar az elemanla iletilebilmiş olmasıdır. Simple is </a:t>
            </a:r>
            <a:r>
              <a:rPr lang="tr-TR" altLang="en-TR" dirty="0" err="1"/>
              <a:t>the</a:t>
            </a:r>
            <a:r>
              <a:rPr lang="tr-TR" altLang="en-TR" dirty="0"/>
              <a:t> </a:t>
            </a:r>
            <a:r>
              <a:rPr lang="tr-TR" altLang="en-TR" dirty="0" err="1"/>
              <a:t>best</a:t>
            </a:r>
            <a:r>
              <a:rPr lang="tr-TR" altLang="en-TR" dirty="0"/>
              <a:t>. Bu aynı zamanda iletişimin ve grafik tasarımında temel kurallarından birisidir. Her grafik unsur, mesajın etkisini arttıracak şekilde tasarlanmalıdır. Kurumsal Kimlik kullanımının önemi.</a:t>
            </a:r>
          </a:p>
        </p:txBody>
      </p:sp>
      <p:sp>
        <p:nvSpPr>
          <p:cNvPr id="4" name="Slide Number Placeholder 3"/>
          <p:cNvSpPr>
            <a:spLocks noGrp="1"/>
          </p:cNvSpPr>
          <p:nvPr>
            <p:ph type="sldNum" sz="quarter" idx="5"/>
          </p:nvPr>
        </p:nvSpPr>
        <p:spPr/>
        <p:txBody>
          <a:bodyPr/>
          <a:lstStyle/>
          <a:p>
            <a:fld id="{6CE1CD16-3461-49A8-861A-0462DBFF20F0}" type="slidenum">
              <a:rPr lang="tr-TR" smtClean="0"/>
              <a:t>20</a:t>
            </a:fld>
            <a:endParaRPr lang="tr-TR"/>
          </a:p>
        </p:txBody>
      </p:sp>
    </p:spTree>
    <p:extLst>
      <p:ext uri="{BB962C8B-B14F-4D97-AF65-F5344CB8AC3E}">
        <p14:creationId xmlns:p14="http://schemas.microsoft.com/office/powerpoint/2010/main" val="16147216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ltLang="en-TR" dirty="0"/>
              <a:t>Günümüz insanının çoğu hayati etkinlikleri, grafik imgelerle iletişim kurabilme yeteneklerine bağlıdır. Yaşadığımız dünyada bilgiler, kitap gazete, dergi, afiş, broşür ve diğer görsel araçlarla okuyucuya ya da izleyici kitlesine ulaşır. İlk kez gittiğimiz yerleri haritalar sayesinde tanırız. Diş macununu el kreminden ayırt etmek için ambalajındaki yazı, resim ya da fotoğraflardan oluşan görsel bilgilere bakarız, tek yönlü, çift yönlü yolları, erkekler, kadınlar tuvaletini, ya da park edemeyeceğiz yerleri yine grafik imgelerin yol göstericiliği ile öğreniriz.</a:t>
            </a:r>
          </a:p>
        </p:txBody>
      </p:sp>
      <p:sp>
        <p:nvSpPr>
          <p:cNvPr id="4" name="Slide Number Placeholder 3"/>
          <p:cNvSpPr>
            <a:spLocks noGrp="1"/>
          </p:cNvSpPr>
          <p:nvPr>
            <p:ph type="sldNum" sz="quarter" idx="5"/>
          </p:nvPr>
        </p:nvSpPr>
        <p:spPr/>
        <p:txBody>
          <a:bodyPr/>
          <a:lstStyle/>
          <a:p>
            <a:fld id="{6CE1CD16-3461-49A8-861A-0462DBFF20F0}" type="slidenum">
              <a:rPr lang="tr-TR" smtClean="0"/>
              <a:t>21</a:t>
            </a:fld>
            <a:endParaRPr lang="tr-TR"/>
          </a:p>
        </p:txBody>
      </p:sp>
    </p:spTree>
    <p:extLst>
      <p:ext uri="{BB962C8B-B14F-4D97-AF65-F5344CB8AC3E}">
        <p14:creationId xmlns:p14="http://schemas.microsoft.com/office/powerpoint/2010/main" val="26936904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bg>
      <p:bgRef idx="1001">
        <a:schemeClr val="bg1"/>
      </p:bgRef>
    </p:bg>
    <p:spTree>
      <p:nvGrpSpPr>
        <p:cNvPr id="1" name=""/>
        <p:cNvGrpSpPr/>
        <p:nvPr/>
      </p:nvGrpSpPr>
      <p:grpSpPr>
        <a:xfrm>
          <a:off x="0" y="0"/>
          <a:ext cx="0" cy="0"/>
          <a:chOff x="0" y="0"/>
          <a:chExt cx="0" cy="0"/>
        </a:xfrm>
      </p:grpSpPr>
      <p:sp>
        <p:nvSpPr>
          <p:cNvPr id="8" name="7 Başlık"/>
          <p:cNvSpPr>
            <a:spLocks noGrp="1"/>
          </p:cNvSpPr>
          <p:nvPr>
            <p:ph type="ctrTitle"/>
          </p:nvPr>
        </p:nvSpPr>
        <p:spPr>
          <a:xfrm>
            <a:off x="2286000" y="3124200"/>
            <a:ext cx="6172200" cy="1894362"/>
          </a:xfrm>
        </p:spPr>
        <p:txBody>
          <a:bodyPr/>
          <a:lstStyle>
            <a:lvl1pPr>
              <a:defRPr b="1"/>
            </a:lvl1pPr>
          </a:lstStyle>
          <a:p>
            <a:r>
              <a:rPr kumimoji="0" lang="tr-TR"/>
              <a:t>Asıl başlık stili için tıklatın</a:t>
            </a:r>
            <a:endParaRPr kumimoji="0" lang="en-US"/>
          </a:p>
        </p:txBody>
      </p:sp>
      <p:sp>
        <p:nvSpPr>
          <p:cNvPr id="9" name="8 Alt Başlık"/>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tr-TR"/>
              <a:t>Asıl alt başlık stilini düzenlemek için tıklatın</a:t>
            </a:r>
            <a:endParaRPr kumimoji="0" lang="en-US"/>
          </a:p>
        </p:txBody>
      </p:sp>
      <p:sp>
        <p:nvSpPr>
          <p:cNvPr id="28" name="27 Veri Yer Tutucusu"/>
          <p:cNvSpPr>
            <a:spLocks noGrp="1"/>
          </p:cNvSpPr>
          <p:nvPr>
            <p:ph type="dt" sz="half" idx="10"/>
          </p:nvPr>
        </p:nvSpPr>
        <p:spPr bwMode="auto">
          <a:xfrm rot="5400000">
            <a:off x="7764621" y="1174097"/>
            <a:ext cx="2286000" cy="381000"/>
          </a:xfrm>
        </p:spPr>
        <p:txBody>
          <a:bodyPr/>
          <a:lstStyle/>
          <a:p>
            <a:fld id="{099275E6-BDB1-4AC3-815C-2C2D22452163}" type="datetime1">
              <a:rPr lang="tr-TR" smtClean="0"/>
              <a:t>23.11.2020</a:t>
            </a:fld>
            <a:endParaRPr lang="tr-TR"/>
          </a:p>
        </p:txBody>
      </p:sp>
      <p:sp>
        <p:nvSpPr>
          <p:cNvPr id="17" name="16 Altbilgi Yer Tutucusu"/>
          <p:cNvSpPr>
            <a:spLocks noGrp="1"/>
          </p:cNvSpPr>
          <p:nvPr>
            <p:ph type="ftr" sz="quarter" idx="11"/>
          </p:nvPr>
        </p:nvSpPr>
        <p:spPr bwMode="auto">
          <a:xfrm rot="5400000">
            <a:off x="7077269" y="4181669"/>
            <a:ext cx="3657600" cy="384048"/>
          </a:xfrm>
        </p:spPr>
        <p:txBody>
          <a:bodyPr/>
          <a:lstStyle/>
          <a:p>
            <a:endParaRPr lang="tr-TR"/>
          </a:p>
        </p:txBody>
      </p:sp>
      <p:sp>
        <p:nvSpPr>
          <p:cNvPr id="10" name="9 Dikdörtgen"/>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Dikdörtgen"/>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13 Dikdörtgen"/>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18 Dikdörtgen"/>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Düz Bağlayıcı"/>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17 Düz Bağlayıcı"/>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19 Düz Bağlayıcı"/>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15 Düz Bağlayıcı"/>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14 Düz Bağlayıcı"/>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21 Düz Bağlayıcı"/>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26 Dikdörtgen"/>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20 Oval"/>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22 Oval"/>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23 Oval"/>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25 Oval"/>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24 Oval"/>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28 Slayt Numarası Yer Tutucusu"/>
          <p:cNvSpPr>
            <a:spLocks noGrp="1"/>
          </p:cNvSpPr>
          <p:nvPr>
            <p:ph type="sldNum" sz="quarter" idx="12"/>
          </p:nvPr>
        </p:nvSpPr>
        <p:spPr bwMode="auto">
          <a:xfrm>
            <a:off x="1325544" y="4928702"/>
            <a:ext cx="609600" cy="517524"/>
          </a:xfrm>
        </p:spPr>
        <p:txBody>
          <a:bodyPr/>
          <a:lstStyle/>
          <a:p>
            <a:fld id="{DE121D1B-9491-4A5F-BD01-A1B3B0B623A2}" type="slidenum">
              <a:rPr lang="tr-TR" smtClean="0"/>
              <a:pPr/>
              <a:t>‹#›</a:t>
            </a:fld>
            <a:endParaRPr lang="tr-T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kumimoji="0" lang="tr-TR"/>
              <a:t>Asıl başlık stili için tıklatın</a:t>
            </a:r>
            <a:endParaRPr kumimoji="0" lang="en-US"/>
          </a:p>
        </p:txBody>
      </p:sp>
      <p:sp>
        <p:nvSpPr>
          <p:cNvPr id="8" name="7 İçerik Yer Tutucusu"/>
          <p:cNvSpPr>
            <a:spLocks noGrp="1"/>
          </p:cNvSpPr>
          <p:nvPr>
            <p:ph sz="quarter" idx="1"/>
          </p:nvPr>
        </p:nvSpPr>
        <p:spPr>
          <a:xfrm>
            <a:off x="457200" y="1600200"/>
            <a:ext cx="7467600" cy="4873752"/>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7" name="6 Veri Yer Tutucusu"/>
          <p:cNvSpPr>
            <a:spLocks noGrp="1"/>
          </p:cNvSpPr>
          <p:nvPr>
            <p:ph type="dt" sz="half" idx="14"/>
          </p:nvPr>
        </p:nvSpPr>
        <p:spPr/>
        <p:txBody>
          <a:bodyPr rtlCol="0"/>
          <a:lstStyle/>
          <a:p>
            <a:fld id="{0D220B3B-728E-46A1-B4E5-2D1C609AAE18}" type="datetime1">
              <a:rPr lang="tr-TR" smtClean="0"/>
              <a:t>23.11.2020</a:t>
            </a:fld>
            <a:endParaRPr lang="tr-TR"/>
          </a:p>
        </p:txBody>
      </p:sp>
      <p:sp>
        <p:nvSpPr>
          <p:cNvPr id="9" name="8 Slayt Numarası Yer Tutucusu"/>
          <p:cNvSpPr>
            <a:spLocks noGrp="1"/>
          </p:cNvSpPr>
          <p:nvPr>
            <p:ph type="sldNum" sz="quarter" idx="15"/>
          </p:nvPr>
        </p:nvSpPr>
        <p:spPr/>
        <p:txBody>
          <a:bodyPr rtlCol="0"/>
          <a:lstStyle/>
          <a:p>
            <a:fld id="{DE121D1B-9491-4A5F-BD01-A1B3B0B623A2}" type="slidenum">
              <a:rPr lang="tr-TR" smtClean="0"/>
              <a:pPr/>
              <a:t>‹#›</a:t>
            </a:fld>
            <a:endParaRPr lang="tr-TR"/>
          </a:p>
        </p:txBody>
      </p:sp>
      <p:sp>
        <p:nvSpPr>
          <p:cNvPr id="10" name="9 Altbilgi Yer Tutucusu"/>
          <p:cNvSpPr>
            <a:spLocks noGrp="1"/>
          </p:cNvSpPr>
          <p:nvPr>
            <p:ph type="ftr" sz="quarter" idx="16"/>
          </p:nvPr>
        </p:nvSpPr>
        <p:spPr/>
        <p:txBody>
          <a:bodyPr rtlCol="0"/>
          <a:lstStyle/>
          <a:p>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bilgisi">
    <p:bg>
      <p:bgRef idx="1001">
        <a:schemeClr val="bg2"/>
      </p:bgRef>
    </p:bg>
    <p:spTree>
      <p:nvGrpSpPr>
        <p:cNvPr id="1" name=""/>
        <p:cNvGrpSpPr/>
        <p:nvPr/>
      </p:nvGrpSpPr>
      <p:grpSpPr>
        <a:xfrm>
          <a:off x="0" y="0"/>
          <a:ext cx="0" cy="0"/>
          <a:chOff x="0" y="0"/>
          <a:chExt cx="0" cy="0"/>
        </a:xfrm>
      </p:grpSpPr>
      <p:sp>
        <p:nvSpPr>
          <p:cNvPr id="2" name="1 Başlık"/>
          <p:cNvSpPr>
            <a:spLocks noGrp="1"/>
          </p:cNvSpPr>
          <p:nvPr>
            <p:ph type="title"/>
          </p:nvPr>
        </p:nvSpPr>
        <p:spPr>
          <a:xfrm>
            <a:off x="2286000" y="2895600"/>
            <a:ext cx="6172200" cy="2053590"/>
          </a:xfrm>
        </p:spPr>
        <p:txBody>
          <a:bodyPr/>
          <a:lstStyle>
            <a:lvl1pPr algn="l">
              <a:buNone/>
              <a:defRPr sz="3000" b="1" cap="small" baseline="0"/>
            </a:lvl1pPr>
          </a:lstStyle>
          <a:p>
            <a:r>
              <a:rPr kumimoji="0" lang="tr-TR"/>
              <a:t>Asıl başlık stili için tıklatın</a:t>
            </a:r>
            <a:endParaRPr kumimoji="0" lang="en-US"/>
          </a:p>
        </p:txBody>
      </p:sp>
      <p:sp>
        <p:nvSpPr>
          <p:cNvPr id="3" name="2 Metin Yer Tutucusu"/>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tr-TR"/>
              <a:t>Asıl metin stillerini düzenlemek için tıklatın</a:t>
            </a:r>
          </a:p>
        </p:txBody>
      </p:sp>
      <p:sp>
        <p:nvSpPr>
          <p:cNvPr id="4" name="3 Veri Yer Tutucusu"/>
          <p:cNvSpPr>
            <a:spLocks noGrp="1"/>
          </p:cNvSpPr>
          <p:nvPr>
            <p:ph type="dt" sz="half" idx="10"/>
          </p:nvPr>
        </p:nvSpPr>
        <p:spPr bwMode="auto">
          <a:xfrm rot="5400000">
            <a:off x="7763256" y="1170432"/>
            <a:ext cx="2286000" cy="381000"/>
          </a:xfrm>
        </p:spPr>
        <p:txBody>
          <a:bodyPr/>
          <a:lstStyle/>
          <a:p>
            <a:fld id="{9E4052E5-45F5-4075-8D9E-4FAD178C4C64}" type="datetime1">
              <a:rPr lang="tr-TR" smtClean="0"/>
              <a:t>23.11.2020</a:t>
            </a:fld>
            <a:endParaRPr lang="tr-TR"/>
          </a:p>
        </p:txBody>
      </p:sp>
      <p:sp>
        <p:nvSpPr>
          <p:cNvPr id="5" name="4 Altbilgi Yer Tutucusu"/>
          <p:cNvSpPr>
            <a:spLocks noGrp="1"/>
          </p:cNvSpPr>
          <p:nvPr>
            <p:ph type="ftr" sz="quarter" idx="11"/>
          </p:nvPr>
        </p:nvSpPr>
        <p:spPr bwMode="auto">
          <a:xfrm rot="5400000">
            <a:off x="7077456" y="4178808"/>
            <a:ext cx="3657600" cy="384048"/>
          </a:xfrm>
        </p:spPr>
        <p:txBody>
          <a:bodyPr/>
          <a:lstStyle/>
          <a:p>
            <a:endParaRPr lang="tr-TR"/>
          </a:p>
        </p:txBody>
      </p:sp>
      <p:sp>
        <p:nvSpPr>
          <p:cNvPr id="9" name="8 Dikdörtgen"/>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9 Dikdörtgen"/>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Dikdörtgen"/>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Dikdörtgen"/>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12 Düz Bağlayıcı"/>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13 Düz Bağlayıcı"/>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14 Düz Bağlayıcı"/>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15 Düz Bağlayıcı"/>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16 Düz Bağlayıcı"/>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17 Dikdörtgen"/>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18 Oval"/>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19 Oval"/>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20 Oval"/>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21 Oval"/>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22 Oval"/>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25 Düz Bağlayıcı"/>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5 Slayt Numarası Yer Tutucusu"/>
          <p:cNvSpPr>
            <a:spLocks noGrp="1"/>
          </p:cNvSpPr>
          <p:nvPr>
            <p:ph type="sldNum" sz="quarter" idx="12"/>
          </p:nvPr>
        </p:nvSpPr>
        <p:spPr bwMode="auto">
          <a:xfrm>
            <a:off x="1340616" y="4928702"/>
            <a:ext cx="609600" cy="517524"/>
          </a:xfrm>
        </p:spPr>
        <p:txBody>
          <a:bodyPr/>
          <a:lstStyle/>
          <a:p>
            <a:fld id="{DE121D1B-9491-4A5F-BD01-A1B3B0B623A2}" type="slidenum">
              <a:rPr lang="tr-TR" smtClean="0"/>
              <a:pPr/>
              <a:t>‹#›</a:t>
            </a:fld>
            <a:endParaRPr lang="tr-T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kumimoji="0" lang="tr-TR"/>
              <a:t>Asıl başlık stili için tıklatın</a:t>
            </a:r>
            <a:endParaRPr kumimoji="0" lang="en-US"/>
          </a:p>
        </p:txBody>
      </p:sp>
      <p:sp>
        <p:nvSpPr>
          <p:cNvPr id="5" name="4 Veri Yer Tutucusu"/>
          <p:cNvSpPr>
            <a:spLocks noGrp="1"/>
          </p:cNvSpPr>
          <p:nvPr>
            <p:ph type="dt" sz="half" idx="10"/>
          </p:nvPr>
        </p:nvSpPr>
        <p:spPr/>
        <p:txBody>
          <a:bodyPr/>
          <a:lstStyle/>
          <a:p>
            <a:fld id="{205F287B-E325-4848-85CA-2FFA31942568}" type="datetime1">
              <a:rPr lang="tr-TR" smtClean="0"/>
              <a:t>23.11.2020</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DE121D1B-9491-4A5F-BD01-A1B3B0B623A2}" type="slidenum">
              <a:rPr lang="tr-TR" smtClean="0"/>
              <a:pPr/>
              <a:t>‹#›</a:t>
            </a:fld>
            <a:endParaRPr lang="tr-TR"/>
          </a:p>
        </p:txBody>
      </p:sp>
      <p:sp>
        <p:nvSpPr>
          <p:cNvPr id="9" name="8 İçerik Yer Tutucusu"/>
          <p:cNvSpPr>
            <a:spLocks noGrp="1"/>
          </p:cNvSpPr>
          <p:nvPr>
            <p:ph sz="quarter" idx="1"/>
          </p:nvPr>
        </p:nvSpPr>
        <p:spPr>
          <a:xfrm>
            <a:off x="457200" y="1600200"/>
            <a:ext cx="3657600" cy="4572000"/>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11" name="10 İçerik Yer Tutucusu"/>
          <p:cNvSpPr>
            <a:spLocks noGrp="1"/>
          </p:cNvSpPr>
          <p:nvPr>
            <p:ph sz="quarter" idx="2"/>
          </p:nvPr>
        </p:nvSpPr>
        <p:spPr>
          <a:xfrm>
            <a:off x="4270248" y="1600200"/>
            <a:ext cx="3657600" cy="4572000"/>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3050"/>
            <a:ext cx="7543800" cy="1143000"/>
          </a:xfrm>
        </p:spPr>
        <p:txBody>
          <a:bodyPr anchor="b"/>
          <a:lstStyle>
            <a:lvl1pPr>
              <a:defRPr/>
            </a:lvl1pPr>
          </a:lstStyle>
          <a:p>
            <a:r>
              <a:rPr kumimoji="0" lang="tr-TR"/>
              <a:t>Asıl başlık stili için tıklatın</a:t>
            </a:r>
            <a:endParaRPr kumimoji="0" lang="en-US"/>
          </a:p>
        </p:txBody>
      </p:sp>
      <p:sp>
        <p:nvSpPr>
          <p:cNvPr id="7" name="6 Veri Yer Tutucusu"/>
          <p:cNvSpPr>
            <a:spLocks noGrp="1"/>
          </p:cNvSpPr>
          <p:nvPr>
            <p:ph type="dt" sz="half" idx="10"/>
          </p:nvPr>
        </p:nvSpPr>
        <p:spPr/>
        <p:txBody>
          <a:bodyPr/>
          <a:lstStyle/>
          <a:p>
            <a:fld id="{5F0F2696-49BD-49B7-870B-61F0042AE0DB}" type="datetime1">
              <a:rPr lang="tr-TR" smtClean="0"/>
              <a:t>23.11.2020</a:t>
            </a:fld>
            <a:endParaRPr lang="tr-TR"/>
          </a:p>
        </p:txBody>
      </p:sp>
      <p:sp>
        <p:nvSpPr>
          <p:cNvPr id="8" name="7 Altbilgi Yer Tutucusu"/>
          <p:cNvSpPr>
            <a:spLocks noGrp="1"/>
          </p:cNvSpPr>
          <p:nvPr>
            <p:ph type="ftr" sz="quarter" idx="11"/>
          </p:nvPr>
        </p:nvSpPr>
        <p:spPr/>
        <p:txBody>
          <a:bodyPr/>
          <a:lstStyle/>
          <a:p>
            <a:endParaRPr lang="tr-TR"/>
          </a:p>
        </p:txBody>
      </p:sp>
      <p:sp>
        <p:nvSpPr>
          <p:cNvPr id="9" name="8 Slayt Numarası Yer Tutucusu"/>
          <p:cNvSpPr>
            <a:spLocks noGrp="1"/>
          </p:cNvSpPr>
          <p:nvPr>
            <p:ph type="sldNum" sz="quarter" idx="12"/>
          </p:nvPr>
        </p:nvSpPr>
        <p:spPr/>
        <p:txBody>
          <a:bodyPr/>
          <a:lstStyle/>
          <a:p>
            <a:fld id="{DE121D1B-9491-4A5F-BD01-A1B3B0B623A2}" type="slidenum">
              <a:rPr lang="tr-TR" smtClean="0"/>
              <a:pPr/>
              <a:t>‹#›</a:t>
            </a:fld>
            <a:endParaRPr lang="tr-TR"/>
          </a:p>
        </p:txBody>
      </p:sp>
      <p:sp>
        <p:nvSpPr>
          <p:cNvPr id="11" name="10 İçerik Yer Tutucusu"/>
          <p:cNvSpPr>
            <a:spLocks noGrp="1"/>
          </p:cNvSpPr>
          <p:nvPr>
            <p:ph sz="quarter" idx="2"/>
          </p:nvPr>
        </p:nvSpPr>
        <p:spPr>
          <a:xfrm>
            <a:off x="457200" y="2362200"/>
            <a:ext cx="3657600" cy="3886200"/>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13" name="12 İçerik Yer Tutucusu"/>
          <p:cNvSpPr>
            <a:spLocks noGrp="1"/>
          </p:cNvSpPr>
          <p:nvPr>
            <p:ph sz="quarter" idx="4"/>
          </p:nvPr>
        </p:nvSpPr>
        <p:spPr>
          <a:xfrm>
            <a:off x="4371975" y="2362200"/>
            <a:ext cx="3657600" cy="3886200"/>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12" name="11 Metin Yer Tutucusu"/>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tr-TR"/>
              <a:t>Asıl metin stillerini düzenlemek için tıklatın</a:t>
            </a:r>
          </a:p>
        </p:txBody>
      </p:sp>
      <p:sp>
        <p:nvSpPr>
          <p:cNvPr id="14" name="13 Metin Yer Tutucusu"/>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tr-TR"/>
              <a:t>Asıl metin stillerini düzenlemek için tıklatın</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kumimoji="0" lang="tr-TR"/>
              <a:t>Asıl başlık stili için tıklatın</a:t>
            </a:r>
            <a:endParaRPr kumimoji="0" lang="en-US"/>
          </a:p>
        </p:txBody>
      </p:sp>
      <p:sp>
        <p:nvSpPr>
          <p:cNvPr id="6" name="5 Veri Yer Tutucusu"/>
          <p:cNvSpPr>
            <a:spLocks noGrp="1"/>
          </p:cNvSpPr>
          <p:nvPr>
            <p:ph type="dt" sz="half" idx="10"/>
          </p:nvPr>
        </p:nvSpPr>
        <p:spPr/>
        <p:txBody>
          <a:bodyPr rtlCol="0"/>
          <a:lstStyle/>
          <a:p>
            <a:fld id="{8451CD09-A8DF-49F8-8528-5C0A35A50562}" type="datetime1">
              <a:rPr lang="tr-TR" smtClean="0"/>
              <a:t>23.11.2020</a:t>
            </a:fld>
            <a:endParaRPr lang="tr-TR"/>
          </a:p>
        </p:txBody>
      </p:sp>
      <p:sp>
        <p:nvSpPr>
          <p:cNvPr id="7" name="6 Slayt Numarası Yer Tutucusu"/>
          <p:cNvSpPr>
            <a:spLocks noGrp="1"/>
          </p:cNvSpPr>
          <p:nvPr>
            <p:ph type="sldNum" sz="quarter" idx="11"/>
          </p:nvPr>
        </p:nvSpPr>
        <p:spPr/>
        <p:txBody>
          <a:bodyPr rtlCol="0"/>
          <a:lstStyle/>
          <a:p>
            <a:fld id="{DE121D1B-9491-4A5F-BD01-A1B3B0B623A2}" type="slidenum">
              <a:rPr lang="tr-TR" smtClean="0"/>
              <a:pPr/>
              <a:t>‹#›</a:t>
            </a:fld>
            <a:endParaRPr lang="tr-TR"/>
          </a:p>
        </p:txBody>
      </p:sp>
      <p:sp>
        <p:nvSpPr>
          <p:cNvPr id="8" name="7 Altbilgi Yer Tutucusu"/>
          <p:cNvSpPr>
            <a:spLocks noGrp="1"/>
          </p:cNvSpPr>
          <p:nvPr>
            <p:ph type="ftr" sz="quarter" idx="12"/>
          </p:nvPr>
        </p:nvSpPr>
        <p:spPr/>
        <p:txBody>
          <a:bodyPr rtlCol="0"/>
          <a:lstStyle/>
          <a:p>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1 Veri Yer Tutucusu"/>
          <p:cNvSpPr>
            <a:spLocks noGrp="1"/>
          </p:cNvSpPr>
          <p:nvPr>
            <p:ph type="dt" sz="half" idx="10"/>
          </p:nvPr>
        </p:nvSpPr>
        <p:spPr/>
        <p:txBody>
          <a:bodyPr/>
          <a:lstStyle/>
          <a:p>
            <a:fld id="{EB691C94-E58A-43B5-AAB1-9CD9F36DD72A}" type="datetime1">
              <a:rPr lang="tr-TR" smtClean="0"/>
              <a:t>23.11.2020</a:t>
            </a:fld>
            <a:endParaRPr lang="tr-TR"/>
          </a:p>
        </p:txBody>
      </p:sp>
      <p:sp>
        <p:nvSpPr>
          <p:cNvPr id="3" name="2 Altbilgi Yer Tutucusu"/>
          <p:cNvSpPr>
            <a:spLocks noGrp="1"/>
          </p:cNvSpPr>
          <p:nvPr>
            <p:ph type="ftr" sz="quarter" idx="11"/>
          </p:nvPr>
        </p:nvSpPr>
        <p:spPr/>
        <p:txBody>
          <a:bodyPr/>
          <a:lstStyle/>
          <a:p>
            <a:endParaRPr lang="tr-TR"/>
          </a:p>
        </p:txBody>
      </p:sp>
      <p:sp>
        <p:nvSpPr>
          <p:cNvPr id="4" name="3 Slayt Numarası Yer Tutucusu"/>
          <p:cNvSpPr>
            <a:spLocks noGrp="1"/>
          </p:cNvSpPr>
          <p:nvPr>
            <p:ph type="sldNum" sz="quarter" idx="12"/>
          </p:nvPr>
        </p:nvSpPr>
        <p:spPr/>
        <p:txBody>
          <a:bodyPr/>
          <a:lstStyle/>
          <a:p>
            <a:fld id="{DE121D1B-9491-4A5F-BD01-A1B3B0B623A2}" type="slidenum">
              <a:rPr lang="tr-TR" smtClean="0"/>
              <a:pPr/>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Başlıklı İçerik">
    <p:bg>
      <p:bgRef idx="1001">
        <a:schemeClr val="bg1"/>
      </p:bgRef>
    </p:bg>
    <p:spTree>
      <p:nvGrpSpPr>
        <p:cNvPr id="1" name=""/>
        <p:cNvGrpSpPr/>
        <p:nvPr/>
      </p:nvGrpSpPr>
      <p:grpSpPr>
        <a:xfrm>
          <a:off x="0" y="0"/>
          <a:ext cx="0" cy="0"/>
          <a:chOff x="0" y="0"/>
          <a:chExt cx="0" cy="0"/>
        </a:xfrm>
      </p:grpSpPr>
      <p:sp>
        <p:nvSpPr>
          <p:cNvPr id="10" name="9 Düz Bağlayıcı"/>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1 Başlık"/>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tr-TR"/>
              <a:t>Asıl başlık stili için tıklatın</a:t>
            </a:r>
            <a:endParaRPr kumimoji="0" lang="en-US"/>
          </a:p>
        </p:txBody>
      </p:sp>
      <p:sp>
        <p:nvSpPr>
          <p:cNvPr id="3" name="2 Metin Yer Tutucusu"/>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tr-TR"/>
              <a:t>Asıl metin stillerini düzenlemek için tıklatın</a:t>
            </a:r>
          </a:p>
        </p:txBody>
      </p:sp>
      <p:sp>
        <p:nvSpPr>
          <p:cNvPr id="8" name="7 Düz Bağlayıcı"/>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8 Düz Bağlayıcı"/>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10 Düz Bağlayıcı"/>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11 Dikdörtgen"/>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12 Düz Bağlayıcı"/>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13 Oval"/>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17 İçerik Yer Tutucusu"/>
          <p:cNvSpPr>
            <a:spLocks noGrp="1"/>
          </p:cNvSpPr>
          <p:nvPr>
            <p:ph sz="quarter" idx="1"/>
          </p:nvPr>
        </p:nvSpPr>
        <p:spPr>
          <a:xfrm>
            <a:off x="304800" y="274320"/>
            <a:ext cx="5638800" cy="6327648"/>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21" name="20 Veri Yer Tutucusu"/>
          <p:cNvSpPr>
            <a:spLocks noGrp="1"/>
          </p:cNvSpPr>
          <p:nvPr>
            <p:ph type="dt" sz="half" idx="14"/>
          </p:nvPr>
        </p:nvSpPr>
        <p:spPr/>
        <p:txBody>
          <a:bodyPr rtlCol="0"/>
          <a:lstStyle/>
          <a:p>
            <a:fld id="{2A18CDB5-35C5-4392-B161-325FA3E18DC3}" type="datetime1">
              <a:rPr lang="tr-TR" smtClean="0"/>
              <a:t>23.11.2020</a:t>
            </a:fld>
            <a:endParaRPr lang="tr-TR"/>
          </a:p>
        </p:txBody>
      </p:sp>
      <p:sp>
        <p:nvSpPr>
          <p:cNvPr id="22" name="21 Slayt Numarası Yer Tutucusu"/>
          <p:cNvSpPr>
            <a:spLocks noGrp="1"/>
          </p:cNvSpPr>
          <p:nvPr>
            <p:ph type="sldNum" sz="quarter" idx="15"/>
          </p:nvPr>
        </p:nvSpPr>
        <p:spPr/>
        <p:txBody>
          <a:bodyPr rtlCol="0"/>
          <a:lstStyle/>
          <a:p>
            <a:fld id="{DE121D1B-9491-4A5F-BD01-A1B3B0B623A2}" type="slidenum">
              <a:rPr lang="tr-TR" smtClean="0"/>
              <a:pPr/>
              <a:t>‹#›</a:t>
            </a:fld>
            <a:endParaRPr lang="tr-TR"/>
          </a:p>
        </p:txBody>
      </p:sp>
      <p:sp>
        <p:nvSpPr>
          <p:cNvPr id="23" name="22 Altbilgi Yer Tutucusu"/>
          <p:cNvSpPr>
            <a:spLocks noGrp="1"/>
          </p:cNvSpPr>
          <p:nvPr>
            <p:ph type="ftr" sz="quarter" idx="16"/>
          </p:nvPr>
        </p:nvSpPr>
        <p:spPr/>
        <p:txBody>
          <a:bodyPr rtlCol="0"/>
          <a:lstStyle/>
          <a:p>
            <a:endParaRPr lang="tr-TR"/>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9" name="8 Düz Bağlayıcı"/>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12 Oval"/>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1 Başlık"/>
          <p:cNvSpPr>
            <a:spLocks noGrp="1"/>
          </p:cNvSpPr>
          <p:nvPr>
            <p:ph type="title"/>
          </p:nvPr>
        </p:nvSpPr>
        <p:spPr>
          <a:xfrm rot="5400000">
            <a:off x="3350133" y="3200400"/>
            <a:ext cx="6309360" cy="457200"/>
          </a:xfrm>
        </p:spPr>
        <p:txBody>
          <a:bodyPr anchor="b"/>
          <a:lstStyle>
            <a:lvl1pPr algn="l">
              <a:buNone/>
              <a:defRPr sz="2000" b="1"/>
            </a:lvl1pPr>
          </a:lstStyle>
          <a:p>
            <a:r>
              <a:rPr kumimoji="0" lang="tr-TR"/>
              <a:t>Asıl başlık stili için tıklatın</a:t>
            </a:r>
            <a:endParaRPr kumimoji="0" lang="en-US"/>
          </a:p>
        </p:txBody>
      </p:sp>
      <p:sp>
        <p:nvSpPr>
          <p:cNvPr id="3" name="2 Resim Yer Tutucusu"/>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tr-TR"/>
              <a:t>Resim eklemek için simgeyi tıklatın</a:t>
            </a:r>
            <a:endParaRPr kumimoji="0" lang="en-US" dirty="0"/>
          </a:p>
        </p:txBody>
      </p:sp>
      <p:sp>
        <p:nvSpPr>
          <p:cNvPr id="4" name="3 Metin Yer Tutucusu"/>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tr-TR"/>
              <a:t>Asıl metin stillerini düzenlemek için tıklatın</a:t>
            </a:r>
          </a:p>
        </p:txBody>
      </p:sp>
      <p:sp>
        <p:nvSpPr>
          <p:cNvPr id="10" name="9 Düz Bağlayıcı"/>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10 Dikdörtgen"/>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Düz Bağlayıcı"/>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18 Düz Bağlayıcı"/>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19 Düz Bağlayıcı"/>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16 Veri Yer Tutucusu"/>
          <p:cNvSpPr>
            <a:spLocks noGrp="1"/>
          </p:cNvSpPr>
          <p:nvPr>
            <p:ph type="dt" sz="half" idx="10"/>
          </p:nvPr>
        </p:nvSpPr>
        <p:spPr/>
        <p:txBody>
          <a:bodyPr rtlCol="0"/>
          <a:lstStyle/>
          <a:p>
            <a:fld id="{82763EF9-8C7B-40A2-81BB-789A43B8E2A7}" type="datetime1">
              <a:rPr lang="tr-TR" smtClean="0"/>
              <a:t>23.11.2020</a:t>
            </a:fld>
            <a:endParaRPr lang="tr-TR"/>
          </a:p>
        </p:txBody>
      </p:sp>
      <p:sp>
        <p:nvSpPr>
          <p:cNvPr id="18" name="17 Slayt Numarası Yer Tutucusu"/>
          <p:cNvSpPr>
            <a:spLocks noGrp="1"/>
          </p:cNvSpPr>
          <p:nvPr>
            <p:ph type="sldNum" sz="quarter" idx="11"/>
          </p:nvPr>
        </p:nvSpPr>
        <p:spPr/>
        <p:txBody>
          <a:bodyPr rtlCol="0"/>
          <a:lstStyle/>
          <a:p>
            <a:fld id="{DE121D1B-9491-4A5F-BD01-A1B3B0B623A2}" type="slidenum">
              <a:rPr lang="tr-TR" smtClean="0"/>
              <a:pPr/>
              <a:t>‹#›</a:t>
            </a:fld>
            <a:endParaRPr lang="tr-TR"/>
          </a:p>
        </p:txBody>
      </p:sp>
      <p:sp>
        <p:nvSpPr>
          <p:cNvPr id="21" name="20 Altbilgi Yer Tutucusu"/>
          <p:cNvSpPr>
            <a:spLocks noGrp="1"/>
          </p:cNvSpPr>
          <p:nvPr>
            <p:ph type="ftr" sz="quarter" idx="12"/>
          </p:nvPr>
        </p:nvSpPr>
        <p:spPr/>
        <p:txBody>
          <a:bodyPr rtlCol="0"/>
          <a:lstStyle/>
          <a:p>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kumimoji="0" lang="tr-TR"/>
              <a:t>Asıl başlık stili için tıklatın</a:t>
            </a:r>
            <a:endParaRPr kumimoji="0" lang="en-US"/>
          </a:p>
        </p:txBody>
      </p:sp>
      <p:sp>
        <p:nvSpPr>
          <p:cNvPr id="3" name="2 Dikey Metin Yer Tutucusu"/>
          <p:cNvSpPr>
            <a:spLocks noGrp="1"/>
          </p:cNvSpPr>
          <p:nvPr>
            <p:ph type="body" orient="vert" idx="1"/>
          </p:nvPr>
        </p:nvSpPr>
        <p:spPr/>
        <p:txBody>
          <a:bodyPr vert="eaVert"/>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4" name="3 Veri Yer Tutucusu"/>
          <p:cNvSpPr>
            <a:spLocks noGrp="1"/>
          </p:cNvSpPr>
          <p:nvPr>
            <p:ph type="dt" sz="half" idx="10"/>
          </p:nvPr>
        </p:nvSpPr>
        <p:spPr/>
        <p:txBody>
          <a:bodyPr/>
          <a:lstStyle/>
          <a:p>
            <a:fld id="{1254B87F-80D3-4B89-8E7A-FA2EED8BD7A5}" type="datetime1">
              <a:rPr lang="tr-TR" smtClean="0"/>
              <a:t>23.11.2020</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DE121D1B-9491-4A5F-BD01-A1B3B0B623A2}" type="slidenum">
              <a:rPr lang="tr-TR" smtClean="0"/>
              <a:pPr/>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1 Dikey Başlık"/>
          <p:cNvSpPr>
            <a:spLocks noGrp="1"/>
          </p:cNvSpPr>
          <p:nvPr>
            <p:ph type="title" orient="vert"/>
          </p:nvPr>
        </p:nvSpPr>
        <p:spPr>
          <a:xfrm>
            <a:off x="6629400" y="274639"/>
            <a:ext cx="1676400" cy="5851525"/>
          </a:xfrm>
        </p:spPr>
        <p:txBody>
          <a:bodyPr vert="eaVert"/>
          <a:lstStyle/>
          <a:p>
            <a:r>
              <a:rPr kumimoji="0" lang="tr-TR"/>
              <a:t>Asıl başlık stili için tıklatın</a:t>
            </a:r>
            <a:endParaRPr kumimoji="0" lang="en-US"/>
          </a:p>
        </p:txBody>
      </p:sp>
      <p:sp>
        <p:nvSpPr>
          <p:cNvPr id="3" name="2 Dikey Metin Yer Tutucusu"/>
          <p:cNvSpPr>
            <a:spLocks noGrp="1"/>
          </p:cNvSpPr>
          <p:nvPr>
            <p:ph type="body" orient="vert" idx="1"/>
          </p:nvPr>
        </p:nvSpPr>
        <p:spPr>
          <a:xfrm>
            <a:off x="457200" y="274638"/>
            <a:ext cx="6019800" cy="5851525"/>
          </a:xfrm>
        </p:spPr>
        <p:txBody>
          <a:bodyPr vert="eaVert"/>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4" name="3 Veri Yer Tutucusu"/>
          <p:cNvSpPr>
            <a:spLocks noGrp="1"/>
          </p:cNvSpPr>
          <p:nvPr>
            <p:ph type="dt" sz="half" idx="10"/>
          </p:nvPr>
        </p:nvSpPr>
        <p:spPr/>
        <p:txBody>
          <a:bodyPr/>
          <a:lstStyle/>
          <a:p>
            <a:fld id="{C3CD87DE-69B0-4BAD-A937-F2DCE546BFD7}" type="datetime1">
              <a:rPr lang="tr-TR" smtClean="0"/>
              <a:t>23.11.2020</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DE121D1B-9491-4A5F-BD01-A1B3B0B623A2}" type="slidenum">
              <a:rPr lang="tr-TR" smtClean="0"/>
              <a:pPr/>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15 Düz Bağlayıcı"/>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21 Başlık Yer Tutucusu"/>
          <p:cNvSpPr>
            <a:spLocks noGrp="1"/>
          </p:cNvSpPr>
          <p:nvPr>
            <p:ph type="title"/>
          </p:nvPr>
        </p:nvSpPr>
        <p:spPr>
          <a:xfrm>
            <a:off x="457200" y="274638"/>
            <a:ext cx="7467600" cy="1143000"/>
          </a:xfrm>
          <a:prstGeom prst="rect">
            <a:avLst/>
          </a:prstGeom>
        </p:spPr>
        <p:txBody>
          <a:bodyPr vert="horz" anchor="b">
            <a:normAutofit/>
          </a:bodyPr>
          <a:lstStyle/>
          <a:p>
            <a:r>
              <a:rPr kumimoji="0" lang="tr-TR"/>
              <a:t>Asıl başlık stili için tıklatın</a:t>
            </a:r>
            <a:endParaRPr kumimoji="0" lang="en-US"/>
          </a:p>
        </p:txBody>
      </p:sp>
      <p:sp>
        <p:nvSpPr>
          <p:cNvPr id="13" name="12 Metin Yer Tutucusu"/>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tr-TR"/>
              <a:t>Asıl metin stillerini düzenlemek için tıklatın</a:t>
            </a:r>
          </a:p>
          <a:p>
            <a:pPr lvl="1" eaLnBrk="1" latinLnBrk="0" hangingPunct="1"/>
            <a:r>
              <a:rPr kumimoji="0" lang="tr-TR"/>
              <a:t>İkinci düzey</a:t>
            </a:r>
          </a:p>
          <a:p>
            <a:pPr lvl="2" eaLnBrk="1" latinLnBrk="0" hangingPunct="1"/>
            <a:r>
              <a:rPr kumimoji="0" lang="tr-TR"/>
              <a:t>Üçüncü düzey</a:t>
            </a:r>
          </a:p>
          <a:p>
            <a:pPr lvl="3" eaLnBrk="1" latinLnBrk="0" hangingPunct="1"/>
            <a:r>
              <a:rPr kumimoji="0" lang="tr-TR"/>
              <a:t>Dördüncü düzey</a:t>
            </a:r>
          </a:p>
          <a:p>
            <a:pPr lvl="4" eaLnBrk="1" latinLnBrk="0" hangingPunct="1"/>
            <a:r>
              <a:rPr kumimoji="0" lang="tr-TR"/>
              <a:t>Beşinci düzey</a:t>
            </a:r>
            <a:endParaRPr kumimoji="0" lang="en-US"/>
          </a:p>
        </p:txBody>
      </p:sp>
      <p:sp>
        <p:nvSpPr>
          <p:cNvPr id="14" name="13 Veri Yer Tutucusu"/>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EEC7E1F2-290D-48B4-B19D-0927333BE67A}" type="datetime1">
              <a:rPr lang="tr-TR" smtClean="0"/>
              <a:t>23.11.2020</a:t>
            </a:fld>
            <a:endParaRPr lang="tr-TR"/>
          </a:p>
        </p:txBody>
      </p:sp>
      <p:sp>
        <p:nvSpPr>
          <p:cNvPr id="3" name="2 Altbilgi Yer Tutucusu"/>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tr-TR"/>
          </a:p>
        </p:txBody>
      </p:sp>
      <p:sp>
        <p:nvSpPr>
          <p:cNvPr id="7" name="6 Düz Bağlayıcı"/>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8 Düz Bağlayıcı"/>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9 Dikdörtgen"/>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Düz Bağlayıcı"/>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11 Oval"/>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22 Slayt Numarası Yer Tutucusu"/>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DE121D1B-9491-4A5F-BD01-A1B3B0B623A2}" type="slidenum">
              <a:rPr lang="tr-TR" smtClean="0"/>
              <a:pPr/>
              <a:t>‹#›</a:t>
            </a:fld>
            <a:endParaRPr lang="tr-TR"/>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Başlık"/>
          <p:cNvSpPr>
            <a:spLocks noGrp="1"/>
          </p:cNvSpPr>
          <p:nvPr>
            <p:ph type="ctrTitle"/>
          </p:nvPr>
        </p:nvSpPr>
        <p:spPr>
          <a:xfrm>
            <a:off x="928662" y="1357298"/>
            <a:ext cx="7772400" cy="1171583"/>
          </a:xfrm>
        </p:spPr>
        <p:txBody>
          <a:bodyPr>
            <a:normAutofit/>
          </a:bodyPr>
          <a:lstStyle/>
          <a:p>
            <a:pPr algn="ctr"/>
            <a:r>
              <a:rPr lang="tr-TR" sz="3200" dirty="0"/>
              <a:t>UZAKTAN EĞİTİM TEKNOLOJİLERİ</a:t>
            </a:r>
          </a:p>
        </p:txBody>
      </p:sp>
      <p:sp>
        <p:nvSpPr>
          <p:cNvPr id="5" name="4 Alt Başlık"/>
          <p:cNvSpPr>
            <a:spLocks noGrp="1"/>
          </p:cNvSpPr>
          <p:nvPr>
            <p:ph type="subTitle" idx="1"/>
          </p:nvPr>
        </p:nvSpPr>
        <p:spPr>
          <a:xfrm>
            <a:off x="1371600" y="3714752"/>
            <a:ext cx="6915176" cy="2643206"/>
          </a:xfrm>
        </p:spPr>
        <p:txBody>
          <a:bodyPr>
            <a:normAutofit fontScale="92500" lnSpcReduction="10000"/>
          </a:bodyPr>
          <a:lstStyle/>
          <a:p>
            <a:pPr algn="ctr"/>
            <a:r>
              <a:rPr lang="tr-TR" sz="2200" b="0" dirty="0"/>
              <a:t>Prof. Dr. Tuncay YİĞİT</a:t>
            </a:r>
          </a:p>
          <a:p>
            <a:pPr algn="ctr"/>
            <a:r>
              <a:rPr lang="tr-TR" sz="2200" b="0" dirty="0"/>
              <a:t>Süleyman Demirel Üniversitesi</a:t>
            </a:r>
          </a:p>
          <a:p>
            <a:pPr algn="ctr"/>
            <a:r>
              <a:rPr lang="tr-TR" sz="2200" b="0" dirty="0"/>
              <a:t>Bilgisayar Mühendisliği Bölümü</a:t>
            </a:r>
          </a:p>
          <a:p>
            <a:pPr algn="ctr"/>
            <a:endParaRPr lang="tr-TR" sz="2200" b="0" dirty="0"/>
          </a:p>
          <a:p>
            <a:pPr algn="ctr"/>
            <a:endParaRPr lang="tr-TR" sz="2200" b="0" dirty="0"/>
          </a:p>
          <a:p>
            <a:pPr algn="ctr"/>
            <a:endParaRPr lang="tr-TR" sz="2000" b="0" dirty="0"/>
          </a:p>
          <a:p>
            <a:pPr algn="ctr"/>
            <a:r>
              <a:rPr lang="tr-TR" sz="2000" b="0" dirty="0"/>
              <a:t>ISPARTA - 2020</a:t>
            </a:r>
          </a:p>
        </p:txBody>
      </p:sp>
      <p:sp>
        <p:nvSpPr>
          <p:cNvPr id="3" name="Slayt Numarası Yer Tutucusu 2"/>
          <p:cNvSpPr>
            <a:spLocks noGrp="1"/>
          </p:cNvSpPr>
          <p:nvPr>
            <p:ph type="sldNum" sz="quarter" idx="12"/>
          </p:nvPr>
        </p:nvSpPr>
        <p:spPr/>
        <p:txBody>
          <a:bodyPr/>
          <a:lstStyle/>
          <a:p>
            <a:fld id="{DE121D1B-9491-4A5F-BD01-A1B3B0B623A2}" type="slidenum">
              <a:rPr lang="tr-TR" smtClean="0"/>
              <a:pPr/>
              <a:t>1</a:t>
            </a:fld>
            <a:endParaRPr lang="tr-T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İLETİŞİM</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2</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8" name="Rectangle 7">
            <a:extLst>
              <a:ext uri="{FF2B5EF4-FFF2-40B4-BE49-F238E27FC236}">
                <a16:creationId xmlns:a16="http://schemas.microsoft.com/office/drawing/2014/main" id="{755116D7-E5C9-9640-93DB-E681DBD5C7EA}"/>
              </a:ext>
            </a:extLst>
          </p:cNvPr>
          <p:cNvSpPr/>
          <p:nvPr/>
        </p:nvSpPr>
        <p:spPr>
          <a:xfrm>
            <a:off x="468964" y="2431224"/>
            <a:ext cx="7660051" cy="1475853"/>
          </a:xfrm>
          <a:prstGeom prst="rect">
            <a:avLst/>
          </a:prstGeom>
        </p:spPr>
        <p:txBody>
          <a:bodyPr wrap="square">
            <a:spAutoFit/>
          </a:bodyPr>
          <a:lstStyle/>
          <a:p>
            <a:pPr eaLnBrk="0" hangingPunct="0">
              <a:lnSpc>
                <a:spcPct val="130000"/>
              </a:lnSpc>
            </a:pPr>
            <a:r>
              <a:rPr lang="tr-TR" altLang="en-TR" sz="2400" dirty="0">
                <a:latin typeface="Tahoma" panose="020B0604030504040204" pitchFamily="34" charset="0"/>
              </a:rPr>
              <a:t>Sözel ve görsel bilgilerin, iki sistem arasındaki akışı olarak tanımlayabileceğimiz </a:t>
            </a:r>
            <a:r>
              <a:rPr lang="tr-TR" altLang="en-TR" sz="2400" b="1" dirty="0">
                <a:latin typeface="Tahoma" panose="020B0604030504040204" pitchFamily="34" charset="0"/>
              </a:rPr>
              <a:t>iletişim</a:t>
            </a:r>
            <a:r>
              <a:rPr lang="tr-TR" altLang="en-TR" sz="2400" dirty="0">
                <a:latin typeface="Tahoma" panose="020B0604030504040204" pitchFamily="34" charset="0"/>
              </a:rPr>
              <a:t>, insanı uzak ve yakın çevresine bağlayan bir halkadır. </a:t>
            </a:r>
          </a:p>
        </p:txBody>
      </p:sp>
      <p:sp>
        <p:nvSpPr>
          <p:cNvPr id="9" name="Rectangle 3">
            <a:extLst>
              <a:ext uri="{FF2B5EF4-FFF2-40B4-BE49-F238E27FC236}">
                <a16:creationId xmlns:a16="http://schemas.microsoft.com/office/drawing/2014/main" id="{89A21F2C-5ECD-F541-A807-C102695A57CB}"/>
              </a:ext>
            </a:extLst>
          </p:cNvPr>
          <p:cNvSpPr>
            <a:spLocks noGrp="1" noChangeArrowheads="1"/>
          </p:cNvSpPr>
          <p:nvPr>
            <p:ph sz="quarter" idx="1"/>
          </p:nvPr>
        </p:nvSpPr>
        <p:spPr>
          <a:xfrm>
            <a:off x="457200" y="1556792"/>
            <a:ext cx="7772400" cy="1008108"/>
          </a:xfrm>
        </p:spPr>
        <p:txBody>
          <a:bodyPr/>
          <a:lstStyle/>
          <a:p>
            <a:pPr eaLnBrk="0" hangingPunct="0">
              <a:spcBef>
                <a:spcPct val="50000"/>
              </a:spcBef>
            </a:pPr>
            <a:r>
              <a:rPr lang="tr-TR" altLang="en-TR" dirty="0"/>
              <a:t>İletişim Nedir?</a:t>
            </a:r>
          </a:p>
        </p:txBody>
      </p:sp>
      <p:sp>
        <p:nvSpPr>
          <p:cNvPr id="10" name="AutoShape 4">
            <a:extLst>
              <a:ext uri="{FF2B5EF4-FFF2-40B4-BE49-F238E27FC236}">
                <a16:creationId xmlns:a16="http://schemas.microsoft.com/office/drawing/2014/main" id="{5CBAC100-EB19-E144-A26D-C9D926C07E06}"/>
              </a:ext>
            </a:extLst>
          </p:cNvPr>
          <p:cNvSpPr>
            <a:spLocks noChangeArrowheads="1"/>
          </p:cNvSpPr>
          <p:nvPr/>
        </p:nvSpPr>
        <p:spPr bwMode="auto">
          <a:xfrm rot="20960297">
            <a:off x="1290569" y="4764431"/>
            <a:ext cx="2160588" cy="719138"/>
          </a:xfrm>
          <a:custGeom>
            <a:avLst/>
            <a:gdLst>
              <a:gd name="G0" fmla="+- 2393 0 0"/>
              <a:gd name="G1" fmla="+- 21600 0 2393"/>
              <a:gd name="G2" fmla="+- 21600 0 2393"/>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393" y="10800"/>
                </a:moveTo>
                <a:cubicBezTo>
                  <a:pt x="2393" y="15443"/>
                  <a:pt x="6157" y="19207"/>
                  <a:pt x="10800" y="19207"/>
                </a:cubicBezTo>
                <a:cubicBezTo>
                  <a:pt x="15443" y="19207"/>
                  <a:pt x="19207" y="15443"/>
                  <a:pt x="19207" y="10800"/>
                </a:cubicBezTo>
                <a:cubicBezTo>
                  <a:pt x="19207" y="6157"/>
                  <a:pt x="15443" y="2393"/>
                  <a:pt x="10800" y="2393"/>
                </a:cubicBezTo>
                <a:cubicBezTo>
                  <a:pt x="6157" y="2393"/>
                  <a:pt x="2393" y="6157"/>
                  <a:pt x="2393" y="10800"/>
                </a:cubicBezTo>
                <a:close/>
              </a:path>
            </a:pathLst>
          </a:custGeom>
          <a:solidFill>
            <a:srgbClr val="96969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12" name="AutoShape 5">
            <a:extLst>
              <a:ext uri="{FF2B5EF4-FFF2-40B4-BE49-F238E27FC236}">
                <a16:creationId xmlns:a16="http://schemas.microsoft.com/office/drawing/2014/main" id="{72C6984A-EC12-A14C-8107-511493291D80}"/>
              </a:ext>
            </a:extLst>
          </p:cNvPr>
          <p:cNvSpPr>
            <a:spLocks noChangeArrowheads="1"/>
          </p:cNvSpPr>
          <p:nvPr/>
        </p:nvSpPr>
        <p:spPr bwMode="auto">
          <a:xfrm>
            <a:off x="3235257" y="4618381"/>
            <a:ext cx="1944687" cy="720725"/>
          </a:xfrm>
          <a:custGeom>
            <a:avLst/>
            <a:gdLst>
              <a:gd name="G0" fmla="+- 2393 0 0"/>
              <a:gd name="G1" fmla="+- 21600 0 2393"/>
              <a:gd name="G2" fmla="+- 21600 0 2393"/>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393" y="10800"/>
                </a:moveTo>
                <a:cubicBezTo>
                  <a:pt x="2393" y="15443"/>
                  <a:pt x="6157" y="19207"/>
                  <a:pt x="10800" y="19207"/>
                </a:cubicBezTo>
                <a:cubicBezTo>
                  <a:pt x="15443" y="19207"/>
                  <a:pt x="19207" y="15443"/>
                  <a:pt x="19207" y="10800"/>
                </a:cubicBezTo>
                <a:cubicBezTo>
                  <a:pt x="19207" y="6157"/>
                  <a:pt x="15443" y="2393"/>
                  <a:pt x="10800" y="2393"/>
                </a:cubicBezTo>
                <a:cubicBezTo>
                  <a:pt x="6157" y="2393"/>
                  <a:pt x="2393" y="6157"/>
                  <a:pt x="2393" y="10800"/>
                </a:cubicBezTo>
                <a:close/>
              </a:path>
            </a:pathLst>
          </a:custGeom>
          <a:solidFill>
            <a:srgbClr val="A5002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13" name="AutoShape 6">
            <a:extLst>
              <a:ext uri="{FF2B5EF4-FFF2-40B4-BE49-F238E27FC236}">
                <a16:creationId xmlns:a16="http://schemas.microsoft.com/office/drawing/2014/main" id="{859CF867-D4F9-EF4D-968C-A27E623F9A8A}"/>
              </a:ext>
            </a:extLst>
          </p:cNvPr>
          <p:cNvSpPr>
            <a:spLocks noChangeArrowheads="1"/>
          </p:cNvSpPr>
          <p:nvPr/>
        </p:nvSpPr>
        <p:spPr bwMode="auto">
          <a:xfrm rot="607740">
            <a:off x="4964044" y="4764431"/>
            <a:ext cx="1944688" cy="720725"/>
          </a:xfrm>
          <a:custGeom>
            <a:avLst/>
            <a:gdLst>
              <a:gd name="G0" fmla="+- 2393 0 0"/>
              <a:gd name="G1" fmla="+- 21600 0 2393"/>
              <a:gd name="G2" fmla="+- 21600 0 2393"/>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393" y="10800"/>
                </a:moveTo>
                <a:cubicBezTo>
                  <a:pt x="2393" y="15443"/>
                  <a:pt x="6157" y="19207"/>
                  <a:pt x="10800" y="19207"/>
                </a:cubicBezTo>
                <a:cubicBezTo>
                  <a:pt x="15443" y="19207"/>
                  <a:pt x="19207" y="15443"/>
                  <a:pt x="19207" y="10800"/>
                </a:cubicBezTo>
                <a:cubicBezTo>
                  <a:pt x="19207" y="6157"/>
                  <a:pt x="15443" y="2393"/>
                  <a:pt x="10800" y="2393"/>
                </a:cubicBezTo>
                <a:cubicBezTo>
                  <a:pt x="6157" y="2393"/>
                  <a:pt x="2393" y="6157"/>
                  <a:pt x="2393" y="10800"/>
                </a:cubicBezTo>
                <a:close/>
              </a:path>
            </a:pathLst>
          </a:custGeom>
          <a:solidFill>
            <a:srgbClr val="C0C0C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14" name="Text Box 7">
            <a:extLst>
              <a:ext uri="{FF2B5EF4-FFF2-40B4-BE49-F238E27FC236}">
                <a16:creationId xmlns:a16="http://schemas.microsoft.com/office/drawing/2014/main" id="{572FACFC-5E45-F449-B26F-870F56342A2E}"/>
              </a:ext>
            </a:extLst>
          </p:cNvPr>
          <p:cNvSpPr txBox="1">
            <a:spLocks noChangeArrowheads="1"/>
          </p:cNvSpPr>
          <p:nvPr/>
        </p:nvSpPr>
        <p:spPr bwMode="auto">
          <a:xfrm rot="21015699">
            <a:off x="1868419" y="4881906"/>
            <a:ext cx="129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tr-TR" altLang="en-TR" sz="2400">
                <a:latin typeface="Tahoma" panose="020B0604030504040204" pitchFamily="34" charset="0"/>
              </a:rPr>
              <a:t>İnsan</a:t>
            </a:r>
          </a:p>
        </p:txBody>
      </p:sp>
      <p:sp>
        <p:nvSpPr>
          <p:cNvPr id="15" name="Text Box 8">
            <a:extLst>
              <a:ext uri="{FF2B5EF4-FFF2-40B4-BE49-F238E27FC236}">
                <a16:creationId xmlns:a16="http://schemas.microsoft.com/office/drawing/2014/main" id="{BB400A27-C851-F743-820A-B524F4A8F604}"/>
              </a:ext>
            </a:extLst>
          </p:cNvPr>
          <p:cNvSpPr txBox="1">
            <a:spLocks noChangeArrowheads="1"/>
          </p:cNvSpPr>
          <p:nvPr/>
        </p:nvSpPr>
        <p:spPr bwMode="auto">
          <a:xfrm rot="697330">
            <a:off x="5468869" y="4907306"/>
            <a:ext cx="129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tr-TR" altLang="en-TR" sz="2400" dirty="0">
                <a:latin typeface="Tahoma" panose="020B0604030504040204" pitchFamily="34" charset="0"/>
              </a:rPr>
              <a:t>Çevre</a:t>
            </a:r>
          </a:p>
        </p:txBody>
      </p:sp>
      <p:sp>
        <p:nvSpPr>
          <p:cNvPr id="16" name="Text Box 9">
            <a:extLst>
              <a:ext uri="{FF2B5EF4-FFF2-40B4-BE49-F238E27FC236}">
                <a16:creationId xmlns:a16="http://schemas.microsoft.com/office/drawing/2014/main" id="{41A84241-6C91-D341-A04F-3E71815A0819}"/>
              </a:ext>
            </a:extLst>
          </p:cNvPr>
          <p:cNvSpPr txBox="1">
            <a:spLocks noChangeArrowheads="1"/>
          </p:cNvSpPr>
          <p:nvPr/>
        </p:nvSpPr>
        <p:spPr bwMode="auto">
          <a:xfrm>
            <a:off x="3524182" y="4766019"/>
            <a:ext cx="1584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tr-TR" altLang="en-TR" sz="2400" b="1">
                <a:latin typeface="Tahoma" panose="020B0604030504040204" pitchFamily="34" charset="0"/>
              </a:rPr>
              <a:t>İletişim</a:t>
            </a:r>
          </a:p>
        </p:txBody>
      </p:sp>
    </p:spTree>
    <p:extLst>
      <p:ext uri="{BB962C8B-B14F-4D97-AF65-F5344CB8AC3E}">
        <p14:creationId xmlns:p14="http://schemas.microsoft.com/office/powerpoint/2010/main" val="563653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İLETİŞİM</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3</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 name="Rectangle 4">
            <a:extLst>
              <a:ext uri="{FF2B5EF4-FFF2-40B4-BE49-F238E27FC236}">
                <a16:creationId xmlns:a16="http://schemas.microsoft.com/office/drawing/2014/main" id="{479D6131-0C00-764D-9D61-597385F9EF4D}"/>
              </a:ext>
            </a:extLst>
          </p:cNvPr>
          <p:cNvSpPr/>
          <p:nvPr/>
        </p:nvSpPr>
        <p:spPr>
          <a:xfrm>
            <a:off x="468964" y="1885834"/>
            <a:ext cx="7660051" cy="461665"/>
          </a:xfrm>
          <a:prstGeom prst="rect">
            <a:avLst/>
          </a:prstGeom>
        </p:spPr>
        <p:txBody>
          <a:bodyPr wrap="square">
            <a:spAutoFit/>
          </a:bodyPr>
          <a:lstStyle/>
          <a:p>
            <a:pPr eaLnBrk="0" hangingPunct="0">
              <a:spcBef>
                <a:spcPct val="50000"/>
              </a:spcBef>
            </a:pPr>
            <a:r>
              <a:rPr lang="tr-TR" altLang="en-TR" sz="2400" dirty="0">
                <a:latin typeface="Tahoma" panose="020B0604030504040204" pitchFamily="34" charset="0"/>
              </a:rPr>
              <a:t>İletişim süreci içindeki unsurlar neler olabilir?</a:t>
            </a:r>
          </a:p>
        </p:txBody>
      </p:sp>
    </p:spTree>
    <p:extLst>
      <p:ext uri="{BB962C8B-B14F-4D97-AF65-F5344CB8AC3E}">
        <p14:creationId xmlns:p14="http://schemas.microsoft.com/office/powerpoint/2010/main" val="20233350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İLETİŞİM</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4</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4</a:t>
            </a:fld>
            <a:endParaRPr lang="tr-TR"/>
          </a:p>
        </p:txBody>
      </p:sp>
      <p:sp>
        <p:nvSpPr>
          <p:cNvPr id="25" name="Oval 24">
            <a:extLst>
              <a:ext uri="{FF2B5EF4-FFF2-40B4-BE49-F238E27FC236}">
                <a16:creationId xmlns:a16="http://schemas.microsoft.com/office/drawing/2014/main" id="{F103498F-B49D-4DA8-8B0C-C3B686C155FD}"/>
              </a:ext>
            </a:extLst>
          </p:cNvPr>
          <p:cNvSpPr/>
          <p:nvPr/>
        </p:nvSpPr>
        <p:spPr>
          <a:xfrm>
            <a:off x="3581401" y="1692275"/>
            <a:ext cx="1752600" cy="388710"/>
          </a:xfrm>
          <a:prstGeom prst="ellipse">
            <a:avLst/>
          </a:prstGeom>
          <a:solidFill>
            <a:schemeClr val="tx1">
              <a:alpha val="0"/>
            </a:scheme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b="1" dirty="0">
                <a:solidFill>
                  <a:schemeClr val="bg1"/>
                </a:solidFill>
              </a:rPr>
              <a:t>Etkileşim</a:t>
            </a:r>
          </a:p>
        </p:txBody>
      </p:sp>
      <p:sp>
        <p:nvSpPr>
          <p:cNvPr id="38" name="AutoShape 4">
            <a:extLst>
              <a:ext uri="{FF2B5EF4-FFF2-40B4-BE49-F238E27FC236}">
                <a16:creationId xmlns:a16="http://schemas.microsoft.com/office/drawing/2014/main" id="{2436161C-B0B2-7A4F-A098-599F825FC00F}"/>
              </a:ext>
            </a:extLst>
          </p:cNvPr>
          <p:cNvSpPr>
            <a:spLocks noChangeArrowheads="1"/>
          </p:cNvSpPr>
          <p:nvPr/>
        </p:nvSpPr>
        <p:spPr bwMode="auto">
          <a:xfrm>
            <a:off x="468313" y="3357563"/>
            <a:ext cx="1728787" cy="792162"/>
          </a:xfrm>
          <a:prstGeom prst="cube">
            <a:avLst>
              <a:gd name="adj" fmla="val 25000"/>
            </a:avLst>
          </a:prstGeom>
          <a:gradFill rotWithShape="1">
            <a:gsLst>
              <a:gs pos="0">
                <a:srgbClr val="FFCC00">
                  <a:gamma/>
                  <a:shade val="72941"/>
                  <a:invGamma/>
                </a:srgbClr>
              </a:gs>
              <a:gs pos="100000">
                <a:srgbClr val="FFCC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sz="2400" dirty="0">
                <a:latin typeface="Tahoma" panose="020B0604030504040204" pitchFamily="34" charset="0"/>
              </a:rPr>
              <a:t>Gönderici</a:t>
            </a:r>
          </a:p>
        </p:txBody>
      </p:sp>
      <p:sp>
        <p:nvSpPr>
          <p:cNvPr id="39" name="AutoShape 5">
            <a:extLst>
              <a:ext uri="{FF2B5EF4-FFF2-40B4-BE49-F238E27FC236}">
                <a16:creationId xmlns:a16="http://schemas.microsoft.com/office/drawing/2014/main" id="{805D6545-4FB3-C24B-AC88-A10CBDBCD0FE}"/>
              </a:ext>
            </a:extLst>
          </p:cNvPr>
          <p:cNvSpPr>
            <a:spLocks noChangeArrowheads="1"/>
          </p:cNvSpPr>
          <p:nvPr/>
        </p:nvSpPr>
        <p:spPr bwMode="auto">
          <a:xfrm>
            <a:off x="2052638" y="3644900"/>
            <a:ext cx="431800" cy="215900"/>
          </a:xfrm>
          <a:prstGeom prst="rightArrow">
            <a:avLst>
              <a:gd name="adj1" fmla="val 50000"/>
              <a:gd name="adj2" fmla="val 50000"/>
            </a:avLst>
          </a:prstGeom>
          <a:solidFill>
            <a:srgbClr val="8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40" name="Rectangle 39">
            <a:extLst>
              <a:ext uri="{FF2B5EF4-FFF2-40B4-BE49-F238E27FC236}">
                <a16:creationId xmlns:a16="http://schemas.microsoft.com/office/drawing/2014/main" id="{08CAC733-8D7A-194A-AF77-87704098DD43}"/>
              </a:ext>
            </a:extLst>
          </p:cNvPr>
          <p:cNvSpPr/>
          <p:nvPr/>
        </p:nvSpPr>
        <p:spPr>
          <a:xfrm>
            <a:off x="468964" y="1885834"/>
            <a:ext cx="7660051" cy="461665"/>
          </a:xfrm>
          <a:prstGeom prst="rect">
            <a:avLst/>
          </a:prstGeom>
        </p:spPr>
        <p:txBody>
          <a:bodyPr wrap="square">
            <a:spAutoFit/>
          </a:bodyPr>
          <a:lstStyle/>
          <a:p>
            <a:pPr eaLnBrk="0" hangingPunct="0">
              <a:spcBef>
                <a:spcPct val="50000"/>
              </a:spcBef>
            </a:pPr>
            <a:r>
              <a:rPr lang="tr-TR" altLang="en-TR" sz="2400" dirty="0">
                <a:latin typeface="Tahoma" panose="020B0604030504040204" pitchFamily="34" charset="0"/>
              </a:rPr>
              <a:t>İletişim süreci beş unsur ve aşamadan oluşur.</a:t>
            </a:r>
            <a:endParaRPr lang="tr-TR" altLang="en-TR" sz="2400" dirty="0">
              <a:latin typeface="Times New Roman" panose="02020603050405020304" pitchFamily="18" charset="0"/>
            </a:endParaRPr>
          </a:p>
        </p:txBody>
      </p:sp>
    </p:spTree>
    <p:extLst>
      <p:ext uri="{BB962C8B-B14F-4D97-AF65-F5344CB8AC3E}">
        <p14:creationId xmlns:p14="http://schemas.microsoft.com/office/powerpoint/2010/main" val="4378963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İLETİŞİM</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5</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5</a:t>
            </a:fld>
            <a:endParaRPr lang="tr-TR"/>
          </a:p>
        </p:txBody>
      </p:sp>
      <p:sp>
        <p:nvSpPr>
          <p:cNvPr id="25" name="Oval 24">
            <a:extLst>
              <a:ext uri="{FF2B5EF4-FFF2-40B4-BE49-F238E27FC236}">
                <a16:creationId xmlns:a16="http://schemas.microsoft.com/office/drawing/2014/main" id="{F103498F-B49D-4DA8-8B0C-C3B686C155FD}"/>
              </a:ext>
            </a:extLst>
          </p:cNvPr>
          <p:cNvSpPr/>
          <p:nvPr/>
        </p:nvSpPr>
        <p:spPr>
          <a:xfrm>
            <a:off x="3581401" y="1692275"/>
            <a:ext cx="1752600" cy="388710"/>
          </a:xfrm>
          <a:prstGeom prst="ellipse">
            <a:avLst/>
          </a:prstGeom>
          <a:solidFill>
            <a:schemeClr val="tx1">
              <a:alpha val="0"/>
            </a:scheme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b="1" dirty="0">
                <a:solidFill>
                  <a:schemeClr val="bg1"/>
                </a:solidFill>
              </a:rPr>
              <a:t>Etkileşim</a:t>
            </a:r>
          </a:p>
        </p:txBody>
      </p:sp>
      <p:sp>
        <p:nvSpPr>
          <p:cNvPr id="40" name="Rectangle 39">
            <a:extLst>
              <a:ext uri="{FF2B5EF4-FFF2-40B4-BE49-F238E27FC236}">
                <a16:creationId xmlns:a16="http://schemas.microsoft.com/office/drawing/2014/main" id="{08CAC733-8D7A-194A-AF77-87704098DD43}"/>
              </a:ext>
            </a:extLst>
          </p:cNvPr>
          <p:cNvSpPr/>
          <p:nvPr/>
        </p:nvSpPr>
        <p:spPr>
          <a:xfrm>
            <a:off x="468964" y="1885834"/>
            <a:ext cx="7660051" cy="461665"/>
          </a:xfrm>
          <a:prstGeom prst="rect">
            <a:avLst/>
          </a:prstGeom>
        </p:spPr>
        <p:txBody>
          <a:bodyPr wrap="square">
            <a:spAutoFit/>
          </a:bodyPr>
          <a:lstStyle/>
          <a:p>
            <a:pPr eaLnBrk="0" hangingPunct="0">
              <a:spcBef>
                <a:spcPct val="50000"/>
              </a:spcBef>
            </a:pPr>
            <a:r>
              <a:rPr lang="tr-TR" altLang="en-TR" sz="2400" dirty="0">
                <a:latin typeface="Tahoma" panose="020B0604030504040204" pitchFamily="34" charset="0"/>
              </a:rPr>
              <a:t>İletişim süreci beş unsur ve aşamadan oluşur.</a:t>
            </a:r>
            <a:endParaRPr lang="tr-TR" altLang="en-TR" sz="2400" dirty="0">
              <a:latin typeface="Times New Roman" panose="02020603050405020304" pitchFamily="18" charset="0"/>
            </a:endParaRPr>
          </a:p>
        </p:txBody>
      </p:sp>
      <p:sp>
        <p:nvSpPr>
          <p:cNvPr id="11" name="AutoShape 4">
            <a:extLst>
              <a:ext uri="{FF2B5EF4-FFF2-40B4-BE49-F238E27FC236}">
                <a16:creationId xmlns:a16="http://schemas.microsoft.com/office/drawing/2014/main" id="{1D131653-8A45-BE41-94B6-A4FE4FB58516}"/>
              </a:ext>
            </a:extLst>
          </p:cNvPr>
          <p:cNvSpPr>
            <a:spLocks noChangeArrowheads="1"/>
          </p:cNvSpPr>
          <p:nvPr/>
        </p:nvSpPr>
        <p:spPr bwMode="auto">
          <a:xfrm>
            <a:off x="468313" y="3357563"/>
            <a:ext cx="1728787" cy="792162"/>
          </a:xfrm>
          <a:prstGeom prst="cube">
            <a:avLst>
              <a:gd name="adj" fmla="val 25000"/>
            </a:avLst>
          </a:prstGeom>
          <a:gradFill rotWithShape="1">
            <a:gsLst>
              <a:gs pos="0">
                <a:srgbClr val="FFCC00">
                  <a:gamma/>
                  <a:shade val="72941"/>
                  <a:invGamma/>
                </a:srgbClr>
              </a:gs>
              <a:gs pos="100000">
                <a:srgbClr val="FFCC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sz="2400">
                <a:latin typeface="Tahoma" panose="020B0604030504040204" pitchFamily="34" charset="0"/>
              </a:rPr>
              <a:t>Gönderici</a:t>
            </a:r>
          </a:p>
        </p:txBody>
      </p:sp>
      <p:sp>
        <p:nvSpPr>
          <p:cNvPr id="12" name="AutoShape 5">
            <a:extLst>
              <a:ext uri="{FF2B5EF4-FFF2-40B4-BE49-F238E27FC236}">
                <a16:creationId xmlns:a16="http://schemas.microsoft.com/office/drawing/2014/main" id="{377D557F-18EC-1A49-8C05-DF0835DE61E8}"/>
              </a:ext>
            </a:extLst>
          </p:cNvPr>
          <p:cNvSpPr>
            <a:spLocks noChangeArrowheads="1"/>
          </p:cNvSpPr>
          <p:nvPr/>
        </p:nvSpPr>
        <p:spPr bwMode="auto">
          <a:xfrm>
            <a:off x="2052638" y="3644900"/>
            <a:ext cx="431800" cy="215900"/>
          </a:xfrm>
          <a:prstGeom prst="rightArrow">
            <a:avLst>
              <a:gd name="adj1" fmla="val 50000"/>
              <a:gd name="adj2" fmla="val 50000"/>
            </a:avLst>
          </a:prstGeom>
          <a:solidFill>
            <a:srgbClr val="8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13" name="AutoShape 6">
            <a:extLst>
              <a:ext uri="{FF2B5EF4-FFF2-40B4-BE49-F238E27FC236}">
                <a16:creationId xmlns:a16="http://schemas.microsoft.com/office/drawing/2014/main" id="{1DA340B1-7F35-FB41-8FDA-0425FAED3851}"/>
              </a:ext>
            </a:extLst>
          </p:cNvPr>
          <p:cNvSpPr>
            <a:spLocks noChangeArrowheads="1"/>
          </p:cNvSpPr>
          <p:nvPr/>
        </p:nvSpPr>
        <p:spPr bwMode="auto">
          <a:xfrm>
            <a:off x="2555875" y="3357563"/>
            <a:ext cx="1728788" cy="792162"/>
          </a:xfrm>
          <a:prstGeom prst="cube">
            <a:avLst>
              <a:gd name="adj" fmla="val 25000"/>
            </a:avLst>
          </a:prstGeom>
          <a:gradFill rotWithShape="1">
            <a:gsLst>
              <a:gs pos="0">
                <a:srgbClr val="FFCC00">
                  <a:gamma/>
                  <a:shade val="72941"/>
                  <a:invGamma/>
                </a:srgbClr>
              </a:gs>
              <a:gs pos="100000">
                <a:srgbClr val="FFCC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sz="2400">
                <a:latin typeface="Tahoma" panose="020B0604030504040204" pitchFamily="34" charset="0"/>
              </a:rPr>
              <a:t>Mesaj</a:t>
            </a:r>
          </a:p>
        </p:txBody>
      </p:sp>
      <p:sp>
        <p:nvSpPr>
          <p:cNvPr id="14" name="AutoShape 7">
            <a:extLst>
              <a:ext uri="{FF2B5EF4-FFF2-40B4-BE49-F238E27FC236}">
                <a16:creationId xmlns:a16="http://schemas.microsoft.com/office/drawing/2014/main" id="{BE12833F-1994-614C-960E-5A0257DF9862}"/>
              </a:ext>
            </a:extLst>
          </p:cNvPr>
          <p:cNvSpPr>
            <a:spLocks noChangeArrowheads="1"/>
          </p:cNvSpPr>
          <p:nvPr/>
        </p:nvSpPr>
        <p:spPr bwMode="auto">
          <a:xfrm>
            <a:off x="4211638" y="3644900"/>
            <a:ext cx="431800" cy="215900"/>
          </a:xfrm>
          <a:prstGeom prst="rightArrow">
            <a:avLst>
              <a:gd name="adj1" fmla="val 50000"/>
              <a:gd name="adj2" fmla="val 50000"/>
            </a:avLst>
          </a:prstGeom>
          <a:solidFill>
            <a:srgbClr val="8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Tree>
    <p:extLst>
      <p:ext uri="{BB962C8B-B14F-4D97-AF65-F5344CB8AC3E}">
        <p14:creationId xmlns:p14="http://schemas.microsoft.com/office/powerpoint/2010/main" val="23663764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İLETİŞİM</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6</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6</a:t>
            </a:fld>
            <a:endParaRPr lang="tr-TR"/>
          </a:p>
        </p:txBody>
      </p:sp>
      <p:sp>
        <p:nvSpPr>
          <p:cNvPr id="25" name="Oval 24">
            <a:extLst>
              <a:ext uri="{FF2B5EF4-FFF2-40B4-BE49-F238E27FC236}">
                <a16:creationId xmlns:a16="http://schemas.microsoft.com/office/drawing/2014/main" id="{F103498F-B49D-4DA8-8B0C-C3B686C155FD}"/>
              </a:ext>
            </a:extLst>
          </p:cNvPr>
          <p:cNvSpPr/>
          <p:nvPr/>
        </p:nvSpPr>
        <p:spPr>
          <a:xfrm>
            <a:off x="3581401" y="1692275"/>
            <a:ext cx="1752600" cy="388710"/>
          </a:xfrm>
          <a:prstGeom prst="ellipse">
            <a:avLst/>
          </a:prstGeom>
          <a:solidFill>
            <a:schemeClr val="tx1">
              <a:alpha val="0"/>
            </a:scheme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b="1" dirty="0">
                <a:solidFill>
                  <a:schemeClr val="bg1"/>
                </a:solidFill>
              </a:rPr>
              <a:t>Etkileşim</a:t>
            </a:r>
          </a:p>
        </p:txBody>
      </p:sp>
      <p:sp>
        <p:nvSpPr>
          <p:cNvPr id="40" name="Rectangle 39">
            <a:extLst>
              <a:ext uri="{FF2B5EF4-FFF2-40B4-BE49-F238E27FC236}">
                <a16:creationId xmlns:a16="http://schemas.microsoft.com/office/drawing/2014/main" id="{08CAC733-8D7A-194A-AF77-87704098DD43}"/>
              </a:ext>
            </a:extLst>
          </p:cNvPr>
          <p:cNvSpPr/>
          <p:nvPr/>
        </p:nvSpPr>
        <p:spPr>
          <a:xfrm>
            <a:off x="468964" y="1885834"/>
            <a:ext cx="7660051" cy="461665"/>
          </a:xfrm>
          <a:prstGeom prst="rect">
            <a:avLst/>
          </a:prstGeom>
        </p:spPr>
        <p:txBody>
          <a:bodyPr wrap="square">
            <a:spAutoFit/>
          </a:bodyPr>
          <a:lstStyle/>
          <a:p>
            <a:pPr eaLnBrk="0" hangingPunct="0">
              <a:spcBef>
                <a:spcPct val="50000"/>
              </a:spcBef>
            </a:pPr>
            <a:r>
              <a:rPr lang="tr-TR" altLang="en-TR" sz="2400" dirty="0">
                <a:latin typeface="Tahoma" panose="020B0604030504040204" pitchFamily="34" charset="0"/>
              </a:rPr>
              <a:t>İletişim süreci beş unsur ve aşamadan oluşur.</a:t>
            </a:r>
            <a:endParaRPr lang="tr-TR" altLang="en-TR" sz="2400" dirty="0">
              <a:latin typeface="Times New Roman" panose="02020603050405020304" pitchFamily="18" charset="0"/>
            </a:endParaRPr>
          </a:p>
        </p:txBody>
      </p:sp>
      <p:sp>
        <p:nvSpPr>
          <p:cNvPr id="11" name="AutoShape 4">
            <a:extLst>
              <a:ext uri="{FF2B5EF4-FFF2-40B4-BE49-F238E27FC236}">
                <a16:creationId xmlns:a16="http://schemas.microsoft.com/office/drawing/2014/main" id="{7A6322A9-31D6-D444-AA98-D72C18602C94}"/>
              </a:ext>
            </a:extLst>
          </p:cNvPr>
          <p:cNvSpPr>
            <a:spLocks noChangeArrowheads="1"/>
          </p:cNvSpPr>
          <p:nvPr/>
        </p:nvSpPr>
        <p:spPr bwMode="auto">
          <a:xfrm>
            <a:off x="468313" y="3357563"/>
            <a:ext cx="1728787" cy="792162"/>
          </a:xfrm>
          <a:prstGeom prst="cube">
            <a:avLst>
              <a:gd name="adj" fmla="val 25000"/>
            </a:avLst>
          </a:prstGeom>
          <a:gradFill rotWithShape="1">
            <a:gsLst>
              <a:gs pos="0">
                <a:srgbClr val="FFCC00">
                  <a:gamma/>
                  <a:shade val="72941"/>
                  <a:invGamma/>
                </a:srgbClr>
              </a:gs>
              <a:gs pos="100000">
                <a:srgbClr val="FFCC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sz="2400">
                <a:latin typeface="Tahoma" panose="020B0604030504040204" pitchFamily="34" charset="0"/>
              </a:rPr>
              <a:t>Gönderici</a:t>
            </a:r>
          </a:p>
        </p:txBody>
      </p:sp>
      <p:sp>
        <p:nvSpPr>
          <p:cNvPr id="12" name="AutoShape 5">
            <a:extLst>
              <a:ext uri="{FF2B5EF4-FFF2-40B4-BE49-F238E27FC236}">
                <a16:creationId xmlns:a16="http://schemas.microsoft.com/office/drawing/2014/main" id="{F94DF258-461E-E242-9FC1-F49D5A020B74}"/>
              </a:ext>
            </a:extLst>
          </p:cNvPr>
          <p:cNvSpPr>
            <a:spLocks noChangeArrowheads="1"/>
          </p:cNvSpPr>
          <p:nvPr/>
        </p:nvSpPr>
        <p:spPr bwMode="auto">
          <a:xfrm>
            <a:off x="2052638" y="3644900"/>
            <a:ext cx="431800" cy="215900"/>
          </a:xfrm>
          <a:prstGeom prst="rightArrow">
            <a:avLst>
              <a:gd name="adj1" fmla="val 50000"/>
              <a:gd name="adj2" fmla="val 50000"/>
            </a:avLst>
          </a:prstGeom>
          <a:solidFill>
            <a:srgbClr val="8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13" name="AutoShape 6">
            <a:extLst>
              <a:ext uri="{FF2B5EF4-FFF2-40B4-BE49-F238E27FC236}">
                <a16:creationId xmlns:a16="http://schemas.microsoft.com/office/drawing/2014/main" id="{755E4A20-F016-9E42-8B74-FE1EEA1BCAC4}"/>
              </a:ext>
            </a:extLst>
          </p:cNvPr>
          <p:cNvSpPr>
            <a:spLocks noChangeArrowheads="1"/>
          </p:cNvSpPr>
          <p:nvPr/>
        </p:nvSpPr>
        <p:spPr bwMode="auto">
          <a:xfrm>
            <a:off x="2555875" y="3357563"/>
            <a:ext cx="1728788" cy="792162"/>
          </a:xfrm>
          <a:prstGeom prst="cube">
            <a:avLst>
              <a:gd name="adj" fmla="val 25000"/>
            </a:avLst>
          </a:prstGeom>
          <a:gradFill rotWithShape="1">
            <a:gsLst>
              <a:gs pos="0">
                <a:srgbClr val="FFCC00">
                  <a:gamma/>
                  <a:shade val="72941"/>
                  <a:invGamma/>
                </a:srgbClr>
              </a:gs>
              <a:gs pos="100000">
                <a:srgbClr val="FFCC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sz="2400">
                <a:latin typeface="Tahoma" panose="020B0604030504040204" pitchFamily="34" charset="0"/>
              </a:rPr>
              <a:t>Mesaj</a:t>
            </a:r>
          </a:p>
        </p:txBody>
      </p:sp>
      <p:sp>
        <p:nvSpPr>
          <p:cNvPr id="14" name="AutoShape 7">
            <a:extLst>
              <a:ext uri="{FF2B5EF4-FFF2-40B4-BE49-F238E27FC236}">
                <a16:creationId xmlns:a16="http://schemas.microsoft.com/office/drawing/2014/main" id="{680A97E0-F462-5A45-BC05-549F68E7975D}"/>
              </a:ext>
            </a:extLst>
          </p:cNvPr>
          <p:cNvSpPr>
            <a:spLocks noChangeArrowheads="1"/>
          </p:cNvSpPr>
          <p:nvPr/>
        </p:nvSpPr>
        <p:spPr bwMode="auto">
          <a:xfrm>
            <a:off x="4211638" y="3644900"/>
            <a:ext cx="431800" cy="215900"/>
          </a:xfrm>
          <a:prstGeom prst="rightArrow">
            <a:avLst>
              <a:gd name="adj1" fmla="val 50000"/>
              <a:gd name="adj2" fmla="val 50000"/>
            </a:avLst>
          </a:prstGeom>
          <a:solidFill>
            <a:srgbClr val="8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16" name="AutoShape 8">
            <a:extLst>
              <a:ext uri="{FF2B5EF4-FFF2-40B4-BE49-F238E27FC236}">
                <a16:creationId xmlns:a16="http://schemas.microsoft.com/office/drawing/2014/main" id="{22EC608F-10B3-864C-835D-2DBEDE03080E}"/>
              </a:ext>
            </a:extLst>
          </p:cNvPr>
          <p:cNvSpPr>
            <a:spLocks noChangeArrowheads="1"/>
          </p:cNvSpPr>
          <p:nvPr/>
        </p:nvSpPr>
        <p:spPr bwMode="auto">
          <a:xfrm>
            <a:off x="4716463" y="3357563"/>
            <a:ext cx="1728787" cy="792162"/>
          </a:xfrm>
          <a:prstGeom prst="cube">
            <a:avLst>
              <a:gd name="adj" fmla="val 25000"/>
            </a:avLst>
          </a:prstGeom>
          <a:gradFill rotWithShape="1">
            <a:gsLst>
              <a:gs pos="0">
                <a:srgbClr val="FFCC00">
                  <a:gamma/>
                  <a:shade val="72941"/>
                  <a:invGamma/>
                </a:srgbClr>
              </a:gs>
              <a:gs pos="100000">
                <a:srgbClr val="FFCC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a:latin typeface="Tahoma" panose="020B0604030504040204" pitchFamily="34" charset="0"/>
              </a:rPr>
              <a:t>İletişim Aracı</a:t>
            </a:r>
          </a:p>
        </p:txBody>
      </p:sp>
      <p:sp>
        <p:nvSpPr>
          <p:cNvPr id="17" name="AutoShape 9">
            <a:extLst>
              <a:ext uri="{FF2B5EF4-FFF2-40B4-BE49-F238E27FC236}">
                <a16:creationId xmlns:a16="http://schemas.microsoft.com/office/drawing/2014/main" id="{E122578B-3527-1249-A2C9-A86C345080C1}"/>
              </a:ext>
            </a:extLst>
          </p:cNvPr>
          <p:cNvSpPr>
            <a:spLocks noChangeArrowheads="1"/>
          </p:cNvSpPr>
          <p:nvPr/>
        </p:nvSpPr>
        <p:spPr bwMode="auto">
          <a:xfrm>
            <a:off x="6372225" y="3644900"/>
            <a:ext cx="431800" cy="215900"/>
          </a:xfrm>
          <a:prstGeom prst="rightArrow">
            <a:avLst>
              <a:gd name="adj1" fmla="val 50000"/>
              <a:gd name="adj2" fmla="val 50000"/>
            </a:avLst>
          </a:prstGeom>
          <a:solidFill>
            <a:srgbClr val="8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Tree>
    <p:extLst>
      <p:ext uri="{BB962C8B-B14F-4D97-AF65-F5344CB8AC3E}">
        <p14:creationId xmlns:p14="http://schemas.microsoft.com/office/powerpoint/2010/main" val="1253988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İLETİŞİM</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7</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7</a:t>
            </a:fld>
            <a:endParaRPr lang="tr-TR"/>
          </a:p>
        </p:txBody>
      </p:sp>
      <p:sp>
        <p:nvSpPr>
          <p:cNvPr id="25" name="Oval 24">
            <a:extLst>
              <a:ext uri="{FF2B5EF4-FFF2-40B4-BE49-F238E27FC236}">
                <a16:creationId xmlns:a16="http://schemas.microsoft.com/office/drawing/2014/main" id="{F103498F-B49D-4DA8-8B0C-C3B686C155FD}"/>
              </a:ext>
            </a:extLst>
          </p:cNvPr>
          <p:cNvSpPr/>
          <p:nvPr/>
        </p:nvSpPr>
        <p:spPr>
          <a:xfrm>
            <a:off x="3581401" y="1692275"/>
            <a:ext cx="1752600" cy="388710"/>
          </a:xfrm>
          <a:prstGeom prst="ellipse">
            <a:avLst/>
          </a:prstGeom>
          <a:solidFill>
            <a:schemeClr val="tx1">
              <a:alpha val="0"/>
            </a:scheme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b="1" dirty="0">
                <a:solidFill>
                  <a:schemeClr val="bg1"/>
                </a:solidFill>
              </a:rPr>
              <a:t>Etkileşim</a:t>
            </a:r>
          </a:p>
        </p:txBody>
      </p:sp>
      <p:sp>
        <p:nvSpPr>
          <p:cNvPr id="40" name="Rectangle 39">
            <a:extLst>
              <a:ext uri="{FF2B5EF4-FFF2-40B4-BE49-F238E27FC236}">
                <a16:creationId xmlns:a16="http://schemas.microsoft.com/office/drawing/2014/main" id="{08CAC733-8D7A-194A-AF77-87704098DD43}"/>
              </a:ext>
            </a:extLst>
          </p:cNvPr>
          <p:cNvSpPr/>
          <p:nvPr/>
        </p:nvSpPr>
        <p:spPr>
          <a:xfrm>
            <a:off x="468964" y="1885834"/>
            <a:ext cx="7660051" cy="461665"/>
          </a:xfrm>
          <a:prstGeom prst="rect">
            <a:avLst/>
          </a:prstGeom>
        </p:spPr>
        <p:txBody>
          <a:bodyPr wrap="square">
            <a:spAutoFit/>
          </a:bodyPr>
          <a:lstStyle/>
          <a:p>
            <a:pPr eaLnBrk="0" hangingPunct="0">
              <a:spcBef>
                <a:spcPct val="50000"/>
              </a:spcBef>
            </a:pPr>
            <a:r>
              <a:rPr lang="tr-TR" altLang="en-TR" sz="2400" dirty="0">
                <a:latin typeface="Tahoma" panose="020B0604030504040204" pitchFamily="34" charset="0"/>
              </a:rPr>
              <a:t>İletişim süreci beş unsur ve aşamadan oluşur.</a:t>
            </a:r>
            <a:endParaRPr lang="tr-TR" altLang="en-TR" sz="2400" dirty="0">
              <a:latin typeface="Times New Roman" panose="02020603050405020304" pitchFamily="18" charset="0"/>
            </a:endParaRPr>
          </a:p>
        </p:txBody>
      </p:sp>
      <p:sp>
        <p:nvSpPr>
          <p:cNvPr id="11" name="AutoShape 4">
            <a:extLst>
              <a:ext uri="{FF2B5EF4-FFF2-40B4-BE49-F238E27FC236}">
                <a16:creationId xmlns:a16="http://schemas.microsoft.com/office/drawing/2014/main" id="{D7975B02-BEF2-4149-AA0B-9DC7F5E35DB7}"/>
              </a:ext>
            </a:extLst>
          </p:cNvPr>
          <p:cNvSpPr>
            <a:spLocks noChangeArrowheads="1"/>
          </p:cNvSpPr>
          <p:nvPr/>
        </p:nvSpPr>
        <p:spPr bwMode="auto">
          <a:xfrm>
            <a:off x="468313" y="3357563"/>
            <a:ext cx="1728787" cy="792162"/>
          </a:xfrm>
          <a:prstGeom prst="cube">
            <a:avLst>
              <a:gd name="adj" fmla="val 25000"/>
            </a:avLst>
          </a:prstGeom>
          <a:gradFill rotWithShape="1">
            <a:gsLst>
              <a:gs pos="0">
                <a:srgbClr val="FFCC00">
                  <a:gamma/>
                  <a:shade val="72941"/>
                  <a:invGamma/>
                </a:srgbClr>
              </a:gs>
              <a:gs pos="100000">
                <a:srgbClr val="FFCC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sz="2400">
                <a:latin typeface="Tahoma" panose="020B0604030504040204" pitchFamily="34" charset="0"/>
              </a:rPr>
              <a:t>Gönderici</a:t>
            </a:r>
          </a:p>
        </p:txBody>
      </p:sp>
      <p:sp>
        <p:nvSpPr>
          <p:cNvPr id="12" name="AutoShape 5">
            <a:extLst>
              <a:ext uri="{FF2B5EF4-FFF2-40B4-BE49-F238E27FC236}">
                <a16:creationId xmlns:a16="http://schemas.microsoft.com/office/drawing/2014/main" id="{72F05993-969A-8744-BA9E-F46176A06823}"/>
              </a:ext>
            </a:extLst>
          </p:cNvPr>
          <p:cNvSpPr>
            <a:spLocks noChangeArrowheads="1"/>
          </p:cNvSpPr>
          <p:nvPr/>
        </p:nvSpPr>
        <p:spPr bwMode="auto">
          <a:xfrm>
            <a:off x="2052638" y="3644900"/>
            <a:ext cx="431800" cy="215900"/>
          </a:xfrm>
          <a:prstGeom prst="rightArrow">
            <a:avLst>
              <a:gd name="adj1" fmla="val 50000"/>
              <a:gd name="adj2" fmla="val 50000"/>
            </a:avLst>
          </a:prstGeom>
          <a:solidFill>
            <a:srgbClr val="8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13" name="AutoShape 6">
            <a:extLst>
              <a:ext uri="{FF2B5EF4-FFF2-40B4-BE49-F238E27FC236}">
                <a16:creationId xmlns:a16="http://schemas.microsoft.com/office/drawing/2014/main" id="{19865792-E1DA-F643-AFE5-92625ADE3D2E}"/>
              </a:ext>
            </a:extLst>
          </p:cNvPr>
          <p:cNvSpPr>
            <a:spLocks noChangeArrowheads="1"/>
          </p:cNvSpPr>
          <p:nvPr/>
        </p:nvSpPr>
        <p:spPr bwMode="auto">
          <a:xfrm>
            <a:off x="2555875" y="3357563"/>
            <a:ext cx="1728788" cy="792162"/>
          </a:xfrm>
          <a:prstGeom prst="cube">
            <a:avLst>
              <a:gd name="adj" fmla="val 25000"/>
            </a:avLst>
          </a:prstGeom>
          <a:gradFill rotWithShape="1">
            <a:gsLst>
              <a:gs pos="0">
                <a:srgbClr val="FFCC00">
                  <a:gamma/>
                  <a:shade val="72941"/>
                  <a:invGamma/>
                </a:srgbClr>
              </a:gs>
              <a:gs pos="100000">
                <a:srgbClr val="FFCC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sz="2400">
                <a:latin typeface="Tahoma" panose="020B0604030504040204" pitchFamily="34" charset="0"/>
              </a:rPr>
              <a:t>Mesaj</a:t>
            </a:r>
          </a:p>
        </p:txBody>
      </p:sp>
      <p:sp>
        <p:nvSpPr>
          <p:cNvPr id="14" name="AutoShape 7">
            <a:extLst>
              <a:ext uri="{FF2B5EF4-FFF2-40B4-BE49-F238E27FC236}">
                <a16:creationId xmlns:a16="http://schemas.microsoft.com/office/drawing/2014/main" id="{06F56B42-4A61-FB48-93E4-34281342D1B5}"/>
              </a:ext>
            </a:extLst>
          </p:cNvPr>
          <p:cNvSpPr>
            <a:spLocks noChangeArrowheads="1"/>
          </p:cNvSpPr>
          <p:nvPr/>
        </p:nvSpPr>
        <p:spPr bwMode="auto">
          <a:xfrm>
            <a:off x="4211638" y="3644900"/>
            <a:ext cx="431800" cy="215900"/>
          </a:xfrm>
          <a:prstGeom prst="rightArrow">
            <a:avLst>
              <a:gd name="adj1" fmla="val 50000"/>
              <a:gd name="adj2" fmla="val 50000"/>
            </a:avLst>
          </a:prstGeom>
          <a:solidFill>
            <a:srgbClr val="8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16" name="AutoShape 8">
            <a:extLst>
              <a:ext uri="{FF2B5EF4-FFF2-40B4-BE49-F238E27FC236}">
                <a16:creationId xmlns:a16="http://schemas.microsoft.com/office/drawing/2014/main" id="{A457B1B1-7B9F-9A45-8AD5-F8C0BB4FCBCE}"/>
              </a:ext>
            </a:extLst>
          </p:cNvPr>
          <p:cNvSpPr>
            <a:spLocks noChangeArrowheads="1"/>
          </p:cNvSpPr>
          <p:nvPr/>
        </p:nvSpPr>
        <p:spPr bwMode="auto">
          <a:xfrm>
            <a:off x="4716463" y="3357563"/>
            <a:ext cx="1728787" cy="792162"/>
          </a:xfrm>
          <a:prstGeom prst="cube">
            <a:avLst>
              <a:gd name="adj" fmla="val 25000"/>
            </a:avLst>
          </a:prstGeom>
          <a:gradFill rotWithShape="1">
            <a:gsLst>
              <a:gs pos="0">
                <a:srgbClr val="FFCC00">
                  <a:gamma/>
                  <a:shade val="72941"/>
                  <a:invGamma/>
                </a:srgbClr>
              </a:gs>
              <a:gs pos="100000">
                <a:srgbClr val="FFCC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a:latin typeface="Tahoma" panose="020B0604030504040204" pitchFamily="34" charset="0"/>
              </a:rPr>
              <a:t>İletişim Aracı</a:t>
            </a:r>
          </a:p>
        </p:txBody>
      </p:sp>
      <p:sp>
        <p:nvSpPr>
          <p:cNvPr id="17" name="AutoShape 9">
            <a:extLst>
              <a:ext uri="{FF2B5EF4-FFF2-40B4-BE49-F238E27FC236}">
                <a16:creationId xmlns:a16="http://schemas.microsoft.com/office/drawing/2014/main" id="{16E467A1-BC85-A143-87DA-E8BB5AA3CA1D}"/>
              </a:ext>
            </a:extLst>
          </p:cNvPr>
          <p:cNvSpPr>
            <a:spLocks noChangeArrowheads="1"/>
          </p:cNvSpPr>
          <p:nvPr/>
        </p:nvSpPr>
        <p:spPr bwMode="auto">
          <a:xfrm>
            <a:off x="6877050" y="3357563"/>
            <a:ext cx="1439863" cy="792162"/>
          </a:xfrm>
          <a:prstGeom prst="cube">
            <a:avLst>
              <a:gd name="adj" fmla="val 25000"/>
            </a:avLst>
          </a:prstGeom>
          <a:gradFill rotWithShape="1">
            <a:gsLst>
              <a:gs pos="0">
                <a:srgbClr val="FFCC00">
                  <a:gamma/>
                  <a:shade val="72941"/>
                  <a:invGamma/>
                </a:srgbClr>
              </a:gs>
              <a:gs pos="100000">
                <a:srgbClr val="FFCC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sz="2400">
                <a:latin typeface="Tahoma" panose="020B0604030504040204" pitchFamily="34" charset="0"/>
              </a:rPr>
              <a:t>Alıcı</a:t>
            </a:r>
          </a:p>
        </p:txBody>
      </p:sp>
      <p:sp>
        <p:nvSpPr>
          <p:cNvPr id="18" name="AutoShape 10">
            <a:extLst>
              <a:ext uri="{FF2B5EF4-FFF2-40B4-BE49-F238E27FC236}">
                <a16:creationId xmlns:a16="http://schemas.microsoft.com/office/drawing/2014/main" id="{CD5CF54C-D102-B44A-AD6B-038B24FDE444}"/>
              </a:ext>
            </a:extLst>
          </p:cNvPr>
          <p:cNvSpPr>
            <a:spLocks noChangeArrowheads="1"/>
          </p:cNvSpPr>
          <p:nvPr/>
        </p:nvSpPr>
        <p:spPr bwMode="auto">
          <a:xfrm>
            <a:off x="6372225" y="3644900"/>
            <a:ext cx="431800" cy="215900"/>
          </a:xfrm>
          <a:prstGeom prst="rightArrow">
            <a:avLst>
              <a:gd name="adj1" fmla="val 50000"/>
              <a:gd name="adj2" fmla="val 50000"/>
            </a:avLst>
          </a:prstGeom>
          <a:solidFill>
            <a:srgbClr val="8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Tree>
    <p:extLst>
      <p:ext uri="{BB962C8B-B14F-4D97-AF65-F5344CB8AC3E}">
        <p14:creationId xmlns:p14="http://schemas.microsoft.com/office/powerpoint/2010/main" val="21307217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İLETİŞİM</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8</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8</a:t>
            </a:fld>
            <a:endParaRPr lang="tr-TR"/>
          </a:p>
        </p:txBody>
      </p:sp>
      <p:sp>
        <p:nvSpPr>
          <p:cNvPr id="25" name="Oval 24">
            <a:extLst>
              <a:ext uri="{FF2B5EF4-FFF2-40B4-BE49-F238E27FC236}">
                <a16:creationId xmlns:a16="http://schemas.microsoft.com/office/drawing/2014/main" id="{F103498F-B49D-4DA8-8B0C-C3B686C155FD}"/>
              </a:ext>
            </a:extLst>
          </p:cNvPr>
          <p:cNvSpPr/>
          <p:nvPr/>
        </p:nvSpPr>
        <p:spPr>
          <a:xfrm>
            <a:off x="3581401" y="1692275"/>
            <a:ext cx="1752600" cy="388710"/>
          </a:xfrm>
          <a:prstGeom prst="ellipse">
            <a:avLst/>
          </a:prstGeom>
          <a:solidFill>
            <a:schemeClr val="tx1">
              <a:alpha val="0"/>
            </a:scheme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b="1" dirty="0">
                <a:solidFill>
                  <a:schemeClr val="bg1"/>
                </a:solidFill>
              </a:rPr>
              <a:t>Etkileşim</a:t>
            </a:r>
          </a:p>
        </p:txBody>
      </p:sp>
      <p:sp>
        <p:nvSpPr>
          <p:cNvPr id="40" name="Rectangle 39">
            <a:extLst>
              <a:ext uri="{FF2B5EF4-FFF2-40B4-BE49-F238E27FC236}">
                <a16:creationId xmlns:a16="http://schemas.microsoft.com/office/drawing/2014/main" id="{08CAC733-8D7A-194A-AF77-87704098DD43}"/>
              </a:ext>
            </a:extLst>
          </p:cNvPr>
          <p:cNvSpPr/>
          <p:nvPr/>
        </p:nvSpPr>
        <p:spPr>
          <a:xfrm>
            <a:off x="468964" y="1885834"/>
            <a:ext cx="7660051" cy="461665"/>
          </a:xfrm>
          <a:prstGeom prst="rect">
            <a:avLst/>
          </a:prstGeom>
        </p:spPr>
        <p:txBody>
          <a:bodyPr wrap="square">
            <a:spAutoFit/>
          </a:bodyPr>
          <a:lstStyle/>
          <a:p>
            <a:pPr eaLnBrk="0" hangingPunct="0">
              <a:spcBef>
                <a:spcPct val="50000"/>
              </a:spcBef>
            </a:pPr>
            <a:r>
              <a:rPr lang="tr-TR" altLang="en-TR" sz="2400" dirty="0">
                <a:latin typeface="Tahoma" panose="020B0604030504040204" pitchFamily="34" charset="0"/>
              </a:rPr>
              <a:t>İletişim süreci beş unsur ve aşamadan oluşur.</a:t>
            </a:r>
            <a:endParaRPr lang="tr-TR" altLang="en-TR" sz="2400" dirty="0">
              <a:latin typeface="Times New Roman" panose="02020603050405020304" pitchFamily="18" charset="0"/>
            </a:endParaRPr>
          </a:p>
        </p:txBody>
      </p:sp>
      <p:sp>
        <p:nvSpPr>
          <p:cNvPr id="11" name="Line 4">
            <a:extLst>
              <a:ext uri="{FF2B5EF4-FFF2-40B4-BE49-F238E27FC236}">
                <a16:creationId xmlns:a16="http://schemas.microsoft.com/office/drawing/2014/main" id="{16B167B7-ACB5-BE45-908D-F60AFFE3D5B8}"/>
              </a:ext>
            </a:extLst>
          </p:cNvPr>
          <p:cNvSpPr>
            <a:spLocks noChangeShapeType="1"/>
          </p:cNvSpPr>
          <p:nvPr/>
        </p:nvSpPr>
        <p:spPr bwMode="auto">
          <a:xfrm>
            <a:off x="7812088" y="4221163"/>
            <a:ext cx="0" cy="3603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TR"/>
          </a:p>
        </p:txBody>
      </p:sp>
      <p:sp>
        <p:nvSpPr>
          <p:cNvPr id="12" name="Line 5">
            <a:extLst>
              <a:ext uri="{FF2B5EF4-FFF2-40B4-BE49-F238E27FC236}">
                <a16:creationId xmlns:a16="http://schemas.microsoft.com/office/drawing/2014/main" id="{D5D43880-55E0-9C4F-8493-F4923E6BD535}"/>
              </a:ext>
            </a:extLst>
          </p:cNvPr>
          <p:cNvSpPr>
            <a:spLocks noChangeShapeType="1"/>
          </p:cNvSpPr>
          <p:nvPr/>
        </p:nvSpPr>
        <p:spPr bwMode="auto">
          <a:xfrm flipH="1">
            <a:off x="755650" y="4581525"/>
            <a:ext cx="7056438" cy="15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TR"/>
          </a:p>
        </p:txBody>
      </p:sp>
      <p:sp>
        <p:nvSpPr>
          <p:cNvPr id="13" name="Line 6">
            <a:extLst>
              <a:ext uri="{FF2B5EF4-FFF2-40B4-BE49-F238E27FC236}">
                <a16:creationId xmlns:a16="http://schemas.microsoft.com/office/drawing/2014/main" id="{E072FBA4-46B5-EB4E-A94F-EBE6D515535B}"/>
              </a:ext>
            </a:extLst>
          </p:cNvPr>
          <p:cNvSpPr>
            <a:spLocks noChangeShapeType="1"/>
          </p:cNvSpPr>
          <p:nvPr/>
        </p:nvSpPr>
        <p:spPr bwMode="auto">
          <a:xfrm flipV="1">
            <a:off x="755650" y="4221163"/>
            <a:ext cx="0" cy="360362"/>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TR"/>
          </a:p>
        </p:txBody>
      </p:sp>
      <p:sp>
        <p:nvSpPr>
          <p:cNvPr id="14" name="Text Box 7">
            <a:extLst>
              <a:ext uri="{FF2B5EF4-FFF2-40B4-BE49-F238E27FC236}">
                <a16:creationId xmlns:a16="http://schemas.microsoft.com/office/drawing/2014/main" id="{8F43D51A-EA59-2948-8EB4-4D9A18367507}"/>
              </a:ext>
            </a:extLst>
          </p:cNvPr>
          <p:cNvSpPr txBox="1">
            <a:spLocks noChangeArrowheads="1"/>
          </p:cNvSpPr>
          <p:nvPr/>
        </p:nvSpPr>
        <p:spPr bwMode="auto">
          <a:xfrm>
            <a:off x="3203575" y="4652963"/>
            <a:ext cx="23764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tr-TR" altLang="en-TR" sz="2400">
                <a:latin typeface="Tahoma" panose="020B0604030504040204" pitchFamily="34" charset="0"/>
              </a:rPr>
              <a:t>Geribildirim</a:t>
            </a:r>
          </a:p>
        </p:txBody>
      </p:sp>
      <p:sp>
        <p:nvSpPr>
          <p:cNvPr id="16" name="AutoShape 8">
            <a:extLst>
              <a:ext uri="{FF2B5EF4-FFF2-40B4-BE49-F238E27FC236}">
                <a16:creationId xmlns:a16="http://schemas.microsoft.com/office/drawing/2014/main" id="{8482C970-C4D2-B542-8CFC-993089D97E71}"/>
              </a:ext>
            </a:extLst>
          </p:cNvPr>
          <p:cNvSpPr>
            <a:spLocks noChangeArrowheads="1"/>
          </p:cNvSpPr>
          <p:nvPr/>
        </p:nvSpPr>
        <p:spPr bwMode="auto">
          <a:xfrm>
            <a:off x="468313" y="3357563"/>
            <a:ext cx="1728787" cy="792162"/>
          </a:xfrm>
          <a:prstGeom prst="cube">
            <a:avLst>
              <a:gd name="adj" fmla="val 25000"/>
            </a:avLst>
          </a:prstGeom>
          <a:gradFill rotWithShape="1">
            <a:gsLst>
              <a:gs pos="0">
                <a:srgbClr val="FFCC00">
                  <a:gamma/>
                  <a:shade val="72941"/>
                  <a:invGamma/>
                </a:srgbClr>
              </a:gs>
              <a:gs pos="100000">
                <a:srgbClr val="FFCC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sz="2400">
                <a:latin typeface="Tahoma" panose="020B0604030504040204" pitchFamily="34" charset="0"/>
              </a:rPr>
              <a:t>Gönderici</a:t>
            </a:r>
          </a:p>
        </p:txBody>
      </p:sp>
      <p:sp>
        <p:nvSpPr>
          <p:cNvPr id="17" name="AutoShape 9">
            <a:extLst>
              <a:ext uri="{FF2B5EF4-FFF2-40B4-BE49-F238E27FC236}">
                <a16:creationId xmlns:a16="http://schemas.microsoft.com/office/drawing/2014/main" id="{36972351-318D-7B40-AFAC-0E1A25A10B67}"/>
              </a:ext>
            </a:extLst>
          </p:cNvPr>
          <p:cNvSpPr>
            <a:spLocks noChangeArrowheads="1"/>
          </p:cNvSpPr>
          <p:nvPr/>
        </p:nvSpPr>
        <p:spPr bwMode="auto">
          <a:xfrm>
            <a:off x="2052638" y="3644900"/>
            <a:ext cx="431800" cy="215900"/>
          </a:xfrm>
          <a:prstGeom prst="rightArrow">
            <a:avLst>
              <a:gd name="adj1" fmla="val 50000"/>
              <a:gd name="adj2" fmla="val 50000"/>
            </a:avLst>
          </a:prstGeom>
          <a:solidFill>
            <a:srgbClr val="8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18" name="AutoShape 10">
            <a:extLst>
              <a:ext uri="{FF2B5EF4-FFF2-40B4-BE49-F238E27FC236}">
                <a16:creationId xmlns:a16="http://schemas.microsoft.com/office/drawing/2014/main" id="{4B3B32D4-F8C1-E247-9729-11EAAA459E6B}"/>
              </a:ext>
            </a:extLst>
          </p:cNvPr>
          <p:cNvSpPr>
            <a:spLocks noChangeArrowheads="1"/>
          </p:cNvSpPr>
          <p:nvPr/>
        </p:nvSpPr>
        <p:spPr bwMode="auto">
          <a:xfrm>
            <a:off x="2555875" y="3357563"/>
            <a:ext cx="1728788" cy="792162"/>
          </a:xfrm>
          <a:prstGeom prst="cube">
            <a:avLst>
              <a:gd name="adj" fmla="val 25000"/>
            </a:avLst>
          </a:prstGeom>
          <a:gradFill rotWithShape="1">
            <a:gsLst>
              <a:gs pos="0">
                <a:srgbClr val="FFCC00">
                  <a:gamma/>
                  <a:shade val="72941"/>
                  <a:invGamma/>
                </a:srgbClr>
              </a:gs>
              <a:gs pos="100000">
                <a:srgbClr val="FFCC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sz="2400">
                <a:latin typeface="Tahoma" panose="020B0604030504040204" pitchFamily="34" charset="0"/>
              </a:rPr>
              <a:t>Mesaj</a:t>
            </a:r>
          </a:p>
        </p:txBody>
      </p:sp>
      <p:sp>
        <p:nvSpPr>
          <p:cNvPr id="19" name="AutoShape 11">
            <a:extLst>
              <a:ext uri="{FF2B5EF4-FFF2-40B4-BE49-F238E27FC236}">
                <a16:creationId xmlns:a16="http://schemas.microsoft.com/office/drawing/2014/main" id="{2E0314EF-9BA7-6843-A918-8FA2AB8AC9A2}"/>
              </a:ext>
            </a:extLst>
          </p:cNvPr>
          <p:cNvSpPr>
            <a:spLocks noChangeArrowheads="1"/>
          </p:cNvSpPr>
          <p:nvPr/>
        </p:nvSpPr>
        <p:spPr bwMode="auto">
          <a:xfrm>
            <a:off x="4211638" y="3644900"/>
            <a:ext cx="431800" cy="215900"/>
          </a:xfrm>
          <a:prstGeom prst="rightArrow">
            <a:avLst>
              <a:gd name="adj1" fmla="val 50000"/>
              <a:gd name="adj2" fmla="val 50000"/>
            </a:avLst>
          </a:prstGeom>
          <a:solidFill>
            <a:srgbClr val="8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20" name="AutoShape 12">
            <a:extLst>
              <a:ext uri="{FF2B5EF4-FFF2-40B4-BE49-F238E27FC236}">
                <a16:creationId xmlns:a16="http://schemas.microsoft.com/office/drawing/2014/main" id="{77FB9CB8-B8C7-9547-AD2F-5E28A07E8401}"/>
              </a:ext>
            </a:extLst>
          </p:cNvPr>
          <p:cNvSpPr>
            <a:spLocks noChangeArrowheads="1"/>
          </p:cNvSpPr>
          <p:nvPr/>
        </p:nvSpPr>
        <p:spPr bwMode="auto">
          <a:xfrm>
            <a:off x="4716463" y="3357563"/>
            <a:ext cx="1728787" cy="792162"/>
          </a:xfrm>
          <a:prstGeom prst="cube">
            <a:avLst>
              <a:gd name="adj" fmla="val 25000"/>
            </a:avLst>
          </a:prstGeom>
          <a:gradFill rotWithShape="1">
            <a:gsLst>
              <a:gs pos="0">
                <a:srgbClr val="FFCC00">
                  <a:gamma/>
                  <a:shade val="72941"/>
                  <a:invGamma/>
                </a:srgbClr>
              </a:gs>
              <a:gs pos="100000">
                <a:srgbClr val="FFCC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a:latin typeface="Tahoma" panose="020B0604030504040204" pitchFamily="34" charset="0"/>
              </a:rPr>
              <a:t>İletişim Aracı</a:t>
            </a:r>
          </a:p>
        </p:txBody>
      </p:sp>
      <p:sp>
        <p:nvSpPr>
          <p:cNvPr id="21" name="AutoShape 13">
            <a:extLst>
              <a:ext uri="{FF2B5EF4-FFF2-40B4-BE49-F238E27FC236}">
                <a16:creationId xmlns:a16="http://schemas.microsoft.com/office/drawing/2014/main" id="{50097DC9-75AD-FF4A-9E35-A07CCE6E1FCA}"/>
              </a:ext>
            </a:extLst>
          </p:cNvPr>
          <p:cNvSpPr>
            <a:spLocks noChangeArrowheads="1"/>
          </p:cNvSpPr>
          <p:nvPr/>
        </p:nvSpPr>
        <p:spPr bwMode="auto">
          <a:xfrm>
            <a:off x="6877050" y="3357563"/>
            <a:ext cx="1439863" cy="792162"/>
          </a:xfrm>
          <a:prstGeom prst="cube">
            <a:avLst>
              <a:gd name="adj" fmla="val 25000"/>
            </a:avLst>
          </a:prstGeom>
          <a:gradFill rotWithShape="1">
            <a:gsLst>
              <a:gs pos="0">
                <a:srgbClr val="FFCC00">
                  <a:gamma/>
                  <a:shade val="72941"/>
                  <a:invGamma/>
                </a:srgbClr>
              </a:gs>
              <a:gs pos="100000">
                <a:srgbClr val="FFCC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sz="2400">
                <a:latin typeface="Tahoma" panose="020B0604030504040204" pitchFamily="34" charset="0"/>
              </a:rPr>
              <a:t>Alıcı</a:t>
            </a:r>
          </a:p>
        </p:txBody>
      </p:sp>
      <p:sp>
        <p:nvSpPr>
          <p:cNvPr id="22" name="AutoShape 14">
            <a:extLst>
              <a:ext uri="{FF2B5EF4-FFF2-40B4-BE49-F238E27FC236}">
                <a16:creationId xmlns:a16="http://schemas.microsoft.com/office/drawing/2014/main" id="{A3E64711-4FFF-AF49-A006-71A5DD5674C4}"/>
              </a:ext>
            </a:extLst>
          </p:cNvPr>
          <p:cNvSpPr>
            <a:spLocks noChangeArrowheads="1"/>
          </p:cNvSpPr>
          <p:nvPr/>
        </p:nvSpPr>
        <p:spPr bwMode="auto">
          <a:xfrm>
            <a:off x="6372225" y="3644900"/>
            <a:ext cx="431800" cy="215900"/>
          </a:xfrm>
          <a:prstGeom prst="rightArrow">
            <a:avLst>
              <a:gd name="adj1" fmla="val 50000"/>
              <a:gd name="adj2" fmla="val 50000"/>
            </a:avLst>
          </a:prstGeom>
          <a:solidFill>
            <a:srgbClr val="8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Tree>
    <p:extLst>
      <p:ext uri="{BB962C8B-B14F-4D97-AF65-F5344CB8AC3E}">
        <p14:creationId xmlns:p14="http://schemas.microsoft.com/office/powerpoint/2010/main" val="17781439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İLETİŞİM</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9</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9</a:t>
            </a:fld>
            <a:endParaRPr lang="tr-TR"/>
          </a:p>
        </p:txBody>
      </p:sp>
      <p:sp>
        <p:nvSpPr>
          <p:cNvPr id="25" name="Oval 24">
            <a:extLst>
              <a:ext uri="{FF2B5EF4-FFF2-40B4-BE49-F238E27FC236}">
                <a16:creationId xmlns:a16="http://schemas.microsoft.com/office/drawing/2014/main" id="{F103498F-B49D-4DA8-8B0C-C3B686C155FD}"/>
              </a:ext>
            </a:extLst>
          </p:cNvPr>
          <p:cNvSpPr/>
          <p:nvPr/>
        </p:nvSpPr>
        <p:spPr>
          <a:xfrm>
            <a:off x="3581401" y="1692275"/>
            <a:ext cx="1752600" cy="388710"/>
          </a:xfrm>
          <a:prstGeom prst="ellipse">
            <a:avLst/>
          </a:prstGeom>
          <a:solidFill>
            <a:schemeClr val="tx1">
              <a:alpha val="0"/>
            </a:scheme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b="1" dirty="0">
                <a:solidFill>
                  <a:schemeClr val="bg1"/>
                </a:solidFill>
              </a:rPr>
              <a:t>Etkileşim</a:t>
            </a:r>
          </a:p>
        </p:txBody>
      </p:sp>
      <p:sp>
        <p:nvSpPr>
          <p:cNvPr id="40" name="Rectangle 39">
            <a:extLst>
              <a:ext uri="{FF2B5EF4-FFF2-40B4-BE49-F238E27FC236}">
                <a16:creationId xmlns:a16="http://schemas.microsoft.com/office/drawing/2014/main" id="{08CAC733-8D7A-194A-AF77-87704098DD43}"/>
              </a:ext>
            </a:extLst>
          </p:cNvPr>
          <p:cNvSpPr/>
          <p:nvPr/>
        </p:nvSpPr>
        <p:spPr>
          <a:xfrm>
            <a:off x="468964" y="1885834"/>
            <a:ext cx="7660051" cy="830997"/>
          </a:xfrm>
          <a:prstGeom prst="rect">
            <a:avLst/>
          </a:prstGeom>
        </p:spPr>
        <p:txBody>
          <a:bodyPr wrap="square">
            <a:spAutoFit/>
          </a:bodyPr>
          <a:lstStyle/>
          <a:p>
            <a:pPr eaLnBrk="0" hangingPunct="0">
              <a:spcBef>
                <a:spcPct val="50000"/>
              </a:spcBef>
            </a:pPr>
            <a:r>
              <a:rPr lang="tr-TR" altLang="en-TR" sz="2400" dirty="0">
                <a:latin typeface="Tahoma" panose="020B0604030504040204" pitchFamily="34" charset="0"/>
              </a:rPr>
              <a:t>e-Öğrenme dünyasında bu unsurların karşılıkları neler olabilir?</a:t>
            </a:r>
          </a:p>
        </p:txBody>
      </p:sp>
      <p:sp>
        <p:nvSpPr>
          <p:cNvPr id="11" name="Line 4">
            <a:extLst>
              <a:ext uri="{FF2B5EF4-FFF2-40B4-BE49-F238E27FC236}">
                <a16:creationId xmlns:a16="http://schemas.microsoft.com/office/drawing/2014/main" id="{16B167B7-ACB5-BE45-908D-F60AFFE3D5B8}"/>
              </a:ext>
            </a:extLst>
          </p:cNvPr>
          <p:cNvSpPr>
            <a:spLocks noChangeShapeType="1"/>
          </p:cNvSpPr>
          <p:nvPr/>
        </p:nvSpPr>
        <p:spPr bwMode="auto">
          <a:xfrm>
            <a:off x="7812088" y="4221163"/>
            <a:ext cx="0" cy="3603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TR"/>
          </a:p>
        </p:txBody>
      </p:sp>
      <p:sp>
        <p:nvSpPr>
          <p:cNvPr id="12" name="Line 5">
            <a:extLst>
              <a:ext uri="{FF2B5EF4-FFF2-40B4-BE49-F238E27FC236}">
                <a16:creationId xmlns:a16="http://schemas.microsoft.com/office/drawing/2014/main" id="{D5D43880-55E0-9C4F-8493-F4923E6BD535}"/>
              </a:ext>
            </a:extLst>
          </p:cNvPr>
          <p:cNvSpPr>
            <a:spLocks noChangeShapeType="1"/>
          </p:cNvSpPr>
          <p:nvPr/>
        </p:nvSpPr>
        <p:spPr bwMode="auto">
          <a:xfrm flipH="1">
            <a:off x="755650" y="4581525"/>
            <a:ext cx="7056438" cy="15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TR"/>
          </a:p>
        </p:txBody>
      </p:sp>
      <p:sp>
        <p:nvSpPr>
          <p:cNvPr id="13" name="Line 6">
            <a:extLst>
              <a:ext uri="{FF2B5EF4-FFF2-40B4-BE49-F238E27FC236}">
                <a16:creationId xmlns:a16="http://schemas.microsoft.com/office/drawing/2014/main" id="{E072FBA4-46B5-EB4E-A94F-EBE6D515535B}"/>
              </a:ext>
            </a:extLst>
          </p:cNvPr>
          <p:cNvSpPr>
            <a:spLocks noChangeShapeType="1"/>
          </p:cNvSpPr>
          <p:nvPr/>
        </p:nvSpPr>
        <p:spPr bwMode="auto">
          <a:xfrm flipV="1">
            <a:off x="755650" y="4221163"/>
            <a:ext cx="0" cy="360362"/>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TR"/>
          </a:p>
        </p:txBody>
      </p:sp>
      <p:sp>
        <p:nvSpPr>
          <p:cNvPr id="14" name="Text Box 7">
            <a:extLst>
              <a:ext uri="{FF2B5EF4-FFF2-40B4-BE49-F238E27FC236}">
                <a16:creationId xmlns:a16="http://schemas.microsoft.com/office/drawing/2014/main" id="{8F43D51A-EA59-2948-8EB4-4D9A18367507}"/>
              </a:ext>
            </a:extLst>
          </p:cNvPr>
          <p:cNvSpPr txBox="1">
            <a:spLocks noChangeArrowheads="1"/>
          </p:cNvSpPr>
          <p:nvPr/>
        </p:nvSpPr>
        <p:spPr bwMode="auto">
          <a:xfrm>
            <a:off x="3203575" y="4652963"/>
            <a:ext cx="23764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tr-TR" altLang="en-TR" sz="2400">
                <a:latin typeface="Tahoma" panose="020B0604030504040204" pitchFamily="34" charset="0"/>
              </a:rPr>
              <a:t>Geribildirim</a:t>
            </a:r>
          </a:p>
        </p:txBody>
      </p:sp>
      <p:sp>
        <p:nvSpPr>
          <p:cNvPr id="16" name="AutoShape 8">
            <a:extLst>
              <a:ext uri="{FF2B5EF4-FFF2-40B4-BE49-F238E27FC236}">
                <a16:creationId xmlns:a16="http://schemas.microsoft.com/office/drawing/2014/main" id="{8482C970-C4D2-B542-8CFC-993089D97E71}"/>
              </a:ext>
            </a:extLst>
          </p:cNvPr>
          <p:cNvSpPr>
            <a:spLocks noChangeArrowheads="1"/>
          </p:cNvSpPr>
          <p:nvPr/>
        </p:nvSpPr>
        <p:spPr bwMode="auto">
          <a:xfrm>
            <a:off x="468313" y="3357563"/>
            <a:ext cx="1728787" cy="792162"/>
          </a:xfrm>
          <a:prstGeom prst="cube">
            <a:avLst>
              <a:gd name="adj" fmla="val 25000"/>
            </a:avLst>
          </a:prstGeom>
          <a:gradFill rotWithShape="1">
            <a:gsLst>
              <a:gs pos="0">
                <a:srgbClr val="FFCC00">
                  <a:gamma/>
                  <a:shade val="72941"/>
                  <a:invGamma/>
                </a:srgbClr>
              </a:gs>
              <a:gs pos="100000">
                <a:srgbClr val="FFCC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sz="2400">
                <a:latin typeface="Tahoma" panose="020B0604030504040204" pitchFamily="34" charset="0"/>
              </a:rPr>
              <a:t>Gönderici</a:t>
            </a:r>
          </a:p>
        </p:txBody>
      </p:sp>
      <p:sp>
        <p:nvSpPr>
          <p:cNvPr id="17" name="AutoShape 9">
            <a:extLst>
              <a:ext uri="{FF2B5EF4-FFF2-40B4-BE49-F238E27FC236}">
                <a16:creationId xmlns:a16="http://schemas.microsoft.com/office/drawing/2014/main" id="{36972351-318D-7B40-AFAC-0E1A25A10B67}"/>
              </a:ext>
            </a:extLst>
          </p:cNvPr>
          <p:cNvSpPr>
            <a:spLocks noChangeArrowheads="1"/>
          </p:cNvSpPr>
          <p:nvPr/>
        </p:nvSpPr>
        <p:spPr bwMode="auto">
          <a:xfrm>
            <a:off x="2052638" y="3644900"/>
            <a:ext cx="431800" cy="215900"/>
          </a:xfrm>
          <a:prstGeom prst="rightArrow">
            <a:avLst>
              <a:gd name="adj1" fmla="val 50000"/>
              <a:gd name="adj2" fmla="val 50000"/>
            </a:avLst>
          </a:prstGeom>
          <a:solidFill>
            <a:srgbClr val="8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18" name="AutoShape 10">
            <a:extLst>
              <a:ext uri="{FF2B5EF4-FFF2-40B4-BE49-F238E27FC236}">
                <a16:creationId xmlns:a16="http://schemas.microsoft.com/office/drawing/2014/main" id="{4B3B32D4-F8C1-E247-9729-11EAAA459E6B}"/>
              </a:ext>
            </a:extLst>
          </p:cNvPr>
          <p:cNvSpPr>
            <a:spLocks noChangeArrowheads="1"/>
          </p:cNvSpPr>
          <p:nvPr/>
        </p:nvSpPr>
        <p:spPr bwMode="auto">
          <a:xfrm>
            <a:off x="2555875" y="3357563"/>
            <a:ext cx="1728788" cy="792162"/>
          </a:xfrm>
          <a:prstGeom prst="cube">
            <a:avLst>
              <a:gd name="adj" fmla="val 25000"/>
            </a:avLst>
          </a:prstGeom>
          <a:gradFill rotWithShape="1">
            <a:gsLst>
              <a:gs pos="0">
                <a:srgbClr val="FFCC00">
                  <a:gamma/>
                  <a:shade val="72941"/>
                  <a:invGamma/>
                </a:srgbClr>
              </a:gs>
              <a:gs pos="100000">
                <a:srgbClr val="FFCC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sz="2400">
                <a:latin typeface="Tahoma" panose="020B0604030504040204" pitchFamily="34" charset="0"/>
              </a:rPr>
              <a:t>Mesaj</a:t>
            </a:r>
          </a:p>
        </p:txBody>
      </p:sp>
      <p:sp>
        <p:nvSpPr>
          <p:cNvPr id="19" name="AutoShape 11">
            <a:extLst>
              <a:ext uri="{FF2B5EF4-FFF2-40B4-BE49-F238E27FC236}">
                <a16:creationId xmlns:a16="http://schemas.microsoft.com/office/drawing/2014/main" id="{2E0314EF-9BA7-6843-A918-8FA2AB8AC9A2}"/>
              </a:ext>
            </a:extLst>
          </p:cNvPr>
          <p:cNvSpPr>
            <a:spLocks noChangeArrowheads="1"/>
          </p:cNvSpPr>
          <p:nvPr/>
        </p:nvSpPr>
        <p:spPr bwMode="auto">
          <a:xfrm>
            <a:off x="4211638" y="3644900"/>
            <a:ext cx="431800" cy="215900"/>
          </a:xfrm>
          <a:prstGeom prst="rightArrow">
            <a:avLst>
              <a:gd name="adj1" fmla="val 50000"/>
              <a:gd name="adj2" fmla="val 50000"/>
            </a:avLst>
          </a:prstGeom>
          <a:solidFill>
            <a:srgbClr val="8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20" name="AutoShape 12">
            <a:extLst>
              <a:ext uri="{FF2B5EF4-FFF2-40B4-BE49-F238E27FC236}">
                <a16:creationId xmlns:a16="http://schemas.microsoft.com/office/drawing/2014/main" id="{77FB9CB8-B8C7-9547-AD2F-5E28A07E8401}"/>
              </a:ext>
            </a:extLst>
          </p:cNvPr>
          <p:cNvSpPr>
            <a:spLocks noChangeArrowheads="1"/>
          </p:cNvSpPr>
          <p:nvPr/>
        </p:nvSpPr>
        <p:spPr bwMode="auto">
          <a:xfrm>
            <a:off x="4716463" y="3357563"/>
            <a:ext cx="1728787" cy="792162"/>
          </a:xfrm>
          <a:prstGeom prst="cube">
            <a:avLst>
              <a:gd name="adj" fmla="val 25000"/>
            </a:avLst>
          </a:prstGeom>
          <a:gradFill rotWithShape="1">
            <a:gsLst>
              <a:gs pos="0">
                <a:srgbClr val="FFCC00">
                  <a:gamma/>
                  <a:shade val="72941"/>
                  <a:invGamma/>
                </a:srgbClr>
              </a:gs>
              <a:gs pos="100000">
                <a:srgbClr val="FFCC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a:latin typeface="Tahoma" panose="020B0604030504040204" pitchFamily="34" charset="0"/>
              </a:rPr>
              <a:t>İletişim Aracı</a:t>
            </a:r>
          </a:p>
        </p:txBody>
      </p:sp>
      <p:sp>
        <p:nvSpPr>
          <p:cNvPr id="21" name="AutoShape 13">
            <a:extLst>
              <a:ext uri="{FF2B5EF4-FFF2-40B4-BE49-F238E27FC236}">
                <a16:creationId xmlns:a16="http://schemas.microsoft.com/office/drawing/2014/main" id="{50097DC9-75AD-FF4A-9E35-A07CCE6E1FCA}"/>
              </a:ext>
            </a:extLst>
          </p:cNvPr>
          <p:cNvSpPr>
            <a:spLocks noChangeArrowheads="1"/>
          </p:cNvSpPr>
          <p:nvPr/>
        </p:nvSpPr>
        <p:spPr bwMode="auto">
          <a:xfrm>
            <a:off x="6877050" y="3357563"/>
            <a:ext cx="1439863" cy="792162"/>
          </a:xfrm>
          <a:prstGeom prst="cube">
            <a:avLst>
              <a:gd name="adj" fmla="val 25000"/>
            </a:avLst>
          </a:prstGeom>
          <a:gradFill rotWithShape="1">
            <a:gsLst>
              <a:gs pos="0">
                <a:srgbClr val="FFCC00">
                  <a:gamma/>
                  <a:shade val="72941"/>
                  <a:invGamma/>
                </a:srgbClr>
              </a:gs>
              <a:gs pos="100000">
                <a:srgbClr val="FFCC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sz="2400">
                <a:latin typeface="Tahoma" panose="020B0604030504040204" pitchFamily="34" charset="0"/>
              </a:rPr>
              <a:t>Alıcı</a:t>
            </a:r>
          </a:p>
        </p:txBody>
      </p:sp>
      <p:sp>
        <p:nvSpPr>
          <p:cNvPr id="22" name="AutoShape 14">
            <a:extLst>
              <a:ext uri="{FF2B5EF4-FFF2-40B4-BE49-F238E27FC236}">
                <a16:creationId xmlns:a16="http://schemas.microsoft.com/office/drawing/2014/main" id="{A3E64711-4FFF-AF49-A006-71A5DD5674C4}"/>
              </a:ext>
            </a:extLst>
          </p:cNvPr>
          <p:cNvSpPr>
            <a:spLocks noChangeArrowheads="1"/>
          </p:cNvSpPr>
          <p:nvPr/>
        </p:nvSpPr>
        <p:spPr bwMode="auto">
          <a:xfrm>
            <a:off x="6372225" y="3644900"/>
            <a:ext cx="431800" cy="215900"/>
          </a:xfrm>
          <a:prstGeom prst="rightArrow">
            <a:avLst>
              <a:gd name="adj1" fmla="val 50000"/>
              <a:gd name="adj2" fmla="val 50000"/>
            </a:avLst>
          </a:prstGeom>
          <a:solidFill>
            <a:srgbClr val="8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Tree>
    <p:extLst>
      <p:ext uri="{BB962C8B-B14F-4D97-AF65-F5344CB8AC3E}">
        <p14:creationId xmlns:p14="http://schemas.microsoft.com/office/powerpoint/2010/main" val="27779228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İLETİŞİM</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10</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10</a:t>
            </a:fld>
            <a:endParaRPr lang="tr-TR"/>
          </a:p>
        </p:txBody>
      </p:sp>
      <p:sp>
        <p:nvSpPr>
          <p:cNvPr id="25" name="Oval 24">
            <a:extLst>
              <a:ext uri="{FF2B5EF4-FFF2-40B4-BE49-F238E27FC236}">
                <a16:creationId xmlns:a16="http://schemas.microsoft.com/office/drawing/2014/main" id="{F103498F-B49D-4DA8-8B0C-C3B686C155FD}"/>
              </a:ext>
            </a:extLst>
          </p:cNvPr>
          <p:cNvSpPr/>
          <p:nvPr/>
        </p:nvSpPr>
        <p:spPr>
          <a:xfrm>
            <a:off x="3581401" y="1692275"/>
            <a:ext cx="1752600" cy="388710"/>
          </a:xfrm>
          <a:prstGeom prst="ellipse">
            <a:avLst/>
          </a:prstGeom>
          <a:solidFill>
            <a:schemeClr val="tx1">
              <a:alpha val="0"/>
            </a:scheme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b="1" dirty="0">
                <a:solidFill>
                  <a:schemeClr val="bg1"/>
                </a:solidFill>
              </a:rPr>
              <a:t>Etkileşim</a:t>
            </a:r>
          </a:p>
        </p:txBody>
      </p:sp>
      <p:sp>
        <p:nvSpPr>
          <p:cNvPr id="11" name="Line 4">
            <a:extLst>
              <a:ext uri="{FF2B5EF4-FFF2-40B4-BE49-F238E27FC236}">
                <a16:creationId xmlns:a16="http://schemas.microsoft.com/office/drawing/2014/main" id="{16B167B7-ACB5-BE45-908D-F60AFFE3D5B8}"/>
              </a:ext>
            </a:extLst>
          </p:cNvPr>
          <p:cNvSpPr>
            <a:spLocks noChangeShapeType="1"/>
          </p:cNvSpPr>
          <p:nvPr/>
        </p:nvSpPr>
        <p:spPr bwMode="auto">
          <a:xfrm>
            <a:off x="7812088" y="4221163"/>
            <a:ext cx="0" cy="3603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TR"/>
          </a:p>
        </p:txBody>
      </p:sp>
      <p:sp>
        <p:nvSpPr>
          <p:cNvPr id="12" name="Line 5">
            <a:extLst>
              <a:ext uri="{FF2B5EF4-FFF2-40B4-BE49-F238E27FC236}">
                <a16:creationId xmlns:a16="http://schemas.microsoft.com/office/drawing/2014/main" id="{D5D43880-55E0-9C4F-8493-F4923E6BD535}"/>
              </a:ext>
            </a:extLst>
          </p:cNvPr>
          <p:cNvSpPr>
            <a:spLocks noChangeShapeType="1"/>
          </p:cNvSpPr>
          <p:nvPr/>
        </p:nvSpPr>
        <p:spPr bwMode="auto">
          <a:xfrm flipH="1">
            <a:off x="755650" y="4581525"/>
            <a:ext cx="7056438" cy="15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TR"/>
          </a:p>
        </p:txBody>
      </p:sp>
      <p:sp>
        <p:nvSpPr>
          <p:cNvPr id="13" name="Line 6">
            <a:extLst>
              <a:ext uri="{FF2B5EF4-FFF2-40B4-BE49-F238E27FC236}">
                <a16:creationId xmlns:a16="http://schemas.microsoft.com/office/drawing/2014/main" id="{E072FBA4-46B5-EB4E-A94F-EBE6D515535B}"/>
              </a:ext>
            </a:extLst>
          </p:cNvPr>
          <p:cNvSpPr>
            <a:spLocks noChangeShapeType="1"/>
          </p:cNvSpPr>
          <p:nvPr/>
        </p:nvSpPr>
        <p:spPr bwMode="auto">
          <a:xfrm flipV="1">
            <a:off x="755650" y="4221163"/>
            <a:ext cx="0" cy="360362"/>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TR"/>
          </a:p>
        </p:txBody>
      </p:sp>
      <p:sp>
        <p:nvSpPr>
          <p:cNvPr id="14" name="Text Box 7">
            <a:extLst>
              <a:ext uri="{FF2B5EF4-FFF2-40B4-BE49-F238E27FC236}">
                <a16:creationId xmlns:a16="http://schemas.microsoft.com/office/drawing/2014/main" id="{8F43D51A-EA59-2948-8EB4-4D9A18367507}"/>
              </a:ext>
            </a:extLst>
          </p:cNvPr>
          <p:cNvSpPr txBox="1">
            <a:spLocks noChangeArrowheads="1"/>
          </p:cNvSpPr>
          <p:nvPr/>
        </p:nvSpPr>
        <p:spPr bwMode="auto">
          <a:xfrm>
            <a:off x="3203575" y="4652963"/>
            <a:ext cx="23764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tr-TR" altLang="en-TR" sz="2400">
                <a:latin typeface="Tahoma" panose="020B0604030504040204" pitchFamily="34" charset="0"/>
              </a:rPr>
              <a:t>Geribildirim</a:t>
            </a:r>
          </a:p>
        </p:txBody>
      </p:sp>
      <p:sp>
        <p:nvSpPr>
          <p:cNvPr id="16" name="AutoShape 8">
            <a:extLst>
              <a:ext uri="{FF2B5EF4-FFF2-40B4-BE49-F238E27FC236}">
                <a16:creationId xmlns:a16="http://schemas.microsoft.com/office/drawing/2014/main" id="{8482C970-C4D2-B542-8CFC-993089D97E71}"/>
              </a:ext>
            </a:extLst>
          </p:cNvPr>
          <p:cNvSpPr>
            <a:spLocks noChangeArrowheads="1"/>
          </p:cNvSpPr>
          <p:nvPr/>
        </p:nvSpPr>
        <p:spPr bwMode="auto">
          <a:xfrm>
            <a:off x="468313" y="3357563"/>
            <a:ext cx="1728787" cy="792162"/>
          </a:xfrm>
          <a:prstGeom prst="cube">
            <a:avLst>
              <a:gd name="adj" fmla="val 25000"/>
            </a:avLst>
          </a:prstGeom>
          <a:gradFill rotWithShape="1">
            <a:gsLst>
              <a:gs pos="0">
                <a:srgbClr val="FFCC00">
                  <a:gamma/>
                  <a:shade val="72941"/>
                  <a:invGamma/>
                </a:srgbClr>
              </a:gs>
              <a:gs pos="100000">
                <a:srgbClr val="FFCC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sz="2400">
                <a:latin typeface="Tahoma" panose="020B0604030504040204" pitchFamily="34" charset="0"/>
              </a:rPr>
              <a:t>Gönderici</a:t>
            </a:r>
          </a:p>
        </p:txBody>
      </p:sp>
      <p:sp>
        <p:nvSpPr>
          <p:cNvPr id="17" name="AutoShape 9">
            <a:extLst>
              <a:ext uri="{FF2B5EF4-FFF2-40B4-BE49-F238E27FC236}">
                <a16:creationId xmlns:a16="http://schemas.microsoft.com/office/drawing/2014/main" id="{36972351-318D-7B40-AFAC-0E1A25A10B67}"/>
              </a:ext>
            </a:extLst>
          </p:cNvPr>
          <p:cNvSpPr>
            <a:spLocks noChangeArrowheads="1"/>
          </p:cNvSpPr>
          <p:nvPr/>
        </p:nvSpPr>
        <p:spPr bwMode="auto">
          <a:xfrm>
            <a:off x="2052638" y="3644900"/>
            <a:ext cx="431800" cy="215900"/>
          </a:xfrm>
          <a:prstGeom prst="rightArrow">
            <a:avLst>
              <a:gd name="adj1" fmla="val 50000"/>
              <a:gd name="adj2" fmla="val 50000"/>
            </a:avLst>
          </a:prstGeom>
          <a:solidFill>
            <a:srgbClr val="8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18" name="AutoShape 10">
            <a:extLst>
              <a:ext uri="{FF2B5EF4-FFF2-40B4-BE49-F238E27FC236}">
                <a16:creationId xmlns:a16="http://schemas.microsoft.com/office/drawing/2014/main" id="{4B3B32D4-F8C1-E247-9729-11EAAA459E6B}"/>
              </a:ext>
            </a:extLst>
          </p:cNvPr>
          <p:cNvSpPr>
            <a:spLocks noChangeArrowheads="1"/>
          </p:cNvSpPr>
          <p:nvPr/>
        </p:nvSpPr>
        <p:spPr bwMode="auto">
          <a:xfrm>
            <a:off x="2555875" y="3357563"/>
            <a:ext cx="1728788" cy="792162"/>
          </a:xfrm>
          <a:prstGeom prst="cube">
            <a:avLst>
              <a:gd name="adj" fmla="val 25000"/>
            </a:avLst>
          </a:prstGeom>
          <a:gradFill rotWithShape="1">
            <a:gsLst>
              <a:gs pos="0">
                <a:srgbClr val="FFCC00">
                  <a:gamma/>
                  <a:shade val="72941"/>
                  <a:invGamma/>
                </a:srgbClr>
              </a:gs>
              <a:gs pos="100000">
                <a:srgbClr val="FFCC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sz="2400">
                <a:latin typeface="Tahoma" panose="020B0604030504040204" pitchFamily="34" charset="0"/>
              </a:rPr>
              <a:t>Mesaj</a:t>
            </a:r>
          </a:p>
        </p:txBody>
      </p:sp>
      <p:sp>
        <p:nvSpPr>
          <p:cNvPr id="19" name="AutoShape 11">
            <a:extLst>
              <a:ext uri="{FF2B5EF4-FFF2-40B4-BE49-F238E27FC236}">
                <a16:creationId xmlns:a16="http://schemas.microsoft.com/office/drawing/2014/main" id="{2E0314EF-9BA7-6843-A918-8FA2AB8AC9A2}"/>
              </a:ext>
            </a:extLst>
          </p:cNvPr>
          <p:cNvSpPr>
            <a:spLocks noChangeArrowheads="1"/>
          </p:cNvSpPr>
          <p:nvPr/>
        </p:nvSpPr>
        <p:spPr bwMode="auto">
          <a:xfrm>
            <a:off x="4211638" y="3644900"/>
            <a:ext cx="431800" cy="215900"/>
          </a:xfrm>
          <a:prstGeom prst="rightArrow">
            <a:avLst>
              <a:gd name="adj1" fmla="val 50000"/>
              <a:gd name="adj2" fmla="val 50000"/>
            </a:avLst>
          </a:prstGeom>
          <a:solidFill>
            <a:srgbClr val="8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20" name="AutoShape 12">
            <a:extLst>
              <a:ext uri="{FF2B5EF4-FFF2-40B4-BE49-F238E27FC236}">
                <a16:creationId xmlns:a16="http://schemas.microsoft.com/office/drawing/2014/main" id="{77FB9CB8-B8C7-9547-AD2F-5E28A07E8401}"/>
              </a:ext>
            </a:extLst>
          </p:cNvPr>
          <p:cNvSpPr>
            <a:spLocks noChangeArrowheads="1"/>
          </p:cNvSpPr>
          <p:nvPr/>
        </p:nvSpPr>
        <p:spPr bwMode="auto">
          <a:xfrm>
            <a:off x="4716463" y="3357563"/>
            <a:ext cx="1728787" cy="792162"/>
          </a:xfrm>
          <a:prstGeom prst="cube">
            <a:avLst>
              <a:gd name="adj" fmla="val 25000"/>
            </a:avLst>
          </a:prstGeom>
          <a:gradFill rotWithShape="1">
            <a:gsLst>
              <a:gs pos="0">
                <a:srgbClr val="FFCC00">
                  <a:gamma/>
                  <a:shade val="72941"/>
                  <a:invGamma/>
                </a:srgbClr>
              </a:gs>
              <a:gs pos="100000">
                <a:srgbClr val="FFCC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a:latin typeface="Tahoma" panose="020B0604030504040204" pitchFamily="34" charset="0"/>
              </a:rPr>
              <a:t>İletişim Aracı</a:t>
            </a:r>
          </a:p>
        </p:txBody>
      </p:sp>
      <p:sp>
        <p:nvSpPr>
          <p:cNvPr id="21" name="AutoShape 13">
            <a:extLst>
              <a:ext uri="{FF2B5EF4-FFF2-40B4-BE49-F238E27FC236}">
                <a16:creationId xmlns:a16="http://schemas.microsoft.com/office/drawing/2014/main" id="{50097DC9-75AD-FF4A-9E35-A07CCE6E1FCA}"/>
              </a:ext>
            </a:extLst>
          </p:cNvPr>
          <p:cNvSpPr>
            <a:spLocks noChangeArrowheads="1"/>
          </p:cNvSpPr>
          <p:nvPr/>
        </p:nvSpPr>
        <p:spPr bwMode="auto">
          <a:xfrm>
            <a:off x="6877050" y="3357563"/>
            <a:ext cx="1439863" cy="792162"/>
          </a:xfrm>
          <a:prstGeom prst="cube">
            <a:avLst>
              <a:gd name="adj" fmla="val 25000"/>
            </a:avLst>
          </a:prstGeom>
          <a:gradFill rotWithShape="1">
            <a:gsLst>
              <a:gs pos="0">
                <a:srgbClr val="FFCC00">
                  <a:gamma/>
                  <a:shade val="72941"/>
                  <a:invGamma/>
                </a:srgbClr>
              </a:gs>
              <a:gs pos="100000">
                <a:srgbClr val="FFCC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sz="2400">
                <a:latin typeface="Tahoma" panose="020B0604030504040204" pitchFamily="34" charset="0"/>
              </a:rPr>
              <a:t>Alıcı</a:t>
            </a:r>
          </a:p>
        </p:txBody>
      </p:sp>
      <p:sp>
        <p:nvSpPr>
          <p:cNvPr id="22" name="AutoShape 14">
            <a:extLst>
              <a:ext uri="{FF2B5EF4-FFF2-40B4-BE49-F238E27FC236}">
                <a16:creationId xmlns:a16="http://schemas.microsoft.com/office/drawing/2014/main" id="{A3E64711-4FFF-AF49-A006-71A5DD5674C4}"/>
              </a:ext>
            </a:extLst>
          </p:cNvPr>
          <p:cNvSpPr>
            <a:spLocks noChangeArrowheads="1"/>
          </p:cNvSpPr>
          <p:nvPr/>
        </p:nvSpPr>
        <p:spPr bwMode="auto">
          <a:xfrm>
            <a:off x="6372225" y="3644900"/>
            <a:ext cx="431800" cy="215900"/>
          </a:xfrm>
          <a:prstGeom prst="rightArrow">
            <a:avLst>
              <a:gd name="adj1" fmla="val 50000"/>
              <a:gd name="adj2" fmla="val 50000"/>
            </a:avLst>
          </a:prstGeom>
          <a:solidFill>
            <a:srgbClr val="8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23" name="AutoShape 11">
            <a:extLst>
              <a:ext uri="{FF2B5EF4-FFF2-40B4-BE49-F238E27FC236}">
                <a16:creationId xmlns:a16="http://schemas.microsoft.com/office/drawing/2014/main" id="{23A539DA-B528-F248-AA5E-30FEF03386E3}"/>
              </a:ext>
            </a:extLst>
          </p:cNvPr>
          <p:cNvSpPr>
            <a:spLocks noChangeArrowheads="1"/>
          </p:cNvSpPr>
          <p:nvPr/>
        </p:nvSpPr>
        <p:spPr bwMode="auto">
          <a:xfrm>
            <a:off x="468313" y="2781300"/>
            <a:ext cx="1728787" cy="792163"/>
          </a:xfrm>
          <a:prstGeom prst="cube">
            <a:avLst>
              <a:gd name="adj" fmla="val 25000"/>
            </a:avLst>
          </a:prstGeom>
          <a:gradFill rotWithShape="1">
            <a:gsLst>
              <a:gs pos="0">
                <a:schemeClr val="folHlink"/>
              </a:gs>
              <a:gs pos="100000">
                <a:schemeClr val="folHlink">
                  <a:gamma/>
                  <a:shade val="72941"/>
                  <a:invGamma/>
                </a:scheme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sz="2400" dirty="0">
                <a:solidFill>
                  <a:schemeClr val="bg1"/>
                </a:solidFill>
                <a:latin typeface="Tahoma" panose="020B0604030504040204" pitchFamily="34" charset="0"/>
              </a:rPr>
              <a:t>Bilgisayar</a:t>
            </a:r>
          </a:p>
        </p:txBody>
      </p:sp>
    </p:spTree>
    <p:extLst>
      <p:ext uri="{BB962C8B-B14F-4D97-AF65-F5344CB8AC3E}">
        <p14:creationId xmlns:p14="http://schemas.microsoft.com/office/powerpoint/2010/main" val="37614387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İLETİŞİM</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11</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11</a:t>
            </a:fld>
            <a:endParaRPr lang="tr-TR"/>
          </a:p>
        </p:txBody>
      </p:sp>
      <p:sp>
        <p:nvSpPr>
          <p:cNvPr id="25" name="Oval 24">
            <a:extLst>
              <a:ext uri="{FF2B5EF4-FFF2-40B4-BE49-F238E27FC236}">
                <a16:creationId xmlns:a16="http://schemas.microsoft.com/office/drawing/2014/main" id="{F103498F-B49D-4DA8-8B0C-C3B686C155FD}"/>
              </a:ext>
            </a:extLst>
          </p:cNvPr>
          <p:cNvSpPr/>
          <p:nvPr/>
        </p:nvSpPr>
        <p:spPr>
          <a:xfrm>
            <a:off x="3581401" y="1692275"/>
            <a:ext cx="1752600" cy="388710"/>
          </a:xfrm>
          <a:prstGeom prst="ellipse">
            <a:avLst/>
          </a:prstGeom>
          <a:solidFill>
            <a:schemeClr val="tx1">
              <a:alpha val="0"/>
            </a:scheme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b="1" dirty="0">
                <a:solidFill>
                  <a:schemeClr val="bg1"/>
                </a:solidFill>
              </a:rPr>
              <a:t>Etkileşim</a:t>
            </a:r>
          </a:p>
        </p:txBody>
      </p:sp>
      <p:sp>
        <p:nvSpPr>
          <p:cNvPr id="11" name="Line 4">
            <a:extLst>
              <a:ext uri="{FF2B5EF4-FFF2-40B4-BE49-F238E27FC236}">
                <a16:creationId xmlns:a16="http://schemas.microsoft.com/office/drawing/2014/main" id="{16B167B7-ACB5-BE45-908D-F60AFFE3D5B8}"/>
              </a:ext>
            </a:extLst>
          </p:cNvPr>
          <p:cNvSpPr>
            <a:spLocks noChangeShapeType="1"/>
          </p:cNvSpPr>
          <p:nvPr/>
        </p:nvSpPr>
        <p:spPr bwMode="auto">
          <a:xfrm>
            <a:off x="7812088" y="4221163"/>
            <a:ext cx="0" cy="3603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TR"/>
          </a:p>
        </p:txBody>
      </p:sp>
      <p:sp>
        <p:nvSpPr>
          <p:cNvPr id="12" name="Line 5">
            <a:extLst>
              <a:ext uri="{FF2B5EF4-FFF2-40B4-BE49-F238E27FC236}">
                <a16:creationId xmlns:a16="http://schemas.microsoft.com/office/drawing/2014/main" id="{D5D43880-55E0-9C4F-8493-F4923E6BD535}"/>
              </a:ext>
            </a:extLst>
          </p:cNvPr>
          <p:cNvSpPr>
            <a:spLocks noChangeShapeType="1"/>
          </p:cNvSpPr>
          <p:nvPr/>
        </p:nvSpPr>
        <p:spPr bwMode="auto">
          <a:xfrm flipH="1">
            <a:off x="755650" y="4581525"/>
            <a:ext cx="7056438" cy="15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TR"/>
          </a:p>
        </p:txBody>
      </p:sp>
      <p:sp>
        <p:nvSpPr>
          <p:cNvPr id="13" name="Line 6">
            <a:extLst>
              <a:ext uri="{FF2B5EF4-FFF2-40B4-BE49-F238E27FC236}">
                <a16:creationId xmlns:a16="http://schemas.microsoft.com/office/drawing/2014/main" id="{E072FBA4-46B5-EB4E-A94F-EBE6D515535B}"/>
              </a:ext>
            </a:extLst>
          </p:cNvPr>
          <p:cNvSpPr>
            <a:spLocks noChangeShapeType="1"/>
          </p:cNvSpPr>
          <p:nvPr/>
        </p:nvSpPr>
        <p:spPr bwMode="auto">
          <a:xfrm flipV="1">
            <a:off x="755650" y="4221163"/>
            <a:ext cx="0" cy="360362"/>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TR"/>
          </a:p>
        </p:txBody>
      </p:sp>
      <p:sp>
        <p:nvSpPr>
          <p:cNvPr id="14" name="Text Box 7">
            <a:extLst>
              <a:ext uri="{FF2B5EF4-FFF2-40B4-BE49-F238E27FC236}">
                <a16:creationId xmlns:a16="http://schemas.microsoft.com/office/drawing/2014/main" id="{8F43D51A-EA59-2948-8EB4-4D9A18367507}"/>
              </a:ext>
            </a:extLst>
          </p:cNvPr>
          <p:cNvSpPr txBox="1">
            <a:spLocks noChangeArrowheads="1"/>
          </p:cNvSpPr>
          <p:nvPr/>
        </p:nvSpPr>
        <p:spPr bwMode="auto">
          <a:xfrm>
            <a:off x="3203575" y="4652963"/>
            <a:ext cx="23764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tr-TR" altLang="en-TR" sz="2400">
                <a:latin typeface="Tahoma" panose="020B0604030504040204" pitchFamily="34" charset="0"/>
              </a:rPr>
              <a:t>Geribildirim</a:t>
            </a:r>
          </a:p>
        </p:txBody>
      </p:sp>
      <p:sp>
        <p:nvSpPr>
          <p:cNvPr id="16" name="AutoShape 8">
            <a:extLst>
              <a:ext uri="{FF2B5EF4-FFF2-40B4-BE49-F238E27FC236}">
                <a16:creationId xmlns:a16="http://schemas.microsoft.com/office/drawing/2014/main" id="{8482C970-C4D2-B542-8CFC-993089D97E71}"/>
              </a:ext>
            </a:extLst>
          </p:cNvPr>
          <p:cNvSpPr>
            <a:spLocks noChangeArrowheads="1"/>
          </p:cNvSpPr>
          <p:nvPr/>
        </p:nvSpPr>
        <p:spPr bwMode="auto">
          <a:xfrm>
            <a:off x="468313" y="3357563"/>
            <a:ext cx="1728787" cy="792162"/>
          </a:xfrm>
          <a:prstGeom prst="cube">
            <a:avLst>
              <a:gd name="adj" fmla="val 25000"/>
            </a:avLst>
          </a:prstGeom>
          <a:gradFill rotWithShape="1">
            <a:gsLst>
              <a:gs pos="0">
                <a:srgbClr val="FFCC00">
                  <a:gamma/>
                  <a:shade val="72941"/>
                  <a:invGamma/>
                </a:srgbClr>
              </a:gs>
              <a:gs pos="100000">
                <a:srgbClr val="FFCC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sz="2400">
                <a:latin typeface="Tahoma" panose="020B0604030504040204" pitchFamily="34" charset="0"/>
              </a:rPr>
              <a:t>Gönderici</a:t>
            </a:r>
          </a:p>
        </p:txBody>
      </p:sp>
      <p:sp>
        <p:nvSpPr>
          <p:cNvPr id="17" name="AutoShape 9">
            <a:extLst>
              <a:ext uri="{FF2B5EF4-FFF2-40B4-BE49-F238E27FC236}">
                <a16:creationId xmlns:a16="http://schemas.microsoft.com/office/drawing/2014/main" id="{36972351-318D-7B40-AFAC-0E1A25A10B67}"/>
              </a:ext>
            </a:extLst>
          </p:cNvPr>
          <p:cNvSpPr>
            <a:spLocks noChangeArrowheads="1"/>
          </p:cNvSpPr>
          <p:nvPr/>
        </p:nvSpPr>
        <p:spPr bwMode="auto">
          <a:xfrm>
            <a:off x="2052638" y="3644900"/>
            <a:ext cx="431800" cy="215900"/>
          </a:xfrm>
          <a:prstGeom prst="rightArrow">
            <a:avLst>
              <a:gd name="adj1" fmla="val 50000"/>
              <a:gd name="adj2" fmla="val 50000"/>
            </a:avLst>
          </a:prstGeom>
          <a:solidFill>
            <a:srgbClr val="8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18" name="AutoShape 10">
            <a:extLst>
              <a:ext uri="{FF2B5EF4-FFF2-40B4-BE49-F238E27FC236}">
                <a16:creationId xmlns:a16="http://schemas.microsoft.com/office/drawing/2014/main" id="{4B3B32D4-F8C1-E247-9729-11EAAA459E6B}"/>
              </a:ext>
            </a:extLst>
          </p:cNvPr>
          <p:cNvSpPr>
            <a:spLocks noChangeArrowheads="1"/>
          </p:cNvSpPr>
          <p:nvPr/>
        </p:nvSpPr>
        <p:spPr bwMode="auto">
          <a:xfrm>
            <a:off x="2555875" y="3357563"/>
            <a:ext cx="1728788" cy="792162"/>
          </a:xfrm>
          <a:prstGeom prst="cube">
            <a:avLst>
              <a:gd name="adj" fmla="val 25000"/>
            </a:avLst>
          </a:prstGeom>
          <a:gradFill rotWithShape="1">
            <a:gsLst>
              <a:gs pos="0">
                <a:srgbClr val="FFCC00">
                  <a:gamma/>
                  <a:shade val="72941"/>
                  <a:invGamma/>
                </a:srgbClr>
              </a:gs>
              <a:gs pos="100000">
                <a:srgbClr val="FFCC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sz="2400">
                <a:latin typeface="Tahoma" panose="020B0604030504040204" pitchFamily="34" charset="0"/>
              </a:rPr>
              <a:t>Mesaj</a:t>
            </a:r>
          </a:p>
        </p:txBody>
      </p:sp>
      <p:sp>
        <p:nvSpPr>
          <p:cNvPr id="19" name="AutoShape 11">
            <a:extLst>
              <a:ext uri="{FF2B5EF4-FFF2-40B4-BE49-F238E27FC236}">
                <a16:creationId xmlns:a16="http://schemas.microsoft.com/office/drawing/2014/main" id="{2E0314EF-9BA7-6843-A918-8FA2AB8AC9A2}"/>
              </a:ext>
            </a:extLst>
          </p:cNvPr>
          <p:cNvSpPr>
            <a:spLocks noChangeArrowheads="1"/>
          </p:cNvSpPr>
          <p:nvPr/>
        </p:nvSpPr>
        <p:spPr bwMode="auto">
          <a:xfrm>
            <a:off x="4211638" y="3644900"/>
            <a:ext cx="431800" cy="215900"/>
          </a:xfrm>
          <a:prstGeom prst="rightArrow">
            <a:avLst>
              <a:gd name="adj1" fmla="val 50000"/>
              <a:gd name="adj2" fmla="val 50000"/>
            </a:avLst>
          </a:prstGeom>
          <a:solidFill>
            <a:srgbClr val="8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20" name="AutoShape 12">
            <a:extLst>
              <a:ext uri="{FF2B5EF4-FFF2-40B4-BE49-F238E27FC236}">
                <a16:creationId xmlns:a16="http://schemas.microsoft.com/office/drawing/2014/main" id="{77FB9CB8-B8C7-9547-AD2F-5E28A07E8401}"/>
              </a:ext>
            </a:extLst>
          </p:cNvPr>
          <p:cNvSpPr>
            <a:spLocks noChangeArrowheads="1"/>
          </p:cNvSpPr>
          <p:nvPr/>
        </p:nvSpPr>
        <p:spPr bwMode="auto">
          <a:xfrm>
            <a:off x="4716463" y="3357563"/>
            <a:ext cx="1728787" cy="792162"/>
          </a:xfrm>
          <a:prstGeom prst="cube">
            <a:avLst>
              <a:gd name="adj" fmla="val 25000"/>
            </a:avLst>
          </a:prstGeom>
          <a:gradFill rotWithShape="1">
            <a:gsLst>
              <a:gs pos="0">
                <a:srgbClr val="FFCC00">
                  <a:gamma/>
                  <a:shade val="72941"/>
                  <a:invGamma/>
                </a:srgbClr>
              </a:gs>
              <a:gs pos="100000">
                <a:srgbClr val="FFCC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a:latin typeface="Tahoma" panose="020B0604030504040204" pitchFamily="34" charset="0"/>
              </a:rPr>
              <a:t>İletişim Aracı</a:t>
            </a:r>
          </a:p>
        </p:txBody>
      </p:sp>
      <p:sp>
        <p:nvSpPr>
          <p:cNvPr id="21" name="AutoShape 13">
            <a:extLst>
              <a:ext uri="{FF2B5EF4-FFF2-40B4-BE49-F238E27FC236}">
                <a16:creationId xmlns:a16="http://schemas.microsoft.com/office/drawing/2014/main" id="{50097DC9-75AD-FF4A-9E35-A07CCE6E1FCA}"/>
              </a:ext>
            </a:extLst>
          </p:cNvPr>
          <p:cNvSpPr>
            <a:spLocks noChangeArrowheads="1"/>
          </p:cNvSpPr>
          <p:nvPr/>
        </p:nvSpPr>
        <p:spPr bwMode="auto">
          <a:xfrm>
            <a:off x="6877050" y="3357563"/>
            <a:ext cx="1439863" cy="792162"/>
          </a:xfrm>
          <a:prstGeom prst="cube">
            <a:avLst>
              <a:gd name="adj" fmla="val 25000"/>
            </a:avLst>
          </a:prstGeom>
          <a:gradFill rotWithShape="1">
            <a:gsLst>
              <a:gs pos="0">
                <a:srgbClr val="FFCC00">
                  <a:gamma/>
                  <a:shade val="72941"/>
                  <a:invGamma/>
                </a:srgbClr>
              </a:gs>
              <a:gs pos="100000">
                <a:srgbClr val="FFCC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sz="2400">
                <a:latin typeface="Tahoma" panose="020B0604030504040204" pitchFamily="34" charset="0"/>
              </a:rPr>
              <a:t>Alıcı</a:t>
            </a:r>
          </a:p>
        </p:txBody>
      </p:sp>
      <p:sp>
        <p:nvSpPr>
          <p:cNvPr id="22" name="AutoShape 14">
            <a:extLst>
              <a:ext uri="{FF2B5EF4-FFF2-40B4-BE49-F238E27FC236}">
                <a16:creationId xmlns:a16="http://schemas.microsoft.com/office/drawing/2014/main" id="{A3E64711-4FFF-AF49-A006-71A5DD5674C4}"/>
              </a:ext>
            </a:extLst>
          </p:cNvPr>
          <p:cNvSpPr>
            <a:spLocks noChangeArrowheads="1"/>
          </p:cNvSpPr>
          <p:nvPr/>
        </p:nvSpPr>
        <p:spPr bwMode="auto">
          <a:xfrm>
            <a:off x="6372225" y="3644900"/>
            <a:ext cx="431800" cy="215900"/>
          </a:xfrm>
          <a:prstGeom prst="rightArrow">
            <a:avLst>
              <a:gd name="adj1" fmla="val 50000"/>
              <a:gd name="adj2" fmla="val 50000"/>
            </a:avLst>
          </a:prstGeom>
          <a:solidFill>
            <a:srgbClr val="8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23" name="AutoShape 11">
            <a:extLst>
              <a:ext uri="{FF2B5EF4-FFF2-40B4-BE49-F238E27FC236}">
                <a16:creationId xmlns:a16="http://schemas.microsoft.com/office/drawing/2014/main" id="{23A539DA-B528-F248-AA5E-30FEF03386E3}"/>
              </a:ext>
            </a:extLst>
          </p:cNvPr>
          <p:cNvSpPr>
            <a:spLocks noChangeArrowheads="1"/>
          </p:cNvSpPr>
          <p:nvPr/>
        </p:nvSpPr>
        <p:spPr bwMode="auto">
          <a:xfrm>
            <a:off x="468313" y="2781300"/>
            <a:ext cx="1728787" cy="792163"/>
          </a:xfrm>
          <a:prstGeom prst="cube">
            <a:avLst>
              <a:gd name="adj" fmla="val 25000"/>
            </a:avLst>
          </a:prstGeom>
          <a:gradFill rotWithShape="1">
            <a:gsLst>
              <a:gs pos="0">
                <a:schemeClr val="folHlink"/>
              </a:gs>
              <a:gs pos="100000">
                <a:schemeClr val="folHlink">
                  <a:gamma/>
                  <a:shade val="72941"/>
                  <a:invGamma/>
                </a:scheme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sz="2400" dirty="0">
                <a:solidFill>
                  <a:schemeClr val="bg1"/>
                </a:solidFill>
                <a:latin typeface="Tahoma" panose="020B0604030504040204" pitchFamily="34" charset="0"/>
              </a:rPr>
              <a:t>Bilgisayar</a:t>
            </a:r>
          </a:p>
        </p:txBody>
      </p:sp>
      <p:sp>
        <p:nvSpPr>
          <p:cNvPr id="24" name="AutoShape 12">
            <a:extLst>
              <a:ext uri="{FF2B5EF4-FFF2-40B4-BE49-F238E27FC236}">
                <a16:creationId xmlns:a16="http://schemas.microsoft.com/office/drawing/2014/main" id="{457CA427-CB8F-C647-BEED-8B65FCF968C8}"/>
              </a:ext>
            </a:extLst>
          </p:cNvPr>
          <p:cNvSpPr>
            <a:spLocks noChangeArrowheads="1"/>
          </p:cNvSpPr>
          <p:nvPr/>
        </p:nvSpPr>
        <p:spPr bwMode="auto">
          <a:xfrm>
            <a:off x="2555875" y="2781300"/>
            <a:ext cx="1728788" cy="792163"/>
          </a:xfrm>
          <a:prstGeom prst="cube">
            <a:avLst>
              <a:gd name="adj" fmla="val 25000"/>
            </a:avLst>
          </a:prstGeom>
          <a:gradFill rotWithShape="1">
            <a:gsLst>
              <a:gs pos="0">
                <a:schemeClr val="folHlink"/>
              </a:gs>
              <a:gs pos="100000">
                <a:schemeClr val="folHlink">
                  <a:gamma/>
                  <a:shade val="72941"/>
                  <a:invGamma/>
                </a:scheme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sz="2400" dirty="0">
                <a:solidFill>
                  <a:schemeClr val="bg1"/>
                </a:solidFill>
                <a:latin typeface="Tahoma" panose="020B0604030504040204" pitchFamily="34" charset="0"/>
              </a:rPr>
              <a:t>İçerik</a:t>
            </a:r>
          </a:p>
        </p:txBody>
      </p:sp>
    </p:spTree>
    <p:extLst>
      <p:ext uri="{BB962C8B-B14F-4D97-AF65-F5344CB8AC3E}">
        <p14:creationId xmlns:p14="http://schemas.microsoft.com/office/powerpoint/2010/main" val="5811871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İLETİŞİM</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12</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12</a:t>
            </a:fld>
            <a:endParaRPr lang="tr-TR"/>
          </a:p>
        </p:txBody>
      </p:sp>
      <p:sp>
        <p:nvSpPr>
          <p:cNvPr id="25" name="Oval 24">
            <a:extLst>
              <a:ext uri="{FF2B5EF4-FFF2-40B4-BE49-F238E27FC236}">
                <a16:creationId xmlns:a16="http://schemas.microsoft.com/office/drawing/2014/main" id="{F103498F-B49D-4DA8-8B0C-C3B686C155FD}"/>
              </a:ext>
            </a:extLst>
          </p:cNvPr>
          <p:cNvSpPr/>
          <p:nvPr/>
        </p:nvSpPr>
        <p:spPr>
          <a:xfrm>
            <a:off x="3581401" y="1692275"/>
            <a:ext cx="1752600" cy="388710"/>
          </a:xfrm>
          <a:prstGeom prst="ellipse">
            <a:avLst/>
          </a:prstGeom>
          <a:solidFill>
            <a:schemeClr val="tx1">
              <a:alpha val="0"/>
            </a:scheme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b="1" dirty="0">
                <a:solidFill>
                  <a:schemeClr val="bg1"/>
                </a:solidFill>
              </a:rPr>
              <a:t>Etkileşim</a:t>
            </a:r>
          </a:p>
        </p:txBody>
      </p:sp>
      <p:sp>
        <p:nvSpPr>
          <p:cNvPr id="11" name="Line 4">
            <a:extLst>
              <a:ext uri="{FF2B5EF4-FFF2-40B4-BE49-F238E27FC236}">
                <a16:creationId xmlns:a16="http://schemas.microsoft.com/office/drawing/2014/main" id="{16B167B7-ACB5-BE45-908D-F60AFFE3D5B8}"/>
              </a:ext>
            </a:extLst>
          </p:cNvPr>
          <p:cNvSpPr>
            <a:spLocks noChangeShapeType="1"/>
          </p:cNvSpPr>
          <p:nvPr/>
        </p:nvSpPr>
        <p:spPr bwMode="auto">
          <a:xfrm>
            <a:off x="7812088" y="4221163"/>
            <a:ext cx="0" cy="3603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TR"/>
          </a:p>
        </p:txBody>
      </p:sp>
      <p:sp>
        <p:nvSpPr>
          <p:cNvPr id="12" name="Line 5">
            <a:extLst>
              <a:ext uri="{FF2B5EF4-FFF2-40B4-BE49-F238E27FC236}">
                <a16:creationId xmlns:a16="http://schemas.microsoft.com/office/drawing/2014/main" id="{D5D43880-55E0-9C4F-8493-F4923E6BD535}"/>
              </a:ext>
            </a:extLst>
          </p:cNvPr>
          <p:cNvSpPr>
            <a:spLocks noChangeShapeType="1"/>
          </p:cNvSpPr>
          <p:nvPr/>
        </p:nvSpPr>
        <p:spPr bwMode="auto">
          <a:xfrm flipH="1">
            <a:off x="755650" y="4581525"/>
            <a:ext cx="7056438" cy="15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TR"/>
          </a:p>
        </p:txBody>
      </p:sp>
      <p:sp>
        <p:nvSpPr>
          <p:cNvPr id="13" name="Line 6">
            <a:extLst>
              <a:ext uri="{FF2B5EF4-FFF2-40B4-BE49-F238E27FC236}">
                <a16:creationId xmlns:a16="http://schemas.microsoft.com/office/drawing/2014/main" id="{E072FBA4-46B5-EB4E-A94F-EBE6D515535B}"/>
              </a:ext>
            </a:extLst>
          </p:cNvPr>
          <p:cNvSpPr>
            <a:spLocks noChangeShapeType="1"/>
          </p:cNvSpPr>
          <p:nvPr/>
        </p:nvSpPr>
        <p:spPr bwMode="auto">
          <a:xfrm flipV="1">
            <a:off x="755650" y="4221163"/>
            <a:ext cx="0" cy="360362"/>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TR"/>
          </a:p>
        </p:txBody>
      </p:sp>
      <p:sp>
        <p:nvSpPr>
          <p:cNvPr id="14" name="Text Box 7">
            <a:extLst>
              <a:ext uri="{FF2B5EF4-FFF2-40B4-BE49-F238E27FC236}">
                <a16:creationId xmlns:a16="http://schemas.microsoft.com/office/drawing/2014/main" id="{8F43D51A-EA59-2948-8EB4-4D9A18367507}"/>
              </a:ext>
            </a:extLst>
          </p:cNvPr>
          <p:cNvSpPr txBox="1">
            <a:spLocks noChangeArrowheads="1"/>
          </p:cNvSpPr>
          <p:nvPr/>
        </p:nvSpPr>
        <p:spPr bwMode="auto">
          <a:xfrm>
            <a:off x="3203575" y="4652963"/>
            <a:ext cx="23764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tr-TR" altLang="en-TR" sz="2400">
                <a:latin typeface="Tahoma" panose="020B0604030504040204" pitchFamily="34" charset="0"/>
              </a:rPr>
              <a:t>Geribildirim</a:t>
            </a:r>
          </a:p>
        </p:txBody>
      </p:sp>
      <p:sp>
        <p:nvSpPr>
          <p:cNvPr id="16" name="AutoShape 8">
            <a:extLst>
              <a:ext uri="{FF2B5EF4-FFF2-40B4-BE49-F238E27FC236}">
                <a16:creationId xmlns:a16="http://schemas.microsoft.com/office/drawing/2014/main" id="{8482C970-C4D2-B542-8CFC-993089D97E71}"/>
              </a:ext>
            </a:extLst>
          </p:cNvPr>
          <p:cNvSpPr>
            <a:spLocks noChangeArrowheads="1"/>
          </p:cNvSpPr>
          <p:nvPr/>
        </p:nvSpPr>
        <p:spPr bwMode="auto">
          <a:xfrm>
            <a:off x="468313" y="3357563"/>
            <a:ext cx="1728787" cy="792162"/>
          </a:xfrm>
          <a:prstGeom prst="cube">
            <a:avLst>
              <a:gd name="adj" fmla="val 25000"/>
            </a:avLst>
          </a:prstGeom>
          <a:gradFill rotWithShape="1">
            <a:gsLst>
              <a:gs pos="0">
                <a:srgbClr val="FFCC00">
                  <a:gamma/>
                  <a:shade val="72941"/>
                  <a:invGamma/>
                </a:srgbClr>
              </a:gs>
              <a:gs pos="100000">
                <a:srgbClr val="FFCC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sz="2400">
                <a:latin typeface="Tahoma" panose="020B0604030504040204" pitchFamily="34" charset="0"/>
              </a:rPr>
              <a:t>Gönderici</a:t>
            </a:r>
          </a:p>
        </p:txBody>
      </p:sp>
      <p:sp>
        <p:nvSpPr>
          <p:cNvPr id="17" name="AutoShape 9">
            <a:extLst>
              <a:ext uri="{FF2B5EF4-FFF2-40B4-BE49-F238E27FC236}">
                <a16:creationId xmlns:a16="http://schemas.microsoft.com/office/drawing/2014/main" id="{36972351-318D-7B40-AFAC-0E1A25A10B67}"/>
              </a:ext>
            </a:extLst>
          </p:cNvPr>
          <p:cNvSpPr>
            <a:spLocks noChangeArrowheads="1"/>
          </p:cNvSpPr>
          <p:nvPr/>
        </p:nvSpPr>
        <p:spPr bwMode="auto">
          <a:xfrm>
            <a:off x="2052638" y="3644900"/>
            <a:ext cx="431800" cy="215900"/>
          </a:xfrm>
          <a:prstGeom prst="rightArrow">
            <a:avLst>
              <a:gd name="adj1" fmla="val 50000"/>
              <a:gd name="adj2" fmla="val 50000"/>
            </a:avLst>
          </a:prstGeom>
          <a:solidFill>
            <a:srgbClr val="8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18" name="AutoShape 10">
            <a:extLst>
              <a:ext uri="{FF2B5EF4-FFF2-40B4-BE49-F238E27FC236}">
                <a16:creationId xmlns:a16="http://schemas.microsoft.com/office/drawing/2014/main" id="{4B3B32D4-F8C1-E247-9729-11EAAA459E6B}"/>
              </a:ext>
            </a:extLst>
          </p:cNvPr>
          <p:cNvSpPr>
            <a:spLocks noChangeArrowheads="1"/>
          </p:cNvSpPr>
          <p:nvPr/>
        </p:nvSpPr>
        <p:spPr bwMode="auto">
          <a:xfrm>
            <a:off x="2555875" y="3357563"/>
            <a:ext cx="1728788" cy="792162"/>
          </a:xfrm>
          <a:prstGeom prst="cube">
            <a:avLst>
              <a:gd name="adj" fmla="val 25000"/>
            </a:avLst>
          </a:prstGeom>
          <a:gradFill rotWithShape="1">
            <a:gsLst>
              <a:gs pos="0">
                <a:srgbClr val="FFCC00">
                  <a:gamma/>
                  <a:shade val="72941"/>
                  <a:invGamma/>
                </a:srgbClr>
              </a:gs>
              <a:gs pos="100000">
                <a:srgbClr val="FFCC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sz="2400">
                <a:latin typeface="Tahoma" panose="020B0604030504040204" pitchFamily="34" charset="0"/>
              </a:rPr>
              <a:t>Mesaj</a:t>
            </a:r>
          </a:p>
        </p:txBody>
      </p:sp>
      <p:sp>
        <p:nvSpPr>
          <p:cNvPr id="19" name="AutoShape 11">
            <a:extLst>
              <a:ext uri="{FF2B5EF4-FFF2-40B4-BE49-F238E27FC236}">
                <a16:creationId xmlns:a16="http://schemas.microsoft.com/office/drawing/2014/main" id="{2E0314EF-9BA7-6843-A918-8FA2AB8AC9A2}"/>
              </a:ext>
            </a:extLst>
          </p:cNvPr>
          <p:cNvSpPr>
            <a:spLocks noChangeArrowheads="1"/>
          </p:cNvSpPr>
          <p:nvPr/>
        </p:nvSpPr>
        <p:spPr bwMode="auto">
          <a:xfrm>
            <a:off x="4211638" y="3644900"/>
            <a:ext cx="431800" cy="215900"/>
          </a:xfrm>
          <a:prstGeom prst="rightArrow">
            <a:avLst>
              <a:gd name="adj1" fmla="val 50000"/>
              <a:gd name="adj2" fmla="val 50000"/>
            </a:avLst>
          </a:prstGeom>
          <a:solidFill>
            <a:srgbClr val="8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20" name="AutoShape 12">
            <a:extLst>
              <a:ext uri="{FF2B5EF4-FFF2-40B4-BE49-F238E27FC236}">
                <a16:creationId xmlns:a16="http://schemas.microsoft.com/office/drawing/2014/main" id="{77FB9CB8-B8C7-9547-AD2F-5E28A07E8401}"/>
              </a:ext>
            </a:extLst>
          </p:cNvPr>
          <p:cNvSpPr>
            <a:spLocks noChangeArrowheads="1"/>
          </p:cNvSpPr>
          <p:nvPr/>
        </p:nvSpPr>
        <p:spPr bwMode="auto">
          <a:xfrm>
            <a:off x="4716463" y="3357563"/>
            <a:ext cx="1728787" cy="792162"/>
          </a:xfrm>
          <a:prstGeom prst="cube">
            <a:avLst>
              <a:gd name="adj" fmla="val 25000"/>
            </a:avLst>
          </a:prstGeom>
          <a:gradFill rotWithShape="1">
            <a:gsLst>
              <a:gs pos="0">
                <a:srgbClr val="FFCC00">
                  <a:gamma/>
                  <a:shade val="72941"/>
                  <a:invGamma/>
                </a:srgbClr>
              </a:gs>
              <a:gs pos="100000">
                <a:srgbClr val="FFCC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a:latin typeface="Tahoma" panose="020B0604030504040204" pitchFamily="34" charset="0"/>
              </a:rPr>
              <a:t>İletişim Aracı</a:t>
            </a:r>
          </a:p>
        </p:txBody>
      </p:sp>
      <p:sp>
        <p:nvSpPr>
          <p:cNvPr id="21" name="AutoShape 13">
            <a:extLst>
              <a:ext uri="{FF2B5EF4-FFF2-40B4-BE49-F238E27FC236}">
                <a16:creationId xmlns:a16="http://schemas.microsoft.com/office/drawing/2014/main" id="{50097DC9-75AD-FF4A-9E35-A07CCE6E1FCA}"/>
              </a:ext>
            </a:extLst>
          </p:cNvPr>
          <p:cNvSpPr>
            <a:spLocks noChangeArrowheads="1"/>
          </p:cNvSpPr>
          <p:nvPr/>
        </p:nvSpPr>
        <p:spPr bwMode="auto">
          <a:xfrm>
            <a:off x="6877050" y="3357563"/>
            <a:ext cx="1439863" cy="792162"/>
          </a:xfrm>
          <a:prstGeom prst="cube">
            <a:avLst>
              <a:gd name="adj" fmla="val 25000"/>
            </a:avLst>
          </a:prstGeom>
          <a:gradFill rotWithShape="1">
            <a:gsLst>
              <a:gs pos="0">
                <a:srgbClr val="FFCC00">
                  <a:gamma/>
                  <a:shade val="72941"/>
                  <a:invGamma/>
                </a:srgbClr>
              </a:gs>
              <a:gs pos="100000">
                <a:srgbClr val="FFCC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sz="2400">
                <a:latin typeface="Tahoma" panose="020B0604030504040204" pitchFamily="34" charset="0"/>
              </a:rPr>
              <a:t>Alıcı</a:t>
            </a:r>
          </a:p>
        </p:txBody>
      </p:sp>
      <p:sp>
        <p:nvSpPr>
          <p:cNvPr id="22" name="AutoShape 14">
            <a:extLst>
              <a:ext uri="{FF2B5EF4-FFF2-40B4-BE49-F238E27FC236}">
                <a16:creationId xmlns:a16="http://schemas.microsoft.com/office/drawing/2014/main" id="{A3E64711-4FFF-AF49-A006-71A5DD5674C4}"/>
              </a:ext>
            </a:extLst>
          </p:cNvPr>
          <p:cNvSpPr>
            <a:spLocks noChangeArrowheads="1"/>
          </p:cNvSpPr>
          <p:nvPr/>
        </p:nvSpPr>
        <p:spPr bwMode="auto">
          <a:xfrm>
            <a:off x="6372225" y="3644900"/>
            <a:ext cx="431800" cy="215900"/>
          </a:xfrm>
          <a:prstGeom prst="rightArrow">
            <a:avLst>
              <a:gd name="adj1" fmla="val 50000"/>
              <a:gd name="adj2" fmla="val 50000"/>
            </a:avLst>
          </a:prstGeom>
          <a:solidFill>
            <a:srgbClr val="8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23" name="AutoShape 11">
            <a:extLst>
              <a:ext uri="{FF2B5EF4-FFF2-40B4-BE49-F238E27FC236}">
                <a16:creationId xmlns:a16="http://schemas.microsoft.com/office/drawing/2014/main" id="{23A539DA-B528-F248-AA5E-30FEF03386E3}"/>
              </a:ext>
            </a:extLst>
          </p:cNvPr>
          <p:cNvSpPr>
            <a:spLocks noChangeArrowheads="1"/>
          </p:cNvSpPr>
          <p:nvPr/>
        </p:nvSpPr>
        <p:spPr bwMode="auto">
          <a:xfrm>
            <a:off x="468313" y="2781300"/>
            <a:ext cx="1728787" cy="792163"/>
          </a:xfrm>
          <a:prstGeom prst="cube">
            <a:avLst>
              <a:gd name="adj" fmla="val 25000"/>
            </a:avLst>
          </a:prstGeom>
          <a:gradFill rotWithShape="1">
            <a:gsLst>
              <a:gs pos="0">
                <a:schemeClr val="folHlink"/>
              </a:gs>
              <a:gs pos="100000">
                <a:schemeClr val="folHlink">
                  <a:gamma/>
                  <a:shade val="72941"/>
                  <a:invGamma/>
                </a:scheme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sz="2400" dirty="0">
                <a:solidFill>
                  <a:schemeClr val="bg1"/>
                </a:solidFill>
                <a:latin typeface="Tahoma" panose="020B0604030504040204" pitchFamily="34" charset="0"/>
              </a:rPr>
              <a:t>Bilgisayar</a:t>
            </a:r>
          </a:p>
        </p:txBody>
      </p:sp>
      <p:sp>
        <p:nvSpPr>
          <p:cNvPr id="24" name="AutoShape 12">
            <a:extLst>
              <a:ext uri="{FF2B5EF4-FFF2-40B4-BE49-F238E27FC236}">
                <a16:creationId xmlns:a16="http://schemas.microsoft.com/office/drawing/2014/main" id="{457CA427-CB8F-C647-BEED-8B65FCF968C8}"/>
              </a:ext>
            </a:extLst>
          </p:cNvPr>
          <p:cNvSpPr>
            <a:spLocks noChangeArrowheads="1"/>
          </p:cNvSpPr>
          <p:nvPr/>
        </p:nvSpPr>
        <p:spPr bwMode="auto">
          <a:xfrm>
            <a:off x="2555875" y="2781300"/>
            <a:ext cx="1728788" cy="792163"/>
          </a:xfrm>
          <a:prstGeom prst="cube">
            <a:avLst>
              <a:gd name="adj" fmla="val 25000"/>
            </a:avLst>
          </a:prstGeom>
          <a:gradFill rotWithShape="1">
            <a:gsLst>
              <a:gs pos="0">
                <a:schemeClr val="folHlink"/>
              </a:gs>
              <a:gs pos="100000">
                <a:schemeClr val="folHlink">
                  <a:gamma/>
                  <a:shade val="72941"/>
                  <a:invGamma/>
                </a:scheme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sz="2400" dirty="0">
                <a:solidFill>
                  <a:schemeClr val="bg1"/>
                </a:solidFill>
                <a:latin typeface="Tahoma" panose="020B0604030504040204" pitchFamily="34" charset="0"/>
              </a:rPr>
              <a:t>İçerik</a:t>
            </a:r>
          </a:p>
        </p:txBody>
      </p:sp>
      <p:sp>
        <p:nvSpPr>
          <p:cNvPr id="26" name="AutoShape 13">
            <a:extLst>
              <a:ext uri="{FF2B5EF4-FFF2-40B4-BE49-F238E27FC236}">
                <a16:creationId xmlns:a16="http://schemas.microsoft.com/office/drawing/2014/main" id="{AB6E40C7-7D0E-5049-9008-10D46E16BEB8}"/>
              </a:ext>
            </a:extLst>
          </p:cNvPr>
          <p:cNvSpPr>
            <a:spLocks noChangeArrowheads="1"/>
          </p:cNvSpPr>
          <p:nvPr/>
        </p:nvSpPr>
        <p:spPr bwMode="auto">
          <a:xfrm>
            <a:off x="4716463" y="2781300"/>
            <a:ext cx="1728787" cy="792163"/>
          </a:xfrm>
          <a:prstGeom prst="cube">
            <a:avLst>
              <a:gd name="adj" fmla="val 25000"/>
            </a:avLst>
          </a:prstGeom>
          <a:gradFill rotWithShape="1">
            <a:gsLst>
              <a:gs pos="0">
                <a:schemeClr val="folHlink"/>
              </a:gs>
              <a:gs pos="100000">
                <a:schemeClr val="folHlink">
                  <a:gamma/>
                  <a:shade val="72941"/>
                  <a:invGamma/>
                </a:scheme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dirty="0">
                <a:solidFill>
                  <a:schemeClr val="bg1"/>
                </a:solidFill>
                <a:latin typeface="Tahoma" panose="020B0604030504040204" pitchFamily="34" charset="0"/>
              </a:rPr>
              <a:t>Görsel, işitsel</a:t>
            </a:r>
          </a:p>
        </p:txBody>
      </p:sp>
    </p:spTree>
    <p:extLst>
      <p:ext uri="{BB962C8B-B14F-4D97-AF65-F5344CB8AC3E}">
        <p14:creationId xmlns:p14="http://schemas.microsoft.com/office/powerpoint/2010/main" val="18485606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İLETİŞİM</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13</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13</a:t>
            </a:fld>
            <a:endParaRPr lang="tr-TR"/>
          </a:p>
        </p:txBody>
      </p:sp>
      <p:sp>
        <p:nvSpPr>
          <p:cNvPr id="25" name="Oval 24">
            <a:extLst>
              <a:ext uri="{FF2B5EF4-FFF2-40B4-BE49-F238E27FC236}">
                <a16:creationId xmlns:a16="http://schemas.microsoft.com/office/drawing/2014/main" id="{F103498F-B49D-4DA8-8B0C-C3B686C155FD}"/>
              </a:ext>
            </a:extLst>
          </p:cNvPr>
          <p:cNvSpPr/>
          <p:nvPr/>
        </p:nvSpPr>
        <p:spPr>
          <a:xfrm>
            <a:off x="3581401" y="1692275"/>
            <a:ext cx="1752600" cy="388710"/>
          </a:xfrm>
          <a:prstGeom prst="ellipse">
            <a:avLst/>
          </a:prstGeom>
          <a:solidFill>
            <a:schemeClr val="tx1">
              <a:alpha val="0"/>
            </a:scheme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b="1" dirty="0">
                <a:solidFill>
                  <a:schemeClr val="bg1"/>
                </a:solidFill>
              </a:rPr>
              <a:t>Etkileşim</a:t>
            </a:r>
          </a:p>
        </p:txBody>
      </p:sp>
      <p:sp>
        <p:nvSpPr>
          <p:cNvPr id="11" name="Line 4">
            <a:extLst>
              <a:ext uri="{FF2B5EF4-FFF2-40B4-BE49-F238E27FC236}">
                <a16:creationId xmlns:a16="http://schemas.microsoft.com/office/drawing/2014/main" id="{16B167B7-ACB5-BE45-908D-F60AFFE3D5B8}"/>
              </a:ext>
            </a:extLst>
          </p:cNvPr>
          <p:cNvSpPr>
            <a:spLocks noChangeShapeType="1"/>
          </p:cNvSpPr>
          <p:nvPr/>
        </p:nvSpPr>
        <p:spPr bwMode="auto">
          <a:xfrm>
            <a:off x="7812088" y="4221163"/>
            <a:ext cx="0" cy="3603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TR"/>
          </a:p>
        </p:txBody>
      </p:sp>
      <p:sp>
        <p:nvSpPr>
          <p:cNvPr id="12" name="Line 5">
            <a:extLst>
              <a:ext uri="{FF2B5EF4-FFF2-40B4-BE49-F238E27FC236}">
                <a16:creationId xmlns:a16="http://schemas.microsoft.com/office/drawing/2014/main" id="{D5D43880-55E0-9C4F-8493-F4923E6BD535}"/>
              </a:ext>
            </a:extLst>
          </p:cNvPr>
          <p:cNvSpPr>
            <a:spLocks noChangeShapeType="1"/>
          </p:cNvSpPr>
          <p:nvPr/>
        </p:nvSpPr>
        <p:spPr bwMode="auto">
          <a:xfrm flipH="1">
            <a:off x="755650" y="4581525"/>
            <a:ext cx="7056438" cy="15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TR"/>
          </a:p>
        </p:txBody>
      </p:sp>
      <p:sp>
        <p:nvSpPr>
          <p:cNvPr id="13" name="Line 6">
            <a:extLst>
              <a:ext uri="{FF2B5EF4-FFF2-40B4-BE49-F238E27FC236}">
                <a16:creationId xmlns:a16="http://schemas.microsoft.com/office/drawing/2014/main" id="{E072FBA4-46B5-EB4E-A94F-EBE6D515535B}"/>
              </a:ext>
            </a:extLst>
          </p:cNvPr>
          <p:cNvSpPr>
            <a:spLocks noChangeShapeType="1"/>
          </p:cNvSpPr>
          <p:nvPr/>
        </p:nvSpPr>
        <p:spPr bwMode="auto">
          <a:xfrm flipV="1">
            <a:off x="755650" y="4221163"/>
            <a:ext cx="0" cy="360362"/>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TR"/>
          </a:p>
        </p:txBody>
      </p:sp>
      <p:sp>
        <p:nvSpPr>
          <p:cNvPr id="14" name="Text Box 7">
            <a:extLst>
              <a:ext uri="{FF2B5EF4-FFF2-40B4-BE49-F238E27FC236}">
                <a16:creationId xmlns:a16="http://schemas.microsoft.com/office/drawing/2014/main" id="{8F43D51A-EA59-2948-8EB4-4D9A18367507}"/>
              </a:ext>
            </a:extLst>
          </p:cNvPr>
          <p:cNvSpPr txBox="1">
            <a:spLocks noChangeArrowheads="1"/>
          </p:cNvSpPr>
          <p:nvPr/>
        </p:nvSpPr>
        <p:spPr bwMode="auto">
          <a:xfrm>
            <a:off x="3203575" y="4652963"/>
            <a:ext cx="23764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tr-TR" altLang="en-TR" sz="2400">
                <a:latin typeface="Tahoma" panose="020B0604030504040204" pitchFamily="34" charset="0"/>
              </a:rPr>
              <a:t>Geribildirim</a:t>
            </a:r>
          </a:p>
        </p:txBody>
      </p:sp>
      <p:sp>
        <p:nvSpPr>
          <p:cNvPr id="16" name="AutoShape 8">
            <a:extLst>
              <a:ext uri="{FF2B5EF4-FFF2-40B4-BE49-F238E27FC236}">
                <a16:creationId xmlns:a16="http://schemas.microsoft.com/office/drawing/2014/main" id="{8482C970-C4D2-B542-8CFC-993089D97E71}"/>
              </a:ext>
            </a:extLst>
          </p:cNvPr>
          <p:cNvSpPr>
            <a:spLocks noChangeArrowheads="1"/>
          </p:cNvSpPr>
          <p:nvPr/>
        </p:nvSpPr>
        <p:spPr bwMode="auto">
          <a:xfrm>
            <a:off x="468313" y="3357563"/>
            <a:ext cx="1728787" cy="792162"/>
          </a:xfrm>
          <a:prstGeom prst="cube">
            <a:avLst>
              <a:gd name="adj" fmla="val 25000"/>
            </a:avLst>
          </a:prstGeom>
          <a:gradFill rotWithShape="1">
            <a:gsLst>
              <a:gs pos="0">
                <a:srgbClr val="FFCC00">
                  <a:gamma/>
                  <a:shade val="72941"/>
                  <a:invGamma/>
                </a:srgbClr>
              </a:gs>
              <a:gs pos="100000">
                <a:srgbClr val="FFCC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sz="2400">
                <a:latin typeface="Tahoma" panose="020B0604030504040204" pitchFamily="34" charset="0"/>
              </a:rPr>
              <a:t>Gönderici</a:t>
            </a:r>
          </a:p>
        </p:txBody>
      </p:sp>
      <p:sp>
        <p:nvSpPr>
          <p:cNvPr id="17" name="AutoShape 9">
            <a:extLst>
              <a:ext uri="{FF2B5EF4-FFF2-40B4-BE49-F238E27FC236}">
                <a16:creationId xmlns:a16="http://schemas.microsoft.com/office/drawing/2014/main" id="{36972351-318D-7B40-AFAC-0E1A25A10B67}"/>
              </a:ext>
            </a:extLst>
          </p:cNvPr>
          <p:cNvSpPr>
            <a:spLocks noChangeArrowheads="1"/>
          </p:cNvSpPr>
          <p:nvPr/>
        </p:nvSpPr>
        <p:spPr bwMode="auto">
          <a:xfrm>
            <a:off x="2052638" y="3644900"/>
            <a:ext cx="431800" cy="215900"/>
          </a:xfrm>
          <a:prstGeom prst="rightArrow">
            <a:avLst>
              <a:gd name="adj1" fmla="val 50000"/>
              <a:gd name="adj2" fmla="val 50000"/>
            </a:avLst>
          </a:prstGeom>
          <a:solidFill>
            <a:srgbClr val="8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18" name="AutoShape 10">
            <a:extLst>
              <a:ext uri="{FF2B5EF4-FFF2-40B4-BE49-F238E27FC236}">
                <a16:creationId xmlns:a16="http://schemas.microsoft.com/office/drawing/2014/main" id="{4B3B32D4-F8C1-E247-9729-11EAAA459E6B}"/>
              </a:ext>
            </a:extLst>
          </p:cNvPr>
          <p:cNvSpPr>
            <a:spLocks noChangeArrowheads="1"/>
          </p:cNvSpPr>
          <p:nvPr/>
        </p:nvSpPr>
        <p:spPr bwMode="auto">
          <a:xfrm>
            <a:off x="2555875" y="3357563"/>
            <a:ext cx="1728788" cy="792162"/>
          </a:xfrm>
          <a:prstGeom prst="cube">
            <a:avLst>
              <a:gd name="adj" fmla="val 25000"/>
            </a:avLst>
          </a:prstGeom>
          <a:gradFill rotWithShape="1">
            <a:gsLst>
              <a:gs pos="0">
                <a:srgbClr val="FFCC00">
                  <a:gamma/>
                  <a:shade val="72941"/>
                  <a:invGamma/>
                </a:srgbClr>
              </a:gs>
              <a:gs pos="100000">
                <a:srgbClr val="FFCC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sz="2400">
                <a:latin typeface="Tahoma" panose="020B0604030504040204" pitchFamily="34" charset="0"/>
              </a:rPr>
              <a:t>Mesaj</a:t>
            </a:r>
          </a:p>
        </p:txBody>
      </p:sp>
      <p:sp>
        <p:nvSpPr>
          <p:cNvPr id="19" name="AutoShape 11">
            <a:extLst>
              <a:ext uri="{FF2B5EF4-FFF2-40B4-BE49-F238E27FC236}">
                <a16:creationId xmlns:a16="http://schemas.microsoft.com/office/drawing/2014/main" id="{2E0314EF-9BA7-6843-A918-8FA2AB8AC9A2}"/>
              </a:ext>
            </a:extLst>
          </p:cNvPr>
          <p:cNvSpPr>
            <a:spLocks noChangeArrowheads="1"/>
          </p:cNvSpPr>
          <p:nvPr/>
        </p:nvSpPr>
        <p:spPr bwMode="auto">
          <a:xfrm>
            <a:off x="4211638" y="3644900"/>
            <a:ext cx="431800" cy="215900"/>
          </a:xfrm>
          <a:prstGeom prst="rightArrow">
            <a:avLst>
              <a:gd name="adj1" fmla="val 50000"/>
              <a:gd name="adj2" fmla="val 50000"/>
            </a:avLst>
          </a:prstGeom>
          <a:solidFill>
            <a:srgbClr val="8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20" name="AutoShape 12">
            <a:extLst>
              <a:ext uri="{FF2B5EF4-FFF2-40B4-BE49-F238E27FC236}">
                <a16:creationId xmlns:a16="http://schemas.microsoft.com/office/drawing/2014/main" id="{77FB9CB8-B8C7-9547-AD2F-5E28A07E8401}"/>
              </a:ext>
            </a:extLst>
          </p:cNvPr>
          <p:cNvSpPr>
            <a:spLocks noChangeArrowheads="1"/>
          </p:cNvSpPr>
          <p:nvPr/>
        </p:nvSpPr>
        <p:spPr bwMode="auto">
          <a:xfrm>
            <a:off x="4716463" y="3357563"/>
            <a:ext cx="1728787" cy="792162"/>
          </a:xfrm>
          <a:prstGeom prst="cube">
            <a:avLst>
              <a:gd name="adj" fmla="val 25000"/>
            </a:avLst>
          </a:prstGeom>
          <a:gradFill rotWithShape="1">
            <a:gsLst>
              <a:gs pos="0">
                <a:srgbClr val="FFCC00">
                  <a:gamma/>
                  <a:shade val="72941"/>
                  <a:invGamma/>
                </a:srgbClr>
              </a:gs>
              <a:gs pos="100000">
                <a:srgbClr val="FFCC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a:latin typeface="Tahoma" panose="020B0604030504040204" pitchFamily="34" charset="0"/>
              </a:rPr>
              <a:t>İletişim Aracı</a:t>
            </a:r>
          </a:p>
        </p:txBody>
      </p:sp>
      <p:sp>
        <p:nvSpPr>
          <p:cNvPr id="21" name="AutoShape 13">
            <a:extLst>
              <a:ext uri="{FF2B5EF4-FFF2-40B4-BE49-F238E27FC236}">
                <a16:creationId xmlns:a16="http://schemas.microsoft.com/office/drawing/2014/main" id="{50097DC9-75AD-FF4A-9E35-A07CCE6E1FCA}"/>
              </a:ext>
            </a:extLst>
          </p:cNvPr>
          <p:cNvSpPr>
            <a:spLocks noChangeArrowheads="1"/>
          </p:cNvSpPr>
          <p:nvPr/>
        </p:nvSpPr>
        <p:spPr bwMode="auto">
          <a:xfrm>
            <a:off x="6877050" y="3357563"/>
            <a:ext cx="1439863" cy="792162"/>
          </a:xfrm>
          <a:prstGeom prst="cube">
            <a:avLst>
              <a:gd name="adj" fmla="val 25000"/>
            </a:avLst>
          </a:prstGeom>
          <a:gradFill rotWithShape="1">
            <a:gsLst>
              <a:gs pos="0">
                <a:srgbClr val="FFCC00">
                  <a:gamma/>
                  <a:shade val="72941"/>
                  <a:invGamma/>
                </a:srgbClr>
              </a:gs>
              <a:gs pos="100000">
                <a:srgbClr val="FFCC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sz="2400">
                <a:latin typeface="Tahoma" panose="020B0604030504040204" pitchFamily="34" charset="0"/>
              </a:rPr>
              <a:t>Alıcı</a:t>
            </a:r>
          </a:p>
        </p:txBody>
      </p:sp>
      <p:sp>
        <p:nvSpPr>
          <p:cNvPr id="22" name="AutoShape 14">
            <a:extLst>
              <a:ext uri="{FF2B5EF4-FFF2-40B4-BE49-F238E27FC236}">
                <a16:creationId xmlns:a16="http://schemas.microsoft.com/office/drawing/2014/main" id="{A3E64711-4FFF-AF49-A006-71A5DD5674C4}"/>
              </a:ext>
            </a:extLst>
          </p:cNvPr>
          <p:cNvSpPr>
            <a:spLocks noChangeArrowheads="1"/>
          </p:cNvSpPr>
          <p:nvPr/>
        </p:nvSpPr>
        <p:spPr bwMode="auto">
          <a:xfrm>
            <a:off x="6372225" y="3644900"/>
            <a:ext cx="431800" cy="215900"/>
          </a:xfrm>
          <a:prstGeom prst="rightArrow">
            <a:avLst>
              <a:gd name="adj1" fmla="val 50000"/>
              <a:gd name="adj2" fmla="val 50000"/>
            </a:avLst>
          </a:prstGeom>
          <a:solidFill>
            <a:srgbClr val="8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23" name="AutoShape 11">
            <a:extLst>
              <a:ext uri="{FF2B5EF4-FFF2-40B4-BE49-F238E27FC236}">
                <a16:creationId xmlns:a16="http://schemas.microsoft.com/office/drawing/2014/main" id="{23A539DA-B528-F248-AA5E-30FEF03386E3}"/>
              </a:ext>
            </a:extLst>
          </p:cNvPr>
          <p:cNvSpPr>
            <a:spLocks noChangeArrowheads="1"/>
          </p:cNvSpPr>
          <p:nvPr/>
        </p:nvSpPr>
        <p:spPr bwMode="auto">
          <a:xfrm>
            <a:off x="468313" y="2781300"/>
            <a:ext cx="1728787" cy="792163"/>
          </a:xfrm>
          <a:prstGeom prst="cube">
            <a:avLst>
              <a:gd name="adj" fmla="val 25000"/>
            </a:avLst>
          </a:prstGeom>
          <a:gradFill rotWithShape="1">
            <a:gsLst>
              <a:gs pos="0">
                <a:schemeClr val="folHlink"/>
              </a:gs>
              <a:gs pos="100000">
                <a:schemeClr val="folHlink">
                  <a:gamma/>
                  <a:shade val="72941"/>
                  <a:invGamma/>
                </a:scheme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sz="2400" dirty="0">
                <a:solidFill>
                  <a:schemeClr val="bg1"/>
                </a:solidFill>
                <a:latin typeface="Tahoma" panose="020B0604030504040204" pitchFamily="34" charset="0"/>
              </a:rPr>
              <a:t>Bilgisayar</a:t>
            </a:r>
          </a:p>
        </p:txBody>
      </p:sp>
      <p:sp>
        <p:nvSpPr>
          <p:cNvPr id="24" name="AutoShape 12">
            <a:extLst>
              <a:ext uri="{FF2B5EF4-FFF2-40B4-BE49-F238E27FC236}">
                <a16:creationId xmlns:a16="http://schemas.microsoft.com/office/drawing/2014/main" id="{457CA427-CB8F-C647-BEED-8B65FCF968C8}"/>
              </a:ext>
            </a:extLst>
          </p:cNvPr>
          <p:cNvSpPr>
            <a:spLocks noChangeArrowheads="1"/>
          </p:cNvSpPr>
          <p:nvPr/>
        </p:nvSpPr>
        <p:spPr bwMode="auto">
          <a:xfrm>
            <a:off x="2555875" y="2781300"/>
            <a:ext cx="1728788" cy="792163"/>
          </a:xfrm>
          <a:prstGeom prst="cube">
            <a:avLst>
              <a:gd name="adj" fmla="val 25000"/>
            </a:avLst>
          </a:prstGeom>
          <a:gradFill rotWithShape="1">
            <a:gsLst>
              <a:gs pos="0">
                <a:schemeClr val="folHlink"/>
              </a:gs>
              <a:gs pos="100000">
                <a:schemeClr val="folHlink">
                  <a:gamma/>
                  <a:shade val="72941"/>
                  <a:invGamma/>
                </a:scheme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sz="2400" dirty="0">
                <a:solidFill>
                  <a:schemeClr val="bg1"/>
                </a:solidFill>
                <a:latin typeface="Tahoma" panose="020B0604030504040204" pitchFamily="34" charset="0"/>
              </a:rPr>
              <a:t>İçerik</a:t>
            </a:r>
          </a:p>
        </p:txBody>
      </p:sp>
      <p:sp>
        <p:nvSpPr>
          <p:cNvPr id="26" name="AutoShape 13">
            <a:extLst>
              <a:ext uri="{FF2B5EF4-FFF2-40B4-BE49-F238E27FC236}">
                <a16:creationId xmlns:a16="http://schemas.microsoft.com/office/drawing/2014/main" id="{AB6E40C7-7D0E-5049-9008-10D46E16BEB8}"/>
              </a:ext>
            </a:extLst>
          </p:cNvPr>
          <p:cNvSpPr>
            <a:spLocks noChangeArrowheads="1"/>
          </p:cNvSpPr>
          <p:nvPr/>
        </p:nvSpPr>
        <p:spPr bwMode="auto">
          <a:xfrm>
            <a:off x="4716463" y="2781300"/>
            <a:ext cx="1728787" cy="792163"/>
          </a:xfrm>
          <a:prstGeom prst="cube">
            <a:avLst>
              <a:gd name="adj" fmla="val 25000"/>
            </a:avLst>
          </a:prstGeom>
          <a:gradFill rotWithShape="1">
            <a:gsLst>
              <a:gs pos="0">
                <a:schemeClr val="folHlink"/>
              </a:gs>
              <a:gs pos="100000">
                <a:schemeClr val="folHlink">
                  <a:gamma/>
                  <a:shade val="72941"/>
                  <a:invGamma/>
                </a:scheme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dirty="0">
                <a:solidFill>
                  <a:schemeClr val="bg1"/>
                </a:solidFill>
                <a:latin typeface="Tahoma" panose="020B0604030504040204" pitchFamily="34" charset="0"/>
              </a:rPr>
              <a:t>Görsel, işitsel</a:t>
            </a:r>
          </a:p>
        </p:txBody>
      </p:sp>
      <p:sp>
        <p:nvSpPr>
          <p:cNvPr id="27" name="AutoShape 14">
            <a:extLst>
              <a:ext uri="{FF2B5EF4-FFF2-40B4-BE49-F238E27FC236}">
                <a16:creationId xmlns:a16="http://schemas.microsoft.com/office/drawing/2014/main" id="{C2EFCBFD-3547-2E44-9C71-5BAD393584A5}"/>
              </a:ext>
            </a:extLst>
          </p:cNvPr>
          <p:cNvSpPr>
            <a:spLocks noChangeArrowheads="1"/>
          </p:cNvSpPr>
          <p:nvPr/>
        </p:nvSpPr>
        <p:spPr bwMode="auto">
          <a:xfrm>
            <a:off x="6877050" y="2781300"/>
            <a:ext cx="1439863" cy="792163"/>
          </a:xfrm>
          <a:prstGeom prst="cube">
            <a:avLst>
              <a:gd name="adj" fmla="val 25000"/>
            </a:avLst>
          </a:prstGeom>
          <a:gradFill rotWithShape="1">
            <a:gsLst>
              <a:gs pos="0">
                <a:schemeClr val="folHlink">
                  <a:gamma/>
                  <a:shade val="72941"/>
                  <a:invGamma/>
                </a:schemeClr>
              </a:gs>
              <a:gs pos="50000">
                <a:schemeClr val="folHlink"/>
              </a:gs>
              <a:gs pos="100000">
                <a:schemeClr val="folHlink">
                  <a:gamma/>
                  <a:shade val="72941"/>
                  <a:invGamma/>
                </a:scheme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sz="2400" dirty="0">
                <a:solidFill>
                  <a:schemeClr val="bg1"/>
                </a:solidFill>
                <a:latin typeface="Tahoma" panose="020B0604030504040204" pitchFamily="34" charset="0"/>
              </a:rPr>
              <a:t>Kullanıcı</a:t>
            </a:r>
          </a:p>
        </p:txBody>
      </p:sp>
    </p:spTree>
    <p:extLst>
      <p:ext uri="{BB962C8B-B14F-4D97-AF65-F5344CB8AC3E}">
        <p14:creationId xmlns:p14="http://schemas.microsoft.com/office/powerpoint/2010/main" val="930199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İLETİŞİM</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14</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14</a:t>
            </a:fld>
            <a:endParaRPr lang="tr-TR"/>
          </a:p>
        </p:txBody>
      </p:sp>
      <p:sp>
        <p:nvSpPr>
          <p:cNvPr id="25" name="Oval 24">
            <a:extLst>
              <a:ext uri="{FF2B5EF4-FFF2-40B4-BE49-F238E27FC236}">
                <a16:creationId xmlns:a16="http://schemas.microsoft.com/office/drawing/2014/main" id="{F103498F-B49D-4DA8-8B0C-C3B686C155FD}"/>
              </a:ext>
            </a:extLst>
          </p:cNvPr>
          <p:cNvSpPr/>
          <p:nvPr/>
        </p:nvSpPr>
        <p:spPr>
          <a:xfrm>
            <a:off x="3581401" y="1692275"/>
            <a:ext cx="1752600" cy="388710"/>
          </a:xfrm>
          <a:prstGeom prst="ellipse">
            <a:avLst/>
          </a:prstGeom>
          <a:solidFill>
            <a:schemeClr val="tx1">
              <a:alpha val="0"/>
            </a:scheme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b="1" dirty="0">
                <a:solidFill>
                  <a:schemeClr val="bg1"/>
                </a:solidFill>
              </a:rPr>
              <a:t>Etkileşim</a:t>
            </a:r>
          </a:p>
        </p:txBody>
      </p:sp>
      <p:sp>
        <p:nvSpPr>
          <p:cNvPr id="11" name="Line 4">
            <a:extLst>
              <a:ext uri="{FF2B5EF4-FFF2-40B4-BE49-F238E27FC236}">
                <a16:creationId xmlns:a16="http://schemas.microsoft.com/office/drawing/2014/main" id="{16B167B7-ACB5-BE45-908D-F60AFFE3D5B8}"/>
              </a:ext>
            </a:extLst>
          </p:cNvPr>
          <p:cNvSpPr>
            <a:spLocks noChangeShapeType="1"/>
          </p:cNvSpPr>
          <p:nvPr/>
        </p:nvSpPr>
        <p:spPr bwMode="auto">
          <a:xfrm>
            <a:off x="7812088" y="4221163"/>
            <a:ext cx="0" cy="3603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TR"/>
          </a:p>
        </p:txBody>
      </p:sp>
      <p:sp>
        <p:nvSpPr>
          <p:cNvPr id="12" name="Line 5">
            <a:extLst>
              <a:ext uri="{FF2B5EF4-FFF2-40B4-BE49-F238E27FC236}">
                <a16:creationId xmlns:a16="http://schemas.microsoft.com/office/drawing/2014/main" id="{D5D43880-55E0-9C4F-8493-F4923E6BD535}"/>
              </a:ext>
            </a:extLst>
          </p:cNvPr>
          <p:cNvSpPr>
            <a:spLocks noChangeShapeType="1"/>
          </p:cNvSpPr>
          <p:nvPr/>
        </p:nvSpPr>
        <p:spPr bwMode="auto">
          <a:xfrm flipH="1">
            <a:off x="755650" y="4581525"/>
            <a:ext cx="7056438" cy="15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TR"/>
          </a:p>
        </p:txBody>
      </p:sp>
      <p:sp>
        <p:nvSpPr>
          <p:cNvPr id="13" name="Line 6">
            <a:extLst>
              <a:ext uri="{FF2B5EF4-FFF2-40B4-BE49-F238E27FC236}">
                <a16:creationId xmlns:a16="http://schemas.microsoft.com/office/drawing/2014/main" id="{E072FBA4-46B5-EB4E-A94F-EBE6D515535B}"/>
              </a:ext>
            </a:extLst>
          </p:cNvPr>
          <p:cNvSpPr>
            <a:spLocks noChangeShapeType="1"/>
          </p:cNvSpPr>
          <p:nvPr/>
        </p:nvSpPr>
        <p:spPr bwMode="auto">
          <a:xfrm flipV="1">
            <a:off x="755650" y="4221163"/>
            <a:ext cx="0" cy="360362"/>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TR"/>
          </a:p>
        </p:txBody>
      </p:sp>
      <p:sp>
        <p:nvSpPr>
          <p:cNvPr id="14" name="Text Box 7">
            <a:extLst>
              <a:ext uri="{FF2B5EF4-FFF2-40B4-BE49-F238E27FC236}">
                <a16:creationId xmlns:a16="http://schemas.microsoft.com/office/drawing/2014/main" id="{8F43D51A-EA59-2948-8EB4-4D9A18367507}"/>
              </a:ext>
            </a:extLst>
          </p:cNvPr>
          <p:cNvSpPr txBox="1">
            <a:spLocks noChangeArrowheads="1"/>
          </p:cNvSpPr>
          <p:nvPr/>
        </p:nvSpPr>
        <p:spPr bwMode="auto">
          <a:xfrm>
            <a:off x="2714699" y="4652963"/>
            <a:ext cx="2952601"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spcBef>
                <a:spcPct val="50000"/>
              </a:spcBef>
            </a:pPr>
            <a:r>
              <a:rPr lang="tr-TR" altLang="en-TR" sz="2400" dirty="0">
                <a:latin typeface="Tahoma" panose="020B0604030504040204" pitchFamily="34" charset="0"/>
              </a:rPr>
              <a:t>Geribildirim</a:t>
            </a:r>
          </a:p>
          <a:p>
            <a:pPr algn="ctr" eaLnBrk="0" hangingPunct="0">
              <a:spcBef>
                <a:spcPct val="50000"/>
              </a:spcBef>
            </a:pPr>
            <a:r>
              <a:rPr lang="tr-TR" altLang="en-TR" sz="2400" b="1" dirty="0">
                <a:latin typeface="Tahoma" panose="020B0604030504040204" pitchFamily="34" charset="0"/>
              </a:rPr>
              <a:t>Etkileşimler, Değerlendirmeler</a:t>
            </a:r>
          </a:p>
          <a:p>
            <a:pPr algn="ctr" eaLnBrk="0" hangingPunct="0">
              <a:spcBef>
                <a:spcPct val="50000"/>
              </a:spcBef>
            </a:pPr>
            <a:endParaRPr lang="tr-TR" altLang="en-TR" sz="2400" dirty="0">
              <a:latin typeface="Tahoma" panose="020B0604030504040204" pitchFamily="34" charset="0"/>
            </a:endParaRPr>
          </a:p>
        </p:txBody>
      </p:sp>
      <p:sp>
        <p:nvSpPr>
          <p:cNvPr id="16" name="AutoShape 8">
            <a:extLst>
              <a:ext uri="{FF2B5EF4-FFF2-40B4-BE49-F238E27FC236}">
                <a16:creationId xmlns:a16="http://schemas.microsoft.com/office/drawing/2014/main" id="{8482C970-C4D2-B542-8CFC-993089D97E71}"/>
              </a:ext>
            </a:extLst>
          </p:cNvPr>
          <p:cNvSpPr>
            <a:spLocks noChangeArrowheads="1"/>
          </p:cNvSpPr>
          <p:nvPr/>
        </p:nvSpPr>
        <p:spPr bwMode="auto">
          <a:xfrm>
            <a:off x="468313" y="3357563"/>
            <a:ext cx="1728787" cy="792162"/>
          </a:xfrm>
          <a:prstGeom prst="cube">
            <a:avLst>
              <a:gd name="adj" fmla="val 25000"/>
            </a:avLst>
          </a:prstGeom>
          <a:gradFill rotWithShape="1">
            <a:gsLst>
              <a:gs pos="0">
                <a:srgbClr val="FFCC00">
                  <a:gamma/>
                  <a:shade val="72941"/>
                  <a:invGamma/>
                </a:srgbClr>
              </a:gs>
              <a:gs pos="100000">
                <a:srgbClr val="FFCC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sz="2400">
                <a:latin typeface="Tahoma" panose="020B0604030504040204" pitchFamily="34" charset="0"/>
              </a:rPr>
              <a:t>Gönderici</a:t>
            </a:r>
          </a:p>
        </p:txBody>
      </p:sp>
      <p:sp>
        <p:nvSpPr>
          <p:cNvPr id="17" name="AutoShape 9">
            <a:extLst>
              <a:ext uri="{FF2B5EF4-FFF2-40B4-BE49-F238E27FC236}">
                <a16:creationId xmlns:a16="http://schemas.microsoft.com/office/drawing/2014/main" id="{36972351-318D-7B40-AFAC-0E1A25A10B67}"/>
              </a:ext>
            </a:extLst>
          </p:cNvPr>
          <p:cNvSpPr>
            <a:spLocks noChangeArrowheads="1"/>
          </p:cNvSpPr>
          <p:nvPr/>
        </p:nvSpPr>
        <p:spPr bwMode="auto">
          <a:xfrm>
            <a:off x="2052638" y="3644900"/>
            <a:ext cx="431800" cy="215900"/>
          </a:xfrm>
          <a:prstGeom prst="rightArrow">
            <a:avLst>
              <a:gd name="adj1" fmla="val 50000"/>
              <a:gd name="adj2" fmla="val 50000"/>
            </a:avLst>
          </a:prstGeom>
          <a:solidFill>
            <a:srgbClr val="8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18" name="AutoShape 10">
            <a:extLst>
              <a:ext uri="{FF2B5EF4-FFF2-40B4-BE49-F238E27FC236}">
                <a16:creationId xmlns:a16="http://schemas.microsoft.com/office/drawing/2014/main" id="{4B3B32D4-F8C1-E247-9729-11EAAA459E6B}"/>
              </a:ext>
            </a:extLst>
          </p:cNvPr>
          <p:cNvSpPr>
            <a:spLocks noChangeArrowheads="1"/>
          </p:cNvSpPr>
          <p:nvPr/>
        </p:nvSpPr>
        <p:spPr bwMode="auto">
          <a:xfrm>
            <a:off x="2555875" y="3357563"/>
            <a:ext cx="1728788" cy="792162"/>
          </a:xfrm>
          <a:prstGeom prst="cube">
            <a:avLst>
              <a:gd name="adj" fmla="val 25000"/>
            </a:avLst>
          </a:prstGeom>
          <a:gradFill rotWithShape="1">
            <a:gsLst>
              <a:gs pos="0">
                <a:srgbClr val="FFCC00">
                  <a:gamma/>
                  <a:shade val="72941"/>
                  <a:invGamma/>
                </a:srgbClr>
              </a:gs>
              <a:gs pos="100000">
                <a:srgbClr val="FFCC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sz="2400">
                <a:latin typeface="Tahoma" panose="020B0604030504040204" pitchFamily="34" charset="0"/>
              </a:rPr>
              <a:t>Mesaj</a:t>
            </a:r>
          </a:p>
        </p:txBody>
      </p:sp>
      <p:sp>
        <p:nvSpPr>
          <p:cNvPr id="19" name="AutoShape 11">
            <a:extLst>
              <a:ext uri="{FF2B5EF4-FFF2-40B4-BE49-F238E27FC236}">
                <a16:creationId xmlns:a16="http://schemas.microsoft.com/office/drawing/2014/main" id="{2E0314EF-9BA7-6843-A918-8FA2AB8AC9A2}"/>
              </a:ext>
            </a:extLst>
          </p:cNvPr>
          <p:cNvSpPr>
            <a:spLocks noChangeArrowheads="1"/>
          </p:cNvSpPr>
          <p:nvPr/>
        </p:nvSpPr>
        <p:spPr bwMode="auto">
          <a:xfrm>
            <a:off x="4211638" y="3644900"/>
            <a:ext cx="431800" cy="215900"/>
          </a:xfrm>
          <a:prstGeom prst="rightArrow">
            <a:avLst>
              <a:gd name="adj1" fmla="val 50000"/>
              <a:gd name="adj2" fmla="val 50000"/>
            </a:avLst>
          </a:prstGeom>
          <a:solidFill>
            <a:srgbClr val="8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20" name="AutoShape 12">
            <a:extLst>
              <a:ext uri="{FF2B5EF4-FFF2-40B4-BE49-F238E27FC236}">
                <a16:creationId xmlns:a16="http://schemas.microsoft.com/office/drawing/2014/main" id="{77FB9CB8-B8C7-9547-AD2F-5E28A07E8401}"/>
              </a:ext>
            </a:extLst>
          </p:cNvPr>
          <p:cNvSpPr>
            <a:spLocks noChangeArrowheads="1"/>
          </p:cNvSpPr>
          <p:nvPr/>
        </p:nvSpPr>
        <p:spPr bwMode="auto">
          <a:xfrm>
            <a:off x="4716463" y="3357563"/>
            <a:ext cx="1728787" cy="792162"/>
          </a:xfrm>
          <a:prstGeom prst="cube">
            <a:avLst>
              <a:gd name="adj" fmla="val 25000"/>
            </a:avLst>
          </a:prstGeom>
          <a:gradFill rotWithShape="1">
            <a:gsLst>
              <a:gs pos="0">
                <a:srgbClr val="FFCC00">
                  <a:gamma/>
                  <a:shade val="72941"/>
                  <a:invGamma/>
                </a:srgbClr>
              </a:gs>
              <a:gs pos="100000">
                <a:srgbClr val="FFCC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a:latin typeface="Tahoma" panose="020B0604030504040204" pitchFamily="34" charset="0"/>
              </a:rPr>
              <a:t>İletişim Aracı</a:t>
            </a:r>
          </a:p>
        </p:txBody>
      </p:sp>
      <p:sp>
        <p:nvSpPr>
          <p:cNvPr id="21" name="AutoShape 13">
            <a:extLst>
              <a:ext uri="{FF2B5EF4-FFF2-40B4-BE49-F238E27FC236}">
                <a16:creationId xmlns:a16="http://schemas.microsoft.com/office/drawing/2014/main" id="{50097DC9-75AD-FF4A-9E35-A07CCE6E1FCA}"/>
              </a:ext>
            </a:extLst>
          </p:cNvPr>
          <p:cNvSpPr>
            <a:spLocks noChangeArrowheads="1"/>
          </p:cNvSpPr>
          <p:nvPr/>
        </p:nvSpPr>
        <p:spPr bwMode="auto">
          <a:xfrm>
            <a:off x="6877050" y="3357563"/>
            <a:ext cx="1439863" cy="792162"/>
          </a:xfrm>
          <a:prstGeom prst="cube">
            <a:avLst>
              <a:gd name="adj" fmla="val 25000"/>
            </a:avLst>
          </a:prstGeom>
          <a:gradFill rotWithShape="1">
            <a:gsLst>
              <a:gs pos="0">
                <a:srgbClr val="FFCC00">
                  <a:gamma/>
                  <a:shade val="72941"/>
                  <a:invGamma/>
                </a:srgbClr>
              </a:gs>
              <a:gs pos="100000">
                <a:srgbClr val="FFCC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sz="2400">
                <a:latin typeface="Tahoma" panose="020B0604030504040204" pitchFamily="34" charset="0"/>
              </a:rPr>
              <a:t>Alıcı</a:t>
            </a:r>
          </a:p>
        </p:txBody>
      </p:sp>
      <p:sp>
        <p:nvSpPr>
          <p:cNvPr id="22" name="AutoShape 14">
            <a:extLst>
              <a:ext uri="{FF2B5EF4-FFF2-40B4-BE49-F238E27FC236}">
                <a16:creationId xmlns:a16="http://schemas.microsoft.com/office/drawing/2014/main" id="{A3E64711-4FFF-AF49-A006-71A5DD5674C4}"/>
              </a:ext>
            </a:extLst>
          </p:cNvPr>
          <p:cNvSpPr>
            <a:spLocks noChangeArrowheads="1"/>
          </p:cNvSpPr>
          <p:nvPr/>
        </p:nvSpPr>
        <p:spPr bwMode="auto">
          <a:xfrm>
            <a:off x="6372225" y="3644900"/>
            <a:ext cx="431800" cy="215900"/>
          </a:xfrm>
          <a:prstGeom prst="rightArrow">
            <a:avLst>
              <a:gd name="adj1" fmla="val 50000"/>
              <a:gd name="adj2" fmla="val 50000"/>
            </a:avLst>
          </a:prstGeom>
          <a:solidFill>
            <a:srgbClr val="8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23" name="AutoShape 11">
            <a:extLst>
              <a:ext uri="{FF2B5EF4-FFF2-40B4-BE49-F238E27FC236}">
                <a16:creationId xmlns:a16="http://schemas.microsoft.com/office/drawing/2014/main" id="{23A539DA-B528-F248-AA5E-30FEF03386E3}"/>
              </a:ext>
            </a:extLst>
          </p:cNvPr>
          <p:cNvSpPr>
            <a:spLocks noChangeArrowheads="1"/>
          </p:cNvSpPr>
          <p:nvPr/>
        </p:nvSpPr>
        <p:spPr bwMode="auto">
          <a:xfrm>
            <a:off x="468313" y="2781300"/>
            <a:ext cx="1728787" cy="792163"/>
          </a:xfrm>
          <a:prstGeom prst="cube">
            <a:avLst>
              <a:gd name="adj" fmla="val 25000"/>
            </a:avLst>
          </a:prstGeom>
          <a:gradFill rotWithShape="1">
            <a:gsLst>
              <a:gs pos="0">
                <a:schemeClr val="folHlink"/>
              </a:gs>
              <a:gs pos="100000">
                <a:schemeClr val="folHlink">
                  <a:gamma/>
                  <a:shade val="72941"/>
                  <a:invGamma/>
                </a:scheme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sz="2400" dirty="0">
                <a:solidFill>
                  <a:schemeClr val="bg1"/>
                </a:solidFill>
                <a:latin typeface="Tahoma" panose="020B0604030504040204" pitchFamily="34" charset="0"/>
              </a:rPr>
              <a:t>Bilgisayar</a:t>
            </a:r>
          </a:p>
        </p:txBody>
      </p:sp>
      <p:sp>
        <p:nvSpPr>
          <p:cNvPr id="24" name="AutoShape 12">
            <a:extLst>
              <a:ext uri="{FF2B5EF4-FFF2-40B4-BE49-F238E27FC236}">
                <a16:creationId xmlns:a16="http://schemas.microsoft.com/office/drawing/2014/main" id="{457CA427-CB8F-C647-BEED-8B65FCF968C8}"/>
              </a:ext>
            </a:extLst>
          </p:cNvPr>
          <p:cNvSpPr>
            <a:spLocks noChangeArrowheads="1"/>
          </p:cNvSpPr>
          <p:nvPr/>
        </p:nvSpPr>
        <p:spPr bwMode="auto">
          <a:xfrm>
            <a:off x="2555875" y="2781300"/>
            <a:ext cx="1728788" cy="792163"/>
          </a:xfrm>
          <a:prstGeom prst="cube">
            <a:avLst>
              <a:gd name="adj" fmla="val 25000"/>
            </a:avLst>
          </a:prstGeom>
          <a:gradFill rotWithShape="1">
            <a:gsLst>
              <a:gs pos="0">
                <a:schemeClr val="folHlink"/>
              </a:gs>
              <a:gs pos="100000">
                <a:schemeClr val="folHlink">
                  <a:gamma/>
                  <a:shade val="72941"/>
                  <a:invGamma/>
                </a:scheme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sz="2400" dirty="0">
                <a:solidFill>
                  <a:schemeClr val="bg1"/>
                </a:solidFill>
                <a:latin typeface="Tahoma" panose="020B0604030504040204" pitchFamily="34" charset="0"/>
              </a:rPr>
              <a:t>İçerik</a:t>
            </a:r>
          </a:p>
        </p:txBody>
      </p:sp>
      <p:sp>
        <p:nvSpPr>
          <p:cNvPr id="26" name="AutoShape 13">
            <a:extLst>
              <a:ext uri="{FF2B5EF4-FFF2-40B4-BE49-F238E27FC236}">
                <a16:creationId xmlns:a16="http://schemas.microsoft.com/office/drawing/2014/main" id="{AB6E40C7-7D0E-5049-9008-10D46E16BEB8}"/>
              </a:ext>
            </a:extLst>
          </p:cNvPr>
          <p:cNvSpPr>
            <a:spLocks noChangeArrowheads="1"/>
          </p:cNvSpPr>
          <p:nvPr/>
        </p:nvSpPr>
        <p:spPr bwMode="auto">
          <a:xfrm>
            <a:off x="4716463" y="2781300"/>
            <a:ext cx="1728787" cy="792163"/>
          </a:xfrm>
          <a:prstGeom prst="cube">
            <a:avLst>
              <a:gd name="adj" fmla="val 25000"/>
            </a:avLst>
          </a:prstGeom>
          <a:gradFill rotWithShape="1">
            <a:gsLst>
              <a:gs pos="0">
                <a:schemeClr val="folHlink"/>
              </a:gs>
              <a:gs pos="100000">
                <a:schemeClr val="folHlink">
                  <a:gamma/>
                  <a:shade val="72941"/>
                  <a:invGamma/>
                </a:scheme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dirty="0">
                <a:solidFill>
                  <a:schemeClr val="bg1"/>
                </a:solidFill>
                <a:latin typeface="Tahoma" panose="020B0604030504040204" pitchFamily="34" charset="0"/>
              </a:rPr>
              <a:t>Görsel, işitsel</a:t>
            </a:r>
          </a:p>
        </p:txBody>
      </p:sp>
      <p:sp>
        <p:nvSpPr>
          <p:cNvPr id="27" name="AutoShape 14">
            <a:extLst>
              <a:ext uri="{FF2B5EF4-FFF2-40B4-BE49-F238E27FC236}">
                <a16:creationId xmlns:a16="http://schemas.microsoft.com/office/drawing/2014/main" id="{C2EFCBFD-3547-2E44-9C71-5BAD393584A5}"/>
              </a:ext>
            </a:extLst>
          </p:cNvPr>
          <p:cNvSpPr>
            <a:spLocks noChangeArrowheads="1"/>
          </p:cNvSpPr>
          <p:nvPr/>
        </p:nvSpPr>
        <p:spPr bwMode="auto">
          <a:xfrm>
            <a:off x="6877050" y="2781300"/>
            <a:ext cx="1439863" cy="792163"/>
          </a:xfrm>
          <a:prstGeom prst="cube">
            <a:avLst>
              <a:gd name="adj" fmla="val 25000"/>
            </a:avLst>
          </a:prstGeom>
          <a:gradFill rotWithShape="1">
            <a:gsLst>
              <a:gs pos="0">
                <a:schemeClr val="folHlink">
                  <a:gamma/>
                  <a:shade val="72941"/>
                  <a:invGamma/>
                </a:schemeClr>
              </a:gs>
              <a:gs pos="50000">
                <a:schemeClr val="folHlink"/>
              </a:gs>
              <a:gs pos="100000">
                <a:schemeClr val="folHlink">
                  <a:gamma/>
                  <a:shade val="72941"/>
                  <a:invGamma/>
                </a:scheme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tr-TR" altLang="en-TR" sz="2400" dirty="0">
                <a:solidFill>
                  <a:schemeClr val="bg1"/>
                </a:solidFill>
                <a:latin typeface="Tahoma" panose="020B0604030504040204" pitchFamily="34" charset="0"/>
              </a:rPr>
              <a:t>Kullanıcı</a:t>
            </a:r>
          </a:p>
        </p:txBody>
      </p:sp>
    </p:spTree>
    <p:extLst>
      <p:ext uri="{BB962C8B-B14F-4D97-AF65-F5344CB8AC3E}">
        <p14:creationId xmlns:p14="http://schemas.microsoft.com/office/powerpoint/2010/main" val="24381704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İLETİŞİM</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15</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15</a:t>
            </a:fld>
            <a:endParaRPr lang="tr-TR"/>
          </a:p>
        </p:txBody>
      </p:sp>
      <p:sp>
        <p:nvSpPr>
          <p:cNvPr id="25" name="Oval 24">
            <a:extLst>
              <a:ext uri="{FF2B5EF4-FFF2-40B4-BE49-F238E27FC236}">
                <a16:creationId xmlns:a16="http://schemas.microsoft.com/office/drawing/2014/main" id="{F103498F-B49D-4DA8-8B0C-C3B686C155FD}"/>
              </a:ext>
            </a:extLst>
          </p:cNvPr>
          <p:cNvSpPr/>
          <p:nvPr/>
        </p:nvSpPr>
        <p:spPr>
          <a:xfrm>
            <a:off x="3581401" y="1692275"/>
            <a:ext cx="1752600" cy="388710"/>
          </a:xfrm>
          <a:prstGeom prst="ellipse">
            <a:avLst/>
          </a:prstGeom>
          <a:solidFill>
            <a:schemeClr val="tx1">
              <a:alpha val="0"/>
            </a:scheme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b="1" dirty="0">
                <a:solidFill>
                  <a:schemeClr val="bg1"/>
                </a:solidFill>
              </a:rPr>
              <a:t>Etkileşim</a:t>
            </a:r>
          </a:p>
        </p:txBody>
      </p:sp>
      <p:sp>
        <p:nvSpPr>
          <p:cNvPr id="40" name="Rectangle 39">
            <a:extLst>
              <a:ext uri="{FF2B5EF4-FFF2-40B4-BE49-F238E27FC236}">
                <a16:creationId xmlns:a16="http://schemas.microsoft.com/office/drawing/2014/main" id="{08CAC733-8D7A-194A-AF77-87704098DD43}"/>
              </a:ext>
            </a:extLst>
          </p:cNvPr>
          <p:cNvSpPr/>
          <p:nvPr/>
        </p:nvSpPr>
        <p:spPr>
          <a:xfrm>
            <a:off x="468964" y="1885834"/>
            <a:ext cx="7660051" cy="461665"/>
          </a:xfrm>
          <a:prstGeom prst="rect">
            <a:avLst/>
          </a:prstGeom>
        </p:spPr>
        <p:txBody>
          <a:bodyPr wrap="square">
            <a:spAutoFit/>
          </a:bodyPr>
          <a:lstStyle/>
          <a:p>
            <a:pPr eaLnBrk="0" hangingPunct="0">
              <a:spcBef>
                <a:spcPct val="50000"/>
              </a:spcBef>
            </a:pPr>
            <a:r>
              <a:rPr lang="tr-TR" altLang="en-TR" sz="2400" dirty="0">
                <a:latin typeface="Tahoma" panose="020B0604030504040204" pitchFamily="34" charset="0"/>
              </a:rPr>
              <a:t>İletişim yeteneklerinin çoğu sonradan öğrenilir...</a:t>
            </a:r>
          </a:p>
        </p:txBody>
      </p:sp>
    </p:spTree>
    <p:extLst>
      <p:ext uri="{BB962C8B-B14F-4D97-AF65-F5344CB8AC3E}">
        <p14:creationId xmlns:p14="http://schemas.microsoft.com/office/powerpoint/2010/main" val="39626514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İLETİŞİM</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16</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7" name="AutoShape 3">
            <a:extLst>
              <a:ext uri="{FF2B5EF4-FFF2-40B4-BE49-F238E27FC236}">
                <a16:creationId xmlns:a16="http://schemas.microsoft.com/office/drawing/2014/main" id="{D7F3609E-2399-D946-8CC9-F4F4790F2B69}"/>
              </a:ext>
            </a:extLst>
          </p:cNvPr>
          <p:cNvSpPr>
            <a:spLocks noChangeArrowheads="1"/>
          </p:cNvSpPr>
          <p:nvPr/>
        </p:nvSpPr>
        <p:spPr bwMode="auto">
          <a:xfrm rot="19056840">
            <a:off x="4858817" y="2765284"/>
            <a:ext cx="1223962" cy="288925"/>
          </a:xfrm>
          <a:prstGeom prst="leftArrow">
            <a:avLst>
              <a:gd name="adj1" fmla="val 50000"/>
              <a:gd name="adj2" fmla="val 105907"/>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8" name="AutoShape 4">
            <a:extLst>
              <a:ext uri="{FF2B5EF4-FFF2-40B4-BE49-F238E27FC236}">
                <a16:creationId xmlns:a16="http://schemas.microsoft.com/office/drawing/2014/main" id="{22B6D40A-CA2E-4444-AD91-82A903833E58}"/>
              </a:ext>
            </a:extLst>
          </p:cNvPr>
          <p:cNvSpPr>
            <a:spLocks noChangeArrowheads="1"/>
          </p:cNvSpPr>
          <p:nvPr/>
        </p:nvSpPr>
        <p:spPr bwMode="auto">
          <a:xfrm rot="21095058">
            <a:off x="5219179" y="3486009"/>
            <a:ext cx="1730375" cy="250825"/>
          </a:xfrm>
          <a:prstGeom prst="leftArrow">
            <a:avLst>
              <a:gd name="adj1" fmla="val 50000"/>
              <a:gd name="adj2" fmla="val 172468"/>
            </a:avLst>
          </a:prstGeom>
          <a:solidFill>
            <a:srgbClr val="FF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9" name="AutoShape 5">
            <a:extLst>
              <a:ext uri="{FF2B5EF4-FFF2-40B4-BE49-F238E27FC236}">
                <a16:creationId xmlns:a16="http://schemas.microsoft.com/office/drawing/2014/main" id="{B6662098-196E-C44C-9B75-7A3ABEE2167A}"/>
              </a:ext>
            </a:extLst>
          </p:cNvPr>
          <p:cNvSpPr>
            <a:spLocks noChangeArrowheads="1"/>
          </p:cNvSpPr>
          <p:nvPr/>
        </p:nvSpPr>
        <p:spPr bwMode="auto">
          <a:xfrm rot="1322991">
            <a:off x="5076304" y="4422634"/>
            <a:ext cx="1730375" cy="250825"/>
          </a:xfrm>
          <a:prstGeom prst="leftArrow">
            <a:avLst>
              <a:gd name="adj1" fmla="val 50000"/>
              <a:gd name="adj2" fmla="val 172468"/>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10" name="Text Box 6">
            <a:extLst>
              <a:ext uri="{FF2B5EF4-FFF2-40B4-BE49-F238E27FC236}">
                <a16:creationId xmlns:a16="http://schemas.microsoft.com/office/drawing/2014/main" id="{246BEA9D-58D6-C240-8433-C863005B0B3C}"/>
              </a:ext>
            </a:extLst>
          </p:cNvPr>
          <p:cNvSpPr txBox="1">
            <a:spLocks noChangeArrowheads="1"/>
          </p:cNvSpPr>
          <p:nvPr/>
        </p:nvSpPr>
        <p:spPr bwMode="auto">
          <a:xfrm>
            <a:off x="3707904" y="4179746"/>
            <a:ext cx="1296988" cy="237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tr-TR" altLang="en-TR" sz="15000" b="1" dirty="0">
                <a:solidFill>
                  <a:srgbClr val="FFCC00"/>
                </a:solidFill>
                <a:latin typeface="Tahoma" panose="020B0604030504040204" pitchFamily="34" charset="0"/>
              </a:rPr>
              <a:t>?</a:t>
            </a:r>
          </a:p>
        </p:txBody>
      </p:sp>
      <p:sp>
        <p:nvSpPr>
          <p:cNvPr id="11" name="AutoShape 7">
            <a:extLst>
              <a:ext uri="{FF2B5EF4-FFF2-40B4-BE49-F238E27FC236}">
                <a16:creationId xmlns:a16="http://schemas.microsoft.com/office/drawing/2014/main" id="{02CB3E98-35AA-F949-BB5A-FBC71521C011}"/>
              </a:ext>
            </a:extLst>
          </p:cNvPr>
          <p:cNvSpPr>
            <a:spLocks noChangeArrowheads="1"/>
          </p:cNvSpPr>
          <p:nvPr/>
        </p:nvSpPr>
        <p:spPr bwMode="auto">
          <a:xfrm>
            <a:off x="3707879" y="3233251"/>
            <a:ext cx="1225550" cy="1189383"/>
          </a:xfrm>
          <a:prstGeom prst="smileyFace">
            <a:avLst>
              <a:gd name="adj" fmla="val 4653"/>
            </a:avLst>
          </a:prstGeom>
          <a:solidFill>
            <a:srgbClr val="FF66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12" name="AutoShape 8">
            <a:extLst>
              <a:ext uri="{FF2B5EF4-FFF2-40B4-BE49-F238E27FC236}">
                <a16:creationId xmlns:a16="http://schemas.microsoft.com/office/drawing/2014/main" id="{7927BE7B-FE70-6E4F-852C-DDA81C2E4D8C}"/>
              </a:ext>
            </a:extLst>
          </p:cNvPr>
          <p:cNvSpPr>
            <a:spLocks noChangeArrowheads="1"/>
          </p:cNvSpPr>
          <p:nvPr/>
        </p:nvSpPr>
        <p:spPr bwMode="auto">
          <a:xfrm rot="1210150" flipH="1">
            <a:off x="1979092" y="3054209"/>
            <a:ext cx="1655762" cy="250825"/>
          </a:xfrm>
          <a:prstGeom prst="leftArrow">
            <a:avLst>
              <a:gd name="adj1" fmla="val 50000"/>
              <a:gd name="adj2" fmla="val 165032"/>
            </a:avLst>
          </a:prstGeom>
          <a:solidFill>
            <a:srgbClr val="FF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13" name="AutoShape 9">
            <a:extLst>
              <a:ext uri="{FF2B5EF4-FFF2-40B4-BE49-F238E27FC236}">
                <a16:creationId xmlns:a16="http://schemas.microsoft.com/office/drawing/2014/main" id="{6B211F07-14B2-F148-AB79-4531C39EC11D}"/>
              </a:ext>
            </a:extLst>
          </p:cNvPr>
          <p:cNvSpPr>
            <a:spLocks noChangeArrowheads="1"/>
          </p:cNvSpPr>
          <p:nvPr/>
        </p:nvSpPr>
        <p:spPr bwMode="auto">
          <a:xfrm rot="14431327">
            <a:off x="2952229" y="2385871"/>
            <a:ext cx="1443038" cy="217488"/>
          </a:xfrm>
          <a:prstGeom prst="leftArrow">
            <a:avLst>
              <a:gd name="adj1" fmla="val 50000"/>
              <a:gd name="adj2" fmla="val 165876"/>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14" name="AutoShape 10">
            <a:extLst>
              <a:ext uri="{FF2B5EF4-FFF2-40B4-BE49-F238E27FC236}">
                <a16:creationId xmlns:a16="http://schemas.microsoft.com/office/drawing/2014/main" id="{1E6C57DC-5A3E-9D4C-B84A-76279DBC1CA4}"/>
              </a:ext>
            </a:extLst>
          </p:cNvPr>
          <p:cNvSpPr>
            <a:spLocks noChangeArrowheads="1"/>
          </p:cNvSpPr>
          <p:nvPr/>
        </p:nvSpPr>
        <p:spPr bwMode="auto">
          <a:xfrm rot="20953290" flipH="1">
            <a:off x="2410892" y="3846371"/>
            <a:ext cx="1152525" cy="288925"/>
          </a:xfrm>
          <a:prstGeom prst="leftArrow">
            <a:avLst>
              <a:gd name="adj1" fmla="val 50000"/>
              <a:gd name="adj2" fmla="val 99725"/>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15" name="AutoShape 11">
            <a:extLst>
              <a:ext uri="{FF2B5EF4-FFF2-40B4-BE49-F238E27FC236}">
                <a16:creationId xmlns:a16="http://schemas.microsoft.com/office/drawing/2014/main" id="{E0EBC1B1-1A49-FB4A-8B58-A8124C388EB0}"/>
              </a:ext>
            </a:extLst>
          </p:cNvPr>
          <p:cNvSpPr>
            <a:spLocks noChangeArrowheads="1"/>
          </p:cNvSpPr>
          <p:nvPr/>
        </p:nvSpPr>
        <p:spPr bwMode="auto">
          <a:xfrm rot="17807233">
            <a:off x="4155555" y="2390633"/>
            <a:ext cx="1371600" cy="250825"/>
          </a:xfrm>
          <a:prstGeom prst="leftArrow">
            <a:avLst>
              <a:gd name="adj1" fmla="val 50000"/>
              <a:gd name="adj2" fmla="val 136709"/>
            </a:avLst>
          </a:prstGeom>
          <a:solidFill>
            <a:srgbClr val="FF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16" name="WordArt 12">
            <a:extLst>
              <a:ext uri="{FF2B5EF4-FFF2-40B4-BE49-F238E27FC236}">
                <a16:creationId xmlns:a16="http://schemas.microsoft.com/office/drawing/2014/main" id="{C5B9ADD4-0885-E042-A7F9-85C3B8C8BEBE}"/>
              </a:ext>
            </a:extLst>
          </p:cNvPr>
          <p:cNvSpPr>
            <a:spLocks noChangeArrowheads="1" noChangeShapeType="1" noTextEdit="1"/>
          </p:cNvSpPr>
          <p:nvPr/>
        </p:nvSpPr>
        <p:spPr bwMode="auto">
          <a:xfrm>
            <a:off x="899592" y="4494071"/>
            <a:ext cx="1881187" cy="576263"/>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r>
              <a:rPr lang="en-US" sz="3600" kern="10" dirty="0" err="1">
                <a:ln w="9525">
                  <a:solidFill>
                    <a:srgbClr val="000000"/>
                  </a:solidFill>
                  <a:round/>
                  <a:headEnd/>
                  <a:tailEnd/>
                </a:ln>
                <a:solidFill>
                  <a:srgbClr val="FFFFFF"/>
                </a:solidFill>
                <a:latin typeface="Tahoma" panose="020B0604030504040204" pitchFamily="34" charset="0"/>
                <a:ea typeface="Tahoma" panose="020B0604030504040204" pitchFamily="34" charset="0"/>
                <a:cs typeface="Tahoma" panose="020B0604030504040204" pitchFamily="34" charset="0"/>
              </a:rPr>
              <a:t>Mesaj</a:t>
            </a:r>
            <a:endParaRPr lang="en-TR" sz="3600" kern="10" dirty="0">
              <a:ln w="9525">
                <a:solidFill>
                  <a:srgbClr val="000000"/>
                </a:solidFill>
                <a:round/>
                <a:headEnd/>
                <a:tailEnd/>
              </a:ln>
              <a:solidFill>
                <a:srgbClr val="FFFFFF"/>
              </a:solidFill>
              <a:latin typeface="Tahoma" panose="020B0604030504040204" pitchFamily="34" charset="0"/>
              <a:ea typeface="Tahoma" panose="020B0604030504040204" pitchFamily="34" charset="0"/>
              <a:cs typeface="Tahoma" panose="020B0604030504040204" pitchFamily="34" charset="0"/>
            </a:endParaRPr>
          </a:p>
        </p:txBody>
      </p:sp>
      <p:sp>
        <p:nvSpPr>
          <p:cNvPr id="17" name="WordArt 13">
            <a:extLst>
              <a:ext uri="{FF2B5EF4-FFF2-40B4-BE49-F238E27FC236}">
                <a16:creationId xmlns:a16="http://schemas.microsoft.com/office/drawing/2014/main" id="{94B91907-44C5-C940-80CC-19A8E2F87580}"/>
              </a:ext>
            </a:extLst>
          </p:cNvPr>
          <p:cNvSpPr>
            <a:spLocks noChangeArrowheads="1" noChangeShapeType="1" noTextEdit="1"/>
          </p:cNvSpPr>
          <p:nvPr/>
        </p:nvSpPr>
        <p:spPr bwMode="auto">
          <a:xfrm>
            <a:off x="6587604" y="2981184"/>
            <a:ext cx="1008063" cy="33655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r>
              <a:rPr lang="en-US" sz="3600" kern="10">
                <a:ln w="9525">
                  <a:solidFill>
                    <a:srgbClr val="000000"/>
                  </a:solidFill>
                  <a:round/>
                  <a:headEnd/>
                  <a:tailEnd/>
                </a:ln>
                <a:solidFill>
                  <a:srgbClr val="FFFFFF"/>
                </a:solidFill>
                <a:latin typeface="Tahoma" panose="020B0604030504040204" pitchFamily="34" charset="0"/>
                <a:ea typeface="Tahoma" panose="020B0604030504040204" pitchFamily="34" charset="0"/>
                <a:cs typeface="Tahoma" panose="020B0604030504040204" pitchFamily="34" charset="0"/>
              </a:rPr>
              <a:t>Mesaj</a:t>
            </a:r>
            <a:endParaRPr lang="en-TR" sz="3600" kern="10">
              <a:ln w="9525">
                <a:solidFill>
                  <a:srgbClr val="000000"/>
                </a:solidFill>
                <a:round/>
                <a:headEnd/>
                <a:tailEnd/>
              </a:ln>
              <a:solidFill>
                <a:srgbClr val="FFFFFF"/>
              </a:solidFill>
              <a:latin typeface="Tahoma" panose="020B0604030504040204" pitchFamily="34" charset="0"/>
              <a:ea typeface="Tahoma" panose="020B0604030504040204" pitchFamily="34" charset="0"/>
              <a:cs typeface="Tahoma" panose="020B0604030504040204" pitchFamily="34" charset="0"/>
            </a:endParaRPr>
          </a:p>
        </p:txBody>
      </p:sp>
      <p:sp>
        <p:nvSpPr>
          <p:cNvPr id="18" name="WordArt 14">
            <a:extLst>
              <a:ext uri="{FF2B5EF4-FFF2-40B4-BE49-F238E27FC236}">
                <a16:creationId xmlns:a16="http://schemas.microsoft.com/office/drawing/2014/main" id="{49F11BBE-F5B8-2E41-A872-969DE7BFF0ED}"/>
              </a:ext>
            </a:extLst>
          </p:cNvPr>
          <p:cNvSpPr>
            <a:spLocks noChangeArrowheads="1" noChangeShapeType="1" noTextEdit="1"/>
          </p:cNvSpPr>
          <p:nvPr/>
        </p:nvSpPr>
        <p:spPr bwMode="auto">
          <a:xfrm>
            <a:off x="1402829" y="2406509"/>
            <a:ext cx="1162050" cy="407987"/>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r>
              <a:rPr lang="en-US" sz="3600" kern="10">
                <a:ln w="9525">
                  <a:solidFill>
                    <a:srgbClr val="000000"/>
                  </a:solidFill>
                  <a:round/>
                  <a:headEnd/>
                  <a:tailEnd/>
                </a:ln>
                <a:solidFill>
                  <a:srgbClr val="FFFFFF"/>
                </a:solidFill>
                <a:latin typeface="Tahoma" panose="020B0604030504040204" pitchFamily="34" charset="0"/>
                <a:ea typeface="Tahoma" panose="020B0604030504040204" pitchFamily="34" charset="0"/>
                <a:cs typeface="Tahoma" panose="020B0604030504040204" pitchFamily="34" charset="0"/>
              </a:rPr>
              <a:t>Mesaj</a:t>
            </a:r>
            <a:endParaRPr lang="en-TR" sz="3600" kern="10">
              <a:ln w="9525">
                <a:solidFill>
                  <a:srgbClr val="000000"/>
                </a:solidFill>
                <a:round/>
                <a:headEnd/>
                <a:tailEnd/>
              </a:ln>
              <a:solidFill>
                <a:srgbClr val="FFFFFF"/>
              </a:solidFill>
              <a:latin typeface="Tahoma" panose="020B0604030504040204" pitchFamily="34" charset="0"/>
              <a:ea typeface="Tahoma" panose="020B0604030504040204" pitchFamily="34" charset="0"/>
              <a:cs typeface="Tahoma" panose="020B0604030504040204" pitchFamily="34" charset="0"/>
            </a:endParaRPr>
          </a:p>
        </p:txBody>
      </p:sp>
      <p:sp>
        <p:nvSpPr>
          <p:cNvPr id="19" name="WordArt 15">
            <a:extLst>
              <a:ext uri="{FF2B5EF4-FFF2-40B4-BE49-F238E27FC236}">
                <a16:creationId xmlns:a16="http://schemas.microsoft.com/office/drawing/2014/main" id="{2A586C61-4A00-4C46-A90A-7BD4491A6A15}"/>
              </a:ext>
            </a:extLst>
          </p:cNvPr>
          <p:cNvSpPr>
            <a:spLocks noChangeArrowheads="1" noChangeShapeType="1" noTextEdit="1"/>
          </p:cNvSpPr>
          <p:nvPr/>
        </p:nvSpPr>
        <p:spPr bwMode="auto">
          <a:xfrm>
            <a:off x="6155804" y="5141771"/>
            <a:ext cx="792163" cy="263525"/>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r>
              <a:rPr lang="en-US" sz="3600" kern="10" dirty="0" err="1">
                <a:ln w="9525">
                  <a:solidFill>
                    <a:srgbClr val="000000"/>
                  </a:solidFill>
                  <a:round/>
                  <a:headEnd/>
                  <a:tailEnd/>
                </a:ln>
                <a:solidFill>
                  <a:srgbClr val="FFFFFF"/>
                </a:solidFill>
                <a:latin typeface="Tahoma" panose="020B0604030504040204" pitchFamily="34" charset="0"/>
                <a:ea typeface="Tahoma" panose="020B0604030504040204" pitchFamily="34" charset="0"/>
                <a:cs typeface="Tahoma" panose="020B0604030504040204" pitchFamily="34" charset="0"/>
              </a:rPr>
              <a:t>Mesaj</a:t>
            </a:r>
            <a:endParaRPr lang="en-TR" sz="3600" kern="10" dirty="0">
              <a:ln w="9525">
                <a:solidFill>
                  <a:srgbClr val="000000"/>
                </a:solidFill>
                <a:round/>
                <a:headEnd/>
                <a:tailEnd/>
              </a:ln>
              <a:solidFill>
                <a:srgbClr val="FFFFFF"/>
              </a:solidFill>
              <a:latin typeface="Tahoma" panose="020B0604030504040204" pitchFamily="34" charset="0"/>
              <a:ea typeface="Tahoma" panose="020B0604030504040204" pitchFamily="34" charset="0"/>
              <a:cs typeface="Tahoma" panose="020B0604030504040204" pitchFamily="34" charset="0"/>
            </a:endParaRPr>
          </a:p>
        </p:txBody>
      </p:sp>
      <p:sp>
        <p:nvSpPr>
          <p:cNvPr id="20" name="WordArt 16">
            <a:extLst>
              <a:ext uri="{FF2B5EF4-FFF2-40B4-BE49-F238E27FC236}">
                <a16:creationId xmlns:a16="http://schemas.microsoft.com/office/drawing/2014/main" id="{F483D8D0-2C63-0E48-AA97-C2CC8411C2B7}"/>
              </a:ext>
            </a:extLst>
          </p:cNvPr>
          <p:cNvSpPr>
            <a:spLocks noChangeArrowheads="1" noChangeShapeType="1" noTextEdit="1"/>
          </p:cNvSpPr>
          <p:nvPr/>
        </p:nvSpPr>
        <p:spPr bwMode="auto">
          <a:xfrm>
            <a:off x="5508104" y="1685784"/>
            <a:ext cx="1800225" cy="64770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r>
              <a:rPr lang="en-US" sz="3600" kern="10">
                <a:ln w="9525">
                  <a:solidFill>
                    <a:srgbClr val="000000"/>
                  </a:solidFill>
                  <a:round/>
                  <a:headEnd/>
                  <a:tailEnd/>
                </a:ln>
                <a:solidFill>
                  <a:srgbClr val="FFFFFF"/>
                </a:solidFill>
                <a:latin typeface="Tahoma" panose="020B0604030504040204" pitchFamily="34" charset="0"/>
                <a:ea typeface="Tahoma" panose="020B0604030504040204" pitchFamily="34" charset="0"/>
                <a:cs typeface="Tahoma" panose="020B0604030504040204" pitchFamily="34" charset="0"/>
              </a:rPr>
              <a:t>Mesaj</a:t>
            </a:r>
            <a:endParaRPr lang="en-TR" sz="3600" kern="10">
              <a:ln w="9525">
                <a:solidFill>
                  <a:srgbClr val="000000"/>
                </a:solidFill>
                <a:round/>
                <a:headEnd/>
                <a:tailEnd/>
              </a:ln>
              <a:solidFill>
                <a:srgbClr val="FFFFFF"/>
              </a:solidFill>
              <a:latin typeface="Tahoma" panose="020B0604030504040204" pitchFamily="34" charset="0"/>
              <a:ea typeface="Tahoma" panose="020B0604030504040204" pitchFamily="34" charset="0"/>
              <a:cs typeface="Tahoma" panose="020B0604030504040204" pitchFamily="34" charset="0"/>
            </a:endParaRPr>
          </a:p>
        </p:txBody>
      </p:sp>
      <p:sp>
        <p:nvSpPr>
          <p:cNvPr id="21" name="WordArt 17">
            <a:extLst>
              <a:ext uri="{FF2B5EF4-FFF2-40B4-BE49-F238E27FC236}">
                <a16:creationId xmlns:a16="http://schemas.microsoft.com/office/drawing/2014/main" id="{5939A24F-D3F3-634F-B046-D9ACD3F98816}"/>
              </a:ext>
            </a:extLst>
          </p:cNvPr>
          <p:cNvSpPr>
            <a:spLocks noChangeArrowheads="1" noChangeShapeType="1" noTextEdit="1"/>
          </p:cNvSpPr>
          <p:nvPr/>
        </p:nvSpPr>
        <p:spPr bwMode="auto">
          <a:xfrm>
            <a:off x="3491979" y="1541321"/>
            <a:ext cx="1162050" cy="407988"/>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r>
              <a:rPr lang="en-US" sz="3600" kern="10">
                <a:ln w="9525">
                  <a:solidFill>
                    <a:srgbClr val="000000"/>
                  </a:solidFill>
                  <a:round/>
                  <a:headEnd/>
                  <a:tailEnd/>
                </a:ln>
                <a:solidFill>
                  <a:srgbClr val="FFFFFF"/>
                </a:solidFill>
                <a:latin typeface="Tahoma" panose="020B0604030504040204" pitchFamily="34" charset="0"/>
                <a:ea typeface="Tahoma" panose="020B0604030504040204" pitchFamily="34" charset="0"/>
                <a:cs typeface="Tahoma" panose="020B0604030504040204" pitchFamily="34" charset="0"/>
              </a:rPr>
              <a:t>Mesaj</a:t>
            </a:r>
            <a:endParaRPr lang="en-TR" sz="3600" kern="10">
              <a:ln w="9525">
                <a:solidFill>
                  <a:srgbClr val="000000"/>
                </a:solidFill>
                <a:round/>
                <a:headEnd/>
                <a:tailEnd/>
              </a:ln>
              <a:solidFill>
                <a:srgbClr val="FFFFFF"/>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42447143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Grafik İletişim</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17</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8" name="Rectangle 7">
            <a:extLst>
              <a:ext uri="{FF2B5EF4-FFF2-40B4-BE49-F238E27FC236}">
                <a16:creationId xmlns:a16="http://schemas.microsoft.com/office/drawing/2014/main" id="{755116D7-E5C9-9640-93DB-E681DBD5C7EA}"/>
              </a:ext>
            </a:extLst>
          </p:cNvPr>
          <p:cNvSpPr/>
          <p:nvPr/>
        </p:nvSpPr>
        <p:spPr>
          <a:xfrm>
            <a:off x="468964" y="2431224"/>
            <a:ext cx="7660051" cy="3396379"/>
          </a:xfrm>
          <a:prstGeom prst="rect">
            <a:avLst/>
          </a:prstGeom>
        </p:spPr>
        <p:txBody>
          <a:bodyPr wrap="square">
            <a:spAutoFit/>
          </a:bodyPr>
          <a:lstStyle/>
          <a:p>
            <a:pPr eaLnBrk="0" hangingPunct="0">
              <a:lnSpc>
                <a:spcPct val="130000"/>
              </a:lnSpc>
            </a:pPr>
            <a:r>
              <a:rPr lang="tr-TR" altLang="en-TR" sz="2400" dirty="0">
                <a:latin typeface="Tahoma" panose="020B0604030504040204" pitchFamily="34" charset="0"/>
              </a:rPr>
              <a:t>Grafik, görsel olarak algılanan şeylerle yani görüntülerle ilgili bir kavramdır. İletişim de her türlü bilginin insanlar arası alışverişidir. </a:t>
            </a:r>
            <a:br>
              <a:rPr lang="tr-TR" altLang="en-TR" sz="2400" dirty="0">
                <a:latin typeface="Tahoma" panose="020B0604030504040204" pitchFamily="34" charset="0"/>
              </a:rPr>
            </a:br>
            <a:br>
              <a:rPr lang="tr-TR" altLang="en-TR" sz="2400" dirty="0">
                <a:latin typeface="Tahoma" panose="020B0604030504040204" pitchFamily="34" charset="0"/>
              </a:rPr>
            </a:br>
            <a:endParaRPr lang="tr-TR" altLang="en-TR" sz="2400" dirty="0">
              <a:latin typeface="Tahoma" panose="020B0604030504040204" pitchFamily="34" charset="0"/>
            </a:endParaRPr>
          </a:p>
          <a:p>
            <a:pPr eaLnBrk="0" hangingPunct="0">
              <a:lnSpc>
                <a:spcPct val="130000"/>
              </a:lnSpc>
            </a:pPr>
            <a:r>
              <a:rPr lang="tr-TR" altLang="en-TR" sz="2400" dirty="0">
                <a:latin typeface="Tahoma" panose="020B0604030504040204" pitchFamily="34" charset="0"/>
              </a:rPr>
              <a:t>Bu durumda grafik iletişim, görüntülerden oluşan bilgilerin değiş-tokuşu olarak tanımlanabilir.</a:t>
            </a:r>
          </a:p>
        </p:txBody>
      </p:sp>
      <p:sp>
        <p:nvSpPr>
          <p:cNvPr id="9" name="Rectangle 3">
            <a:extLst>
              <a:ext uri="{FF2B5EF4-FFF2-40B4-BE49-F238E27FC236}">
                <a16:creationId xmlns:a16="http://schemas.microsoft.com/office/drawing/2014/main" id="{89A21F2C-5ECD-F541-A807-C102695A57CB}"/>
              </a:ext>
            </a:extLst>
          </p:cNvPr>
          <p:cNvSpPr>
            <a:spLocks noGrp="1" noChangeArrowheads="1"/>
          </p:cNvSpPr>
          <p:nvPr>
            <p:ph sz="quarter" idx="1"/>
          </p:nvPr>
        </p:nvSpPr>
        <p:spPr>
          <a:xfrm>
            <a:off x="457200" y="1556792"/>
            <a:ext cx="7772400" cy="1008108"/>
          </a:xfrm>
        </p:spPr>
        <p:txBody>
          <a:bodyPr/>
          <a:lstStyle/>
          <a:p>
            <a:pPr eaLnBrk="0" hangingPunct="0">
              <a:spcBef>
                <a:spcPct val="50000"/>
              </a:spcBef>
            </a:pPr>
            <a:r>
              <a:rPr lang="tr-TR" altLang="en-TR" dirty="0"/>
              <a:t>Grafik İletişim Nedir?</a:t>
            </a:r>
          </a:p>
        </p:txBody>
      </p:sp>
      <p:sp>
        <p:nvSpPr>
          <p:cNvPr id="17" name="AutoShape 4">
            <a:extLst>
              <a:ext uri="{FF2B5EF4-FFF2-40B4-BE49-F238E27FC236}">
                <a16:creationId xmlns:a16="http://schemas.microsoft.com/office/drawing/2014/main" id="{5D262C3B-42E3-B44C-A170-DC1D860B7EE4}"/>
              </a:ext>
            </a:extLst>
          </p:cNvPr>
          <p:cNvSpPr>
            <a:spLocks noChangeArrowheads="1"/>
          </p:cNvSpPr>
          <p:nvPr/>
        </p:nvSpPr>
        <p:spPr bwMode="auto">
          <a:xfrm>
            <a:off x="3563938" y="3692220"/>
            <a:ext cx="1295400" cy="1008063"/>
          </a:xfrm>
          <a:prstGeom prst="downArrow">
            <a:avLst>
              <a:gd name="adj1" fmla="val 47528"/>
              <a:gd name="adj2" fmla="val 49935"/>
            </a:avLst>
          </a:prstGeom>
          <a:solidFill>
            <a:srgbClr val="A5002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Tree>
    <p:extLst>
      <p:ext uri="{BB962C8B-B14F-4D97-AF65-F5344CB8AC3E}">
        <p14:creationId xmlns:p14="http://schemas.microsoft.com/office/powerpoint/2010/main" val="29378582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Grafik İletişim</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18</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1" name="Rectangle 10">
            <a:extLst>
              <a:ext uri="{FF2B5EF4-FFF2-40B4-BE49-F238E27FC236}">
                <a16:creationId xmlns:a16="http://schemas.microsoft.com/office/drawing/2014/main" id="{2294A98B-3A4C-EF41-AF52-207B49DAD6B9}"/>
              </a:ext>
            </a:extLst>
          </p:cNvPr>
          <p:cNvSpPr/>
          <p:nvPr/>
        </p:nvSpPr>
        <p:spPr>
          <a:xfrm>
            <a:off x="468964" y="1885834"/>
            <a:ext cx="7660051" cy="1124988"/>
          </a:xfrm>
          <a:prstGeom prst="rect">
            <a:avLst/>
          </a:prstGeom>
        </p:spPr>
        <p:txBody>
          <a:bodyPr wrap="square">
            <a:spAutoFit/>
          </a:bodyPr>
          <a:lstStyle/>
          <a:p>
            <a:pPr eaLnBrk="0" hangingPunct="0">
              <a:lnSpc>
                <a:spcPct val="150000"/>
              </a:lnSpc>
              <a:spcBef>
                <a:spcPct val="50000"/>
              </a:spcBef>
            </a:pPr>
            <a:r>
              <a:rPr lang="tr-TR" altLang="en-TR" sz="2400" dirty="0">
                <a:latin typeface="Tahoma" panose="020B0604030504040204" pitchFamily="34" charset="0"/>
              </a:rPr>
              <a:t>...bir düşünce ve kavramın kaydedilebilmesi için bir </a:t>
            </a:r>
            <a:r>
              <a:rPr lang="tr-TR" altLang="en-TR" sz="2400" b="1" dirty="0">
                <a:latin typeface="Tahoma" panose="020B0604030504040204" pitchFamily="34" charset="0"/>
              </a:rPr>
              <a:t>grafik iletişim sisteminin</a:t>
            </a:r>
            <a:r>
              <a:rPr lang="tr-TR" altLang="en-TR" sz="2400" dirty="0">
                <a:latin typeface="Tahoma" panose="020B0604030504040204" pitchFamily="34" charset="0"/>
              </a:rPr>
              <a:t> kurulmuş olması gerekir...</a:t>
            </a:r>
          </a:p>
        </p:txBody>
      </p:sp>
    </p:spTree>
    <p:extLst>
      <p:ext uri="{BB962C8B-B14F-4D97-AF65-F5344CB8AC3E}">
        <p14:creationId xmlns:p14="http://schemas.microsoft.com/office/powerpoint/2010/main" val="13324413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Grafik İletişim</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19</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1" name="Rectangle 10">
            <a:extLst>
              <a:ext uri="{FF2B5EF4-FFF2-40B4-BE49-F238E27FC236}">
                <a16:creationId xmlns:a16="http://schemas.microsoft.com/office/drawing/2014/main" id="{2294A98B-3A4C-EF41-AF52-207B49DAD6B9}"/>
              </a:ext>
            </a:extLst>
          </p:cNvPr>
          <p:cNvSpPr/>
          <p:nvPr/>
        </p:nvSpPr>
        <p:spPr>
          <a:xfrm>
            <a:off x="468964" y="1885834"/>
            <a:ext cx="7660051" cy="543290"/>
          </a:xfrm>
          <a:prstGeom prst="rect">
            <a:avLst/>
          </a:prstGeom>
        </p:spPr>
        <p:txBody>
          <a:bodyPr wrap="square">
            <a:spAutoFit/>
          </a:bodyPr>
          <a:lstStyle/>
          <a:p>
            <a:pPr eaLnBrk="0" hangingPunct="0">
              <a:lnSpc>
                <a:spcPct val="140000"/>
              </a:lnSpc>
              <a:spcBef>
                <a:spcPct val="50000"/>
              </a:spcBef>
            </a:pPr>
            <a:r>
              <a:rPr lang="tr-TR" altLang="en-TR" sz="2400" dirty="0">
                <a:latin typeface="Tahoma" panose="020B0604030504040204" pitchFamily="34" charset="0"/>
              </a:rPr>
              <a:t>Grafik İletişimin başlıca hedef ve başarı kriteri nedir? </a:t>
            </a:r>
          </a:p>
        </p:txBody>
      </p:sp>
    </p:spTree>
    <p:extLst>
      <p:ext uri="{BB962C8B-B14F-4D97-AF65-F5344CB8AC3E}">
        <p14:creationId xmlns:p14="http://schemas.microsoft.com/office/powerpoint/2010/main" val="8407920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Grafik İletişim</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20</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pic>
        <p:nvPicPr>
          <p:cNvPr id="4" name="Picture 3">
            <a:extLst>
              <a:ext uri="{FF2B5EF4-FFF2-40B4-BE49-F238E27FC236}">
                <a16:creationId xmlns:a16="http://schemas.microsoft.com/office/drawing/2014/main" id="{F440C2A9-D6A0-5B44-BA94-6B314B6AD2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0440" y="1844824"/>
            <a:ext cx="1973064" cy="1973064"/>
          </a:xfrm>
          <a:prstGeom prst="rect">
            <a:avLst/>
          </a:prstGeom>
        </p:spPr>
      </p:pic>
      <p:pic>
        <p:nvPicPr>
          <p:cNvPr id="8" name="Picture 7">
            <a:extLst>
              <a:ext uri="{FF2B5EF4-FFF2-40B4-BE49-F238E27FC236}">
                <a16:creationId xmlns:a16="http://schemas.microsoft.com/office/drawing/2014/main" id="{D465ED30-FFD7-5E49-BDCF-769B9F07720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0440" y="4265377"/>
            <a:ext cx="1973064" cy="1973064"/>
          </a:xfrm>
          <a:prstGeom prst="rect">
            <a:avLst/>
          </a:prstGeom>
        </p:spPr>
      </p:pic>
      <p:pic>
        <p:nvPicPr>
          <p:cNvPr id="10" name="Picture 9">
            <a:extLst>
              <a:ext uri="{FF2B5EF4-FFF2-40B4-BE49-F238E27FC236}">
                <a16:creationId xmlns:a16="http://schemas.microsoft.com/office/drawing/2014/main" id="{8F714238-3F3E-6346-BEAA-9021870EA2F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23072" y="1844824"/>
            <a:ext cx="1973064" cy="1973064"/>
          </a:xfrm>
          <a:prstGeom prst="rect">
            <a:avLst/>
          </a:prstGeom>
        </p:spPr>
      </p:pic>
      <p:pic>
        <p:nvPicPr>
          <p:cNvPr id="13" name="Picture 12">
            <a:extLst>
              <a:ext uri="{FF2B5EF4-FFF2-40B4-BE49-F238E27FC236}">
                <a16:creationId xmlns:a16="http://schemas.microsoft.com/office/drawing/2014/main" id="{1E2469BE-392C-2847-BFD5-286BB53251B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72993" y="4265377"/>
            <a:ext cx="1473221" cy="1973064"/>
          </a:xfrm>
          <a:prstGeom prst="rect">
            <a:avLst/>
          </a:prstGeom>
        </p:spPr>
      </p:pic>
    </p:spTree>
    <p:extLst>
      <p:ext uri="{BB962C8B-B14F-4D97-AF65-F5344CB8AC3E}">
        <p14:creationId xmlns:p14="http://schemas.microsoft.com/office/powerpoint/2010/main" val="42169466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Grafik İletişim</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21</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1" name="Rectangle 10">
            <a:extLst>
              <a:ext uri="{FF2B5EF4-FFF2-40B4-BE49-F238E27FC236}">
                <a16:creationId xmlns:a16="http://schemas.microsoft.com/office/drawing/2014/main" id="{2294A98B-3A4C-EF41-AF52-207B49DAD6B9}"/>
              </a:ext>
            </a:extLst>
          </p:cNvPr>
          <p:cNvSpPr/>
          <p:nvPr/>
        </p:nvSpPr>
        <p:spPr>
          <a:xfrm>
            <a:off x="468964" y="1511924"/>
            <a:ext cx="7660051" cy="1124988"/>
          </a:xfrm>
          <a:prstGeom prst="rect">
            <a:avLst/>
          </a:prstGeom>
        </p:spPr>
        <p:txBody>
          <a:bodyPr wrap="square">
            <a:spAutoFit/>
          </a:bodyPr>
          <a:lstStyle/>
          <a:p>
            <a:pPr eaLnBrk="0" hangingPunct="0">
              <a:lnSpc>
                <a:spcPct val="150000"/>
              </a:lnSpc>
              <a:spcBef>
                <a:spcPct val="50000"/>
              </a:spcBef>
            </a:pPr>
            <a:r>
              <a:rPr lang="tr-TR" altLang="en-TR" sz="2400" dirty="0">
                <a:latin typeface="Tahoma" panose="020B0604030504040204" pitchFamily="34" charset="0"/>
              </a:rPr>
              <a:t>Günümüz insanının çoğu hayati etkinlikleri, </a:t>
            </a:r>
            <a:r>
              <a:rPr lang="tr-TR" altLang="en-TR" sz="2400" b="1" dirty="0">
                <a:latin typeface="Tahoma" panose="020B0604030504040204" pitchFamily="34" charset="0"/>
              </a:rPr>
              <a:t>grafik imgelerle iletişim kurabilme</a:t>
            </a:r>
            <a:r>
              <a:rPr lang="tr-TR" altLang="en-TR" sz="2400" dirty="0">
                <a:latin typeface="Tahoma" panose="020B0604030504040204" pitchFamily="34" charset="0"/>
              </a:rPr>
              <a:t> yeteneklerine bağlıdır.</a:t>
            </a:r>
          </a:p>
        </p:txBody>
      </p:sp>
      <p:pic>
        <p:nvPicPr>
          <p:cNvPr id="7" name="Picture 4">
            <a:extLst>
              <a:ext uri="{FF2B5EF4-FFF2-40B4-BE49-F238E27FC236}">
                <a16:creationId xmlns:a16="http://schemas.microsoft.com/office/drawing/2014/main" id="{2B34C041-8CC7-C34F-AA4C-A0310E5744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468964" y="2924944"/>
            <a:ext cx="6699250" cy="35464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36622820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mba">
  <a:themeElements>
    <a:clrScheme name="Cumba">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Cumba">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umba">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825</TotalTime>
  <Words>1276</Words>
  <Application>Microsoft Macintosh PowerPoint</Application>
  <PresentationFormat>On-screen Show (4:3)</PresentationFormat>
  <Paragraphs>212</Paragraphs>
  <Slides>21</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Calibri</vt:lpstr>
      <vt:lpstr>Century Schoolbook</vt:lpstr>
      <vt:lpstr>Tahoma</vt:lpstr>
      <vt:lpstr>Times New Roman</vt:lpstr>
      <vt:lpstr>Wingdings</vt:lpstr>
      <vt:lpstr>Wingdings 2</vt:lpstr>
      <vt:lpstr>Cumba</vt:lpstr>
      <vt:lpstr>UZAKTAN EĞİTİM TEKNOLOJİLERİ</vt:lpstr>
      <vt:lpstr>İLETİŞİM</vt:lpstr>
      <vt:lpstr>İLETİŞİM</vt:lpstr>
      <vt:lpstr>İLETİŞİM</vt:lpstr>
      <vt:lpstr>İLETİŞİM</vt:lpstr>
      <vt:lpstr>İLETİŞİM</vt:lpstr>
      <vt:lpstr>İLETİŞİM</vt:lpstr>
      <vt:lpstr>İLETİŞİM</vt:lpstr>
      <vt:lpstr>İLETİŞİM</vt:lpstr>
      <vt:lpstr>İLETİŞİM</vt:lpstr>
      <vt:lpstr>İLETİŞİM</vt:lpstr>
      <vt:lpstr>İLETİŞİM</vt:lpstr>
      <vt:lpstr>İLETİŞİM</vt:lpstr>
      <vt:lpstr>İLETİŞİM</vt:lpstr>
      <vt:lpstr>İLETİŞİM</vt:lpstr>
      <vt:lpstr>İLETİŞİM</vt:lpstr>
      <vt:lpstr>Grafik İletişim</vt:lpstr>
      <vt:lpstr>Grafik İletişim</vt:lpstr>
      <vt:lpstr>Grafik İletişim</vt:lpstr>
      <vt:lpstr>Grafik İletişim</vt:lpstr>
      <vt:lpstr>Grafik İletişim</vt:lpstr>
    </vt:vector>
  </TitlesOfParts>
  <Company>rocco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Slayt 1</dc:title>
  <dc:creator>zaman</dc:creator>
  <cp:lastModifiedBy>Microsoft Office User</cp:lastModifiedBy>
  <cp:revision>131</cp:revision>
  <dcterms:created xsi:type="dcterms:W3CDTF">2015-05-19T13:03:20Z</dcterms:created>
  <dcterms:modified xsi:type="dcterms:W3CDTF">2020-11-23T15:36:04Z</dcterms:modified>
</cp:coreProperties>
</file>