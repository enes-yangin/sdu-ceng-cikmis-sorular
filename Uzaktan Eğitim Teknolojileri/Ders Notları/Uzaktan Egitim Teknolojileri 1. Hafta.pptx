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2"/>
  </p:notesMasterIdLst>
  <p:sldIdLst>
    <p:sldId id="256" r:id="rId2"/>
    <p:sldId id="326" r:id="rId3"/>
    <p:sldId id="327" r:id="rId4"/>
    <p:sldId id="328" r:id="rId5"/>
    <p:sldId id="329" r:id="rId6"/>
    <p:sldId id="330" r:id="rId7"/>
    <p:sldId id="331" r:id="rId8"/>
    <p:sldId id="332" r:id="rId9"/>
    <p:sldId id="333" r:id="rId10"/>
    <p:sldId id="334" r:id="rId11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Orta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til Yok, Kılavuz Yok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Açık Stil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25" autoAdjust="0"/>
    <p:restoredTop sz="81067" autoAdjust="0"/>
  </p:normalViewPr>
  <p:slideViewPr>
    <p:cSldViewPr>
      <p:cViewPr>
        <p:scale>
          <a:sx n="69" d="100"/>
          <a:sy n="69" d="100"/>
        </p:scale>
        <p:origin x="1464" y="4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3A45C-1F9B-4470-B393-CB4E170383FB}" type="datetimeFigureOut">
              <a:rPr lang="tr-TR" smtClean="0"/>
              <a:t>13.10.2020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1CD16-3461-49A8-861A-0462DBFF20F0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53031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08891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alt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6576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01989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34052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561452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012387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00493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464812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627053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1CD16-3461-49A8-861A-0462DBFF20F0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3449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Başlık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9" name="8 Alt Başlık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r-TR"/>
              <a:t>Asıl alt başlık stilini düzenlemek için tıklatın</a:t>
            </a:r>
            <a:endParaRPr kumimoji="0" lang="en-US"/>
          </a:p>
        </p:txBody>
      </p:sp>
      <p:sp>
        <p:nvSpPr>
          <p:cNvPr id="28" name="27 Veri Yer Tutucusu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099275E6-BDB1-4AC3-815C-2C2D22452163}" type="datetime1">
              <a:rPr lang="tr-TR" smtClean="0"/>
              <a:t>13.10.2020</a:t>
            </a:fld>
            <a:endParaRPr lang="tr-TR"/>
          </a:p>
        </p:txBody>
      </p:sp>
      <p:sp>
        <p:nvSpPr>
          <p:cNvPr id="17" name="16 Altbilgi Yer Tutucusu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tr-TR"/>
          </a:p>
        </p:txBody>
      </p:sp>
      <p:sp>
        <p:nvSpPr>
          <p:cNvPr id="10" name="9 Dikdörtgen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Dikdörtgen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Dikdörtgen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18 Dikdörtgen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Düz Bağlayıcı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Düz Bağlayıcı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19 Düz Bağlayıcı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Düz Bağlayıcı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Düz Bağlayıcı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21 Düz Bağlayıcı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26 Dikdörtgen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Oval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Oval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23 Oval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Oval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24 Oval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28 Slayt Numarası Yer Tutucusu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8" name="7 İçerik Yer Tutucusu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0D220B3B-728E-46A1-B4E5-2D1C609AAE18}" type="datetime1">
              <a:rPr lang="tr-TR" smtClean="0"/>
              <a:t>13.10.2020</a:t>
            </a:fld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0" name="9 Altbilgi Yer Tutucusu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9E4052E5-45F5-4075-8D9E-4FAD178C4C64}" type="datetime1">
              <a:rPr lang="tr-TR" smtClean="0"/>
              <a:t>13.10.2020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tr-TR"/>
          </a:p>
        </p:txBody>
      </p:sp>
      <p:sp>
        <p:nvSpPr>
          <p:cNvPr id="9" name="8 Dikdörtgen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Dikdörtgen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Dikdörtgen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Dikdörtgen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Düz Bağlayıcı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Düz Bağlayıcı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Düz Bağlayıcı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Düz Bağlayıcı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16 Düz Bağlayıcı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Dikdörtgen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18 Oval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19 Oval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Oval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21 Oval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Oval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Düz Bağlayıcı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F287B-E325-4848-85CA-2FFA31942568}" type="datetime1">
              <a:rPr lang="tr-TR" smtClean="0"/>
              <a:t>13.10.2020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9" name="8 İçerik Yer Tutucusu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1" name="10 İçerik Yer Tutucusu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F2696-49BD-49B7-870B-61F0042AE0DB}" type="datetime1">
              <a:rPr lang="tr-TR" smtClean="0"/>
              <a:t>13.10.2020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1" name="10 İçerik Yer Tutucusu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3" name="12 İçerik Yer Tutucusu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2" name="11 Metin Yer Tutucusu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14" name="13 Metin Yer Tutucusu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6" name="5 Veri Yer Tutucusu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451CD09-A8DF-49F8-8528-5C0A35A50562}" type="datetime1">
              <a:rPr lang="tr-TR" smtClean="0"/>
              <a:t>13.10.2020</a:t>
            </a:fld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91C94-E58A-43B5-AAB1-9CD9F36DD72A}" type="datetime1">
              <a:rPr lang="tr-TR" smtClean="0"/>
              <a:t>13.10.2020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Düz Bağlayıcı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Metin Yer Tutucusu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8" name="7 Düz Bağlayıcı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Düz Bağlayıcı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10 Düz Bağlayıcı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Dikdörtgen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Düz Bağlayıcı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Oval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17 İçerik Yer Tutucusu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21" name="20 Veri Yer Tutucusu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A18CDB5-35C5-4392-B161-325FA3E18DC3}" type="datetime1">
              <a:rPr lang="tr-TR" smtClean="0"/>
              <a:t>13.10.2020</a:t>
            </a:fld>
            <a:endParaRPr lang="tr-TR"/>
          </a:p>
        </p:txBody>
      </p:sp>
      <p:sp>
        <p:nvSpPr>
          <p:cNvPr id="22" name="21 Slayt Numarası Yer Tutucusu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23" name="22 Altbilgi Yer Tutucusu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Düz Bağlayıcı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12 Oval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tr-TR"/>
              <a:t>Resim eklemek için simgeyi tıklatın</a:t>
            </a:r>
            <a:endParaRPr kumimoji="0" lang="en-US" dirty="0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10" name="9 Düz Bağlayıcı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10 Dikdörtgen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Düz Bağlayıcı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18 Düz Bağlayıcı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19 Düz Bağlayıcı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16 Veri Yer Tutucusu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2763EF9-8C7B-40A2-81BB-789A43B8E2A7}" type="datetime1">
              <a:rPr lang="tr-TR" smtClean="0"/>
              <a:t>13.10.2020</a:t>
            </a:fld>
            <a:endParaRPr lang="tr-TR"/>
          </a:p>
        </p:txBody>
      </p:sp>
      <p:sp>
        <p:nvSpPr>
          <p:cNvPr id="18" name="17 Slayt Numarası Yer Tutucusu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21" name="20 Altbilgi Yer Tutucusu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4B87F-80D3-4B89-8E7A-FA2EED8BD7A5}" type="datetime1">
              <a:rPr lang="tr-TR" smtClean="0"/>
              <a:t>13.10.2020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CD87DE-69B0-4BAD-A937-F2DCE546BFD7}" type="datetime1">
              <a:rPr lang="tr-TR" smtClean="0"/>
              <a:t>13.10.2020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Düz Bağlayıcı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2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13" name="1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tr-TR"/>
              <a:t>Asıl metin stillerini düzenlemek için tıklatın</a:t>
            </a:r>
          </a:p>
          <a:p>
            <a:pPr lvl="1" eaLnBrk="1" latinLnBrk="0" hangingPunct="1"/>
            <a:r>
              <a:rPr kumimoji="0" lang="tr-TR"/>
              <a:t>İkinci düzey</a:t>
            </a:r>
          </a:p>
          <a:p>
            <a:pPr lvl="2" eaLnBrk="1" latinLnBrk="0" hangingPunct="1"/>
            <a:r>
              <a:rPr kumimoji="0" lang="tr-TR"/>
              <a:t>Üçüncü düzey</a:t>
            </a:r>
          </a:p>
          <a:p>
            <a:pPr lvl="3" eaLnBrk="1" latinLnBrk="0" hangingPunct="1"/>
            <a:r>
              <a:rPr kumimoji="0" lang="tr-TR"/>
              <a:t>Dördüncü düzey</a:t>
            </a:r>
          </a:p>
          <a:p>
            <a:pPr lvl="4" eaLnBrk="1" latinLnBrk="0" hangingPunct="1"/>
            <a:r>
              <a:rPr kumimoji="0" lang="tr-TR"/>
              <a:t>Beşinci düzey</a:t>
            </a:r>
            <a:endParaRPr kumimoji="0" lang="en-US"/>
          </a:p>
        </p:txBody>
      </p:sp>
      <p:sp>
        <p:nvSpPr>
          <p:cNvPr id="14" name="13 Veri Yer Tutucusu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EC7E1F2-290D-48B4-B19D-0927333BE67A}" type="datetime1">
              <a:rPr lang="tr-TR" smtClean="0"/>
              <a:t>13.10.2020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6 Düz Bağlayıcı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Düz Bağlayıcı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Dikdörtgen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Düz Bağlayıcı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Oval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E121D1B-9491-4A5F-BD01-A1B3B0B623A2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Başlık"/>
          <p:cNvSpPr>
            <a:spLocks noGrp="1"/>
          </p:cNvSpPr>
          <p:nvPr>
            <p:ph type="ctrTitle"/>
          </p:nvPr>
        </p:nvSpPr>
        <p:spPr>
          <a:xfrm>
            <a:off x="928662" y="1357298"/>
            <a:ext cx="7772400" cy="1171583"/>
          </a:xfrm>
        </p:spPr>
        <p:txBody>
          <a:bodyPr>
            <a:normAutofit/>
          </a:bodyPr>
          <a:lstStyle/>
          <a:p>
            <a:pPr algn="ctr"/>
            <a:r>
              <a:rPr lang="tr-TR" sz="3200" dirty="0"/>
              <a:t>UZAKTAN EĞİTİM TEKNOLOJİLERİ</a:t>
            </a:r>
          </a:p>
        </p:txBody>
      </p:sp>
      <p:sp>
        <p:nvSpPr>
          <p:cNvPr id="5" name="4 Alt Başlık"/>
          <p:cNvSpPr>
            <a:spLocks noGrp="1"/>
          </p:cNvSpPr>
          <p:nvPr>
            <p:ph type="subTitle" idx="1"/>
          </p:nvPr>
        </p:nvSpPr>
        <p:spPr>
          <a:xfrm>
            <a:off x="1371600" y="3714752"/>
            <a:ext cx="6915176" cy="2643206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tr-TR" sz="2200" b="0" dirty="0"/>
              <a:t>Prof. Dr. Tuncay YİĞİT</a:t>
            </a:r>
          </a:p>
          <a:p>
            <a:pPr algn="ctr"/>
            <a:r>
              <a:rPr lang="tr-TR" sz="2200" b="0" dirty="0"/>
              <a:t>Süleyman Demirel Üniversitesi</a:t>
            </a:r>
          </a:p>
          <a:p>
            <a:pPr algn="ctr"/>
            <a:r>
              <a:rPr lang="tr-TR" sz="2200" b="0" dirty="0"/>
              <a:t>Bilgisayar Mühendisliği Bölümü</a:t>
            </a:r>
          </a:p>
          <a:p>
            <a:pPr algn="ctr"/>
            <a:endParaRPr lang="tr-TR" sz="2200" b="0" dirty="0"/>
          </a:p>
          <a:p>
            <a:pPr algn="ctr"/>
            <a:endParaRPr lang="tr-TR" sz="2200" b="0" dirty="0"/>
          </a:p>
          <a:p>
            <a:pPr algn="ctr"/>
            <a:endParaRPr lang="tr-TR" sz="2000" b="0" dirty="0"/>
          </a:p>
          <a:p>
            <a:pPr algn="ctr"/>
            <a:r>
              <a:rPr lang="tr-TR" sz="2000" b="0" dirty="0"/>
              <a:t>ISPARTA - 2020</a:t>
            </a:r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</a:t>
            </a:fld>
            <a:endParaRPr lang="tr-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E-Öğrenme Nedir?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2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C9C1F05-1262-0D49-BF15-A8F432E27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584325"/>
            <a:ext cx="3136900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Box 3">
            <a:extLst>
              <a:ext uri="{FF2B5EF4-FFF2-40B4-BE49-F238E27FC236}">
                <a16:creationId xmlns:a16="http://schemas.microsoft.com/office/drawing/2014/main" id="{4B44D531-3482-AB40-A538-03F334487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584326"/>
            <a:ext cx="7385248" cy="4724400"/>
          </a:xfrm>
          <a:prstGeom prst="rect">
            <a:avLst/>
          </a:prstGeom>
          <a:solidFill>
            <a:srgbClr val="E0E0E0">
              <a:alpha val="50000"/>
            </a:srgbClr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endParaRPr lang="tr-TR" altLang="en-TR">
              <a:solidFill>
                <a:srgbClr val="990200"/>
              </a:solidFill>
              <a:latin typeface="Tahoma" panose="020B0604030504040204" pitchFamily="34" charset="0"/>
            </a:endParaRP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1339BE2F-F45C-464B-BDB4-721394B96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912" y="2498725"/>
            <a:ext cx="4114800" cy="93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altLang="en-TR" sz="5500" b="1" dirty="0">
                <a:solidFill>
                  <a:srgbClr val="003366"/>
                </a:solidFill>
                <a:latin typeface="Tahoma" panose="020B0604030504040204" pitchFamily="34" charset="0"/>
              </a:rPr>
              <a:t>öğrenme</a:t>
            </a:r>
            <a:endParaRPr lang="en-US" altLang="en-TR" sz="5500" b="1" dirty="0">
              <a:solidFill>
                <a:srgbClr val="003366"/>
              </a:solidFill>
              <a:latin typeface="Tahoma" panose="020B0604030504040204" pitchFamily="34" charset="0"/>
            </a:endParaRP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88C403E6-33C3-5447-ADF9-0DEBA895A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912" y="3497264"/>
            <a:ext cx="4191000" cy="62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altLang="en-TR" sz="3500" b="1" dirty="0">
                <a:solidFill>
                  <a:srgbClr val="003366"/>
                </a:solidFill>
                <a:latin typeface="Tahoma" panose="020B0604030504040204" pitchFamily="34" charset="0"/>
              </a:rPr>
              <a:t>yöntemindeki</a:t>
            </a:r>
            <a:endParaRPr lang="en-US" altLang="en-TR" sz="3500" b="1" dirty="0">
              <a:solidFill>
                <a:srgbClr val="003366"/>
              </a:solidFill>
              <a:latin typeface="Tahoma" panose="020B0604030504040204" pitchFamily="34" charset="0"/>
            </a:endParaRPr>
          </a:p>
        </p:txBody>
      </p:sp>
      <p:sp>
        <p:nvSpPr>
          <p:cNvPr id="13" name="Text Box 7">
            <a:extLst>
              <a:ext uri="{FF2B5EF4-FFF2-40B4-BE49-F238E27FC236}">
                <a16:creationId xmlns:a16="http://schemas.microsoft.com/office/drawing/2014/main" id="{88B0EF5D-59DE-C844-A8BB-9A244EF9B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2176" y="4077072"/>
            <a:ext cx="4724400" cy="115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altLang="en-TR" sz="7000" b="1" dirty="0">
                <a:solidFill>
                  <a:srgbClr val="003366"/>
                </a:solidFill>
                <a:latin typeface="Tahoma" panose="020B0604030504040204" pitchFamily="34" charset="0"/>
              </a:rPr>
              <a:t>değişim</a:t>
            </a:r>
            <a:endParaRPr lang="en-US" altLang="en-TR" sz="7000" b="1" dirty="0">
              <a:solidFill>
                <a:srgbClr val="003366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2" grpId="0" autoUpdateAnimBg="0"/>
      <p:bldP spid="1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0A5031-6C7A-1B44-9F3A-1E12DC1C55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803" y="3645023"/>
            <a:ext cx="5608211" cy="2964693"/>
          </a:xfrm>
          <a:prstGeom prst="rect">
            <a:avLst/>
          </a:prstGeom>
        </p:spPr>
      </p:pic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E-Öğrenme Nedir?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3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9D6131-0C00-764D-9D61-597385F9EF4D}"/>
              </a:ext>
            </a:extLst>
          </p:cNvPr>
          <p:cNvSpPr/>
          <p:nvPr/>
        </p:nvSpPr>
        <p:spPr>
          <a:xfrm>
            <a:off x="468964" y="2204128"/>
            <a:ext cx="7660051" cy="187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tr-TR" altLang="en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e-Öğrenme </a:t>
            </a:r>
            <a:r>
              <a:rPr lang="en-US" altLang="en-TR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kısaca</a:t>
            </a:r>
            <a:r>
              <a:rPr lang="tr-TR" altLang="en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en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internet/intranet </a:t>
            </a:r>
            <a:r>
              <a:rPr lang="en-US" altLang="en-TR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veya</a:t>
            </a:r>
            <a:r>
              <a:rPr lang="en-US" altLang="en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TR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bir</a:t>
            </a:r>
            <a:r>
              <a:rPr lang="en-US" altLang="en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TR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bilgisayar</a:t>
            </a:r>
            <a:r>
              <a:rPr lang="en-US" altLang="en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TR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ağı</a:t>
            </a:r>
            <a:r>
              <a:rPr lang="en-US" altLang="en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TR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bulunan</a:t>
            </a:r>
            <a:r>
              <a:rPr lang="en-US" altLang="en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platform </a:t>
            </a:r>
            <a:r>
              <a:rPr lang="en-US" altLang="en-TR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üzerinde</a:t>
            </a:r>
            <a:r>
              <a:rPr lang="en-US" altLang="en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TR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sunulan</a:t>
            </a:r>
            <a:r>
              <a:rPr lang="en-US" altLang="en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web </a:t>
            </a:r>
            <a:r>
              <a:rPr lang="en-US" altLang="en-TR" sz="2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tabanlı</a:t>
            </a:r>
            <a:r>
              <a:rPr lang="en-US" altLang="en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r-TR" altLang="en-TR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eğitim, öğrenim ve bilgi yönetimi faaliyetleridir.</a:t>
            </a:r>
            <a:endParaRPr lang="en-US" altLang="en-TR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D4D0966-BC9D-1147-860C-742A46CD7F7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556792"/>
            <a:ext cx="7772400" cy="100810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tr-TR" altLang="en-TR" dirty="0"/>
              <a:t>Tanım</a:t>
            </a:r>
          </a:p>
        </p:txBody>
      </p:sp>
    </p:spTree>
    <p:extLst>
      <p:ext uri="{BB962C8B-B14F-4D97-AF65-F5344CB8AC3E}">
        <p14:creationId xmlns:p14="http://schemas.microsoft.com/office/powerpoint/2010/main" val="387765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E-Öğrenme Nedir?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4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9D6131-0C00-764D-9D61-597385F9EF4D}"/>
              </a:ext>
            </a:extLst>
          </p:cNvPr>
          <p:cNvSpPr/>
          <p:nvPr/>
        </p:nvSpPr>
        <p:spPr>
          <a:xfrm>
            <a:off x="468964" y="2204128"/>
            <a:ext cx="766005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altLang="en-TR" sz="2000" dirty="0">
                <a:latin typeface="Tahoma" panose="020B0604030504040204" pitchFamily="34" charset="0"/>
              </a:rPr>
              <a:t>Eğitim bilimcileri tarafından yapılan çalışmaların sonuçlarına göre,</a:t>
            </a:r>
          </a:p>
          <a:p>
            <a:endParaRPr lang="tr-TR" altLang="en-TR" sz="2000" dirty="0">
              <a:latin typeface="Tahoma" panose="020B0604030504040204" pitchFamily="34" charset="0"/>
            </a:endParaRPr>
          </a:p>
          <a:p>
            <a:pPr>
              <a:buFontTx/>
              <a:buChar char="•"/>
            </a:pPr>
            <a:r>
              <a:rPr lang="tr-TR" altLang="en-TR" sz="2000" dirty="0">
                <a:latin typeface="Tahoma" panose="020B0604030504040204" pitchFamily="34" charset="0"/>
              </a:rPr>
              <a:t> Eğitim materyalinin pedagojik olarak yeterli kalitede olması,</a:t>
            </a:r>
          </a:p>
          <a:p>
            <a:pPr>
              <a:buFontTx/>
              <a:buChar char="•"/>
            </a:pPr>
            <a:r>
              <a:rPr lang="tr-TR" altLang="en-TR" sz="2000" dirty="0">
                <a:latin typeface="Tahoma" panose="020B0604030504040204" pitchFamily="34" charset="0"/>
              </a:rPr>
              <a:t> Öğrencinin konuyu öğrenme isteğinin bulunması durumunda,</a:t>
            </a:r>
          </a:p>
          <a:p>
            <a:endParaRPr lang="en-US" altLang="en-TR" sz="2000" dirty="0">
              <a:latin typeface="Tahoma" panose="020B0604030504040204" pitchFamily="34" charset="0"/>
            </a:endParaRPr>
          </a:p>
          <a:p>
            <a:r>
              <a:rPr lang="tr-TR" altLang="en-TR" sz="2000" dirty="0">
                <a:latin typeface="Tahoma" panose="020B0604030504040204" pitchFamily="34" charset="0"/>
              </a:rPr>
              <a:t>Öğrenci kendi kendine yapacağı çalışma ile konunun yüzde 60'ini öğrenebilmektedir. Geriye kalan yüzde 40'lik öğrenme ise, fiziki ortamda bir öğretmen eşliğinde yapılan eş zamanlı çalışmalar ve etkileşimle gerçekleşmelidir. e-Öğrenme sisteminin başarılı olabilmesi için, eğitim hem fiziki eğitimle desteklenmeli ve/veya senkron olmalı hem de asenkron yapıda sunulacak şekilde planlanmalıdır. </a:t>
            </a:r>
            <a:endParaRPr lang="en-US" altLang="en-TR" sz="2000" dirty="0">
              <a:latin typeface="Tahoma" panose="020B060403050404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D4D0966-BC9D-1147-860C-742A46CD7F7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556792"/>
            <a:ext cx="7772400" cy="100810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tr-TR" altLang="en-TR" dirty="0"/>
              <a:t>Genel Bilgi</a:t>
            </a:r>
          </a:p>
        </p:txBody>
      </p:sp>
    </p:spTree>
    <p:extLst>
      <p:ext uri="{BB962C8B-B14F-4D97-AF65-F5344CB8AC3E}">
        <p14:creationId xmlns:p14="http://schemas.microsoft.com/office/powerpoint/2010/main" val="2291944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E-Öğrenme Nedir?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5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D4D0966-BC9D-1147-860C-742A46CD7F7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556792"/>
            <a:ext cx="7772400" cy="100810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tr-TR" altLang="en-TR" dirty="0"/>
              <a:t>Bilgi Teknolojilerine Dayalı Öğrenme Türleri</a:t>
            </a:r>
          </a:p>
        </p:txBody>
      </p:sp>
      <p:grpSp>
        <p:nvGrpSpPr>
          <p:cNvPr id="20" name="Group 3">
            <a:extLst>
              <a:ext uri="{FF2B5EF4-FFF2-40B4-BE49-F238E27FC236}">
                <a16:creationId xmlns:a16="http://schemas.microsoft.com/office/drawing/2014/main" id="{6AC6F22B-F6CB-D545-90EA-B1681B02DDB5}"/>
              </a:ext>
            </a:extLst>
          </p:cNvPr>
          <p:cNvGrpSpPr>
            <a:grpSpLocks/>
          </p:cNvGrpSpPr>
          <p:nvPr/>
        </p:nvGrpSpPr>
        <p:grpSpPr bwMode="auto">
          <a:xfrm>
            <a:off x="611560" y="2358775"/>
            <a:ext cx="6781800" cy="3581400"/>
            <a:chOff x="672" y="1344"/>
            <a:chExt cx="4272" cy="2256"/>
          </a:xfrm>
        </p:grpSpPr>
        <p:sp>
          <p:nvSpPr>
            <p:cNvPr id="21" name="Oval 4">
              <a:extLst>
                <a:ext uri="{FF2B5EF4-FFF2-40B4-BE49-F238E27FC236}">
                  <a16:creationId xmlns:a16="http://schemas.microsoft.com/office/drawing/2014/main" id="{5899CEDF-3A9C-1B47-A389-0FAC29F53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1344"/>
              <a:ext cx="4272" cy="2256"/>
            </a:xfrm>
            <a:prstGeom prst="ellipse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TR"/>
            </a:p>
          </p:txBody>
        </p:sp>
        <p:sp>
          <p:nvSpPr>
            <p:cNvPr id="22" name="Text Box 5">
              <a:extLst>
                <a:ext uri="{FF2B5EF4-FFF2-40B4-BE49-F238E27FC236}">
                  <a16:creationId xmlns:a16="http://schemas.microsoft.com/office/drawing/2014/main" id="{6C03722E-C768-3C40-9B6A-C29D03F685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1776"/>
              <a:ext cx="1200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tr-TR" altLang="en-TR" sz="1400" b="1">
                  <a:latin typeface="Tahoma" panose="020B0604030504040204" pitchFamily="34" charset="0"/>
                </a:rPr>
                <a:t>Distance Learning</a:t>
              </a:r>
              <a:endParaRPr lang="en-US" altLang="en-TR" sz="1400" b="1">
                <a:latin typeface="Tahoma" panose="020B0604030504040204" pitchFamily="34" charset="0"/>
              </a:endParaRPr>
            </a:p>
          </p:txBody>
        </p:sp>
      </p:grpSp>
      <p:grpSp>
        <p:nvGrpSpPr>
          <p:cNvPr id="23" name="Group 6">
            <a:extLst>
              <a:ext uri="{FF2B5EF4-FFF2-40B4-BE49-F238E27FC236}">
                <a16:creationId xmlns:a16="http://schemas.microsoft.com/office/drawing/2014/main" id="{25E6527B-B724-B24E-9E40-F60404A4F7E1}"/>
              </a:ext>
            </a:extLst>
          </p:cNvPr>
          <p:cNvGrpSpPr>
            <a:grpSpLocks/>
          </p:cNvGrpSpPr>
          <p:nvPr/>
        </p:nvGrpSpPr>
        <p:grpSpPr bwMode="auto">
          <a:xfrm>
            <a:off x="763960" y="3120775"/>
            <a:ext cx="5105400" cy="2438400"/>
            <a:chOff x="768" y="1824"/>
            <a:chExt cx="3216" cy="1536"/>
          </a:xfrm>
        </p:grpSpPr>
        <p:sp>
          <p:nvSpPr>
            <p:cNvPr id="24" name="Oval 7">
              <a:extLst>
                <a:ext uri="{FF2B5EF4-FFF2-40B4-BE49-F238E27FC236}">
                  <a16:creationId xmlns:a16="http://schemas.microsoft.com/office/drawing/2014/main" id="{F6C9ECAA-72EE-E349-8814-FA5A7118EB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824"/>
              <a:ext cx="3216" cy="1536"/>
            </a:xfrm>
            <a:prstGeom prst="ellipse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TR"/>
            </a:p>
          </p:txBody>
        </p:sp>
        <p:sp>
          <p:nvSpPr>
            <p:cNvPr id="25" name="Text Box 8">
              <a:extLst>
                <a:ext uri="{FF2B5EF4-FFF2-40B4-BE49-F238E27FC236}">
                  <a16:creationId xmlns:a16="http://schemas.microsoft.com/office/drawing/2014/main" id="{A6116701-1DB4-5C48-890D-08D34C4FF2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2064"/>
              <a:ext cx="81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tr-TR" altLang="en-TR" sz="1400" b="1">
                  <a:latin typeface="Tahoma" panose="020B0604030504040204" pitchFamily="34" charset="0"/>
                </a:rPr>
                <a:t>e-Learning</a:t>
              </a:r>
              <a:endParaRPr lang="en-US" altLang="en-TR" sz="1400" b="1">
                <a:latin typeface="Tahoma" panose="020B0604030504040204" pitchFamily="34" charset="0"/>
              </a:endParaRPr>
            </a:p>
          </p:txBody>
        </p:sp>
      </p:grpSp>
      <p:grpSp>
        <p:nvGrpSpPr>
          <p:cNvPr id="26" name="Group 9">
            <a:extLst>
              <a:ext uri="{FF2B5EF4-FFF2-40B4-BE49-F238E27FC236}">
                <a16:creationId xmlns:a16="http://schemas.microsoft.com/office/drawing/2014/main" id="{004481C9-5096-7446-9D9A-78C142467BC9}"/>
              </a:ext>
            </a:extLst>
          </p:cNvPr>
          <p:cNvGrpSpPr>
            <a:grpSpLocks/>
          </p:cNvGrpSpPr>
          <p:nvPr/>
        </p:nvGrpSpPr>
        <p:grpSpPr bwMode="auto">
          <a:xfrm>
            <a:off x="916360" y="3577975"/>
            <a:ext cx="3733800" cy="1752600"/>
            <a:chOff x="864" y="2112"/>
            <a:chExt cx="2352" cy="1104"/>
          </a:xfrm>
        </p:grpSpPr>
        <p:sp>
          <p:nvSpPr>
            <p:cNvPr id="27" name="Oval 10">
              <a:extLst>
                <a:ext uri="{FF2B5EF4-FFF2-40B4-BE49-F238E27FC236}">
                  <a16:creationId xmlns:a16="http://schemas.microsoft.com/office/drawing/2014/main" id="{111A49AE-989B-2941-9849-0C48773834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112"/>
              <a:ext cx="2352" cy="1104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TR"/>
            </a:p>
          </p:txBody>
        </p:sp>
        <p:sp>
          <p:nvSpPr>
            <p:cNvPr id="28" name="Text Box 11">
              <a:extLst>
                <a:ext uri="{FF2B5EF4-FFF2-40B4-BE49-F238E27FC236}">
                  <a16:creationId xmlns:a16="http://schemas.microsoft.com/office/drawing/2014/main" id="{2179741A-CEB6-D94A-9A29-206B23AF81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2304"/>
              <a:ext cx="110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tr-TR" altLang="en-TR" sz="1400" b="1">
                  <a:latin typeface="Tahoma" panose="020B0604030504040204" pitchFamily="34" charset="0"/>
                </a:rPr>
                <a:t>Online Learning</a:t>
              </a:r>
              <a:endParaRPr lang="en-US" altLang="en-TR" sz="1400" b="1">
                <a:latin typeface="Tahoma" panose="020B0604030504040204" pitchFamily="34" charset="0"/>
              </a:endParaRPr>
            </a:p>
          </p:txBody>
        </p:sp>
      </p:grpSp>
      <p:grpSp>
        <p:nvGrpSpPr>
          <p:cNvPr id="29" name="Group 12">
            <a:extLst>
              <a:ext uri="{FF2B5EF4-FFF2-40B4-BE49-F238E27FC236}">
                <a16:creationId xmlns:a16="http://schemas.microsoft.com/office/drawing/2014/main" id="{8F28F148-087D-C748-B33F-C3D6A4A00E2E}"/>
              </a:ext>
            </a:extLst>
          </p:cNvPr>
          <p:cNvGrpSpPr>
            <a:grpSpLocks/>
          </p:cNvGrpSpPr>
          <p:nvPr/>
        </p:nvGrpSpPr>
        <p:grpSpPr bwMode="auto">
          <a:xfrm>
            <a:off x="1068760" y="4187575"/>
            <a:ext cx="2463800" cy="889000"/>
            <a:chOff x="960" y="2496"/>
            <a:chExt cx="1552" cy="560"/>
          </a:xfrm>
        </p:grpSpPr>
        <p:sp>
          <p:nvSpPr>
            <p:cNvPr id="30" name="Oval 13">
              <a:extLst>
                <a:ext uri="{FF2B5EF4-FFF2-40B4-BE49-F238E27FC236}">
                  <a16:creationId xmlns:a16="http://schemas.microsoft.com/office/drawing/2014/main" id="{E523EF2F-9AA5-B847-AE79-A475051A26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496"/>
              <a:ext cx="1552" cy="560"/>
            </a:xfrm>
            <a:prstGeom prst="ellipse">
              <a:avLst/>
            </a:prstGeom>
            <a:solidFill>
              <a:srgbClr val="B2B2B2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TR"/>
            </a:p>
          </p:txBody>
        </p:sp>
        <p:sp>
          <p:nvSpPr>
            <p:cNvPr id="31" name="Text Box 14">
              <a:extLst>
                <a:ext uri="{FF2B5EF4-FFF2-40B4-BE49-F238E27FC236}">
                  <a16:creationId xmlns:a16="http://schemas.microsoft.com/office/drawing/2014/main" id="{BE6EBA4C-23EF-7840-98A4-14AC164F03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4" y="2616"/>
              <a:ext cx="1104" cy="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tr-TR" altLang="en-TR" sz="1400" b="1" dirty="0" err="1">
                  <a:latin typeface="Tahoma" panose="020B0604030504040204" pitchFamily="34" charset="0"/>
                </a:rPr>
                <a:t>Computer-Based</a:t>
              </a:r>
              <a:br>
                <a:rPr lang="tr-TR" altLang="en-TR" sz="1400" b="1" dirty="0">
                  <a:latin typeface="Tahoma" panose="020B0604030504040204" pitchFamily="34" charset="0"/>
                </a:rPr>
              </a:br>
              <a:r>
                <a:rPr lang="tr-TR" altLang="en-TR" sz="1400" b="1" dirty="0">
                  <a:latin typeface="Tahoma" panose="020B0604030504040204" pitchFamily="34" charset="0"/>
                </a:rPr>
                <a:t>Learning</a:t>
              </a:r>
              <a:endParaRPr lang="en-US" altLang="en-TR" sz="1400" b="1" dirty="0">
                <a:latin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4856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8">
            <a:extLst>
              <a:ext uri="{FF2B5EF4-FFF2-40B4-BE49-F238E27FC236}">
                <a16:creationId xmlns:a16="http://schemas.microsoft.com/office/drawing/2014/main" id="{C52B9389-A20C-3D47-9956-68679E27DF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969" y="4552431"/>
            <a:ext cx="162877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>
              <a:buFontTx/>
              <a:buChar char="•"/>
            </a:pPr>
            <a:r>
              <a:rPr lang="tr-TR" altLang="en-TR" sz="1200" b="1" dirty="0">
                <a:latin typeface="Tahoma" panose="020B0604030504040204" pitchFamily="34" charset="0"/>
              </a:rPr>
              <a:t> Ofis dışı </a:t>
            </a:r>
          </a:p>
          <a:p>
            <a:pPr eaLnBrk="0" hangingPunct="0">
              <a:buFontTx/>
              <a:buChar char="•"/>
            </a:pPr>
            <a:r>
              <a:rPr lang="tr-TR" altLang="en-TR" sz="1200" b="1" dirty="0">
                <a:latin typeface="Tahoma" panose="020B0604030504040204" pitchFamily="34" charset="0"/>
              </a:rPr>
              <a:t> Yüksek etkileşim</a:t>
            </a:r>
          </a:p>
          <a:p>
            <a:pPr eaLnBrk="0" hangingPunct="0">
              <a:buFontTx/>
              <a:buChar char="•"/>
            </a:pPr>
            <a:r>
              <a:rPr lang="tr-TR" altLang="en-TR" sz="1200" b="1" dirty="0">
                <a:latin typeface="Tahoma" panose="020B0604030504040204" pitchFamily="34" charset="0"/>
              </a:rPr>
              <a:t> Yüksek maliyet</a:t>
            </a:r>
          </a:p>
          <a:p>
            <a:pPr eaLnBrk="0" hangingPunct="0">
              <a:buFontTx/>
              <a:buChar char="•"/>
            </a:pPr>
            <a:r>
              <a:rPr lang="tr-TR" altLang="en-TR" sz="1200" b="1" dirty="0">
                <a:latin typeface="Tahoma" panose="020B0604030504040204" pitchFamily="34" charset="0"/>
              </a:rPr>
              <a:t> Zaman Sınırı </a:t>
            </a:r>
          </a:p>
          <a:p>
            <a:pPr eaLnBrk="0" hangingPunct="0">
              <a:buFontTx/>
              <a:buChar char="•"/>
            </a:pPr>
            <a:endParaRPr lang="tr-TR" altLang="en-TR" sz="1200" b="1" dirty="0">
              <a:latin typeface="Tahoma" panose="020B0604030504040204" pitchFamily="34" charset="0"/>
            </a:endParaRPr>
          </a:p>
          <a:p>
            <a:pPr eaLnBrk="0" hangingPunct="0">
              <a:buFontTx/>
              <a:buChar char="•"/>
            </a:pPr>
            <a:endParaRPr lang="tr-TR" altLang="en-TR" sz="1200" b="1" dirty="0">
              <a:latin typeface="Tahoma" panose="020B0604030504040204" pitchFamily="34" charset="0"/>
            </a:endParaRPr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D9532820-C595-C14B-9D0C-76BA89636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760" y="4509120"/>
            <a:ext cx="1628775" cy="173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>
              <a:buFontTx/>
              <a:buChar char="•"/>
            </a:pPr>
            <a:r>
              <a:rPr lang="tr-TR" altLang="en-TR" sz="1200" b="1" dirty="0">
                <a:latin typeface="Tahoma" panose="020B0604030504040204" pitchFamily="34" charset="0"/>
              </a:rPr>
              <a:t> CD-ROM</a:t>
            </a:r>
          </a:p>
          <a:p>
            <a:pPr eaLnBrk="0" hangingPunct="0">
              <a:buFontTx/>
              <a:buChar char="•"/>
            </a:pPr>
            <a:r>
              <a:rPr lang="tr-TR" altLang="en-TR" sz="1200" b="1" dirty="0">
                <a:latin typeface="Tahoma" panose="020B0604030504040204" pitchFamily="34" charset="0"/>
              </a:rPr>
              <a:t> Taşınabilir</a:t>
            </a:r>
          </a:p>
          <a:p>
            <a:pPr eaLnBrk="0" hangingPunct="0">
              <a:buFontTx/>
              <a:buChar char="•"/>
            </a:pPr>
            <a:r>
              <a:rPr lang="tr-TR" altLang="en-TR" sz="1200" b="1" dirty="0">
                <a:latin typeface="Tahoma" panose="020B0604030504040204" pitchFamily="34" charset="0"/>
              </a:rPr>
              <a:t> Görsel ve çekici</a:t>
            </a:r>
          </a:p>
          <a:p>
            <a:pPr eaLnBrk="0" hangingPunct="0">
              <a:buFontTx/>
              <a:buChar char="•"/>
            </a:pPr>
            <a:r>
              <a:rPr lang="tr-TR" altLang="en-TR" sz="1200" b="1" dirty="0">
                <a:latin typeface="Tahoma" panose="020B0604030504040204" pitchFamily="34" charset="0"/>
              </a:rPr>
              <a:t> Negatif etkileşim</a:t>
            </a:r>
          </a:p>
          <a:p>
            <a:pPr eaLnBrk="0" hangingPunct="0">
              <a:buFontTx/>
              <a:buChar char="•"/>
            </a:pPr>
            <a:r>
              <a:rPr lang="tr-TR" altLang="en-TR" sz="1200" b="1" dirty="0">
                <a:latin typeface="Tahoma" panose="020B0604030504040204" pitchFamily="34" charset="0"/>
              </a:rPr>
              <a:t> Sabit içerik</a:t>
            </a:r>
          </a:p>
          <a:p>
            <a:pPr eaLnBrk="0" hangingPunct="0">
              <a:buFontTx/>
              <a:buChar char="•"/>
            </a:pPr>
            <a:r>
              <a:rPr lang="tr-TR" altLang="en-TR" sz="1200" b="1" dirty="0">
                <a:latin typeface="Tahoma" panose="020B0604030504040204" pitchFamily="34" charset="0"/>
              </a:rPr>
              <a:t> Eğitim takibi sorunu </a:t>
            </a:r>
          </a:p>
          <a:p>
            <a:pPr eaLnBrk="0" hangingPunct="0">
              <a:buFontTx/>
              <a:buChar char="•"/>
            </a:pPr>
            <a:endParaRPr lang="tr-TR" altLang="en-TR" sz="1200" b="1" dirty="0">
              <a:latin typeface="Tahoma" panose="020B0604030504040204" pitchFamily="34" charset="0"/>
            </a:endParaRPr>
          </a:p>
          <a:p>
            <a:pPr eaLnBrk="0" hangingPunct="0">
              <a:buFontTx/>
              <a:buChar char="•"/>
            </a:pPr>
            <a:endParaRPr lang="tr-TR" altLang="en-TR" sz="1200" b="1" dirty="0">
              <a:latin typeface="Tahoma" panose="020B0604030504040204" pitchFamily="34" charset="0"/>
            </a:endParaRPr>
          </a:p>
        </p:txBody>
      </p:sp>
      <p:sp>
        <p:nvSpPr>
          <p:cNvPr id="14" name="Text Box 10">
            <a:extLst>
              <a:ext uri="{FF2B5EF4-FFF2-40B4-BE49-F238E27FC236}">
                <a16:creationId xmlns:a16="http://schemas.microsoft.com/office/drawing/2014/main" id="{1DC90DA8-FA1A-0446-8B90-77DCFC265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4509120"/>
            <a:ext cx="1628775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>
              <a:buFontTx/>
              <a:buChar char="•"/>
            </a:pPr>
            <a:r>
              <a:rPr lang="tr-TR" altLang="en-TR" sz="1200" b="1" dirty="0">
                <a:latin typeface="Tahoma" panose="020B0604030504040204" pitchFamily="34" charset="0"/>
              </a:rPr>
              <a:t> HTML tabanlı</a:t>
            </a:r>
          </a:p>
          <a:p>
            <a:pPr eaLnBrk="0" hangingPunct="0">
              <a:buFontTx/>
              <a:buChar char="•"/>
            </a:pPr>
            <a:r>
              <a:rPr lang="tr-TR" altLang="en-TR" sz="1200" b="1" dirty="0">
                <a:latin typeface="Tahoma" panose="020B0604030504040204" pitchFamily="34" charset="0"/>
              </a:rPr>
              <a:t> Görsel ve çekici   değil</a:t>
            </a:r>
          </a:p>
          <a:p>
            <a:pPr eaLnBrk="0" hangingPunct="0">
              <a:buFontTx/>
              <a:buChar char="•"/>
            </a:pPr>
            <a:r>
              <a:rPr lang="tr-TR" altLang="en-TR" sz="1200" b="1" dirty="0">
                <a:latin typeface="Tahoma" panose="020B0604030504040204" pitchFamily="34" charset="0"/>
              </a:rPr>
              <a:t> Düşük etkileşim</a:t>
            </a:r>
          </a:p>
          <a:p>
            <a:pPr eaLnBrk="0" hangingPunct="0">
              <a:buFontTx/>
              <a:buChar char="•"/>
            </a:pPr>
            <a:r>
              <a:rPr lang="tr-TR" altLang="en-TR" sz="1200" b="1" dirty="0">
                <a:latin typeface="Tahoma" panose="020B0604030504040204" pitchFamily="34" charset="0"/>
              </a:rPr>
              <a:t> İK entegrasyon sorunu </a:t>
            </a:r>
          </a:p>
          <a:p>
            <a:pPr eaLnBrk="0" hangingPunct="0">
              <a:buFontTx/>
              <a:buChar char="•"/>
            </a:pPr>
            <a:r>
              <a:rPr lang="tr-TR" altLang="en-TR" sz="1200" b="1" dirty="0">
                <a:latin typeface="Tahoma" panose="020B0604030504040204" pitchFamily="34" charset="0"/>
              </a:rPr>
              <a:t> Yer ve zamandan bağımsız </a:t>
            </a:r>
          </a:p>
          <a:p>
            <a:pPr eaLnBrk="0" hangingPunct="0">
              <a:buFontTx/>
              <a:buChar char="•"/>
            </a:pPr>
            <a:endParaRPr lang="tr-TR" altLang="en-TR" sz="1200" b="1" dirty="0">
              <a:latin typeface="Tahoma" panose="020B0604030504040204" pitchFamily="34" charset="0"/>
            </a:endParaRPr>
          </a:p>
          <a:p>
            <a:pPr eaLnBrk="0" hangingPunct="0">
              <a:buFontTx/>
              <a:buChar char="•"/>
            </a:pPr>
            <a:endParaRPr lang="tr-TR" altLang="en-TR" sz="1200" b="1" dirty="0">
              <a:latin typeface="Tahoma" panose="020B0604030504040204" pitchFamily="34" charset="0"/>
            </a:endParaRPr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E-Öğrenme Nedir?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6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D4D0966-BC9D-1147-860C-742A46CD7F7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556792"/>
            <a:ext cx="7772400" cy="100810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tr-TR" altLang="en-TR" dirty="0"/>
              <a:t>Tarihçe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60BDC77B-39AD-BB4B-8E23-C5C71B224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5" t="54645" r="35027" b="28125"/>
          <a:stretch>
            <a:fillRect/>
          </a:stretch>
        </p:blipFill>
        <p:spPr bwMode="auto">
          <a:xfrm>
            <a:off x="523717" y="2211195"/>
            <a:ext cx="7401083" cy="2225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Line 7">
            <a:extLst>
              <a:ext uri="{FF2B5EF4-FFF2-40B4-BE49-F238E27FC236}">
                <a16:creationId xmlns:a16="http://schemas.microsoft.com/office/drawing/2014/main" id="{B7470836-99EF-C340-BCD7-C1EBBD9158C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59006" y="4552431"/>
            <a:ext cx="0" cy="14859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13327AAC-FF6C-CA4D-809A-8EB4199F5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642" y="4509120"/>
            <a:ext cx="1971675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>
              <a:buFontTx/>
              <a:buChar char="•"/>
            </a:pPr>
            <a:r>
              <a:rPr lang="tr-TR" altLang="en-TR" sz="1200" b="1" dirty="0">
                <a:latin typeface="Tahoma" panose="020B0604030504040204" pitchFamily="34" charset="0"/>
              </a:rPr>
              <a:t> Flash/Java/IP network uygulamaları</a:t>
            </a:r>
          </a:p>
          <a:p>
            <a:pPr eaLnBrk="0" hangingPunct="0">
              <a:buFontTx/>
              <a:buChar char="•"/>
            </a:pPr>
            <a:r>
              <a:rPr lang="tr-TR" altLang="en-TR" sz="1200" b="1" dirty="0">
                <a:latin typeface="Tahoma" panose="020B0604030504040204" pitchFamily="34" charset="0"/>
              </a:rPr>
              <a:t> Ses, görüntü ile desteklenmiş</a:t>
            </a:r>
          </a:p>
          <a:p>
            <a:pPr eaLnBrk="0" hangingPunct="0">
              <a:buFontTx/>
              <a:buChar char="•"/>
            </a:pPr>
            <a:r>
              <a:rPr lang="tr-TR" altLang="en-TR" sz="1200" b="1" dirty="0">
                <a:latin typeface="Tahoma" panose="020B0604030504040204" pitchFamily="34" charset="0"/>
              </a:rPr>
              <a:t> Senkron/asenkron</a:t>
            </a:r>
          </a:p>
          <a:p>
            <a:pPr eaLnBrk="0" hangingPunct="0">
              <a:buFontTx/>
              <a:buChar char="•"/>
            </a:pPr>
            <a:r>
              <a:rPr lang="tr-TR" altLang="en-TR" sz="1200" b="1" dirty="0">
                <a:latin typeface="Tahoma" panose="020B0604030504040204" pitchFamily="34" charset="0"/>
              </a:rPr>
              <a:t> Yer ve Zamandan bağımsız</a:t>
            </a:r>
          </a:p>
          <a:p>
            <a:pPr eaLnBrk="0" hangingPunct="0">
              <a:buFontTx/>
              <a:buChar char="•"/>
            </a:pPr>
            <a:r>
              <a:rPr lang="tr-TR" altLang="en-TR" sz="1200" b="1" dirty="0">
                <a:latin typeface="Tahoma" panose="020B0604030504040204" pitchFamily="34" charset="0"/>
              </a:rPr>
              <a:t> İstenen miktarda</a:t>
            </a:r>
          </a:p>
          <a:p>
            <a:pPr eaLnBrk="0" hangingPunct="0">
              <a:buFontTx/>
              <a:buChar char="•"/>
            </a:pPr>
            <a:endParaRPr lang="tr-TR" altLang="en-TR" sz="1200" b="1" dirty="0">
              <a:latin typeface="Tahoma" panose="020B0604030504040204" pitchFamily="34" charset="0"/>
            </a:endParaRPr>
          </a:p>
          <a:p>
            <a:pPr eaLnBrk="0" hangingPunct="0">
              <a:buFontTx/>
              <a:buChar char="•"/>
            </a:pPr>
            <a:endParaRPr lang="tr-TR" altLang="en-TR" sz="1200" b="1" dirty="0">
              <a:latin typeface="Tahoma" panose="020B0604030504040204" pitchFamily="34" charset="0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A6CF5542-A1C2-2B43-A254-B358F9AD8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197" y="3923398"/>
            <a:ext cx="5334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hangingPunct="0"/>
            <a:r>
              <a:rPr lang="tr-TR" altLang="en-TR" sz="2400" dirty="0">
                <a:latin typeface="Times New Roman" panose="02020603050405020304" pitchFamily="18" charset="0"/>
              </a:rPr>
              <a:t>...</a:t>
            </a:r>
          </a:p>
        </p:txBody>
      </p:sp>
      <p:sp>
        <p:nvSpPr>
          <p:cNvPr id="17" name="Line 7">
            <a:extLst>
              <a:ext uri="{FF2B5EF4-FFF2-40B4-BE49-F238E27FC236}">
                <a16:creationId xmlns:a16="http://schemas.microsoft.com/office/drawing/2014/main" id="{A264F5B0-1E5D-6449-9CB9-6B90895C6E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5052" y="4552431"/>
            <a:ext cx="0" cy="14859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18" name="Line 7">
            <a:extLst>
              <a:ext uri="{FF2B5EF4-FFF2-40B4-BE49-F238E27FC236}">
                <a16:creationId xmlns:a16="http://schemas.microsoft.com/office/drawing/2014/main" id="{630F5117-02CA-134D-B825-3D440E2E14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3852" y="4552431"/>
            <a:ext cx="0" cy="14859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471803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  <p:bldP spid="13" grpId="0" autoUpdateAnimBg="0"/>
      <p:bldP spid="14" grpId="0" autoUpdateAnimBg="0"/>
      <p:bldP spid="1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E-Öğrenme Nedir?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7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D4D0966-BC9D-1147-860C-742A46CD7F7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556792"/>
            <a:ext cx="7772400" cy="100810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tr-TR" altLang="en-TR" dirty="0"/>
              <a:t>E-Öğrenme Çözüm Mimarisi</a:t>
            </a:r>
          </a:p>
        </p:txBody>
      </p:sp>
      <p:grpSp>
        <p:nvGrpSpPr>
          <p:cNvPr id="19" name="Group 4">
            <a:extLst>
              <a:ext uri="{FF2B5EF4-FFF2-40B4-BE49-F238E27FC236}">
                <a16:creationId xmlns:a16="http://schemas.microsoft.com/office/drawing/2014/main" id="{945A8DD3-1ABA-9343-A59F-707AF8D55A4F}"/>
              </a:ext>
            </a:extLst>
          </p:cNvPr>
          <p:cNvGrpSpPr>
            <a:grpSpLocks/>
          </p:cNvGrpSpPr>
          <p:nvPr/>
        </p:nvGrpSpPr>
        <p:grpSpPr bwMode="auto">
          <a:xfrm>
            <a:off x="1979712" y="2350279"/>
            <a:ext cx="4402343" cy="927417"/>
            <a:chOff x="929" y="928"/>
            <a:chExt cx="3697" cy="786"/>
          </a:xfrm>
        </p:grpSpPr>
        <p:sp>
          <p:nvSpPr>
            <p:cNvPr id="20" name="Rectangle 5">
              <a:extLst>
                <a:ext uri="{FF2B5EF4-FFF2-40B4-BE49-F238E27FC236}">
                  <a16:creationId xmlns:a16="http://schemas.microsoft.com/office/drawing/2014/main" id="{224DBBAD-B5F2-5445-87AF-AEF7FD3BEE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9" y="1532"/>
              <a:ext cx="3697" cy="163"/>
            </a:xfrm>
            <a:prstGeom prst="rect">
              <a:avLst/>
            </a:prstGeom>
            <a:solidFill>
              <a:srgbClr val="990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/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098D1F17-0FC8-6B4C-B8BD-7CD4B18B74E9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" y="928"/>
              <a:ext cx="3687" cy="612"/>
            </a:xfrm>
            <a:custGeom>
              <a:avLst/>
              <a:gdLst>
                <a:gd name="T0" fmla="*/ 1852 w 3687"/>
                <a:gd name="T1" fmla="*/ 0 h 612"/>
                <a:gd name="T2" fmla="*/ 0 w 3687"/>
                <a:gd name="T3" fmla="*/ 612 h 612"/>
                <a:gd name="T4" fmla="*/ 3687 w 3687"/>
                <a:gd name="T5" fmla="*/ 612 h 612"/>
                <a:gd name="T6" fmla="*/ 1852 w 3687"/>
                <a:gd name="T7" fmla="*/ 0 h 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87" h="612">
                  <a:moveTo>
                    <a:pt x="1852" y="0"/>
                  </a:moveTo>
                  <a:lnTo>
                    <a:pt x="0" y="612"/>
                  </a:lnTo>
                  <a:lnTo>
                    <a:pt x="3687" y="612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rgbClr val="990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/>
            </a:p>
          </p:txBody>
        </p:sp>
        <p:sp>
          <p:nvSpPr>
            <p:cNvPr id="22" name="Text Box 7">
              <a:extLst>
                <a:ext uri="{FF2B5EF4-FFF2-40B4-BE49-F238E27FC236}">
                  <a16:creationId xmlns:a16="http://schemas.microsoft.com/office/drawing/2014/main" id="{4CC4FA55-1935-2D4F-A738-6C31DABA7A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114"/>
              <a:ext cx="1440" cy="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tr-TR" altLang="en-TR" sz="2000" b="1" dirty="0">
                  <a:solidFill>
                    <a:schemeClr val="bg1"/>
                  </a:solidFill>
                  <a:latin typeface="Tahoma" panose="020B0604030504040204" pitchFamily="34" charset="0"/>
                </a:rPr>
                <a:t>Kurumsal Strateji</a:t>
              </a:r>
              <a:endParaRPr lang="en-US" altLang="en-TR" sz="2000" b="1" dirty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23" name="Group 8">
            <a:extLst>
              <a:ext uri="{FF2B5EF4-FFF2-40B4-BE49-F238E27FC236}">
                <a16:creationId xmlns:a16="http://schemas.microsoft.com/office/drawing/2014/main" id="{8392B443-78C7-AE4E-864D-7F860306EC54}"/>
              </a:ext>
            </a:extLst>
          </p:cNvPr>
          <p:cNvGrpSpPr>
            <a:grpSpLocks/>
          </p:cNvGrpSpPr>
          <p:nvPr/>
        </p:nvGrpSpPr>
        <p:grpSpPr bwMode="auto">
          <a:xfrm>
            <a:off x="2534023" y="3254841"/>
            <a:ext cx="3281812" cy="448927"/>
            <a:chOff x="1407" y="1729"/>
            <a:chExt cx="2756" cy="377"/>
          </a:xfrm>
        </p:grpSpPr>
        <p:sp>
          <p:nvSpPr>
            <p:cNvPr id="24" name="Rectangle 9">
              <a:extLst>
                <a:ext uri="{FF2B5EF4-FFF2-40B4-BE49-F238E27FC236}">
                  <a16:creationId xmlns:a16="http://schemas.microsoft.com/office/drawing/2014/main" id="{3C6697EF-93B2-0144-A265-633C69A31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7" y="1729"/>
              <a:ext cx="2756" cy="377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/>
            </a:p>
          </p:txBody>
        </p:sp>
        <p:sp>
          <p:nvSpPr>
            <p:cNvPr id="25" name="Text Box 10">
              <a:extLst>
                <a:ext uri="{FF2B5EF4-FFF2-40B4-BE49-F238E27FC236}">
                  <a16:creationId xmlns:a16="http://schemas.microsoft.com/office/drawing/2014/main" id="{18D8B85C-0592-C745-A54F-A5941E8F73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742"/>
              <a:ext cx="2496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tr-TR" altLang="en-TR" sz="2000" b="1" dirty="0">
                  <a:solidFill>
                    <a:schemeClr val="bg1"/>
                  </a:solidFill>
                  <a:latin typeface="Tahoma" panose="020B0604030504040204" pitchFamily="34" charset="0"/>
                </a:rPr>
                <a:t>e-Öğrenme Stratejisi</a:t>
              </a:r>
              <a:endParaRPr lang="en-US" altLang="en-TR" sz="2000" b="1" dirty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26" name="Group 11">
            <a:extLst>
              <a:ext uri="{FF2B5EF4-FFF2-40B4-BE49-F238E27FC236}">
                <a16:creationId xmlns:a16="http://schemas.microsoft.com/office/drawing/2014/main" id="{F0764491-8448-2F44-90AC-029C3173AE8A}"/>
              </a:ext>
            </a:extLst>
          </p:cNvPr>
          <p:cNvGrpSpPr>
            <a:grpSpLocks/>
          </p:cNvGrpSpPr>
          <p:nvPr/>
        </p:nvGrpSpPr>
        <p:grpSpPr bwMode="auto">
          <a:xfrm>
            <a:off x="2851624" y="3703768"/>
            <a:ext cx="531091" cy="2207502"/>
            <a:chOff x="1577" y="2132"/>
            <a:chExt cx="446" cy="1474"/>
          </a:xfrm>
        </p:grpSpPr>
        <p:sp>
          <p:nvSpPr>
            <p:cNvPr id="27" name="Rectangle 12">
              <a:extLst>
                <a:ext uri="{FF2B5EF4-FFF2-40B4-BE49-F238E27FC236}">
                  <a16:creationId xmlns:a16="http://schemas.microsoft.com/office/drawing/2014/main" id="{D43DCE39-CA58-3F49-BF54-20FD9C073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7" y="2132"/>
              <a:ext cx="446" cy="1474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/>
            </a:p>
          </p:txBody>
        </p:sp>
        <p:sp>
          <p:nvSpPr>
            <p:cNvPr id="28" name="Text Box 13">
              <a:extLst>
                <a:ext uri="{FF2B5EF4-FFF2-40B4-BE49-F238E27FC236}">
                  <a16:creationId xmlns:a16="http://schemas.microsoft.com/office/drawing/2014/main" id="{124E0603-E85F-9C42-B942-FF399D50E6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6" y="2424"/>
              <a:ext cx="288" cy="11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tr-TR" altLang="en-TR" sz="1600" b="1" dirty="0">
                  <a:solidFill>
                    <a:schemeClr val="bg1"/>
                  </a:solidFill>
                  <a:latin typeface="Tahoma" panose="020B0604030504040204" pitchFamily="34" charset="0"/>
                </a:rPr>
                <a:t>İNSAN</a:t>
              </a:r>
              <a:endParaRPr lang="en-US" altLang="en-TR" sz="1600" b="1" dirty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29" name="Group 14">
            <a:extLst>
              <a:ext uri="{FF2B5EF4-FFF2-40B4-BE49-F238E27FC236}">
                <a16:creationId xmlns:a16="http://schemas.microsoft.com/office/drawing/2014/main" id="{D245EE4A-7E5B-C343-8A1C-2EC9431C0FD9}"/>
              </a:ext>
            </a:extLst>
          </p:cNvPr>
          <p:cNvGrpSpPr>
            <a:grpSpLocks/>
          </p:cNvGrpSpPr>
          <p:nvPr/>
        </p:nvGrpSpPr>
        <p:grpSpPr bwMode="auto">
          <a:xfrm>
            <a:off x="3908192" y="3704562"/>
            <a:ext cx="531091" cy="2090337"/>
            <a:chOff x="2592" y="2134"/>
            <a:chExt cx="446" cy="1472"/>
          </a:xfrm>
        </p:grpSpPr>
        <p:sp>
          <p:nvSpPr>
            <p:cNvPr id="30" name="Rectangle 15">
              <a:extLst>
                <a:ext uri="{FF2B5EF4-FFF2-40B4-BE49-F238E27FC236}">
                  <a16:creationId xmlns:a16="http://schemas.microsoft.com/office/drawing/2014/main" id="{6BCE86CD-33BD-9445-A948-A5833DF69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134"/>
              <a:ext cx="446" cy="1472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/>
            </a:p>
          </p:txBody>
        </p:sp>
        <p:sp>
          <p:nvSpPr>
            <p:cNvPr id="31" name="Text Box 16">
              <a:extLst>
                <a:ext uri="{FF2B5EF4-FFF2-40B4-BE49-F238E27FC236}">
                  <a16:creationId xmlns:a16="http://schemas.microsoft.com/office/drawing/2014/main" id="{A4AE1A0E-876B-5E49-A016-A95EE99DF7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3" y="2160"/>
              <a:ext cx="144" cy="1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tr-TR" altLang="en-TR" sz="1400" b="1" dirty="0">
                  <a:solidFill>
                    <a:schemeClr val="bg1"/>
                  </a:solidFill>
                  <a:latin typeface="Tahoma" panose="020B0604030504040204" pitchFamily="34" charset="0"/>
                </a:rPr>
                <a:t>TEKNOLOJİ</a:t>
              </a:r>
              <a:endParaRPr lang="en-US" altLang="en-TR" sz="1400" b="1" dirty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32" name="Group 17">
            <a:extLst>
              <a:ext uri="{FF2B5EF4-FFF2-40B4-BE49-F238E27FC236}">
                <a16:creationId xmlns:a16="http://schemas.microsoft.com/office/drawing/2014/main" id="{1D06848A-D2CC-DB4F-A851-BC2889F2BD85}"/>
              </a:ext>
            </a:extLst>
          </p:cNvPr>
          <p:cNvGrpSpPr>
            <a:grpSpLocks/>
          </p:cNvGrpSpPr>
          <p:nvPr/>
        </p:nvGrpSpPr>
        <p:grpSpPr bwMode="auto">
          <a:xfrm>
            <a:off x="4959147" y="3705243"/>
            <a:ext cx="533473" cy="2171875"/>
            <a:chOff x="3584" y="2134"/>
            <a:chExt cx="448" cy="1532"/>
          </a:xfrm>
        </p:grpSpPr>
        <p:sp>
          <p:nvSpPr>
            <p:cNvPr id="33" name="Rectangle 18">
              <a:extLst>
                <a:ext uri="{FF2B5EF4-FFF2-40B4-BE49-F238E27FC236}">
                  <a16:creationId xmlns:a16="http://schemas.microsoft.com/office/drawing/2014/main" id="{B5BE5DF4-5B0B-E940-A128-9F0066083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" y="2134"/>
              <a:ext cx="448" cy="1472"/>
            </a:xfrm>
            <a:prstGeom prst="rect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/>
            </a:p>
          </p:txBody>
        </p:sp>
        <p:sp>
          <p:nvSpPr>
            <p:cNvPr id="34" name="Text Box 19">
              <a:extLst>
                <a:ext uri="{FF2B5EF4-FFF2-40B4-BE49-F238E27FC236}">
                  <a16:creationId xmlns:a16="http://schemas.microsoft.com/office/drawing/2014/main" id="{8C468922-CF18-0F46-952B-E42BBC5D4C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348"/>
              <a:ext cx="240" cy="1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altLang="en-TR" sz="1600" b="1" dirty="0">
                  <a:solidFill>
                    <a:schemeClr val="bg1"/>
                  </a:solidFill>
                  <a:latin typeface="Tahoma" panose="020B0604030504040204" pitchFamily="34" charset="0"/>
                </a:rPr>
                <a:t>İÇERİK</a:t>
              </a:r>
              <a:endParaRPr lang="en-US" altLang="en-TR" sz="1600" b="1" dirty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35" name="Group 20">
            <a:extLst>
              <a:ext uri="{FF2B5EF4-FFF2-40B4-BE49-F238E27FC236}">
                <a16:creationId xmlns:a16="http://schemas.microsoft.com/office/drawing/2014/main" id="{0E42DE5A-CD07-3641-BD91-9C1808121CB0}"/>
              </a:ext>
            </a:extLst>
          </p:cNvPr>
          <p:cNvGrpSpPr>
            <a:grpSpLocks/>
          </p:cNvGrpSpPr>
          <p:nvPr/>
        </p:nvGrpSpPr>
        <p:grpSpPr bwMode="auto">
          <a:xfrm>
            <a:off x="2295444" y="5794900"/>
            <a:ext cx="3756585" cy="514420"/>
            <a:chOff x="1004" y="3648"/>
            <a:chExt cx="3500" cy="432"/>
          </a:xfrm>
        </p:grpSpPr>
        <p:sp>
          <p:nvSpPr>
            <p:cNvPr id="36" name="Rectangle 21">
              <a:extLst>
                <a:ext uri="{FF2B5EF4-FFF2-40B4-BE49-F238E27FC236}">
                  <a16:creationId xmlns:a16="http://schemas.microsoft.com/office/drawing/2014/main" id="{B3B6EC7D-5002-8B4C-8CDF-66BD2718A4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4" y="3648"/>
              <a:ext cx="3500" cy="432"/>
            </a:xfrm>
            <a:prstGeom prst="rect">
              <a:avLst/>
            </a:prstGeom>
            <a:solidFill>
              <a:srgbClr val="990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/>
            </a:p>
          </p:txBody>
        </p:sp>
        <p:sp>
          <p:nvSpPr>
            <p:cNvPr id="37" name="Text Box 22">
              <a:extLst>
                <a:ext uri="{FF2B5EF4-FFF2-40B4-BE49-F238E27FC236}">
                  <a16:creationId xmlns:a16="http://schemas.microsoft.com/office/drawing/2014/main" id="{E043FBB4-32A2-3640-AFF2-2CCBF7588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3673"/>
              <a:ext cx="2448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tr-TR" altLang="en-TR" sz="2000" b="1" dirty="0">
                  <a:solidFill>
                    <a:schemeClr val="bg1"/>
                  </a:solidFill>
                  <a:latin typeface="Tahoma" panose="020B0604030504040204" pitchFamily="34" charset="0"/>
                </a:rPr>
                <a:t>Öğrenme Kültürü</a:t>
              </a:r>
              <a:endParaRPr lang="en-US" altLang="en-TR" sz="2000" b="1" dirty="0">
                <a:solidFill>
                  <a:schemeClr val="bg1"/>
                </a:solidFill>
                <a:latin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5790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4">
            <a:extLst>
              <a:ext uri="{FF2B5EF4-FFF2-40B4-BE49-F238E27FC236}">
                <a16:creationId xmlns:a16="http://schemas.microsoft.com/office/drawing/2014/main" id="{9746B9DE-C65D-BF4F-8FA8-08CEB920D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9943" y="1590464"/>
            <a:ext cx="4979988" cy="1173162"/>
          </a:xfrm>
          <a:prstGeom prst="rect">
            <a:avLst/>
          </a:prstGeom>
          <a:solidFill>
            <a:srgbClr val="E8E8E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39" name="Rectangle 5">
            <a:extLst>
              <a:ext uri="{FF2B5EF4-FFF2-40B4-BE49-F238E27FC236}">
                <a16:creationId xmlns:a16="http://schemas.microsoft.com/office/drawing/2014/main" id="{7FBFCAF1-AEC7-3441-9D72-F322517AE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9943" y="2835064"/>
            <a:ext cx="4979988" cy="690562"/>
          </a:xfrm>
          <a:prstGeom prst="rect">
            <a:avLst/>
          </a:prstGeom>
          <a:solidFill>
            <a:srgbClr val="E8E8E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3ACA3F99-E36D-2148-8581-42A734ED2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9943" y="3803439"/>
            <a:ext cx="4979988" cy="2693987"/>
          </a:xfrm>
          <a:prstGeom prst="rect">
            <a:avLst/>
          </a:prstGeom>
          <a:solidFill>
            <a:srgbClr val="E8E8E8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41" name="AutoShape 7">
            <a:extLst>
              <a:ext uri="{FF2B5EF4-FFF2-40B4-BE49-F238E27FC236}">
                <a16:creationId xmlns:a16="http://schemas.microsoft.com/office/drawing/2014/main" id="{363BDB23-CE43-AE44-80E1-92A8041A9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9943" y="1730164"/>
            <a:ext cx="4979988" cy="4767262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63529"/>
                  <a:invGamma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42" name="Rectangle 8">
            <a:extLst>
              <a:ext uri="{FF2B5EF4-FFF2-40B4-BE49-F238E27FC236}">
                <a16:creationId xmlns:a16="http://schemas.microsoft.com/office/drawing/2014/main" id="{12164B78-EA36-334B-B845-8A74C6B542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0918" y="2093701"/>
            <a:ext cx="2174875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tr-TR" altLang="en-TR" b="1">
                <a:latin typeface="Tahoma" panose="020B0604030504040204" pitchFamily="34" charset="0"/>
              </a:rPr>
              <a:t>İnsan Kaynakları</a:t>
            </a:r>
            <a:endParaRPr lang="en-US" altLang="en-TR" b="1">
              <a:latin typeface="Tahoma" panose="020B0604030504040204" pitchFamily="34" charset="0"/>
            </a:endParaRPr>
          </a:p>
        </p:txBody>
      </p:sp>
      <p:sp>
        <p:nvSpPr>
          <p:cNvPr id="43" name="Rectangle 9">
            <a:extLst>
              <a:ext uri="{FF2B5EF4-FFF2-40B4-BE49-F238E27FC236}">
                <a16:creationId xmlns:a16="http://schemas.microsoft.com/office/drawing/2014/main" id="{7FA07D77-0F45-F542-8628-90FE8CD2F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1631" y="3560551"/>
            <a:ext cx="10572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/>
            <a:r>
              <a:rPr lang="tr-TR" altLang="en-TR" b="1">
                <a:solidFill>
                  <a:schemeClr val="bg1"/>
                </a:solidFill>
                <a:latin typeface="Tahoma" panose="020B0604030504040204" pitchFamily="34" charset="0"/>
              </a:rPr>
              <a:t>Yazılım</a:t>
            </a:r>
            <a:endParaRPr lang="en-US" altLang="en-TR" b="1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44" name="Rectangle 10">
            <a:extLst>
              <a:ext uri="{FF2B5EF4-FFF2-40B4-BE49-F238E27FC236}">
                <a16:creationId xmlns:a16="http://schemas.microsoft.com/office/drawing/2014/main" id="{B882A039-A299-5A40-9E76-511FD9278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5881" y="4565439"/>
            <a:ext cx="161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/>
            <a:r>
              <a:rPr lang="tr-TR" altLang="en-TR" b="1" dirty="0">
                <a:solidFill>
                  <a:schemeClr val="bg1"/>
                </a:solidFill>
                <a:latin typeface="Tahoma" panose="020B0604030504040204" pitchFamily="34" charset="0"/>
              </a:rPr>
              <a:t>Entegrasyon</a:t>
            </a:r>
            <a:endParaRPr lang="en-US" altLang="en-TR" b="1" dirty="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45" name="Rectangle 11">
            <a:extLst>
              <a:ext uri="{FF2B5EF4-FFF2-40B4-BE49-F238E27FC236}">
                <a16:creationId xmlns:a16="http://schemas.microsoft.com/office/drawing/2014/main" id="{A11BC19C-CA1C-9442-8058-30E95026E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9018" y="5632239"/>
            <a:ext cx="22526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tr-TR" altLang="en-TR" b="1" dirty="0">
                <a:solidFill>
                  <a:schemeClr val="bg1"/>
                </a:solidFill>
                <a:latin typeface="Tahoma" panose="020B0604030504040204" pitchFamily="34" charset="0"/>
              </a:rPr>
              <a:t>Teknolojik Altyapı</a:t>
            </a:r>
            <a:endParaRPr lang="en-US" altLang="en-TR" b="1" dirty="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46" name="Line 12">
            <a:extLst>
              <a:ext uri="{FF2B5EF4-FFF2-40B4-BE49-F238E27FC236}">
                <a16:creationId xmlns:a16="http://schemas.microsoft.com/office/drawing/2014/main" id="{8EF0531B-3510-D44C-936B-33295841341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6806" y="3525626"/>
            <a:ext cx="1863725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47" name="Line 13">
            <a:extLst>
              <a:ext uri="{FF2B5EF4-FFF2-40B4-BE49-F238E27FC236}">
                <a16:creationId xmlns:a16="http://schemas.microsoft.com/office/drawing/2014/main" id="{3BF9B155-B7E1-E244-AD6F-50C179D73B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5781" y="4614651"/>
            <a:ext cx="2995612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48" name="Line 14">
            <a:extLst>
              <a:ext uri="{FF2B5EF4-FFF2-40B4-BE49-F238E27FC236}">
                <a16:creationId xmlns:a16="http://schemas.microsoft.com/office/drawing/2014/main" id="{C39673B3-50FF-CA49-8230-2B26616BF8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5881" y="5621126"/>
            <a:ext cx="4019550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49" name="Text Box 15">
            <a:extLst>
              <a:ext uri="{FF2B5EF4-FFF2-40B4-BE49-F238E27FC236}">
                <a16:creationId xmlns:a16="http://schemas.microsoft.com/office/drawing/2014/main" id="{27D168DA-E06F-C240-8DFB-9157910ED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0281" y="5911639"/>
            <a:ext cx="2384425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177800" indent="-1778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lnSpc>
                <a:spcPct val="110000"/>
              </a:lnSpc>
              <a:buSzPct val="80000"/>
              <a:buFont typeface="Monotype Sorts" pitchFamily="2" charset="2"/>
              <a:buNone/>
            </a:pPr>
            <a:r>
              <a:rPr lang="tr-TR" altLang="en-TR" sz="1200">
                <a:solidFill>
                  <a:schemeClr val="bg1"/>
                </a:solidFill>
                <a:latin typeface="Tahoma" panose="020B0604030504040204" pitchFamily="34" charset="0"/>
              </a:rPr>
              <a:t>Network mimarisi ve servisleri</a:t>
            </a:r>
          </a:p>
          <a:p>
            <a:pPr algn="ctr" eaLnBrk="0" hangingPunct="0">
              <a:lnSpc>
                <a:spcPct val="110000"/>
              </a:lnSpc>
              <a:buSzPct val="80000"/>
              <a:buFont typeface="Monotype Sorts" pitchFamily="2" charset="2"/>
              <a:buNone/>
            </a:pPr>
            <a:r>
              <a:rPr lang="tr-TR" altLang="en-TR" sz="1200">
                <a:solidFill>
                  <a:schemeClr val="bg1"/>
                </a:solidFill>
                <a:latin typeface="Tahoma" panose="020B0604030504040204" pitchFamily="34" charset="0"/>
              </a:rPr>
              <a:t>Donanım </a:t>
            </a:r>
            <a:endParaRPr lang="en-US" altLang="en-T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50" name="Text Box 16">
            <a:extLst>
              <a:ext uri="{FF2B5EF4-FFF2-40B4-BE49-F238E27FC236}">
                <a16:creationId xmlns:a16="http://schemas.microsoft.com/office/drawing/2014/main" id="{BF413269-F3C4-3A4A-A246-FDDBE9B215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7381" y="4995651"/>
            <a:ext cx="3016250" cy="696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177800" indent="-1778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lnSpc>
                <a:spcPct val="110000"/>
              </a:lnSpc>
              <a:buSzPct val="80000"/>
              <a:buFont typeface="Monotype Sorts" pitchFamily="2" charset="2"/>
              <a:buNone/>
            </a:pPr>
            <a:r>
              <a:rPr lang="tr-TR" altLang="en-TR" sz="1200">
                <a:solidFill>
                  <a:schemeClr val="bg1"/>
                </a:solidFill>
                <a:latin typeface="Tahoma" panose="020B0604030504040204" pitchFamily="34" charset="0"/>
              </a:rPr>
              <a:t>Sistem Entegrasyonları ve </a:t>
            </a:r>
          </a:p>
          <a:p>
            <a:pPr algn="ctr" eaLnBrk="0" hangingPunct="0">
              <a:lnSpc>
                <a:spcPct val="110000"/>
              </a:lnSpc>
              <a:buSzPct val="80000"/>
              <a:buFont typeface="Monotype Sorts" pitchFamily="2" charset="2"/>
              <a:buNone/>
            </a:pPr>
            <a:r>
              <a:rPr lang="tr-TR" altLang="en-TR" sz="1200">
                <a:solidFill>
                  <a:schemeClr val="bg1"/>
                </a:solidFill>
                <a:latin typeface="Tahoma" panose="020B0604030504040204" pitchFamily="34" charset="0"/>
              </a:rPr>
              <a:t>Network Dizayn &amp; Destek</a:t>
            </a:r>
          </a:p>
          <a:p>
            <a:pPr algn="ctr" eaLnBrk="0" hangingPunct="0">
              <a:lnSpc>
                <a:spcPct val="110000"/>
              </a:lnSpc>
              <a:buSzPct val="80000"/>
              <a:buFont typeface="Monotype Sorts" pitchFamily="2" charset="2"/>
              <a:buNone/>
            </a:pPr>
            <a:endParaRPr lang="en-US" altLang="en-T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51" name="Text Box 17">
            <a:extLst>
              <a:ext uri="{FF2B5EF4-FFF2-40B4-BE49-F238E27FC236}">
                <a16:creationId xmlns:a16="http://schemas.microsoft.com/office/drawing/2014/main" id="{0DA42630-8AC1-F447-A1E0-9D5F82880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2181" y="3825664"/>
            <a:ext cx="2314575" cy="696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177800" indent="-1778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lnSpc>
                <a:spcPct val="110000"/>
              </a:lnSpc>
              <a:buSzPct val="80000"/>
              <a:buFont typeface="Monotype Sorts" pitchFamily="2" charset="2"/>
              <a:buNone/>
            </a:pPr>
            <a:r>
              <a:rPr lang="tr-TR" altLang="en-TR" sz="1200" dirty="0">
                <a:solidFill>
                  <a:schemeClr val="bg1"/>
                </a:solidFill>
                <a:latin typeface="Tahoma" panose="020B0604030504040204" pitchFamily="34" charset="0"/>
              </a:rPr>
              <a:t>Eğitim Yönetim Sistemi (LMS) İçerik Oluşturma Araçları</a:t>
            </a:r>
          </a:p>
          <a:p>
            <a:pPr algn="ctr" eaLnBrk="0" hangingPunct="0">
              <a:lnSpc>
                <a:spcPct val="110000"/>
              </a:lnSpc>
              <a:buSzPct val="80000"/>
              <a:buFont typeface="Monotype Sorts" pitchFamily="2" charset="2"/>
              <a:buNone/>
            </a:pPr>
            <a:r>
              <a:rPr lang="tr-TR" altLang="en-TR" sz="1200" dirty="0">
                <a:solidFill>
                  <a:schemeClr val="bg1"/>
                </a:solidFill>
                <a:latin typeface="Tahoma" panose="020B0604030504040204" pitchFamily="34" charset="0"/>
              </a:rPr>
              <a:t>Sanal Sınıf Yazılımları</a:t>
            </a:r>
            <a:endParaRPr lang="en-US" altLang="en-TR" sz="1200" dirty="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52" name="Text Box 18">
            <a:extLst>
              <a:ext uri="{FF2B5EF4-FFF2-40B4-BE49-F238E27FC236}">
                <a16:creationId xmlns:a16="http://schemas.microsoft.com/office/drawing/2014/main" id="{AA210921-513E-CF45-9213-FE5300F70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381" y="2292139"/>
            <a:ext cx="2314575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177800" indent="-1778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hangingPunct="0">
              <a:lnSpc>
                <a:spcPct val="110000"/>
              </a:lnSpc>
              <a:buSzPct val="80000"/>
              <a:buFont typeface="Monotype Sorts" pitchFamily="2" charset="2"/>
              <a:buNone/>
            </a:pPr>
            <a:r>
              <a:rPr lang="tr-TR" altLang="en-TR" sz="1200" dirty="0">
                <a:latin typeface="Tahoma" panose="020B0604030504040204" pitchFamily="34" charset="0"/>
              </a:rPr>
              <a:t>e-Learning Strateji</a:t>
            </a:r>
          </a:p>
          <a:p>
            <a:pPr algn="ctr" eaLnBrk="0" hangingPunct="0">
              <a:lnSpc>
                <a:spcPct val="110000"/>
              </a:lnSpc>
              <a:buSzPct val="80000"/>
              <a:buFont typeface="Monotype Sorts" pitchFamily="2" charset="2"/>
              <a:buNone/>
            </a:pPr>
            <a:r>
              <a:rPr lang="tr-TR" altLang="en-TR" sz="1200" dirty="0">
                <a:latin typeface="Tahoma" panose="020B0604030504040204" pitchFamily="34" charset="0"/>
              </a:rPr>
              <a:t>Değişim Yönetimi</a:t>
            </a:r>
          </a:p>
        </p:txBody>
      </p:sp>
      <p:sp>
        <p:nvSpPr>
          <p:cNvPr id="53" name="WordArt 19">
            <a:extLst>
              <a:ext uri="{FF2B5EF4-FFF2-40B4-BE49-F238E27FC236}">
                <a16:creationId xmlns:a16="http://schemas.microsoft.com/office/drawing/2014/main" id="{B76F3168-8943-AA4A-86CA-B9230265046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929406" y="1916832"/>
            <a:ext cx="914400" cy="295275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spcFirstLastPara="1" wrap="none" fromWordArt="1">
            <a:prstTxWarp prst="textArchUp">
              <a:avLst>
                <a:gd name="adj" fmla="val 10800000"/>
              </a:avLst>
            </a:prstTxWarp>
          </a:bodyPr>
          <a:lstStyle/>
          <a:p>
            <a:pPr algn="ctr"/>
            <a:r>
              <a:rPr lang="en-US" sz="20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e-learning</a:t>
            </a:r>
            <a:endParaRPr lang="en-TR" sz="2000" kern="10" dirty="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000000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54" name="Oval 20">
            <a:extLst>
              <a:ext uri="{FF2B5EF4-FFF2-40B4-BE49-F238E27FC236}">
                <a16:creationId xmlns:a16="http://schemas.microsoft.com/office/drawing/2014/main" id="{771864A5-E4FC-D946-B615-176A09705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8543" y="1723814"/>
            <a:ext cx="4559300" cy="4697412"/>
          </a:xfrm>
          <a:prstGeom prst="ellipse">
            <a:avLst/>
          </a:prstGeom>
          <a:noFill/>
          <a:ln w="2857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55" name="Line 21">
            <a:extLst>
              <a:ext uri="{FF2B5EF4-FFF2-40B4-BE49-F238E27FC236}">
                <a16:creationId xmlns:a16="http://schemas.microsoft.com/office/drawing/2014/main" id="{AA739035-AA60-F848-9B0B-5426C8080C2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5106" y="2763626"/>
            <a:ext cx="1109662" cy="1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56" name="Rectangle 22">
            <a:extLst>
              <a:ext uri="{FF2B5EF4-FFF2-40B4-BE49-F238E27FC236}">
                <a16:creationId xmlns:a16="http://schemas.microsoft.com/office/drawing/2014/main" id="{D5AF7C72-F0B8-0C4C-9726-5C812167A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1631" y="2885864"/>
            <a:ext cx="1057275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90000"/>
              </a:lnSpc>
            </a:pPr>
            <a:r>
              <a:rPr lang="tr-TR" altLang="en-TR" b="1">
                <a:solidFill>
                  <a:schemeClr val="bg1"/>
                </a:solidFill>
                <a:latin typeface="Tahoma" panose="020B0604030504040204" pitchFamily="34" charset="0"/>
              </a:rPr>
              <a:t>İçerik</a:t>
            </a:r>
            <a:endParaRPr lang="en-US" altLang="en-TR" b="1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57" name="Rectangle 23">
            <a:extLst>
              <a:ext uri="{FF2B5EF4-FFF2-40B4-BE49-F238E27FC236}">
                <a16:creationId xmlns:a16="http://schemas.microsoft.com/office/drawing/2014/main" id="{486A7A6C-0DDB-F54F-81F8-C443432FA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1943" y="3157326"/>
            <a:ext cx="11763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lang="tr-TR" altLang="en-TR" sz="1200">
                <a:solidFill>
                  <a:schemeClr val="bg1"/>
                </a:solidFill>
                <a:latin typeface="Tahoma" panose="020B0604030504040204" pitchFamily="34" charset="0"/>
              </a:rPr>
              <a:t>İçerik Sağlama</a:t>
            </a:r>
            <a:endParaRPr lang="en-US" altLang="en-T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58" name="AutoShape 24">
            <a:extLst>
              <a:ext uri="{FF2B5EF4-FFF2-40B4-BE49-F238E27FC236}">
                <a16:creationId xmlns:a16="http://schemas.microsoft.com/office/drawing/2014/main" id="{D9DA4CF9-65F6-F04C-91F5-7E9DBCF8FBA9}"/>
              </a:ext>
            </a:extLst>
          </p:cNvPr>
          <p:cNvSpPr>
            <a:spLocks/>
          </p:cNvSpPr>
          <p:nvPr/>
        </p:nvSpPr>
        <p:spPr bwMode="auto">
          <a:xfrm>
            <a:off x="1671981" y="3803439"/>
            <a:ext cx="120650" cy="2693987"/>
          </a:xfrm>
          <a:prstGeom prst="leftBrace">
            <a:avLst>
              <a:gd name="adj1" fmla="val 18607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59" name="Text Box 25">
            <a:extLst>
              <a:ext uri="{FF2B5EF4-FFF2-40B4-BE49-F238E27FC236}">
                <a16:creationId xmlns:a16="http://schemas.microsoft.com/office/drawing/2014/main" id="{E5ACA78D-B1FA-A549-9F7B-E277363A04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581" y="4765464"/>
            <a:ext cx="11985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tr-TR" altLang="en-TR" sz="2000">
                <a:latin typeface="Tahoma" panose="020B0604030504040204" pitchFamily="34" charset="0"/>
              </a:rPr>
              <a:t>Teknoloji</a:t>
            </a:r>
          </a:p>
        </p:txBody>
      </p:sp>
      <p:sp>
        <p:nvSpPr>
          <p:cNvPr id="60" name="AutoShape 26">
            <a:extLst>
              <a:ext uri="{FF2B5EF4-FFF2-40B4-BE49-F238E27FC236}">
                <a16:creationId xmlns:a16="http://schemas.microsoft.com/office/drawing/2014/main" id="{5683EC50-9843-1D4E-A217-758659E56517}"/>
              </a:ext>
            </a:extLst>
          </p:cNvPr>
          <p:cNvSpPr>
            <a:spLocks/>
          </p:cNvSpPr>
          <p:nvPr/>
        </p:nvSpPr>
        <p:spPr bwMode="auto">
          <a:xfrm>
            <a:off x="1727543" y="2896976"/>
            <a:ext cx="69850" cy="552450"/>
          </a:xfrm>
          <a:prstGeom prst="leftBrace">
            <a:avLst>
              <a:gd name="adj1" fmla="val 6590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61" name="Text Box 27">
            <a:extLst>
              <a:ext uri="{FF2B5EF4-FFF2-40B4-BE49-F238E27FC236}">
                <a16:creationId xmlns:a16="http://schemas.microsoft.com/office/drawing/2014/main" id="{2FB3BED8-209B-5842-9BAA-D04D6E437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7456" y="1985751"/>
            <a:ext cx="4286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tr-TR" altLang="en-TR" sz="2000">
                <a:latin typeface="Tahoma" panose="020B0604030504040204" pitchFamily="34" charset="0"/>
              </a:rPr>
              <a:t>İK</a:t>
            </a:r>
          </a:p>
        </p:txBody>
      </p:sp>
      <p:sp>
        <p:nvSpPr>
          <p:cNvPr id="62" name="Text Box 28">
            <a:extLst>
              <a:ext uri="{FF2B5EF4-FFF2-40B4-BE49-F238E27FC236}">
                <a16:creationId xmlns:a16="http://schemas.microsoft.com/office/drawing/2014/main" id="{D42A1A38-85BB-4C43-8371-045001CF6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106" y="2952539"/>
            <a:ext cx="8080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tr-TR" altLang="en-TR" sz="2000">
                <a:latin typeface="Tahoma" panose="020B0604030504040204" pitchFamily="34" charset="0"/>
              </a:rPr>
              <a:t>İçerik</a:t>
            </a:r>
          </a:p>
        </p:txBody>
      </p:sp>
      <p:sp>
        <p:nvSpPr>
          <p:cNvPr id="63" name="AutoShape 29">
            <a:extLst>
              <a:ext uri="{FF2B5EF4-FFF2-40B4-BE49-F238E27FC236}">
                <a16:creationId xmlns:a16="http://schemas.microsoft.com/office/drawing/2014/main" id="{E3767FF9-7ECC-E943-A0D6-E6849966B5E9}"/>
              </a:ext>
            </a:extLst>
          </p:cNvPr>
          <p:cNvSpPr>
            <a:spLocks/>
          </p:cNvSpPr>
          <p:nvPr/>
        </p:nvSpPr>
        <p:spPr bwMode="auto">
          <a:xfrm>
            <a:off x="1675156" y="1590464"/>
            <a:ext cx="146050" cy="1150937"/>
          </a:xfrm>
          <a:prstGeom prst="leftBrace">
            <a:avLst>
              <a:gd name="adj1" fmla="val 6567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8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D4D0966-BC9D-1147-860C-742A46CD7F7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699831"/>
            <a:ext cx="7772400" cy="100810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tr-TR" altLang="en-TR" dirty="0"/>
              <a:t>E-Öğrenme Unsurları</a:t>
            </a:r>
          </a:p>
        </p:txBody>
      </p:sp>
    </p:spTree>
    <p:extLst>
      <p:ext uri="{BB962C8B-B14F-4D97-AF65-F5344CB8AC3E}">
        <p14:creationId xmlns:p14="http://schemas.microsoft.com/office/powerpoint/2010/main" val="1827051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E-Öğrenme Nedir?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9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D4D0966-BC9D-1147-860C-742A46CD7F7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556792"/>
            <a:ext cx="7772400" cy="100810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tr-TR" altLang="en-TR" dirty="0"/>
              <a:t>Neden E-Öğrenme?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FA75625-87C6-3E4E-B8B4-A89043A1504D}"/>
              </a:ext>
            </a:extLst>
          </p:cNvPr>
          <p:cNvSpPr/>
          <p:nvPr/>
        </p:nvSpPr>
        <p:spPr>
          <a:xfrm>
            <a:off x="468964" y="2564900"/>
            <a:ext cx="766005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tr-TR" altLang="en-T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Yer ve Zaman Esnekliği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tr-TR" altLang="en-T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Dersi Tekrar Etme Olanağı </a:t>
            </a:r>
            <a:endParaRPr lang="en-US" altLang="en-TR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tr-TR" altLang="en-T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Öğrenme Süresinde Düşüş </a:t>
            </a:r>
            <a:endParaRPr lang="en-US" altLang="en-TR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tr-TR" altLang="en-T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Düşük Maliyet  </a:t>
            </a:r>
            <a:endParaRPr lang="en-US" altLang="en-TR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Bef>
                <a:spcPct val="50000"/>
              </a:spcBef>
              <a:buFontTx/>
              <a:buChar char="•"/>
            </a:pPr>
            <a:r>
              <a:rPr lang="tr-TR" altLang="en-T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Standartlaşmış Eğitim </a:t>
            </a:r>
            <a:endParaRPr lang="en-US" altLang="en-TR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E9CFF4-DE3A-F24B-B0C2-B9CF67261C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8075" y="2400366"/>
            <a:ext cx="3006725" cy="300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250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E-Öğrenme Nedir?</a:t>
            </a:r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E121D1B-9491-4A5F-BD01-A1B3B0B623A2}" type="slidenum">
              <a:rPr lang="tr-TR" smtClean="0"/>
              <a:pPr/>
              <a:t>10</a:t>
            </a:fld>
            <a:endParaRPr lang="tr-TR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D4D0966-BC9D-1147-860C-742A46CD7F7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556792"/>
            <a:ext cx="7772400" cy="100810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lang="tr-TR" altLang="en-TR" dirty="0"/>
              <a:t>İletim Kanalları Nelerdir?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FA75625-87C6-3E4E-B8B4-A89043A1504D}"/>
              </a:ext>
            </a:extLst>
          </p:cNvPr>
          <p:cNvSpPr/>
          <p:nvPr/>
        </p:nvSpPr>
        <p:spPr>
          <a:xfrm>
            <a:off x="468964" y="2564900"/>
            <a:ext cx="7660051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tr-TR" altLang="en-TR" sz="2400" dirty="0">
                <a:latin typeface="Tahoma" panose="020B0604030504040204" pitchFamily="34" charset="0"/>
              </a:rPr>
              <a:t>e-</a:t>
            </a:r>
            <a:r>
              <a:rPr lang="tr-TR" altLang="en-TR" sz="2400" dirty="0" err="1">
                <a:latin typeface="Tahoma" panose="020B0604030504040204" pitchFamily="34" charset="0"/>
              </a:rPr>
              <a:t>Learning’de</a:t>
            </a:r>
            <a:r>
              <a:rPr lang="tr-TR" altLang="en-TR" sz="2400" dirty="0">
                <a:latin typeface="Tahoma" panose="020B0604030504040204" pitchFamily="34" charset="0"/>
              </a:rPr>
              <a:t> iletilmek istenen içerikler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tr-TR" altLang="en-TR" sz="2400" dirty="0">
                <a:solidFill>
                  <a:srgbClr val="990200"/>
                </a:solidFill>
                <a:latin typeface="Tahoma" panose="020B0604030504040204" pitchFamily="34" charset="0"/>
              </a:rPr>
              <a:t> İnternet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tr-TR" altLang="en-TR" sz="2400" dirty="0">
                <a:solidFill>
                  <a:srgbClr val="990200"/>
                </a:solidFill>
                <a:latin typeface="Tahoma" panose="020B0604030504040204" pitchFamily="34" charset="0"/>
              </a:rPr>
              <a:t> İntranet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tr-TR" altLang="en-TR" sz="2400" dirty="0">
                <a:solidFill>
                  <a:srgbClr val="990200"/>
                </a:solidFill>
                <a:latin typeface="Tahoma" panose="020B0604030504040204" pitchFamily="34" charset="0"/>
              </a:rPr>
              <a:t> Uydu yayını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tr-TR" altLang="en-TR" sz="2400" dirty="0">
                <a:solidFill>
                  <a:srgbClr val="990200"/>
                </a:solidFill>
                <a:latin typeface="Tahoma" panose="020B0604030504040204" pitchFamily="34" charset="0"/>
              </a:rPr>
              <a:t> İnteraktif TV</a:t>
            </a:r>
          </a:p>
          <a:p>
            <a:pPr>
              <a:spcBef>
                <a:spcPct val="50000"/>
              </a:spcBef>
            </a:pPr>
            <a:r>
              <a:rPr lang="tr-TR" altLang="en-TR" sz="2400" dirty="0">
                <a:latin typeface="Tahoma" panose="020B0604030504040204" pitchFamily="34" charset="0"/>
              </a:rPr>
              <a:t>yardımıyla sunulabilir.</a:t>
            </a:r>
            <a:endParaRPr lang="en-US" altLang="en-TR" sz="2400" dirty="0">
              <a:latin typeface="Tahoma" panose="020B060403050404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74FA00-B764-DE40-B0B5-62120EDC0F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2734886"/>
            <a:ext cx="3976715" cy="369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4334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mba">
  <a:themeElements>
    <a:clrScheme name="Cumba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Cumba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umba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741</TotalTime>
  <Words>363</Words>
  <Application>Microsoft Macintosh PowerPoint</Application>
  <PresentationFormat>On-screen Show (4:3)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 Narrow</vt:lpstr>
      <vt:lpstr>Calibri</vt:lpstr>
      <vt:lpstr>Century Schoolbook</vt:lpstr>
      <vt:lpstr>Monotype Sorts</vt:lpstr>
      <vt:lpstr>Tahoma</vt:lpstr>
      <vt:lpstr>Times New Roman</vt:lpstr>
      <vt:lpstr>Wingdings</vt:lpstr>
      <vt:lpstr>Wingdings 2</vt:lpstr>
      <vt:lpstr>Cumba</vt:lpstr>
      <vt:lpstr>UZAKTAN EĞİTİM TEKNOLOJİLERİ</vt:lpstr>
      <vt:lpstr>E-Öğrenme Nedir?</vt:lpstr>
      <vt:lpstr>E-Öğrenme Nedir?</vt:lpstr>
      <vt:lpstr>E-Öğrenme Nedir?</vt:lpstr>
      <vt:lpstr>E-Öğrenme Nedir?</vt:lpstr>
      <vt:lpstr>E-Öğrenme Nedir?</vt:lpstr>
      <vt:lpstr>E-Öğrenme Nedir?</vt:lpstr>
      <vt:lpstr>PowerPoint Presentation</vt:lpstr>
      <vt:lpstr>E-Öğrenme Nedir?</vt:lpstr>
      <vt:lpstr>E-Öğrenme Nedir?</vt:lpstr>
    </vt:vector>
  </TitlesOfParts>
  <Company>rocco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Slayt 1</dc:title>
  <dc:creator>zaman</dc:creator>
  <cp:lastModifiedBy>Microsoft Office User</cp:lastModifiedBy>
  <cp:revision>120</cp:revision>
  <dcterms:created xsi:type="dcterms:W3CDTF">2015-05-19T13:03:20Z</dcterms:created>
  <dcterms:modified xsi:type="dcterms:W3CDTF">2020-10-13T04:43:31Z</dcterms:modified>
</cp:coreProperties>
</file>