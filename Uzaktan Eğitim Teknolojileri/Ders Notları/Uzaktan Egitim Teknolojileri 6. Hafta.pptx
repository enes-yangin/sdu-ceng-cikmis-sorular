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9"/>
  </p:notesMasterIdLst>
  <p:sldIdLst>
    <p:sldId id="256" r:id="rId2"/>
    <p:sldId id="326" r:id="rId3"/>
    <p:sldId id="327" r:id="rId4"/>
    <p:sldId id="328" r:id="rId5"/>
    <p:sldId id="329" r:id="rId6"/>
    <p:sldId id="330" r:id="rId7"/>
    <p:sldId id="332" r:id="rId8"/>
    <p:sldId id="333" r:id="rId9"/>
    <p:sldId id="331" r:id="rId10"/>
    <p:sldId id="334" r:id="rId11"/>
    <p:sldId id="335" r:id="rId12"/>
    <p:sldId id="336" r:id="rId13"/>
    <p:sldId id="337" r:id="rId14"/>
    <p:sldId id="338" r:id="rId15"/>
    <p:sldId id="339" r:id="rId16"/>
    <p:sldId id="340" r:id="rId17"/>
    <p:sldId id="341" r:id="rId18"/>
    <p:sldId id="342" r:id="rId19"/>
    <p:sldId id="343" r:id="rId20"/>
    <p:sldId id="344" r:id="rId21"/>
    <p:sldId id="345" r:id="rId22"/>
    <p:sldId id="346" r:id="rId23"/>
    <p:sldId id="347" r:id="rId24"/>
    <p:sldId id="348" r:id="rId25"/>
    <p:sldId id="349" r:id="rId26"/>
    <p:sldId id="350" r:id="rId27"/>
    <p:sldId id="351" r:id="rId28"/>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til Yok, Kılavuz Yok">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Açık Stil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063" autoAdjust="0"/>
    <p:restoredTop sz="81067" autoAdjust="0"/>
  </p:normalViewPr>
  <p:slideViewPr>
    <p:cSldViewPr>
      <p:cViewPr varScale="1">
        <p:scale>
          <a:sx n="79" d="100"/>
          <a:sy n="79" d="100"/>
        </p:scale>
        <p:origin x="408" y="20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F3A45C-1F9B-4470-B393-CB4E170383FB}" type="datetimeFigureOut">
              <a:rPr lang="tr-TR" smtClean="0"/>
              <a:t>16.11.2020</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E1CD16-3461-49A8-861A-0462DBFF20F0}" type="slidenum">
              <a:rPr lang="tr-TR" smtClean="0"/>
              <a:t>‹#›</a:t>
            </a:fld>
            <a:endParaRPr lang="tr-TR"/>
          </a:p>
        </p:txBody>
      </p:sp>
    </p:spTree>
    <p:extLst>
      <p:ext uri="{BB962C8B-B14F-4D97-AF65-F5344CB8AC3E}">
        <p14:creationId xmlns:p14="http://schemas.microsoft.com/office/powerpoint/2010/main" val="953031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6CE1CD16-3461-49A8-861A-0462DBFF20F0}" type="slidenum">
              <a:rPr lang="tr-TR" smtClean="0"/>
              <a:t>1</a:t>
            </a:fld>
            <a:endParaRPr lang="tr-TR"/>
          </a:p>
        </p:txBody>
      </p:sp>
    </p:spTree>
    <p:extLst>
      <p:ext uri="{BB962C8B-B14F-4D97-AF65-F5344CB8AC3E}">
        <p14:creationId xmlns:p14="http://schemas.microsoft.com/office/powerpoint/2010/main" val="908891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O halde algılama, çevrenin bir resmini çekmektir. Herkes aynı çevrenin resmini çektiği halde gördüğümüz fotoğraflar neden farklı farklıdır? İzlenimlerimizi belirleyen nedir? Neden aynı olayda bireyler farklı izlenimler edinmekte ve çıkan sonuçlar farklı farklıdır?</a:t>
            </a:r>
          </a:p>
          <a:p>
            <a:endParaRPr lang="tr-TR" altLang="en-TR" dirty="0"/>
          </a:p>
          <a:p>
            <a:r>
              <a:rPr lang="tr-TR" altLang="en-TR" dirty="0"/>
              <a:t>Bütün bu farklı izlenim ve davranışlar, insanların algılama derecelerine göre ortaya çıkmaktadır. Algılama, davranışı etkileyen bilişsel bir süreçtir ve </a:t>
            </a:r>
            <a:r>
              <a:rPr lang="tr-TR" altLang="en-TR" dirty="0" err="1"/>
              <a:t>yanlızca</a:t>
            </a:r>
            <a:r>
              <a:rPr lang="tr-TR" altLang="en-TR" dirty="0"/>
              <a:t> çevreden izlenim alma şeklinde pasif bir süreç değildir. Aldığımız verileri analiz eder ve bir yargıya varırız. Bize ulaşan duyumlara ne tür tepkiler vereceğimizi ancak algılama sonrasında karar verebiliriz.</a:t>
            </a:r>
          </a:p>
        </p:txBody>
      </p:sp>
      <p:sp>
        <p:nvSpPr>
          <p:cNvPr id="4" name="Slide Number Placeholder 3"/>
          <p:cNvSpPr>
            <a:spLocks noGrp="1"/>
          </p:cNvSpPr>
          <p:nvPr>
            <p:ph type="sldNum" sz="quarter" idx="5"/>
          </p:nvPr>
        </p:nvSpPr>
        <p:spPr/>
        <p:txBody>
          <a:bodyPr/>
          <a:lstStyle/>
          <a:p>
            <a:fld id="{6CE1CD16-3461-49A8-861A-0462DBFF20F0}" type="slidenum">
              <a:rPr lang="tr-TR" smtClean="0"/>
              <a:t>2</a:t>
            </a:fld>
            <a:endParaRPr lang="tr-TR"/>
          </a:p>
        </p:txBody>
      </p:sp>
    </p:spTree>
    <p:extLst>
      <p:ext uri="{BB962C8B-B14F-4D97-AF65-F5344CB8AC3E}">
        <p14:creationId xmlns:p14="http://schemas.microsoft.com/office/powerpoint/2010/main" val="3568948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altLang="en-TR" dirty="0"/>
              <a:t>Algılama, çevremizdekileri anlamamız, </a:t>
            </a:r>
            <a:r>
              <a:rPr lang="tr-TR" altLang="en-TR" dirty="0" err="1"/>
              <a:t>anlamlardırma</a:t>
            </a:r>
            <a:r>
              <a:rPr lang="tr-TR" altLang="en-TR" dirty="0"/>
              <a:t> ve değerlendirmeler yapmamız için gerekli ve önemli bir süreçtir. Algılama sürecinin başlangıcı, duyulardan gelen ham verilere dayanır. Bu ham veriler bir süzgeçten geçirilir, veriler diğer sahip olunan bilgilerle karşılaştırılır. Çevreden aldığımız bilgilerin bir kısmı bizim için daha önemli, bir kısmını da  önemsiz ve ihmal edilebilir düzeydedir. Çoğu zaman da görmek istediklerimizi görürüz. Çevre aynı çevre olmasına rağmen kendi yorumlarımız, yargılarımız ve değerlendirmelerimiz çevremizi diğer insanlardan farklı algılamamızı sağlar. Bireylerin neyi nasıl algıladıklarını, büyük ölçüde içinde yaşadıkları kültür ve geçmiş yaşantıları etkiler.</a:t>
            </a:r>
          </a:p>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3</a:t>
            </a:fld>
            <a:endParaRPr lang="tr-TR"/>
          </a:p>
        </p:txBody>
      </p:sp>
    </p:spTree>
    <p:extLst>
      <p:ext uri="{BB962C8B-B14F-4D97-AF65-F5344CB8AC3E}">
        <p14:creationId xmlns:p14="http://schemas.microsoft.com/office/powerpoint/2010/main" val="4220569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Algıda seçiciliği etkileyen </a:t>
            </a:r>
            <a:r>
              <a:rPr lang="tr-TR" altLang="en-TR" b="1" dirty="0"/>
              <a:t>dış</a:t>
            </a:r>
            <a:r>
              <a:rPr lang="tr-TR" altLang="en-TR" dirty="0"/>
              <a:t> faktörler:</a:t>
            </a:r>
          </a:p>
          <a:p>
            <a:r>
              <a:rPr lang="tr-TR" altLang="en-TR" b="1" dirty="0"/>
              <a:t>Büyüklük:</a:t>
            </a:r>
            <a:r>
              <a:rPr lang="tr-TR" altLang="en-TR" dirty="0"/>
              <a:t> Büyük nesneler diğerlerinden daha fazla dikkat çeker. </a:t>
            </a:r>
          </a:p>
          <a:p>
            <a:r>
              <a:rPr lang="tr-TR" altLang="en-TR" b="1" dirty="0"/>
              <a:t>Zıtlık:</a:t>
            </a:r>
            <a:r>
              <a:rPr lang="tr-TR" altLang="en-TR" dirty="0"/>
              <a:t> Birbirine zıt olan renkler, şekiller, nesneler daha çok dikkat çeker. </a:t>
            </a:r>
          </a:p>
          <a:p>
            <a:r>
              <a:rPr lang="tr-TR" altLang="en-TR" b="1" dirty="0"/>
              <a:t>Tekrar:</a:t>
            </a:r>
            <a:r>
              <a:rPr lang="tr-TR" altLang="en-TR" dirty="0"/>
              <a:t> Tekrarlanan olaylar durağan nesnelerden daha çok dikkat çeker. Tekrarlar öğrenmeyi kolaylaştırır. Fakat sürekli aynı şekildeki monoton hareketlerin durağan nesnelerden çok farkı olmadığı için, algılamayı kolaylaştırıcı bir etkisi yoktur.</a:t>
            </a:r>
          </a:p>
          <a:p>
            <a:r>
              <a:rPr lang="tr-TR" altLang="en-TR" b="1" dirty="0"/>
              <a:t>Hareketlilik:</a:t>
            </a:r>
            <a:r>
              <a:rPr lang="tr-TR" altLang="en-TR" dirty="0"/>
              <a:t> Hareketli cisimler, hareketsiz olanlardan daha fazla dikkat çeker. Örnek</a:t>
            </a:r>
          </a:p>
          <a:p>
            <a:r>
              <a:rPr lang="tr-TR" altLang="en-TR" b="1" dirty="0"/>
              <a:t>Yenilik:</a:t>
            </a:r>
            <a:r>
              <a:rPr lang="tr-TR" altLang="en-TR" dirty="0"/>
              <a:t> Sıradan nesneler, olaylar, resimler, alışılagelmiş olmayanlara göre daha az dikkat çekerler. Örnek bukalemun.</a:t>
            </a:r>
          </a:p>
          <a:p>
            <a:r>
              <a:rPr lang="tr-TR" altLang="en-TR" b="1" dirty="0"/>
              <a:t>Yakınlık:</a:t>
            </a:r>
            <a:r>
              <a:rPr lang="tr-TR" altLang="en-TR" dirty="0"/>
              <a:t> Uzaktaki nesneler yakındaki nesnelerden daha az dikkat çeker. “Yakınlık” faktörü sadece fiziksel yakınlık olarak düşünülmemelidir. Duygusal olarak yakınlık duyduğumuz yada hakkında bilgiye sahip olduğumuz şeyler daha dikkat çekicidir. Örnek</a:t>
            </a:r>
          </a:p>
        </p:txBody>
      </p:sp>
      <p:sp>
        <p:nvSpPr>
          <p:cNvPr id="4" name="Slide Number Placeholder 3"/>
          <p:cNvSpPr>
            <a:spLocks noGrp="1"/>
          </p:cNvSpPr>
          <p:nvPr>
            <p:ph type="sldNum" sz="quarter" idx="5"/>
          </p:nvPr>
        </p:nvSpPr>
        <p:spPr/>
        <p:txBody>
          <a:bodyPr/>
          <a:lstStyle/>
          <a:p>
            <a:fld id="{6CE1CD16-3461-49A8-861A-0462DBFF20F0}" type="slidenum">
              <a:rPr lang="tr-TR" smtClean="0"/>
              <a:t>5</a:t>
            </a:fld>
            <a:endParaRPr lang="tr-TR"/>
          </a:p>
        </p:txBody>
      </p:sp>
    </p:spTree>
    <p:extLst>
      <p:ext uri="{BB962C8B-B14F-4D97-AF65-F5344CB8AC3E}">
        <p14:creationId xmlns:p14="http://schemas.microsoft.com/office/powerpoint/2010/main" val="2864016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Algıda seçiciliği etkileyen </a:t>
            </a:r>
            <a:r>
              <a:rPr lang="tr-TR" altLang="en-TR" b="1" dirty="0"/>
              <a:t>dış</a:t>
            </a:r>
            <a:r>
              <a:rPr lang="tr-TR" altLang="en-TR" dirty="0"/>
              <a:t> faktörler:</a:t>
            </a:r>
          </a:p>
          <a:p>
            <a:r>
              <a:rPr lang="tr-TR" altLang="en-TR" b="1" dirty="0"/>
              <a:t>Büyüklük:</a:t>
            </a:r>
            <a:r>
              <a:rPr lang="tr-TR" altLang="en-TR" dirty="0"/>
              <a:t> Büyük nesneler diğerlerinden daha fazla dikkat çeker. </a:t>
            </a:r>
          </a:p>
          <a:p>
            <a:r>
              <a:rPr lang="tr-TR" altLang="en-TR" b="1" dirty="0"/>
              <a:t>Zıtlık:</a:t>
            </a:r>
            <a:r>
              <a:rPr lang="tr-TR" altLang="en-TR" dirty="0"/>
              <a:t> Birbirine zıt olan renkler, şekiller, nesneler daha çok dikkat çeker. </a:t>
            </a:r>
          </a:p>
          <a:p>
            <a:r>
              <a:rPr lang="tr-TR" altLang="en-TR" b="1" dirty="0"/>
              <a:t>Tekrar:</a:t>
            </a:r>
            <a:r>
              <a:rPr lang="tr-TR" altLang="en-TR" dirty="0"/>
              <a:t> Tekrarlanan olaylar durağan nesnelerden daha çok dikkat çeker. Tekrarlar öğrenmeyi kolaylaştırır. Fakat sürekli aynı şekildeki monoton hareketlerin durağan nesnelerden çok farkı olmadığı için, algılamayı kolaylaştırıcı bir etkisi yoktur.</a:t>
            </a:r>
          </a:p>
          <a:p>
            <a:r>
              <a:rPr lang="tr-TR" altLang="en-TR" b="1" dirty="0"/>
              <a:t>Hareketlilik:</a:t>
            </a:r>
            <a:r>
              <a:rPr lang="tr-TR" altLang="en-TR" dirty="0"/>
              <a:t> Hareketli cisimler, hareketsiz olanlardan daha fazla dikkat çeker. Örnek</a:t>
            </a:r>
          </a:p>
          <a:p>
            <a:r>
              <a:rPr lang="tr-TR" altLang="en-TR" b="1" dirty="0"/>
              <a:t>Yenilik:</a:t>
            </a:r>
            <a:r>
              <a:rPr lang="tr-TR" altLang="en-TR" dirty="0"/>
              <a:t> Sıradan nesneler, olaylar, resimler, alışılagelmiş olmayanlara göre daha az dikkat çekerler. Örnek bukalemun.</a:t>
            </a:r>
          </a:p>
          <a:p>
            <a:r>
              <a:rPr lang="tr-TR" altLang="en-TR" b="1" dirty="0"/>
              <a:t>Yakınlık:</a:t>
            </a:r>
            <a:r>
              <a:rPr lang="tr-TR" altLang="en-TR" dirty="0"/>
              <a:t> Uzaktaki nesneler yakındaki nesnelerden daha az dikkat çeker. “Yakınlık” faktörü sadece fiziksel yakınlık olarak düşünülmemelidir. Duygusal olarak yakınlık duyduğumuz yada hakkında bilgiye sahip olduğumuz şeyler daha dikkat çekicidir.</a:t>
            </a:r>
          </a:p>
        </p:txBody>
      </p:sp>
      <p:sp>
        <p:nvSpPr>
          <p:cNvPr id="4" name="Slide Number Placeholder 3"/>
          <p:cNvSpPr>
            <a:spLocks noGrp="1"/>
          </p:cNvSpPr>
          <p:nvPr>
            <p:ph type="sldNum" sz="quarter" idx="5"/>
          </p:nvPr>
        </p:nvSpPr>
        <p:spPr/>
        <p:txBody>
          <a:bodyPr/>
          <a:lstStyle/>
          <a:p>
            <a:fld id="{6CE1CD16-3461-49A8-861A-0462DBFF20F0}" type="slidenum">
              <a:rPr lang="tr-TR" smtClean="0"/>
              <a:t>6</a:t>
            </a:fld>
            <a:endParaRPr lang="tr-TR"/>
          </a:p>
        </p:txBody>
      </p:sp>
    </p:spTree>
    <p:extLst>
      <p:ext uri="{BB962C8B-B14F-4D97-AF65-F5344CB8AC3E}">
        <p14:creationId xmlns:p14="http://schemas.microsoft.com/office/powerpoint/2010/main" val="1346601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Algıda seçiciliği etkileyen </a:t>
            </a:r>
            <a:r>
              <a:rPr lang="tr-TR" altLang="en-TR" b="1" dirty="0"/>
              <a:t>dış</a:t>
            </a:r>
            <a:r>
              <a:rPr lang="tr-TR" altLang="en-TR" dirty="0"/>
              <a:t> faktörler:</a:t>
            </a:r>
          </a:p>
          <a:p>
            <a:r>
              <a:rPr lang="tr-TR" altLang="en-TR" b="1" dirty="0"/>
              <a:t>Büyüklük:</a:t>
            </a:r>
            <a:r>
              <a:rPr lang="tr-TR" altLang="en-TR" dirty="0"/>
              <a:t> Büyük nesneler diğerlerinden daha fazla dikkat çeker. </a:t>
            </a:r>
          </a:p>
          <a:p>
            <a:r>
              <a:rPr lang="tr-TR" altLang="en-TR" b="1" dirty="0"/>
              <a:t>Zıtlık:</a:t>
            </a:r>
            <a:r>
              <a:rPr lang="tr-TR" altLang="en-TR" dirty="0"/>
              <a:t> Birbirine zıt olan renkler, şekiller, nesneler daha çok dikkat çeker. </a:t>
            </a:r>
          </a:p>
          <a:p>
            <a:r>
              <a:rPr lang="tr-TR" altLang="en-TR" b="1" dirty="0"/>
              <a:t>Tekrar:</a:t>
            </a:r>
            <a:r>
              <a:rPr lang="tr-TR" altLang="en-TR" dirty="0"/>
              <a:t> Tekrarlanan olaylar durağan nesnelerden daha çok dikkat çeker. Tekrarlar öğrenmeyi kolaylaştırır. Fakat sürekli aynı şekildeki monoton hareketlerin durağan nesnelerden çok farkı olmadığı için, algılamayı kolaylaştırıcı bir etkisi yoktur.</a:t>
            </a:r>
          </a:p>
          <a:p>
            <a:r>
              <a:rPr lang="tr-TR" altLang="en-TR" b="1" dirty="0"/>
              <a:t>Hareketlilik:</a:t>
            </a:r>
            <a:r>
              <a:rPr lang="tr-TR" altLang="en-TR" dirty="0"/>
              <a:t> Hareketli cisimler, hareketsiz olanlardan daha fazla dikkat çeker. Örnek</a:t>
            </a:r>
          </a:p>
          <a:p>
            <a:r>
              <a:rPr lang="tr-TR" altLang="en-TR" b="1" dirty="0"/>
              <a:t>Yenilik:</a:t>
            </a:r>
            <a:r>
              <a:rPr lang="tr-TR" altLang="en-TR" dirty="0"/>
              <a:t> Sıradan nesneler, olaylar, resimler, alışılagelmiş olmayanlara göre daha az dikkat çekerler. Örnek bukalemun.</a:t>
            </a:r>
          </a:p>
          <a:p>
            <a:r>
              <a:rPr lang="tr-TR" altLang="en-TR" b="1" dirty="0"/>
              <a:t>Yakınlık:</a:t>
            </a:r>
            <a:r>
              <a:rPr lang="tr-TR" altLang="en-TR" dirty="0"/>
              <a:t> Uzaktaki nesneler yakındaki nesnelerden daha az dikkat çeker. “Yakınlık” faktörü sadece fiziksel yakınlık olarak düşünülmemelidir. Duygusal olarak yakınlık duyduğumuz yada hakkında bilgiye sahip olduğumuz şeyler daha dikkat çekicidir.</a:t>
            </a:r>
          </a:p>
        </p:txBody>
      </p:sp>
      <p:sp>
        <p:nvSpPr>
          <p:cNvPr id="4" name="Slide Number Placeholder 3"/>
          <p:cNvSpPr>
            <a:spLocks noGrp="1"/>
          </p:cNvSpPr>
          <p:nvPr>
            <p:ph type="sldNum" sz="quarter" idx="5"/>
          </p:nvPr>
        </p:nvSpPr>
        <p:spPr/>
        <p:txBody>
          <a:bodyPr/>
          <a:lstStyle/>
          <a:p>
            <a:fld id="{6CE1CD16-3461-49A8-861A-0462DBFF20F0}" type="slidenum">
              <a:rPr lang="tr-TR" smtClean="0"/>
              <a:t>7</a:t>
            </a:fld>
            <a:endParaRPr lang="tr-TR"/>
          </a:p>
        </p:txBody>
      </p:sp>
    </p:spTree>
    <p:extLst>
      <p:ext uri="{BB962C8B-B14F-4D97-AF65-F5344CB8AC3E}">
        <p14:creationId xmlns:p14="http://schemas.microsoft.com/office/powerpoint/2010/main" val="4070558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Algıda seçiciliği etkileyen </a:t>
            </a:r>
            <a:r>
              <a:rPr lang="tr-TR" altLang="en-TR" b="1" dirty="0"/>
              <a:t>dış</a:t>
            </a:r>
            <a:r>
              <a:rPr lang="tr-TR" altLang="en-TR" dirty="0"/>
              <a:t> faktörler:</a:t>
            </a:r>
          </a:p>
          <a:p>
            <a:r>
              <a:rPr lang="tr-TR" altLang="en-TR" b="1" dirty="0"/>
              <a:t>Büyüklük:</a:t>
            </a:r>
            <a:r>
              <a:rPr lang="tr-TR" altLang="en-TR" dirty="0"/>
              <a:t> Büyük nesneler diğerlerinden daha fazla dikkat çeker. </a:t>
            </a:r>
          </a:p>
          <a:p>
            <a:r>
              <a:rPr lang="tr-TR" altLang="en-TR" b="1" dirty="0"/>
              <a:t>Zıtlık:</a:t>
            </a:r>
            <a:r>
              <a:rPr lang="tr-TR" altLang="en-TR" dirty="0"/>
              <a:t> Birbirine zıt olan renkler, şekiller, nesneler daha çok dikkat çeker. </a:t>
            </a:r>
          </a:p>
          <a:p>
            <a:r>
              <a:rPr lang="tr-TR" altLang="en-TR" b="1" dirty="0"/>
              <a:t>Tekrar:</a:t>
            </a:r>
            <a:r>
              <a:rPr lang="tr-TR" altLang="en-TR" dirty="0"/>
              <a:t> Tekrarlanan olaylar durağan nesnelerden daha çok dikkat çeker. Tekrarlar öğrenmeyi kolaylaştırır. Fakat sürekli aynı şekildeki monoton hareketlerin durağan nesnelerden çok farkı olmadığı için, algılamayı kolaylaştırıcı bir etkisi yoktur.</a:t>
            </a:r>
          </a:p>
          <a:p>
            <a:r>
              <a:rPr lang="tr-TR" altLang="en-TR" b="1" dirty="0"/>
              <a:t>Hareketlilik:</a:t>
            </a:r>
            <a:r>
              <a:rPr lang="tr-TR" altLang="en-TR" dirty="0"/>
              <a:t> Hareketli cisimler, hareketsiz olanlardan daha fazla dikkat çeker. Örnek</a:t>
            </a:r>
          </a:p>
          <a:p>
            <a:r>
              <a:rPr lang="tr-TR" altLang="en-TR" b="1" dirty="0"/>
              <a:t>Yenilik:</a:t>
            </a:r>
            <a:r>
              <a:rPr lang="tr-TR" altLang="en-TR" dirty="0"/>
              <a:t> Sıradan nesneler, olaylar, resimler, alışılagelmiş olmayanlara göre daha az dikkat çekerler. Örnek bukalemun.</a:t>
            </a:r>
          </a:p>
          <a:p>
            <a:r>
              <a:rPr lang="tr-TR" altLang="en-TR" b="1" dirty="0"/>
              <a:t>Yakınlık:</a:t>
            </a:r>
            <a:r>
              <a:rPr lang="tr-TR" altLang="en-TR" dirty="0"/>
              <a:t> Uzaktaki nesneler yakındaki nesnelerden daha az dikkat çeker. “Yakınlık” faktörü sadece fiziksel yakınlık olarak düşünülmemelidir. Duygusal olarak yakınlık duyduğumuz yada hakkında bilgiye sahip olduğumuz şeyler daha dikkat çekicidir.</a:t>
            </a:r>
          </a:p>
        </p:txBody>
      </p:sp>
      <p:sp>
        <p:nvSpPr>
          <p:cNvPr id="4" name="Slide Number Placeholder 3"/>
          <p:cNvSpPr>
            <a:spLocks noGrp="1"/>
          </p:cNvSpPr>
          <p:nvPr>
            <p:ph type="sldNum" sz="quarter" idx="5"/>
          </p:nvPr>
        </p:nvSpPr>
        <p:spPr/>
        <p:txBody>
          <a:bodyPr/>
          <a:lstStyle/>
          <a:p>
            <a:fld id="{6CE1CD16-3461-49A8-861A-0462DBFF20F0}" type="slidenum">
              <a:rPr lang="tr-TR" smtClean="0"/>
              <a:t>8</a:t>
            </a:fld>
            <a:endParaRPr lang="tr-TR"/>
          </a:p>
        </p:txBody>
      </p:sp>
    </p:spTree>
    <p:extLst>
      <p:ext uri="{BB962C8B-B14F-4D97-AF65-F5344CB8AC3E}">
        <p14:creationId xmlns:p14="http://schemas.microsoft.com/office/powerpoint/2010/main" val="1878148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Algıda seçiciliği etkileyen </a:t>
            </a:r>
            <a:r>
              <a:rPr lang="tr-TR" altLang="en-TR" b="1" dirty="0"/>
              <a:t>dış</a:t>
            </a:r>
            <a:r>
              <a:rPr lang="tr-TR" altLang="en-TR" dirty="0"/>
              <a:t> faktörler:</a:t>
            </a:r>
          </a:p>
          <a:p>
            <a:r>
              <a:rPr lang="tr-TR" altLang="en-TR" b="1" dirty="0"/>
              <a:t>Büyüklük:</a:t>
            </a:r>
            <a:r>
              <a:rPr lang="tr-TR" altLang="en-TR" dirty="0"/>
              <a:t> Büyük nesneler diğerlerinden daha fazla dikkat çeker. </a:t>
            </a:r>
          </a:p>
          <a:p>
            <a:r>
              <a:rPr lang="tr-TR" altLang="en-TR" b="1" dirty="0"/>
              <a:t>Zıtlık:</a:t>
            </a:r>
            <a:r>
              <a:rPr lang="tr-TR" altLang="en-TR" dirty="0"/>
              <a:t> Birbirine zıt olan renkler, şekiller, nesneler daha çok dikkat çeker. </a:t>
            </a:r>
          </a:p>
          <a:p>
            <a:r>
              <a:rPr lang="tr-TR" altLang="en-TR" b="1" dirty="0"/>
              <a:t>Tekrar:</a:t>
            </a:r>
            <a:r>
              <a:rPr lang="tr-TR" altLang="en-TR" dirty="0"/>
              <a:t> Tekrarlanan olaylar durağan nesnelerden daha çok dikkat çeker. Tekrarlar öğrenmeyi kolaylaştırır. Fakat sürekli aynı şekildeki monoton hareketlerin durağan nesnelerden çok farkı olmadığı için, algılamayı kolaylaştırıcı bir etkisi yoktur.</a:t>
            </a:r>
          </a:p>
          <a:p>
            <a:r>
              <a:rPr lang="tr-TR" altLang="en-TR" b="1" dirty="0"/>
              <a:t>Hareketlilik:</a:t>
            </a:r>
            <a:r>
              <a:rPr lang="tr-TR" altLang="en-TR" dirty="0"/>
              <a:t> Hareketli cisimler, hareketsiz olanlardan daha fazla dikkat çeker. Örnek</a:t>
            </a:r>
          </a:p>
          <a:p>
            <a:r>
              <a:rPr lang="tr-TR" altLang="en-TR" b="1" dirty="0"/>
              <a:t>Yenilik:</a:t>
            </a:r>
            <a:r>
              <a:rPr lang="tr-TR" altLang="en-TR" dirty="0"/>
              <a:t> Sıradan nesneler, olaylar, resimler, alışılagelmiş olmayanlara göre daha az dikkat çekerler. Örnek bukalemun.</a:t>
            </a:r>
          </a:p>
          <a:p>
            <a:r>
              <a:rPr lang="tr-TR" altLang="en-TR" b="1" dirty="0"/>
              <a:t>Yakınlık:</a:t>
            </a:r>
            <a:r>
              <a:rPr lang="tr-TR" altLang="en-TR" dirty="0"/>
              <a:t> Uzaktaki nesneler yakındaki nesnelerden daha az dikkat çeker. “Yakınlık” faktörü sadece fiziksel yakınlık olarak düşünülmemelidir. Duygusal olarak yakınlık duyduğumuz yada hakkında bilgiye sahip olduğumuz şeyler daha dikkat çekicidir.</a:t>
            </a:r>
          </a:p>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9</a:t>
            </a:fld>
            <a:endParaRPr lang="tr-TR"/>
          </a:p>
        </p:txBody>
      </p:sp>
    </p:spTree>
    <p:extLst>
      <p:ext uri="{BB962C8B-B14F-4D97-AF65-F5344CB8AC3E}">
        <p14:creationId xmlns:p14="http://schemas.microsoft.com/office/powerpoint/2010/main" val="2011711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Algıda seçiciliği etkileyen </a:t>
            </a:r>
            <a:r>
              <a:rPr lang="tr-TR" altLang="en-TR" b="1" dirty="0"/>
              <a:t>dış</a:t>
            </a:r>
            <a:r>
              <a:rPr lang="tr-TR" altLang="en-TR" dirty="0"/>
              <a:t> faktörler:</a:t>
            </a:r>
          </a:p>
          <a:p>
            <a:r>
              <a:rPr lang="tr-TR" altLang="en-TR" b="1" dirty="0"/>
              <a:t>Büyüklük:</a:t>
            </a:r>
            <a:r>
              <a:rPr lang="tr-TR" altLang="en-TR" dirty="0"/>
              <a:t> Büyük nesneler diğerlerinden daha fazla dikkat çeker. </a:t>
            </a:r>
          </a:p>
          <a:p>
            <a:r>
              <a:rPr lang="tr-TR" altLang="en-TR" b="1" dirty="0"/>
              <a:t>Zıtlık:</a:t>
            </a:r>
            <a:r>
              <a:rPr lang="tr-TR" altLang="en-TR" dirty="0"/>
              <a:t> Birbirine zıt olan renkler, şekiller, nesneler daha çok dikkat çeker. </a:t>
            </a:r>
          </a:p>
          <a:p>
            <a:r>
              <a:rPr lang="tr-TR" altLang="en-TR" b="1" dirty="0"/>
              <a:t>Tekrar:</a:t>
            </a:r>
            <a:r>
              <a:rPr lang="tr-TR" altLang="en-TR" dirty="0"/>
              <a:t> Tekrarlanan olaylar durağan nesnelerden daha çok dikkat çeker. Tekrarlar öğrenmeyi kolaylaştırır. Fakat sürekli aynı şekildeki monoton hareketlerin durağan nesnelerden çok farkı olmadığı için, algılamayı kolaylaştırıcı bir etkisi yoktur.</a:t>
            </a:r>
          </a:p>
          <a:p>
            <a:r>
              <a:rPr lang="tr-TR" altLang="en-TR" b="1" dirty="0"/>
              <a:t>Hareketlilik:</a:t>
            </a:r>
            <a:r>
              <a:rPr lang="tr-TR" altLang="en-TR" dirty="0"/>
              <a:t> Hareketli cisimler, hareketsiz olanlardan daha fazla dikkat çeker. Örnek</a:t>
            </a:r>
          </a:p>
          <a:p>
            <a:r>
              <a:rPr lang="tr-TR" altLang="en-TR" b="1" dirty="0"/>
              <a:t>Yenilik:</a:t>
            </a:r>
            <a:r>
              <a:rPr lang="tr-TR" altLang="en-TR" dirty="0"/>
              <a:t> Sıradan nesneler, olaylar, resimler, alışılagelmiş olmayanlara göre daha az dikkat çekerler. Örnek bukalemun.</a:t>
            </a:r>
          </a:p>
          <a:p>
            <a:r>
              <a:rPr lang="tr-TR" altLang="en-TR" b="1" dirty="0"/>
              <a:t>Yakınlık:</a:t>
            </a:r>
            <a:r>
              <a:rPr lang="tr-TR" altLang="en-TR" dirty="0"/>
              <a:t> Uzaktaki nesneler yakındaki nesnelerden daha az dikkat çeker. “Yakınlık” faktörü sadece fiziksel yakınlık olarak düşünülmemelidir. Duygusal olarak yakınlık duyduğumuz yada hakkında bilgiye sahip olduğumuz şeyler daha dikkat çekicidir.</a:t>
            </a:r>
          </a:p>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10</a:t>
            </a:fld>
            <a:endParaRPr lang="tr-TR"/>
          </a:p>
        </p:txBody>
      </p:sp>
    </p:spTree>
    <p:extLst>
      <p:ext uri="{BB962C8B-B14F-4D97-AF65-F5344CB8AC3E}">
        <p14:creationId xmlns:p14="http://schemas.microsoft.com/office/powerpoint/2010/main" val="3835975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Algıda seçiciliği etkileyen </a:t>
            </a:r>
            <a:r>
              <a:rPr lang="tr-TR" altLang="en-TR" b="1" dirty="0"/>
              <a:t>dış</a:t>
            </a:r>
            <a:r>
              <a:rPr lang="tr-TR" altLang="en-TR" dirty="0"/>
              <a:t> faktörler:</a:t>
            </a:r>
          </a:p>
          <a:p>
            <a:r>
              <a:rPr lang="tr-TR" altLang="en-TR" b="1" dirty="0"/>
              <a:t>Büyüklük:</a:t>
            </a:r>
            <a:r>
              <a:rPr lang="tr-TR" altLang="en-TR" dirty="0"/>
              <a:t> Büyük nesneler diğerlerinden daha fazla dikkat çeker. </a:t>
            </a:r>
          </a:p>
          <a:p>
            <a:r>
              <a:rPr lang="tr-TR" altLang="en-TR" b="1" dirty="0"/>
              <a:t>Zıtlık:</a:t>
            </a:r>
            <a:r>
              <a:rPr lang="tr-TR" altLang="en-TR" dirty="0"/>
              <a:t> Birbirine zıt olan renkler, şekiller, nesneler daha çok dikkat çeker. </a:t>
            </a:r>
          </a:p>
          <a:p>
            <a:r>
              <a:rPr lang="tr-TR" altLang="en-TR" b="1" dirty="0"/>
              <a:t>Tekrar:</a:t>
            </a:r>
            <a:r>
              <a:rPr lang="tr-TR" altLang="en-TR" dirty="0"/>
              <a:t> Tekrarlanan olaylar durağan nesnelerden daha çok dikkat çeker. Tekrarlar öğrenmeyi kolaylaştırır. Fakat sürekli aynı şekildeki monoton hareketlerin durağan nesnelerden çok farkı olmadığı için, algılamayı kolaylaştırıcı bir etkisi yoktur.</a:t>
            </a:r>
          </a:p>
          <a:p>
            <a:r>
              <a:rPr lang="tr-TR" altLang="en-TR" b="1" dirty="0"/>
              <a:t>Hareketlilik:</a:t>
            </a:r>
            <a:r>
              <a:rPr lang="tr-TR" altLang="en-TR" dirty="0"/>
              <a:t> Hareketli cisimler, hareketsiz olanlardan daha fazla dikkat çeker. Örnek</a:t>
            </a:r>
          </a:p>
          <a:p>
            <a:r>
              <a:rPr lang="tr-TR" altLang="en-TR" b="1" dirty="0"/>
              <a:t>Yenilik:</a:t>
            </a:r>
            <a:r>
              <a:rPr lang="tr-TR" altLang="en-TR" dirty="0"/>
              <a:t> Sıradan nesneler, olaylar, resimler, alışılagelmiş olmayanlara göre daha az dikkat çekerler. Örnek bukalemun.</a:t>
            </a:r>
          </a:p>
          <a:p>
            <a:r>
              <a:rPr lang="tr-TR" altLang="en-TR" b="1" dirty="0"/>
              <a:t>Yakınlık:</a:t>
            </a:r>
            <a:r>
              <a:rPr lang="tr-TR" altLang="en-TR" dirty="0"/>
              <a:t> Uzaktaki nesneler yakındaki nesnelerden daha az dikkat çeker. “Yakınlık” faktörü sadece fiziksel yakınlık olarak düşünülmemelidir. Duygusal olarak yakınlık duyduğumuz yada hakkında bilgiye sahip olduğumuz şeyler daha dikkat çekicidir.</a:t>
            </a:r>
          </a:p>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11</a:t>
            </a:fld>
            <a:endParaRPr lang="tr-TR"/>
          </a:p>
        </p:txBody>
      </p:sp>
    </p:spTree>
    <p:extLst>
      <p:ext uri="{BB962C8B-B14F-4D97-AF65-F5344CB8AC3E}">
        <p14:creationId xmlns:p14="http://schemas.microsoft.com/office/powerpoint/2010/main" val="1787772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TR" dirty="0" err="1"/>
              <a:t>Algılamada</a:t>
            </a:r>
            <a:r>
              <a:rPr lang="en-US" altLang="en-TR" dirty="0"/>
              <a:t> </a:t>
            </a:r>
            <a:r>
              <a:rPr lang="en-US" altLang="en-TR" dirty="0" err="1"/>
              <a:t>Yanılmalar</a:t>
            </a:r>
            <a:r>
              <a:rPr lang="tr-TR" altLang="en-TR" dirty="0"/>
              <a:t>ı</a:t>
            </a:r>
            <a:br>
              <a:rPr lang="tr-TR" altLang="en-TR" b="1" dirty="0"/>
            </a:br>
            <a:r>
              <a:rPr lang="tr-TR" altLang="en-TR" dirty="0"/>
              <a:t>Yukarıda saydığımız tüm bu faktörler, </a:t>
            </a:r>
            <a:r>
              <a:rPr lang="tr-TR" altLang="en-TR" dirty="0" err="1"/>
              <a:t>algılmamızı</a:t>
            </a:r>
            <a:r>
              <a:rPr lang="tr-TR" altLang="en-TR" dirty="0"/>
              <a:t> arttıran yada azaltan durumlar yaratırlar. Ancak beynimizin tüm çabalarına rağmen, algı sistemimiz mükemmel ve hatasız çalışamaz. </a:t>
            </a:r>
            <a:r>
              <a:rPr lang="tr-TR" altLang="en-TR" b="1" dirty="0"/>
              <a:t>Örnek grafikler.</a:t>
            </a:r>
            <a:endParaRPr lang="tr-TR" altLang="en-TR" dirty="0"/>
          </a:p>
          <a:p>
            <a:r>
              <a:rPr lang="tr-TR" altLang="en-TR" dirty="0"/>
              <a:t>Algı, organize etme ve anlamlandırma süreci olduğuna göre, algılamadaki farklılıklar, iletişimde ve öğrenmede çeşitli pürüzlere yol açabilir. </a:t>
            </a:r>
          </a:p>
          <a:p>
            <a:br>
              <a:rPr lang="tr-TR" altLang="en-TR" dirty="0"/>
            </a:br>
            <a:r>
              <a:rPr lang="tr-TR" altLang="en-TR" dirty="0"/>
              <a:t>Ekran tasarımlarında bu algı yanılmalarını aza indirmenin yollarından biri de, temel grafik tasarım bilgilerini uygulamaktır.</a:t>
            </a:r>
          </a:p>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23</a:t>
            </a:fld>
            <a:endParaRPr lang="tr-TR"/>
          </a:p>
        </p:txBody>
      </p:sp>
    </p:spTree>
    <p:extLst>
      <p:ext uri="{BB962C8B-B14F-4D97-AF65-F5344CB8AC3E}">
        <p14:creationId xmlns:p14="http://schemas.microsoft.com/office/powerpoint/2010/main" val="2882649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24</a:t>
            </a:fld>
            <a:endParaRPr lang="tr-TR"/>
          </a:p>
        </p:txBody>
      </p:sp>
    </p:spTree>
    <p:extLst>
      <p:ext uri="{BB962C8B-B14F-4D97-AF65-F5344CB8AC3E}">
        <p14:creationId xmlns:p14="http://schemas.microsoft.com/office/powerpoint/2010/main" val="2382286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25</a:t>
            </a:fld>
            <a:endParaRPr lang="tr-TR"/>
          </a:p>
        </p:txBody>
      </p:sp>
    </p:spTree>
    <p:extLst>
      <p:ext uri="{BB962C8B-B14F-4D97-AF65-F5344CB8AC3E}">
        <p14:creationId xmlns:p14="http://schemas.microsoft.com/office/powerpoint/2010/main" val="3793137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26</a:t>
            </a:fld>
            <a:endParaRPr lang="tr-TR"/>
          </a:p>
        </p:txBody>
      </p:sp>
    </p:spTree>
    <p:extLst>
      <p:ext uri="{BB962C8B-B14F-4D97-AF65-F5344CB8AC3E}">
        <p14:creationId xmlns:p14="http://schemas.microsoft.com/office/powerpoint/2010/main" val="4019259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27</a:t>
            </a:fld>
            <a:endParaRPr lang="tr-TR"/>
          </a:p>
        </p:txBody>
      </p:sp>
    </p:spTree>
    <p:extLst>
      <p:ext uri="{BB962C8B-B14F-4D97-AF65-F5344CB8AC3E}">
        <p14:creationId xmlns:p14="http://schemas.microsoft.com/office/powerpoint/2010/main" val="2805881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7 Başlık"/>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8 Alt Başlık"/>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27 Veri Yer Tutucusu"/>
          <p:cNvSpPr>
            <a:spLocks noGrp="1"/>
          </p:cNvSpPr>
          <p:nvPr>
            <p:ph type="dt" sz="half" idx="10"/>
          </p:nvPr>
        </p:nvSpPr>
        <p:spPr bwMode="auto">
          <a:xfrm rot="5400000">
            <a:off x="7764621" y="1174097"/>
            <a:ext cx="2286000" cy="381000"/>
          </a:xfrm>
        </p:spPr>
        <p:txBody>
          <a:bodyPr/>
          <a:lstStyle/>
          <a:p>
            <a:fld id="{099275E6-BDB1-4AC3-815C-2C2D22452163}" type="datetime1">
              <a:rPr lang="tr-TR" smtClean="0"/>
              <a:t>16.11.2020</a:t>
            </a:fld>
            <a:endParaRPr lang="tr-TR"/>
          </a:p>
        </p:txBody>
      </p:sp>
      <p:sp>
        <p:nvSpPr>
          <p:cNvPr id="17" name="16 Altbilgi Yer Tutucusu"/>
          <p:cNvSpPr>
            <a:spLocks noGrp="1"/>
          </p:cNvSpPr>
          <p:nvPr>
            <p:ph type="ftr" sz="quarter" idx="11"/>
          </p:nvPr>
        </p:nvSpPr>
        <p:spPr bwMode="auto">
          <a:xfrm rot="5400000">
            <a:off x="7077269" y="4181669"/>
            <a:ext cx="3657600" cy="384048"/>
          </a:xfrm>
        </p:spPr>
        <p:txBody>
          <a:bodyPr/>
          <a:lstStyle/>
          <a:p>
            <a:endParaRPr lang="tr-TR"/>
          </a:p>
        </p:txBody>
      </p:sp>
      <p:sp>
        <p:nvSpPr>
          <p:cNvPr id="10" name="9 Dikdörtgen"/>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Dikdörtgen"/>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Dikdörtgen"/>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üz Bağlayıcı"/>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Düz Bağlayıcı"/>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Düz Bağlayıcı"/>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Düz Bağlayıcı"/>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Düz Bağlayıcı"/>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Düz Bağlayıcı"/>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Dikdörtgen"/>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Oval"/>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Oval"/>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Oval"/>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Oval"/>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Oval"/>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Slayt Numarası Yer Tutucusu"/>
          <p:cNvSpPr>
            <a:spLocks noGrp="1"/>
          </p:cNvSpPr>
          <p:nvPr>
            <p:ph type="sldNum" sz="quarter" idx="12"/>
          </p:nvPr>
        </p:nvSpPr>
        <p:spPr bwMode="auto">
          <a:xfrm>
            <a:off x="1325544" y="4928702"/>
            <a:ext cx="609600" cy="517524"/>
          </a:xfrm>
        </p:spPr>
        <p:txBody>
          <a:bodyPr/>
          <a:lstStyle/>
          <a:p>
            <a:fld id="{DE121D1B-9491-4A5F-BD01-A1B3B0B623A2}" type="slidenum">
              <a:rPr lang="tr-TR" smtClean="0"/>
              <a:pPr/>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8" name="7 İçerik Yer Tutucusu"/>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6 Veri Yer Tutucusu"/>
          <p:cNvSpPr>
            <a:spLocks noGrp="1"/>
          </p:cNvSpPr>
          <p:nvPr>
            <p:ph type="dt" sz="half" idx="14"/>
          </p:nvPr>
        </p:nvSpPr>
        <p:spPr/>
        <p:txBody>
          <a:bodyPr rtlCol="0"/>
          <a:lstStyle/>
          <a:p>
            <a:fld id="{0D220B3B-728E-46A1-B4E5-2D1C609AAE18}" type="datetime1">
              <a:rPr lang="tr-TR" smtClean="0"/>
              <a:t>16.11.2020</a:t>
            </a:fld>
            <a:endParaRPr lang="tr-TR"/>
          </a:p>
        </p:txBody>
      </p:sp>
      <p:sp>
        <p:nvSpPr>
          <p:cNvPr id="9" name="8 Slayt Numarası Yer Tutucusu"/>
          <p:cNvSpPr>
            <a:spLocks noGrp="1"/>
          </p:cNvSpPr>
          <p:nvPr>
            <p:ph type="sldNum" sz="quarter" idx="15"/>
          </p:nvPr>
        </p:nvSpPr>
        <p:spPr/>
        <p:txBody>
          <a:bodyPr rtlCol="0"/>
          <a:lstStyle/>
          <a:p>
            <a:fld id="{DE121D1B-9491-4A5F-BD01-A1B3B0B623A2}" type="slidenum">
              <a:rPr lang="tr-TR" smtClean="0"/>
              <a:pPr/>
              <a:t>‹#›</a:t>
            </a:fld>
            <a:endParaRPr lang="tr-TR"/>
          </a:p>
        </p:txBody>
      </p:sp>
      <p:sp>
        <p:nvSpPr>
          <p:cNvPr id="10" name="9 Altbilgi Yer Tutucusu"/>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1 Başlık"/>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2 Metin Yer Tutucusu"/>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3 Veri Yer Tutucusu"/>
          <p:cNvSpPr>
            <a:spLocks noGrp="1"/>
          </p:cNvSpPr>
          <p:nvPr>
            <p:ph type="dt" sz="half" idx="10"/>
          </p:nvPr>
        </p:nvSpPr>
        <p:spPr bwMode="auto">
          <a:xfrm rot="5400000">
            <a:off x="7763256" y="1170432"/>
            <a:ext cx="2286000" cy="381000"/>
          </a:xfrm>
        </p:spPr>
        <p:txBody>
          <a:bodyPr/>
          <a:lstStyle/>
          <a:p>
            <a:fld id="{9E4052E5-45F5-4075-8D9E-4FAD178C4C64}" type="datetime1">
              <a:rPr lang="tr-TR" smtClean="0"/>
              <a:t>16.11.2020</a:t>
            </a:fld>
            <a:endParaRPr lang="tr-TR"/>
          </a:p>
        </p:txBody>
      </p:sp>
      <p:sp>
        <p:nvSpPr>
          <p:cNvPr id="5" name="4 Altbilgi Yer Tutucusu"/>
          <p:cNvSpPr>
            <a:spLocks noGrp="1"/>
          </p:cNvSpPr>
          <p:nvPr>
            <p:ph type="ftr" sz="quarter" idx="11"/>
          </p:nvPr>
        </p:nvSpPr>
        <p:spPr bwMode="auto">
          <a:xfrm rot="5400000">
            <a:off x="7077456" y="4178808"/>
            <a:ext cx="3657600" cy="384048"/>
          </a:xfrm>
        </p:spPr>
        <p:txBody>
          <a:bodyPr/>
          <a:lstStyle/>
          <a:p>
            <a:endParaRPr lang="tr-TR"/>
          </a:p>
        </p:txBody>
      </p:sp>
      <p:sp>
        <p:nvSpPr>
          <p:cNvPr id="9" name="8 Dikdörtgen"/>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Dikdörtgen"/>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ikdörtgen"/>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üz Bağlayıcı"/>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Düz Bağlayıcı"/>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Düz Bağlayıcı"/>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Düz Bağlayıcı"/>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Düz Bağlayıcı"/>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Dikdörtgen"/>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Oval"/>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Oval"/>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Oval"/>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Oval"/>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Oval"/>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Düz Bağlayıcı"/>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Slayt Numarası Yer Tutucusu"/>
          <p:cNvSpPr>
            <a:spLocks noGrp="1"/>
          </p:cNvSpPr>
          <p:nvPr>
            <p:ph type="sldNum" sz="quarter" idx="12"/>
          </p:nvPr>
        </p:nvSpPr>
        <p:spPr bwMode="auto">
          <a:xfrm>
            <a:off x="1340616" y="4928702"/>
            <a:ext cx="609600" cy="517524"/>
          </a:xfrm>
        </p:spPr>
        <p:txBody>
          <a:bodyPr/>
          <a:lstStyle/>
          <a:p>
            <a:fld id="{DE121D1B-9491-4A5F-BD01-A1B3B0B623A2}" type="slidenum">
              <a:rPr lang="tr-TR" smtClean="0"/>
              <a:pPr/>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5" name="4 Veri Yer Tutucusu"/>
          <p:cNvSpPr>
            <a:spLocks noGrp="1"/>
          </p:cNvSpPr>
          <p:nvPr>
            <p:ph type="dt" sz="half" idx="10"/>
          </p:nvPr>
        </p:nvSpPr>
        <p:spPr/>
        <p:txBody>
          <a:bodyPr/>
          <a:lstStyle/>
          <a:p>
            <a:fld id="{205F287B-E325-4848-85CA-2FFA31942568}" type="datetime1">
              <a:rPr lang="tr-TR" smtClean="0"/>
              <a:t>16.11.2020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
        <p:nvSpPr>
          <p:cNvPr id="9" name="8 İçerik Yer Tutucusu"/>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10 İçerik Yer Tutucusu"/>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6 Veri Yer Tutucusu"/>
          <p:cNvSpPr>
            <a:spLocks noGrp="1"/>
          </p:cNvSpPr>
          <p:nvPr>
            <p:ph type="dt" sz="half" idx="10"/>
          </p:nvPr>
        </p:nvSpPr>
        <p:spPr/>
        <p:txBody>
          <a:bodyPr/>
          <a:lstStyle/>
          <a:p>
            <a:fld id="{5F0F2696-49BD-49B7-870B-61F0042AE0DB}" type="datetime1">
              <a:rPr lang="tr-TR" smtClean="0"/>
              <a:t>16.11.2020</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
        <p:nvSpPr>
          <p:cNvPr id="11" name="10 İçerik Yer Tutucusu"/>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12 İçerik Yer Tutucusu"/>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11 Metin Yer Tutucusu"/>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13 Metin Yer Tutucusu"/>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6" name="5 Veri Yer Tutucusu"/>
          <p:cNvSpPr>
            <a:spLocks noGrp="1"/>
          </p:cNvSpPr>
          <p:nvPr>
            <p:ph type="dt" sz="half" idx="10"/>
          </p:nvPr>
        </p:nvSpPr>
        <p:spPr/>
        <p:txBody>
          <a:bodyPr rtlCol="0"/>
          <a:lstStyle/>
          <a:p>
            <a:fld id="{8451CD09-A8DF-49F8-8528-5C0A35A50562}" type="datetime1">
              <a:rPr lang="tr-TR" smtClean="0"/>
              <a:t>16.11.2020</a:t>
            </a:fld>
            <a:endParaRPr lang="tr-TR"/>
          </a:p>
        </p:txBody>
      </p:sp>
      <p:sp>
        <p:nvSpPr>
          <p:cNvPr id="7" name="6 Slayt Numarası Yer Tutucusu"/>
          <p:cNvSpPr>
            <a:spLocks noGrp="1"/>
          </p:cNvSpPr>
          <p:nvPr>
            <p:ph type="sldNum" sz="quarter" idx="11"/>
          </p:nvPr>
        </p:nvSpPr>
        <p:spPr/>
        <p:txBody>
          <a:bodyPr rtlCol="0"/>
          <a:lstStyle/>
          <a:p>
            <a:fld id="{DE121D1B-9491-4A5F-BD01-A1B3B0B623A2}" type="slidenum">
              <a:rPr lang="tr-TR" smtClean="0"/>
              <a:pPr/>
              <a:t>‹#›</a:t>
            </a:fld>
            <a:endParaRPr lang="tr-TR"/>
          </a:p>
        </p:txBody>
      </p:sp>
      <p:sp>
        <p:nvSpPr>
          <p:cNvPr id="8" name="7 Altbilgi Yer Tutucusu"/>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EB691C94-E58A-43B5-AAB1-9CD9F36DD72A}" type="datetime1">
              <a:rPr lang="tr-TR" smtClean="0"/>
              <a:t>16.11.2020</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9 Düz Bağlayıcı"/>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Başlık"/>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2 Metin Yer Tutucusu"/>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7 Düz Bağlayıcı"/>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Düz Bağlayıcı"/>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Düz Bağlayıcı"/>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Dikdörtgen"/>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İçerik Yer Tutucusu"/>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20 Veri Yer Tutucusu"/>
          <p:cNvSpPr>
            <a:spLocks noGrp="1"/>
          </p:cNvSpPr>
          <p:nvPr>
            <p:ph type="dt" sz="half" idx="14"/>
          </p:nvPr>
        </p:nvSpPr>
        <p:spPr/>
        <p:txBody>
          <a:bodyPr rtlCol="0"/>
          <a:lstStyle/>
          <a:p>
            <a:fld id="{2A18CDB5-35C5-4392-B161-325FA3E18DC3}" type="datetime1">
              <a:rPr lang="tr-TR" smtClean="0"/>
              <a:t>16.11.2020</a:t>
            </a:fld>
            <a:endParaRPr lang="tr-TR"/>
          </a:p>
        </p:txBody>
      </p:sp>
      <p:sp>
        <p:nvSpPr>
          <p:cNvPr id="22" name="21 Slayt Numarası Yer Tutucusu"/>
          <p:cNvSpPr>
            <a:spLocks noGrp="1"/>
          </p:cNvSpPr>
          <p:nvPr>
            <p:ph type="sldNum" sz="quarter" idx="15"/>
          </p:nvPr>
        </p:nvSpPr>
        <p:spPr/>
        <p:txBody>
          <a:bodyPr rtlCol="0"/>
          <a:lstStyle/>
          <a:p>
            <a:fld id="{DE121D1B-9491-4A5F-BD01-A1B3B0B623A2}" type="slidenum">
              <a:rPr lang="tr-TR" smtClean="0"/>
              <a:pPr/>
              <a:t>‹#›</a:t>
            </a:fld>
            <a:endParaRPr lang="tr-TR"/>
          </a:p>
        </p:txBody>
      </p:sp>
      <p:sp>
        <p:nvSpPr>
          <p:cNvPr id="23" name="22 Altbilgi Yer Tutucusu"/>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8 Düz Bağlayıcı"/>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Başlık"/>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2 Resim Yer Tutucusu"/>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3 Metin Yer Tutucusu"/>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9 Düz Bağlayıcı"/>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Dikdörtgen"/>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Düz Bağlayıcı"/>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Düz Bağlayıcı"/>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Veri Yer Tutucusu"/>
          <p:cNvSpPr>
            <a:spLocks noGrp="1"/>
          </p:cNvSpPr>
          <p:nvPr>
            <p:ph type="dt" sz="half" idx="10"/>
          </p:nvPr>
        </p:nvSpPr>
        <p:spPr/>
        <p:txBody>
          <a:bodyPr rtlCol="0"/>
          <a:lstStyle/>
          <a:p>
            <a:fld id="{82763EF9-8C7B-40A2-81BB-789A43B8E2A7}" type="datetime1">
              <a:rPr lang="tr-TR" smtClean="0"/>
              <a:t>16.11.2020</a:t>
            </a:fld>
            <a:endParaRPr lang="tr-TR"/>
          </a:p>
        </p:txBody>
      </p:sp>
      <p:sp>
        <p:nvSpPr>
          <p:cNvPr id="18" name="17 Slayt Numarası Yer Tutucusu"/>
          <p:cNvSpPr>
            <a:spLocks noGrp="1"/>
          </p:cNvSpPr>
          <p:nvPr>
            <p:ph type="sldNum" sz="quarter" idx="11"/>
          </p:nvPr>
        </p:nvSpPr>
        <p:spPr/>
        <p:txBody>
          <a:bodyPr rtlCol="0"/>
          <a:lstStyle/>
          <a:p>
            <a:fld id="{DE121D1B-9491-4A5F-BD01-A1B3B0B623A2}" type="slidenum">
              <a:rPr lang="tr-TR" smtClean="0"/>
              <a:pPr/>
              <a:t>‹#›</a:t>
            </a:fld>
            <a:endParaRPr lang="tr-TR"/>
          </a:p>
        </p:txBody>
      </p:sp>
      <p:sp>
        <p:nvSpPr>
          <p:cNvPr id="21" name="20 Altbilgi Yer Tutucusu"/>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3" name="2 Dikey Metin Yer Tutucusu"/>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1254B87F-80D3-4B89-8E7A-FA2EED8BD7A5}" type="datetime1">
              <a:rPr lang="tr-TR" smtClean="0"/>
              <a:t>16.11.2020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2 Dikey Metin Yer Tutucusu"/>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C3CD87DE-69B0-4BAD-A937-F2DCE546BFD7}" type="datetime1">
              <a:rPr lang="tr-TR" smtClean="0"/>
              <a:t>16.11.2020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Düz Bağlayıcı"/>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Başlık Yer Tutucusu"/>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12 Metin Yer Tutucusu"/>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13 Veri Yer Tutucusu"/>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EC7E1F2-290D-48B4-B19D-0927333BE67A}" type="datetime1">
              <a:rPr lang="tr-TR" smtClean="0"/>
              <a:t>16.11.2020</a:t>
            </a:fld>
            <a:endParaRPr lang="tr-TR"/>
          </a:p>
        </p:txBody>
      </p:sp>
      <p:sp>
        <p:nvSpPr>
          <p:cNvPr id="3" name="2 Altbilgi Yer Tutucusu"/>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6 Düz Bağlayıcı"/>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Düz Bağlayıcı"/>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Dikdörtgen"/>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Slayt Numarası Yer Tutucusu"/>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DE121D1B-9491-4A5F-BD01-A1B3B0B623A2}"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Başlık"/>
          <p:cNvSpPr>
            <a:spLocks noGrp="1"/>
          </p:cNvSpPr>
          <p:nvPr>
            <p:ph type="ctrTitle"/>
          </p:nvPr>
        </p:nvSpPr>
        <p:spPr>
          <a:xfrm>
            <a:off x="928662" y="1357298"/>
            <a:ext cx="7772400" cy="1171583"/>
          </a:xfrm>
        </p:spPr>
        <p:txBody>
          <a:bodyPr>
            <a:normAutofit/>
          </a:bodyPr>
          <a:lstStyle/>
          <a:p>
            <a:pPr algn="ctr"/>
            <a:r>
              <a:rPr lang="tr-TR" sz="3200" dirty="0"/>
              <a:t>UZAKTAN EĞİTİM TEKNOLOJİLERİ</a:t>
            </a:r>
          </a:p>
        </p:txBody>
      </p:sp>
      <p:sp>
        <p:nvSpPr>
          <p:cNvPr id="5" name="4 Alt Başlık"/>
          <p:cNvSpPr>
            <a:spLocks noGrp="1"/>
          </p:cNvSpPr>
          <p:nvPr>
            <p:ph type="subTitle" idx="1"/>
          </p:nvPr>
        </p:nvSpPr>
        <p:spPr>
          <a:xfrm>
            <a:off x="1371600" y="3714752"/>
            <a:ext cx="6915176" cy="2643206"/>
          </a:xfrm>
        </p:spPr>
        <p:txBody>
          <a:bodyPr>
            <a:normAutofit fontScale="92500" lnSpcReduction="10000"/>
          </a:bodyPr>
          <a:lstStyle/>
          <a:p>
            <a:pPr algn="ctr"/>
            <a:r>
              <a:rPr lang="tr-TR" sz="2200" b="0" dirty="0"/>
              <a:t>Prof. Dr. Tuncay YİĞİT</a:t>
            </a:r>
          </a:p>
          <a:p>
            <a:pPr algn="ctr"/>
            <a:r>
              <a:rPr lang="tr-TR" sz="2200" b="0" dirty="0"/>
              <a:t>Süleyman Demirel Üniversitesi</a:t>
            </a:r>
          </a:p>
          <a:p>
            <a:pPr algn="ctr"/>
            <a:r>
              <a:rPr lang="tr-TR" sz="2200" b="0" dirty="0"/>
              <a:t>Bilgisayar Mühendisliği Bölümü</a:t>
            </a:r>
          </a:p>
          <a:p>
            <a:pPr algn="ctr"/>
            <a:endParaRPr lang="tr-TR" sz="2200" b="0" dirty="0"/>
          </a:p>
          <a:p>
            <a:pPr algn="ctr"/>
            <a:endParaRPr lang="tr-TR" sz="2200" b="0" dirty="0"/>
          </a:p>
          <a:p>
            <a:pPr algn="ctr"/>
            <a:endParaRPr lang="tr-TR" sz="2000" b="0" dirty="0"/>
          </a:p>
          <a:p>
            <a:pPr algn="ctr"/>
            <a:r>
              <a:rPr lang="tr-TR" sz="2000" b="0" dirty="0"/>
              <a:t>ISPARTA - 2020</a:t>
            </a:r>
          </a:p>
        </p:txBody>
      </p:sp>
      <p:sp>
        <p:nvSpPr>
          <p:cNvPr id="3" name="Slayt Numarası Yer Tutucusu 2"/>
          <p:cNvSpPr>
            <a:spLocks noGrp="1"/>
          </p:cNvSpPr>
          <p:nvPr>
            <p:ph type="sldNum" sz="quarter" idx="12"/>
          </p:nvPr>
        </p:nvSpPr>
        <p:spPr/>
        <p:txBody>
          <a:bodyPr/>
          <a:lstStyle/>
          <a:p>
            <a:fld id="{DE121D1B-9491-4A5F-BD01-A1B3B0B623A2}" type="slidenum">
              <a:rPr lang="tr-TR" smtClean="0"/>
              <a:pPr/>
              <a:t>1</a:t>
            </a:fld>
            <a:endParaRPr lang="tr-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ALGI NEDİR?</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1" name="Metin kutusu 10">
            <a:extLst>
              <a:ext uri="{FF2B5EF4-FFF2-40B4-BE49-F238E27FC236}">
                <a16:creationId xmlns:a16="http://schemas.microsoft.com/office/drawing/2014/main" id="{8C69C433-AA2E-41DA-8B80-DDD3D79DE160}"/>
              </a:ext>
            </a:extLst>
          </p:cNvPr>
          <p:cNvSpPr txBox="1"/>
          <p:nvPr/>
        </p:nvSpPr>
        <p:spPr>
          <a:xfrm>
            <a:off x="4303127" y="1484784"/>
            <a:ext cx="3836640" cy="2232984"/>
          </a:xfrm>
          <a:prstGeom prst="rect">
            <a:avLst/>
          </a:prstGeom>
          <a:noFill/>
        </p:spPr>
        <p:txBody>
          <a:bodyPr wrap="square">
            <a:spAutoFit/>
          </a:bodyPr>
          <a:lstStyle/>
          <a:p>
            <a:pPr eaLnBrk="0" hangingPunct="0">
              <a:lnSpc>
                <a:spcPct val="150000"/>
              </a:lnSpc>
              <a:spcBef>
                <a:spcPct val="50000"/>
              </a:spcBef>
            </a:pPr>
            <a:r>
              <a:rPr lang="tr-TR" altLang="en-TR" sz="2400" dirty="0">
                <a:latin typeface="Tahoma" panose="020B0604030504040204" pitchFamily="34" charset="0"/>
              </a:rPr>
              <a:t>Algılama, beş duyu ile elde edilen her türlü bilginin beynimizde şekillenmesi ve görünüm kazanmasıdır. </a:t>
            </a:r>
          </a:p>
        </p:txBody>
      </p:sp>
      <p:pic>
        <p:nvPicPr>
          <p:cNvPr id="7" name="Picture 5">
            <a:extLst>
              <a:ext uri="{FF2B5EF4-FFF2-40B4-BE49-F238E27FC236}">
                <a16:creationId xmlns:a16="http://schemas.microsoft.com/office/drawing/2014/main" id="{099789ED-7953-634B-9099-A13C2F6FB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34988" y="1665288"/>
            <a:ext cx="3494002" cy="458997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49168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ALGI NEDİR?</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3</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 name="Rectangle 4">
            <a:extLst>
              <a:ext uri="{FF2B5EF4-FFF2-40B4-BE49-F238E27FC236}">
                <a16:creationId xmlns:a16="http://schemas.microsoft.com/office/drawing/2014/main" id="{479D6131-0C00-764D-9D61-597385F9EF4D}"/>
              </a:ext>
            </a:extLst>
          </p:cNvPr>
          <p:cNvSpPr/>
          <p:nvPr/>
        </p:nvSpPr>
        <p:spPr>
          <a:xfrm>
            <a:off x="468964" y="1885834"/>
            <a:ext cx="7660051" cy="1882118"/>
          </a:xfrm>
          <a:prstGeom prst="rect">
            <a:avLst/>
          </a:prstGeom>
        </p:spPr>
        <p:txBody>
          <a:bodyPr wrap="square">
            <a:spAutoFit/>
          </a:bodyPr>
          <a:lstStyle/>
          <a:p>
            <a:pPr eaLnBrk="0" hangingPunct="0">
              <a:lnSpc>
                <a:spcPct val="170000"/>
              </a:lnSpc>
              <a:spcBef>
                <a:spcPct val="50000"/>
              </a:spcBef>
            </a:pPr>
            <a:r>
              <a:rPr lang="tr-TR" altLang="en-TR" sz="2400" dirty="0">
                <a:latin typeface="Tahoma" panose="020B0604030504040204" pitchFamily="34" charset="0"/>
              </a:rPr>
              <a:t>Algılama, çevremizdekileri </a:t>
            </a:r>
            <a:r>
              <a:rPr lang="tr-TR" altLang="en-TR" sz="2400" b="1" dirty="0">
                <a:latin typeface="Tahoma" panose="020B0604030504040204" pitchFamily="34" charset="0"/>
              </a:rPr>
              <a:t>anlamamız</a:t>
            </a:r>
            <a:r>
              <a:rPr lang="tr-TR" altLang="en-TR" sz="2400" dirty="0">
                <a:latin typeface="Tahoma" panose="020B0604030504040204" pitchFamily="34" charset="0"/>
              </a:rPr>
              <a:t>, </a:t>
            </a:r>
            <a:r>
              <a:rPr lang="tr-TR" altLang="en-TR" sz="2400" b="1" dirty="0">
                <a:latin typeface="Tahoma" panose="020B0604030504040204" pitchFamily="34" charset="0"/>
              </a:rPr>
              <a:t>anlamlandırma</a:t>
            </a:r>
            <a:r>
              <a:rPr lang="tr-TR" altLang="en-TR" sz="2400" dirty="0">
                <a:latin typeface="Tahoma" panose="020B0604030504040204" pitchFamily="34" charset="0"/>
              </a:rPr>
              <a:t> ve </a:t>
            </a:r>
            <a:r>
              <a:rPr lang="tr-TR" altLang="en-TR" sz="2400" b="1" dirty="0">
                <a:latin typeface="Tahoma" panose="020B0604030504040204" pitchFamily="34" charset="0"/>
              </a:rPr>
              <a:t>değerlendirmeler </a:t>
            </a:r>
            <a:r>
              <a:rPr lang="tr-TR" altLang="en-TR" sz="2400" dirty="0">
                <a:latin typeface="Tahoma" panose="020B0604030504040204" pitchFamily="34" charset="0"/>
              </a:rPr>
              <a:t>yapmamız için gerekli ve önemli bir süreçtir. </a:t>
            </a:r>
          </a:p>
        </p:txBody>
      </p:sp>
    </p:spTree>
    <p:extLst>
      <p:ext uri="{BB962C8B-B14F-4D97-AF65-F5344CB8AC3E}">
        <p14:creationId xmlns:p14="http://schemas.microsoft.com/office/powerpoint/2010/main" val="811976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İletişim Sürecinin Temel Öğeleri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4</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4</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27" name="Text Box 3">
            <a:extLst>
              <a:ext uri="{FF2B5EF4-FFF2-40B4-BE49-F238E27FC236}">
                <a16:creationId xmlns:a16="http://schemas.microsoft.com/office/drawing/2014/main" id="{E6EF746A-0C29-9040-8182-C9F3D85F8C21}"/>
              </a:ext>
            </a:extLst>
          </p:cNvPr>
          <p:cNvSpPr txBox="1">
            <a:spLocks noChangeArrowheads="1"/>
          </p:cNvSpPr>
          <p:nvPr/>
        </p:nvSpPr>
        <p:spPr bwMode="auto">
          <a:xfrm>
            <a:off x="539552" y="2257461"/>
            <a:ext cx="1477360" cy="2546350"/>
          </a:xfrm>
          <a:prstGeom prst="rect">
            <a:avLst/>
          </a:prstGeom>
          <a:noFill/>
          <a:ln w="9525">
            <a:solidFill>
              <a:schemeClr val="tx1"/>
            </a:solidFill>
            <a:miter lim="800000"/>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square">
            <a:spAutoFit/>
          </a:bodyPr>
          <a:lstStyle>
            <a:lvl1pPr marL="171450" indent="-171450" algn="l">
              <a:defRPr>
                <a:solidFill>
                  <a:schemeClr val="tx1"/>
                </a:solidFill>
                <a:latin typeface="Arial" panose="020B0604020202020204" pitchFamily="34" charset="0"/>
              </a:defRPr>
            </a:lvl1pPr>
            <a:lvl2pPr algn="l">
              <a:defRPr>
                <a:solidFill>
                  <a:schemeClr val="tx1"/>
                </a:solidFill>
                <a:latin typeface="Arial" panose="020B0604020202020204" pitchFamily="34" charset="0"/>
              </a:defRPr>
            </a:lvl2pPr>
            <a:lvl3pPr algn="l">
              <a:defRPr>
                <a:solidFill>
                  <a:schemeClr val="tx1"/>
                </a:solidFill>
                <a:latin typeface="Arial" panose="020B0604020202020204" pitchFamily="34" charset="0"/>
              </a:defRPr>
            </a:lvl3pPr>
            <a:lvl4pPr algn="l">
              <a:defRPr>
                <a:solidFill>
                  <a:schemeClr val="tx1"/>
                </a:solidFill>
                <a:latin typeface="Arial" panose="020B0604020202020204" pitchFamily="34" charset="0"/>
              </a:defRPr>
            </a:lvl4pPr>
            <a:lvl5pPr algn="l">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tr-TR" altLang="en-TR" sz="1600" b="1" dirty="0">
                <a:solidFill>
                  <a:srgbClr val="CC3300"/>
                </a:solidFill>
                <a:latin typeface="Trebuchet MS" panose="020B0703020202090204" pitchFamily="34" charset="0"/>
              </a:rPr>
              <a:t>KAYNAK</a:t>
            </a:r>
          </a:p>
          <a:p>
            <a:pPr>
              <a:spcBef>
                <a:spcPct val="50000"/>
              </a:spcBef>
            </a:pPr>
            <a:r>
              <a:rPr lang="tr-TR" altLang="en-TR" sz="1600" b="1" u="sng" dirty="0">
                <a:latin typeface="Trebuchet MS" panose="020B0703020202090204" pitchFamily="34" charset="0"/>
              </a:rPr>
              <a:t>Davranışlar</a:t>
            </a:r>
          </a:p>
          <a:p>
            <a:pPr>
              <a:spcBef>
                <a:spcPct val="50000"/>
              </a:spcBef>
              <a:buFontTx/>
              <a:buChar char="•"/>
            </a:pPr>
            <a:r>
              <a:rPr lang="tr-TR" altLang="en-TR" sz="1600" b="1" dirty="0">
                <a:latin typeface="Trebuchet MS" panose="020B0703020202090204" pitchFamily="34" charset="0"/>
              </a:rPr>
              <a:t>Fikir</a:t>
            </a:r>
          </a:p>
          <a:p>
            <a:pPr>
              <a:spcBef>
                <a:spcPct val="50000"/>
              </a:spcBef>
              <a:buFontTx/>
              <a:buChar char="•"/>
            </a:pPr>
            <a:r>
              <a:rPr lang="tr-TR" altLang="en-TR" sz="1600" b="1" dirty="0">
                <a:latin typeface="Trebuchet MS" panose="020B0703020202090204" pitchFamily="34" charset="0"/>
              </a:rPr>
              <a:t>Bilgi</a:t>
            </a:r>
          </a:p>
          <a:p>
            <a:pPr>
              <a:spcBef>
                <a:spcPct val="50000"/>
              </a:spcBef>
              <a:buFontTx/>
              <a:buChar char="•"/>
            </a:pPr>
            <a:r>
              <a:rPr lang="tr-TR" altLang="en-TR" sz="1600" b="1" dirty="0">
                <a:latin typeface="Trebuchet MS" panose="020B0703020202090204" pitchFamily="34" charset="0"/>
              </a:rPr>
              <a:t>Duygu</a:t>
            </a:r>
          </a:p>
          <a:p>
            <a:pPr>
              <a:spcBef>
                <a:spcPct val="50000"/>
              </a:spcBef>
              <a:buFontTx/>
              <a:buChar char="•"/>
            </a:pPr>
            <a:r>
              <a:rPr lang="tr-TR" altLang="en-TR" sz="1600" b="1" dirty="0">
                <a:latin typeface="Trebuchet MS" panose="020B0703020202090204" pitchFamily="34" charset="0"/>
              </a:rPr>
              <a:t>Tutum</a:t>
            </a:r>
          </a:p>
          <a:p>
            <a:pPr>
              <a:spcBef>
                <a:spcPct val="50000"/>
              </a:spcBef>
              <a:buFontTx/>
              <a:buChar char="•"/>
            </a:pPr>
            <a:r>
              <a:rPr lang="tr-TR" altLang="en-TR" sz="1600" b="1" dirty="0">
                <a:latin typeface="Trebuchet MS" panose="020B0703020202090204" pitchFamily="34" charset="0"/>
              </a:rPr>
              <a:t>Beceri</a:t>
            </a:r>
          </a:p>
        </p:txBody>
      </p:sp>
      <p:sp>
        <p:nvSpPr>
          <p:cNvPr id="28" name="Text Box 4">
            <a:extLst>
              <a:ext uri="{FF2B5EF4-FFF2-40B4-BE49-F238E27FC236}">
                <a16:creationId xmlns:a16="http://schemas.microsoft.com/office/drawing/2014/main" id="{C28BAB08-6B18-6544-A767-54E69E8525C6}"/>
              </a:ext>
            </a:extLst>
          </p:cNvPr>
          <p:cNvSpPr txBox="1">
            <a:spLocks noChangeArrowheads="1"/>
          </p:cNvSpPr>
          <p:nvPr/>
        </p:nvSpPr>
        <p:spPr bwMode="auto">
          <a:xfrm>
            <a:off x="2267744" y="2257461"/>
            <a:ext cx="1745298" cy="2546350"/>
          </a:xfrm>
          <a:prstGeom prst="rect">
            <a:avLst/>
          </a:prstGeom>
          <a:noFill/>
          <a:ln w="9525">
            <a:solidFill>
              <a:schemeClr val="tx1"/>
            </a:solidFill>
            <a:miter lim="800000"/>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square">
            <a:spAutoFit/>
          </a:bodyPr>
          <a:lstStyle>
            <a:lvl1pPr marL="171450" indent="-171450" algn="l">
              <a:defRPr>
                <a:solidFill>
                  <a:schemeClr val="tx1"/>
                </a:solidFill>
                <a:latin typeface="Arial" panose="020B0604020202020204" pitchFamily="34" charset="0"/>
              </a:defRPr>
            </a:lvl1pPr>
            <a:lvl2pPr algn="l">
              <a:defRPr>
                <a:solidFill>
                  <a:schemeClr val="tx1"/>
                </a:solidFill>
                <a:latin typeface="Arial" panose="020B0604020202020204" pitchFamily="34" charset="0"/>
              </a:defRPr>
            </a:lvl2pPr>
            <a:lvl3pPr algn="l">
              <a:defRPr>
                <a:solidFill>
                  <a:schemeClr val="tx1"/>
                </a:solidFill>
                <a:latin typeface="Arial" panose="020B0604020202020204" pitchFamily="34" charset="0"/>
              </a:defRPr>
            </a:lvl3pPr>
            <a:lvl4pPr algn="l">
              <a:defRPr>
                <a:solidFill>
                  <a:schemeClr val="tx1"/>
                </a:solidFill>
                <a:latin typeface="Arial" panose="020B0604020202020204" pitchFamily="34" charset="0"/>
              </a:defRPr>
            </a:lvl4pPr>
            <a:lvl5pPr algn="l">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tr-TR" altLang="en-TR" sz="1600" b="1" dirty="0">
                <a:solidFill>
                  <a:srgbClr val="CC3300"/>
                </a:solidFill>
                <a:latin typeface="Trebuchet MS" panose="020B0703020202090204" pitchFamily="34" charset="0"/>
              </a:rPr>
              <a:t>MESAJ</a:t>
            </a:r>
          </a:p>
          <a:p>
            <a:pPr algn="ctr">
              <a:spcBef>
                <a:spcPct val="50000"/>
              </a:spcBef>
            </a:pPr>
            <a:r>
              <a:rPr lang="tr-TR" altLang="en-TR" sz="1600" b="1" u="sng" dirty="0">
                <a:latin typeface="Trebuchet MS" panose="020B0703020202090204" pitchFamily="34" charset="0"/>
              </a:rPr>
              <a:t>Semboller</a:t>
            </a:r>
          </a:p>
          <a:p>
            <a:pPr>
              <a:spcBef>
                <a:spcPct val="50000"/>
              </a:spcBef>
              <a:buFontTx/>
              <a:buChar char="•"/>
            </a:pPr>
            <a:r>
              <a:rPr lang="tr-TR" altLang="en-TR" sz="1600" b="1" dirty="0">
                <a:latin typeface="Trebuchet MS" panose="020B0703020202090204" pitchFamily="34" charset="0"/>
              </a:rPr>
              <a:t>Gerçek obje</a:t>
            </a:r>
          </a:p>
          <a:p>
            <a:pPr>
              <a:spcBef>
                <a:spcPct val="50000"/>
              </a:spcBef>
              <a:buFontTx/>
              <a:buChar char="•"/>
            </a:pPr>
            <a:r>
              <a:rPr lang="tr-TR" altLang="en-TR" sz="1600" b="1" dirty="0">
                <a:latin typeface="Trebuchet MS" panose="020B0703020202090204" pitchFamily="34" charset="0"/>
              </a:rPr>
              <a:t>Modeller</a:t>
            </a:r>
          </a:p>
          <a:p>
            <a:pPr>
              <a:spcBef>
                <a:spcPct val="50000"/>
              </a:spcBef>
              <a:buFontTx/>
              <a:buChar char="•"/>
            </a:pPr>
            <a:r>
              <a:rPr lang="tr-TR" altLang="en-TR" sz="1600" b="1" dirty="0">
                <a:latin typeface="Trebuchet MS" panose="020B0703020202090204" pitchFamily="34" charset="0"/>
              </a:rPr>
              <a:t>Resim</a:t>
            </a:r>
          </a:p>
          <a:p>
            <a:pPr>
              <a:spcBef>
                <a:spcPct val="50000"/>
              </a:spcBef>
              <a:buFontTx/>
              <a:buChar char="•"/>
            </a:pPr>
            <a:r>
              <a:rPr lang="tr-TR" altLang="en-TR" sz="1600" b="1" dirty="0">
                <a:latin typeface="Trebuchet MS" panose="020B0703020202090204" pitchFamily="34" charset="0"/>
              </a:rPr>
              <a:t>Hareket</a:t>
            </a:r>
          </a:p>
          <a:p>
            <a:pPr>
              <a:spcBef>
                <a:spcPct val="50000"/>
              </a:spcBef>
              <a:buFontTx/>
              <a:buChar char="•"/>
            </a:pPr>
            <a:r>
              <a:rPr lang="tr-TR" altLang="en-TR" sz="1600" b="1" dirty="0">
                <a:latin typeface="Trebuchet MS" panose="020B0703020202090204" pitchFamily="34" charset="0"/>
              </a:rPr>
              <a:t>Ses</a:t>
            </a:r>
          </a:p>
        </p:txBody>
      </p:sp>
      <p:sp>
        <p:nvSpPr>
          <p:cNvPr id="29" name="Text Box 5">
            <a:extLst>
              <a:ext uri="{FF2B5EF4-FFF2-40B4-BE49-F238E27FC236}">
                <a16:creationId xmlns:a16="http://schemas.microsoft.com/office/drawing/2014/main" id="{68DD4F4A-6F36-D841-B0C9-16625C042040}"/>
              </a:ext>
            </a:extLst>
          </p:cNvPr>
          <p:cNvSpPr txBox="1">
            <a:spLocks noChangeArrowheads="1"/>
          </p:cNvSpPr>
          <p:nvPr/>
        </p:nvSpPr>
        <p:spPr bwMode="auto">
          <a:xfrm>
            <a:off x="4283968" y="2257461"/>
            <a:ext cx="2485459" cy="2343077"/>
          </a:xfrm>
          <a:prstGeom prst="rect">
            <a:avLst/>
          </a:prstGeom>
          <a:noFill/>
          <a:ln w="9525">
            <a:solidFill>
              <a:schemeClr val="tx1"/>
            </a:solidFill>
            <a:miter lim="800000"/>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square">
            <a:spAutoFit/>
          </a:bodyPr>
          <a:lstStyle>
            <a:lvl1pPr marL="171450" indent="-171450" algn="l">
              <a:defRPr>
                <a:solidFill>
                  <a:schemeClr val="tx1"/>
                </a:solidFill>
                <a:latin typeface="Arial" panose="020B0604020202020204" pitchFamily="34" charset="0"/>
              </a:defRPr>
            </a:lvl1pPr>
            <a:lvl2pPr algn="l">
              <a:defRPr>
                <a:solidFill>
                  <a:schemeClr val="tx1"/>
                </a:solidFill>
                <a:latin typeface="Arial" panose="020B0604020202020204" pitchFamily="34" charset="0"/>
              </a:defRPr>
            </a:lvl2pPr>
            <a:lvl3pPr algn="l">
              <a:defRPr>
                <a:solidFill>
                  <a:schemeClr val="tx1"/>
                </a:solidFill>
                <a:latin typeface="Arial" panose="020B0604020202020204" pitchFamily="34" charset="0"/>
              </a:defRPr>
            </a:lvl3pPr>
            <a:lvl4pPr algn="l">
              <a:defRPr>
                <a:solidFill>
                  <a:schemeClr val="tx1"/>
                </a:solidFill>
                <a:latin typeface="Arial" panose="020B0604020202020204" pitchFamily="34" charset="0"/>
              </a:defRPr>
            </a:lvl4pPr>
            <a:lvl5pPr algn="l">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tr-TR" altLang="en-TR" sz="1600" b="1" dirty="0">
                <a:solidFill>
                  <a:srgbClr val="CC3300"/>
                </a:solidFill>
                <a:latin typeface="Trebuchet MS" panose="020B0703020202090204" pitchFamily="34" charset="0"/>
              </a:rPr>
              <a:t>KANAL</a:t>
            </a:r>
          </a:p>
          <a:p>
            <a:pPr algn="ctr">
              <a:spcBef>
                <a:spcPct val="50000"/>
              </a:spcBef>
            </a:pPr>
            <a:r>
              <a:rPr lang="tr-TR" altLang="en-TR" sz="1600" b="1" u="sng" dirty="0">
                <a:latin typeface="Trebuchet MS" panose="020B0703020202090204" pitchFamily="34" charset="0"/>
              </a:rPr>
              <a:t>İletici Araç &amp; Yöntemler</a:t>
            </a:r>
          </a:p>
          <a:p>
            <a:pPr>
              <a:spcBef>
                <a:spcPct val="50000"/>
              </a:spcBef>
              <a:buFontTx/>
              <a:buChar char="•"/>
            </a:pPr>
            <a:r>
              <a:rPr lang="tr-TR" altLang="en-TR" sz="1600" b="1" dirty="0">
                <a:latin typeface="Trebuchet MS" panose="020B0703020202090204" pitchFamily="34" charset="0"/>
              </a:rPr>
              <a:t>Sözsüz iletişim</a:t>
            </a:r>
          </a:p>
          <a:p>
            <a:pPr>
              <a:spcBef>
                <a:spcPct val="50000"/>
              </a:spcBef>
              <a:buFontTx/>
              <a:buChar char="•"/>
            </a:pPr>
            <a:r>
              <a:rPr lang="tr-TR" altLang="en-TR" sz="1600" b="1" dirty="0">
                <a:latin typeface="Trebuchet MS" panose="020B0703020202090204" pitchFamily="34" charset="0"/>
              </a:rPr>
              <a:t>Sözlü İletişim</a:t>
            </a:r>
          </a:p>
          <a:p>
            <a:pPr>
              <a:spcBef>
                <a:spcPct val="50000"/>
              </a:spcBef>
              <a:buFontTx/>
              <a:buChar char="•"/>
            </a:pPr>
            <a:r>
              <a:rPr lang="tr-TR" altLang="en-TR" sz="1600" b="1" dirty="0">
                <a:latin typeface="Trebuchet MS" panose="020B0703020202090204" pitchFamily="34" charset="0"/>
              </a:rPr>
              <a:t>Basılı/yazılı araçlar</a:t>
            </a:r>
          </a:p>
          <a:p>
            <a:pPr>
              <a:spcBef>
                <a:spcPct val="50000"/>
              </a:spcBef>
              <a:spcAft>
                <a:spcPct val="30000"/>
              </a:spcAft>
              <a:buFontTx/>
              <a:buChar char="•"/>
            </a:pPr>
            <a:r>
              <a:rPr lang="tr-TR" altLang="en-TR" sz="1600" b="1" dirty="0">
                <a:latin typeface="Trebuchet MS" panose="020B0703020202090204" pitchFamily="34" charset="0"/>
              </a:rPr>
              <a:t>Yöntemler</a:t>
            </a:r>
          </a:p>
          <a:p>
            <a:pPr>
              <a:lnSpc>
                <a:spcPct val="20000"/>
              </a:lnSpc>
              <a:buFontTx/>
              <a:buChar char="•"/>
            </a:pPr>
            <a:endParaRPr lang="tr-TR" altLang="en-TR" sz="1600" b="1" dirty="0">
              <a:latin typeface="Trebuchet MS" panose="020B0703020202090204" pitchFamily="34" charset="0"/>
            </a:endParaRPr>
          </a:p>
        </p:txBody>
      </p:sp>
      <p:sp>
        <p:nvSpPr>
          <p:cNvPr id="30" name="Text Box 6">
            <a:extLst>
              <a:ext uri="{FF2B5EF4-FFF2-40B4-BE49-F238E27FC236}">
                <a16:creationId xmlns:a16="http://schemas.microsoft.com/office/drawing/2014/main" id="{585FD248-EE45-8845-9B31-E0309C61C855}"/>
              </a:ext>
            </a:extLst>
          </p:cNvPr>
          <p:cNvSpPr txBox="1">
            <a:spLocks noChangeArrowheads="1"/>
          </p:cNvSpPr>
          <p:nvPr/>
        </p:nvSpPr>
        <p:spPr bwMode="auto">
          <a:xfrm>
            <a:off x="7020272" y="2257461"/>
            <a:ext cx="1512888" cy="2546350"/>
          </a:xfrm>
          <a:prstGeom prst="rect">
            <a:avLst/>
          </a:prstGeom>
          <a:noFill/>
          <a:ln w="9525">
            <a:solidFill>
              <a:schemeClr val="tx1"/>
            </a:solidFill>
            <a:miter lim="800000"/>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square">
            <a:spAutoFit/>
          </a:bodyPr>
          <a:lstStyle>
            <a:lvl1pPr marL="171450" indent="-171450" algn="l">
              <a:defRPr>
                <a:solidFill>
                  <a:schemeClr val="tx1"/>
                </a:solidFill>
                <a:latin typeface="Arial" panose="020B0604020202020204" pitchFamily="34" charset="0"/>
              </a:defRPr>
            </a:lvl1pPr>
            <a:lvl2pPr algn="l">
              <a:defRPr>
                <a:solidFill>
                  <a:schemeClr val="tx1"/>
                </a:solidFill>
                <a:latin typeface="Arial" panose="020B0604020202020204" pitchFamily="34" charset="0"/>
              </a:defRPr>
            </a:lvl2pPr>
            <a:lvl3pPr algn="l">
              <a:defRPr>
                <a:solidFill>
                  <a:schemeClr val="tx1"/>
                </a:solidFill>
                <a:latin typeface="Arial" panose="020B0604020202020204" pitchFamily="34" charset="0"/>
              </a:defRPr>
            </a:lvl3pPr>
            <a:lvl4pPr algn="l">
              <a:defRPr>
                <a:solidFill>
                  <a:schemeClr val="tx1"/>
                </a:solidFill>
                <a:latin typeface="Arial" panose="020B0604020202020204" pitchFamily="34" charset="0"/>
              </a:defRPr>
            </a:lvl4pPr>
            <a:lvl5pPr algn="l">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tr-TR" altLang="en-TR" sz="1600" b="1" dirty="0">
                <a:solidFill>
                  <a:srgbClr val="CC3300"/>
                </a:solidFill>
                <a:latin typeface="Trebuchet MS" panose="020B0703020202090204" pitchFamily="34" charset="0"/>
              </a:rPr>
              <a:t>ALICI</a:t>
            </a:r>
          </a:p>
          <a:p>
            <a:pPr>
              <a:spcBef>
                <a:spcPct val="50000"/>
              </a:spcBef>
            </a:pPr>
            <a:r>
              <a:rPr lang="tr-TR" altLang="en-TR" sz="1600" b="1" u="sng" dirty="0">
                <a:latin typeface="Trebuchet MS" panose="020B0703020202090204" pitchFamily="34" charset="0"/>
              </a:rPr>
              <a:t>Davranışlar</a:t>
            </a:r>
          </a:p>
          <a:p>
            <a:pPr>
              <a:spcBef>
                <a:spcPct val="50000"/>
              </a:spcBef>
              <a:buFontTx/>
              <a:buChar char="•"/>
            </a:pPr>
            <a:r>
              <a:rPr lang="tr-TR" altLang="en-TR" sz="1600" b="1" dirty="0">
                <a:latin typeface="Trebuchet MS" panose="020B0703020202090204" pitchFamily="34" charset="0"/>
              </a:rPr>
              <a:t>Fikir</a:t>
            </a:r>
          </a:p>
          <a:p>
            <a:pPr>
              <a:spcBef>
                <a:spcPct val="50000"/>
              </a:spcBef>
              <a:buFontTx/>
              <a:buChar char="•"/>
            </a:pPr>
            <a:r>
              <a:rPr lang="tr-TR" altLang="en-TR" sz="1600" b="1" dirty="0">
                <a:latin typeface="Trebuchet MS" panose="020B0703020202090204" pitchFamily="34" charset="0"/>
              </a:rPr>
              <a:t>Bilgi</a:t>
            </a:r>
          </a:p>
          <a:p>
            <a:pPr>
              <a:spcBef>
                <a:spcPct val="50000"/>
              </a:spcBef>
              <a:buFontTx/>
              <a:buChar char="•"/>
            </a:pPr>
            <a:r>
              <a:rPr lang="tr-TR" altLang="en-TR" sz="1600" b="1" dirty="0">
                <a:latin typeface="Trebuchet MS" panose="020B0703020202090204" pitchFamily="34" charset="0"/>
              </a:rPr>
              <a:t>Duygu</a:t>
            </a:r>
          </a:p>
          <a:p>
            <a:pPr>
              <a:spcBef>
                <a:spcPct val="50000"/>
              </a:spcBef>
              <a:buFontTx/>
              <a:buChar char="•"/>
            </a:pPr>
            <a:r>
              <a:rPr lang="tr-TR" altLang="en-TR" sz="1600" b="1" dirty="0">
                <a:latin typeface="Trebuchet MS" panose="020B0703020202090204" pitchFamily="34" charset="0"/>
              </a:rPr>
              <a:t>Tutum</a:t>
            </a:r>
          </a:p>
          <a:p>
            <a:pPr>
              <a:spcBef>
                <a:spcPct val="50000"/>
              </a:spcBef>
              <a:buFontTx/>
              <a:buChar char="•"/>
            </a:pPr>
            <a:r>
              <a:rPr lang="tr-TR" altLang="en-TR" sz="1600" b="1" dirty="0">
                <a:latin typeface="Trebuchet MS" panose="020B0703020202090204" pitchFamily="34" charset="0"/>
              </a:rPr>
              <a:t>Beceri</a:t>
            </a:r>
          </a:p>
        </p:txBody>
      </p:sp>
      <p:sp>
        <p:nvSpPr>
          <p:cNvPr id="31" name="Line 7">
            <a:extLst>
              <a:ext uri="{FF2B5EF4-FFF2-40B4-BE49-F238E27FC236}">
                <a16:creationId xmlns:a16="http://schemas.microsoft.com/office/drawing/2014/main" id="{85485D50-BCFB-0F43-B959-2832DC876112}"/>
              </a:ext>
            </a:extLst>
          </p:cNvPr>
          <p:cNvSpPr>
            <a:spLocks noChangeShapeType="1"/>
          </p:cNvSpPr>
          <p:nvPr/>
        </p:nvSpPr>
        <p:spPr bwMode="auto">
          <a:xfrm>
            <a:off x="2016912" y="4273586"/>
            <a:ext cx="27092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TR"/>
          </a:p>
        </p:txBody>
      </p:sp>
      <p:sp>
        <p:nvSpPr>
          <p:cNvPr id="32" name="Line 8">
            <a:extLst>
              <a:ext uri="{FF2B5EF4-FFF2-40B4-BE49-F238E27FC236}">
                <a16:creationId xmlns:a16="http://schemas.microsoft.com/office/drawing/2014/main" id="{0B3E9402-8158-1344-A304-0BFC772B4A9C}"/>
              </a:ext>
            </a:extLst>
          </p:cNvPr>
          <p:cNvSpPr>
            <a:spLocks noChangeShapeType="1"/>
          </p:cNvSpPr>
          <p:nvPr/>
        </p:nvSpPr>
        <p:spPr bwMode="auto">
          <a:xfrm>
            <a:off x="4022349" y="4273587"/>
            <a:ext cx="2616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TR"/>
          </a:p>
        </p:txBody>
      </p:sp>
      <p:sp>
        <p:nvSpPr>
          <p:cNvPr id="33" name="Line 9">
            <a:extLst>
              <a:ext uri="{FF2B5EF4-FFF2-40B4-BE49-F238E27FC236}">
                <a16:creationId xmlns:a16="http://schemas.microsoft.com/office/drawing/2014/main" id="{1946EF66-3324-3F46-9BEE-6FBAA5B90B77}"/>
              </a:ext>
            </a:extLst>
          </p:cNvPr>
          <p:cNvSpPr>
            <a:spLocks noChangeShapeType="1"/>
          </p:cNvSpPr>
          <p:nvPr/>
        </p:nvSpPr>
        <p:spPr bwMode="auto">
          <a:xfrm>
            <a:off x="6769426" y="4273587"/>
            <a:ext cx="2616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TR"/>
          </a:p>
        </p:txBody>
      </p:sp>
      <p:sp>
        <p:nvSpPr>
          <p:cNvPr id="34" name="Line 10">
            <a:extLst>
              <a:ext uri="{FF2B5EF4-FFF2-40B4-BE49-F238E27FC236}">
                <a16:creationId xmlns:a16="http://schemas.microsoft.com/office/drawing/2014/main" id="{C098FE6C-471F-7240-81D6-56DFC6752AE4}"/>
              </a:ext>
            </a:extLst>
          </p:cNvPr>
          <p:cNvSpPr>
            <a:spLocks noChangeShapeType="1"/>
          </p:cNvSpPr>
          <p:nvPr/>
        </p:nvSpPr>
        <p:spPr bwMode="auto">
          <a:xfrm>
            <a:off x="1331715" y="4802224"/>
            <a:ext cx="0" cy="2619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TR"/>
          </a:p>
        </p:txBody>
      </p:sp>
      <p:sp>
        <p:nvSpPr>
          <p:cNvPr id="35" name="Line 11">
            <a:extLst>
              <a:ext uri="{FF2B5EF4-FFF2-40B4-BE49-F238E27FC236}">
                <a16:creationId xmlns:a16="http://schemas.microsoft.com/office/drawing/2014/main" id="{2FADF1DF-E7AD-8442-91A8-22069D59F3B5}"/>
              </a:ext>
            </a:extLst>
          </p:cNvPr>
          <p:cNvSpPr>
            <a:spLocks noChangeShapeType="1"/>
          </p:cNvSpPr>
          <p:nvPr/>
        </p:nvSpPr>
        <p:spPr bwMode="auto">
          <a:xfrm>
            <a:off x="1331715" y="5065748"/>
            <a:ext cx="6378702" cy="15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TR"/>
          </a:p>
        </p:txBody>
      </p:sp>
      <p:sp>
        <p:nvSpPr>
          <p:cNvPr id="36" name="Line 12">
            <a:extLst>
              <a:ext uri="{FF2B5EF4-FFF2-40B4-BE49-F238E27FC236}">
                <a16:creationId xmlns:a16="http://schemas.microsoft.com/office/drawing/2014/main" id="{2AC905FC-6DB9-9842-B41A-07B2CE3F66CB}"/>
              </a:ext>
            </a:extLst>
          </p:cNvPr>
          <p:cNvSpPr>
            <a:spLocks noChangeShapeType="1"/>
          </p:cNvSpPr>
          <p:nvPr/>
        </p:nvSpPr>
        <p:spPr bwMode="auto">
          <a:xfrm>
            <a:off x="7705376" y="4803812"/>
            <a:ext cx="0" cy="2635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TR"/>
          </a:p>
        </p:txBody>
      </p:sp>
      <p:sp>
        <p:nvSpPr>
          <p:cNvPr id="37" name="Text Box 13">
            <a:extLst>
              <a:ext uri="{FF2B5EF4-FFF2-40B4-BE49-F238E27FC236}">
                <a16:creationId xmlns:a16="http://schemas.microsoft.com/office/drawing/2014/main" id="{31D3160F-E71E-F248-BE10-EA82F9763246}"/>
              </a:ext>
            </a:extLst>
          </p:cNvPr>
          <p:cNvSpPr txBox="1">
            <a:spLocks noChangeArrowheads="1"/>
          </p:cNvSpPr>
          <p:nvPr/>
        </p:nvSpPr>
        <p:spPr bwMode="auto">
          <a:xfrm>
            <a:off x="2793285" y="5380107"/>
            <a:ext cx="298136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tr-TR" altLang="en-TR" b="1" dirty="0">
                <a:latin typeface="Verdana" panose="020B0604030504040204" pitchFamily="34" charset="0"/>
              </a:rPr>
              <a:t>Geri Bildirim</a:t>
            </a:r>
            <a:r>
              <a:rPr lang="tr-TR" altLang="en-TR" sz="2000" b="1" dirty="0">
                <a:latin typeface="Trebuchet MS" panose="020B0703020202090204" pitchFamily="34" charset="0"/>
              </a:rPr>
              <a:t> (Feedback)</a:t>
            </a:r>
          </a:p>
        </p:txBody>
      </p:sp>
    </p:spTree>
    <p:extLst>
      <p:ext uri="{BB962C8B-B14F-4D97-AF65-F5344CB8AC3E}">
        <p14:creationId xmlns:p14="http://schemas.microsoft.com/office/powerpoint/2010/main" val="4020306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Algı Kavramı</a:t>
            </a:r>
          </a:p>
        </p:txBody>
      </p:sp>
      <p:sp>
        <p:nvSpPr>
          <p:cNvPr id="28" name="Rectangle 3">
            <a:extLst>
              <a:ext uri="{FF2B5EF4-FFF2-40B4-BE49-F238E27FC236}">
                <a16:creationId xmlns:a16="http://schemas.microsoft.com/office/drawing/2014/main" id="{EF5644DE-5F40-4025-8729-C6B47542C387}"/>
              </a:ext>
            </a:extLst>
          </p:cNvPr>
          <p:cNvSpPr>
            <a:spLocks noGrp="1" noChangeArrowheads="1"/>
          </p:cNvSpPr>
          <p:nvPr>
            <p:ph sz="quarter" idx="1"/>
          </p:nvPr>
        </p:nvSpPr>
        <p:spPr>
          <a:xfrm>
            <a:off x="457200" y="1556792"/>
            <a:ext cx="7772400" cy="1008108"/>
          </a:xfrm>
        </p:spPr>
        <p:txBody>
          <a:bodyPr/>
          <a:lstStyle/>
          <a:p>
            <a:pPr eaLnBrk="0" hangingPunct="0">
              <a:spcBef>
                <a:spcPct val="50000"/>
              </a:spcBef>
            </a:pPr>
            <a:r>
              <a:rPr lang="tr-TR" altLang="en-TR" dirty="0"/>
              <a:t>Algılamada Seçiciliği Etkileyen Dış Faktörler</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5</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5</a:t>
            </a:fld>
            <a:endParaRPr lang="tr-TR"/>
          </a:p>
        </p:txBody>
      </p:sp>
      <p:sp>
        <p:nvSpPr>
          <p:cNvPr id="8" name="AutoShape 3">
            <a:extLst>
              <a:ext uri="{FF2B5EF4-FFF2-40B4-BE49-F238E27FC236}">
                <a16:creationId xmlns:a16="http://schemas.microsoft.com/office/drawing/2014/main" id="{F719BA47-8A9A-574E-B895-D75E5F32AB2E}"/>
              </a:ext>
            </a:extLst>
          </p:cNvPr>
          <p:cNvSpPr>
            <a:spLocks noChangeArrowheads="1"/>
          </p:cNvSpPr>
          <p:nvPr/>
        </p:nvSpPr>
        <p:spPr bwMode="auto">
          <a:xfrm rot="1781731">
            <a:off x="2589088" y="2103946"/>
            <a:ext cx="287338" cy="1225550"/>
          </a:xfrm>
          <a:prstGeom prst="downArrow">
            <a:avLst>
              <a:gd name="adj1" fmla="val 50000"/>
              <a:gd name="adj2" fmla="val 10663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9" name="Text Box 4">
            <a:extLst>
              <a:ext uri="{FF2B5EF4-FFF2-40B4-BE49-F238E27FC236}">
                <a16:creationId xmlns:a16="http://schemas.microsoft.com/office/drawing/2014/main" id="{AE7408AA-B655-6842-9D92-48A32A28AA26}"/>
              </a:ext>
            </a:extLst>
          </p:cNvPr>
          <p:cNvSpPr txBox="1">
            <a:spLocks noChangeArrowheads="1"/>
          </p:cNvSpPr>
          <p:nvPr/>
        </p:nvSpPr>
        <p:spPr bwMode="auto">
          <a:xfrm>
            <a:off x="4355977" y="3372357"/>
            <a:ext cx="2376264" cy="29495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10000"/>
              </a:lnSpc>
              <a:spcBef>
                <a:spcPct val="50000"/>
              </a:spcBef>
            </a:pPr>
            <a:r>
              <a:rPr lang="tr-TR" altLang="en-TR" sz="2000" b="1">
                <a:solidFill>
                  <a:srgbClr val="7E2626"/>
                </a:solidFill>
              </a:rPr>
              <a:t>Dış Faktörler</a:t>
            </a:r>
            <a:br>
              <a:rPr lang="tr-TR" altLang="en-TR" sz="2000" b="1">
                <a:solidFill>
                  <a:srgbClr val="7E2626"/>
                </a:solidFill>
              </a:rPr>
            </a:br>
            <a:endParaRPr lang="tr-TR" altLang="en-TR" sz="2000" b="1">
              <a:solidFill>
                <a:srgbClr val="7E2626"/>
              </a:solidFill>
            </a:endParaRPr>
          </a:p>
          <a:p>
            <a:pPr eaLnBrk="0" hangingPunct="0">
              <a:lnSpc>
                <a:spcPct val="110000"/>
              </a:lnSpc>
              <a:buFontTx/>
              <a:buChar char="•"/>
            </a:pPr>
            <a:r>
              <a:rPr lang="tr-TR" altLang="en-TR">
                <a:latin typeface="Tahoma" panose="020B0604030504040204" pitchFamily="34" charset="0"/>
              </a:rPr>
              <a:t> Büyüklük</a:t>
            </a:r>
          </a:p>
          <a:p>
            <a:pPr eaLnBrk="0" hangingPunct="0">
              <a:lnSpc>
                <a:spcPct val="110000"/>
              </a:lnSpc>
              <a:buFontTx/>
              <a:buChar char="•"/>
            </a:pPr>
            <a:r>
              <a:rPr lang="tr-TR" altLang="en-TR">
                <a:latin typeface="Tahoma" panose="020B0604030504040204" pitchFamily="34" charset="0"/>
              </a:rPr>
              <a:t> Zıtlık</a:t>
            </a:r>
          </a:p>
          <a:p>
            <a:pPr eaLnBrk="0" hangingPunct="0">
              <a:lnSpc>
                <a:spcPct val="110000"/>
              </a:lnSpc>
              <a:buFontTx/>
              <a:buChar char="•"/>
            </a:pPr>
            <a:r>
              <a:rPr lang="tr-TR" altLang="en-TR">
                <a:latin typeface="Tahoma" panose="020B0604030504040204" pitchFamily="34" charset="0"/>
              </a:rPr>
              <a:t> Tekrar</a:t>
            </a:r>
          </a:p>
          <a:p>
            <a:pPr eaLnBrk="0" hangingPunct="0">
              <a:lnSpc>
                <a:spcPct val="110000"/>
              </a:lnSpc>
              <a:buFontTx/>
              <a:buChar char="•"/>
            </a:pPr>
            <a:r>
              <a:rPr lang="tr-TR" altLang="en-TR">
                <a:latin typeface="Tahoma" panose="020B0604030504040204" pitchFamily="34" charset="0"/>
              </a:rPr>
              <a:t> Hareketlilik</a:t>
            </a:r>
          </a:p>
          <a:p>
            <a:pPr eaLnBrk="0" hangingPunct="0">
              <a:lnSpc>
                <a:spcPct val="110000"/>
              </a:lnSpc>
              <a:buFontTx/>
              <a:buChar char="•"/>
            </a:pPr>
            <a:r>
              <a:rPr lang="tr-TR" altLang="en-TR">
                <a:latin typeface="Tahoma" panose="020B0604030504040204" pitchFamily="34" charset="0"/>
              </a:rPr>
              <a:t> Yenilik </a:t>
            </a:r>
          </a:p>
          <a:p>
            <a:pPr eaLnBrk="0" hangingPunct="0">
              <a:lnSpc>
                <a:spcPct val="110000"/>
              </a:lnSpc>
              <a:buFontTx/>
              <a:buChar char="•"/>
            </a:pPr>
            <a:r>
              <a:rPr lang="tr-TR" altLang="en-TR">
                <a:latin typeface="Tahoma" panose="020B0604030504040204" pitchFamily="34" charset="0"/>
              </a:rPr>
              <a:t> Yakınlık</a:t>
            </a:r>
            <a:br>
              <a:rPr lang="tr-TR" altLang="en-TR">
                <a:latin typeface="Tahoma" panose="020B0604030504040204" pitchFamily="34" charset="0"/>
              </a:rPr>
            </a:br>
            <a:endParaRPr lang="tr-TR" altLang="en-TR" b="1">
              <a:solidFill>
                <a:srgbClr val="A50021"/>
              </a:solidFill>
              <a:latin typeface="Tahoma" panose="020B0604030504040204" pitchFamily="34" charset="0"/>
            </a:endParaRPr>
          </a:p>
        </p:txBody>
      </p:sp>
      <p:sp>
        <p:nvSpPr>
          <p:cNvPr id="10" name="AutoShape 6">
            <a:extLst>
              <a:ext uri="{FF2B5EF4-FFF2-40B4-BE49-F238E27FC236}">
                <a16:creationId xmlns:a16="http://schemas.microsoft.com/office/drawing/2014/main" id="{7B557FEA-247E-D946-8F0C-E3832F79FD55}"/>
              </a:ext>
            </a:extLst>
          </p:cNvPr>
          <p:cNvSpPr>
            <a:spLocks noChangeArrowheads="1"/>
          </p:cNvSpPr>
          <p:nvPr/>
        </p:nvSpPr>
        <p:spPr bwMode="auto">
          <a:xfrm rot="19014686">
            <a:off x="5003676" y="2146808"/>
            <a:ext cx="287337" cy="1225550"/>
          </a:xfrm>
          <a:prstGeom prst="downArrow">
            <a:avLst>
              <a:gd name="adj1" fmla="val 50000"/>
              <a:gd name="adj2" fmla="val 10663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1" name="Text Box 7">
            <a:extLst>
              <a:ext uri="{FF2B5EF4-FFF2-40B4-BE49-F238E27FC236}">
                <a16:creationId xmlns:a16="http://schemas.microsoft.com/office/drawing/2014/main" id="{20CD42B7-FB26-7540-B89C-AD38A06B9102}"/>
              </a:ext>
            </a:extLst>
          </p:cNvPr>
          <p:cNvSpPr txBox="1">
            <a:spLocks noChangeArrowheads="1"/>
          </p:cNvSpPr>
          <p:nvPr/>
        </p:nvSpPr>
        <p:spPr bwMode="auto">
          <a:xfrm>
            <a:off x="1258763" y="3372358"/>
            <a:ext cx="2665413" cy="29495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10000"/>
              </a:lnSpc>
              <a:spcBef>
                <a:spcPct val="50000"/>
              </a:spcBef>
            </a:pPr>
            <a:r>
              <a:rPr lang="tr-TR" altLang="en-TR" sz="2000" b="1" dirty="0">
                <a:solidFill>
                  <a:srgbClr val="7E2626"/>
                </a:solidFill>
              </a:rPr>
              <a:t>İç Faktörler</a:t>
            </a:r>
            <a:br>
              <a:rPr lang="tr-TR" altLang="en-TR" sz="2400" b="1" dirty="0">
                <a:solidFill>
                  <a:srgbClr val="A50021"/>
                </a:solidFill>
                <a:latin typeface="Tahoma" panose="020B0604030504040204" pitchFamily="34" charset="0"/>
              </a:rPr>
            </a:br>
            <a:endParaRPr lang="tr-TR" altLang="en-TR" sz="2400" b="1" dirty="0">
              <a:solidFill>
                <a:srgbClr val="A50021"/>
              </a:solidFill>
              <a:latin typeface="Tahoma" panose="020B0604030504040204" pitchFamily="34" charset="0"/>
            </a:endParaRPr>
          </a:p>
          <a:p>
            <a:pPr eaLnBrk="0" hangingPunct="0">
              <a:lnSpc>
                <a:spcPct val="110000"/>
              </a:lnSpc>
              <a:buFontTx/>
              <a:buChar char="•"/>
            </a:pPr>
            <a:r>
              <a:rPr lang="tr-TR" altLang="en-TR" dirty="0">
                <a:latin typeface="Tahoma" panose="020B0604030504040204" pitchFamily="34" charset="0"/>
              </a:rPr>
              <a:t> Kişilik</a:t>
            </a:r>
          </a:p>
          <a:p>
            <a:pPr eaLnBrk="0" hangingPunct="0">
              <a:lnSpc>
                <a:spcPct val="110000"/>
              </a:lnSpc>
              <a:buFontTx/>
              <a:buChar char="•"/>
            </a:pPr>
            <a:r>
              <a:rPr lang="tr-TR" altLang="en-TR" dirty="0">
                <a:latin typeface="Tahoma" panose="020B0604030504040204" pitchFamily="34" charset="0"/>
              </a:rPr>
              <a:t> Motivasyon</a:t>
            </a:r>
          </a:p>
          <a:p>
            <a:pPr eaLnBrk="0" hangingPunct="0">
              <a:lnSpc>
                <a:spcPct val="110000"/>
              </a:lnSpc>
              <a:buFontTx/>
              <a:buChar char="•"/>
            </a:pPr>
            <a:r>
              <a:rPr lang="tr-TR" altLang="en-TR" dirty="0">
                <a:latin typeface="Tahoma" panose="020B0604030504040204" pitchFamily="34" charset="0"/>
              </a:rPr>
              <a:t> Zeka ve Yetenek</a:t>
            </a:r>
          </a:p>
          <a:p>
            <a:pPr eaLnBrk="0" hangingPunct="0">
              <a:lnSpc>
                <a:spcPct val="110000"/>
              </a:lnSpc>
              <a:buFontTx/>
              <a:buChar char="•"/>
            </a:pPr>
            <a:r>
              <a:rPr lang="tr-TR" altLang="en-TR" dirty="0">
                <a:latin typeface="Tahoma" panose="020B0604030504040204" pitchFamily="34" charset="0"/>
              </a:rPr>
              <a:t> Eğitim ve İlgiler</a:t>
            </a:r>
          </a:p>
          <a:p>
            <a:pPr eaLnBrk="0" hangingPunct="0">
              <a:lnSpc>
                <a:spcPct val="110000"/>
              </a:lnSpc>
              <a:buFontTx/>
              <a:buChar char="•"/>
            </a:pPr>
            <a:r>
              <a:rPr lang="tr-TR" altLang="en-TR" dirty="0">
                <a:latin typeface="Tahoma" panose="020B0604030504040204" pitchFamily="34" charset="0"/>
              </a:rPr>
              <a:t> Amaç ve Beklentiler </a:t>
            </a:r>
          </a:p>
          <a:p>
            <a:pPr eaLnBrk="0" hangingPunct="0">
              <a:lnSpc>
                <a:spcPct val="110000"/>
              </a:lnSpc>
              <a:buFontTx/>
              <a:buChar char="•"/>
            </a:pPr>
            <a:r>
              <a:rPr lang="tr-TR" altLang="en-TR" dirty="0">
                <a:latin typeface="Tahoma" panose="020B0604030504040204" pitchFamily="34" charset="0"/>
              </a:rPr>
              <a:t> Öğrenme ve Geçmiş  Deneyimler</a:t>
            </a:r>
            <a:endParaRPr lang="tr-TR" altLang="en-TR" b="1" dirty="0">
              <a:solidFill>
                <a:srgbClr val="A50021"/>
              </a:solidFill>
              <a:latin typeface="Tahoma" panose="020B0604030504040204" pitchFamily="34" charset="0"/>
            </a:endParaRPr>
          </a:p>
        </p:txBody>
      </p:sp>
    </p:spTree>
    <p:extLst>
      <p:ext uri="{BB962C8B-B14F-4D97-AF65-F5344CB8AC3E}">
        <p14:creationId xmlns:p14="http://schemas.microsoft.com/office/powerpoint/2010/main" val="3896902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6</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6</a:t>
            </a:fld>
            <a:endParaRPr lang="tr-TR"/>
          </a:p>
        </p:txBody>
      </p:sp>
      <p:sp>
        <p:nvSpPr>
          <p:cNvPr id="12" name="1 Başlık">
            <a:extLst>
              <a:ext uri="{FF2B5EF4-FFF2-40B4-BE49-F238E27FC236}">
                <a16:creationId xmlns:a16="http://schemas.microsoft.com/office/drawing/2014/main" id="{E0F5D167-13BE-5C44-9CD5-E9ABA19DABC2}"/>
              </a:ext>
            </a:extLst>
          </p:cNvPr>
          <p:cNvSpPr>
            <a:spLocks noGrp="1"/>
          </p:cNvSpPr>
          <p:nvPr>
            <p:ph type="title"/>
          </p:nvPr>
        </p:nvSpPr>
        <p:spPr>
          <a:xfrm>
            <a:off x="457200" y="274638"/>
            <a:ext cx="7467600" cy="1143000"/>
          </a:xfrm>
        </p:spPr>
        <p:txBody>
          <a:bodyPr/>
          <a:lstStyle/>
          <a:p>
            <a:r>
              <a:rPr lang="tr-TR" dirty="0"/>
              <a:t>Algı Kavramı</a:t>
            </a:r>
          </a:p>
        </p:txBody>
      </p:sp>
      <p:sp>
        <p:nvSpPr>
          <p:cNvPr id="13" name="Rectangle 3">
            <a:extLst>
              <a:ext uri="{FF2B5EF4-FFF2-40B4-BE49-F238E27FC236}">
                <a16:creationId xmlns:a16="http://schemas.microsoft.com/office/drawing/2014/main" id="{560B2938-E40F-544F-94DA-3F436D5BDB46}"/>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a:t>Algılamada Seçiciliği Etkileyen Dış Faktörler</a:t>
            </a:r>
            <a:endParaRPr lang="tr-TR" altLang="en-TR" dirty="0"/>
          </a:p>
        </p:txBody>
      </p:sp>
      <p:sp>
        <p:nvSpPr>
          <p:cNvPr id="16" name="Text Box 3">
            <a:extLst>
              <a:ext uri="{FF2B5EF4-FFF2-40B4-BE49-F238E27FC236}">
                <a16:creationId xmlns:a16="http://schemas.microsoft.com/office/drawing/2014/main" id="{1D970891-10A6-3C48-B7E1-BE6B425A8C88}"/>
              </a:ext>
            </a:extLst>
          </p:cNvPr>
          <p:cNvSpPr txBox="1">
            <a:spLocks noChangeArrowheads="1"/>
          </p:cNvSpPr>
          <p:nvPr/>
        </p:nvSpPr>
        <p:spPr bwMode="auto">
          <a:xfrm>
            <a:off x="1619250" y="2720428"/>
            <a:ext cx="1728788" cy="34448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0" hangingPunct="0"/>
            <a:r>
              <a:rPr lang="tr-TR" altLang="en-TR" sz="2000" dirty="0">
                <a:solidFill>
                  <a:schemeClr val="accent3"/>
                </a:solidFill>
                <a:latin typeface="Tahoma" panose="020B0604030504040204" pitchFamily="34" charset="0"/>
              </a:rPr>
              <a:t>Büyüklük </a:t>
            </a:r>
            <a:r>
              <a:rPr lang="tr-TR" altLang="en-TR" sz="2000" dirty="0">
                <a:latin typeface="Tahoma" panose="020B0604030504040204" pitchFamily="34" charset="0"/>
              </a:rPr>
              <a:t>  </a:t>
            </a:r>
            <a:br>
              <a:rPr lang="tr-TR" altLang="en-TR" sz="2000" dirty="0">
                <a:latin typeface="Tahoma" panose="020B0604030504040204" pitchFamily="34" charset="0"/>
              </a:rPr>
            </a:br>
            <a:endParaRPr lang="tr-TR" altLang="en-TR" sz="2000" dirty="0">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Zıtlık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Tekrar</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Hareketlilik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Yenilik</a:t>
            </a:r>
            <a:br>
              <a:rPr lang="tr-TR" altLang="en-TR" sz="2000" dirty="0">
                <a:solidFill>
                  <a:schemeClr val="bg1">
                    <a:lumMod val="65000"/>
                  </a:schemeClr>
                </a:solidFill>
                <a:latin typeface="Tahoma" panose="020B0604030504040204" pitchFamily="34" charset="0"/>
              </a:rPr>
            </a:br>
            <a:r>
              <a:rPr lang="tr-TR" altLang="en-TR" sz="2000" dirty="0">
                <a:solidFill>
                  <a:schemeClr val="bg1">
                    <a:lumMod val="65000"/>
                  </a:schemeClr>
                </a:solidFill>
                <a:latin typeface="Tahoma" panose="020B0604030504040204" pitchFamily="34" charset="0"/>
              </a:rPr>
              <a:t> </a:t>
            </a:r>
          </a:p>
          <a:p>
            <a:pPr algn="r" eaLnBrk="0" hangingPunct="0"/>
            <a:r>
              <a:rPr lang="tr-TR" altLang="en-TR" sz="2000" dirty="0">
                <a:solidFill>
                  <a:schemeClr val="bg1">
                    <a:lumMod val="65000"/>
                  </a:schemeClr>
                </a:solidFill>
                <a:latin typeface="Tahoma" panose="020B0604030504040204" pitchFamily="34" charset="0"/>
              </a:rPr>
              <a:t>Yakınlık</a:t>
            </a:r>
          </a:p>
        </p:txBody>
      </p:sp>
      <p:pic>
        <p:nvPicPr>
          <p:cNvPr id="17" name="Picture 5">
            <a:extLst>
              <a:ext uri="{FF2B5EF4-FFF2-40B4-BE49-F238E27FC236}">
                <a16:creationId xmlns:a16="http://schemas.microsoft.com/office/drawing/2014/main" id="{E776A93E-21EC-FC4C-B0AE-8F4AC37BD5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249738" y="2603648"/>
            <a:ext cx="2928937" cy="38496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 name="AutoShape 6">
            <a:extLst>
              <a:ext uri="{FF2B5EF4-FFF2-40B4-BE49-F238E27FC236}">
                <a16:creationId xmlns:a16="http://schemas.microsoft.com/office/drawing/2014/main" id="{C7A5A18A-0169-E748-98A5-92B71BBF499E}"/>
              </a:ext>
            </a:extLst>
          </p:cNvPr>
          <p:cNvSpPr>
            <a:spLocks noChangeArrowheads="1"/>
          </p:cNvSpPr>
          <p:nvPr/>
        </p:nvSpPr>
        <p:spPr bwMode="auto">
          <a:xfrm rot="16200000">
            <a:off x="3563938" y="2647404"/>
            <a:ext cx="287337" cy="576263"/>
          </a:xfrm>
          <a:prstGeom prst="downArrow">
            <a:avLst>
              <a:gd name="adj1" fmla="val 50000"/>
              <a:gd name="adj2" fmla="val 50138"/>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3805161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7</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7</a:t>
            </a:fld>
            <a:endParaRPr lang="tr-TR"/>
          </a:p>
        </p:txBody>
      </p:sp>
      <p:sp>
        <p:nvSpPr>
          <p:cNvPr id="12" name="1 Başlık">
            <a:extLst>
              <a:ext uri="{FF2B5EF4-FFF2-40B4-BE49-F238E27FC236}">
                <a16:creationId xmlns:a16="http://schemas.microsoft.com/office/drawing/2014/main" id="{A64C039F-620B-5D49-95B5-5A98D1DB2898}"/>
              </a:ext>
            </a:extLst>
          </p:cNvPr>
          <p:cNvSpPr>
            <a:spLocks noGrp="1"/>
          </p:cNvSpPr>
          <p:nvPr>
            <p:ph type="title"/>
          </p:nvPr>
        </p:nvSpPr>
        <p:spPr>
          <a:xfrm>
            <a:off x="457200" y="274638"/>
            <a:ext cx="7467600" cy="1143000"/>
          </a:xfrm>
        </p:spPr>
        <p:txBody>
          <a:bodyPr/>
          <a:lstStyle/>
          <a:p>
            <a:r>
              <a:rPr lang="tr-TR" dirty="0"/>
              <a:t>Algı Kavramı</a:t>
            </a:r>
          </a:p>
        </p:txBody>
      </p:sp>
      <p:sp>
        <p:nvSpPr>
          <p:cNvPr id="13" name="Rectangle 3">
            <a:extLst>
              <a:ext uri="{FF2B5EF4-FFF2-40B4-BE49-F238E27FC236}">
                <a16:creationId xmlns:a16="http://schemas.microsoft.com/office/drawing/2014/main" id="{A9ADEDCA-C60B-C64E-9E94-7E3B884E0595}"/>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a:t>Algılamada Seçiciliği Etkileyen Dış Faktörler</a:t>
            </a:r>
            <a:endParaRPr lang="tr-TR" altLang="en-TR" dirty="0"/>
          </a:p>
        </p:txBody>
      </p:sp>
      <p:sp>
        <p:nvSpPr>
          <p:cNvPr id="14" name="Text Box 3">
            <a:extLst>
              <a:ext uri="{FF2B5EF4-FFF2-40B4-BE49-F238E27FC236}">
                <a16:creationId xmlns:a16="http://schemas.microsoft.com/office/drawing/2014/main" id="{797C572D-9FE5-E445-9651-CF7BC78E74F4}"/>
              </a:ext>
            </a:extLst>
          </p:cNvPr>
          <p:cNvSpPr txBox="1">
            <a:spLocks noChangeArrowheads="1"/>
          </p:cNvSpPr>
          <p:nvPr/>
        </p:nvSpPr>
        <p:spPr bwMode="auto">
          <a:xfrm>
            <a:off x="1619250" y="2720429"/>
            <a:ext cx="1728788" cy="34448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0" hangingPunct="0"/>
            <a:r>
              <a:rPr lang="tr-TR" altLang="en-TR" sz="2000" dirty="0">
                <a:solidFill>
                  <a:schemeClr val="bg1">
                    <a:lumMod val="65000"/>
                  </a:schemeClr>
                </a:solidFill>
                <a:latin typeface="Tahoma" panose="020B0604030504040204" pitchFamily="34" charset="0"/>
              </a:rPr>
              <a:t>Büyüklük   </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accent3"/>
                </a:solidFill>
                <a:latin typeface="Tahoma" panose="020B0604030504040204" pitchFamily="34" charset="0"/>
              </a:rPr>
              <a:t>Zıtlık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Tekrar</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Hareketlilik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Yenilik</a:t>
            </a:r>
            <a:br>
              <a:rPr lang="tr-TR" altLang="en-TR" sz="2000" dirty="0">
                <a:solidFill>
                  <a:schemeClr val="bg1">
                    <a:lumMod val="65000"/>
                  </a:schemeClr>
                </a:solidFill>
                <a:latin typeface="Tahoma" panose="020B0604030504040204" pitchFamily="34" charset="0"/>
              </a:rPr>
            </a:br>
            <a:r>
              <a:rPr lang="tr-TR" altLang="en-TR" sz="2000" dirty="0">
                <a:solidFill>
                  <a:schemeClr val="bg1">
                    <a:lumMod val="65000"/>
                  </a:schemeClr>
                </a:solidFill>
                <a:latin typeface="Tahoma" panose="020B0604030504040204" pitchFamily="34" charset="0"/>
              </a:rPr>
              <a:t> </a:t>
            </a:r>
          </a:p>
          <a:p>
            <a:pPr algn="r" eaLnBrk="0" hangingPunct="0"/>
            <a:r>
              <a:rPr lang="tr-TR" altLang="en-TR" sz="2000" dirty="0">
                <a:solidFill>
                  <a:schemeClr val="bg1">
                    <a:lumMod val="65000"/>
                  </a:schemeClr>
                </a:solidFill>
                <a:latin typeface="Tahoma" panose="020B0604030504040204" pitchFamily="34" charset="0"/>
              </a:rPr>
              <a:t>Yakınlık</a:t>
            </a:r>
          </a:p>
        </p:txBody>
      </p:sp>
      <p:sp>
        <p:nvSpPr>
          <p:cNvPr id="16" name="AutoShape 4">
            <a:extLst>
              <a:ext uri="{FF2B5EF4-FFF2-40B4-BE49-F238E27FC236}">
                <a16:creationId xmlns:a16="http://schemas.microsoft.com/office/drawing/2014/main" id="{487B073D-E8D8-5641-A32E-0ED79426C849}"/>
              </a:ext>
            </a:extLst>
          </p:cNvPr>
          <p:cNvSpPr>
            <a:spLocks noChangeArrowheads="1"/>
          </p:cNvSpPr>
          <p:nvPr/>
        </p:nvSpPr>
        <p:spPr bwMode="auto">
          <a:xfrm rot="16200000">
            <a:off x="3563938" y="3223666"/>
            <a:ext cx="287338" cy="576263"/>
          </a:xfrm>
          <a:prstGeom prst="downArrow">
            <a:avLst>
              <a:gd name="adj1" fmla="val 50000"/>
              <a:gd name="adj2" fmla="val 50138"/>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pic>
        <p:nvPicPr>
          <p:cNvPr id="17" name="Picture 5">
            <a:extLst>
              <a:ext uri="{FF2B5EF4-FFF2-40B4-BE49-F238E27FC236}">
                <a16:creationId xmlns:a16="http://schemas.microsoft.com/office/drawing/2014/main" id="{6C41A9FA-DEDB-0F4B-9BB2-C9C8E0748B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233863" y="2603648"/>
            <a:ext cx="2930525" cy="38496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77748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8</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8</a:t>
            </a:fld>
            <a:endParaRPr lang="tr-TR"/>
          </a:p>
        </p:txBody>
      </p:sp>
      <p:sp>
        <p:nvSpPr>
          <p:cNvPr id="12" name="1 Başlık">
            <a:extLst>
              <a:ext uri="{FF2B5EF4-FFF2-40B4-BE49-F238E27FC236}">
                <a16:creationId xmlns:a16="http://schemas.microsoft.com/office/drawing/2014/main" id="{C79C83B1-4BC7-CC43-8A75-42C9C122A5B8}"/>
              </a:ext>
            </a:extLst>
          </p:cNvPr>
          <p:cNvSpPr>
            <a:spLocks noGrp="1"/>
          </p:cNvSpPr>
          <p:nvPr>
            <p:ph type="title"/>
          </p:nvPr>
        </p:nvSpPr>
        <p:spPr>
          <a:xfrm>
            <a:off x="457200" y="274638"/>
            <a:ext cx="7467600" cy="1143000"/>
          </a:xfrm>
        </p:spPr>
        <p:txBody>
          <a:bodyPr/>
          <a:lstStyle/>
          <a:p>
            <a:r>
              <a:rPr lang="tr-TR" dirty="0"/>
              <a:t>Algı Kavramı</a:t>
            </a:r>
          </a:p>
        </p:txBody>
      </p:sp>
      <p:sp>
        <p:nvSpPr>
          <p:cNvPr id="13" name="Rectangle 3">
            <a:extLst>
              <a:ext uri="{FF2B5EF4-FFF2-40B4-BE49-F238E27FC236}">
                <a16:creationId xmlns:a16="http://schemas.microsoft.com/office/drawing/2014/main" id="{857F8C91-CD9A-BE4D-AFD7-99F0746B5F1C}"/>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a:t>Algılamada Seçiciliği Etkileyen Dış Faktörler</a:t>
            </a:r>
            <a:endParaRPr lang="tr-TR" altLang="en-TR" dirty="0"/>
          </a:p>
        </p:txBody>
      </p:sp>
      <p:sp>
        <p:nvSpPr>
          <p:cNvPr id="14" name="Text Box 3">
            <a:extLst>
              <a:ext uri="{FF2B5EF4-FFF2-40B4-BE49-F238E27FC236}">
                <a16:creationId xmlns:a16="http://schemas.microsoft.com/office/drawing/2014/main" id="{D663005A-377C-294A-B804-BDD3A986F4FE}"/>
              </a:ext>
            </a:extLst>
          </p:cNvPr>
          <p:cNvSpPr txBox="1">
            <a:spLocks noChangeArrowheads="1"/>
          </p:cNvSpPr>
          <p:nvPr/>
        </p:nvSpPr>
        <p:spPr bwMode="auto">
          <a:xfrm>
            <a:off x="1619250" y="2720429"/>
            <a:ext cx="1728788" cy="34448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0" hangingPunct="0"/>
            <a:r>
              <a:rPr lang="tr-TR" altLang="en-TR" sz="2000" dirty="0">
                <a:solidFill>
                  <a:schemeClr val="bg1">
                    <a:lumMod val="65000"/>
                  </a:schemeClr>
                </a:solidFill>
                <a:latin typeface="Tahoma" panose="020B0604030504040204" pitchFamily="34" charset="0"/>
              </a:rPr>
              <a:t>Büyüklük   </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Zıtlık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accent3"/>
                </a:solidFill>
                <a:latin typeface="Tahoma" panose="020B0604030504040204" pitchFamily="34" charset="0"/>
              </a:rPr>
              <a:t>Tekrar</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Hareketlilik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Yenilik</a:t>
            </a:r>
            <a:br>
              <a:rPr lang="tr-TR" altLang="en-TR" sz="2000" dirty="0">
                <a:solidFill>
                  <a:schemeClr val="bg1">
                    <a:lumMod val="65000"/>
                  </a:schemeClr>
                </a:solidFill>
                <a:latin typeface="Tahoma" panose="020B0604030504040204" pitchFamily="34" charset="0"/>
              </a:rPr>
            </a:br>
            <a:r>
              <a:rPr lang="tr-TR" altLang="en-TR" sz="2000" dirty="0">
                <a:solidFill>
                  <a:schemeClr val="bg1">
                    <a:lumMod val="65000"/>
                  </a:schemeClr>
                </a:solidFill>
                <a:latin typeface="Tahoma" panose="020B0604030504040204" pitchFamily="34" charset="0"/>
              </a:rPr>
              <a:t> </a:t>
            </a:r>
          </a:p>
          <a:p>
            <a:pPr algn="r" eaLnBrk="0" hangingPunct="0"/>
            <a:r>
              <a:rPr lang="tr-TR" altLang="en-TR" sz="2000" dirty="0">
                <a:solidFill>
                  <a:schemeClr val="bg1">
                    <a:lumMod val="65000"/>
                  </a:schemeClr>
                </a:solidFill>
                <a:latin typeface="Tahoma" panose="020B0604030504040204" pitchFamily="34" charset="0"/>
              </a:rPr>
              <a:t>Yakınlık</a:t>
            </a:r>
          </a:p>
        </p:txBody>
      </p:sp>
      <p:sp>
        <p:nvSpPr>
          <p:cNvPr id="16" name="AutoShape 5">
            <a:extLst>
              <a:ext uri="{FF2B5EF4-FFF2-40B4-BE49-F238E27FC236}">
                <a16:creationId xmlns:a16="http://schemas.microsoft.com/office/drawing/2014/main" id="{69EE8896-ACD3-8A44-BFD9-21D97A31B88B}"/>
              </a:ext>
            </a:extLst>
          </p:cNvPr>
          <p:cNvSpPr>
            <a:spLocks noChangeArrowheads="1"/>
          </p:cNvSpPr>
          <p:nvPr/>
        </p:nvSpPr>
        <p:spPr bwMode="auto">
          <a:xfrm rot="16200000">
            <a:off x="3563938" y="3871366"/>
            <a:ext cx="287338" cy="576263"/>
          </a:xfrm>
          <a:prstGeom prst="downArrow">
            <a:avLst>
              <a:gd name="adj1" fmla="val 50000"/>
              <a:gd name="adj2" fmla="val 50138"/>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pic>
        <p:nvPicPr>
          <p:cNvPr id="17" name="Picture 6">
            <a:extLst>
              <a:ext uri="{FF2B5EF4-FFF2-40B4-BE49-F238E27FC236}">
                <a16:creationId xmlns:a16="http://schemas.microsoft.com/office/drawing/2014/main" id="{7DB1DEDC-E2CA-DF48-B725-53C831ACD2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200525" y="2597869"/>
            <a:ext cx="2987675" cy="3927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753184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9</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9</a:t>
            </a:fld>
            <a:endParaRPr lang="tr-TR"/>
          </a:p>
        </p:txBody>
      </p:sp>
      <p:sp>
        <p:nvSpPr>
          <p:cNvPr id="12" name="1 Başlık">
            <a:extLst>
              <a:ext uri="{FF2B5EF4-FFF2-40B4-BE49-F238E27FC236}">
                <a16:creationId xmlns:a16="http://schemas.microsoft.com/office/drawing/2014/main" id="{CD4CBDDB-40F3-CA4A-8E27-51E0DC35560B}"/>
              </a:ext>
            </a:extLst>
          </p:cNvPr>
          <p:cNvSpPr>
            <a:spLocks noGrp="1"/>
          </p:cNvSpPr>
          <p:nvPr>
            <p:ph type="title"/>
          </p:nvPr>
        </p:nvSpPr>
        <p:spPr>
          <a:xfrm>
            <a:off x="457200" y="274638"/>
            <a:ext cx="7467600" cy="1143000"/>
          </a:xfrm>
        </p:spPr>
        <p:txBody>
          <a:bodyPr/>
          <a:lstStyle/>
          <a:p>
            <a:r>
              <a:rPr lang="tr-TR" dirty="0"/>
              <a:t>Algı Kavramı</a:t>
            </a:r>
          </a:p>
        </p:txBody>
      </p:sp>
      <p:sp>
        <p:nvSpPr>
          <p:cNvPr id="13" name="Rectangle 3">
            <a:extLst>
              <a:ext uri="{FF2B5EF4-FFF2-40B4-BE49-F238E27FC236}">
                <a16:creationId xmlns:a16="http://schemas.microsoft.com/office/drawing/2014/main" id="{4092026C-6EA5-F645-B7D4-E2B77B87008D}"/>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a:t>Algılamada Seçiciliği Etkileyen Dış Faktörler</a:t>
            </a:r>
            <a:endParaRPr lang="tr-TR" altLang="en-TR" dirty="0"/>
          </a:p>
        </p:txBody>
      </p:sp>
      <p:sp>
        <p:nvSpPr>
          <p:cNvPr id="14" name="Text Box 3">
            <a:extLst>
              <a:ext uri="{FF2B5EF4-FFF2-40B4-BE49-F238E27FC236}">
                <a16:creationId xmlns:a16="http://schemas.microsoft.com/office/drawing/2014/main" id="{C66CF8E3-B40E-D340-A91A-C5A3E801FE45}"/>
              </a:ext>
            </a:extLst>
          </p:cNvPr>
          <p:cNvSpPr txBox="1">
            <a:spLocks noChangeArrowheads="1"/>
          </p:cNvSpPr>
          <p:nvPr/>
        </p:nvSpPr>
        <p:spPr bwMode="auto">
          <a:xfrm>
            <a:off x="1619250" y="2720429"/>
            <a:ext cx="1728788" cy="34448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0" hangingPunct="0"/>
            <a:r>
              <a:rPr lang="tr-TR" altLang="en-TR" sz="2000" dirty="0">
                <a:solidFill>
                  <a:schemeClr val="bg1">
                    <a:lumMod val="65000"/>
                  </a:schemeClr>
                </a:solidFill>
                <a:latin typeface="Tahoma" panose="020B0604030504040204" pitchFamily="34" charset="0"/>
              </a:rPr>
              <a:t>Büyüklük   </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Zıtlık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Tekrar</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accent3"/>
                </a:solidFill>
                <a:latin typeface="Tahoma" panose="020B0604030504040204" pitchFamily="34" charset="0"/>
              </a:rPr>
              <a:t>Hareketlilik</a:t>
            </a:r>
            <a:br>
              <a:rPr lang="tr-TR" altLang="en-TR" sz="2000" dirty="0">
                <a:solidFill>
                  <a:schemeClr val="accent3"/>
                </a:solidFill>
                <a:latin typeface="Tahoma" panose="020B0604030504040204" pitchFamily="34" charset="0"/>
              </a:rPr>
            </a:br>
            <a:endParaRPr lang="tr-TR" altLang="en-TR" sz="2000" dirty="0">
              <a:solidFill>
                <a:schemeClr val="accent3"/>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Yenilik</a:t>
            </a:r>
            <a:br>
              <a:rPr lang="tr-TR" altLang="en-TR" sz="2000" dirty="0">
                <a:solidFill>
                  <a:schemeClr val="bg1">
                    <a:lumMod val="65000"/>
                  </a:schemeClr>
                </a:solidFill>
                <a:latin typeface="Tahoma" panose="020B0604030504040204" pitchFamily="34" charset="0"/>
              </a:rPr>
            </a:br>
            <a:r>
              <a:rPr lang="tr-TR" altLang="en-TR" sz="2000" dirty="0">
                <a:solidFill>
                  <a:schemeClr val="bg1">
                    <a:lumMod val="65000"/>
                  </a:schemeClr>
                </a:solidFill>
                <a:latin typeface="Tahoma" panose="020B0604030504040204" pitchFamily="34" charset="0"/>
              </a:rPr>
              <a:t> </a:t>
            </a:r>
          </a:p>
          <a:p>
            <a:pPr algn="r" eaLnBrk="0" hangingPunct="0"/>
            <a:r>
              <a:rPr lang="tr-TR" altLang="en-TR" sz="2000" dirty="0">
                <a:solidFill>
                  <a:schemeClr val="bg1">
                    <a:lumMod val="65000"/>
                  </a:schemeClr>
                </a:solidFill>
                <a:latin typeface="Tahoma" panose="020B0604030504040204" pitchFamily="34" charset="0"/>
              </a:rPr>
              <a:t>Yakınlık</a:t>
            </a:r>
          </a:p>
        </p:txBody>
      </p:sp>
      <p:pic>
        <p:nvPicPr>
          <p:cNvPr id="16" name="Picture 5">
            <a:extLst>
              <a:ext uri="{FF2B5EF4-FFF2-40B4-BE49-F238E27FC236}">
                <a16:creationId xmlns:a16="http://schemas.microsoft.com/office/drawing/2014/main" id="{918BB9A9-5B7F-0848-A865-B80935591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233863" y="2603648"/>
            <a:ext cx="2930525" cy="38496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 name="AutoShape 6">
            <a:extLst>
              <a:ext uri="{FF2B5EF4-FFF2-40B4-BE49-F238E27FC236}">
                <a16:creationId xmlns:a16="http://schemas.microsoft.com/office/drawing/2014/main" id="{4DCEECD3-5E45-4D48-ACA0-6EEB2F22B68A}"/>
              </a:ext>
            </a:extLst>
          </p:cNvPr>
          <p:cNvSpPr>
            <a:spLocks noChangeArrowheads="1"/>
          </p:cNvSpPr>
          <p:nvPr/>
        </p:nvSpPr>
        <p:spPr bwMode="auto">
          <a:xfrm rot="16200000">
            <a:off x="3563938" y="4447629"/>
            <a:ext cx="287337" cy="576263"/>
          </a:xfrm>
          <a:prstGeom prst="downArrow">
            <a:avLst>
              <a:gd name="adj1" fmla="val 50000"/>
              <a:gd name="adj2" fmla="val 50138"/>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1546297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10</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10</a:t>
            </a:fld>
            <a:endParaRPr lang="tr-TR"/>
          </a:p>
        </p:txBody>
      </p:sp>
      <p:sp>
        <p:nvSpPr>
          <p:cNvPr id="12" name="1 Başlık">
            <a:extLst>
              <a:ext uri="{FF2B5EF4-FFF2-40B4-BE49-F238E27FC236}">
                <a16:creationId xmlns:a16="http://schemas.microsoft.com/office/drawing/2014/main" id="{7B309651-8085-5C4F-9981-3A55ED6C20F5}"/>
              </a:ext>
            </a:extLst>
          </p:cNvPr>
          <p:cNvSpPr>
            <a:spLocks noGrp="1"/>
          </p:cNvSpPr>
          <p:nvPr>
            <p:ph type="title"/>
          </p:nvPr>
        </p:nvSpPr>
        <p:spPr>
          <a:xfrm>
            <a:off x="457200" y="274638"/>
            <a:ext cx="7467600" cy="1143000"/>
          </a:xfrm>
        </p:spPr>
        <p:txBody>
          <a:bodyPr/>
          <a:lstStyle/>
          <a:p>
            <a:r>
              <a:rPr lang="tr-TR" dirty="0"/>
              <a:t>Algı Kavramı</a:t>
            </a:r>
          </a:p>
        </p:txBody>
      </p:sp>
      <p:sp>
        <p:nvSpPr>
          <p:cNvPr id="13" name="Rectangle 3">
            <a:extLst>
              <a:ext uri="{FF2B5EF4-FFF2-40B4-BE49-F238E27FC236}">
                <a16:creationId xmlns:a16="http://schemas.microsoft.com/office/drawing/2014/main" id="{167546CB-F9B5-8048-A028-449AE420446A}"/>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a:t>Algılamada Seçiciliği Etkileyen Dış Faktörler</a:t>
            </a:r>
            <a:endParaRPr lang="tr-TR" altLang="en-TR" dirty="0"/>
          </a:p>
        </p:txBody>
      </p:sp>
      <p:sp>
        <p:nvSpPr>
          <p:cNvPr id="14" name="Text Box 3">
            <a:extLst>
              <a:ext uri="{FF2B5EF4-FFF2-40B4-BE49-F238E27FC236}">
                <a16:creationId xmlns:a16="http://schemas.microsoft.com/office/drawing/2014/main" id="{648B69BE-8A9B-9645-8D0D-5E24F7D87722}"/>
              </a:ext>
            </a:extLst>
          </p:cNvPr>
          <p:cNvSpPr txBox="1">
            <a:spLocks noChangeArrowheads="1"/>
          </p:cNvSpPr>
          <p:nvPr/>
        </p:nvSpPr>
        <p:spPr bwMode="auto">
          <a:xfrm>
            <a:off x="1619250" y="2720429"/>
            <a:ext cx="1728788" cy="34448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0" hangingPunct="0"/>
            <a:r>
              <a:rPr lang="tr-TR" altLang="en-TR" sz="2000" dirty="0">
                <a:solidFill>
                  <a:schemeClr val="bg1">
                    <a:lumMod val="65000"/>
                  </a:schemeClr>
                </a:solidFill>
                <a:latin typeface="Tahoma" panose="020B0604030504040204" pitchFamily="34" charset="0"/>
              </a:rPr>
              <a:t>Büyüklük   </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Zıtlık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Tekrar</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Hareketlilik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accent3"/>
                </a:solidFill>
                <a:latin typeface="Tahoma" panose="020B0604030504040204" pitchFamily="34" charset="0"/>
              </a:rPr>
              <a:t>Yenilik</a:t>
            </a:r>
            <a:br>
              <a:rPr lang="tr-TR" altLang="en-TR" sz="2000" dirty="0">
                <a:solidFill>
                  <a:schemeClr val="bg1">
                    <a:lumMod val="65000"/>
                  </a:schemeClr>
                </a:solidFill>
                <a:latin typeface="Tahoma" panose="020B0604030504040204" pitchFamily="34" charset="0"/>
              </a:rPr>
            </a:br>
            <a:r>
              <a:rPr lang="tr-TR" altLang="en-TR" sz="2000" dirty="0">
                <a:solidFill>
                  <a:schemeClr val="bg1">
                    <a:lumMod val="65000"/>
                  </a:schemeClr>
                </a:solidFill>
                <a:latin typeface="Tahoma" panose="020B0604030504040204" pitchFamily="34" charset="0"/>
              </a:rPr>
              <a:t> </a:t>
            </a:r>
          </a:p>
          <a:p>
            <a:pPr algn="r" eaLnBrk="0" hangingPunct="0"/>
            <a:r>
              <a:rPr lang="tr-TR" altLang="en-TR" sz="2000" dirty="0">
                <a:solidFill>
                  <a:schemeClr val="bg1">
                    <a:lumMod val="65000"/>
                  </a:schemeClr>
                </a:solidFill>
                <a:latin typeface="Tahoma" panose="020B0604030504040204" pitchFamily="34" charset="0"/>
              </a:rPr>
              <a:t>Yakınlık</a:t>
            </a:r>
          </a:p>
        </p:txBody>
      </p:sp>
      <p:sp>
        <p:nvSpPr>
          <p:cNvPr id="16" name="AutoShape 4">
            <a:extLst>
              <a:ext uri="{FF2B5EF4-FFF2-40B4-BE49-F238E27FC236}">
                <a16:creationId xmlns:a16="http://schemas.microsoft.com/office/drawing/2014/main" id="{CB169470-8521-D244-B97A-7126CA84D8DE}"/>
              </a:ext>
            </a:extLst>
          </p:cNvPr>
          <p:cNvSpPr>
            <a:spLocks noChangeArrowheads="1"/>
          </p:cNvSpPr>
          <p:nvPr/>
        </p:nvSpPr>
        <p:spPr bwMode="auto">
          <a:xfrm rot="16200000">
            <a:off x="3563938" y="5096916"/>
            <a:ext cx="287338" cy="576263"/>
          </a:xfrm>
          <a:prstGeom prst="downArrow">
            <a:avLst>
              <a:gd name="adj1" fmla="val 50000"/>
              <a:gd name="adj2" fmla="val 50138"/>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pic>
        <p:nvPicPr>
          <p:cNvPr id="17" name="Picture 6">
            <a:extLst>
              <a:ext uri="{FF2B5EF4-FFF2-40B4-BE49-F238E27FC236}">
                <a16:creationId xmlns:a16="http://schemas.microsoft.com/office/drawing/2014/main" id="{6CF24798-8BAA-7B47-AC72-556226B51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233863" y="2603648"/>
            <a:ext cx="2930525" cy="38496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747609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11</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11</a:t>
            </a:fld>
            <a:endParaRPr lang="tr-TR"/>
          </a:p>
        </p:txBody>
      </p:sp>
      <p:sp>
        <p:nvSpPr>
          <p:cNvPr id="12" name="1 Başlık">
            <a:extLst>
              <a:ext uri="{FF2B5EF4-FFF2-40B4-BE49-F238E27FC236}">
                <a16:creationId xmlns:a16="http://schemas.microsoft.com/office/drawing/2014/main" id="{3261F993-78FE-0B4F-A2AA-C3D8D17462F2}"/>
              </a:ext>
            </a:extLst>
          </p:cNvPr>
          <p:cNvSpPr>
            <a:spLocks noGrp="1"/>
          </p:cNvSpPr>
          <p:nvPr>
            <p:ph type="title"/>
          </p:nvPr>
        </p:nvSpPr>
        <p:spPr>
          <a:xfrm>
            <a:off x="457200" y="274638"/>
            <a:ext cx="7467600" cy="1143000"/>
          </a:xfrm>
        </p:spPr>
        <p:txBody>
          <a:bodyPr/>
          <a:lstStyle/>
          <a:p>
            <a:r>
              <a:rPr lang="tr-TR" dirty="0"/>
              <a:t>Algı Kavramı</a:t>
            </a:r>
          </a:p>
        </p:txBody>
      </p:sp>
      <p:sp>
        <p:nvSpPr>
          <p:cNvPr id="13" name="Rectangle 3">
            <a:extLst>
              <a:ext uri="{FF2B5EF4-FFF2-40B4-BE49-F238E27FC236}">
                <a16:creationId xmlns:a16="http://schemas.microsoft.com/office/drawing/2014/main" id="{4212766E-D97F-C748-8000-4259240BDF3F}"/>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Algılamada Seçiciliği Etkileyen Dış Faktörler</a:t>
            </a:r>
          </a:p>
        </p:txBody>
      </p:sp>
      <p:sp>
        <p:nvSpPr>
          <p:cNvPr id="14" name="Text Box 3">
            <a:extLst>
              <a:ext uri="{FF2B5EF4-FFF2-40B4-BE49-F238E27FC236}">
                <a16:creationId xmlns:a16="http://schemas.microsoft.com/office/drawing/2014/main" id="{8AA4AF01-C480-5E4B-AA02-DEE7B4F1A2CC}"/>
              </a:ext>
            </a:extLst>
          </p:cNvPr>
          <p:cNvSpPr txBox="1">
            <a:spLocks noChangeArrowheads="1"/>
          </p:cNvSpPr>
          <p:nvPr/>
        </p:nvSpPr>
        <p:spPr bwMode="auto">
          <a:xfrm>
            <a:off x="1619250" y="2720429"/>
            <a:ext cx="1728788" cy="34448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0" hangingPunct="0"/>
            <a:r>
              <a:rPr lang="tr-TR" altLang="en-TR" sz="2000" dirty="0">
                <a:solidFill>
                  <a:schemeClr val="bg1">
                    <a:lumMod val="65000"/>
                  </a:schemeClr>
                </a:solidFill>
                <a:latin typeface="Tahoma" panose="020B0604030504040204" pitchFamily="34" charset="0"/>
              </a:rPr>
              <a:t>Büyüklük   </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Zıtlık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Tekrar</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Hareketlilik</a:t>
            </a:r>
            <a:br>
              <a:rPr lang="tr-TR" altLang="en-TR" sz="2000" dirty="0">
                <a:solidFill>
                  <a:schemeClr val="bg1">
                    <a:lumMod val="65000"/>
                  </a:schemeClr>
                </a:solidFill>
                <a:latin typeface="Tahoma" panose="020B0604030504040204" pitchFamily="34" charset="0"/>
              </a:rPr>
            </a:br>
            <a:endParaRPr lang="tr-TR" altLang="en-TR" sz="2000" dirty="0">
              <a:solidFill>
                <a:schemeClr val="bg1">
                  <a:lumMod val="65000"/>
                </a:schemeClr>
              </a:solidFill>
              <a:latin typeface="Tahoma" panose="020B0604030504040204" pitchFamily="34" charset="0"/>
            </a:endParaRPr>
          </a:p>
          <a:p>
            <a:pPr algn="r" eaLnBrk="0" hangingPunct="0"/>
            <a:r>
              <a:rPr lang="tr-TR" altLang="en-TR" sz="2000" dirty="0">
                <a:solidFill>
                  <a:schemeClr val="bg1">
                    <a:lumMod val="65000"/>
                  </a:schemeClr>
                </a:solidFill>
                <a:latin typeface="Tahoma" panose="020B0604030504040204" pitchFamily="34" charset="0"/>
              </a:rPr>
              <a:t>Yenilik</a:t>
            </a:r>
            <a:br>
              <a:rPr lang="tr-TR" altLang="en-TR" sz="2000" dirty="0">
                <a:solidFill>
                  <a:schemeClr val="bg1">
                    <a:lumMod val="65000"/>
                  </a:schemeClr>
                </a:solidFill>
                <a:latin typeface="Tahoma" panose="020B0604030504040204" pitchFamily="34" charset="0"/>
              </a:rPr>
            </a:br>
            <a:r>
              <a:rPr lang="tr-TR" altLang="en-TR" sz="2000" dirty="0">
                <a:solidFill>
                  <a:schemeClr val="bg1">
                    <a:lumMod val="65000"/>
                  </a:schemeClr>
                </a:solidFill>
                <a:latin typeface="Tahoma" panose="020B0604030504040204" pitchFamily="34" charset="0"/>
              </a:rPr>
              <a:t> </a:t>
            </a:r>
          </a:p>
          <a:p>
            <a:pPr algn="r" eaLnBrk="0" hangingPunct="0"/>
            <a:r>
              <a:rPr lang="tr-TR" altLang="en-TR" sz="2000" dirty="0">
                <a:solidFill>
                  <a:schemeClr val="accent3"/>
                </a:solidFill>
                <a:latin typeface="Tahoma" panose="020B0604030504040204" pitchFamily="34" charset="0"/>
              </a:rPr>
              <a:t>Yakınlık</a:t>
            </a:r>
          </a:p>
        </p:txBody>
      </p:sp>
      <p:sp>
        <p:nvSpPr>
          <p:cNvPr id="16" name="AutoShape 4">
            <a:extLst>
              <a:ext uri="{FF2B5EF4-FFF2-40B4-BE49-F238E27FC236}">
                <a16:creationId xmlns:a16="http://schemas.microsoft.com/office/drawing/2014/main" id="{9C8836EA-EC20-E14A-9C10-576B2E26B661}"/>
              </a:ext>
            </a:extLst>
          </p:cNvPr>
          <p:cNvSpPr>
            <a:spLocks noChangeArrowheads="1"/>
          </p:cNvSpPr>
          <p:nvPr/>
        </p:nvSpPr>
        <p:spPr bwMode="auto">
          <a:xfrm rot="16200000">
            <a:off x="3563938" y="5671591"/>
            <a:ext cx="287338" cy="576263"/>
          </a:xfrm>
          <a:prstGeom prst="downArrow">
            <a:avLst>
              <a:gd name="adj1" fmla="val 50000"/>
              <a:gd name="adj2" fmla="val 50138"/>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pic>
        <p:nvPicPr>
          <p:cNvPr id="17" name="Picture 6">
            <a:extLst>
              <a:ext uri="{FF2B5EF4-FFF2-40B4-BE49-F238E27FC236}">
                <a16:creationId xmlns:a16="http://schemas.microsoft.com/office/drawing/2014/main" id="{49FC2DDD-A337-DF49-AE3D-41FEC6D599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249738" y="2603648"/>
            <a:ext cx="2928937" cy="38496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55170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12</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12</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sp>
        <p:nvSpPr>
          <p:cNvPr id="18" name="Rectangle 17">
            <a:extLst>
              <a:ext uri="{FF2B5EF4-FFF2-40B4-BE49-F238E27FC236}">
                <a16:creationId xmlns:a16="http://schemas.microsoft.com/office/drawing/2014/main" id="{EC697544-1B90-A443-9D85-841DC4759CE9}"/>
              </a:ext>
            </a:extLst>
          </p:cNvPr>
          <p:cNvSpPr/>
          <p:nvPr/>
        </p:nvSpPr>
        <p:spPr>
          <a:xfrm>
            <a:off x="468964" y="2758126"/>
            <a:ext cx="7660051" cy="1678986"/>
          </a:xfrm>
          <a:prstGeom prst="rect">
            <a:avLst/>
          </a:prstGeom>
        </p:spPr>
        <p:txBody>
          <a:bodyPr wrap="square">
            <a:spAutoFit/>
          </a:bodyPr>
          <a:lstStyle/>
          <a:p>
            <a:pPr eaLnBrk="0" hangingPunct="0">
              <a:lnSpc>
                <a:spcPct val="150000"/>
              </a:lnSpc>
              <a:spcBef>
                <a:spcPct val="50000"/>
              </a:spcBef>
            </a:pPr>
            <a:r>
              <a:rPr lang="tr-TR" altLang="en-TR" sz="2400" dirty="0">
                <a:latin typeface="Tahoma" panose="020B0604030504040204" pitchFamily="34" charset="0"/>
              </a:rPr>
              <a:t>... görsel algı sistemimiz, algıladığı her sahneyi, </a:t>
            </a:r>
            <a:r>
              <a:rPr lang="tr-TR" altLang="en-TR" sz="2400" b="1" dirty="0">
                <a:latin typeface="Tahoma" panose="020B0604030504040204" pitchFamily="34" charset="0"/>
              </a:rPr>
              <a:t>figür</a:t>
            </a:r>
            <a:r>
              <a:rPr lang="tr-TR" altLang="en-TR" sz="2400" dirty="0">
                <a:latin typeface="Tahoma" panose="020B0604030504040204" pitchFamily="34" charset="0"/>
              </a:rPr>
              <a:t> ve </a:t>
            </a:r>
            <a:r>
              <a:rPr lang="tr-TR" altLang="en-TR" sz="2400" b="1" dirty="0">
                <a:latin typeface="Tahoma" panose="020B0604030504040204" pitchFamily="34" charset="0"/>
              </a:rPr>
              <a:t>zemin</a:t>
            </a:r>
            <a:r>
              <a:rPr lang="tr-TR" altLang="en-TR" sz="2400" dirty="0">
                <a:latin typeface="Tahoma" panose="020B0604030504040204" pitchFamily="34" charset="0"/>
              </a:rPr>
              <a:t> olarak ikiye ayırır ve bu figür zemin ilişkisini sorgulayarak yorumlar. </a:t>
            </a:r>
          </a:p>
        </p:txBody>
      </p:sp>
    </p:spTree>
    <p:extLst>
      <p:ext uri="{BB962C8B-B14F-4D97-AF65-F5344CB8AC3E}">
        <p14:creationId xmlns:p14="http://schemas.microsoft.com/office/powerpoint/2010/main" val="1197872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13</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13</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pic>
        <p:nvPicPr>
          <p:cNvPr id="8" name="Picture 3">
            <a:extLst>
              <a:ext uri="{FF2B5EF4-FFF2-40B4-BE49-F238E27FC236}">
                <a16:creationId xmlns:a16="http://schemas.microsoft.com/office/drawing/2014/main" id="{05D6959F-51B9-0F47-A6D9-6699582101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95736" y="2462713"/>
            <a:ext cx="4206875" cy="36607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Text Box 5">
            <a:extLst>
              <a:ext uri="{FF2B5EF4-FFF2-40B4-BE49-F238E27FC236}">
                <a16:creationId xmlns:a16="http://schemas.microsoft.com/office/drawing/2014/main" id="{22F239E8-1A89-5647-9EE9-67DF2CB58F4B}"/>
              </a:ext>
            </a:extLst>
          </p:cNvPr>
          <p:cNvSpPr txBox="1">
            <a:spLocks noChangeArrowheads="1"/>
          </p:cNvSpPr>
          <p:nvPr/>
        </p:nvSpPr>
        <p:spPr bwMode="auto">
          <a:xfrm>
            <a:off x="3189511" y="6190163"/>
            <a:ext cx="20304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tr-TR" altLang="en-TR" sz="1600">
                <a:latin typeface="Tahoma" panose="020B0604030504040204" pitchFamily="34" charset="0"/>
              </a:rPr>
              <a:t>Figür – Zemin İlişkisi</a:t>
            </a:r>
          </a:p>
        </p:txBody>
      </p:sp>
    </p:spTree>
    <p:extLst>
      <p:ext uri="{BB962C8B-B14F-4D97-AF65-F5344CB8AC3E}">
        <p14:creationId xmlns:p14="http://schemas.microsoft.com/office/powerpoint/2010/main" val="3386280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14</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14</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pic>
        <p:nvPicPr>
          <p:cNvPr id="8" name="Picture 4">
            <a:extLst>
              <a:ext uri="{FF2B5EF4-FFF2-40B4-BE49-F238E27FC236}">
                <a16:creationId xmlns:a16="http://schemas.microsoft.com/office/drawing/2014/main" id="{6D9A9477-207B-F442-AB8F-A1857E758D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441450" y="2484938"/>
            <a:ext cx="6013450" cy="36163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Text Box 5">
            <a:extLst>
              <a:ext uri="{FF2B5EF4-FFF2-40B4-BE49-F238E27FC236}">
                <a16:creationId xmlns:a16="http://schemas.microsoft.com/office/drawing/2014/main" id="{DBB85000-4792-F446-AA90-F778AB41A751}"/>
              </a:ext>
            </a:extLst>
          </p:cNvPr>
          <p:cNvSpPr txBox="1">
            <a:spLocks noChangeArrowheads="1"/>
          </p:cNvSpPr>
          <p:nvPr/>
        </p:nvSpPr>
        <p:spPr bwMode="auto">
          <a:xfrm>
            <a:off x="1139825" y="6156825"/>
            <a:ext cx="6816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tr-TR" altLang="en-TR" sz="1600" b="1">
                <a:latin typeface="Tahoma" panose="020B0604030504040204" pitchFamily="34" charset="0"/>
              </a:rPr>
              <a:t>M. C. Escher’ </a:t>
            </a:r>
            <a:r>
              <a:rPr lang="tr-TR" altLang="en-TR" sz="1600">
                <a:latin typeface="Tahoma" panose="020B0604030504040204" pitchFamily="34" charset="0"/>
              </a:rPr>
              <a:t>in, figür zemin ilişkisini kullanarak yaptığı eserlerinden biri. </a:t>
            </a:r>
          </a:p>
        </p:txBody>
      </p:sp>
    </p:spTree>
    <p:extLst>
      <p:ext uri="{BB962C8B-B14F-4D97-AF65-F5344CB8AC3E}">
        <p14:creationId xmlns:p14="http://schemas.microsoft.com/office/powerpoint/2010/main" val="3661031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15</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15</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sp>
        <p:nvSpPr>
          <p:cNvPr id="8" name="Rectangle 7">
            <a:extLst>
              <a:ext uri="{FF2B5EF4-FFF2-40B4-BE49-F238E27FC236}">
                <a16:creationId xmlns:a16="http://schemas.microsoft.com/office/drawing/2014/main" id="{473ED12C-F3EF-5B4B-82BF-B202E4CCF71A}"/>
              </a:ext>
            </a:extLst>
          </p:cNvPr>
          <p:cNvSpPr/>
          <p:nvPr/>
        </p:nvSpPr>
        <p:spPr>
          <a:xfrm>
            <a:off x="468964" y="2758126"/>
            <a:ext cx="7660051" cy="1297150"/>
          </a:xfrm>
          <a:prstGeom prst="rect">
            <a:avLst/>
          </a:prstGeom>
        </p:spPr>
        <p:txBody>
          <a:bodyPr wrap="square">
            <a:spAutoFit/>
          </a:bodyPr>
          <a:lstStyle/>
          <a:p>
            <a:pPr eaLnBrk="0" hangingPunct="0">
              <a:lnSpc>
                <a:spcPct val="150000"/>
              </a:lnSpc>
            </a:pPr>
            <a:r>
              <a:rPr lang="tr-TR" altLang="en-TR" sz="2800" dirty="0">
                <a:latin typeface="Tahoma" panose="020B0604030504040204" pitchFamily="34" charset="0"/>
              </a:rPr>
              <a:t>İki boyutlu yüzeylerde</a:t>
            </a:r>
          </a:p>
          <a:p>
            <a:pPr eaLnBrk="0" hangingPunct="0">
              <a:lnSpc>
                <a:spcPct val="150000"/>
              </a:lnSpc>
            </a:pPr>
            <a:r>
              <a:rPr lang="tr-TR" altLang="en-TR" sz="2800" dirty="0">
                <a:latin typeface="Tahoma" panose="020B0604030504040204" pitchFamily="34" charset="0"/>
              </a:rPr>
              <a:t>fiziksel olarak </a:t>
            </a:r>
            <a:r>
              <a:rPr lang="tr-TR" altLang="en-TR" sz="2800" b="1" dirty="0">
                <a:latin typeface="Tahoma" panose="020B0604030504040204" pitchFamily="34" charset="0"/>
              </a:rPr>
              <a:t>“yakınlık” hissi </a:t>
            </a:r>
            <a:r>
              <a:rPr lang="tr-TR" altLang="en-TR" sz="2800" dirty="0">
                <a:latin typeface="Tahoma" panose="020B0604030504040204" pitchFamily="34" charset="0"/>
              </a:rPr>
              <a:t>nasıl verilir? </a:t>
            </a:r>
          </a:p>
        </p:txBody>
      </p:sp>
    </p:spTree>
    <p:extLst>
      <p:ext uri="{BB962C8B-B14F-4D97-AF65-F5344CB8AC3E}">
        <p14:creationId xmlns:p14="http://schemas.microsoft.com/office/powerpoint/2010/main" val="1777332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16</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16</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pic>
        <p:nvPicPr>
          <p:cNvPr id="8" name="Picture 4">
            <a:extLst>
              <a:ext uri="{FF2B5EF4-FFF2-40B4-BE49-F238E27FC236}">
                <a16:creationId xmlns:a16="http://schemas.microsoft.com/office/drawing/2014/main" id="{53D05E5E-6274-404A-9D6E-EC2DEA471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07494" y="2894016"/>
            <a:ext cx="7636914" cy="21191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52633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17</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17</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sp>
        <p:nvSpPr>
          <p:cNvPr id="8" name="Oval 4">
            <a:extLst>
              <a:ext uri="{FF2B5EF4-FFF2-40B4-BE49-F238E27FC236}">
                <a16:creationId xmlns:a16="http://schemas.microsoft.com/office/drawing/2014/main" id="{02D5BA52-7FD3-054C-AE0E-7CB09F908580}"/>
              </a:ext>
            </a:extLst>
          </p:cNvPr>
          <p:cNvSpPr>
            <a:spLocks noChangeArrowheads="1"/>
          </p:cNvSpPr>
          <p:nvPr/>
        </p:nvSpPr>
        <p:spPr bwMode="auto">
          <a:xfrm>
            <a:off x="2051050" y="3319963"/>
            <a:ext cx="1944688" cy="1944688"/>
          </a:xfrm>
          <a:prstGeom prst="ellipse">
            <a:avLst/>
          </a:prstGeom>
          <a:solidFill>
            <a:srgbClr val="8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9" name="Rectangle 5">
            <a:extLst>
              <a:ext uri="{FF2B5EF4-FFF2-40B4-BE49-F238E27FC236}">
                <a16:creationId xmlns:a16="http://schemas.microsoft.com/office/drawing/2014/main" id="{69799433-8CF5-9C4D-879B-36AE134BEB0D}"/>
              </a:ext>
            </a:extLst>
          </p:cNvPr>
          <p:cNvSpPr>
            <a:spLocks noChangeArrowheads="1"/>
          </p:cNvSpPr>
          <p:nvPr/>
        </p:nvSpPr>
        <p:spPr bwMode="auto">
          <a:xfrm>
            <a:off x="4425950" y="3392988"/>
            <a:ext cx="1943100" cy="1800225"/>
          </a:xfrm>
          <a:prstGeom prst="rect">
            <a:avLst/>
          </a:prstGeom>
          <a:solidFill>
            <a:srgbClr val="0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0" name="Rectangle 3">
            <a:extLst>
              <a:ext uri="{FF2B5EF4-FFF2-40B4-BE49-F238E27FC236}">
                <a16:creationId xmlns:a16="http://schemas.microsoft.com/office/drawing/2014/main" id="{0C06F874-DA16-3643-869D-163BCA0C53EB}"/>
              </a:ext>
            </a:extLst>
          </p:cNvPr>
          <p:cNvSpPr txBox="1">
            <a:spLocks noChangeArrowheads="1"/>
          </p:cNvSpPr>
          <p:nvPr/>
        </p:nvSpPr>
        <p:spPr>
          <a:xfrm>
            <a:off x="760040" y="2132856"/>
            <a:ext cx="7772400" cy="553451"/>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eaLnBrk="0" hangingPunct="0">
              <a:spcBef>
                <a:spcPct val="50000"/>
              </a:spcBef>
              <a:buNone/>
            </a:pPr>
            <a:r>
              <a:rPr lang="tr-TR" altLang="en-TR" dirty="0">
                <a:solidFill>
                  <a:schemeClr val="accent3"/>
                </a:solidFill>
              </a:rPr>
              <a:t>Kesişimler</a:t>
            </a:r>
          </a:p>
        </p:txBody>
      </p:sp>
    </p:spTree>
    <p:extLst>
      <p:ext uri="{BB962C8B-B14F-4D97-AF65-F5344CB8AC3E}">
        <p14:creationId xmlns:p14="http://schemas.microsoft.com/office/powerpoint/2010/main" val="1637912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18</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18</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sp>
        <p:nvSpPr>
          <p:cNvPr id="8" name="Rectangle 3">
            <a:extLst>
              <a:ext uri="{FF2B5EF4-FFF2-40B4-BE49-F238E27FC236}">
                <a16:creationId xmlns:a16="http://schemas.microsoft.com/office/drawing/2014/main" id="{39BC8844-40E1-1D48-9934-9AB518A67B8A}"/>
              </a:ext>
            </a:extLst>
          </p:cNvPr>
          <p:cNvSpPr txBox="1">
            <a:spLocks noChangeArrowheads="1"/>
          </p:cNvSpPr>
          <p:nvPr/>
        </p:nvSpPr>
        <p:spPr>
          <a:xfrm>
            <a:off x="760040" y="2132856"/>
            <a:ext cx="7772400" cy="553451"/>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eaLnBrk="0" hangingPunct="0">
              <a:spcBef>
                <a:spcPct val="50000"/>
              </a:spcBef>
              <a:buNone/>
            </a:pPr>
            <a:r>
              <a:rPr lang="tr-TR" altLang="en-TR" dirty="0">
                <a:solidFill>
                  <a:schemeClr val="accent3"/>
                </a:solidFill>
              </a:rPr>
              <a:t>Kesişimler</a:t>
            </a:r>
          </a:p>
        </p:txBody>
      </p:sp>
      <p:sp>
        <p:nvSpPr>
          <p:cNvPr id="9" name="Rectangle 4">
            <a:extLst>
              <a:ext uri="{FF2B5EF4-FFF2-40B4-BE49-F238E27FC236}">
                <a16:creationId xmlns:a16="http://schemas.microsoft.com/office/drawing/2014/main" id="{63FE2ACF-C6FB-1D4F-B528-F021AA7BBD80}"/>
              </a:ext>
            </a:extLst>
          </p:cNvPr>
          <p:cNvSpPr>
            <a:spLocks noChangeArrowheads="1"/>
          </p:cNvSpPr>
          <p:nvPr/>
        </p:nvSpPr>
        <p:spPr bwMode="auto">
          <a:xfrm>
            <a:off x="3851920" y="3140964"/>
            <a:ext cx="1943100" cy="1800225"/>
          </a:xfrm>
          <a:prstGeom prst="rect">
            <a:avLst/>
          </a:prstGeom>
          <a:solidFill>
            <a:srgbClr val="0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0" name="Oval 5">
            <a:extLst>
              <a:ext uri="{FF2B5EF4-FFF2-40B4-BE49-F238E27FC236}">
                <a16:creationId xmlns:a16="http://schemas.microsoft.com/office/drawing/2014/main" id="{980D586E-6009-DB41-AFA7-5EF0AAB56F37}"/>
              </a:ext>
            </a:extLst>
          </p:cNvPr>
          <p:cNvSpPr>
            <a:spLocks noChangeArrowheads="1"/>
          </p:cNvSpPr>
          <p:nvPr/>
        </p:nvSpPr>
        <p:spPr bwMode="auto">
          <a:xfrm>
            <a:off x="2774008" y="3715639"/>
            <a:ext cx="1944687" cy="1944688"/>
          </a:xfrm>
          <a:prstGeom prst="ellipse">
            <a:avLst/>
          </a:prstGeom>
          <a:solidFill>
            <a:srgbClr val="8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3198444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19</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19</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sp>
        <p:nvSpPr>
          <p:cNvPr id="8" name="Rectangle 3">
            <a:extLst>
              <a:ext uri="{FF2B5EF4-FFF2-40B4-BE49-F238E27FC236}">
                <a16:creationId xmlns:a16="http://schemas.microsoft.com/office/drawing/2014/main" id="{AED8AE98-0E81-F349-928A-02820AC90EB8}"/>
              </a:ext>
            </a:extLst>
          </p:cNvPr>
          <p:cNvSpPr txBox="1">
            <a:spLocks noChangeArrowheads="1"/>
          </p:cNvSpPr>
          <p:nvPr/>
        </p:nvSpPr>
        <p:spPr>
          <a:xfrm>
            <a:off x="760040" y="2132856"/>
            <a:ext cx="7772400" cy="553451"/>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eaLnBrk="0" hangingPunct="0">
              <a:spcBef>
                <a:spcPct val="50000"/>
              </a:spcBef>
              <a:buNone/>
            </a:pPr>
            <a:r>
              <a:rPr lang="tr-TR" altLang="en-TR" dirty="0">
                <a:solidFill>
                  <a:schemeClr val="accent3"/>
                </a:solidFill>
              </a:rPr>
              <a:t>Değişen Büyüklük</a:t>
            </a:r>
          </a:p>
        </p:txBody>
      </p:sp>
      <p:pic>
        <p:nvPicPr>
          <p:cNvPr id="9" name="Picture 4">
            <a:extLst>
              <a:ext uri="{FF2B5EF4-FFF2-40B4-BE49-F238E27FC236}">
                <a16:creationId xmlns:a16="http://schemas.microsoft.com/office/drawing/2014/main" id="{F9293D16-1E7C-004B-9FC2-49944AAE93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193256" y="2942649"/>
            <a:ext cx="2300287" cy="33083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87235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20</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20</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sp>
        <p:nvSpPr>
          <p:cNvPr id="8" name="Rectangle 3">
            <a:extLst>
              <a:ext uri="{FF2B5EF4-FFF2-40B4-BE49-F238E27FC236}">
                <a16:creationId xmlns:a16="http://schemas.microsoft.com/office/drawing/2014/main" id="{F9F996BB-9A8B-8049-BBF2-3CB484E80040}"/>
              </a:ext>
            </a:extLst>
          </p:cNvPr>
          <p:cNvSpPr txBox="1">
            <a:spLocks noChangeArrowheads="1"/>
          </p:cNvSpPr>
          <p:nvPr/>
        </p:nvSpPr>
        <p:spPr>
          <a:xfrm>
            <a:off x="760040" y="2132856"/>
            <a:ext cx="7772400" cy="553451"/>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eaLnBrk="0" hangingPunct="0">
              <a:spcBef>
                <a:spcPct val="50000"/>
              </a:spcBef>
              <a:buNone/>
            </a:pPr>
            <a:r>
              <a:rPr lang="tr-TR" altLang="en-TR" dirty="0">
                <a:solidFill>
                  <a:schemeClr val="accent3"/>
                </a:solidFill>
              </a:rPr>
              <a:t>Netlik</a:t>
            </a:r>
          </a:p>
        </p:txBody>
      </p:sp>
      <p:pic>
        <p:nvPicPr>
          <p:cNvPr id="9" name="Picture 4">
            <a:extLst>
              <a:ext uri="{FF2B5EF4-FFF2-40B4-BE49-F238E27FC236}">
                <a16:creationId xmlns:a16="http://schemas.microsoft.com/office/drawing/2014/main" id="{81CDFDFB-3EEA-F147-A875-9D3E9F7940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809677" y="2636912"/>
            <a:ext cx="5210595" cy="37733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91750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21</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21</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7" name="Rectangle 3">
            <a:extLst>
              <a:ext uri="{FF2B5EF4-FFF2-40B4-BE49-F238E27FC236}">
                <a16:creationId xmlns:a16="http://schemas.microsoft.com/office/drawing/2014/main" id="{1045B190-0CCB-4C4A-94B9-8DC987736BD0}"/>
              </a:ext>
            </a:extLst>
          </p:cNvPr>
          <p:cNvSpPr txBox="1">
            <a:spLocks noChangeArrowheads="1"/>
          </p:cNvSpPr>
          <p:nvPr/>
        </p:nvSpPr>
        <p:spPr>
          <a:xfrm>
            <a:off x="457200" y="1556792"/>
            <a:ext cx="7772400" cy="100810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eaLnBrk="0" hangingPunct="0">
              <a:spcBef>
                <a:spcPct val="50000"/>
              </a:spcBef>
            </a:pPr>
            <a:r>
              <a:rPr lang="tr-TR" altLang="en-TR" dirty="0"/>
              <a:t>İki Boyutlu Yüzeylerde Derinlik Algısı</a:t>
            </a:r>
          </a:p>
        </p:txBody>
      </p:sp>
      <p:pic>
        <p:nvPicPr>
          <p:cNvPr id="8" name="Picture 4">
            <a:extLst>
              <a:ext uri="{FF2B5EF4-FFF2-40B4-BE49-F238E27FC236}">
                <a16:creationId xmlns:a16="http://schemas.microsoft.com/office/drawing/2014/main" id="{EBDF19C3-3B03-424B-B6D3-14D44F75F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807875" y="2636912"/>
            <a:ext cx="5201227" cy="376670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Rectangle 3">
            <a:extLst>
              <a:ext uri="{FF2B5EF4-FFF2-40B4-BE49-F238E27FC236}">
                <a16:creationId xmlns:a16="http://schemas.microsoft.com/office/drawing/2014/main" id="{2E8B0768-FC55-2342-8049-4FD83019B784}"/>
              </a:ext>
            </a:extLst>
          </p:cNvPr>
          <p:cNvSpPr txBox="1">
            <a:spLocks noChangeArrowheads="1"/>
          </p:cNvSpPr>
          <p:nvPr/>
        </p:nvSpPr>
        <p:spPr>
          <a:xfrm>
            <a:off x="760040" y="2132856"/>
            <a:ext cx="7772400" cy="553451"/>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eaLnBrk="0" hangingPunct="0">
              <a:spcBef>
                <a:spcPct val="50000"/>
              </a:spcBef>
              <a:buNone/>
            </a:pPr>
            <a:r>
              <a:rPr lang="tr-TR" altLang="en-TR" dirty="0">
                <a:solidFill>
                  <a:schemeClr val="accent3"/>
                </a:solidFill>
              </a:rPr>
              <a:t>Netlik</a:t>
            </a:r>
          </a:p>
        </p:txBody>
      </p:sp>
    </p:spTree>
    <p:extLst>
      <p:ext uri="{BB962C8B-B14F-4D97-AF65-F5344CB8AC3E}">
        <p14:creationId xmlns:p14="http://schemas.microsoft.com/office/powerpoint/2010/main" val="168948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22</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22</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8" name="Rectangle 7">
            <a:extLst>
              <a:ext uri="{FF2B5EF4-FFF2-40B4-BE49-F238E27FC236}">
                <a16:creationId xmlns:a16="http://schemas.microsoft.com/office/drawing/2014/main" id="{FF79B66E-095E-9941-8E3B-B9FA55775253}"/>
              </a:ext>
            </a:extLst>
          </p:cNvPr>
          <p:cNvSpPr/>
          <p:nvPr/>
        </p:nvSpPr>
        <p:spPr>
          <a:xfrm>
            <a:off x="468964" y="2758126"/>
            <a:ext cx="7660051" cy="2061975"/>
          </a:xfrm>
          <a:prstGeom prst="rect">
            <a:avLst/>
          </a:prstGeom>
        </p:spPr>
        <p:txBody>
          <a:bodyPr wrap="square">
            <a:spAutoFit/>
          </a:bodyPr>
          <a:lstStyle/>
          <a:p>
            <a:pPr eaLnBrk="0" hangingPunct="0">
              <a:lnSpc>
                <a:spcPct val="160000"/>
              </a:lnSpc>
            </a:pPr>
            <a:r>
              <a:rPr lang="tr-TR" altLang="en-TR" sz="2800" dirty="0">
                <a:latin typeface="Tahoma" panose="020B0604030504040204" pitchFamily="34" charset="0"/>
              </a:rPr>
              <a:t>Algıda seçicilikteki tüm bu faktörler </a:t>
            </a:r>
          </a:p>
          <a:p>
            <a:pPr eaLnBrk="0" hangingPunct="0">
              <a:lnSpc>
                <a:spcPct val="160000"/>
              </a:lnSpc>
            </a:pPr>
            <a:r>
              <a:rPr lang="tr-TR" altLang="en-TR" sz="2800" dirty="0">
                <a:latin typeface="Tahoma" panose="020B0604030504040204" pitchFamily="34" charset="0"/>
              </a:rPr>
              <a:t>bir arada kullanılarak daha etkili ekranlar tasarlanabilir mi?</a:t>
            </a:r>
          </a:p>
        </p:txBody>
      </p:sp>
    </p:spTree>
    <p:extLst>
      <p:ext uri="{BB962C8B-B14F-4D97-AF65-F5344CB8AC3E}">
        <p14:creationId xmlns:p14="http://schemas.microsoft.com/office/powerpoint/2010/main" val="350976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23</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23</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8" name="Rectangle 7">
            <a:extLst>
              <a:ext uri="{FF2B5EF4-FFF2-40B4-BE49-F238E27FC236}">
                <a16:creationId xmlns:a16="http://schemas.microsoft.com/office/drawing/2014/main" id="{FF79B66E-095E-9941-8E3B-B9FA55775253}"/>
              </a:ext>
            </a:extLst>
          </p:cNvPr>
          <p:cNvSpPr/>
          <p:nvPr/>
        </p:nvSpPr>
        <p:spPr>
          <a:xfrm>
            <a:off x="468964" y="2758126"/>
            <a:ext cx="7660051" cy="1297150"/>
          </a:xfrm>
          <a:prstGeom prst="rect">
            <a:avLst/>
          </a:prstGeom>
        </p:spPr>
        <p:txBody>
          <a:bodyPr wrap="square">
            <a:spAutoFit/>
          </a:bodyPr>
          <a:lstStyle/>
          <a:p>
            <a:pPr eaLnBrk="0" hangingPunct="0">
              <a:lnSpc>
                <a:spcPct val="150000"/>
              </a:lnSpc>
              <a:spcBef>
                <a:spcPct val="30000"/>
              </a:spcBef>
            </a:pPr>
            <a:r>
              <a:rPr lang="tr-TR" altLang="en-TR" sz="2800" dirty="0">
                <a:latin typeface="Tahoma" panose="020B0604030504040204" pitchFamily="34" charset="0"/>
              </a:rPr>
              <a:t>... </a:t>
            </a:r>
            <a:r>
              <a:rPr lang="tr-TR" altLang="en-TR" sz="2800" b="1" dirty="0">
                <a:latin typeface="Tahoma" panose="020B0604030504040204" pitchFamily="34" charset="0"/>
              </a:rPr>
              <a:t>algı sistemimiz</a:t>
            </a:r>
            <a:r>
              <a:rPr lang="tr-TR" altLang="en-TR" sz="2800" dirty="0">
                <a:latin typeface="Tahoma" panose="020B0604030504040204" pitchFamily="34" charset="0"/>
              </a:rPr>
              <a:t> mükemmel ve hatasız çalışamaz. </a:t>
            </a:r>
            <a:endParaRPr lang="tr-TR" altLang="en-TR" sz="2800" b="1" dirty="0">
              <a:solidFill>
                <a:srgbClr val="A50021"/>
              </a:solidFill>
              <a:latin typeface="Tahoma" panose="020B0604030504040204" pitchFamily="34" charset="0"/>
            </a:endParaRPr>
          </a:p>
        </p:txBody>
      </p:sp>
    </p:spTree>
    <p:extLst>
      <p:ext uri="{BB962C8B-B14F-4D97-AF65-F5344CB8AC3E}">
        <p14:creationId xmlns:p14="http://schemas.microsoft.com/office/powerpoint/2010/main" val="2579857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24</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24</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0" name="Rectangle 3">
            <a:extLst>
              <a:ext uri="{FF2B5EF4-FFF2-40B4-BE49-F238E27FC236}">
                <a16:creationId xmlns:a16="http://schemas.microsoft.com/office/drawing/2014/main" id="{108377D0-530B-9D41-8C65-0119BE25B3A3}"/>
              </a:ext>
            </a:extLst>
          </p:cNvPr>
          <p:cNvSpPr>
            <a:spLocks noChangeArrowheads="1"/>
          </p:cNvSpPr>
          <p:nvPr/>
        </p:nvSpPr>
        <p:spPr bwMode="auto">
          <a:xfrm>
            <a:off x="570277" y="1989734"/>
            <a:ext cx="6666019" cy="417557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nvGrpSpPr>
          <p:cNvPr id="11" name="Group 4">
            <a:extLst>
              <a:ext uri="{FF2B5EF4-FFF2-40B4-BE49-F238E27FC236}">
                <a16:creationId xmlns:a16="http://schemas.microsoft.com/office/drawing/2014/main" id="{FEC0BFBE-7650-BD4E-BD91-0707F20C0864}"/>
              </a:ext>
            </a:extLst>
          </p:cNvPr>
          <p:cNvGrpSpPr>
            <a:grpSpLocks/>
          </p:cNvGrpSpPr>
          <p:nvPr/>
        </p:nvGrpSpPr>
        <p:grpSpPr bwMode="auto">
          <a:xfrm>
            <a:off x="1222764" y="2597657"/>
            <a:ext cx="5365460" cy="2919575"/>
            <a:chOff x="1200" y="2297"/>
            <a:chExt cx="1680" cy="952"/>
          </a:xfrm>
        </p:grpSpPr>
        <p:sp>
          <p:nvSpPr>
            <p:cNvPr id="12" name="Line 5">
              <a:extLst>
                <a:ext uri="{FF2B5EF4-FFF2-40B4-BE49-F238E27FC236}">
                  <a16:creationId xmlns:a16="http://schemas.microsoft.com/office/drawing/2014/main" id="{CE0806EA-3633-F242-A393-02E140EB0C87}"/>
                </a:ext>
              </a:extLst>
            </p:cNvPr>
            <p:cNvSpPr>
              <a:spLocks noChangeShapeType="1"/>
            </p:cNvSpPr>
            <p:nvPr/>
          </p:nvSpPr>
          <p:spPr bwMode="auto">
            <a:xfrm>
              <a:off x="1474" y="2432"/>
              <a:ext cx="10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13" name="Line 6">
              <a:extLst>
                <a:ext uri="{FF2B5EF4-FFF2-40B4-BE49-F238E27FC236}">
                  <a16:creationId xmlns:a16="http://schemas.microsoft.com/office/drawing/2014/main" id="{9944CE7D-317F-944A-9D72-C07380678EE0}"/>
                </a:ext>
              </a:extLst>
            </p:cNvPr>
            <p:cNvSpPr>
              <a:spLocks noChangeShapeType="1"/>
            </p:cNvSpPr>
            <p:nvPr/>
          </p:nvSpPr>
          <p:spPr bwMode="auto">
            <a:xfrm>
              <a:off x="1474" y="3114"/>
              <a:ext cx="10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grpSp>
          <p:nvGrpSpPr>
            <p:cNvPr id="14" name="Group 7">
              <a:extLst>
                <a:ext uri="{FF2B5EF4-FFF2-40B4-BE49-F238E27FC236}">
                  <a16:creationId xmlns:a16="http://schemas.microsoft.com/office/drawing/2014/main" id="{D2CEDCBD-12C2-8E47-A850-D15E66FF8025}"/>
                </a:ext>
              </a:extLst>
            </p:cNvPr>
            <p:cNvGrpSpPr>
              <a:grpSpLocks/>
            </p:cNvGrpSpPr>
            <p:nvPr/>
          </p:nvGrpSpPr>
          <p:grpSpPr bwMode="auto">
            <a:xfrm>
              <a:off x="2562" y="2297"/>
              <a:ext cx="318" cy="271"/>
              <a:chOff x="2562" y="2297"/>
              <a:chExt cx="318" cy="271"/>
            </a:xfrm>
          </p:grpSpPr>
          <p:sp>
            <p:nvSpPr>
              <p:cNvPr id="26" name="Line 8">
                <a:extLst>
                  <a:ext uri="{FF2B5EF4-FFF2-40B4-BE49-F238E27FC236}">
                    <a16:creationId xmlns:a16="http://schemas.microsoft.com/office/drawing/2014/main" id="{AB5B3546-BE45-5B4F-BB55-3351326A367B}"/>
                  </a:ext>
                </a:extLst>
              </p:cNvPr>
              <p:cNvSpPr>
                <a:spLocks noChangeShapeType="1"/>
              </p:cNvSpPr>
              <p:nvPr/>
            </p:nvSpPr>
            <p:spPr bwMode="auto">
              <a:xfrm flipH="1">
                <a:off x="2563" y="2297"/>
                <a:ext cx="315"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27" name="Line 9">
                <a:extLst>
                  <a:ext uri="{FF2B5EF4-FFF2-40B4-BE49-F238E27FC236}">
                    <a16:creationId xmlns:a16="http://schemas.microsoft.com/office/drawing/2014/main" id="{77338F8B-4B55-2444-B29A-9BF6ED66A5C2}"/>
                  </a:ext>
                </a:extLst>
              </p:cNvPr>
              <p:cNvSpPr>
                <a:spLocks noChangeShapeType="1"/>
              </p:cNvSpPr>
              <p:nvPr/>
            </p:nvSpPr>
            <p:spPr bwMode="auto">
              <a:xfrm>
                <a:off x="2562" y="2432"/>
                <a:ext cx="318"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grpSp>
        <p:grpSp>
          <p:nvGrpSpPr>
            <p:cNvPr id="17" name="Group 10">
              <a:extLst>
                <a:ext uri="{FF2B5EF4-FFF2-40B4-BE49-F238E27FC236}">
                  <a16:creationId xmlns:a16="http://schemas.microsoft.com/office/drawing/2014/main" id="{22F5B414-B9BC-CF44-B537-BD1A69E0BC8A}"/>
                </a:ext>
              </a:extLst>
            </p:cNvPr>
            <p:cNvGrpSpPr>
              <a:grpSpLocks/>
            </p:cNvGrpSpPr>
            <p:nvPr/>
          </p:nvGrpSpPr>
          <p:grpSpPr bwMode="auto">
            <a:xfrm flipH="1">
              <a:off x="1200" y="2297"/>
              <a:ext cx="274" cy="271"/>
              <a:chOff x="2699" y="2433"/>
              <a:chExt cx="318" cy="271"/>
            </a:xfrm>
          </p:grpSpPr>
          <p:sp>
            <p:nvSpPr>
              <p:cNvPr id="24" name="Line 11">
                <a:extLst>
                  <a:ext uri="{FF2B5EF4-FFF2-40B4-BE49-F238E27FC236}">
                    <a16:creationId xmlns:a16="http://schemas.microsoft.com/office/drawing/2014/main" id="{8FC3A9E7-76FD-7543-8DD4-E4FE6A0A3A3A}"/>
                  </a:ext>
                </a:extLst>
              </p:cNvPr>
              <p:cNvSpPr>
                <a:spLocks noChangeShapeType="1"/>
              </p:cNvSpPr>
              <p:nvPr/>
            </p:nvSpPr>
            <p:spPr bwMode="auto">
              <a:xfrm flipH="1">
                <a:off x="2699" y="2433"/>
                <a:ext cx="318"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25" name="Line 12">
                <a:extLst>
                  <a:ext uri="{FF2B5EF4-FFF2-40B4-BE49-F238E27FC236}">
                    <a16:creationId xmlns:a16="http://schemas.microsoft.com/office/drawing/2014/main" id="{D253ACA8-343C-5C4F-9897-E1C99A45CE66}"/>
                  </a:ext>
                </a:extLst>
              </p:cNvPr>
              <p:cNvSpPr>
                <a:spLocks noChangeShapeType="1"/>
              </p:cNvSpPr>
              <p:nvPr/>
            </p:nvSpPr>
            <p:spPr bwMode="auto">
              <a:xfrm>
                <a:off x="2699" y="2568"/>
                <a:ext cx="318"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grpSp>
        <p:grpSp>
          <p:nvGrpSpPr>
            <p:cNvPr id="18" name="Group 13">
              <a:extLst>
                <a:ext uri="{FF2B5EF4-FFF2-40B4-BE49-F238E27FC236}">
                  <a16:creationId xmlns:a16="http://schemas.microsoft.com/office/drawing/2014/main" id="{F19C526E-4A32-D04E-B293-73BEA08F1EDC}"/>
                </a:ext>
              </a:extLst>
            </p:cNvPr>
            <p:cNvGrpSpPr>
              <a:grpSpLocks/>
            </p:cNvGrpSpPr>
            <p:nvPr/>
          </p:nvGrpSpPr>
          <p:grpSpPr bwMode="auto">
            <a:xfrm flipH="1">
              <a:off x="2290" y="2977"/>
              <a:ext cx="273" cy="272"/>
              <a:chOff x="2699" y="2432"/>
              <a:chExt cx="317" cy="272"/>
            </a:xfrm>
          </p:grpSpPr>
          <p:sp>
            <p:nvSpPr>
              <p:cNvPr id="22" name="Line 14">
                <a:extLst>
                  <a:ext uri="{FF2B5EF4-FFF2-40B4-BE49-F238E27FC236}">
                    <a16:creationId xmlns:a16="http://schemas.microsoft.com/office/drawing/2014/main" id="{C15FBB43-2A62-834A-9DBA-9BB2DF8438CC}"/>
                  </a:ext>
                </a:extLst>
              </p:cNvPr>
              <p:cNvSpPr>
                <a:spLocks noChangeShapeType="1"/>
              </p:cNvSpPr>
              <p:nvPr/>
            </p:nvSpPr>
            <p:spPr bwMode="auto">
              <a:xfrm flipH="1">
                <a:off x="2699" y="2432"/>
                <a:ext cx="317" cy="1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dirty="0"/>
              </a:p>
            </p:txBody>
          </p:sp>
          <p:sp>
            <p:nvSpPr>
              <p:cNvPr id="23" name="Line 15">
                <a:extLst>
                  <a:ext uri="{FF2B5EF4-FFF2-40B4-BE49-F238E27FC236}">
                    <a16:creationId xmlns:a16="http://schemas.microsoft.com/office/drawing/2014/main" id="{130540EE-8F41-E348-A395-B6FADA933AF2}"/>
                  </a:ext>
                </a:extLst>
              </p:cNvPr>
              <p:cNvSpPr>
                <a:spLocks noChangeShapeType="1"/>
              </p:cNvSpPr>
              <p:nvPr/>
            </p:nvSpPr>
            <p:spPr bwMode="auto">
              <a:xfrm>
                <a:off x="2699" y="2568"/>
                <a:ext cx="317"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dirty="0"/>
              </a:p>
            </p:txBody>
          </p:sp>
        </p:grpSp>
        <p:grpSp>
          <p:nvGrpSpPr>
            <p:cNvPr id="19" name="Group 16">
              <a:extLst>
                <a:ext uri="{FF2B5EF4-FFF2-40B4-BE49-F238E27FC236}">
                  <a16:creationId xmlns:a16="http://schemas.microsoft.com/office/drawing/2014/main" id="{76718B4F-3F80-B24E-BAB9-2385DD9284D6}"/>
                </a:ext>
              </a:extLst>
            </p:cNvPr>
            <p:cNvGrpSpPr>
              <a:grpSpLocks/>
            </p:cNvGrpSpPr>
            <p:nvPr/>
          </p:nvGrpSpPr>
          <p:grpSpPr bwMode="auto">
            <a:xfrm>
              <a:off x="1473" y="2977"/>
              <a:ext cx="273" cy="272"/>
              <a:chOff x="2562" y="2296"/>
              <a:chExt cx="273" cy="272"/>
            </a:xfrm>
          </p:grpSpPr>
          <p:sp>
            <p:nvSpPr>
              <p:cNvPr id="20" name="Line 17">
                <a:extLst>
                  <a:ext uri="{FF2B5EF4-FFF2-40B4-BE49-F238E27FC236}">
                    <a16:creationId xmlns:a16="http://schemas.microsoft.com/office/drawing/2014/main" id="{2CBCDE71-1F37-0040-97C1-60807D8B8664}"/>
                  </a:ext>
                </a:extLst>
              </p:cNvPr>
              <p:cNvSpPr>
                <a:spLocks noChangeShapeType="1"/>
              </p:cNvSpPr>
              <p:nvPr/>
            </p:nvSpPr>
            <p:spPr bwMode="auto">
              <a:xfrm flipH="1">
                <a:off x="2563" y="2296"/>
                <a:ext cx="272" cy="1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21" name="Line 18">
                <a:extLst>
                  <a:ext uri="{FF2B5EF4-FFF2-40B4-BE49-F238E27FC236}">
                    <a16:creationId xmlns:a16="http://schemas.microsoft.com/office/drawing/2014/main" id="{9414D330-45AC-3641-876B-4F61FA1B52D6}"/>
                  </a:ext>
                </a:extLst>
              </p:cNvPr>
              <p:cNvSpPr>
                <a:spLocks noChangeShapeType="1"/>
              </p:cNvSpPr>
              <p:nvPr/>
            </p:nvSpPr>
            <p:spPr bwMode="auto">
              <a:xfrm>
                <a:off x="2562" y="2432"/>
                <a:ext cx="273"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grpSp>
      </p:grpSp>
    </p:spTree>
    <p:extLst>
      <p:ext uri="{BB962C8B-B14F-4D97-AF65-F5344CB8AC3E}">
        <p14:creationId xmlns:p14="http://schemas.microsoft.com/office/powerpoint/2010/main" val="951969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25</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25</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28" name="Oval 3">
            <a:extLst>
              <a:ext uri="{FF2B5EF4-FFF2-40B4-BE49-F238E27FC236}">
                <a16:creationId xmlns:a16="http://schemas.microsoft.com/office/drawing/2014/main" id="{44F7BE7C-A49A-D048-A9E0-FCC891C47822}"/>
              </a:ext>
            </a:extLst>
          </p:cNvPr>
          <p:cNvSpPr>
            <a:spLocks noChangeArrowheads="1"/>
          </p:cNvSpPr>
          <p:nvPr/>
        </p:nvSpPr>
        <p:spPr bwMode="auto">
          <a:xfrm>
            <a:off x="1763316" y="3139951"/>
            <a:ext cx="1152525" cy="11525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9" name="Oval 4">
            <a:extLst>
              <a:ext uri="{FF2B5EF4-FFF2-40B4-BE49-F238E27FC236}">
                <a16:creationId xmlns:a16="http://schemas.microsoft.com/office/drawing/2014/main" id="{38421BA6-EB28-A546-BACA-D2F145A7D5B3}"/>
              </a:ext>
            </a:extLst>
          </p:cNvPr>
          <p:cNvSpPr>
            <a:spLocks noChangeArrowheads="1"/>
          </p:cNvSpPr>
          <p:nvPr/>
        </p:nvSpPr>
        <p:spPr bwMode="auto">
          <a:xfrm>
            <a:off x="5292625" y="3124987"/>
            <a:ext cx="1152525" cy="11525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0" name="Oval 5">
            <a:extLst>
              <a:ext uri="{FF2B5EF4-FFF2-40B4-BE49-F238E27FC236}">
                <a16:creationId xmlns:a16="http://schemas.microsoft.com/office/drawing/2014/main" id="{D5687B01-08ED-1F4E-91AC-B7D748CE5342}"/>
              </a:ext>
            </a:extLst>
          </p:cNvPr>
          <p:cNvSpPr>
            <a:spLocks noChangeArrowheads="1"/>
          </p:cNvSpPr>
          <p:nvPr/>
        </p:nvSpPr>
        <p:spPr bwMode="auto">
          <a:xfrm>
            <a:off x="1834753" y="2779588"/>
            <a:ext cx="360363" cy="360363"/>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1" name="Oval 6">
            <a:extLst>
              <a:ext uri="{FF2B5EF4-FFF2-40B4-BE49-F238E27FC236}">
                <a16:creationId xmlns:a16="http://schemas.microsoft.com/office/drawing/2014/main" id="{DA6AACBD-F556-5447-94DC-14457A4B1272}"/>
              </a:ext>
            </a:extLst>
          </p:cNvPr>
          <p:cNvSpPr>
            <a:spLocks noChangeArrowheads="1"/>
          </p:cNvSpPr>
          <p:nvPr/>
        </p:nvSpPr>
        <p:spPr bwMode="auto">
          <a:xfrm>
            <a:off x="2195116" y="2779588"/>
            <a:ext cx="360362" cy="360363"/>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2" name="Oval 7">
            <a:extLst>
              <a:ext uri="{FF2B5EF4-FFF2-40B4-BE49-F238E27FC236}">
                <a16:creationId xmlns:a16="http://schemas.microsoft.com/office/drawing/2014/main" id="{0E5B53E4-E807-C54F-AD44-413E0BF52D05}"/>
              </a:ext>
            </a:extLst>
          </p:cNvPr>
          <p:cNvSpPr>
            <a:spLocks noChangeArrowheads="1"/>
          </p:cNvSpPr>
          <p:nvPr/>
        </p:nvSpPr>
        <p:spPr bwMode="auto">
          <a:xfrm>
            <a:off x="2555478" y="2779588"/>
            <a:ext cx="360363" cy="360363"/>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3" name="Oval 8">
            <a:extLst>
              <a:ext uri="{FF2B5EF4-FFF2-40B4-BE49-F238E27FC236}">
                <a16:creationId xmlns:a16="http://schemas.microsoft.com/office/drawing/2014/main" id="{4F39DB49-9A7F-4346-A3EF-03E0C30B3DBD}"/>
              </a:ext>
            </a:extLst>
          </p:cNvPr>
          <p:cNvSpPr>
            <a:spLocks noChangeArrowheads="1"/>
          </p:cNvSpPr>
          <p:nvPr/>
        </p:nvSpPr>
        <p:spPr bwMode="auto">
          <a:xfrm>
            <a:off x="1763316" y="4292476"/>
            <a:ext cx="360362" cy="360362"/>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4" name="Oval 9">
            <a:extLst>
              <a:ext uri="{FF2B5EF4-FFF2-40B4-BE49-F238E27FC236}">
                <a16:creationId xmlns:a16="http://schemas.microsoft.com/office/drawing/2014/main" id="{4E540DE1-57FC-DF4D-A06D-E872C9AF7CBD}"/>
              </a:ext>
            </a:extLst>
          </p:cNvPr>
          <p:cNvSpPr>
            <a:spLocks noChangeArrowheads="1"/>
          </p:cNvSpPr>
          <p:nvPr/>
        </p:nvSpPr>
        <p:spPr bwMode="auto">
          <a:xfrm>
            <a:off x="2123678" y="4292476"/>
            <a:ext cx="360363" cy="360362"/>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5" name="Oval 10">
            <a:extLst>
              <a:ext uri="{FF2B5EF4-FFF2-40B4-BE49-F238E27FC236}">
                <a16:creationId xmlns:a16="http://schemas.microsoft.com/office/drawing/2014/main" id="{8B3F7D96-BC51-1348-A299-22260FA0B29C}"/>
              </a:ext>
            </a:extLst>
          </p:cNvPr>
          <p:cNvSpPr>
            <a:spLocks noChangeArrowheads="1"/>
          </p:cNvSpPr>
          <p:nvPr/>
        </p:nvSpPr>
        <p:spPr bwMode="auto">
          <a:xfrm>
            <a:off x="2484041" y="4292476"/>
            <a:ext cx="360362" cy="360362"/>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nvGrpSpPr>
          <p:cNvPr id="36" name="Group 11">
            <a:extLst>
              <a:ext uri="{FF2B5EF4-FFF2-40B4-BE49-F238E27FC236}">
                <a16:creationId xmlns:a16="http://schemas.microsoft.com/office/drawing/2014/main" id="{504E511D-C4CE-4744-A82E-498DF541ED83}"/>
              </a:ext>
            </a:extLst>
          </p:cNvPr>
          <p:cNvGrpSpPr>
            <a:grpSpLocks/>
          </p:cNvGrpSpPr>
          <p:nvPr/>
        </p:nvGrpSpPr>
        <p:grpSpPr bwMode="auto">
          <a:xfrm rot="16200000">
            <a:off x="1042591" y="3500313"/>
            <a:ext cx="1081087" cy="360363"/>
            <a:chOff x="340" y="1298"/>
            <a:chExt cx="681" cy="227"/>
          </a:xfrm>
        </p:grpSpPr>
        <p:sp>
          <p:nvSpPr>
            <p:cNvPr id="37" name="Oval 12">
              <a:extLst>
                <a:ext uri="{FF2B5EF4-FFF2-40B4-BE49-F238E27FC236}">
                  <a16:creationId xmlns:a16="http://schemas.microsoft.com/office/drawing/2014/main" id="{12A56379-3403-C04F-9380-14677C76ACF0}"/>
                </a:ext>
              </a:extLst>
            </p:cNvPr>
            <p:cNvSpPr>
              <a:spLocks noChangeArrowheads="1"/>
            </p:cNvSpPr>
            <p:nvPr/>
          </p:nvSpPr>
          <p:spPr bwMode="auto">
            <a:xfrm rot="12194315">
              <a:off x="340" y="1298"/>
              <a:ext cx="227" cy="227"/>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8" name="Oval 13">
              <a:extLst>
                <a:ext uri="{FF2B5EF4-FFF2-40B4-BE49-F238E27FC236}">
                  <a16:creationId xmlns:a16="http://schemas.microsoft.com/office/drawing/2014/main" id="{71C09BC5-60DA-6846-983C-0AAD10AB5622}"/>
                </a:ext>
              </a:extLst>
            </p:cNvPr>
            <p:cNvSpPr>
              <a:spLocks noChangeArrowheads="1"/>
            </p:cNvSpPr>
            <p:nvPr/>
          </p:nvSpPr>
          <p:spPr bwMode="auto">
            <a:xfrm rot="12194315">
              <a:off x="567" y="1298"/>
              <a:ext cx="227" cy="227"/>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9" name="Oval 14">
              <a:extLst>
                <a:ext uri="{FF2B5EF4-FFF2-40B4-BE49-F238E27FC236}">
                  <a16:creationId xmlns:a16="http://schemas.microsoft.com/office/drawing/2014/main" id="{C2B95DB4-3EBB-1D4E-8AF5-728E9F814BA1}"/>
                </a:ext>
              </a:extLst>
            </p:cNvPr>
            <p:cNvSpPr>
              <a:spLocks noChangeArrowheads="1"/>
            </p:cNvSpPr>
            <p:nvPr/>
          </p:nvSpPr>
          <p:spPr bwMode="auto">
            <a:xfrm rot="12194315">
              <a:off x="794" y="1298"/>
              <a:ext cx="227" cy="227"/>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grpSp>
        <p:nvGrpSpPr>
          <p:cNvPr id="40" name="Group 15">
            <a:extLst>
              <a:ext uri="{FF2B5EF4-FFF2-40B4-BE49-F238E27FC236}">
                <a16:creationId xmlns:a16="http://schemas.microsoft.com/office/drawing/2014/main" id="{0558F354-CD8A-864E-B136-3DA23B56A992}"/>
              </a:ext>
            </a:extLst>
          </p:cNvPr>
          <p:cNvGrpSpPr>
            <a:grpSpLocks/>
          </p:cNvGrpSpPr>
          <p:nvPr/>
        </p:nvGrpSpPr>
        <p:grpSpPr bwMode="auto">
          <a:xfrm rot="16200000">
            <a:off x="2555478" y="3573339"/>
            <a:ext cx="1081087" cy="360362"/>
            <a:chOff x="340" y="1298"/>
            <a:chExt cx="681" cy="227"/>
          </a:xfrm>
        </p:grpSpPr>
        <p:sp>
          <p:nvSpPr>
            <p:cNvPr id="41" name="Oval 16">
              <a:extLst>
                <a:ext uri="{FF2B5EF4-FFF2-40B4-BE49-F238E27FC236}">
                  <a16:creationId xmlns:a16="http://schemas.microsoft.com/office/drawing/2014/main" id="{A18FEDF2-98D0-1343-897D-04D973B5DFA7}"/>
                </a:ext>
              </a:extLst>
            </p:cNvPr>
            <p:cNvSpPr>
              <a:spLocks noChangeArrowheads="1"/>
            </p:cNvSpPr>
            <p:nvPr/>
          </p:nvSpPr>
          <p:spPr bwMode="auto">
            <a:xfrm rot="12194315">
              <a:off x="340" y="1298"/>
              <a:ext cx="227" cy="227"/>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42" name="Oval 17">
              <a:extLst>
                <a:ext uri="{FF2B5EF4-FFF2-40B4-BE49-F238E27FC236}">
                  <a16:creationId xmlns:a16="http://schemas.microsoft.com/office/drawing/2014/main" id="{7BE995BA-4320-884A-8EBA-DA4B38A39E8E}"/>
                </a:ext>
              </a:extLst>
            </p:cNvPr>
            <p:cNvSpPr>
              <a:spLocks noChangeArrowheads="1"/>
            </p:cNvSpPr>
            <p:nvPr/>
          </p:nvSpPr>
          <p:spPr bwMode="auto">
            <a:xfrm rot="12194315">
              <a:off x="567" y="1298"/>
              <a:ext cx="227" cy="227"/>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43" name="Oval 18">
              <a:extLst>
                <a:ext uri="{FF2B5EF4-FFF2-40B4-BE49-F238E27FC236}">
                  <a16:creationId xmlns:a16="http://schemas.microsoft.com/office/drawing/2014/main" id="{CCAA9D8B-6038-BD4A-95EC-37C63B96433A}"/>
                </a:ext>
              </a:extLst>
            </p:cNvPr>
            <p:cNvSpPr>
              <a:spLocks noChangeArrowheads="1"/>
            </p:cNvSpPr>
            <p:nvPr/>
          </p:nvSpPr>
          <p:spPr bwMode="auto">
            <a:xfrm rot="12194315">
              <a:off x="794" y="1298"/>
              <a:ext cx="227" cy="227"/>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sp>
        <p:nvSpPr>
          <p:cNvPr id="44" name="Oval 19">
            <a:extLst>
              <a:ext uri="{FF2B5EF4-FFF2-40B4-BE49-F238E27FC236}">
                <a16:creationId xmlns:a16="http://schemas.microsoft.com/office/drawing/2014/main" id="{8A0D3DE1-E279-B048-9240-BD8A92B4B27B}"/>
              </a:ext>
            </a:extLst>
          </p:cNvPr>
          <p:cNvSpPr>
            <a:spLocks noChangeArrowheads="1"/>
          </p:cNvSpPr>
          <p:nvPr/>
        </p:nvSpPr>
        <p:spPr bwMode="auto">
          <a:xfrm>
            <a:off x="4860825" y="2620162"/>
            <a:ext cx="720725" cy="7207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45" name="Oval 20">
            <a:extLst>
              <a:ext uri="{FF2B5EF4-FFF2-40B4-BE49-F238E27FC236}">
                <a16:creationId xmlns:a16="http://schemas.microsoft.com/office/drawing/2014/main" id="{1C2AF114-FB58-AA45-9CDC-3A0BCC89EBE0}"/>
              </a:ext>
            </a:extLst>
          </p:cNvPr>
          <p:cNvSpPr>
            <a:spLocks noChangeArrowheads="1"/>
          </p:cNvSpPr>
          <p:nvPr/>
        </p:nvSpPr>
        <p:spPr bwMode="auto">
          <a:xfrm>
            <a:off x="5579963" y="2404262"/>
            <a:ext cx="720725" cy="7207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46" name="Oval 21">
            <a:extLst>
              <a:ext uri="{FF2B5EF4-FFF2-40B4-BE49-F238E27FC236}">
                <a16:creationId xmlns:a16="http://schemas.microsoft.com/office/drawing/2014/main" id="{7AC4C1D8-0B23-3544-A646-51E1DA9CD2FB}"/>
              </a:ext>
            </a:extLst>
          </p:cNvPr>
          <p:cNvSpPr>
            <a:spLocks noChangeArrowheads="1"/>
          </p:cNvSpPr>
          <p:nvPr/>
        </p:nvSpPr>
        <p:spPr bwMode="auto">
          <a:xfrm>
            <a:off x="4571900" y="3340887"/>
            <a:ext cx="720725" cy="7207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47" name="Oval 22">
            <a:extLst>
              <a:ext uri="{FF2B5EF4-FFF2-40B4-BE49-F238E27FC236}">
                <a16:creationId xmlns:a16="http://schemas.microsoft.com/office/drawing/2014/main" id="{A888BB34-0413-EB44-8780-F8780C1D1F4F}"/>
              </a:ext>
            </a:extLst>
          </p:cNvPr>
          <p:cNvSpPr>
            <a:spLocks noChangeArrowheads="1"/>
          </p:cNvSpPr>
          <p:nvPr/>
        </p:nvSpPr>
        <p:spPr bwMode="auto">
          <a:xfrm>
            <a:off x="4787800" y="4060024"/>
            <a:ext cx="720725" cy="7207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48" name="Oval 23">
            <a:extLst>
              <a:ext uri="{FF2B5EF4-FFF2-40B4-BE49-F238E27FC236}">
                <a16:creationId xmlns:a16="http://schemas.microsoft.com/office/drawing/2014/main" id="{A5462F27-EB4D-3D44-8238-74CBCCB85BE7}"/>
              </a:ext>
            </a:extLst>
          </p:cNvPr>
          <p:cNvSpPr>
            <a:spLocks noChangeArrowheads="1"/>
          </p:cNvSpPr>
          <p:nvPr/>
        </p:nvSpPr>
        <p:spPr bwMode="auto">
          <a:xfrm>
            <a:off x="5508525" y="4275924"/>
            <a:ext cx="720725" cy="7207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49" name="Oval 24">
            <a:extLst>
              <a:ext uri="{FF2B5EF4-FFF2-40B4-BE49-F238E27FC236}">
                <a16:creationId xmlns:a16="http://schemas.microsoft.com/office/drawing/2014/main" id="{F5F2D33E-4399-5748-903A-375CE39233E3}"/>
              </a:ext>
            </a:extLst>
          </p:cNvPr>
          <p:cNvSpPr>
            <a:spLocks noChangeArrowheads="1"/>
          </p:cNvSpPr>
          <p:nvPr/>
        </p:nvSpPr>
        <p:spPr bwMode="auto">
          <a:xfrm>
            <a:off x="6227663" y="2691599"/>
            <a:ext cx="720725" cy="7207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50" name="Oval 25">
            <a:extLst>
              <a:ext uri="{FF2B5EF4-FFF2-40B4-BE49-F238E27FC236}">
                <a16:creationId xmlns:a16="http://schemas.microsoft.com/office/drawing/2014/main" id="{4F95DA73-539F-8042-915A-30FCA711FD62}"/>
              </a:ext>
            </a:extLst>
          </p:cNvPr>
          <p:cNvSpPr>
            <a:spLocks noChangeArrowheads="1"/>
          </p:cNvSpPr>
          <p:nvPr/>
        </p:nvSpPr>
        <p:spPr bwMode="auto">
          <a:xfrm>
            <a:off x="6443563" y="3412324"/>
            <a:ext cx="720725" cy="7207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51" name="Oval 26">
            <a:extLst>
              <a:ext uri="{FF2B5EF4-FFF2-40B4-BE49-F238E27FC236}">
                <a16:creationId xmlns:a16="http://schemas.microsoft.com/office/drawing/2014/main" id="{996572BB-141A-1943-ADDA-62DFC19F4E18}"/>
              </a:ext>
            </a:extLst>
          </p:cNvPr>
          <p:cNvSpPr>
            <a:spLocks noChangeArrowheads="1"/>
          </p:cNvSpPr>
          <p:nvPr/>
        </p:nvSpPr>
        <p:spPr bwMode="auto">
          <a:xfrm>
            <a:off x="6227663" y="4131462"/>
            <a:ext cx="720725" cy="720725"/>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3059012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26</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26</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52" name="Rectangle 3">
            <a:extLst>
              <a:ext uri="{FF2B5EF4-FFF2-40B4-BE49-F238E27FC236}">
                <a16:creationId xmlns:a16="http://schemas.microsoft.com/office/drawing/2014/main" id="{0591DF99-3A53-6947-AC31-E33EA45CAA01}"/>
              </a:ext>
            </a:extLst>
          </p:cNvPr>
          <p:cNvSpPr>
            <a:spLocks noChangeArrowheads="1"/>
          </p:cNvSpPr>
          <p:nvPr/>
        </p:nvSpPr>
        <p:spPr bwMode="auto">
          <a:xfrm>
            <a:off x="3571875" y="2062162"/>
            <a:ext cx="400050" cy="36718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solidFill>
                <a:schemeClr val="accent2">
                  <a:lumMod val="75000"/>
                </a:schemeClr>
              </a:solidFill>
              <a:highlight>
                <a:srgbClr val="000080"/>
              </a:highlight>
            </a:endParaRPr>
          </a:p>
        </p:txBody>
      </p:sp>
      <p:sp>
        <p:nvSpPr>
          <p:cNvPr id="53" name="Line 4">
            <a:extLst>
              <a:ext uri="{FF2B5EF4-FFF2-40B4-BE49-F238E27FC236}">
                <a16:creationId xmlns:a16="http://schemas.microsoft.com/office/drawing/2014/main" id="{C84CDC85-FB97-B344-81C6-EB40A0A9BB29}"/>
              </a:ext>
            </a:extLst>
          </p:cNvPr>
          <p:cNvSpPr>
            <a:spLocks noChangeShapeType="1"/>
          </p:cNvSpPr>
          <p:nvPr/>
        </p:nvSpPr>
        <p:spPr bwMode="auto">
          <a:xfrm flipH="1">
            <a:off x="3131840" y="2852936"/>
            <a:ext cx="2376487" cy="20875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54" name="Rectangle 5">
            <a:extLst>
              <a:ext uri="{FF2B5EF4-FFF2-40B4-BE49-F238E27FC236}">
                <a16:creationId xmlns:a16="http://schemas.microsoft.com/office/drawing/2014/main" id="{ADA124C5-99EC-4642-9175-20C0601F38D9}"/>
              </a:ext>
            </a:extLst>
          </p:cNvPr>
          <p:cNvSpPr>
            <a:spLocks noChangeArrowheads="1"/>
          </p:cNvSpPr>
          <p:nvPr/>
        </p:nvSpPr>
        <p:spPr bwMode="auto">
          <a:xfrm>
            <a:off x="4572000" y="2062162"/>
            <a:ext cx="400050" cy="36718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solidFill>
                <a:schemeClr val="accent2">
                  <a:lumMod val="75000"/>
                </a:schemeClr>
              </a:solidFill>
              <a:highlight>
                <a:srgbClr val="000080"/>
              </a:highlight>
            </a:endParaRPr>
          </a:p>
        </p:txBody>
      </p:sp>
    </p:spTree>
    <p:extLst>
      <p:ext uri="{BB962C8B-B14F-4D97-AF65-F5344CB8AC3E}">
        <p14:creationId xmlns:p14="http://schemas.microsoft.com/office/powerpoint/2010/main" val="643798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ayt Numarası Yer Tutucusu 5"/>
          <p:cNvSpPr>
            <a:spLocks noGrp="1"/>
          </p:cNvSpPr>
          <p:nvPr>
            <p:ph type="sldNum" sz="quarter" idx="15"/>
          </p:nvPr>
        </p:nvSpPr>
        <p:spPr/>
        <p:txBody>
          <a:bodyPr/>
          <a:lstStyle/>
          <a:p>
            <a:fld id="{DE121D1B-9491-4A5F-BD01-A1B3B0B623A2}" type="slidenum">
              <a:rPr lang="tr-TR" smtClean="0"/>
              <a:pPr/>
              <a:t>27</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27</a:t>
            </a:fld>
            <a:endParaRPr lang="tr-TR"/>
          </a:p>
        </p:txBody>
      </p:sp>
      <p:sp>
        <p:nvSpPr>
          <p:cNvPr id="16" name="1 Başlık">
            <a:extLst>
              <a:ext uri="{FF2B5EF4-FFF2-40B4-BE49-F238E27FC236}">
                <a16:creationId xmlns:a16="http://schemas.microsoft.com/office/drawing/2014/main" id="{F9291D20-9FE0-1840-B696-E5CE82917882}"/>
              </a:ext>
            </a:extLst>
          </p:cNvPr>
          <p:cNvSpPr>
            <a:spLocks noGrp="1"/>
          </p:cNvSpPr>
          <p:nvPr>
            <p:ph type="title"/>
          </p:nvPr>
        </p:nvSpPr>
        <p:spPr>
          <a:xfrm>
            <a:off x="457200" y="274638"/>
            <a:ext cx="7467600" cy="1143000"/>
          </a:xfrm>
        </p:spPr>
        <p:txBody>
          <a:bodyPr/>
          <a:lstStyle/>
          <a:p>
            <a:r>
              <a:rPr lang="tr-TR" dirty="0"/>
              <a:t>Algı Kavramı</a:t>
            </a:r>
          </a:p>
        </p:txBody>
      </p:sp>
      <p:sp>
        <p:nvSpPr>
          <p:cNvPr id="10" name="Text Box 3">
            <a:extLst>
              <a:ext uri="{FF2B5EF4-FFF2-40B4-BE49-F238E27FC236}">
                <a16:creationId xmlns:a16="http://schemas.microsoft.com/office/drawing/2014/main" id="{5F5F7790-1BD8-794E-B6EC-89185720D6F7}"/>
              </a:ext>
            </a:extLst>
          </p:cNvPr>
          <p:cNvSpPr txBox="1">
            <a:spLocks noChangeArrowheads="1"/>
          </p:cNvSpPr>
          <p:nvPr/>
        </p:nvSpPr>
        <p:spPr bwMode="auto">
          <a:xfrm>
            <a:off x="3548509" y="6021388"/>
            <a:ext cx="1425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tr-TR" altLang="en-TR" sz="1600" b="1" dirty="0">
                <a:latin typeface="Tahoma" panose="020B0604030504040204" pitchFamily="34" charset="0"/>
              </a:rPr>
              <a:t>M. C. </a:t>
            </a:r>
            <a:r>
              <a:rPr lang="tr-TR" altLang="en-TR" sz="1600" b="1" dirty="0" err="1">
                <a:latin typeface="Tahoma" panose="020B0604030504040204" pitchFamily="34" charset="0"/>
              </a:rPr>
              <a:t>Escher</a:t>
            </a:r>
            <a:endParaRPr lang="tr-TR" altLang="en-TR" sz="1600" dirty="0">
              <a:latin typeface="Tahoma" panose="020B0604030504040204" pitchFamily="34" charset="0"/>
            </a:endParaRPr>
          </a:p>
        </p:txBody>
      </p:sp>
      <p:pic>
        <p:nvPicPr>
          <p:cNvPr id="11" name="Picture 4">
            <a:extLst>
              <a:ext uri="{FF2B5EF4-FFF2-40B4-BE49-F238E27FC236}">
                <a16:creationId xmlns:a16="http://schemas.microsoft.com/office/drawing/2014/main" id="{8AE49334-E94F-324A-A511-486DF870D3B6}"/>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245047" y="1917700"/>
            <a:ext cx="3043237" cy="3816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5">
            <a:extLst>
              <a:ext uri="{FF2B5EF4-FFF2-40B4-BE49-F238E27FC236}">
                <a16:creationId xmlns:a16="http://schemas.microsoft.com/office/drawing/2014/main" id="{79F2FD52-CD8C-B144-AE64-3A985FF26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4427984" y="1917700"/>
            <a:ext cx="2962275" cy="38163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494781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819</TotalTime>
  <Words>1694</Words>
  <Application>Microsoft Macintosh PowerPoint</Application>
  <PresentationFormat>On-screen Show (4:3)</PresentationFormat>
  <Paragraphs>268</Paragraphs>
  <Slides>27</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Calibri</vt:lpstr>
      <vt:lpstr>Century Schoolbook</vt:lpstr>
      <vt:lpstr>Tahoma</vt:lpstr>
      <vt:lpstr>Trebuchet MS</vt:lpstr>
      <vt:lpstr>Verdana</vt:lpstr>
      <vt:lpstr>Wingdings</vt:lpstr>
      <vt:lpstr>Wingdings 2</vt:lpstr>
      <vt:lpstr>Cumba</vt:lpstr>
      <vt:lpstr>UZAKTAN EĞİTİM TEKNOLOJİLERİ</vt:lpstr>
      <vt:lpstr>ALGI NEDİR?</vt:lpstr>
      <vt:lpstr>ALGI NEDİR?</vt:lpstr>
      <vt:lpstr>İletişim Sürecinin Temel Öğeleri</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lpstr>Algı Kavramı</vt:lpstr>
    </vt:vector>
  </TitlesOfParts>
  <Company>rocco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zaman</dc:creator>
  <cp:lastModifiedBy>Microsoft Office User</cp:lastModifiedBy>
  <cp:revision>130</cp:revision>
  <dcterms:created xsi:type="dcterms:W3CDTF">2015-05-19T13:03:20Z</dcterms:created>
  <dcterms:modified xsi:type="dcterms:W3CDTF">2020-11-16T20:58:12Z</dcterms:modified>
</cp:coreProperties>
</file>